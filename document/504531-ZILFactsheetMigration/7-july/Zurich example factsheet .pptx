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handoutMasterIdLst>
    <p:handoutMasterId r:id="rId8"/>
  </p:handoutMasterIdLst>
  <p:sldIdLst>
    <p:sldId id="265" r:id="rId5"/>
    <p:sldId id="267" r:id="rId6"/>
    <p:sldId id="262" r:id="rId7"/>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3368" userDrawn="1">
          <p15:clr>
            <a:srgbClr val="A4A3A4"/>
          </p15:clr>
        </p15:guide>
        <p15:guide id="2" pos="2380" userDrawn="1">
          <p15:clr>
            <a:srgbClr val="A4A3A4"/>
          </p15:clr>
        </p15:guide>
        <p15:guide id="3" orient="horz" pos="465" userDrawn="1">
          <p15:clr>
            <a:srgbClr val="A4A3A4"/>
          </p15:clr>
        </p15:guide>
        <p15:guide id="4" pos="203" userDrawn="1">
          <p15:clr>
            <a:srgbClr val="A4A3A4"/>
          </p15:clr>
        </p15:guide>
        <p15:guide id="5" pos="4512" userDrawn="1">
          <p15:clr>
            <a:srgbClr val="A4A3A4"/>
          </p15:clr>
        </p15:guide>
        <p15:guide id="6" orient="horz" pos="64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A0012B-29AF-F9C4-317E-4C2EAE14B3EA}" name="Dario Parlato" initials="" userId="S::dario.parlato@zurich.com::4f9853cd-b1ae-4777-827d-78c505c8918a" providerId="AD"/>
  <p188:author id="{7F18F081-F471-5FB4-4092-FC83DBCAFDB4}" name="Abigail Maartens" initials="AM" userId="S::abigail.maartens@uk.zurich.com::d35da4a8-91f7-46b4-b499-aba1e6bbb1cb" providerId="AD"/>
  <p188:author id="{98858799-046F-E13D-EA3E-3D547EE34C3A}" name="Diane Renton" initials="DR" userId="S::diane.renton@zurich.com::b213c1ff-2304-40f2-9691-b0c80cfe839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AAC7EA"/>
    <a:srgbClr val="004F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A77268-B0D1-41AE-B5C6-2B9C2BB50040}" v="1" dt="2025-07-02T12:21:15.17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1944" y="-236"/>
      </p:cViewPr>
      <p:guideLst>
        <p:guide orient="horz" pos="3368"/>
        <p:guide pos="2380"/>
        <p:guide orient="horz" pos="465"/>
        <p:guide pos="203"/>
        <p:guide pos="4512"/>
        <p:guide orient="horz" pos="64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2" d="100"/>
          <a:sy n="72" d="100"/>
        </p:scale>
        <p:origin x="400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06249A-E1C8-B345-5216-76140A0CB47D}"/>
              </a:ext>
            </a:extLst>
          </p:cNvPr>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1558CE6-D5EB-F8B0-3DE7-FB0D99D521E5}"/>
              </a:ext>
            </a:extLst>
          </p:cNvPr>
          <p:cNvSpPr>
            <a:spLocks noGrp="1"/>
          </p:cNvSpPr>
          <p:nvPr>
            <p:ph type="dt" sz="quarter" idx="1"/>
          </p:nvPr>
        </p:nvSpPr>
        <p:spPr>
          <a:xfrm>
            <a:off x="4279900" y="0"/>
            <a:ext cx="3275013" cy="536575"/>
          </a:xfrm>
          <a:prstGeom prst="rect">
            <a:avLst/>
          </a:prstGeom>
        </p:spPr>
        <p:txBody>
          <a:bodyPr vert="horz" lIns="91440" tIns="45720" rIns="91440" bIns="45720" rtlCol="0"/>
          <a:lstStyle>
            <a:lvl1pPr algn="r">
              <a:defRPr sz="1200"/>
            </a:lvl1pPr>
          </a:lstStyle>
          <a:p>
            <a:fld id="{2A3DFBBA-9963-4A49-85AC-215BE23C25EA}" type="datetimeFigureOut">
              <a:rPr lang="en-US" smtClean="0"/>
              <a:t>7/4/2025</a:t>
            </a:fld>
            <a:endParaRPr lang="en-US"/>
          </a:p>
        </p:txBody>
      </p:sp>
      <p:sp>
        <p:nvSpPr>
          <p:cNvPr id="4" name="Footer Placeholder 3">
            <a:extLst>
              <a:ext uri="{FF2B5EF4-FFF2-40B4-BE49-F238E27FC236}">
                <a16:creationId xmlns:a16="http://schemas.microsoft.com/office/drawing/2014/main" id="{2EF86825-A036-3172-4F7D-26A258DC8806}"/>
              </a:ext>
            </a:extLst>
          </p:cNvPr>
          <p:cNvSpPr>
            <a:spLocks noGrp="1"/>
          </p:cNvSpPr>
          <p:nvPr>
            <p:ph type="ftr" sz="quarter" idx="2"/>
          </p:nvPr>
        </p:nvSpPr>
        <p:spPr>
          <a:xfrm>
            <a:off x="0" y="10156825"/>
            <a:ext cx="3275013" cy="5365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6E733F7-386F-F8AC-14FA-579EE83CD252}"/>
              </a:ext>
            </a:extLst>
          </p:cNvPr>
          <p:cNvSpPr>
            <a:spLocks noGrp="1"/>
          </p:cNvSpPr>
          <p:nvPr>
            <p:ph type="sldNum" sz="quarter" idx="3"/>
          </p:nvPr>
        </p:nvSpPr>
        <p:spPr>
          <a:xfrm>
            <a:off x="4279900" y="10156825"/>
            <a:ext cx="3275013" cy="536575"/>
          </a:xfrm>
          <a:prstGeom prst="rect">
            <a:avLst/>
          </a:prstGeom>
        </p:spPr>
        <p:txBody>
          <a:bodyPr vert="horz" lIns="91440" tIns="45720" rIns="91440" bIns="45720" rtlCol="0" anchor="b"/>
          <a:lstStyle>
            <a:lvl1pPr algn="r">
              <a:defRPr sz="1200"/>
            </a:lvl1pPr>
          </a:lstStyle>
          <a:p>
            <a:fld id="{7D9F83B4-C245-46F3-A900-3E78410CEAFB}" type="slidenum">
              <a:rPr lang="en-US" smtClean="0"/>
              <a:t>‹#›</a:t>
            </a:fld>
            <a:endParaRPr lang="en-US"/>
          </a:p>
        </p:txBody>
      </p:sp>
    </p:spTree>
    <p:extLst>
      <p:ext uri="{BB962C8B-B14F-4D97-AF65-F5344CB8AC3E}">
        <p14:creationId xmlns:p14="http://schemas.microsoft.com/office/powerpoint/2010/main" val="1285174615"/>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sz="2400" b="1" i="0">
                <a:solidFill>
                  <a:srgbClr val="142863"/>
                </a:solidFill>
                <a:latin typeface="Zurich Sans Semibold"/>
                <a:cs typeface="Zurich Sans Semibold"/>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142863"/>
                </a:solidFill>
                <a:latin typeface="Zurich Sans Semibold"/>
                <a:cs typeface="Zurich Sans Semibold"/>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142863"/>
                </a:solidFill>
                <a:latin typeface="Zurich Sans Semibold"/>
                <a:cs typeface="Zurich Sans Semibold"/>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142863"/>
                </a:solidFill>
                <a:latin typeface="Zurich Sans Semibold"/>
                <a:cs typeface="Zurich Sans Semibold"/>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7345" y="495043"/>
            <a:ext cx="3947160" cy="727710"/>
          </a:xfrm>
          <a:prstGeom prst="rect">
            <a:avLst/>
          </a:prstGeom>
        </p:spPr>
        <p:txBody>
          <a:bodyPr wrap="square" lIns="0" tIns="0" rIns="0" bIns="0">
            <a:spAutoFit/>
          </a:bodyPr>
          <a:lstStyle>
            <a:lvl1pPr>
              <a:defRPr sz="2400" b="1" i="0">
                <a:solidFill>
                  <a:srgbClr val="142863"/>
                </a:solidFill>
                <a:latin typeface="Zurich Sans Semibold"/>
                <a:cs typeface="Zurich Sans Semibold"/>
              </a:defRPr>
            </a:lvl1pPr>
          </a:lstStyle>
          <a:p>
            <a:endParaRPr/>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7/4/2025</a:t>
            </a:fld>
            <a:endParaRPr lang="en-US"/>
          </a:p>
        </p:txBody>
      </p:sp>
      <p:sp>
        <p:nvSpPr>
          <p:cNvPr id="6" name="Holder 6"/>
          <p:cNvSpPr>
            <a:spLocks noGrp="1"/>
          </p:cNvSpPr>
          <p:nvPr>
            <p:ph type="sldNum" sz="quarter" idx="7"/>
          </p:nvPr>
        </p:nvSpPr>
        <p:spPr>
          <a:xfrm>
            <a:off x="5445252" y="9944862"/>
            <a:ext cx="1739455"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B96F7-3766-3743-4BF2-FF60D698177A}"/>
            </a:ext>
          </a:extLst>
        </p:cNvPr>
        <p:cNvGrpSpPr/>
        <p:nvPr/>
      </p:nvGrpSpPr>
      <p:grpSpPr>
        <a:xfrm>
          <a:off x="0" y="0"/>
          <a:ext cx="0" cy="0"/>
          <a:chOff x="0" y="0"/>
          <a:chExt cx="0" cy="0"/>
        </a:xfrm>
      </p:grpSpPr>
      <p:sp>
        <p:nvSpPr>
          <p:cNvPr id="22" name="object 22">
            <a:extLst>
              <a:ext uri="{FF2B5EF4-FFF2-40B4-BE49-F238E27FC236}">
                <a16:creationId xmlns:a16="http://schemas.microsoft.com/office/drawing/2014/main" id="{146290AB-91CB-B8F2-2D41-96F6B3FB24A9}"/>
              </a:ext>
            </a:extLst>
          </p:cNvPr>
          <p:cNvSpPr txBox="1"/>
          <p:nvPr/>
        </p:nvSpPr>
        <p:spPr>
          <a:xfrm>
            <a:off x="3059937" y="4973992"/>
            <a:ext cx="4183242" cy="385445"/>
          </a:xfrm>
          <a:prstGeom prst="rect">
            <a:avLst/>
          </a:prstGeom>
        </p:spPr>
        <p:txBody>
          <a:bodyPr vert="horz" wrap="square" lIns="0" tIns="70485" rIns="0" bIns="0" rtlCol="0">
            <a:spAutoFit/>
          </a:bodyPr>
          <a:lstStyle/>
          <a:p>
            <a:pPr marL="643890">
              <a:lnSpc>
                <a:spcPct val="100000"/>
              </a:lnSpc>
              <a:spcBef>
                <a:spcPts val="555"/>
              </a:spcBef>
              <a:tabLst>
                <a:tab pos="1134745" algn="l"/>
                <a:tab pos="1633855" algn="l"/>
                <a:tab pos="2786380" algn="l"/>
                <a:tab pos="3216910" algn="l"/>
                <a:tab pos="3736975" algn="l"/>
              </a:tabLst>
            </a:pPr>
            <a:r>
              <a:rPr sz="800">
                <a:solidFill>
                  <a:srgbClr val="142863"/>
                </a:solidFill>
                <a:latin typeface="Zurich Sans"/>
                <a:cs typeface="Zurich Sans"/>
              </a:rPr>
              <a:t>3 </a:t>
            </a:r>
            <a:r>
              <a:rPr sz="800" spc="-10">
                <a:solidFill>
                  <a:srgbClr val="142863"/>
                </a:solidFill>
                <a:latin typeface="Zurich Sans"/>
                <a:cs typeface="Zurich Sans"/>
              </a:rPr>
              <a:t>Years</a:t>
            </a:r>
            <a:r>
              <a:rPr sz="800">
                <a:solidFill>
                  <a:srgbClr val="142863"/>
                </a:solidFill>
                <a:latin typeface="Zurich Sans"/>
                <a:cs typeface="Zurich Sans"/>
              </a:rPr>
              <a:t>	5</a:t>
            </a:r>
            <a:r>
              <a:rPr sz="800" spc="-10">
                <a:solidFill>
                  <a:srgbClr val="142863"/>
                </a:solidFill>
                <a:latin typeface="Zurich Sans"/>
                <a:cs typeface="Zurich Sans"/>
              </a:rPr>
              <a:t> Years</a:t>
            </a:r>
            <a:r>
              <a:rPr sz="800">
                <a:solidFill>
                  <a:srgbClr val="142863"/>
                </a:solidFill>
                <a:latin typeface="Zurich Sans"/>
                <a:cs typeface="Zurich Sans"/>
              </a:rPr>
              <a:t>	10</a:t>
            </a:r>
            <a:r>
              <a:rPr sz="800" spc="-10">
                <a:solidFill>
                  <a:srgbClr val="142863"/>
                </a:solidFill>
                <a:latin typeface="Zurich Sans"/>
                <a:cs typeface="Zurich Sans"/>
              </a:rPr>
              <a:t> Years</a:t>
            </a:r>
            <a:r>
              <a:rPr sz="800">
                <a:solidFill>
                  <a:srgbClr val="142863"/>
                </a:solidFill>
                <a:latin typeface="Zurich Sans"/>
                <a:cs typeface="Zurich Sans"/>
              </a:rPr>
              <a:t>	1</a:t>
            </a:r>
            <a:r>
              <a:rPr sz="800" spc="-10">
                <a:solidFill>
                  <a:srgbClr val="142863"/>
                </a:solidFill>
                <a:latin typeface="Zurich Sans"/>
                <a:cs typeface="Zurich Sans"/>
              </a:rPr>
              <a:t> </a:t>
            </a:r>
            <a:r>
              <a:rPr sz="800" spc="-20">
                <a:solidFill>
                  <a:srgbClr val="142863"/>
                </a:solidFill>
                <a:latin typeface="Zurich Sans"/>
                <a:cs typeface="Zurich Sans"/>
              </a:rPr>
              <a:t>Year</a:t>
            </a:r>
            <a:r>
              <a:rPr sz="800">
                <a:solidFill>
                  <a:srgbClr val="142863"/>
                </a:solidFill>
                <a:latin typeface="Zurich Sans"/>
                <a:cs typeface="Zurich Sans"/>
              </a:rPr>
              <a:t>	3</a:t>
            </a:r>
            <a:r>
              <a:rPr sz="800" spc="-10">
                <a:solidFill>
                  <a:srgbClr val="142863"/>
                </a:solidFill>
                <a:latin typeface="Zurich Sans"/>
                <a:cs typeface="Zurich Sans"/>
              </a:rPr>
              <a:t> Years</a:t>
            </a:r>
            <a:r>
              <a:rPr sz="800">
                <a:solidFill>
                  <a:srgbClr val="142863"/>
                </a:solidFill>
                <a:latin typeface="Zurich Sans"/>
                <a:cs typeface="Zurich Sans"/>
              </a:rPr>
              <a:t>	5 </a:t>
            </a:r>
            <a:r>
              <a:rPr sz="800" spc="-10">
                <a:solidFill>
                  <a:srgbClr val="142863"/>
                </a:solidFill>
                <a:latin typeface="Zurich Sans"/>
                <a:cs typeface="Zurich Sans"/>
              </a:rPr>
              <a:t>Years</a:t>
            </a:r>
            <a:endParaRPr sz="800">
              <a:latin typeface="Zurich Sans"/>
              <a:cs typeface="Zurich Sans"/>
            </a:endParaRPr>
          </a:p>
          <a:p>
            <a:pPr marL="12700">
              <a:lnSpc>
                <a:spcPct val="100000"/>
              </a:lnSpc>
              <a:spcBef>
                <a:spcPts val="455"/>
              </a:spcBef>
              <a:tabLst>
                <a:tab pos="665480" algn="l"/>
                <a:tab pos="1163320" algn="l"/>
                <a:tab pos="1683385" algn="l"/>
                <a:tab pos="2154555" algn="l"/>
                <a:tab pos="2815590" algn="l"/>
                <a:tab pos="3291840" algn="l"/>
                <a:tab pos="3820160" algn="l"/>
              </a:tabLst>
            </a:pPr>
            <a:r>
              <a:rPr sz="800">
                <a:solidFill>
                  <a:srgbClr val="142863"/>
                </a:solidFill>
                <a:latin typeface="Zurich Sans"/>
                <a:cs typeface="Zurich Sans"/>
              </a:rPr>
              <a:t>% </a:t>
            </a:r>
            <a:r>
              <a:rPr sz="800" spc="-10">
                <a:solidFill>
                  <a:srgbClr val="142863"/>
                </a:solidFill>
                <a:latin typeface="Zurich Sans"/>
                <a:cs typeface="Zurich Sans"/>
              </a:rPr>
              <a:t>Growth</a:t>
            </a:r>
            <a:r>
              <a:rPr sz="800">
                <a:solidFill>
                  <a:srgbClr val="142863"/>
                </a:solidFill>
                <a:latin typeface="Zurich Sans"/>
                <a:cs typeface="Zurich Sans"/>
              </a:rPr>
              <a:t>	-</a:t>
            </a:r>
            <a:r>
              <a:rPr sz="800" spc="-20">
                <a:solidFill>
                  <a:srgbClr val="142863"/>
                </a:solidFill>
                <a:latin typeface="Zurich Sans"/>
                <a:cs typeface="Zurich Sans"/>
              </a:rPr>
              <a:t>7.72%</a:t>
            </a:r>
            <a:r>
              <a:rPr sz="800">
                <a:solidFill>
                  <a:srgbClr val="142863"/>
                </a:solidFill>
                <a:latin typeface="Zurich Sans"/>
                <a:cs typeface="Zurich Sans"/>
              </a:rPr>
              <a:t>	-</a:t>
            </a:r>
            <a:r>
              <a:rPr sz="800" spc="-10">
                <a:solidFill>
                  <a:srgbClr val="142863"/>
                </a:solidFill>
                <a:latin typeface="Zurich Sans"/>
                <a:cs typeface="Zurich Sans"/>
              </a:rPr>
              <a:t>4.51%</a:t>
            </a:r>
            <a:r>
              <a:rPr sz="800">
                <a:solidFill>
                  <a:srgbClr val="142863"/>
                </a:solidFill>
                <a:latin typeface="Zurich Sans"/>
                <a:cs typeface="Zurich Sans"/>
              </a:rPr>
              <a:t>	-</a:t>
            </a:r>
            <a:r>
              <a:rPr sz="800" spc="-10">
                <a:solidFill>
                  <a:srgbClr val="142863"/>
                </a:solidFill>
                <a:latin typeface="Zurich Sans"/>
                <a:cs typeface="Zurich Sans"/>
              </a:rPr>
              <a:t>1.87%</a:t>
            </a:r>
            <a:r>
              <a:rPr sz="800">
                <a:solidFill>
                  <a:srgbClr val="142863"/>
                </a:solidFill>
                <a:latin typeface="Zurich Sans"/>
                <a:cs typeface="Zurich Sans"/>
              </a:rPr>
              <a:t>	</a:t>
            </a:r>
            <a:r>
              <a:rPr lang="en-GB" sz="800">
                <a:solidFill>
                  <a:srgbClr val="142863"/>
                </a:solidFill>
                <a:latin typeface="Zurich Sans"/>
                <a:cs typeface="Zurich Sans"/>
              </a:rPr>
              <a:t>    </a:t>
            </a:r>
            <a:r>
              <a:rPr sz="800" spc="-10">
                <a:solidFill>
                  <a:srgbClr val="142863"/>
                </a:solidFill>
                <a:latin typeface="Zurich Sans"/>
                <a:cs typeface="Zurich Sans"/>
              </a:rPr>
              <a:t>Volatility</a:t>
            </a:r>
            <a:r>
              <a:rPr sz="800">
                <a:solidFill>
                  <a:srgbClr val="142863"/>
                </a:solidFill>
                <a:latin typeface="Zurich Sans"/>
                <a:cs typeface="Zurich Sans"/>
              </a:rPr>
              <a:t>	</a:t>
            </a:r>
            <a:r>
              <a:rPr sz="800" spc="-20">
                <a:solidFill>
                  <a:srgbClr val="142863"/>
                </a:solidFill>
                <a:latin typeface="Zurich Sans"/>
                <a:cs typeface="Zurich Sans"/>
              </a:rPr>
              <a:t>2.09</a:t>
            </a:r>
            <a:r>
              <a:rPr sz="800">
                <a:solidFill>
                  <a:srgbClr val="142863"/>
                </a:solidFill>
                <a:latin typeface="Zurich Sans"/>
                <a:cs typeface="Zurich Sans"/>
              </a:rPr>
              <a:t>	</a:t>
            </a:r>
            <a:r>
              <a:rPr sz="800" spc="-20">
                <a:solidFill>
                  <a:srgbClr val="142863"/>
                </a:solidFill>
                <a:latin typeface="Zurich Sans"/>
                <a:cs typeface="Zurich Sans"/>
              </a:rPr>
              <a:t>3.75</a:t>
            </a:r>
            <a:r>
              <a:rPr sz="800">
                <a:solidFill>
                  <a:srgbClr val="142863"/>
                </a:solidFill>
                <a:latin typeface="Zurich Sans"/>
                <a:cs typeface="Zurich Sans"/>
              </a:rPr>
              <a:t>	</a:t>
            </a:r>
            <a:r>
              <a:rPr sz="800" spc="-20">
                <a:solidFill>
                  <a:srgbClr val="142863"/>
                </a:solidFill>
                <a:latin typeface="Zurich Sans"/>
                <a:cs typeface="Zurich Sans"/>
              </a:rPr>
              <a:t>4.61</a:t>
            </a:r>
            <a:endParaRPr sz="800">
              <a:latin typeface="Zurich Sans"/>
              <a:cs typeface="Zurich Sans"/>
            </a:endParaRPr>
          </a:p>
        </p:txBody>
      </p:sp>
      <p:sp>
        <p:nvSpPr>
          <p:cNvPr id="2" name="object 2">
            <a:extLst>
              <a:ext uri="{FF2B5EF4-FFF2-40B4-BE49-F238E27FC236}">
                <a16:creationId xmlns:a16="http://schemas.microsoft.com/office/drawing/2014/main" id="{3E50A258-847B-B20C-48E1-CBA1034D0F8B}"/>
              </a:ext>
            </a:extLst>
          </p:cNvPr>
          <p:cNvSpPr txBox="1"/>
          <p:nvPr/>
        </p:nvSpPr>
        <p:spPr>
          <a:xfrm>
            <a:off x="349250" y="372456"/>
            <a:ext cx="762635" cy="135935"/>
          </a:xfrm>
          <a:prstGeom prst="rect">
            <a:avLst/>
          </a:prstGeom>
        </p:spPr>
        <p:txBody>
          <a:bodyPr vert="horz" wrap="square" lIns="0" tIns="12700" rIns="0" bIns="0" rtlCol="0">
            <a:spAutoFit/>
          </a:bodyPr>
          <a:lstStyle/>
          <a:p>
            <a:pPr marL="12700">
              <a:lnSpc>
                <a:spcPct val="100000"/>
              </a:lnSpc>
              <a:spcBef>
                <a:spcPts val="100"/>
              </a:spcBef>
            </a:pPr>
            <a:r>
              <a:rPr lang="en-GB" sz="800" b="0">
                <a:solidFill>
                  <a:srgbClr val="142863"/>
                </a:solidFill>
                <a:latin typeface="Zurich Sans Light"/>
                <a:cs typeface="Zurich Sans Light"/>
              </a:rPr>
              <a:t>March</a:t>
            </a:r>
            <a:r>
              <a:rPr sz="800" b="0">
                <a:solidFill>
                  <a:srgbClr val="142863"/>
                </a:solidFill>
                <a:latin typeface="Zurich Sans Light"/>
                <a:cs typeface="Zurich Sans Light"/>
              </a:rPr>
              <a:t> </a:t>
            </a:r>
            <a:r>
              <a:rPr sz="800" b="0" spc="-20">
                <a:solidFill>
                  <a:srgbClr val="142863"/>
                </a:solidFill>
                <a:latin typeface="Zurich Sans Light"/>
                <a:cs typeface="Zurich Sans Light"/>
              </a:rPr>
              <a:t>202</a:t>
            </a:r>
            <a:r>
              <a:rPr lang="en-GB" sz="800" b="0" spc="-20">
                <a:solidFill>
                  <a:srgbClr val="142863"/>
                </a:solidFill>
                <a:latin typeface="Zurich Sans Light"/>
                <a:cs typeface="Zurich Sans Light"/>
              </a:rPr>
              <a:t>5</a:t>
            </a:r>
            <a:endParaRPr sz="800">
              <a:latin typeface="Zurich Sans Light"/>
              <a:cs typeface="Zurich Sans Light"/>
            </a:endParaRPr>
          </a:p>
        </p:txBody>
      </p:sp>
      <p:sp>
        <p:nvSpPr>
          <p:cNvPr id="5" name="object 5">
            <a:extLst>
              <a:ext uri="{FF2B5EF4-FFF2-40B4-BE49-F238E27FC236}">
                <a16:creationId xmlns:a16="http://schemas.microsoft.com/office/drawing/2014/main" id="{6ACB8066-2771-1829-2272-38710C008EFD}"/>
              </a:ext>
            </a:extLst>
          </p:cNvPr>
          <p:cNvSpPr txBox="1"/>
          <p:nvPr/>
        </p:nvSpPr>
        <p:spPr>
          <a:xfrm>
            <a:off x="301425" y="1319733"/>
            <a:ext cx="6941754" cy="1451679"/>
          </a:xfrm>
          <a:prstGeom prst="rect">
            <a:avLst/>
          </a:prstGeom>
        </p:spPr>
        <p:txBody>
          <a:bodyPr vert="horz" wrap="square" lIns="0" tIns="12700" rIns="0" bIns="0" rtlCol="0">
            <a:spAutoFit/>
          </a:bodyPr>
          <a:lstStyle/>
          <a:p>
            <a:pPr marL="12700">
              <a:lnSpc>
                <a:spcPct val="100000"/>
              </a:lnSpc>
              <a:spcBef>
                <a:spcPts val="100"/>
              </a:spcBef>
            </a:pPr>
            <a:r>
              <a:rPr sz="1150" b="1" dirty="0">
                <a:solidFill>
                  <a:srgbClr val="004F9E"/>
                </a:solidFill>
                <a:latin typeface="Zurich Sans"/>
                <a:cs typeface="Zurich Sans"/>
              </a:rPr>
              <a:t>Fund</a:t>
            </a:r>
            <a:r>
              <a:rPr sz="1150" b="1" spc="-5" dirty="0">
                <a:solidFill>
                  <a:srgbClr val="004F9E"/>
                </a:solidFill>
                <a:latin typeface="Zurich Sans"/>
                <a:cs typeface="Zurich Sans"/>
              </a:rPr>
              <a:t> </a:t>
            </a:r>
            <a:r>
              <a:rPr sz="1150" b="1" spc="-10" dirty="0">
                <a:solidFill>
                  <a:srgbClr val="004F9E"/>
                </a:solidFill>
                <a:latin typeface="Zurich Sans"/>
                <a:cs typeface="Zurich Sans"/>
              </a:rPr>
              <a:t>Objective</a:t>
            </a:r>
            <a:endParaRPr sz="1150" dirty="0">
              <a:latin typeface="Zurich Sans"/>
              <a:cs typeface="Zurich Sans"/>
            </a:endParaRPr>
          </a:p>
          <a:p>
            <a:pPr marL="12700" marR="5080">
              <a:spcBef>
                <a:spcPts val="600"/>
              </a:spcBef>
            </a:pPr>
            <a:r>
              <a:rPr lang="en-GB" sz="800" b="0" dirty="0">
                <a:solidFill>
                  <a:srgbClr val="142863"/>
                </a:solidFill>
                <a:latin typeface="Zurich Sans Light"/>
                <a:cs typeface="Zurich Sans Light"/>
              </a:rPr>
              <a:t>T</a:t>
            </a:r>
            <a:r>
              <a:rPr sz="800" b="0" dirty="0">
                <a:solidFill>
                  <a:srgbClr val="142863"/>
                </a:solidFill>
                <a:latin typeface="Zurich Sans Light"/>
                <a:cs typeface="Zurich Sans Light"/>
              </a:rPr>
              <a:t>he Fidelity </a:t>
            </a:r>
            <a:r>
              <a:rPr lang="en-GB" sz="800" b="0" dirty="0">
                <a:solidFill>
                  <a:srgbClr val="142863"/>
                </a:solidFill>
                <a:latin typeface="Zurich Sans Light"/>
                <a:cs typeface="Zurich Sans Light"/>
              </a:rPr>
              <a:t>Emerging Market Debt </a:t>
            </a:r>
            <a:r>
              <a:rPr sz="800" b="0" dirty="0">
                <a:solidFill>
                  <a:srgbClr val="142863"/>
                </a:solidFill>
                <a:latin typeface="Zurich Sans Light"/>
                <a:cs typeface="Zurich Sans Light"/>
              </a:rPr>
              <a:t>fund (the underlying 'Fund') aims to increase the value of your investment over a period of 5 years or more. </a:t>
            </a:r>
            <a:r>
              <a:rPr sz="800" b="0" spc="-25" dirty="0">
                <a:solidFill>
                  <a:srgbClr val="142863"/>
                </a:solidFill>
                <a:latin typeface="Zurich Sans Light"/>
                <a:cs typeface="Zurich Sans Light"/>
              </a:rPr>
              <a:t>The</a:t>
            </a:r>
            <a:r>
              <a:rPr lang="en-GB" sz="800" spc="500" dirty="0">
                <a:solidFill>
                  <a:srgbClr val="142863"/>
                </a:solidFill>
                <a:latin typeface="Zurich Sans Light"/>
                <a:cs typeface="Zurich Sans Light"/>
              </a:rPr>
              <a:t> </a:t>
            </a:r>
            <a:r>
              <a:rPr sz="800" b="0" dirty="0">
                <a:solidFill>
                  <a:srgbClr val="142863"/>
                </a:solidFill>
                <a:latin typeface="Zurich Sans Light"/>
                <a:cs typeface="Zurich Sans Light"/>
              </a:rPr>
              <a:t>Fund</a:t>
            </a:r>
            <a:r>
              <a:rPr sz="800" b="0" spc="-10" dirty="0">
                <a:solidFill>
                  <a:srgbClr val="142863"/>
                </a:solidFill>
                <a:latin typeface="Zurich Sans Light"/>
                <a:cs typeface="Zurich Sans Light"/>
              </a:rPr>
              <a:t> </a:t>
            </a:r>
            <a:r>
              <a:rPr sz="800" b="0" dirty="0">
                <a:solidFill>
                  <a:srgbClr val="142863"/>
                </a:solidFill>
                <a:latin typeface="Zurich Sans Light"/>
                <a:cs typeface="Zurich Sans Light"/>
              </a:rPr>
              <a:t>will invest at least 70% in equities (and their related securities) of companies globally which could include countries considered to be </a:t>
            </a:r>
            <a:r>
              <a:rPr sz="800" b="0" spc="-10" dirty="0">
                <a:solidFill>
                  <a:srgbClr val="142863"/>
                </a:solidFill>
                <a:latin typeface="Zurich Sans Light"/>
                <a:cs typeface="Zurich Sans Light"/>
              </a:rPr>
              <a:t>emerging</a:t>
            </a:r>
            <a:r>
              <a:rPr lang="en-GB" sz="800" b="0" spc="-10" dirty="0">
                <a:solidFill>
                  <a:srgbClr val="142863"/>
                </a:solidFill>
                <a:latin typeface="Zurich Sans Light"/>
                <a:cs typeface="Zurich Sans Light"/>
              </a:rPr>
              <a:t> </a:t>
            </a:r>
            <a:r>
              <a:rPr sz="800" b="0" dirty="0">
                <a:solidFill>
                  <a:srgbClr val="142863"/>
                </a:solidFill>
                <a:latin typeface="Zurich Sans Light"/>
                <a:cs typeface="Zurich Sans Light"/>
              </a:rPr>
              <a:t>markets as determined by the Investment Manager at its sole discretion. The investment manager will focus on companies it believes to be </a:t>
            </a:r>
            <a:r>
              <a:rPr sz="800" b="0" spc="-10" dirty="0">
                <a:solidFill>
                  <a:srgbClr val="142863"/>
                </a:solidFill>
                <a:latin typeface="Zurich Sans Light"/>
                <a:cs typeface="Zurich Sans Light"/>
              </a:rPr>
              <a:t>undervalued</a:t>
            </a:r>
            <a:r>
              <a:rPr lang="en-GB" sz="800" b="0" spc="-10" dirty="0">
                <a:solidFill>
                  <a:srgbClr val="142863"/>
                </a:solidFill>
                <a:latin typeface="Zurich Sans Light"/>
                <a:cs typeface="Zurich Sans Light"/>
              </a:rPr>
              <a:t> </a:t>
            </a:r>
            <a:r>
              <a:rPr sz="800" b="0" dirty="0">
                <a:solidFill>
                  <a:srgbClr val="142863"/>
                </a:solidFill>
                <a:latin typeface="Zurich Sans Light"/>
                <a:cs typeface="Zurich Sans Light"/>
              </a:rPr>
              <a:t>and whose recovery potential is not </a:t>
            </a:r>
            <a:r>
              <a:rPr sz="800" b="0" dirty="0" err="1">
                <a:solidFill>
                  <a:srgbClr val="142863"/>
                </a:solidFill>
                <a:latin typeface="Zurich Sans Light"/>
                <a:cs typeface="Zurich Sans Light"/>
              </a:rPr>
              <a:t>recognised</a:t>
            </a:r>
            <a:r>
              <a:rPr sz="800" b="0" dirty="0">
                <a:solidFill>
                  <a:srgbClr val="142863"/>
                </a:solidFill>
                <a:latin typeface="Zurich Sans Light"/>
                <a:cs typeface="Zurich Sans Light"/>
              </a:rPr>
              <a:t> by the market. The Fund is actively </a:t>
            </a:r>
            <a:r>
              <a:rPr sz="800" b="0" spc="-10" dirty="0">
                <a:solidFill>
                  <a:srgbClr val="142863"/>
                </a:solidFill>
                <a:latin typeface="Zurich Sans Light"/>
                <a:cs typeface="Zurich Sans Light"/>
              </a:rPr>
              <a:t>managed.</a:t>
            </a:r>
            <a:r>
              <a:rPr lang="en-GB" sz="800" b="0" spc="-10" dirty="0">
                <a:solidFill>
                  <a:srgbClr val="142863"/>
                </a:solidFill>
                <a:latin typeface="Zurich Sans Light"/>
                <a:cs typeface="Zurich Sans Light"/>
              </a:rPr>
              <a:t>. </a:t>
            </a:r>
            <a:r>
              <a:rPr lang="en-GB" sz="800" b="0" dirty="0">
                <a:solidFill>
                  <a:srgbClr val="142863"/>
                </a:solidFill>
                <a:latin typeface="Zurich Sans Light"/>
                <a:cs typeface="Zurich Sans Light"/>
              </a:rPr>
              <a:t>The Fidelity Emerging Market Debt fund (the underlying 'Fund') aims to increase the value of your investment over a period of 5 years or more. </a:t>
            </a:r>
            <a:r>
              <a:rPr lang="en-GB" sz="800" b="0" spc="-25" dirty="0">
                <a:solidFill>
                  <a:srgbClr val="142863"/>
                </a:solidFill>
                <a:latin typeface="Zurich Sans Light"/>
                <a:cs typeface="Zurich Sans Light"/>
              </a:rPr>
              <a:t>The</a:t>
            </a:r>
            <a:r>
              <a:rPr lang="en-GB" sz="800" spc="500" dirty="0">
                <a:solidFill>
                  <a:srgbClr val="142863"/>
                </a:solidFill>
                <a:latin typeface="Zurich Sans Light"/>
                <a:cs typeface="Zurich Sans Light"/>
              </a:rPr>
              <a:t> </a:t>
            </a:r>
            <a:r>
              <a:rPr lang="en-GB" sz="800" b="0" dirty="0">
                <a:solidFill>
                  <a:srgbClr val="142863"/>
                </a:solidFill>
                <a:latin typeface="Zurich Sans Light"/>
                <a:cs typeface="Zurich Sans Light"/>
              </a:rPr>
              <a:t>Fund</a:t>
            </a:r>
            <a:r>
              <a:rPr lang="en-GB" sz="800" b="0" spc="-10" dirty="0">
                <a:solidFill>
                  <a:srgbClr val="142863"/>
                </a:solidFill>
                <a:latin typeface="Zurich Sans Light"/>
                <a:cs typeface="Zurich Sans Light"/>
              </a:rPr>
              <a:t> </a:t>
            </a:r>
            <a:r>
              <a:rPr lang="en-GB" sz="800" b="0" dirty="0">
                <a:solidFill>
                  <a:srgbClr val="142863"/>
                </a:solidFill>
                <a:latin typeface="Zurich Sans Light"/>
                <a:cs typeface="Zurich Sans Light"/>
              </a:rPr>
              <a:t>will invest at least 70% in equities (and their related securities) of companies globally which could include countries considered to be </a:t>
            </a:r>
            <a:r>
              <a:rPr lang="en-GB" sz="800" b="0" spc="-10" dirty="0">
                <a:solidFill>
                  <a:srgbClr val="142863"/>
                </a:solidFill>
                <a:latin typeface="Zurich Sans Light"/>
                <a:cs typeface="Zurich Sans Light"/>
              </a:rPr>
              <a:t>emerging </a:t>
            </a:r>
            <a:r>
              <a:rPr lang="en-GB" sz="800" b="0" dirty="0">
                <a:solidFill>
                  <a:srgbClr val="142863"/>
                </a:solidFill>
                <a:latin typeface="Zurich Sans Light"/>
                <a:cs typeface="Zurich Sans Light"/>
              </a:rPr>
              <a:t>markets as determined by the Investment Manager at its sole discretion. The investment manager will focus on companies it believes to be </a:t>
            </a:r>
            <a:r>
              <a:rPr lang="en-GB" sz="800" b="0" spc="-10" dirty="0">
                <a:solidFill>
                  <a:srgbClr val="142863"/>
                </a:solidFill>
                <a:latin typeface="Zurich Sans Light"/>
                <a:cs typeface="Zurich Sans Light"/>
              </a:rPr>
              <a:t>undervalued </a:t>
            </a:r>
            <a:r>
              <a:rPr lang="en-GB" sz="800" b="0" dirty="0">
                <a:solidFill>
                  <a:srgbClr val="142863"/>
                </a:solidFill>
                <a:latin typeface="Zurich Sans Light"/>
                <a:cs typeface="Zurich Sans Light"/>
              </a:rPr>
              <a:t>and whose recovery potential is not recognised by the market. The Fund is actively </a:t>
            </a:r>
            <a:r>
              <a:rPr lang="en-GB" sz="800" b="0" spc="-10" dirty="0">
                <a:solidFill>
                  <a:srgbClr val="142863"/>
                </a:solidFill>
                <a:latin typeface="Zurich Sans Light"/>
                <a:cs typeface="Zurich Sans Light"/>
              </a:rPr>
              <a:t>managed.</a:t>
            </a:r>
            <a:endParaRPr lang="en-GB" sz="800" dirty="0">
              <a:latin typeface="Zurich Sans Light"/>
              <a:cs typeface="Zurich Sans Light"/>
            </a:endParaRPr>
          </a:p>
          <a:p>
            <a:pPr marL="12700" marR="5080">
              <a:lnSpc>
                <a:spcPct val="100000"/>
              </a:lnSpc>
              <a:spcBef>
                <a:spcPts val="600"/>
              </a:spcBef>
            </a:pPr>
            <a:endParaRPr sz="800" dirty="0">
              <a:latin typeface="Zurich Sans Light"/>
              <a:cs typeface="Zurich Sans Light"/>
            </a:endParaRPr>
          </a:p>
        </p:txBody>
      </p:sp>
      <p:sp>
        <p:nvSpPr>
          <p:cNvPr id="6" name="object 6">
            <a:extLst>
              <a:ext uri="{FF2B5EF4-FFF2-40B4-BE49-F238E27FC236}">
                <a16:creationId xmlns:a16="http://schemas.microsoft.com/office/drawing/2014/main" id="{14A123FA-345C-9862-3D79-23B8F97E6AA7}"/>
              </a:ext>
            </a:extLst>
          </p:cNvPr>
          <p:cNvSpPr txBox="1">
            <a:spLocks noGrp="1"/>
          </p:cNvSpPr>
          <p:nvPr>
            <p:ph type="title"/>
          </p:nvPr>
        </p:nvSpPr>
        <p:spPr>
          <a:xfrm>
            <a:off x="253319" y="825280"/>
            <a:ext cx="5130815" cy="394980"/>
          </a:xfrm>
          <a:prstGeom prst="rect">
            <a:avLst/>
          </a:prstGeom>
        </p:spPr>
        <p:txBody>
          <a:bodyPr vert="horz" wrap="square" lIns="0" tIns="48260" rIns="0" bIns="0" rtlCol="0">
            <a:spAutoFit/>
          </a:bodyPr>
          <a:lstStyle/>
          <a:p>
            <a:pPr marL="12700" marR="5080">
              <a:lnSpc>
                <a:spcPts val="2650"/>
              </a:lnSpc>
              <a:spcBef>
                <a:spcPts val="380"/>
              </a:spcBef>
            </a:pPr>
            <a:r>
              <a:rPr lang="en-GB" dirty="0">
                <a:solidFill>
                  <a:srgbClr val="004F9E"/>
                </a:solidFill>
              </a:rPr>
              <a:t>Fidelity Emerging </a:t>
            </a:r>
            <a:r>
              <a:rPr lang="en-GB" spc="-10" dirty="0">
                <a:solidFill>
                  <a:srgbClr val="004F9E"/>
                </a:solidFill>
              </a:rPr>
              <a:t>Market </a:t>
            </a:r>
            <a:r>
              <a:rPr lang="en-GB" spc="-20" dirty="0">
                <a:solidFill>
                  <a:srgbClr val="004F9E"/>
                </a:solidFill>
              </a:rPr>
              <a:t>Debt</a:t>
            </a:r>
            <a:endParaRPr spc="-20" dirty="0">
              <a:solidFill>
                <a:srgbClr val="004F9E"/>
              </a:solidFill>
            </a:endParaRPr>
          </a:p>
        </p:txBody>
      </p:sp>
      <p:sp>
        <p:nvSpPr>
          <p:cNvPr id="8" name="object 8">
            <a:extLst>
              <a:ext uri="{FF2B5EF4-FFF2-40B4-BE49-F238E27FC236}">
                <a16:creationId xmlns:a16="http://schemas.microsoft.com/office/drawing/2014/main" id="{46E308CF-BCD5-8CE2-0123-5421C52007FF}"/>
              </a:ext>
            </a:extLst>
          </p:cNvPr>
          <p:cNvSpPr/>
          <p:nvPr/>
        </p:nvSpPr>
        <p:spPr>
          <a:xfrm>
            <a:off x="3073449" y="316181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0" name="object 10">
            <a:extLst>
              <a:ext uri="{FF2B5EF4-FFF2-40B4-BE49-F238E27FC236}">
                <a16:creationId xmlns:a16="http://schemas.microsoft.com/office/drawing/2014/main" id="{96583E00-0435-29CE-91CD-CD87F16AB7E3}"/>
              </a:ext>
            </a:extLst>
          </p:cNvPr>
          <p:cNvSpPr/>
          <p:nvPr/>
        </p:nvSpPr>
        <p:spPr>
          <a:xfrm>
            <a:off x="3059938" y="444613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1" name="object 11">
            <a:extLst>
              <a:ext uri="{FF2B5EF4-FFF2-40B4-BE49-F238E27FC236}">
                <a16:creationId xmlns:a16="http://schemas.microsoft.com/office/drawing/2014/main" id="{16212980-7D52-F7D4-6AD4-EA168A49D494}"/>
              </a:ext>
            </a:extLst>
          </p:cNvPr>
          <p:cNvSpPr/>
          <p:nvPr/>
        </p:nvSpPr>
        <p:spPr>
          <a:xfrm>
            <a:off x="3059938" y="4251445"/>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2" name="object 12">
            <a:extLst>
              <a:ext uri="{FF2B5EF4-FFF2-40B4-BE49-F238E27FC236}">
                <a16:creationId xmlns:a16="http://schemas.microsoft.com/office/drawing/2014/main" id="{DBD512A8-4A53-53A3-6972-66FA3261FB65}"/>
              </a:ext>
            </a:extLst>
          </p:cNvPr>
          <p:cNvSpPr/>
          <p:nvPr/>
        </p:nvSpPr>
        <p:spPr>
          <a:xfrm>
            <a:off x="3068954" y="4730869"/>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6" name="object 16">
            <a:extLst>
              <a:ext uri="{FF2B5EF4-FFF2-40B4-BE49-F238E27FC236}">
                <a16:creationId xmlns:a16="http://schemas.microsoft.com/office/drawing/2014/main" id="{A3D09396-1FB9-F385-4739-8788A333817C}"/>
              </a:ext>
            </a:extLst>
          </p:cNvPr>
          <p:cNvSpPr/>
          <p:nvPr/>
        </p:nvSpPr>
        <p:spPr>
          <a:xfrm>
            <a:off x="3059938" y="4918926"/>
            <a:ext cx="2070100" cy="6350"/>
          </a:xfrm>
          <a:custGeom>
            <a:avLst/>
            <a:gdLst/>
            <a:ahLst/>
            <a:cxnLst/>
            <a:rect l="l" t="t" r="r" b="b"/>
            <a:pathLst>
              <a:path w="2070100" h="6350">
                <a:moveTo>
                  <a:pt x="0" y="0"/>
                </a:moveTo>
                <a:lnTo>
                  <a:pt x="2070100" y="0"/>
                </a:lnTo>
                <a:lnTo>
                  <a:pt x="2070100" y="6350"/>
                </a:lnTo>
                <a:lnTo>
                  <a:pt x="0" y="6350"/>
                </a:lnTo>
                <a:lnTo>
                  <a:pt x="0" y="0"/>
                </a:lnTo>
                <a:close/>
              </a:path>
            </a:pathLst>
          </a:custGeom>
          <a:solidFill>
            <a:srgbClr val="4890DA"/>
          </a:solidFill>
        </p:spPr>
        <p:txBody>
          <a:bodyPr wrap="square" lIns="0" tIns="0" rIns="0" bIns="0" rtlCol="0"/>
          <a:lstStyle/>
          <a:p>
            <a:endParaRPr/>
          </a:p>
        </p:txBody>
      </p:sp>
      <p:sp>
        <p:nvSpPr>
          <p:cNvPr id="17" name="object 17">
            <a:extLst>
              <a:ext uri="{FF2B5EF4-FFF2-40B4-BE49-F238E27FC236}">
                <a16:creationId xmlns:a16="http://schemas.microsoft.com/office/drawing/2014/main" id="{DC6A00E7-E72A-B5C4-37F4-72AF65785068}"/>
              </a:ext>
            </a:extLst>
          </p:cNvPr>
          <p:cNvSpPr/>
          <p:nvPr/>
        </p:nvSpPr>
        <p:spPr>
          <a:xfrm>
            <a:off x="3059938" y="5187950"/>
            <a:ext cx="2070100" cy="6350"/>
          </a:xfrm>
          <a:custGeom>
            <a:avLst/>
            <a:gdLst/>
            <a:ahLst/>
            <a:cxnLst/>
            <a:rect l="l" t="t" r="r" b="b"/>
            <a:pathLst>
              <a:path w="2070100" h="6350">
                <a:moveTo>
                  <a:pt x="0" y="0"/>
                </a:moveTo>
                <a:lnTo>
                  <a:pt x="2070100" y="0"/>
                </a:lnTo>
                <a:lnTo>
                  <a:pt x="2070100" y="6350"/>
                </a:lnTo>
                <a:lnTo>
                  <a:pt x="0" y="6350"/>
                </a:lnTo>
                <a:lnTo>
                  <a:pt x="0" y="0"/>
                </a:lnTo>
                <a:close/>
              </a:path>
            </a:pathLst>
          </a:custGeom>
          <a:solidFill>
            <a:srgbClr val="4890DA"/>
          </a:solidFill>
        </p:spPr>
        <p:txBody>
          <a:bodyPr wrap="square" lIns="0" tIns="0" rIns="0" bIns="0" rtlCol="0"/>
          <a:lstStyle/>
          <a:p>
            <a:endParaRPr/>
          </a:p>
        </p:txBody>
      </p:sp>
      <p:sp>
        <p:nvSpPr>
          <p:cNvPr id="18" name="object 18">
            <a:extLst>
              <a:ext uri="{FF2B5EF4-FFF2-40B4-BE49-F238E27FC236}">
                <a16:creationId xmlns:a16="http://schemas.microsoft.com/office/drawing/2014/main" id="{B49AC3AE-794C-CDB5-CD97-D0919F8007AF}"/>
              </a:ext>
            </a:extLst>
          </p:cNvPr>
          <p:cNvSpPr txBox="1"/>
          <p:nvPr/>
        </p:nvSpPr>
        <p:spPr>
          <a:xfrm>
            <a:off x="3059938" y="4827985"/>
            <a:ext cx="2070100" cy="180000"/>
          </a:xfrm>
          <a:prstGeom prst="rect">
            <a:avLst/>
          </a:prstGeom>
          <a:solidFill>
            <a:srgbClr val="4890DA"/>
          </a:solidFill>
        </p:spPr>
        <p:txBody>
          <a:bodyPr vert="horz" wrap="square" lIns="36000" tIns="36000" rIns="36000" bIns="36000" rtlCol="0">
            <a:spAutoFit/>
          </a:bodyPr>
          <a:lstStyle/>
          <a:p>
            <a:pPr marL="35560" marR="60325">
              <a:lnSpc>
                <a:spcPct val="79200"/>
              </a:lnSpc>
              <a:spcBef>
                <a:spcPts val="350"/>
              </a:spcBef>
            </a:pPr>
            <a:r>
              <a:rPr sz="800" b="1">
                <a:solidFill>
                  <a:srgbClr val="FFFFFF"/>
                </a:solidFill>
                <a:latin typeface="Zurich Sans"/>
                <a:cs typeface="Zurich Sans"/>
              </a:rPr>
              <a:t>Annualised</a:t>
            </a:r>
            <a:r>
              <a:rPr sz="800" b="1" spc="-5">
                <a:solidFill>
                  <a:srgbClr val="FFFFFF"/>
                </a:solidFill>
                <a:latin typeface="Zurich Sans"/>
                <a:cs typeface="Zurich Sans"/>
              </a:rPr>
              <a:t> </a:t>
            </a:r>
            <a:r>
              <a:rPr sz="800" b="1">
                <a:solidFill>
                  <a:srgbClr val="FFFFFF"/>
                </a:solidFill>
                <a:latin typeface="Zurich Sans"/>
                <a:cs typeface="Zurich Sans"/>
              </a:rPr>
              <a:t>performance</a:t>
            </a:r>
            <a:r>
              <a:rPr sz="800" b="1" spc="-5">
                <a:solidFill>
                  <a:srgbClr val="FFFFFF"/>
                </a:solidFill>
                <a:latin typeface="Zurich Sans"/>
                <a:cs typeface="Zurich Sans"/>
              </a:rPr>
              <a:t> </a:t>
            </a:r>
            <a:endParaRPr sz="800">
              <a:latin typeface="Zurich Sans"/>
              <a:cs typeface="Zurich Sans"/>
            </a:endParaRPr>
          </a:p>
        </p:txBody>
      </p:sp>
      <p:sp>
        <p:nvSpPr>
          <p:cNvPr id="20" name="object 20">
            <a:extLst>
              <a:ext uri="{FF2B5EF4-FFF2-40B4-BE49-F238E27FC236}">
                <a16:creationId xmlns:a16="http://schemas.microsoft.com/office/drawing/2014/main" id="{15632B0F-059C-7A24-D02C-F6C369EFA14A}"/>
              </a:ext>
            </a:extLst>
          </p:cNvPr>
          <p:cNvSpPr/>
          <p:nvPr/>
        </p:nvSpPr>
        <p:spPr>
          <a:xfrm>
            <a:off x="5285160" y="5187950"/>
            <a:ext cx="1944000" cy="6350"/>
          </a:xfrm>
          <a:custGeom>
            <a:avLst/>
            <a:gdLst/>
            <a:ahLst/>
            <a:cxnLst/>
            <a:rect l="l" t="t" r="r" b="b"/>
            <a:pathLst>
              <a:path w="1998345" h="6350">
                <a:moveTo>
                  <a:pt x="0" y="0"/>
                </a:moveTo>
                <a:lnTo>
                  <a:pt x="1997964" y="0"/>
                </a:lnTo>
                <a:lnTo>
                  <a:pt x="1997964" y="6350"/>
                </a:lnTo>
                <a:lnTo>
                  <a:pt x="0" y="6350"/>
                </a:lnTo>
                <a:lnTo>
                  <a:pt x="0" y="0"/>
                </a:lnTo>
                <a:close/>
              </a:path>
            </a:pathLst>
          </a:custGeom>
          <a:solidFill>
            <a:srgbClr val="4890DA"/>
          </a:solidFill>
        </p:spPr>
        <p:txBody>
          <a:bodyPr wrap="square" lIns="0" tIns="0" rIns="0" bIns="0" rtlCol="0"/>
          <a:lstStyle/>
          <a:p>
            <a:endParaRPr/>
          </a:p>
        </p:txBody>
      </p:sp>
      <p:sp>
        <p:nvSpPr>
          <p:cNvPr id="21" name="object 21">
            <a:extLst>
              <a:ext uri="{FF2B5EF4-FFF2-40B4-BE49-F238E27FC236}">
                <a16:creationId xmlns:a16="http://schemas.microsoft.com/office/drawing/2014/main" id="{78077527-A936-9A62-3814-AC4E3185D8BB}"/>
              </a:ext>
            </a:extLst>
          </p:cNvPr>
          <p:cNvSpPr txBox="1"/>
          <p:nvPr/>
        </p:nvSpPr>
        <p:spPr>
          <a:xfrm>
            <a:off x="5246430" y="4820468"/>
            <a:ext cx="1998345" cy="169974"/>
          </a:xfrm>
          <a:prstGeom prst="rect">
            <a:avLst/>
          </a:prstGeom>
          <a:solidFill>
            <a:srgbClr val="4890DA"/>
          </a:solidFill>
        </p:spPr>
        <p:txBody>
          <a:bodyPr vert="horz" wrap="square" lIns="36000" tIns="36000" rIns="36000" bIns="36000" rtlCol="0">
            <a:spAutoFit/>
          </a:bodyPr>
          <a:lstStyle/>
          <a:p>
            <a:pPr marL="35560" marR="411480">
              <a:lnSpc>
                <a:spcPct val="79200"/>
              </a:lnSpc>
              <a:spcBef>
                <a:spcPts val="350"/>
              </a:spcBef>
            </a:pPr>
            <a:r>
              <a:rPr lang="en-GB" sz="800" b="1">
                <a:solidFill>
                  <a:srgbClr val="FFFFFF"/>
                </a:solidFill>
                <a:latin typeface="Zurich Sans" panose="02000500000000000000" pitchFamily="2" charset="0"/>
                <a:cs typeface="Zurich Sans"/>
              </a:rPr>
              <a:t>Volatility </a:t>
            </a:r>
            <a:r>
              <a:rPr lang="en-GB" sz="800" b="1" spc="-5">
                <a:solidFill>
                  <a:srgbClr val="FFFFFF"/>
                </a:solidFill>
                <a:latin typeface="Zurich Sans" panose="02000500000000000000" pitchFamily="2" charset="0"/>
                <a:cs typeface="Zurich Sans"/>
              </a:rPr>
              <a:t>(as at 28/02/25)</a:t>
            </a:r>
            <a:endParaRPr sz="800" b="1">
              <a:latin typeface="Zurich Sans" panose="02000500000000000000" pitchFamily="2" charset="0"/>
              <a:cs typeface="Zurich Sans"/>
            </a:endParaRPr>
          </a:p>
        </p:txBody>
      </p:sp>
      <p:sp>
        <p:nvSpPr>
          <p:cNvPr id="24" name="object 24">
            <a:extLst>
              <a:ext uri="{FF2B5EF4-FFF2-40B4-BE49-F238E27FC236}">
                <a16:creationId xmlns:a16="http://schemas.microsoft.com/office/drawing/2014/main" id="{9E052379-B08F-FC70-4027-31D38B6BEC76}"/>
              </a:ext>
            </a:extLst>
          </p:cNvPr>
          <p:cNvSpPr txBox="1"/>
          <p:nvPr/>
        </p:nvSpPr>
        <p:spPr>
          <a:xfrm>
            <a:off x="3059938" y="2805858"/>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sz="800" b="1">
                <a:solidFill>
                  <a:srgbClr val="FFFFFF"/>
                </a:solidFill>
                <a:latin typeface="Zurich Sans"/>
                <a:cs typeface="Zurich Sans"/>
              </a:rPr>
              <a:t>Cumulative</a:t>
            </a:r>
            <a:r>
              <a:rPr sz="800" b="1" spc="-5">
                <a:solidFill>
                  <a:srgbClr val="FFFFFF"/>
                </a:solidFill>
                <a:latin typeface="Zurich Sans"/>
                <a:cs typeface="Zurich Sans"/>
              </a:rPr>
              <a:t> </a:t>
            </a:r>
            <a:r>
              <a:rPr sz="800" b="1">
                <a:solidFill>
                  <a:srgbClr val="FFFFFF"/>
                </a:solidFill>
                <a:latin typeface="Zurich Sans"/>
                <a:cs typeface="Zurich Sans"/>
              </a:rPr>
              <a:t>performance</a:t>
            </a:r>
            <a:r>
              <a:rPr lang="en-GB" sz="800" b="1">
                <a:solidFill>
                  <a:srgbClr val="FFFFFF"/>
                </a:solidFill>
                <a:latin typeface="Zurich Sans"/>
                <a:cs typeface="Zurich Sans"/>
              </a:rPr>
              <a:t> (as at 28/02/2025)</a:t>
            </a:r>
            <a:endParaRPr sz="800" b="1">
              <a:latin typeface="Zurich Sans"/>
              <a:cs typeface="Zurich Sans"/>
            </a:endParaRPr>
          </a:p>
        </p:txBody>
      </p:sp>
      <p:sp>
        <p:nvSpPr>
          <p:cNvPr id="25" name="object 25">
            <a:extLst>
              <a:ext uri="{FF2B5EF4-FFF2-40B4-BE49-F238E27FC236}">
                <a16:creationId xmlns:a16="http://schemas.microsoft.com/office/drawing/2014/main" id="{CF8B4673-A17F-11E0-9293-52246A95A428}"/>
              </a:ext>
            </a:extLst>
          </p:cNvPr>
          <p:cNvSpPr txBox="1"/>
          <p:nvPr/>
        </p:nvSpPr>
        <p:spPr>
          <a:xfrm>
            <a:off x="3059937" y="2976946"/>
            <a:ext cx="4211228" cy="381515"/>
          </a:xfrm>
          <a:prstGeom prst="rect">
            <a:avLst/>
          </a:prstGeom>
        </p:spPr>
        <p:txBody>
          <a:bodyPr vert="horz" wrap="square" lIns="0" tIns="70485" rIns="0" bIns="0" rtlCol="0" anchor="t">
            <a:spAutoFit/>
          </a:bodyPr>
          <a:lstStyle/>
          <a:p>
            <a:pPr marR="156845" algn="l">
              <a:spcBef>
                <a:spcPts val="555"/>
              </a:spcBef>
              <a:tabLst>
                <a:tab pos="789305" algn="l"/>
                <a:tab pos="1374775" algn="l"/>
                <a:tab pos="2091689" algn="l"/>
                <a:tab pos="2827655" algn="l"/>
              </a:tabLst>
            </a:pPr>
            <a:r>
              <a:rPr lang="en-US" sz="800">
                <a:solidFill>
                  <a:srgbClr val="142863"/>
                </a:solidFill>
                <a:latin typeface="Zurich Sans"/>
                <a:cs typeface="Zurich Sans"/>
              </a:rPr>
              <a:t>                          1 Month     3 Months      6</a:t>
            </a:r>
            <a:r>
              <a:rPr sz="800" spc="-10">
                <a:solidFill>
                  <a:srgbClr val="142863"/>
                </a:solidFill>
                <a:latin typeface="Zurich Sans"/>
                <a:cs typeface="Zurich Sans"/>
              </a:rPr>
              <a:t> Months</a:t>
            </a:r>
            <a:r>
              <a:rPr lang="en-GB" sz="800" spc="-10">
                <a:solidFill>
                  <a:srgbClr val="142863"/>
                </a:solidFill>
                <a:latin typeface="Zurich Sans"/>
                <a:cs typeface="Zurich Sans"/>
              </a:rPr>
              <a:t>       </a:t>
            </a:r>
            <a:r>
              <a:rPr sz="800">
                <a:solidFill>
                  <a:srgbClr val="142863"/>
                </a:solidFill>
                <a:latin typeface="Zurich Sans"/>
                <a:cs typeface="Zurich Sans"/>
              </a:rPr>
              <a:t>1 </a:t>
            </a:r>
            <a:r>
              <a:rPr sz="800" spc="-20">
                <a:solidFill>
                  <a:srgbClr val="142863"/>
                </a:solidFill>
                <a:latin typeface="Zurich Sans"/>
                <a:cs typeface="Zurich Sans"/>
              </a:rPr>
              <a:t>Year</a:t>
            </a:r>
            <a:r>
              <a:rPr lang="en-GB" sz="800" spc="-20">
                <a:solidFill>
                  <a:srgbClr val="142863"/>
                </a:solidFill>
                <a:latin typeface="Zurich Sans"/>
                <a:cs typeface="Zurich Sans"/>
              </a:rPr>
              <a:t>       </a:t>
            </a:r>
            <a:r>
              <a:rPr sz="800">
                <a:solidFill>
                  <a:srgbClr val="142863"/>
                </a:solidFill>
                <a:latin typeface="Zurich Sans"/>
                <a:cs typeface="Zurich Sans"/>
              </a:rPr>
              <a:t>3 </a:t>
            </a:r>
            <a:r>
              <a:rPr sz="800" spc="-10">
                <a:solidFill>
                  <a:srgbClr val="142863"/>
                </a:solidFill>
                <a:latin typeface="Zurich Sans"/>
                <a:cs typeface="Zurich Sans"/>
              </a:rPr>
              <a:t>Years</a:t>
            </a:r>
            <a:r>
              <a:rPr lang="en-GB" sz="800" spc="-10">
                <a:solidFill>
                  <a:srgbClr val="142863"/>
                </a:solidFill>
                <a:latin typeface="Zurich Sans"/>
                <a:cs typeface="Zurich Sans"/>
              </a:rPr>
              <a:t>       </a:t>
            </a:r>
            <a:r>
              <a:rPr sz="800">
                <a:solidFill>
                  <a:srgbClr val="142863"/>
                </a:solidFill>
                <a:latin typeface="Zurich Sans"/>
                <a:cs typeface="Zurich Sans"/>
              </a:rPr>
              <a:t>5</a:t>
            </a:r>
            <a:r>
              <a:rPr sz="800" spc="-10">
                <a:solidFill>
                  <a:srgbClr val="142863"/>
                </a:solidFill>
                <a:latin typeface="Zurich Sans"/>
                <a:cs typeface="Zurich Sans"/>
              </a:rPr>
              <a:t> Years</a:t>
            </a:r>
            <a:r>
              <a:rPr lang="en-GB" sz="800" spc="-10">
                <a:solidFill>
                  <a:srgbClr val="142863"/>
                </a:solidFill>
                <a:latin typeface="Zurich Sans"/>
                <a:cs typeface="Zurich Sans"/>
              </a:rPr>
              <a:t>       </a:t>
            </a:r>
            <a:r>
              <a:rPr sz="800">
                <a:solidFill>
                  <a:srgbClr val="142863"/>
                </a:solidFill>
                <a:latin typeface="Zurich Sans"/>
                <a:cs typeface="Zurich Sans"/>
              </a:rPr>
              <a:t>10</a:t>
            </a:r>
            <a:r>
              <a:rPr sz="800" spc="-10">
                <a:solidFill>
                  <a:srgbClr val="142863"/>
                </a:solidFill>
                <a:latin typeface="Zurich Sans"/>
                <a:cs typeface="Zurich Sans"/>
              </a:rPr>
              <a:t> Years</a:t>
            </a:r>
            <a:endParaRPr lang="en-GB" sz="800">
              <a:latin typeface="Zurich Sans"/>
              <a:cs typeface="Zurich Sans"/>
            </a:endParaRPr>
          </a:p>
          <a:p>
            <a:pPr marR="188595" algn="l">
              <a:spcBef>
                <a:spcPts val="455"/>
              </a:spcBef>
              <a:tabLst>
                <a:tab pos="838835" algn="l"/>
                <a:tab pos="1542415" algn="l"/>
                <a:tab pos="2146300" algn="l"/>
                <a:tab pos="2829560" algn="l"/>
                <a:tab pos="3620135" algn="l"/>
              </a:tabLst>
            </a:pPr>
            <a:r>
              <a:rPr lang="en-GB" sz="800">
                <a:solidFill>
                  <a:srgbClr val="142863"/>
                </a:solidFill>
                <a:latin typeface="Zurich Sans"/>
                <a:cs typeface="Zurich Sans"/>
              </a:rPr>
              <a:t>% </a:t>
            </a:r>
            <a:r>
              <a:rPr lang="en-GB" sz="800" spc="-10">
                <a:solidFill>
                  <a:srgbClr val="142863"/>
                </a:solidFill>
                <a:latin typeface="Zurich Sans"/>
                <a:cs typeface="Zurich Sans"/>
              </a:rPr>
              <a:t>Growth         1.95%          2.95%             3.95%               9.95%     </a:t>
            </a:r>
            <a:r>
              <a:rPr lang="en-GB" sz="800">
                <a:solidFill>
                  <a:srgbClr val="142863"/>
                </a:solidFill>
                <a:latin typeface="Zurich Sans"/>
                <a:cs typeface="Zurich Sans"/>
              </a:rPr>
              <a:t>-</a:t>
            </a:r>
            <a:r>
              <a:rPr lang="en-GB" sz="800" spc="-10">
                <a:solidFill>
                  <a:srgbClr val="142863"/>
                </a:solidFill>
                <a:latin typeface="Zurich Sans"/>
                <a:cs typeface="Zurich Sans"/>
              </a:rPr>
              <a:t>21.41%        </a:t>
            </a:r>
            <a:r>
              <a:rPr lang="en-GB" sz="800">
                <a:solidFill>
                  <a:srgbClr val="142863"/>
                </a:solidFill>
                <a:latin typeface="Zurich Sans"/>
                <a:cs typeface="Zurich Sans"/>
              </a:rPr>
              <a:t>-</a:t>
            </a:r>
            <a:r>
              <a:rPr lang="en-GB" sz="800" spc="-10">
                <a:solidFill>
                  <a:srgbClr val="142863"/>
                </a:solidFill>
                <a:latin typeface="Zurich Sans"/>
                <a:cs typeface="Zurich Sans"/>
              </a:rPr>
              <a:t>20.60%     </a:t>
            </a:r>
            <a:r>
              <a:rPr lang="en-GB" sz="800">
                <a:solidFill>
                  <a:srgbClr val="142863"/>
                </a:solidFill>
                <a:latin typeface="Zurich Sans"/>
                <a:cs typeface="Zurich Sans"/>
              </a:rPr>
              <a:t>-</a:t>
            </a:r>
            <a:r>
              <a:rPr lang="en-GB" sz="800" spc="-10">
                <a:solidFill>
                  <a:srgbClr val="142863"/>
                </a:solidFill>
                <a:latin typeface="Zurich Sans"/>
                <a:cs typeface="Zurich Sans"/>
              </a:rPr>
              <a:t>17.19%</a:t>
            </a:r>
            <a:endParaRPr lang="en-GB" sz="800">
              <a:latin typeface="Zurich Sans"/>
              <a:cs typeface="Zurich Sans"/>
            </a:endParaRPr>
          </a:p>
        </p:txBody>
      </p:sp>
      <p:sp>
        <p:nvSpPr>
          <p:cNvPr id="26" name="object 26">
            <a:extLst>
              <a:ext uri="{FF2B5EF4-FFF2-40B4-BE49-F238E27FC236}">
                <a16:creationId xmlns:a16="http://schemas.microsoft.com/office/drawing/2014/main" id="{F0BD4542-9B56-511E-8890-751014C0A5A6}"/>
              </a:ext>
            </a:extLst>
          </p:cNvPr>
          <p:cNvSpPr txBox="1"/>
          <p:nvPr/>
        </p:nvSpPr>
        <p:spPr>
          <a:xfrm>
            <a:off x="3680076" y="3998176"/>
            <a:ext cx="653415" cy="249554"/>
          </a:xfrm>
          <a:prstGeom prst="rect">
            <a:avLst/>
          </a:prstGeom>
        </p:spPr>
        <p:txBody>
          <a:bodyPr vert="horz" wrap="square" lIns="0" tIns="12700" rIns="0" bIns="0" rtlCol="0">
            <a:spAutoFit/>
          </a:bodyPr>
          <a:lstStyle/>
          <a:p>
            <a:pPr marL="12700" algn="l">
              <a:lnSpc>
                <a:spcPts val="880"/>
              </a:lnSpc>
              <a:spcBef>
                <a:spcPts val="100"/>
              </a:spcBef>
            </a:pPr>
            <a:r>
              <a:rPr sz="800">
                <a:solidFill>
                  <a:srgbClr val="142863"/>
                </a:solidFill>
                <a:latin typeface="Zurich Sans"/>
                <a:cs typeface="Zurich Sans"/>
              </a:rPr>
              <a:t>30/11/2023 </a:t>
            </a:r>
            <a:r>
              <a:rPr sz="800" spc="-25">
                <a:solidFill>
                  <a:srgbClr val="142863"/>
                </a:solidFill>
                <a:latin typeface="Zurich Sans"/>
                <a:cs typeface="Zurich Sans"/>
              </a:rPr>
              <a:t>to</a:t>
            </a:r>
            <a:endParaRPr lang="en-US" sz="800">
              <a:latin typeface="Zurich Sans"/>
              <a:cs typeface="Zurich Sans"/>
            </a:endParaRPr>
          </a:p>
          <a:p>
            <a:pPr marL="70485" algn="l">
              <a:lnSpc>
                <a:spcPts val="880"/>
              </a:lnSpc>
            </a:pPr>
            <a:r>
              <a:rPr lang="en-US" sz="800" spc="-10">
                <a:solidFill>
                  <a:srgbClr val="142863"/>
                </a:solidFill>
                <a:latin typeface="Zurich Sans"/>
                <a:cs typeface="Zurich Sans"/>
              </a:rPr>
              <a:t>30/11/2024</a:t>
            </a:r>
            <a:endParaRPr lang="en-US" sz="800">
              <a:latin typeface="Zurich Sans"/>
              <a:cs typeface="Zurich Sans"/>
            </a:endParaRPr>
          </a:p>
        </p:txBody>
      </p:sp>
      <p:sp>
        <p:nvSpPr>
          <p:cNvPr id="27" name="object 27">
            <a:extLst>
              <a:ext uri="{FF2B5EF4-FFF2-40B4-BE49-F238E27FC236}">
                <a16:creationId xmlns:a16="http://schemas.microsoft.com/office/drawing/2014/main" id="{39A51670-B943-FAFA-CB70-8AA0705EEE71}"/>
              </a:ext>
            </a:extLst>
          </p:cNvPr>
          <p:cNvSpPr txBox="1"/>
          <p:nvPr/>
        </p:nvSpPr>
        <p:spPr>
          <a:xfrm>
            <a:off x="4401309" y="3998176"/>
            <a:ext cx="65341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30/11/2022 </a:t>
            </a:r>
            <a:r>
              <a:rPr sz="800" spc="-25">
                <a:solidFill>
                  <a:srgbClr val="142863"/>
                </a:solidFill>
                <a:latin typeface="Zurich Sans"/>
                <a:cs typeface="Zurich Sans"/>
              </a:rPr>
              <a:t>to</a:t>
            </a:r>
            <a:endParaRPr sz="800">
              <a:latin typeface="Zurich Sans"/>
              <a:cs typeface="Zurich Sans"/>
            </a:endParaRPr>
          </a:p>
          <a:p>
            <a:pPr marL="69215">
              <a:lnSpc>
                <a:spcPts val="880"/>
              </a:lnSpc>
            </a:pPr>
            <a:r>
              <a:rPr sz="800" spc="-10">
                <a:solidFill>
                  <a:srgbClr val="142863"/>
                </a:solidFill>
                <a:latin typeface="Zurich Sans"/>
                <a:cs typeface="Zurich Sans"/>
              </a:rPr>
              <a:t>30/11/2023</a:t>
            </a:r>
            <a:endParaRPr sz="800">
              <a:latin typeface="Zurich Sans"/>
              <a:cs typeface="Zurich Sans"/>
            </a:endParaRPr>
          </a:p>
        </p:txBody>
      </p:sp>
      <p:sp>
        <p:nvSpPr>
          <p:cNvPr id="28" name="object 28">
            <a:extLst>
              <a:ext uri="{FF2B5EF4-FFF2-40B4-BE49-F238E27FC236}">
                <a16:creationId xmlns:a16="http://schemas.microsoft.com/office/drawing/2014/main" id="{EFC0717B-F582-A76C-A4B2-6E05B5B6CE34}"/>
              </a:ext>
            </a:extLst>
          </p:cNvPr>
          <p:cNvSpPr txBox="1"/>
          <p:nvPr/>
        </p:nvSpPr>
        <p:spPr>
          <a:xfrm>
            <a:off x="5130038" y="3998176"/>
            <a:ext cx="63055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30/11/2021 </a:t>
            </a:r>
            <a:r>
              <a:rPr sz="800" spc="-25">
                <a:solidFill>
                  <a:srgbClr val="142863"/>
                </a:solidFill>
                <a:latin typeface="Zurich Sans"/>
                <a:cs typeface="Zurich Sans"/>
              </a:rPr>
              <a:t>to</a:t>
            </a:r>
            <a:endParaRPr sz="800">
              <a:latin typeface="Zurich Sans"/>
              <a:cs typeface="Zurich Sans"/>
            </a:endParaRPr>
          </a:p>
          <a:p>
            <a:pPr marL="58419">
              <a:lnSpc>
                <a:spcPts val="880"/>
              </a:lnSpc>
            </a:pPr>
            <a:r>
              <a:rPr sz="800" spc="-10">
                <a:solidFill>
                  <a:srgbClr val="142863"/>
                </a:solidFill>
                <a:latin typeface="Zurich Sans"/>
                <a:cs typeface="Zurich Sans"/>
              </a:rPr>
              <a:t>30/11/2022</a:t>
            </a:r>
            <a:endParaRPr sz="800">
              <a:latin typeface="Zurich Sans"/>
              <a:cs typeface="Zurich Sans"/>
            </a:endParaRPr>
          </a:p>
        </p:txBody>
      </p:sp>
      <p:sp>
        <p:nvSpPr>
          <p:cNvPr id="29" name="object 29">
            <a:extLst>
              <a:ext uri="{FF2B5EF4-FFF2-40B4-BE49-F238E27FC236}">
                <a16:creationId xmlns:a16="http://schemas.microsoft.com/office/drawing/2014/main" id="{DCAD8BB0-96F9-5C7C-DB86-3C9D0A561B5B}"/>
              </a:ext>
            </a:extLst>
          </p:cNvPr>
          <p:cNvSpPr txBox="1"/>
          <p:nvPr/>
        </p:nvSpPr>
        <p:spPr>
          <a:xfrm>
            <a:off x="5803020" y="3998176"/>
            <a:ext cx="662305" cy="249554"/>
          </a:xfrm>
          <a:prstGeom prst="rect">
            <a:avLst/>
          </a:prstGeom>
        </p:spPr>
        <p:txBody>
          <a:bodyPr vert="horz" wrap="square" lIns="0" tIns="12700" rIns="0" bIns="0" rtlCol="0">
            <a:spAutoFit/>
          </a:bodyPr>
          <a:lstStyle/>
          <a:p>
            <a:pPr algn="ctr">
              <a:lnSpc>
                <a:spcPts val="880"/>
              </a:lnSpc>
              <a:spcBef>
                <a:spcPts val="100"/>
              </a:spcBef>
            </a:pPr>
            <a:r>
              <a:rPr sz="800">
                <a:solidFill>
                  <a:srgbClr val="142863"/>
                </a:solidFill>
                <a:latin typeface="Zurich Sans"/>
                <a:cs typeface="Zurich Sans"/>
              </a:rPr>
              <a:t>30/11/2020 </a:t>
            </a:r>
            <a:r>
              <a:rPr sz="800" spc="-25">
                <a:solidFill>
                  <a:srgbClr val="142863"/>
                </a:solidFill>
                <a:latin typeface="Zurich Sans"/>
                <a:cs typeface="Zurich Sans"/>
              </a:rPr>
              <a:t>to</a:t>
            </a:r>
            <a:endParaRPr sz="800">
              <a:latin typeface="Zurich Sans"/>
              <a:cs typeface="Zurich Sans"/>
            </a:endParaRPr>
          </a:p>
          <a:p>
            <a:pPr algn="ctr">
              <a:lnSpc>
                <a:spcPts val="880"/>
              </a:lnSpc>
            </a:pPr>
            <a:r>
              <a:rPr sz="800" spc="-10">
                <a:solidFill>
                  <a:srgbClr val="142863"/>
                </a:solidFill>
                <a:latin typeface="Zurich Sans"/>
                <a:cs typeface="Zurich Sans"/>
              </a:rPr>
              <a:t>30/11/2021</a:t>
            </a:r>
            <a:endParaRPr sz="800">
              <a:latin typeface="Zurich Sans"/>
              <a:cs typeface="Zurich Sans"/>
            </a:endParaRPr>
          </a:p>
        </p:txBody>
      </p:sp>
      <p:sp>
        <p:nvSpPr>
          <p:cNvPr id="30" name="object 30">
            <a:extLst>
              <a:ext uri="{FF2B5EF4-FFF2-40B4-BE49-F238E27FC236}">
                <a16:creationId xmlns:a16="http://schemas.microsoft.com/office/drawing/2014/main" id="{9C9B3A08-E399-9ADA-1298-679E913DB064}"/>
              </a:ext>
            </a:extLst>
          </p:cNvPr>
          <p:cNvSpPr txBox="1"/>
          <p:nvPr/>
        </p:nvSpPr>
        <p:spPr>
          <a:xfrm>
            <a:off x="6538731" y="3998176"/>
            <a:ext cx="63563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30/11/2019 </a:t>
            </a:r>
            <a:r>
              <a:rPr sz="800" spc="-25">
                <a:solidFill>
                  <a:srgbClr val="142863"/>
                </a:solidFill>
                <a:latin typeface="Zurich Sans"/>
                <a:cs typeface="Zurich Sans"/>
              </a:rPr>
              <a:t>to</a:t>
            </a:r>
            <a:endParaRPr sz="800">
              <a:latin typeface="Zurich Sans"/>
              <a:cs typeface="Zurich Sans"/>
            </a:endParaRPr>
          </a:p>
          <a:p>
            <a:pPr marL="56515">
              <a:lnSpc>
                <a:spcPts val="880"/>
              </a:lnSpc>
            </a:pPr>
            <a:r>
              <a:rPr sz="800" spc="-10">
                <a:solidFill>
                  <a:srgbClr val="142863"/>
                </a:solidFill>
                <a:latin typeface="Zurich Sans"/>
                <a:cs typeface="Zurich Sans"/>
              </a:rPr>
              <a:t>30/11/2020</a:t>
            </a:r>
            <a:endParaRPr sz="800">
              <a:latin typeface="Zurich Sans"/>
              <a:cs typeface="Zurich Sans"/>
            </a:endParaRPr>
          </a:p>
        </p:txBody>
      </p:sp>
      <p:sp>
        <p:nvSpPr>
          <p:cNvPr id="31" name="object 31">
            <a:extLst>
              <a:ext uri="{FF2B5EF4-FFF2-40B4-BE49-F238E27FC236}">
                <a16:creationId xmlns:a16="http://schemas.microsoft.com/office/drawing/2014/main" id="{B5F4364B-F307-3FFA-176E-68ACEF2A7BCE}"/>
              </a:ext>
            </a:extLst>
          </p:cNvPr>
          <p:cNvSpPr txBox="1"/>
          <p:nvPr/>
        </p:nvSpPr>
        <p:spPr>
          <a:xfrm>
            <a:off x="3047247" y="4279734"/>
            <a:ext cx="45656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 </a:t>
            </a:r>
            <a:r>
              <a:rPr sz="800" spc="-10">
                <a:solidFill>
                  <a:srgbClr val="142863"/>
                </a:solidFill>
                <a:latin typeface="Zurich Sans"/>
                <a:cs typeface="Zurich Sans"/>
              </a:rPr>
              <a:t>Growth</a:t>
            </a:r>
            <a:endParaRPr sz="800">
              <a:latin typeface="Zurich Sans"/>
              <a:cs typeface="Zurich Sans"/>
            </a:endParaRPr>
          </a:p>
        </p:txBody>
      </p:sp>
      <p:sp>
        <p:nvSpPr>
          <p:cNvPr id="32" name="object 32">
            <a:extLst>
              <a:ext uri="{FF2B5EF4-FFF2-40B4-BE49-F238E27FC236}">
                <a16:creationId xmlns:a16="http://schemas.microsoft.com/office/drawing/2014/main" id="{03DACF31-6012-6968-CD61-D9770C50426D}"/>
              </a:ext>
            </a:extLst>
          </p:cNvPr>
          <p:cNvSpPr txBox="1"/>
          <p:nvPr/>
        </p:nvSpPr>
        <p:spPr>
          <a:xfrm>
            <a:off x="3823725" y="4279734"/>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33" name="object 33">
            <a:extLst>
              <a:ext uri="{FF2B5EF4-FFF2-40B4-BE49-F238E27FC236}">
                <a16:creationId xmlns:a16="http://schemas.microsoft.com/office/drawing/2014/main" id="{C084516D-A986-1426-5986-1DDEBDC51B53}"/>
              </a:ext>
            </a:extLst>
          </p:cNvPr>
          <p:cNvSpPr txBox="1"/>
          <p:nvPr/>
        </p:nvSpPr>
        <p:spPr>
          <a:xfrm>
            <a:off x="4565027" y="4279734"/>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34" name="object 34">
            <a:extLst>
              <a:ext uri="{FF2B5EF4-FFF2-40B4-BE49-F238E27FC236}">
                <a16:creationId xmlns:a16="http://schemas.microsoft.com/office/drawing/2014/main" id="{F992171D-C65F-E590-6B95-27BAA18959FD}"/>
              </a:ext>
            </a:extLst>
          </p:cNvPr>
          <p:cNvSpPr txBox="1"/>
          <p:nvPr/>
        </p:nvSpPr>
        <p:spPr>
          <a:xfrm>
            <a:off x="5218947" y="4279734"/>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35" name="object 35">
            <a:extLst>
              <a:ext uri="{FF2B5EF4-FFF2-40B4-BE49-F238E27FC236}">
                <a16:creationId xmlns:a16="http://schemas.microsoft.com/office/drawing/2014/main" id="{CEF110B4-1A2D-D5B2-741B-C38CC5174031}"/>
              </a:ext>
            </a:extLst>
          </p:cNvPr>
          <p:cNvSpPr txBox="1"/>
          <p:nvPr/>
        </p:nvSpPr>
        <p:spPr>
          <a:xfrm>
            <a:off x="5977642" y="4279734"/>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36" name="object 36">
            <a:extLst>
              <a:ext uri="{FF2B5EF4-FFF2-40B4-BE49-F238E27FC236}">
                <a16:creationId xmlns:a16="http://schemas.microsoft.com/office/drawing/2014/main" id="{5863B68C-356D-313F-618C-40741E81BBAF}"/>
              </a:ext>
            </a:extLst>
          </p:cNvPr>
          <p:cNvSpPr txBox="1"/>
          <p:nvPr/>
        </p:nvSpPr>
        <p:spPr>
          <a:xfrm>
            <a:off x="6703066" y="4279734"/>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37" name="object 37">
            <a:extLst>
              <a:ext uri="{FF2B5EF4-FFF2-40B4-BE49-F238E27FC236}">
                <a16:creationId xmlns:a16="http://schemas.microsoft.com/office/drawing/2014/main" id="{4A3349A4-DCF4-D5AD-88A2-2931F35C87DB}"/>
              </a:ext>
            </a:extLst>
          </p:cNvPr>
          <p:cNvSpPr txBox="1"/>
          <p:nvPr/>
        </p:nvSpPr>
        <p:spPr>
          <a:xfrm>
            <a:off x="3047247" y="4459691"/>
            <a:ext cx="632829" cy="382156"/>
          </a:xfrm>
          <a:prstGeom prst="rect">
            <a:avLst/>
          </a:prstGeom>
        </p:spPr>
        <p:txBody>
          <a:bodyPr vert="horz" wrap="square" lIns="0" tIns="12700" rIns="0" bIns="0" rtlCol="0">
            <a:spAutoFit/>
          </a:bodyPr>
          <a:lstStyle/>
          <a:p>
            <a:pPr marL="12700">
              <a:lnSpc>
                <a:spcPct val="100000"/>
              </a:lnSpc>
              <a:spcBef>
                <a:spcPts val="100"/>
              </a:spcBef>
              <a:tabLst>
                <a:tab pos="901065" algn="l"/>
                <a:tab pos="1622425" algn="l"/>
              </a:tabLst>
            </a:pPr>
            <a:r>
              <a:rPr lang="en-GB" sz="800" spc="-10">
                <a:solidFill>
                  <a:srgbClr val="142863"/>
                </a:solidFill>
                <a:latin typeface="Zurich Sans"/>
                <a:cs typeface="Zurich Sans"/>
              </a:rPr>
              <a:t>Sector </a:t>
            </a:r>
            <a:r>
              <a:rPr sz="800">
                <a:solidFill>
                  <a:srgbClr val="142863"/>
                </a:solidFill>
                <a:latin typeface="Zurich Sans"/>
                <a:cs typeface="Zurich Sans"/>
              </a:rPr>
              <a:t>		</a:t>
            </a:r>
            <a:endParaRPr sz="800">
              <a:latin typeface="Zurich Sans"/>
              <a:cs typeface="Zurich Sans"/>
            </a:endParaRPr>
          </a:p>
        </p:txBody>
      </p:sp>
      <p:sp>
        <p:nvSpPr>
          <p:cNvPr id="54" name="object 54">
            <a:extLst>
              <a:ext uri="{FF2B5EF4-FFF2-40B4-BE49-F238E27FC236}">
                <a16:creationId xmlns:a16="http://schemas.microsoft.com/office/drawing/2014/main" id="{9DE0FBDB-C71B-51A4-76C9-5349C71B38A0}"/>
              </a:ext>
            </a:extLst>
          </p:cNvPr>
          <p:cNvSpPr txBox="1"/>
          <p:nvPr/>
        </p:nvSpPr>
        <p:spPr>
          <a:xfrm>
            <a:off x="3068954" y="5456900"/>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lang="en-GB" sz="800" b="1">
                <a:solidFill>
                  <a:srgbClr val="FFFFFF"/>
                </a:solidFill>
                <a:latin typeface="Zurich Sans"/>
                <a:cs typeface="Zurich Sans"/>
              </a:rPr>
              <a:t>Fund performance vs sector </a:t>
            </a:r>
            <a:r>
              <a:rPr sz="800" b="1">
                <a:solidFill>
                  <a:srgbClr val="FFFFFF"/>
                </a:solidFill>
                <a:latin typeface="Zurich Sans"/>
                <a:cs typeface="Zurich Sans"/>
              </a:rPr>
              <a:t>(5</a:t>
            </a:r>
            <a:r>
              <a:rPr sz="800" b="1" spc="-5">
                <a:solidFill>
                  <a:srgbClr val="FFFFFF"/>
                </a:solidFill>
                <a:latin typeface="Zurich Sans"/>
                <a:cs typeface="Zurich Sans"/>
              </a:rPr>
              <a:t> </a:t>
            </a:r>
            <a:r>
              <a:rPr sz="800" b="1">
                <a:solidFill>
                  <a:srgbClr val="FFFFFF"/>
                </a:solidFill>
                <a:latin typeface="Zurich Sans"/>
                <a:cs typeface="Zurich Sans"/>
              </a:rPr>
              <a:t>years</a:t>
            </a:r>
            <a:r>
              <a:rPr lang="en-GB" sz="800" b="1">
                <a:solidFill>
                  <a:srgbClr val="FFFFFF"/>
                </a:solidFill>
                <a:latin typeface="Zurich Sans"/>
                <a:cs typeface="Zurich Sans"/>
              </a:rPr>
              <a:t>/since inception)</a:t>
            </a:r>
            <a:endParaRPr lang="en-GB" sz="800" b="1" spc="-10">
              <a:solidFill>
                <a:srgbClr val="FFFFFF"/>
              </a:solidFill>
              <a:latin typeface="Zurich Sans"/>
              <a:cs typeface="Zurich Sans"/>
            </a:endParaRPr>
          </a:p>
        </p:txBody>
      </p:sp>
      <p:grpSp>
        <p:nvGrpSpPr>
          <p:cNvPr id="60" name="object 60">
            <a:extLst>
              <a:ext uri="{FF2B5EF4-FFF2-40B4-BE49-F238E27FC236}">
                <a16:creationId xmlns:a16="http://schemas.microsoft.com/office/drawing/2014/main" id="{93E22CB6-AF62-A471-00AE-F621E60E5A36}"/>
              </a:ext>
            </a:extLst>
          </p:cNvPr>
          <p:cNvGrpSpPr/>
          <p:nvPr/>
        </p:nvGrpSpPr>
        <p:grpSpPr>
          <a:xfrm>
            <a:off x="3390462" y="5790361"/>
            <a:ext cx="3591560" cy="1219200"/>
            <a:chOff x="3517138" y="5908608"/>
            <a:chExt cx="3591560" cy="1219200"/>
          </a:xfrm>
        </p:grpSpPr>
        <p:sp>
          <p:nvSpPr>
            <p:cNvPr id="61" name="object 61">
              <a:extLst>
                <a:ext uri="{FF2B5EF4-FFF2-40B4-BE49-F238E27FC236}">
                  <a16:creationId xmlns:a16="http://schemas.microsoft.com/office/drawing/2014/main" id="{E6550E90-B980-55E2-E671-585C47093396}"/>
                </a:ext>
              </a:extLst>
            </p:cNvPr>
            <p:cNvSpPr/>
            <p:nvPr/>
          </p:nvSpPr>
          <p:spPr>
            <a:xfrm>
              <a:off x="3545713" y="64086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ln>
          </p:spPr>
          <p:txBody>
            <a:bodyPr wrap="square" lIns="0" tIns="0" rIns="0" bIns="0" rtlCol="0"/>
            <a:lstStyle/>
            <a:p>
              <a:endParaRPr/>
            </a:p>
          </p:txBody>
        </p:sp>
        <p:sp>
          <p:nvSpPr>
            <p:cNvPr id="62" name="object 62">
              <a:extLst>
                <a:ext uri="{FF2B5EF4-FFF2-40B4-BE49-F238E27FC236}">
                  <a16:creationId xmlns:a16="http://schemas.microsoft.com/office/drawing/2014/main" id="{A964EF1E-04CE-C454-FF13-07BEEC9A2482}"/>
                </a:ext>
              </a:extLst>
            </p:cNvPr>
            <p:cNvSpPr/>
            <p:nvPr/>
          </p:nvSpPr>
          <p:spPr>
            <a:xfrm>
              <a:off x="35410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3" name="object 63">
              <a:extLst>
                <a:ext uri="{FF2B5EF4-FFF2-40B4-BE49-F238E27FC236}">
                  <a16:creationId xmlns:a16="http://schemas.microsoft.com/office/drawing/2014/main" id="{3A966648-0935-AC5C-A6A6-E99A6AFB5361}"/>
                </a:ext>
              </a:extLst>
            </p:cNvPr>
            <p:cNvSpPr/>
            <p:nvPr/>
          </p:nvSpPr>
          <p:spPr>
            <a:xfrm>
              <a:off x="4445888"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4" name="object 64">
              <a:extLst>
                <a:ext uri="{FF2B5EF4-FFF2-40B4-BE49-F238E27FC236}">
                  <a16:creationId xmlns:a16="http://schemas.microsoft.com/office/drawing/2014/main" id="{BD524513-449C-EAD7-5D7E-8A70AC3A4980}"/>
                </a:ext>
              </a:extLst>
            </p:cNvPr>
            <p:cNvSpPr/>
            <p:nvPr/>
          </p:nvSpPr>
          <p:spPr>
            <a:xfrm>
              <a:off x="5341239"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5" name="object 65">
              <a:extLst>
                <a:ext uri="{FF2B5EF4-FFF2-40B4-BE49-F238E27FC236}">
                  <a16:creationId xmlns:a16="http://schemas.microsoft.com/office/drawing/2014/main" id="{42E85BF6-EE4B-46CB-0B29-51E2CE0B2095}"/>
                </a:ext>
              </a:extLst>
            </p:cNvPr>
            <p:cNvSpPr/>
            <p:nvPr/>
          </p:nvSpPr>
          <p:spPr>
            <a:xfrm>
              <a:off x="62461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6" name="object 66">
              <a:extLst>
                <a:ext uri="{FF2B5EF4-FFF2-40B4-BE49-F238E27FC236}">
                  <a16:creationId xmlns:a16="http://schemas.microsoft.com/office/drawing/2014/main" id="{DEE53C06-49FD-392E-E1FD-AED90A895AE0}"/>
                </a:ext>
              </a:extLst>
            </p:cNvPr>
            <p:cNvSpPr/>
            <p:nvPr/>
          </p:nvSpPr>
          <p:spPr>
            <a:xfrm>
              <a:off x="710336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7" name="object 67">
              <a:extLst>
                <a:ext uri="{FF2B5EF4-FFF2-40B4-BE49-F238E27FC236}">
                  <a16:creationId xmlns:a16="http://schemas.microsoft.com/office/drawing/2014/main" id="{8A38FADF-0516-8F84-057E-45736E1FC3A2}"/>
                </a:ext>
              </a:extLst>
            </p:cNvPr>
            <p:cNvSpPr/>
            <p:nvPr/>
          </p:nvSpPr>
          <p:spPr>
            <a:xfrm>
              <a:off x="3545713" y="688492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68" name="object 68">
              <a:extLst>
                <a:ext uri="{FF2B5EF4-FFF2-40B4-BE49-F238E27FC236}">
                  <a16:creationId xmlns:a16="http://schemas.microsoft.com/office/drawing/2014/main" id="{1C99FC71-EBC9-547C-CE66-8702312DD294}"/>
                </a:ext>
              </a:extLst>
            </p:cNvPr>
            <p:cNvSpPr/>
            <p:nvPr/>
          </p:nvSpPr>
          <p:spPr>
            <a:xfrm>
              <a:off x="3545713" y="64086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69" name="object 69">
              <a:extLst>
                <a:ext uri="{FF2B5EF4-FFF2-40B4-BE49-F238E27FC236}">
                  <a16:creationId xmlns:a16="http://schemas.microsoft.com/office/drawing/2014/main" id="{0A85E3E6-1C54-7A56-4205-60609FA8F3CF}"/>
                </a:ext>
              </a:extLst>
            </p:cNvPr>
            <p:cNvSpPr/>
            <p:nvPr/>
          </p:nvSpPr>
          <p:spPr>
            <a:xfrm>
              <a:off x="3545713" y="59133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70" name="object 70">
              <a:extLst>
                <a:ext uri="{FF2B5EF4-FFF2-40B4-BE49-F238E27FC236}">
                  <a16:creationId xmlns:a16="http://schemas.microsoft.com/office/drawing/2014/main" id="{B04C2179-8878-A348-9F13-CDA7EBD3EB9D}"/>
                </a:ext>
              </a:extLst>
            </p:cNvPr>
            <p:cNvSpPr/>
            <p:nvPr/>
          </p:nvSpPr>
          <p:spPr>
            <a:xfrm>
              <a:off x="354101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1" name="object 71">
              <a:extLst>
                <a:ext uri="{FF2B5EF4-FFF2-40B4-BE49-F238E27FC236}">
                  <a16:creationId xmlns:a16="http://schemas.microsoft.com/office/drawing/2014/main" id="{94839001-0F0E-6648-9FE6-F6A19E43103D}"/>
                </a:ext>
              </a:extLst>
            </p:cNvPr>
            <p:cNvSpPr/>
            <p:nvPr/>
          </p:nvSpPr>
          <p:spPr>
            <a:xfrm>
              <a:off x="4445888"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2" name="object 72">
              <a:extLst>
                <a:ext uri="{FF2B5EF4-FFF2-40B4-BE49-F238E27FC236}">
                  <a16:creationId xmlns:a16="http://schemas.microsoft.com/office/drawing/2014/main" id="{8416E20D-3944-BCAB-8250-1858D6D927B3}"/>
                </a:ext>
              </a:extLst>
            </p:cNvPr>
            <p:cNvSpPr/>
            <p:nvPr/>
          </p:nvSpPr>
          <p:spPr>
            <a:xfrm>
              <a:off x="5341239"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3" name="object 73">
              <a:extLst>
                <a:ext uri="{FF2B5EF4-FFF2-40B4-BE49-F238E27FC236}">
                  <a16:creationId xmlns:a16="http://schemas.microsoft.com/office/drawing/2014/main" id="{D227D110-66BA-DDB3-9F54-0633D836929F}"/>
                </a:ext>
              </a:extLst>
            </p:cNvPr>
            <p:cNvSpPr/>
            <p:nvPr/>
          </p:nvSpPr>
          <p:spPr>
            <a:xfrm>
              <a:off x="624611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4" name="object 74">
              <a:extLst>
                <a:ext uri="{FF2B5EF4-FFF2-40B4-BE49-F238E27FC236}">
                  <a16:creationId xmlns:a16="http://schemas.microsoft.com/office/drawing/2014/main" id="{1A1DF850-66C4-72E0-7504-916853BCB025}"/>
                </a:ext>
              </a:extLst>
            </p:cNvPr>
            <p:cNvSpPr/>
            <p:nvPr/>
          </p:nvSpPr>
          <p:spPr>
            <a:xfrm>
              <a:off x="710336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5" name="object 75">
              <a:extLst>
                <a:ext uri="{FF2B5EF4-FFF2-40B4-BE49-F238E27FC236}">
                  <a16:creationId xmlns:a16="http://schemas.microsoft.com/office/drawing/2014/main" id="{EF7FA1D5-A59E-73F3-27E5-D57243689924}"/>
                </a:ext>
              </a:extLst>
            </p:cNvPr>
            <p:cNvSpPr/>
            <p:nvPr/>
          </p:nvSpPr>
          <p:spPr>
            <a:xfrm>
              <a:off x="3545713" y="7103996"/>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404040"/>
              </a:solidFill>
            </a:ln>
          </p:spPr>
          <p:txBody>
            <a:bodyPr wrap="square" lIns="0" tIns="0" rIns="0" bIns="0" rtlCol="0"/>
            <a:lstStyle/>
            <a:p>
              <a:endParaRPr/>
            </a:p>
          </p:txBody>
        </p:sp>
        <p:sp>
          <p:nvSpPr>
            <p:cNvPr id="76" name="object 76">
              <a:extLst>
                <a:ext uri="{FF2B5EF4-FFF2-40B4-BE49-F238E27FC236}">
                  <a16:creationId xmlns:a16="http://schemas.microsoft.com/office/drawing/2014/main" id="{3541D2D9-98F5-56E0-CA19-BAE9246D5D53}"/>
                </a:ext>
              </a:extLst>
            </p:cNvPr>
            <p:cNvSpPr/>
            <p:nvPr/>
          </p:nvSpPr>
          <p:spPr>
            <a:xfrm>
              <a:off x="3517138" y="688492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7" name="object 77">
              <a:extLst>
                <a:ext uri="{FF2B5EF4-FFF2-40B4-BE49-F238E27FC236}">
                  <a16:creationId xmlns:a16="http://schemas.microsoft.com/office/drawing/2014/main" id="{07FEB31D-6B55-74E0-1CDE-5386B5BD7E27}"/>
                </a:ext>
              </a:extLst>
            </p:cNvPr>
            <p:cNvSpPr/>
            <p:nvPr/>
          </p:nvSpPr>
          <p:spPr>
            <a:xfrm>
              <a:off x="3517138" y="640867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8" name="object 78">
              <a:extLst>
                <a:ext uri="{FF2B5EF4-FFF2-40B4-BE49-F238E27FC236}">
                  <a16:creationId xmlns:a16="http://schemas.microsoft.com/office/drawing/2014/main" id="{95BA437B-C22C-787C-C8BB-83EEC491090C}"/>
                </a:ext>
              </a:extLst>
            </p:cNvPr>
            <p:cNvSpPr/>
            <p:nvPr/>
          </p:nvSpPr>
          <p:spPr>
            <a:xfrm>
              <a:off x="3517138" y="591337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9" name="object 79">
              <a:extLst>
                <a:ext uri="{FF2B5EF4-FFF2-40B4-BE49-F238E27FC236}">
                  <a16:creationId xmlns:a16="http://schemas.microsoft.com/office/drawing/2014/main" id="{0DCF587D-6D81-55C0-F217-BF3E73B22582}"/>
                </a:ext>
              </a:extLst>
            </p:cNvPr>
            <p:cNvSpPr/>
            <p:nvPr/>
          </p:nvSpPr>
          <p:spPr>
            <a:xfrm>
              <a:off x="35410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404040"/>
              </a:solidFill>
            </a:ln>
          </p:spPr>
          <p:txBody>
            <a:bodyPr wrap="square" lIns="0" tIns="0" rIns="0" bIns="0" rtlCol="0"/>
            <a:lstStyle/>
            <a:p>
              <a:endParaRPr/>
            </a:p>
          </p:txBody>
        </p:sp>
        <p:sp>
          <p:nvSpPr>
            <p:cNvPr id="80" name="object 80">
              <a:extLst>
                <a:ext uri="{FF2B5EF4-FFF2-40B4-BE49-F238E27FC236}">
                  <a16:creationId xmlns:a16="http://schemas.microsoft.com/office/drawing/2014/main" id="{56B9E942-8F57-08FB-C873-77FBF9078AC6}"/>
                </a:ext>
              </a:extLst>
            </p:cNvPr>
            <p:cNvSpPr/>
            <p:nvPr/>
          </p:nvSpPr>
          <p:spPr>
            <a:xfrm>
              <a:off x="3543808" y="6245349"/>
              <a:ext cx="3550920" cy="854075"/>
            </a:xfrm>
            <a:custGeom>
              <a:avLst/>
              <a:gdLst/>
              <a:ahLst/>
              <a:cxnLst/>
              <a:rect l="l" t="t" r="r" b="b"/>
              <a:pathLst>
                <a:path w="3550920" h="854075">
                  <a:moveTo>
                    <a:pt x="0" y="112013"/>
                  </a:moveTo>
                  <a:lnTo>
                    <a:pt x="0" y="112013"/>
                  </a:lnTo>
                  <a:lnTo>
                    <a:pt x="1905" y="109219"/>
                  </a:lnTo>
                  <a:lnTo>
                    <a:pt x="5969" y="109346"/>
                  </a:lnTo>
                  <a:lnTo>
                    <a:pt x="7874" y="102361"/>
                  </a:lnTo>
                  <a:lnTo>
                    <a:pt x="13843" y="101218"/>
                  </a:lnTo>
                  <a:lnTo>
                    <a:pt x="15748" y="101218"/>
                  </a:lnTo>
                  <a:lnTo>
                    <a:pt x="17780" y="95503"/>
                  </a:lnTo>
                  <a:lnTo>
                    <a:pt x="19812" y="98424"/>
                  </a:lnTo>
                  <a:lnTo>
                    <a:pt x="21717" y="98424"/>
                  </a:lnTo>
                  <a:lnTo>
                    <a:pt x="27686" y="92963"/>
                  </a:lnTo>
                  <a:lnTo>
                    <a:pt x="29591" y="98551"/>
                  </a:lnTo>
                  <a:lnTo>
                    <a:pt x="31623" y="91693"/>
                  </a:lnTo>
                  <a:lnTo>
                    <a:pt x="33655" y="81914"/>
                  </a:lnTo>
                  <a:lnTo>
                    <a:pt x="35560" y="84835"/>
                  </a:lnTo>
                  <a:lnTo>
                    <a:pt x="41529" y="86232"/>
                  </a:lnTo>
                  <a:lnTo>
                    <a:pt x="43434" y="84962"/>
                  </a:lnTo>
                  <a:lnTo>
                    <a:pt x="45466" y="84962"/>
                  </a:lnTo>
                  <a:lnTo>
                    <a:pt x="47498" y="85089"/>
                  </a:lnTo>
                  <a:lnTo>
                    <a:pt x="49403" y="85089"/>
                  </a:lnTo>
                  <a:lnTo>
                    <a:pt x="55372" y="83692"/>
                  </a:lnTo>
                  <a:lnTo>
                    <a:pt x="57277" y="92201"/>
                  </a:lnTo>
                  <a:lnTo>
                    <a:pt x="59309" y="89407"/>
                  </a:lnTo>
                  <a:lnTo>
                    <a:pt x="61341" y="83819"/>
                  </a:lnTo>
                  <a:lnTo>
                    <a:pt x="63246" y="85343"/>
                  </a:lnTo>
                  <a:lnTo>
                    <a:pt x="69215" y="82549"/>
                  </a:lnTo>
                  <a:lnTo>
                    <a:pt x="71120" y="79882"/>
                  </a:lnTo>
                  <a:lnTo>
                    <a:pt x="73152" y="79882"/>
                  </a:lnTo>
                  <a:lnTo>
                    <a:pt x="75057" y="78612"/>
                  </a:lnTo>
                  <a:lnTo>
                    <a:pt x="77089" y="74421"/>
                  </a:lnTo>
                  <a:lnTo>
                    <a:pt x="83058" y="73024"/>
                  </a:lnTo>
                  <a:lnTo>
                    <a:pt x="84963" y="74548"/>
                  </a:lnTo>
                  <a:lnTo>
                    <a:pt x="86995" y="73151"/>
                  </a:lnTo>
                  <a:lnTo>
                    <a:pt x="88900" y="74675"/>
                  </a:lnTo>
                  <a:lnTo>
                    <a:pt x="90932" y="74675"/>
                  </a:lnTo>
                  <a:lnTo>
                    <a:pt x="96901" y="67817"/>
                  </a:lnTo>
                  <a:lnTo>
                    <a:pt x="98806" y="66420"/>
                  </a:lnTo>
                  <a:lnTo>
                    <a:pt x="100838" y="66420"/>
                  </a:lnTo>
                  <a:lnTo>
                    <a:pt x="102743" y="67944"/>
                  </a:lnTo>
                  <a:lnTo>
                    <a:pt x="104775" y="65150"/>
                  </a:lnTo>
                  <a:lnTo>
                    <a:pt x="110744" y="62356"/>
                  </a:lnTo>
                  <a:lnTo>
                    <a:pt x="112648" y="66674"/>
                  </a:lnTo>
                  <a:lnTo>
                    <a:pt x="114680" y="72262"/>
                  </a:lnTo>
                  <a:lnTo>
                    <a:pt x="116586" y="83565"/>
                  </a:lnTo>
                  <a:lnTo>
                    <a:pt x="118618" y="93471"/>
                  </a:lnTo>
                  <a:lnTo>
                    <a:pt x="124587" y="110489"/>
                  </a:lnTo>
                  <a:lnTo>
                    <a:pt x="126492" y="101980"/>
                  </a:lnTo>
                  <a:lnTo>
                    <a:pt x="128523" y="83819"/>
                  </a:lnTo>
                  <a:lnTo>
                    <a:pt x="130429" y="74040"/>
                  </a:lnTo>
                  <a:lnTo>
                    <a:pt x="132461" y="85343"/>
                  </a:lnTo>
                  <a:lnTo>
                    <a:pt x="138430" y="103758"/>
                  </a:lnTo>
                  <a:lnTo>
                    <a:pt x="138459" y="105028"/>
                  </a:lnTo>
                  <a:lnTo>
                    <a:pt x="140335" y="185038"/>
                  </a:lnTo>
                  <a:lnTo>
                    <a:pt x="140589" y="190468"/>
                  </a:lnTo>
                  <a:lnTo>
                    <a:pt x="141192" y="203362"/>
                  </a:lnTo>
                  <a:lnTo>
                    <a:pt x="142367" y="228472"/>
                  </a:lnTo>
                  <a:lnTo>
                    <a:pt x="142396" y="229020"/>
                  </a:lnTo>
                  <a:lnTo>
                    <a:pt x="142605" y="232854"/>
                  </a:lnTo>
                  <a:lnTo>
                    <a:pt x="143170" y="243260"/>
                  </a:lnTo>
                  <a:lnTo>
                    <a:pt x="144272" y="263524"/>
                  </a:lnTo>
                  <a:lnTo>
                    <a:pt x="144303" y="265080"/>
                  </a:lnTo>
                  <a:lnTo>
                    <a:pt x="144526" y="275970"/>
                  </a:lnTo>
                  <a:lnTo>
                    <a:pt x="145129" y="305530"/>
                  </a:lnTo>
                  <a:lnTo>
                    <a:pt x="146304" y="363092"/>
                  </a:lnTo>
                  <a:lnTo>
                    <a:pt x="152273" y="374522"/>
                  </a:lnTo>
                  <a:lnTo>
                    <a:pt x="152302" y="375027"/>
                  </a:lnTo>
                  <a:lnTo>
                    <a:pt x="152511" y="378555"/>
                  </a:lnTo>
                  <a:lnTo>
                    <a:pt x="153076" y="388131"/>
                  </a:lnTo>
                  <a:lnTo>
                    <a:pt x="154178" y="406780"/>
                  </a:lnTo>
                  <a:lnTo>
                    <a:pt x="154209" y="407503"/>
                  </a:lnTo>
                  <a:lnTo>
                    <a:pt x="154432" y="412559"/>
                  </a:lnTo>
                  <a:lnTo>
                    <a:pt x="155035" y="426283"/>
                  </a:lnTo>
                  <a:lnTo>
                    <a:pt x="156210" y="453008"/>
                  </a:lnTo>
                  <a:lnTo>
                    <a:pt x="156239" y="454455"/>
                  </a:lnTo>
                  <a:lnTo>
                    <a:pt x="156448" y="464581"/>
                  </a:lnTo>
                  <a:lnTo>
                    <a:pt x="157013" y="492067"/>
                  </a:lnTo>
                  <a:lnTo>
                    <a:pt x="158115" y="545591"/>
                  </a:lnTo>
                  <a:lnTo>
                    <a:pt x="158146" y="546314"/>
                  </a:lnTo>
                  <a:lnTo>
                    <a:pt x="158369" y="551370"/>
                  </a:lnTo>
                  <a:lnTo>
                    <a:pt x="158972" y="565094"/>
                  </a:lnTo>
                  <a:lnTo>
                    <a:pt x="160147" y="591819"/>
                  </a:lnTo>
                  <a:lnTo>
                    <a:pt x="160240" y="591272"/>
                  </a:lnTo>
                  <a:lnTo>
                    <a:pt x="160893" y="587438"/>
                  </a:lnTo>
                  <a:lnTo>
                    <a:pt x="162665" y="577032"/>
                  </a:lnTo>
                  <a:lnTo>
                    <a:pt x="166116" y="556768"/>
                  </a:lnTo>
                  <a:lnTo>
                    <a:pt x="166145" y="557514"/>
                  </a:lnTo>
                  <a:lnTo>
                    <a:pt x="166354" y="562737"/>
                  </a:lnTo>
                  <a:lnTo>
                    <a:pt x="166919" y="576913"/>
                  </a:lnTo>
                  <a:lnTo>
                    <a:pt x="168021" y="604519"/>
                  </a:lnTo>
                  <a:lnTo>
                    <a:pt x="168052" y="603928"/>
                  </a:lnTo>
                  <a:lnTo>
                    <a:pt x="168275" y="599789"/>
                  </a:lnTo>
                  <a:lnTo>
                    <a:pt x="168878" y="588553"/>
                  </a:lnTo>
                  <a:lnTo>
                    <a:pt x="170053" y="566673"/>
                  </a:lnTo>
                  <a:lnTo>
                    <a:pt x="170082" y="566019"/>
                  </a:lnTo>
                  <a:lnTo>
                    <a:pt x="170291" y="561435"/>
                  </a:lnTo>
                  <a:lnTo>
                    <a:pt x="170856" y="548993"/>
                  </a:lnTo>
                  <a:lnTo>
                    <a:pt x="171958" y="524763"/>
                  </a:lnTo>
                  <a:lnTo>
                    <a:pt x="173990" y="507872"/>
                  </a:lnTo>
                  <a:lnTo>
                    <a:pt x="179959" y="515111"/>
                  </a:lnTo>
                  <a:lnTo>
                    <a:pt x="181864" y="537463"/>
                  </a:lnTo>
                  <a:lnTo>
                    <a:pt x="183896" y="530479"/>
                  </a:lnTo>
                  <a:lnTo>
                    <a:pt x="185801" y="525018"/>
                  </a:lnTo>
                  <a:lnTo>
                    <a:pt x="185832" y="525631"/>
                  </a:lnTo>
                  <a:lnTo>
                    <a:pt x="186055" y="529923"/>
                  </a:lnTo>
                  <a:lnTo>
                    <a:pt x="186658" y="541573"/>
                  </a:lnTo>
                  <a:lnTo>
                    <a:pt x="187833" y="564260"/>
                  </a:lnTo>
                  <a:lnTo>
                    <a:pt x="187926" y="563758"/>
                  </a:lnTo>
                  <a:lnTo>
                    <a:pt x="188579" y="560244"/>
                  </a:lnTo>
                  <a:lnTo>
                    <a:pt x="190351" y="550705"/>
                  </a:lnTo>
                  <a:lnTo>
                    <a:pt x="193802" y="532129"/>
                  </a:lnTo>
                  <a:lnTo>
                    <a:pt x="195707" y="533526"/>
                  </a:lnTo>
                  <a:lnTo>
                    <a:pt x="197739" y="522350"/>
                  </a:lnTo>
                  <a:lnTo>
                    <a:pt x="199644" y="523747"/>
                  </a:lnTo>
                  <a:lnTo>
                    <a:pt x="199798" y="523291"/>
                  </a:lnTo>
                  <a:lnTo>
                    <a:pt x="200882" y="520096"/>
                  </a:lnTo>
                  <a:lnTo>
                    <a:pt x="203823" y="511425"/>
                  </a:lnTo>
                  <a:lnTo>
                    <a:pt x="209550" y="494538"/>
                  </a:lnTo>
                  <a:lnTo>
                    <a:pt x="209581" y="494035"/>
                  </a:lnTo>
                  <a:lnTo>
                    <a:pt x="209804" y="490521"/>
                  </a:lnTo>
                  <a:lnTo>
                    <a:pt x="210407" y="480982"/>
                  </a:lnTo>
                  <a:lnTo>
                    <a:pt x="211582" y="462406"/>
                  </a:lnTo>
                  <a:lnTo>
                    <a:pt x="213486" y="451103"/>
                  </a:lnTo>
                  <a:lnTo>
                    <a:pt x="215519" y="469391"/>
                  </a:lnTo>
                  <a:lnTo>
                    <a:pt x="221361" y="468121"/>
                  </a:lnTo>
                  <a:lnTo>
                    <a:pt x="223393" y="472313"/>
                  </a:lnTo>
                  <a:lnTo>
                    <a:pt x="223424" y="472729"/>
                  </a:lnTo>
                  <a:lnTo>
                    <a:pt x="223647" y="475646"/>
                  </a:lnTo>
                  <a:lnTo>
                    <a:pt x="224250" y="483564"/>
                  </a:lnTo>
                  <a:lnTo>
                    <a:pt x="225425" y="498982"/>
                  </a:lnTo>
                  <a:lnTo>
                    <a:pt x="227329" y="506094"/>
                  </a:lnTo>
                  <a:lnTo>
                    <a:pt x="229361" y="499109"/>
                  </a:lnTo>
                  <a:lnTo>
                    <a:pt x="235204" y="500506"/>
                  </a:lnTo>
                  <a:lnTo>
                    <a:pt x="237236" y="504824"/>
                  </a:lnTo>
                  <a:lnTo>
                    <a:pt x="239268" y="509016"/>
                  </a:lnTo>
                  <a:lnTo>
                    <a:pt x="241172" y="495045"/>
                  </a:lnTo>
                  <a:lnTo>
                    <a:pt x="241204" y="494500"/>
                  </a:lnTo>
                  <a:lnTo>
                    <a:pt x="241426" y="490680"/>
                  </a:lnTo>
                  <a:lnTo>
                    <a:pt x="242030" y="480312"/>
                  </a:lnTo>
                  <a:lnTo>
                    <a:pt x="243204" y="460120"/>
                  </a:lnTo>
                  <a:lnTo>
                    <a:pt x="249047" y="475614"/>
                  </a:lnTo>
                  <a:lnTo>
                    <a:pt x="251079" y="481202"/>
                  </a:lnTo>
                  <a:lnTo>
                    <a:pt x="253111" y="460247"/>
                  </a:lnTo>
                  <a:lnTo>
                    <a:pt x="255015" y="458850"/>
                  </a:lnTo>
                  <a:lnTo>
                    <a:pt x="262890" y="449198"/>
                  </a:lnTo>
                  <a:lnTo>
                    <a:pt x="262921" y="448609"/>
                  </a:lnTo>
                  <a:lnTo>
                    <a:pt x="263144" y="444484"/>
                  </a:lnTo>
                  <a:lnTo>
                    <a:pt x="263747" y="433286"/>
                  </a:lnTo>
                  <a:lnTo>
                    <a:pt x="264922" y="411479"/>
                  </a:lnTo>
                  <a:lnTo>
                    <a:pt x="266954" y="414273"/>
                  </a:lnTo>
                  <a:lnTo>
                    <a:pt x="268859" y="415670"/>
                  </a:lnTo>
                  <a:lnTo>
                    <a:pt x="270891" y="428370"/>
                  </a:lnTo>
                  <a:lnTo>
                    <a:pt x="276733" y="414527"/>
                  </a:lnTo>
                  <a:lnTo>
                    <a:pt x="278765" y="392048"/>
                  </a:lnTo>
                  <a:lnTo>
                    <a:pt x="280797" y="379475"/>
                  </a:lnTo>
                  <a:lnTo>
                    <a:pt x="282702" y="355726"/>
                  </a:lnTo>
                  <a:lnTo>
                    <a:pt x="282733" y="355137"/>
                  </a:lnTo>
                  <a:lnTo>
                    <a:pt x="282956" y="351012"/>
                  </a:lnTo>
                  <a:lnTo>
                    <a:pt x="283559" y="339814"/>
                  </a:lnTo>
                  <a:lnTo>
                    <a:pt x="284734" y="318007"/>
                  </a:lnTo>
                  <a:lnTo>
                    <a:pt x="292608" y="340613"/>
                  </a:lnTo>
                  <a:lnTo>
                    <a:pt x="292608" y="340613"/>
                  </a:lnTo>
                  <a:lnTo>
                    <a:pt x="294513" y="322452"/>
                  </a:lnTo>
                  <a:lnTo>
                    <a:pt x="296545" y="302767"/>
                  </a:lnTo>
                  <a:lnTo>
                    <a:pt x="298577" y="322579"/>
                  </a:lnTo>
                  <a:lnTo>
                    <a:pt x="304419" y="322579"/>
                  </a:lnTo>
                  <a:lnTo>
                    <a:pt x="306451" y="312800"/>
                  </a:lnTo>
                  <a:lnTo>
                    <a:pt x="308356" y="298957"/>
                  </a:lnTo>
                  <a:lnTo>
                    <a:pt x="310388" y="273684"/>
                  </a:lnTo>
                  <a:lnTo>
                    <a:pt x="312420" y="268223"/>
                  </a:lnTo>
                  <a:lnTo>
                    <a:pt x="318262" y="251459"/>
                  </a:lnTo>
                  <a:lnTo>
                    <a:pt x="320294" y="227710"/>
                  </a:lnTo>
                  <a:lnTo>
                    <a:pt x="322199" y="223646"/>
                  </a:lnTo>
                  <a:lnTo>
                    <a:pt x="324231" y="229234"/>
                  </a:lnTo>
                  <a:lnTo>
                    <a:pt x="326263" y="243331"/>
                  </a:lnTo>
                  <a:lnTo>
                    <a:pt x="332105" y="248919"/>
                  </a:lnTo>
                  <a:lnTo>
                    <a:pt x="334137" y="264413"/>
                  </a:lnTo>
                  <a:lnTo>
                    <a:pt x="334166" y="263931"/>
                  </a:lnTo>
                  <a:lnTo>
                    <a:pt x="334375" y="260556"/>
                  </a:lnTo>
                  <a:lnTo>
                    <a:pt x="334940" y="251394"/>
                  </a:lnTo>
                  <a:lnTo>
                    <a:pt x="336042" y="233552"/>
                  </a:lnTo>
                  <a:lnTo>
                    <a:pt x="336042" y="233552"/>
                  </a:lnTo>
                  <a:lnTo>
                    <a:pt x="338074" y="233679"/>
                  </a:lnTo>
                  <a:lnTo>
                    <a:pt x="340106" y="236600"/>
                  </a:lnTo>
                  <a:lnTo>
                    <a:pt x="345948" y="228218"/>
                  </a:lnTo>
                  <a:lnTo>
                    <a:pt x="347980" y="226948"/>
                  </a:lnTo>
                  <a:lnTo>
                    <a:pt x="349885" y="219963"/>
                  </a:lnTo>
                  <a:lnTo>
                    <a:pt x="351917" y="225551"/>
                  </a:lnTo>
                  <a:lnTo>
                    <a:pt x="353949" y="229869"/>
                  </a:lnTo>
                  <a:lnTo>
                    <a:pt x="359791" y="229996"/>
                  </a:lnTo>
                  <a:lnTo>
                    <a:pt x="361823" y="235584"/>
                  </a:lnTo>
                  <a:lnTo>
                    <a:pt x="363728" y="235584"/>
                  </a:lnTo>
                  <a:lnTo>
                    <a:pt x="365760" y="227202"/>
                  </a:lnTo>
                  <a:lnTo>
                    <a:pt x="367665" y="218820"/>
                  </a:lnTo>
                  <a:lnTo>
                    <a:pt x="375666" y="214756"/>
                  </a:lnTo>
                  <a:lnTo>
                    <a:pt x="377571" y="199516"/>
                  </a:lnTo>
                  <a:lnTo>
                    <a:pt x="379603" y="202310"/>
                  </a:lnTo>
                  <a:lnTo>
                    <a:pt x="381508" y="203834"/>
                  </a:lnTo>
                  <a:lnTo>
                    <a:pt x="387477" y="210819"/>
                  </a:lnTo>
                  <a:lnTo>
                    <a:pt x="389509" y="208025"/>
                  </a:lnTo>
                  <a:lnTo>
                    <a:pt x="391414" y="210946"/>
                  </a:lnTo>
                  <a:lnTo>
                    <a:pt x="393446" y="205358"/>
                  </a:lnTo>
                  <a:lnTo>
                    <a:pt x="395351" y="203961"/>
                  </a:lnTo>
                  <a:lnTo>
                    <a:pt x="401320" y="200024"/>
                  </a:lnTo>
                  <a:lnTo>
                    <a:pt x="403352" y="191515"/>
                  </a:lnTo>
                  <a:lnTo>
                    <a:pt x="405257" y="173481"/>
                  </a:lnTo>
                  <a:lnTo>
                    <a:pt x="407289" y="153923"/>
                  </a:lnTo>
                  <a:lnTo>
                    <a:pt x="409194" y="161035"/>
                  </a:lnTo>
                  <a:lnTo>
                    <a:pt x="415163" y="169417"/>
                  </a:lnTo>
                  <a:lnTo>
                    <a:pt x="417195" y="151256"/>
                  </a:lnTo>
                  <a:lnTo>
                    <a:pt x="419100" y="165353"/>
                  </a:lnTo>
                  <a:lnTo>
                    <a:pt x="421131" y="161162"/>
                  </a:lnTo>
                  <a:lnTo>
                    <a:pt x="423037" y="159892"/>
                  </a:lnTo>
                  <a:lnTo>
                    <a:pt x="429006" y="155701"/>
                  </a:lnTo>
                  <a:lnTo>
                    <a:pt x="431038" y="143255"/>
                  </a:lnTo>
                  <a:lnTo>
                    <a:pt x="432943" y="130682"/>
                  </a:lnTo>
                  <a:lnTo>
                    <a:pt x="434975" y="137794"/>
                  </a:lnTo>
                  <a:lnTo>
                    <a:pt x="436880" y="130809"/>
                  </a:lnTo>
                  <a:lnTo>
                    <a:pt x="442848" y="128142"/>
                  </a:lnTo>
                  <a:lnTo>
                    <a:pt x="444881" y="125348"/>
                  </a:lnTo>
                  <a:lnTo>
                    <a:pt x="446786" y="124078"/>
                  </a:lnTo>
                  <a:lnTo>
                    <a:pt x="448818" y="125348"/>
                  </a:lnTo>
                  <a:lnTo>
                    <a:pt x="450723" y="121284"/>
                  </a:lnTo>
                  <a:lnTo>
                    <a:pt x="456692" y="128269"/>
                  </a:lnTo>
                  <a:lnTo>
                    <a:pt x="458723" y="128396"/>
                  </a:lnTo>
                  <a:lnTo>
                    <a:pt x="460629" y="131317"/>
                  </a:lnTo>
                  <a:lnTo>
                    <a:pt x="462661" y="125729"/>
                  </a:lnTo>
                  <a:lnTo>
                    <a:pt x="464566" y="117347"/>
                  </a:lnTo>
                  <a:lnTo>
                    <a:pt x="470534" y="125856"/>
                  </a:lnTo>
                  <a:lnTo>
                    <a:pt x="472567" y="121665"/>
                  </a:lnTo>
                  <a:lnTo>
                    <a:pt x="474472" y="127380"/>
                  </a:lnTo>
                  <a:lnTo>
                    <a:pt x="476504" y="141350"/>
                  </a:lnTo>
                  <a:lnTo>
                    <a:pt x="486409" y="130428"/>
                  </a:lnTo>
                  <a:lnTo>
                    <a:pt x="488315" y="116458"/>
                  </a:lnTo>
                  <a:lnTo>
                    <a:pt x="490347" y="99694"/>
                  </a:lnTo>
                  <a:lnTo>
                    <a:pt x="492252" y="91439"/>
                  </a:lnTo>
                  <a:lnTo>
                    <a:pt x="498220" y="98424"/>
                  </a:lnTo>
                  <a:lnTo>
                    <a:pt x="500253" y="98424"/>
                  </a:lnTo>
                  <a:lnTo>
                    <a:pt x="502158" y="105536"/>
                  </a:lnTo>
                  <a:lnTo>
                    <a:pt x="504190" y="105536"/>
                  </a:lnTo>
                  <a:lnTo>
                    <a:pt x="506095" y="119633"/>
                  </a:lnTo>
                  <a:lnTo>
                    <a:pt x="512064" y="109981"/>
                  </a:lnTo>
                  <a:lnTo>
                    <a:pt x="514095" y="111505"/>
                  </a:lnTo>
                  <a:lnTo>
                    <a:pt x="516001" y="105790"/>
                  </a:lnTo>
                  <a:lnTo>
                    <a:pt x="518033" y="107314"/>
                  </a:lnTo>
                  <a:lnTo>
                    <a:pt x="519938" y="118490"/>
                  </a:lnTo>
                  <a:lnTo>
                    <a:pt x="525907" y="121411"/>
                  </a:lnTo>
                  <a:lnTo>
                    <a:pt x="527812" y="146557"/>
                  </a:lnTo>
                  <a:lnTo>
                    <a:pt x="529844" y="156463"/>
                  </a:lnTo>
                  <a:lnTo>
                    <a:pt x="531876" y="169036"/>
                  </a:lnTo>
                  <a:lnTo>
                    <a:pt x="533781" y="184276"/>
                  </a:lnTo>
                  <a:lnTo>
                    <a:pt x="539750" y="178942"/>
                  </a:lnTo>
                  <a:lnTo>
                    <a:pt x="541655" y="174751"/>
                  </a:lnTo>
                  <a:lnTo>
                    <a:pt x="543687" y="180466"/>
                  </a:lnTo>
                  <a:lnTo>
                    <a:pt x="545719" y="184530"/>
                  </a:lnTo>
                  <a:lnTo>
                    <a:pt x="547624" y="174878"/>
                  </a:lnTo>
                  <a:lnTo>
                    <a:pt x="553593" y="181990"/>
                  </a:lnTo>
                  <a:lnTo>
                    <a:pt x="555498" y="165226"/>
                  </a:lnTo>
                  <a:lnTo>
                    <a:pt x="557530" y="172338"/>
                  </a:lnTo>
                  <a:lnTo>
                    <a:pt x="559562" y="159765"/>
                  </a:lnTo>
                  <a:lnTo>
                    <a:pt x="561467" y="161162"/>
                  </a:lnTo>
                  <a:lnTo>
                    <a:pt x="567436" y="162686"/>
                  </a:lnTo>
                  <a:lnTo>
                    <a:pt x="569341" y="147446"/>
                  </a:lnTo>
                  <a:lnTo>
                    <a:pt x="571373" y="146049"/>
                  </a:lnTo>
                  <a:lnTo>
                    <a:pt x="573405" y="153034"/>
                  </a:lnTo>
                  <a:lnTo>
                    <a:pt x="575310" y="164337"/>
                  </a:lnTo>
                  <a:lnTo>
                    <a:pt x="581279" y="158749"/>
                  </a:lnTo>
                  <a:lnTo>
                    <a:pt x="583184" y="160273"/>
                  </a:lnTo>
                  <a:lnTo>
                    <a:pt x="585216" y="170052"/>
                  </a:lnTo>
                  <a:lnTo>
                    <a:pt x="587248" y="172846"/>
                  </a:lnTo>
                  <a:lnTo>
                    <a:pt x="589153" y="179958"/>
                  </a:lnTo>
                  <a:lnTo>
                    <a:pt x="595122" y="192531"/>
                  </a:lnTo>
                  <a:lnTo>
                    <a:pt x="597027" y="182879"/>
                  </a:lnTo>
                  <a:lnTo>
                    <a:pt x="599059" y="178688"/>
                  </a:lnTo>
                  <a:lnTo>
                    <a:pt x="600964" y="189991"/>
                  </a:lnTo>
                  <a:lnTo>
                    <a:pt x="602996" y="195452"/>
                  </a:lnTo>
                  <a:lnTo>
                    <a:pt x="608965" y="201167"/>
                  </a:lnTo>
                  <a:lnTo>
                    <a:pt x="610870" y="208152"/>
                  </a:lnTo>
                  <a:lnTo>
                    <a:pt x="612902" y="184530"/>
                  </a:lnTo>
                  <a:lnTo>
                    <a:pt x="614807" y="160908"/>
                  </a:lnTo>
                  <a:lnTo>
                    <a:pt x="616839" y="138556"/>
                  </a:lnTo>
                  <a:lnTo>
                    <a:pt x="622808" y="137413"/>
                  </a:lnTo>
                  <a:lnTo>
                    <a:pt x="624713" y="131698"/>
                  </a:lnTo>
                  <a:lnTo>
                    <a:pt x="626745" y="134619"/>
                  </a:lnTo>
                  <a:lnTo>
                    <a:pt x="628650" y="126237"/>
                  </a:lnTo>
                  <a:lnTo>
                    <a:pt x="630682" y="119379"/>
                  </a:lnTo>
                  <a:lnTo>
                    <a:pt x="636651" y="119506"/>
                  </a:lnTo>
                  <a:lnTo>
                    <a:pt x="638556" y="112521"/>
                  </a:lnTo>
                  <a:lnTo>
                    <a:pt x="640588" y="112521"/>
                  </a:lnTo>
                  <a:lnTo>
                    <a:pt x="642493" y="112648"/>
                  </a:lnTo>
                  <a:lnTo>
                    <a:pt x="644525" y="111378"/>
                  </a:lnTo>
                  <a:lnTo>
                    <a:pt x="650494" y="102996"/>
                  </a:lnTo>
                  <a:lnTo>
                    <a:pt x="652399" y="101726"/>
                  </a:lnTo>
                  <a:lnTo>
                    <a:pt x="654431" y="100329"/>
                  </a:lnTo>
                  <a:lnTo>
                    <a:pt x="656336" y="94868"/>
                  </a:lnTo>
                  <a:lnTo>
                    <a:pt x="658368" y="93471"/>
                  </a:lnTo>
                  <a:lnTo>
                    <a:pt x="664337" y="90804"/>
                  </a:lnTo>
                  <a:lnTo>
                    <a:pt x="666242" y="90804"/>
                  </a:lnTo>
                  <a:lnTo>
                    <a:pt x="668274" y="86613"/>
                  </a:lnTo>
                  <a:lnTo>
                    <a:pt x="670179" y="85343"/>
                  </a:lnTo>
                  <a:lnTo>
                    <a:pt x="672211" y="74167"/>
                  </a:lnTo>
                  <a:lnTo>
                    <a:pt x="678180" y="68833"/>
                  </a:lnTo>
                  <a:lnTo>
                    <a:pt x="680085" y="64642"/>
                  </a:lnTo>
                  <a:lnTo>
                    <a:pt x="682117" y="61975"/>
                  </a:lnTo>
                  <a:lnTo>
                    <a:pt x="684022" y="60451"/>
                  </a:lnTo>
                  <a:lnTo>
                    <a:pt x="686054" y="68833"/>
                  </a:lnTo>
                  <a:lnTo>
                    <a:pt x="692023" y="52323"/>
                  </a:lnTo>
                  <a:lnTo>
                    <a:pt x="693928" y="60705"/>
                  </a:lnTo>
                  <a:lnTo>
                    <a:pt x="695960" y="49529"/>
                  </a:lnTo>
                  <a:lnTo>
                    <a:pt x="697865" y="45592"/>
                  </a:lnTo>
                  <a:lnTo>
                    <a:pt x="699897" y="39877"/>
                  </a:lnTo>
                  <a:lnTo>
                    <a:pt x="705866" y="40004"/>
                  </a:lnTo>
                  <a:lnTo>
                    <a:pt x="707771" y="47116"/>
                  </a:lnTo>
                  <a:lnTo>
                    <a:pt x="709803" y="45719"/>
                  </a:lnTo>
                  <a:lnTo>
                    <a:pt x="721614" y="45973"/>
                  </a:lnTo>
                  <a:lnTo>
                    <a:pt x="723646" y="40385"/>
                  </a:lnTo>
                  <a:lnTo>
                    <a:pt x="725551" y="37718"/>
                  </a:lnTo>
                  <a:lnTo>
                    <a:pt x="733552" y="35178"/>
                  </a:lnTo>
                  <a:lnTo>
                    <a:pt x="735457" y="30987"/>
                  </a:lnTo>
                  <a:lnTo>
                    <a:pt x="737489" y="36575"/>
                  </a:lnTo>
                  <a:lnTo>
                    <a:pt x="739394" y="46354"/>
                  </a:lnTo>
                  <a:lnTo>
                    <a:pt x="741426" y="52069"/>
                  </a:lnTo>
                  <a:lnTo>
                    <a:pt x="747268" y="53466"/>
                  </a:lnTo>
                  <a:lnTo>
                    <a:pt x="749300" y="59054"/>
                  </a:lnTo>
                  <a:lnTo>
                    <a:pt x="751332" y="73024"/>
                  </a:lnTo>
                  <a:lnTo>
                    <a:pt x="753237" y="66166"/>
                  </a:lnTo>
                  <a:lnTo>
                    <a:pt x="755269" y="63372"/>
                  </a:lnTo>
                  <a:lnTo>
                    <a:pt x="761111" y="66293"/>
                  </a:lnTo>
                  <a:lnTo>
                    <a:pt x="763143" y="66293"/>
                  </a:lnTo>
                  <a:lnTo>
                    <a:pt x="765175" y="65023"/>
                  </a:lnTo>
                  <a:lnTo>
                    <a:pt x="767080" y="65150"/>
                  </a:lnTo>
                  <a:lnTo>
                    <a:pt x="769112" y="63626"/>
                  </a:lnTo>
                  <a:lnTo>
                    <a:pt x="774954" y="63753"/>
                  </a:lnTo>
                  <a:lnTo>
                    <a:pt x="776986" y="58292"/>
                  </a:lnTo>
                  <a:lnTo>
                    <a:pt x="779018" y="58419"/>
                  </a:lnTo>
                  <a:lnTo>
                    <a:pt x="780923" y="61213"/>
                  </a:lnTo>
                  <a:lnTo>
                    <a:pt x="782955" y="64007"/>
                  </a:lnTo>
                  <a:lnTo>
                    <a:pt x="788797" y="61340"/>
                  </a:lnTo>
                  <a:lnTo>
                    <a:pt x="790829" y="59943"/>
                  </a:lnTo>
                  <a:lnTo>
                    <a:pt x="792861" y="57276"/>
                  </a:lnTo>
                  <a:lnTo>
                    <a:pt x="794766" y="57276"/>
                  </a:lnTo>
                  <a:lnTo>
                    <a:pt x="796798" y="55879"/>
                  </a:lnTo>
                  <a:lnTo>
                    <a:pt x="802640" y="49021"/>
                  </a:lnTo>
                  <a:lnTo>
                    <a:pt x="804672" y="50545"/>
                  </a:lnTo>
                  <a:lnTo>
                    <a:pt x="806704" y="56133"/>
                  </a:lnTo>
                  <a:lnTo>
                    <a:pt x="808609" y="56133"/>
                  </a:lnTo>
                  <a:lnTo>
                    <a:pt x="810641" y="58927"/>
                  </a:lnTo>
                  <a:lnTo>
                    <a:pt x="816483" y="46608"/>
                  </a:lnTo>
                  <a:lnTo>
                    <a:pt x="818515" y="56387"/>
                  </a:lnTo>
                  <a:lnTo>
                    <a:pt x="820419" y="66166"/>
                  </a:lnTo>
                  <a:lnTo>
                    <a:pt x="822452" y="73151"/>
                  </a:lnTo>
                  <a:lnTo>
                    <a:pt x="824484" y="68960"/>
                  </a:lnTo>
                  <a:lnTo>
                    <a:pt x="830326" y="73278"/>
                  </a:lnTo>
                  <a:lnTo>
                    <a:pt x="832358" y="83057"/>
                  </a:lnTo>
                  <a:lnTo>
                    <a:pt x="834263" y="85851"/>
                  </a:lnTo>
                  <a:lnTo>
                    <a:pt x="836294" y="85978"/>
                  </a:lnTo>
                  <a:lnTo>
                    <a:pt x="838327" y="95757"/>
                  </a:lnTo>
                  <a:lnTo>
                    <a:pt x="844169" y="108330"/>
                  </a:lnTo>
                  <a:lnTo>
                    <a:pt x="846201" y="98678"/>
                  </a:lnTo>
                  <a:lnTo>
                    <a:pt x="848106" y="97408"/>
                  </a:lnTo>
                  <a:lnTo>
                    <a:pt x="850138" y="104393"/>
                  </a:lnTo>
                  <a:lnTo>
                    <a:pt x="852169" y="108457"/>
                  </a:lnTo>
                  <a:lnTo>
                    <a:pt x="858012" y="126745"/>
                  </a:lnTo>
                  <a:lnTo>
                    <a:pt x="860044" y="140715"/>
                  </a:lnTo>
                  <a:lnTo>
                    <a:pt x="861949" y="138048"/>
                  </a:lnTo>
                  <a:lnTo>
                    <a:pt x="863981" y="132460"/>
                  </a:lnTo>
                  <a:lnTo>
                    <a:pt x="866013" y="118490"/>
                  </a:lnTo>
                  <a:lnTo>
                    <a:pt x="871855" y="129793"/>
                  </a:lnTo>
                  <a:lnTo>
                    <a:pt x="873887" y="125729"/>
                  </a:lnTo>
                  <a:lnTo>
                    <a:pt x="875791" y="117474"/>
                  </a:lnTo>
                  <a:lnTo>
                    <a:pt x="877824" y="125729"/>
                  </a:lnTo>
                  <a:lnTo>
                    <a:pt x="879856" y="135508"/>
                  </a:lnTo>
                  <a:lnTo>
                    <a:pt x="885697" y="134365"/>
                  </a:lnTo>
                  <a:lnTo>
                    <a:pt x="887730" y="124586"/>
                  </a:lnTo>
                  <a:lnTo>
                    <a:pt x="889635" y="123189"/>
                  </a:lnTo>
                  <a:lnTo>
                    <a:pt x="891666" y="123316"/>
                  </a:lnTo>
                  <a:lnTo>
                    <a:pt x="893572" y="124713"/>
                  </a:lnTo>
                  <a:lnTo>
                    <a:pt x="899541" y="129031"/>
                  </a:lnTo>
                  <a:lnTo>
                    <a:pt x="901572" y="143001"/>
                  </a:lnTo>
                  <a:lnTo>
                    <a:pt x="903478" y="141604"/>
                  </a:lnTo>
                  <a:lnTo>
                    <a:pt x="905510" y="136016"/>
                  </a:lnTo>
                  <a:lnTo>
                    <a:pt x="915416" y="119633"/>
                  </a:lnTo>
                  <a:lnTo>
                    <a:pt x="917321" y="119633"/>
                  </a:lnTo>
                  <a:lnTo>
                    <a:pt x="919353" y="104393"/>
                  </a:lnTo>
                  <a:lnTo>
                    <a:pt x="921258" y="101726"/>
                  </a:lnTo>
                  <a:lnTo>
                    <a:pt x="927227" y="111505"/>
                  </a:lnTo>
                  <a:lnTo>
                    <a:pt x="929259" y="110108"/>
                  </a:lnTo>
                  <a:lnTo>
                    <a:pt x="931163" y="101726"/>
                  </a:lnTo>
                  <a:lnTo>
                    <a:pt x="933196" y="100456"/>
                  </a:lnTo>
                  <a:lnTo>
                    <a:pt x="935101" y="86613"/>
                  </a:lnTo>
                  <a:lnTo>
                    <a:pt x="941069" y="78485"/>
                  </a:lnTo>
                  <a:lnTo>
                    <a:pt x="943102" y="72897"/>
                  </a:lnTo>
                  <a:lnTo>
                    <a:pt x="945007" y="75691"/>
                  </a:lnTo>
                  <a:lnTo>
                    <a:pt x="947038" y="79882"/>
                  </a:lnTo>
                  <a:lnTo>
                    <a:pt x="948944" y="77215"/>
                  </a:lnTo>
                  <a:lnTo>
                    <a:pt x="954913" y="71754"/>
                  </a:lnTo>
                  <a:lnTo>
                    <a:pt x="956944" y="75945"/>
                  </a:lnTo>
                  <a:lnTo>
                    <a:pt x="958850" y="80136"/>
                  </a:lnTo>
                  <a:lnTo>
                    <a:pt x="960882" y="84454"/>
                  </a:lnTo>
                  <a:lnTo>
                    <a:pt x="962787" y="80263"/>
                  </a:lnTo>
                  <a:lnTo>
                    <a:pt x="970788" y="77723"/>
                  </a:lnTo>
                  <a:lnTo>
                    <a:pt x="972693" y="76326"/>
                  </a:lnTo>
                  <a:lnTo>
                    <a:pt x="974725" y="75056"/>
                  </a:lnTo>
                  <a:lnTo>
                    <a:pt x="976630" y="68071"/>
                  </a:lnTo>
                  <a:lnTo>
                    <a:pt x="982599" y="61213"/>
                  </a:lnTo>
                  <a:lnTo>
                    <a:pt x="984631" y="57022"/>
                  </a:lnTo>
                  <a:lnTo>
                    <a:pt x="986536" y="64134"/>
                  </a:lnTo>
                  <a:lnTo>
                    <a:pt x="988568" y="75310"/>
                  </a:lnTo>
                  <a:lnTo>
                    <a:pt x="990472" y="76707"/>
                  </a:lnTo>
                  <a:lnTo>
                    <a:pt x="996441" y="72516"/>
                  </a:lnTo>
                  <a:lnTo>
                    <a:pt x="998474" y="69849"/>
                  </a:lnTo>
                  <a:lnTo>
                    <a:pt x="1000379" y="71373"/>
                  </a:lnTo>
                  <a:lnTo>
                    <a:pt x="1002411" y="76961"/>
                  </a:lnTo>
                  <a:lnTo>
                    <a:pt x="1004316" y="75564"/>
                  </a:lnTo>
                  <a:lnTo>
                    <a:pt x="1010285" y="81279"/>
                  </a:lnTo>
                  <a:lnTo>
                    <a:pt x="1012316" y="70103"/>
                  </a:lnTo>
                  <a:lnTo>
                    <a:pt x="1014222" y="66039"/>
                  </a:lnTo>
                  <a:lnTo>
                    <a:pt x="1016254" y="63245"/>
                  </a:lnTo>
                  <a:lnTo>
                    <a:pt x="1018159" y="66039"/>
                  </a:lnTo>
                  <a:lnTo>
                    <a:pt x="1026160" y="63499"/>
                  </a:lnTo>
                  <a:lnTo>
                    <a:pt x="1028065" y="60832"/>
                  </a:lnTo>
                  <a:lnTo>
                    <a:pt x="1030097" y="55371"/>
                  </a:lnTo>
                  <a:lnTo>
                    <a:pt x="1032002" y="58165"/>
                  </a:lnTo>
                  <a:lnTo>
                    <a:pt x="1037971" y="51307"/>
                  </a:lnTo>
                  <a:lnTo>
                    <a:pt x="1039876" y="48640"/>
                  </a:lnTo>
                  <a:lnTo>
                    <a:pt x="1041908" y="44449"/>
                  </a:lnTo>
                  <a:lnTo>
                    <a:pt x="1043940" y="37464"/>
                  </a:lnTo>
                  <a:lnTo>
                    <a:pt x="1045844" y="36067"/>
                  </a:lnTo>
                  <a:lnTo>
                    <a:pt x="1051814" y="29336"/>
                  </a:lnTo>
                  <a:lnTo>
                    <a:pt x="1053719" y="36321"/>
                  </a:lnTo>
                  <a:lnTo>
                    <a:pt x="1055751" y="40512"/>
                  </a:lnTo>
                  <a:lnTo>
                    <a:pt x="1057783" y="39242"/>
                  </a:lnTo>
                  <a:lnTo>
                    <a:pt x="1059688" y="47624"/>
                  </a:lnTo>
                  <a:lnTo>
                    <a:pt x="1065657" y="35178"/>
                  </a:lnTo>
                  <a:lnTo>
                    <a:pt x="1067562" y="40766"/>
                  </a:lnTo>
                  <a:lnTo>
                    <a:pt x="1069594" y="46354"/>
                  </a:lnTo>
                  <a:lnTo>
                    <a:pt x="1071626" y="53339"/>
                  </a:lnTo>
                  <a:lnTo>
                    <a:pt x="1073531" y="43687"/>
                  </a:lnTo>
                  <a:lnTo>
                    <a:pt x="1079500" y="48005"/>
                  </a:lnTo>
                  <a:lnTo>
                    <a:pt x="1081405" y="43814"/>
                  </a:lnTo>
                  <a:lnTo>
                    <a:pt x="1083437" y="45338"/>
                  </a:lnTo>
                  <a:lnTo>
                    <a:pt x="1085469" y="52323"/>
                  </a:lnTo>
                  <a:lnTo>
                    <a:pt x="1087374" y="45465"/>
                  </a:lnTo>
                  <a:lnTo>
                    <a:pt x="1095248" y="45592"/>
                  </a:lnTo>
                  <a:lnTo>
                    <a:pt x="1097280" y="42798"/>
                  </a:lnTo>
                  <a:lnTo>
                    <a:pt x="1099312" y="38734"/>
                  </a:lnTo>
                  <a:lnTo>
                    <a:pt x="1101217" y="41528"/>
                  </a:lnTo>
                  <a:lnTo>
                    <a:pt x="1107186" y="34670"/>
                  </a:lnTo>
                  <a:lnTo>
                    <a:pt x="1109091" y="44449"/>
                  </a:lnTo>
                  <a:lnTo>
                    <a:pt x="1111123" y="43052"/>
                  </a:lnTo>
                  <a:lnTo>
                    <a:pt x="1113028" y="43052"/>
                  </a:lnTo>
                  <a:lnTo>
                    <a:pt x="1115060" y="37591"/>
                  </a:lnTo>
                  <a:lnTo>
                    <a:pt x="1121029" y="26669"/>
                  </a:lnTo>
                  <a:lnTo>
                    <a:pt x="1122934" y="33654"/>
                  </a:lnTo>
                  <a:lnTo>
                    <a:pt x="1124966" y="35051"/>
                  </a:lnTo>
                  <a:lnTo>
                    <a:pt x="1126871" y="40639"/>
                  </a:lnTo>
                  <a:lnTo>
                    <a:pt x="1128903" y="46227"/>
                  </a:lnTo>
                  <a:lnTo>
                    <a:pt x="1134872" y="39369"/>
                  </a:lnTo>
                  <a:lnTo>
                    <a:pt x="1136777" y="40893"/>
                  </a:lnTo>
                  <a:lnTo>
                    <a:pt x="1138809" y="45084"/>
                  </a:lnTo>
                  <a:lnTo>
                    <a:pt x="1140714" y="49275"/>
                  </a:lnTo>
                  <a:lnTo>
                    <a:pt x="1142746" y="46481"/>
                  </a:lnTo>
                  <a:lnTo>
                    <a:pt x="1148715" y="46608"/>
                  </a:lnTo>
                  <a:lnTo>
                    <a:pt x="1150620" y="36956"/>
                  </a:lnTo>
                  <a:lnTo>
                    <a:pt x="1152652" y="37083"/>
                  </a:lnTo>
                  <a:lnTo>
                    <a:pt x="1154557" y="35813"/>
                  </a:lnTo>
                  <a:lnTo>
                    <a:pt x="1156589" y="37083"/>
                  </a:lnTo>
                  <a:lnTo>
                    <a:pt x="1162558" y="44195"/>
                  </a:lnTo>
                  <a:lnTo>
                    <a:pt x="1164463" y="46989"/>
                  </a:lnTo>
                  <a:lnTo>
                    <a:pt x="1166495" y="51180"/>
                  </a:lnTo>
                  <a:lnTo>
                    <a:pt x="1168400" y="53974"/>
                  </a:lnTo>
                  <a:lnTo>
                    <a:pt x="1170432" y="49910"/>
                  </a:lnTo>
                  <a:lnTo>
                    <a:pt x="1176401" y="44449"/>
                  </a:lnTo>
                  <a:lnTo>
                    <a:pt x="1178306" y="37591"/>
                  </a:lnTo>
                  <a:lnTo>
                    <a:pt x="1180338" y="37591"/>
                  </a:lnTo>
                  <a:lnTo>
                    <a:pt x="1182243" y="36194"/>
                  </a:lnTo>
                  <a:lnTo>
                    <a:pt x="1184275" y="30733"/>
                  </a:lnTo>
                  <a:lnTo>
                    <a:pt x="1190244" y="29463"/>
                  </a:lnTo>
                  <a:lnTo>
                    <a:pt x="1192149" y="25399"/>
                  </a:lnTo>
                  <a:lnTo>
                    <a:pt x="1194181" y="22732"/>
                  </a:lnTo>
                  <a:lnTo>
                    <a:pt x="1196086" y="19938"/>
                  </a:lnTo>
                  <a:lnTo>
                    <a:pt x="1205992" y="21589"/>
                  </a:lnTo>
                  <a:lnTo>
                    <a:pt x="1208024" y="7746"/>
                  </a:lnTo>
                  <a:lnTo>
                    <a:pt x="1209929" y="6349"/>
                  </a:lnTo>
                  <a:lnTo>
                    <a:pt x="1211961" y="5079"/>
                  </a:lnTo>
                  <a:lnTo>
                    <a:pt x="1217930" y="6476"/>
                  </a:lnTo>
                  <a:lnTo>
                    <a:pt x="1219835" y="8000"/>
                  </a:lnTo>
                  <a:lnTo>
                    <a:pt x="1221867" y="9524"/>
                  </a:lnTo>
                  <a:lnTo>
                    <a:pt x="1223772" y="10794"/>
                  </a:lnTo>
                  <a:lnTo>
                    <a:pt x="1225804" y="9524"/>
                  </a:lnTo>
                  <a:lnTo>
                    <a:pt x="1231773" y="6857"/>
                  </a:lnTo>
                  <a:lnTo>
                    <a:pt x="1233678" y="1396"/>
                  </a:lnTo>
                  <a:lnTo>
                    <a:pt x="1235710" y="0"/>
                  </a:lnTo>
                  <a:lnTo>
                    <a:pt x="1237615" y="9651"/>
                  </a:lnTo>
                  <a:lnTo>
                    <a:pt x="1239647" y="5714"/>
                  </a:lnTo>
                  <a:lnTo>
                    <a:pt x="1245616" y="11302"/>
                  </a:lnTo>
                  <a:lnTo>
                    <a:pt x="1247521" y="18287"/>
                  </a:lnTo>
                  <a:lnTo>
                    <a:pt x="1249553" y="18287"/>
                  </a:lnTo>
                  <a:lnTo>
                    <a:pt x="1251458" y="19684"/>
                  </a:lnTo>
                  <a:lnTo>
                    <a:pt x="1253490" y="23875"/>
                  </a:lnTo>
                  <a:lnTo>
                    <a:pt x="1259332" y="36448"/>
                  </a:lnTo>
                  <a:lnTo>
                    <a:pt x="1261364" y="43433"/>
                  </a:lnTo>
                  <a:lnTo>
                    <a:pt x="1263396" y="57403"/>
                  </a:lnTo>
                  <a:lnTo>
                    <a:pt x="1265301" y="53212"/>
                  </a:lnTo>
                  <a:lnTo>
                    <a:pt x="1267333" y="57530"/>
                  </a:lnTo>
                  <a:lnTo>
                    <a:pt x="1273175" y="58927"/>
                  </a:lnTo>
                  <a:lnTo>
                    <a:pt x="1275207" y="58927"/>
                  </a:lnTo>
                  <a:lnTo>
                    <a:pt x="1277239" y="75691"/>
                  </a:lnTo>
                  <a:lnTo>
                    <a:pt x="1279144" y="70230"/>
                  </a:lnTo>
                  <a:lnTo>
                    <a:pt x="1281176" y="68833"/>
                  </a:lnTo>
                  <a:lnTo>
                    <a:pt x="1287018" y="74548"/>
                  </a:lnTo>
                  <a:lnTo>
                    <a:pt x="1289050" y="78739"/>
                  </a:lnTo>
                  <a:lnTo>
                    <a:pt x="1291082" y="81533"/>
                  </a:lnTo>
                  <a:lnTo>
                    <a:pt x="1292987" y="77469"/>
                  </a:lnTo>
                  <a:lnTo>
                    <a:pt x="1295019" y="70484"/>
                  </a:lnTo>
                  <a:lnTo>
                    <a:pt x="1300861" y="72135"/>
                  </a:lnTo>
                  <a:lnTo>
                    <a:pt x="1302893" y="73405"/>
                  </a:lnTo>
                  <a:lnTo>
                    <a:pt x="1304925" y="85978"/>
                  </a:lnTo>
                  <a:lnTo>
                    <a:pt x="1306830" y="80517"/>
                  </a:lnTo>
                  <a:lnTo>
                    <a:pt x="1308862" y="85978"/>
                  </a:lnTo>
                  <a:lnTo>
                    <a:pt x="1314704" y="83438"/>
                  </a:lnTo>
                  <a:lnTo>
                    <a:pt x="1316736" y="82041"/>
                  </a:lnTo>
                  <a:lnTo>
                    <a:pt x="1318768" y="82041"/>
                  </a:lnTo>
                  <a:lnTo>
                    <a:pt x="1320673" y="72389"/>
                  </a:lnTo>
                  <a:lnTo>
                    <a:pt x="1322705" y="71119"/>
                  </a:lnTo>
                  <a:lnTo>
                    <a:pt x="1328547" y="75437"/>
                  </a:lnTo>
                  <a:lnTo>
                    <a:pt x="1330579" y="90677"/>
                  </a:lnTo>
                  <a:lnTo>
                    <a:pt x="1332484" y="85216"/>
                  </a:lnTo>
                  <a:lnTo>
                    <a:pt x="1334516" y="83819"/>
                  </a:lnTo>
                  <a:lnTo>
                    <a:pt x="1336548" y="85343"/>
                  </a:lnTo>
                  <a:lnTo>
                    <a:pt x="1342390" y="86740"/>
                  </a:lnTo>
                  <a:lnTo>
                    <a:pt x="1344422" y="78485"/>
                  </a:lnTo>
                  <a:lnTo>
                    <a:pt x="1346327" y="75691"/>
                  </a:lnTo>
                  <a:lnTo>
                    <a:pt x="1348359" y="85470"/>
                  </a:lnTo>
                  <a:lnTo>
                    <a:pt x="1350391" y="88391"/>
                  </a:lnTo>
                  <a:lnTo>
                    <a:pt x="1356233" y="88518"/>
                  </a:lnTo>
                  <a:lnTo>
                    <a:pt x="1358265" y="91312"/>
                  </a:lnTo>
                  <a:lnTo>
                    <a:pt x="1360170" y="98297"/>
                  </a:lnTo>
                  <a:lnTo>
                    <a:pt x="1362202" y="112013"/>
                  </a:lnTo>
                  <a:lnTo>
                    <a:pt x="1364234" y="109346"/>
                  </a:lnTo>
                  <a:lnTo>
                    <a:pt x="1370076" y="105282"/>
                  </a:lnTo>
                  <a:lnTo>
                    <a:pt x="1372108" y="101218"/>
                  </a:lnTo>
                  <a:lnTo>
                    <a:pt x="1374013" y="110997"/>
                  </a:lnTo>
                  <a:lnTo>
                    <a:pt x="1376045" y="123443"/>
                  </a:lnTo>
                  <a:lnTo>
                    <a:pt x="1378077" y="123443"/>
                  </a:lnTo>
                  <a:lnTo>
                    <a:pt x="1383919" y="129158"/>
                  </a:lnTo>
                  <a:lnTo>
                    <a:pt x="1385951" y="134746"/>
                  </a:lnTo>
                  <a:lnTo>
                    <a:pt x="1387856" y="133349"/>
                  </a:lnTo>
                  <a:lnTo>
                    <a:pt x="1389888" y="140334"/>
                  </a:lnTo>
                  <a:lnTo>
                    <a:pt x="1391920" y="125094"/>
                  </a:lnTo>
                  <a:lnTo>
                    <a:pt x="1397762" y="116966"/>
                  </a:lnTo>
                  <a:lnTo>
                    <a:pt x="1399794" y="115569"/>
                  </a:lnTo>
                  <a:lnTo>
                    <a:pt x="1401699" y="108711"/>
                  </a:lnTo>
                  <a:lnTo>
                    <a:pt x="1403731" y="111632"/>
                  </a:lnTo>
                  <a:lnTo>
                    <a:pt x="1405636" y="110235"/>
                  </a:lnTo>
                  <a:lnTo>
                    <a:pt x="1411605" y="120014"/>
                  </a:lnTo>
                  <a:lnTo>
                    <a:pt x="1413637" y="121538"/>
                  </a:lnTo>
                  <a:lnTo>
                    <a:pt x="1415542" y="113156"/>
                  </a:lnTo>
                  <a:lnTo>
                    <a:pt x="1417574" y="118744"/>
                  </a:lnTo>
                  <a:lnTo>
                    <a:pt x="1419479" y="121538"/>
                  </a:lnTo>
                  <a:lnTo>
                    <a:pt x="1425448" y="113410"/>
                  </a:lnTo>
                  <a:lnTo>
                    <a:pt x="1427480" y="131444"/>
                  </a:lnTo>
                  <a:lnTo>
                    <a:pt x="1429385" y="137032"/>
                  </a:lnTo>
                  <a:lnTo>
                    <a:pt x="1431417" y="134238"/>
                  </a:lnTo>
                  <a:lnTo>
                    <a:pt x="1443228" y="134492"/>
                  </a:lnTo>
                  <a:lnTo>
                    <a:pt x="1445260" y="133095"/>
                  </a:lnTo>
                  <a:lnTo>
                    <a:pt x="1447165" y="131698"/>
                  </a:lnTo>
                  <a:lnTo>
                    <a:pt x="1455166" y="129158"/>
                  </a:lnTo>
                  <a:lnTo>
                    <a:pt x="1457071" y="140334"/>
                  </a:lnTo>
                  <a:lnTo>
                    <a:pt x="1459103" y="141604"/>
                  </a:lnTo>
                  <a:lnTo>
                    <a:pt x="1461008" y="158241"/>
                  </a:lnTo>
                  <a:lnTo>
                    <a:pt x="1466977" y="170941"/>
                  </a:lnTo>
                  <a:lnTo>
                    <a:pt x="1469009" y="172338"/>
                  </a:lnTo>
                  <a:lnTo>
                    <a:pt x="1470914" y="170941"/>
                  </a:lnTo>
                  <a:lnTo>
                    <a:pt x="1472946" y="170941"/>
                  </a:lnTo>
                  <a:lnTo>
                    <a:pt x="1474851" y="179323"/>
                  </a:lnTo>
                  <a:lnTo>
                    <a:pt x="1480820" y="191896"/>
                  </a:lnTo>
                  <a:lnTo>
                    <a:pt x="1482852" y="203072"/>
                  </a:lnTo>
                  <a:lnTo>
                    <a:pt x="1484757" y="212724"/>
                  </a:lnTo>
                  <a:lnTo>
                    <a:pt x="1486789" y="214121"/>
                  </a:lnTo>
                  <a:lnTo>
                    <a:pt x="1488694" y="197484"/>
                  </a:lnTo>
                  <a:lnTo>
                    <a:pt x="1494663" y="187959"/>
                  </a:lnTo>
                  <a:lnTo>
                    <a:pt x="1496695" y="192277"/>
                  </a:lnTo>
                  <a:lnTo>
                    <a:pt x="1498600" y="208787"/>
                  </a:lnTo>
                  <a:lnTo>
                    <a:pt x="1500632" y="201929"/>
                  </a:lnTo>
                  <a:lnTo>
                    <a:pt x="1502537" y="184149"/>
                  </a:lnTo>
                  <a:lnTo>
                    <a:pt x="1508506" y="173100"/>
                  </a:lnTo>
                  <a:lnTo>
                    <a:pt x="1510538" y="182879"/>
                  </a:lnTo>
                  <a:lnTo>
                    <a:pt x="1512443" y="196722"/>
                  </a:lnTo>
                  <a:lnTo>
                    <a:pt x="1514475" y="174497"/>
                  </a:lnTo>
                  <a:lnTo>
                    <a:pt x="1516380" y="191134"/>
                  </a:lnTo>
                  <a:lnTo>
                    <a:pt x="1522349" y="188594"/>
                  </a:lnTo>
                  <a:lnTo>
                    <a:pt x="1524381" y="205231"/>
                  </a:lnTo>
                  <a:lnTo>
                    <a:pt x="1526286" y="202437"/>
                  </a:lnTo>
                  <a:lnTo>
                    <a:pt x="1528318" y="198373"/>
                  </a:lnTo>
                  <a:lnTo>
                    <a:pt x="1530223" y="202564"/>
                  </a:lnTo>
                  <a:lnTo>
                    <a:pt x="1536192" y="224789"/>
                  </a:lnTo>
                  <a:lnTo>
                    <a:pt x="1538224" y="221995"/>
                  </a:lnTo>
                  <a:lnTo>
                    <a:pt x="1540129" y="210946"/>
                  </a:lnTo>
                  <a:lnTo>
                    <a:pt x="1542161" y="220725"/>
                  </a:lnTo>
                  <a:lnTo>
                    <a:pt x="1544066" y="223646"/>
                  </a:lnTo>
                  <a:lnTo>
                    <a:pt x="1550035" y="220852"/>
                  </a:lnTo>
                  <a:lnTo>
                    <a:pt x="1551940" y="226440"/>
                  </a:lnTo>
                  <a:lnTo>
                    <a:pt x="1553972" y="234822"/>
                  </a:lnTo>
                  <a:lnTo>
                    <a:pt x="1556004" y="252856"/>
                  </a:lnTo>
                  <a:lnTo>
                    <a:pt x="1556033" y="253545"/>
                  </a:lnTo>
                  <a:lnTo>
                    <a:pt x="1556242" y="258365"/>
                  </a:lnTo>
                  <a:lnTo>
                    <a:pt x="1556807" y="271448"/>
                  </a:lnTo>
                  <a:lnTo>
                    <a:pt x="1557909" y="296925"/>
                  </a:lnTo>
                  <a:lnTo>
                    <a:pt x="1563878" y="295782"/>
                  </a:lnTo>
                  <a:lnTo>
                    <a:pt x="1565783" y="313689"/>
                  </a:lnTo>
                  <a:lnTo>
                    <a:pt x="1565814" y="314209"/>
                  </a:lnTo>
                  <a:lnTo>
                    <a:pt x="1566037" y="317849"/>
                  </a:lnTo>
                  <a:lnTo>
                    <a:pt x="1566640" y="327727"/>
                  </a:lnTo>
                  <a:lnTo>
                    <a:pt x="1567815" y="346963"/>
                  </a:lnTo>
                  <a:lnTo>
                    <a:pt x="1569847" y="351154"/>
                  </a:lnTo>
                  <a:lnTo>
                    <a:pt x="1569876" y="351651"/>
                  </a:lnTo>
                  <a:lnTo>
                    <a:pt x="1570085" y="355123"/>
                  </a:lnTo>
                  <a:lnTo>
                    <a:pt x="1570650" y="364549"/>
                  </a:lnTo>
                  <a:lnTo>
                    <a:pt x="1571752" y="382904"/>
                  </a:lnTo>
                  <a:lnTo>
                    <a:pt x="1577721" y="402335"/>
                  </a:lnTo>
                  <a:lnTo>
                    <a:pt x="1579626" y="423036"/>
                  </a:lnTo>
                  <a:lnTo>
                    <a:pt x="1581658" y="431291"/>
                  </a:lnTo>
                  <a:lnTo>
                    <a:pt x="1583690" y="418972"/>
                  </a:lnTo>
                  <a:lnTo>
                    <a:pt x="1585595" y="420496"/>
                  </a:lnTo>
                  <a:lnTo>
                    <a:pt x="1591564" y="413638"/>
                  </a:lnTo>
                  <a:lnTo>
                    <a:pt x="1593469" y="419099"/>
                  </a:lnTo>
                  <a:lnTo>
                    <a:pt x="1595501" y="426084"/>
                  </a:lnTo>
                  <a:lnTo>
                    <a:pt x="1597533" y="410971"/>
                  </a:lnTo>
                  <a:lnTo>
                    <a:pt x="1599438" y="402716"/>
                  </a:lnTo>
                  <a:lnTo>
                    <a:pt x="1605407" y="395858"/>
                  </a:lnTo>
                  <a:lnTo>
                    <a:pt x="1607312" y="395858"/>
                  </a:lnTo>
                  <a:lnTo>
                    <a:pt x="1609344" y="408304"/>
                  </a:lnTo>
                  <a:lnTo>
                    <a:pt x="1611376" y="408431"/>
                  </a:lnTo>
                  <a:lnTo>
                    <a:pt x="1613281" y="404367"/>
                  </a:lnTo>
                  <a:lnTo>
                    <a:pt x="1619250" y="407161"/>
                  </a:lnTo>
                  <a:lnTo>
                    <a:pt x="1621155" y="400303"/>
                  </a:lnTo>
                  <a:lnTo>
                    <a:pt x="1623187" y="383793"/>
                  </a:lnTo>
                  <a:lnTo>
                    <a:pt x="1625219" y="374141"/>
                  </a:lnTo>
                  <a:lnTo>
                    <a:pt x="1627124" y="370077"/>
                  </a:lnTo>
                  <a:lnTo>
                    <a:pt x="1633093" y="372871"/>
                  </a:lnTo>
                  <a:lnTo>
                    <a:pt x="1634998" y="366013"/>
                  </a:lnTo>
                  <a:lnTo>
                    <a:pt x="1637030" y="371728"/>
                  </a:lnTo>
                  <a:lnTo>
                    <a:pt x="1638935" y="384047"/>
                  </a:lnTo>
                  <a:lnTo>
                    <a:pt x="1640967" y="386841"/>
                  </a:lnTo>
                  <a:lnTo>
                    <a:pt x="1646936" y="392429"/>
                  </a:lnTo>
                  <a:lnTo>
                    <a:pt x="1646965" y="392840"/>
                  </a:lnTo>
                  <a:lnTo>
                    <a:pt x="1647174" y="395716"/>
                  </a:lnTo>
                  <a:lnTo>
                    <a:pt x="1647739" y="403520"/>
                  </a:lnTo>
                  <a:lnTo>
                    <a:pt x="1648841" y="418718"/>
                  </a:lnTo>
                  <a:lnTo>
                    <a:pt x="1650873" y="407796"/>
                  </a:lnTo>
                  <a:lnTo>
                    <a:pt x="1650873" y="407796"/>
                  </a:lnTo>
                  <a:lnTo>
                    <a:pt x="1652777" y="421513"/>
                  </a:lnTo>
                  <a:lnTo>
                    <a:pt x="1662683" y="411988"/>
                  </a:lnTo>
                  <a:lnTo>
                    <a:pt x="1664716" y="425957"/>
                  </a:lnTo>
                  <a:lnTo>
                    <a:pt x="1666620" y="424688"/>
                  </a:lnTo>
                  <a:lnTo>
                    <a:pt x="1668652" y="427354"/>
                  </a:lnTo>
                  <a:lnTo>
                    <a:pt x="1674622" y="432942"/>
                  </a:lnTo>
                  <a:lnTo>
                    <a:pt x="1676527" y="442721"/>
                  </a:lnTo>
                  <a:lnTo>
                    <a:pt x="1678558" y="441324"/>
                  </a:lnTo>
                  <a:lnTo>
                    <a:pt x="1680464" y="452373"/>
                  </a:lnTo>
                  <a:lnTo>
                    <a:pt x="1682495" y="457961"/>
                  </a:lnTo>
                  <a:lnTo>
                    <a:pt x="1690370" y="464946"/>
                  </a:lnTo>
                  <a:lnTo>
                    <a:pt x="1690401" y="465399"/>
                  </a:lnTo>
                  <a:lnTo>
                    <a:pt x="1690624" y="468566"/>
                  </a:lnTo>
                  <a:lnTo>
                    <a:pt x="1691227" y="477162"/>
                  </a:lnTo>
                  <a:lnTo>
                    <a:pt x="1692402" y="493902"/>
                  </a:lnTo>
                  <a:lnTo>
                    <a:pt x="1694307" y="480313"/>
                  </a:lnTo>
                  <a:lnTo>
                    <a:pt x="1696339" y="482980"/>
                  </a:lnTo>
                  <a:lnTo>
                    <a:pt x="1696432" y="483393"/>
                  </a:lnTo>
                  <a:lnTo>
                    <a:pt x="1697085" y="486282"/>
                  </a:lnTo>
                  <a:lnTo>
                    <a:pt x="1698857" y="494125"/>
                  </a:lnTo>
                  <a:lnTo>
                    <a:pt x="1702308" y="509396"/>
                  </a:lnTo>
                  <a:lnTo>
                    <a:pt x="1704213" y="521715"/>
                  </a:lnTo>
                  <a:lnTo>
                    <a:pt x="1706245" y="503808"/>
                  </a:lnTo>
                  <a:lnTo>
                    <a:pt x="1708150" y="509396"/>
                  </a:lnTo>
                  <a:lnTo>
                    <a:pt x="1710182" y="510793"/>
                  </a:lnTo>
                  <a:lnTo>
                    <a:pt x="1716151" y="514984"/>
                  </a:lnTo>
                  <a:lnTo>
                    <a:pt x="1718056" y="520572"/>
                  </a:lnTo>
                  <a:lnTo>
                    <a:pt x="1720088" y="528954"/>
                  </a:lnTo>
                  <a:lnTo>
                    <a:pt x="1721993" y="528954"/>
                  </a:lnTo>
                  <a:lnTo>
                    <a:pt x="1724025" y="534415"/>
                  </a:lnTo>
                  <a:lnTo>
                    <a:pt x="1729994" y="527684"/>
                  </a:lnTo>
                  <a:lnTo>
                    <a:pt x="1731899" y="529082"/>
                  </a:lnTo>
                  <a:lnTo>
                    <a:pt x="1733931" y="527684"/>
                  </a:lnTo>
                  <a:lnTo>
                    <a:pt x="1735836" y="518159"/>
                  </a:lnTo>
                  <a:lnTo>
                    <a:pt x="1737868" y="513968"/>
                  </a:lnTo>
                  <a:lnTo>
                    <a:pt x="1743837" y="503173"/>
                  </a:lnTo>
                  <a:lnTo>
                    <a:pt x="1745742" y="505967"/>
                  </a:lnTo>
                  <a:lnTo>
                    <a:pt x="1747774" y="512825"/>
                  </a:lnTo>
                  <a:lnTo>
                    <a:pt x="1757680" y="517016"/>
                  </a:lnTo>
                  <a:lnTo>
                    <a:pt x="1759585" y="522731"/>
                  </a:lnTo>
                  <a:lnTo>
                    <a:pt x="1761617" y="524001"/>
                  </a:lnTo>
                  <a:lnTo>
                    <a:pt x="1763522" y="543305"/>
                  </a:lnTo>
                  <a:lnTo>
                    <a:pt x="1771523" y="542162"/>
                  </a:lnTo>
                  <a:lnTo>
                    <a:pt x="1771552" y="542938"/>
                  </a:lnTo>
                  <a:lnTo>
                    <a:pt x="1771761" y="548370"/>
                  </a:lnTo>
                  <a:lnTo>
                    <a:pt x="1772326" y="563112"/>
                  </a:lnTo>
                  <a:lnTo>
                    <a:pt x="1773427" y="591819"/>
                  </a:lnTo>
                  <a:lnTo>
                    <a:pt x="1773427" y="591819"/>
                  </a:lnTo>
                  <a:lnTo>
                    <a:pt x="1775460" y="601471"/>
                  </a:lnTo>
                  <a:lnTo>
                    <a:pt x="1777364" y="602868"/>
                  </a:lnTo>
                  <a:lnTo>
                    <a:pt x="1779397" y="608457"/>
                  </a:lnTo>
                  <a:lnTo>
                    <a:pt x="1785239" y="609854"/>
                  </a:lnTo>
                  <a:lnTo>
                    <a:pt x="1787270" y="612647"/>
                  </a:lnTo>
                  <a:lnTo>
                    <a:pt x="1789302" y="626490"/>
                  </a:lnTo>
                  <a:lnTo>
                    <a:pt x="1791208" y="630682"/>
                  </a:lnTo>
                  <a:lnTo>
                    <a:pt x="1793239" y="630682"/>
                  </a:lnTo>
                  <a:lnTo>
                    <a:pt x="1799082" y="637666"/>
                  </a:lnTo>
                  <a:lnTo>
                    <a:pt x="1801114" y="643127"/>
                  </a:lnTo>
                  <a:lnTo>
                    <a:pt x="1803145" y="654304"/>
                  </a:lnTo>
                  <a:lnTo>
                    <a:pt x="1805051" y="662432"/>
                  </a:lnTo>
                  <a:lnTo>
                    <a:pt x="1807083" y="669416"/>
                  </a:lnTo>
                  <a:lnTo>
                    <a:pt x="1812925" y="653033"/>
                  </a:lnTo>
                  <a:lnTo>
                    <a:pt x="1816989" y="665352"/>
                  </a:lnTo>
                  <a:lnTo>
                    <a:pt x="1818894" y="655827"/>
                  </a:lnTo>
                  <a:lnTo>
                    <a:pt x="1820926" y="666876"/>
                  </a:lnTo>
                  <a:lnTo>
                    <a:pt x="1826768" y="686307"/>
                  </a:lnTo>
                  <a:lnTo>
                    <a:pt x="1828800" y="690498"/>
                  </a:lnTo>
                  <a:lnTo>
                    <a:pt x="1828831" y="690913"/>
                  </a:lnTo>
                  <a:lnTo>
                    <a:pt x="1829054" y="693816"/>
                  </a:lnTo>
                  <a:lnTo>
                    <a:pt x="1829657" y="701696"/>
                  </a:lnTo>
                  <a:lnTo>
                    <a:pt x="1830832" y="717041"/>
                  </a:lnTo>
                  <a:lnTo>
                    <a:pt x="1830832" y="717041"/>
                  </a:lnTo>
                  <a:lnTo>
                    <a:pt x="1832737" y="736599"/>
                  </a:lnTo>
                  <a:lnTo>
                    <a:pt x="1834769" y="748918"/>
                  </a:lnTo>
                  <a:lnTo>
                    <a:pt x="1840611" y="746505"/>
                  </a:lnTo>
                  <a:lnTo>
                    <a:pt x="1842643" y="745616"/>
                  </a:lnTo>
                  <a:lnTo>
                    <a:pt x="1844675" y="753109"/>
                  </a:lnTo>
                  <a:lnTo>
                    <a:pt x="1846580" y="744346"/>
                  </a:lnTo>
                  <a:lnTo>
                    <a:pt x="1848612" y="725804"/>
                  </a:lnTo>
                  <a:lnTo>
                    <a:pt x="1854454" y="712851"/>
                  </a:lnTo>
                  <a:lnTo>
                    <a:pt x="1856486" y="705611"/>
                  </a:lnTo>
                  <a:lnTo>
                    <a:pt x="1858391" y="704722"/>
                  </a:lnTo>
                  <a:lnTo>
                    <a:pt x="1860423" y="706882"/>
                  </a:lnTo>
                  <a:lnTo>
                    <a:pt x="1862455" y="692276"/>
                  </a:lnTo>
                  <a:lnTo>
                    <a:pt x="1868297" y="675766"/>
                  </a:lnTo>
                  <a:lnTo>
                    <a:pt x="1870329" y="682751"/>
                  </a:lnTo>
                  <a:lnTo>
                    <a:pt x="1872233" y="675893"/>
                  </a:lnTo>
                  <a:lnTo>
                    <a:pt x="1874266" y="669035"/>
                  </a:lnTo>
                  <a:lnTo>
                    <a:pt x="1876298" y="656716"/>
                  </a:lnTo>
                  <a:lnTo>
                    <a:pt x="1882139" y="656716"/>
                  </a:lnTo>
                  <a:lnTo>
                    <a:pt x="1884172" y="644397"/>
                  </a:lnTo>
                  <a:lnTo>
                    <a:pt x="1886077" y="638936"/>
                  </a:lnTo>
                  <a:lnTo>
                    <a:pt x="1888108" y="640333"/>
                  </a:lnTo>
                  <a:lnTo>
                    <a:pt x="1890141" y="626618"/>
                  </a:lnTo>
                  <a:lnTo>
                    <a:pt x="1895983" y="632205"/>
                  </a:lnTo>
                  <a:lnTo>
                    <a:pt x="1898014" y="630935"/>
                  </a:lnTo>
                  <a:lnTo>
                    <a:pt x="1899920" y="633602"/>
                  </a:lnTo>
                  <a:lnTo>
                    <a:pt x="1901952" y="641984"/>
                  </a:lnTo>
                  <a:lnTo>
                    <a:pt x="1903983" y="639190"/>
                  </a:lnTo>
                  <a:lnTo>
                    <a:pt x="1909826" y="650366"/>
                  </a:lnTo>
                  <a:lnTo>
                    <a:pt x="1911858" y="661415"/>
                  </a:lnTo>
                  <a:lnTo>
                    <a:pt x="1913763" y="655827"/>
                  </a:lnTo>
                  <a:lnTo>
                    <a:pt x="1915795" y="657351"/>
                  </a:lnTo>
                  <a:lnTo>
                    <a:pt x="1917827" y="653160"/>
                  </a:lnTo>
                  <a:lnTo>
                    <a:pt x="1925701" y="647826"/>
                  </a:lnTo>
                  <a:lnTo>
                    <a:pt x="1927606" y="661669"/>
                  </a:lnTo>
                  <a:lnTo>
                    <a:pt x="1929638" y="668401"/>
                  </a:lnTo>
                  <a:lnTo>
                    <a:pt x="1931543" y="693293"/>
                  </a:lnTo>
                  <a:lnTo>
                    <a:pt x="1937512" y="679576"/>
                  </a:lnTo>
                  <a:lnTo>
                    <a:pt x="1939544" y="676909"/>
                  </a:lnTo>
                  <a:lnTo>
                    <a:pt x="1941449" y="682370"/>
                  </a:lnTo>
                  <a:lnTo>
                    <a:pt x="1943481" y="682370"/>
                  </a:lnTo>
                  <a:lnTo>
                    <a:pt x="1945386" y="679704"/>
                  </a:lnTo>
                  <a:lnTo>
                    <a:pt x="1951355" y="678433"/>
                  </a:lnTo>
                  <a:lnTo>
                    <a:pt x="1953387" y="672972"/>
                  </a:lnTo>
                  <a:lnTo>
                    <a:pt x="1955292" y="679830"/>
                  </a:lnTo>
                  <a:lnTo>
                    <a:pt x="1957324" y="684021"/>
                  </a:lnTo>
                  <a:lnTo>
                    <a:pt x="1959229" y="684148"/>
                  </a:lnTo>
                  <a:lnTo>
                    <a:pt x="1967230" y="693801"/>
                  </a:lnTo>
                  <a:lnTo>
                    <a:pt x="1969135" y="702055"/>
                  </a:lnTo>
                  <a:lnTo>
                    <a:pt x="1971167" y="704849"/>
                  </a:lnTo>
                  <a:lnTo>
                    <a:pt x="1973072" y="721105"/>
                  </a:lnTo>
                  <a:lnTo>
                    <a:pt x="1979041" y="721105"/>
                  </a:lnTo>
                  <a:lnTo>
                    <a:pt x="1981073" y="734821"/>
                  </a:lnTo>
                  <a:lnTo>
                    <a:pt x="1982977" y="751458"/>
                  </a:lnTo>
                  <a:lnTo>
                    <a:pt x="1985010" y="766698"/>
                  </a:lnTo>
                  <a:lnTo>
                    <a:pt x="1986914" y="771016"/>
                  </a:lnTo>
                  <a:lnTo>
                    <a:pt x="1992883" y="772794"/>
                  </a:lnTo>
                  <a:lnTo>
                    <a:pt x="1994916" y="775715"/>
                  </a:lnTo>
                  <a:lnTo>
                    <a:pt x="1996820" y="759079"/>
                  </a:lnTo>
                  <a:lnTo>
                    <a:pt x="1998852" y="767715"/>
                  </a:lnTo>
                  <a:lnTo>
                    <a:pt x="2000758" y="781811"/>
                  </a:lnTo>
                  <a:lnTo>
                    <a:pt x="2006727" y="772921"/>
                  </a:lnTo>
                  <a:lnTo>
                    <a:pt x="2008758" y="782701"/>
                  </a:lnTo>
                  <a:lnTo>
                    <a:pt x="2010664" y="800607"/>
                  </a:lnTo>
                  <a:lnTo>
                    <a:pt x="2012695" y="794511"/>
                  </a:lnTo>
                  <a:lnTo>
                    <a:pt x="2014601" y="819657"/>
                  </a:lnTo>
                  <a:lnTo>
                    <a:pt x="2020570" y="820038"/>
                  </a:lnTo>
                  <a:lnTo>
                    <a:pt x="2022602" y="821054"/>
                  </a:lnTo>
                  <a:lnTo>
                    <a:pt x="2024507" y="814069"/>
                  </a:lnTo>
                  <a:lnTo>
                    <a:pt x="2026539" y="822959"/>
                  </a:lnTo>
                  <a:lnTo>
                    <a:pt x="2028444" y="834008"/>
                  </a:lnTo>
                  <a:lnTo>
                    <a:pt x="2034413" y="849629"/>
                  </a:lnTo>
                  <a:lnTo>
                    <a:pt x="2036445" y="847216"/>
                  </a:lnTo>
                  <a:lnTo>
                    <a:pt x="2038350" y="853820"/>
                  </a:lnTo>
                  <a:lnTo>
                    <a:pt x="2040382" y="830452"/>
                  </a:lnTo>
                  <a:lnTo>
                    <a:pt x="2042287" y="820419"/>
                  </a:lnTo>
                  <a:lnTo>
                    <a:pt x="2048256" y="819022"/>
                  </a:lnTo>
                  <a:lnTo>
                    <a:pt x="2050288" y="820419"/>
                  </a:lnTo>
                  <a:lnTo>
                    <a:pt x="2052193" y="818895"/>
                  </a:lnTo>
                  <a:lnTo>
                    <a:pt x="2054225" y="821054"/>
                  </a:lnTo>
                  <a:lnTo>
                    <a:pt x="2056130" y="826643"/>
                  </a:lnTo>
                  <a:lnTo>
                    <a:pt x="2062099" y="823721"/>
                  </a:lnTo>
                  <a:lnTo>
                    <a:pt x="2064131" y="829818"/>
                  </a:lnTo>
                  <a:lnTo>
                    <a:pt x="2066036" y="813562"/>
                  </a:lnTo>
                  <a:lnTo>
                    <a:pt x="2068068" y="807211"/>
                  </a:lnTo>
                  <a:lnTo>
                    <a:pt x="2069973" y="804926"/>
                  </a:lnTo>
                  <a:lnTo>
                    <a:pt x="2070066" y="804529"/>
                  </a:lnTo>
                  <a:lnTo>
                    <a:pt x="2070719" y="801751"/>
                  </a:lnTo>
                  <a:lnTo>
                    <a:pt x="2072491" y="794210"/>
                  </a:lnTo>
                  <a:lnTo>
                    <a:pt x="2075942" y="779526"/>
                  </a:lnTo>
                  <a:lnTo>
                    <a:pt x="2077847" y="764540"/>
                  </a:lnTo>
                  <a:lnTo>
                    <a:pt x="2079879" y="763143"/>
                  </a:lnTo>
                  <a:lnTo>
                    <a:pt x="2081911" y="740918"/>
                  </a:lnTo>
                  <a:lnTo>
                    <a:pt x="2083816" y="744219"/>
                  </a:lnTo>
                  <a:lnTo>
                    <a:pt x="2089785" y="747521"/>
                  </a:lnTo>
                  <a:lnTo>
                    <a:pt x="2091689" y="749680"/>
                  </a:lnTo>
                  <a:lnTo>
                    <a:pt x="2093722" y="746379"/>
                  </a:lnTo>
                  <a:lnTo>
                    <a:pt x="2095754" y="738377"/>
                  </a:lnTo>
                  <a:lnTo>
                    <a:pt x="2097659" y="732535"/>
                  </a:lnTo>
                  <a:lnTo>
                    <a:pt x="2103628" y="728598"/>
                  </a:lnTo>
                  <a:lnTo>
                    <a:pt x="2105533" y="723010"/>
                  </a:lnTo>
                  <a:lnTo>
                    <a:pt x="2107565" y="713740"/>
                  </a:lnTo>
                  <a:lnTo>
                    <a:pt x="2109597" y="708405"/>
                  </a:lnTo>
                  <a:lnTo>
                    <a:pt x="2111502" y="688974"/>
                  </a:lnTo>
                  <a:lnTo>
                    <a:pt x="2117471" y="679449"/>
                  </a:lnTo>
                  <a:lnTo>
                    <a:pt x="2119376" y="672591"/>
                  </a:lnTo>
                  <a:lnTo>
                    <a:pt x="2121408" y="676782"/>
                  </a:lnTo>
                  <a:lnTo>
                    <a:pt x="2123440" y="675385"/>
                  </a:lnTo>
                  <a:lnTo>
                    <a:pt x="2125345" y="669924"/>
                  </a:lnTo>
                  <a:lnTo>
                    <a:pt x="2131314" y="671448"/>
                  </a:lnTo>
                  <a:lnTo>
                    <a:pt x="2133219" y="683894"/>
                  </a:lnTo>
                  <a:lnTo>
                    <a:pt x="2135251" y="660526"/>
                  </a:lnTo>
                  <a:lnTo>
                    <a:pt x="2137283" y="659129"/>
                  </a:lnTo>
                  <a:lnTo>
                    <a:pt x="2139188" y="649604"/>
                  </a:lnTo>
                  <a:lnTo>
                    <a:pt x="2145157" y="656590"/>
                  </a:lnTo>
                  <a:lnTo>
                    <a:pt x="2147062" y="678433"/>
                  </a:lnTo>
                  <a:lnTo>
                    <a:pt x="2149094" y="673099"/>
                  </a:lnTo>
                  <a:lnTo>
                    <a:pt x="2150999" y="668908"/>
                  </a:lnTo>
                  <a:lnTo>
                    <a:pt x="2162937" y="666368"/>
                  </a:lnTo>
                  <a:lnTo>
                    <a:pt x="2164842" y="678815"/>
                  </a:lnTo>
                  <a:lnTo>
                    <a:pt x="2166874" y="677544"/>
                  </a:lnTo>
                  <a:lnTo>
                    <a:pt x="2174748" y="681608"/>
                  </a:lnTo>
                  <a:lnTo>
                    <a:pt x="2176780" y="674877"/>
                  </a:lnTo>
                  <a:lnTo>
                    <a:pt x="2178685" y="666622"/>
                  </a:lnTo>
                  <a:lnTo>
                    <a:pt x="2180717" y="663955"/>
                  </a:lnTo>
                  <a:lnTo>
                    <a:pt x="2186686" y="655701"/>
                  </a:lnTo>
                  <a:lnTo>
                    <a:pt x="2186715" y="655274"/>
                  </a:lnTo>
                  <a:lnTo>
                    <a:pt x="2186924" y="652287"/>
                  </a:lnTo>
                  <a:lnTo>
                    <a:pt x="2187489" y="644181"/>
                  </a:lnTo>
                  <a:lnTo>
                    <a:pt x="2188591" y="628395"/>
                  </a:lnTo>
                  <a:lnTo>
                    <a:pt x="2188622" y="628868"/>
                  </a:lnTo>
                  <a:lnTo>
                    <a:pt x="2188845" y="632174"/>
                  </a:lnTo>
                  <a:lnTo>
                    <a:pt x="2189448" y="641147"/>
                  </a:lnTo>
                  <a:lnTo>
                    <a:pt x="2190623" y="658621"/>
                  </a:lnTo>
                  <a:lnTo>
                    <a:pt x="2190652" y="658086"/>
                  </a:lnTo>
                  <a:lnTo>
                    <a:pt x="2190861" y="654335"/>
                  </a:lnTo>
                  <a:lnTo>
                    <a:pt x="2191426" y="644155"/>
                  </a:lnTo>
                  <a:lnTo>
                    <a:pt x="2192528" y="624332"/>
                  </a:lnTo>
                  <a:lnTo>
                    <a:pt x="2194560" y="613409"/>
                  </a:lnTo>
                  <a:lnTo>
                    <a:pt x="2200529" y="605282"/>
                  </a:lnTo>
                  <a:lnTo>
                    <a:pt x="2202434" y="618997"/>
                  </a:lnTo>
                  <a:lnTo>
                    <a:pt x="2204466" y="618997"/>
                  </a:lnTo>
                  <a:lnTo>
                    <a:pt x="2206371" y="602615"/>
                  </a:lnTo>
                  <a:lnTo>
                    <a:pt x="2208403" y="602615"/>
                  </a:lnTo>
                  <a:lnTo>
                    <a:pt x="2214372" y="608202"/>
                  </a:lnTo>
                  <a:lnTo>
                    <a:pt x="2216277" y="606805"/>
                  </a:lnTo>
                  <a:lnTo>
                    <a:pt x="2218309" y="604138"/>
                  </a:lnTo>
                  <a:lnTo>
                    <a:pt x="2220214" y="601471"/>
                  </a:lnTo>
                  <a:lnTo>
                    <a:pt x="2222246" y="601471"/>
                  </a:lnTo>
                  <a:lnTo>
                    <a:pt x="2222246" y="601471"/>
                  </a:lnTo>
                  <a:lnTo>
                    <a:pt x="2228215" y="601598"/>
                  </a:lnTo>
                  <a:lnTo>
                    <a:pt x="2230120" y="605790"/>
                  </a:lnTo>
                  <a:lnTo>
                    <a:pt x="2232152" y="611251"/>
                  </a:lnTo>
                  <a:lnTo>
                    <a:pt x="2234057" y="601726"/>
                  </a:lnTo>
                  <a:lnTo>
                    <a:pt x="2234088" y="601253"/>
                  </a:lnTo>
                  <a:lnTo>
                    <a:pt x="2234311" y="597947"/>
                  </a:lnTo>
                  <a:lnTo>
                    <a:pt x="2234914" y="588974"/>
                  </a:lnTo>
                  <a:lnTo>
                    <a:pt x="2236089" y="571499"/>
                  </a:lnTo>
                  <a:lnTo>
                    <a:pt x="2236089" y="571499"/>
                  </a:lnTo>
                  <a:lnTo>
                    <a:pt x="2242058" y="594868"/>
                  </a:lnTo>
                  <a:lnTo>
                    <a:pt x="2243963" y="608710"/>
                  </a:lnTo>
                  <a:lnTo>
                    <a:pt x="2245995" y="618362"/>
                  </a:lnTo>
                  <a:lnTo>
                    <a:pt x="2247900" y="621029"/>
                  </a:lnTo>
                  <a:lnTo>
                    <a:pt x="2249932" y="618362"/>
                  </a:lnTo>
                  <a:lnTo>
                    <a:pt x="2255901" y="638936"/>
                  </a:lnTo>
                  <a:lnTo>
                    <a:pt x="2257806" y="640333"/>
                  </a:lnTo>
                  <a:lnTo>
                    <a:pt x="2259838" y="641857"/>
                  </a:lnTo>
                  <a:lnTo>
                    <a:pt x="2261743" y="647318"/>
                  </a:lnTo>
                  <a:lnTo>
                    <a:pt x="2263775" y="652779"/>
                  </a:lnTo>
                  <a:lnTo>
                    <a:pt x="2269744" y="658494"/>
                  </a:lnTo>
                  <a:lnTo>
                    <a:pt x="2271649" y="659765"/>
                  </a:lnTo>
                  <a:lnTo>
                    <a:pt x="2273681" y="678941"/>
                  </a:lnTo>
                  <a:lnTo>
                    <a:pt x="2275586" y="672083"/>
                  </a:lnTo>
                  <a:lnTo>
                    <a:pt x="2277618" y="663955"/>
                  </a:lnTo>
                  <a:lnTo>
                    <a:pt x="2283587" y="675004"/>
                  </a:lnTo>
                  <a:lnTo>
                    <a:pt x="2285492" y="661415"/>
                  </a:lnTo>
                  <a:lnTo>
                    <a:pt x="2287524" y="666876"/>
                  </a:lnTo>
                  <a:lnTo>
                    <a:pt x="2289429" y="681990"/>
                  </a:lnTo>
                  <a:lnTo>
                    <a:pt x="2291461" y="684783"/>
                  </a:lnTo>
                  <a:lnTo>
                    <a:pt x="2297303" y="686180"/>
                  </a:lnTo>
                  <a:lnTo>
                    <a:pt x="2299335" y="679322"/>
                  </a:lnTo>
                  <a:lnTo>
                    <a:pt x="2301367" y="680846"/>
                  </a:lnTo>
                  <a:lnTo>
                    <a:pt x="2303272" y="671321"/>
                  </a:lnTo>
                  <a:lnTo>
                    <a:pt x="2305304" y="676782"/>
                  </a:lnTo>
                  <a:lnTo>
                    <a:pt x="2311146" y="680973"/>
                  </a:lnTo>
                  <a:lnTo>
                    <a:pt x="2313178" y="672718"/>
                  </a:lnTo>
                  <a:lnTo>
                    <a:pt x="2315210" y="679576"/>
                  </a:lnTo>
                  <a:lnTo>
                    <a:pt x="2317115" y="670051"/>
                  </a:lnTo>
                  <a:lnTo>
                    <a:pt x="2319147" y="681101"/>
                  </a:lnTo>
                  <a:lnTo>
                    <a:pt x="2324989" y="688085"/>
                  </a:lnTo>
                  <a:lnTo>
                    <a:pt x="2327021" y="689355"/>
                  </a:lnTo>
                  <a:lnTo>
                    <a:pt x="2329053" y="686688"/>
                  </a:lnTo>
                  <a:lnTo>
                    <a:pt x="2330958" y="685291"/>
                  </a:lnTo>
                  <a:lnTo>
                    <a:pt x="2332990" y="681354"/>
                  </a:lnTo>
                  <a:lnTo>
                    <a:pt x="2338832" y="679957"/>
                  </a:lnTo>
                  <a:lnTo>
                    <a:pt x="2340864" y="686815"/>
                  </a:lnTo>
                  <a:lnTo>
                    <a:pt x="2342896" y="692276"/>
                  </a:lnTo>
                  <a:lnTo>
                    <a:pt x="2344801" y="700658"/>
                  </a:lnTo>
                  <a:lnTo>
                    <a:pt x="2346833" y="681482"/>
                  </a:lnTo>
                  <a:lnTo>
                    <a:pt x="2352675" y="678815"/>
                  </a:lnTo>
                  <a:lnTo>
                    <a:pt x="2354707" y="665098"/>
                  </a:lnTo>
                  <a:lnTo>
                    <a:pt x="2356739" y="658368"/>
                  </a:lnTo>
                  <a:lnTo>
                    <a:pt x="2358644" y="661161"/>
                  </a:lnTo>
                  <a:lnTo>
                    <a:pt x="2368550" y="662558"/>
                  </a:lnTo>
                  <a:lnTo>
                    <a:pt x="2370455" y="670813"/>
                  </a:lnTo>
                  <a:lnTo>
                    <a:pt x="2372487" y="668146"/>
                  </a:lnTo>
                  <a:lnTo>
                    <a:pt x="2374519" y="668273"/>
                  </a:lnTo>
                  <a:lnTo>
                    <a:pt x="2380361" y="672337"/>
                  </a:lnTo>
                  <a:lnTo>
                    <a:pt x="2382393" y="673734"/>
                  </a:lnTo>
                  <a:lnTo>
                    <a:pt x="2384298" y="673861"/>
                  </a:lnTo>
                  <a:lnTo>
                    <a:pt x="2386330" y="681990"/>
                  </a:lnTo>
                  <a:lnTo>
                    <a:pt x="2388362" y="679322"/>
                  </a:lnTo>
                  <a:lnTo>
                    <a:pt x="2394204" y="682116"/>
                  </a:lnTo>
                  <a:lnTo>
                    <a:pt x="2396236" y="680846"/>
                  </a:lnTo>
                  <a:lnTo>
                    <a:pt x="2398141" y="675258"/>
                  </a:lnTo>
                  <a:lnTo>
                    <a:pt x="2400173" y="672591"/>
                  </a:lnTo>
                  <a:lnTo>
                    <a:pt x="2402205" y="678179"/>
                  </a:lnTo>
                  <a:lnTo>
                    <a:pt x="2410079" y="672718"/>
                  </a:lnTo>
                  <a:lnTo>
                    <a:pt x="2411984" y="674243"/>
                  </a:lnTo>
                  <a:lnTo>
                    <a:pt x="2414016" y="681101"/>
                  </a:lnTo>
                  <a:lnTo>
                    <a:pt x="2416048" y="670179"/>
                  </a:lnTo>
                  <a:lnTo>
                    <a:pt x="2423922" y="675640"/>
                  </a:lnTo>
                  <a:lnTo>
                    <a:pt x="2425827" y="679830"/>
                  </a:lnTo>
                  <a:lnTo>
                    <a:pt x="2427859" y="678433"/>
                  </a:lnTo>
                  <a:lnTo>
                    <a:pt x="2429891" y="674496"/>
                  </a:lnTo>
                  <a:lnTo>
                    <a:pt x="2435733" y="674623"/>
                  </a:lnTo>
                  <a:lnTo>
                    <a:pt x="2437765" y="684148"/>
                  </a:lnTo>
                  <a:lnTo>
                    <a:pt x="2439670" y="697865"/>
                  </a:lnTo>
                  <a:lnTo>
                    <a:pt x="2441702" y="691133"/>
                  </a:lnTo>
                  <a:lnTo>
                    <a:pt x="2443607" y="703452"/>
                  </a:lnTo>
                  <a:lnTo>
                    <a:pt x="2449576" y="703452"/>
                  </a:lnTo>
                  <a:lnTo>
                    <a:pt x="2451608" y="706246"/>
                  </a:lnTo>
                  <a:lnTo>
                    <a:pt x="2453513" y="698118"/>
                  </a:lnTo>
                  <a:lnTo>
                    <a:pt x="2455545" y="707770"/>
                  </a:lnTo>
                  <a:lnTo>
                    <a:pt x="2457450" y="702182"/>
                  </a:lnTo>
                  <a:lnTo>
                    <a:pt x="2465451" y="714629"/>
                  </a:lnTo>
                  <a:lnTo>
                    <a:pt x="2467356" y="696848"/>
                  </a:lnTo>
                  <a:lnTo>
                    <a:pt x="2469388" y="695451"/>
                  </a:lnTo>
                  <a:lnTo>
                    <a:pt x="2471293" y="692784"/>
                  </a:lnTo>
                  <a:lnTo>
                    <a:pt x="2477262" y="699769"/>
                  </a:lnTo>
                  <a:lnTo>
                    <a:pt x="2479294" y="684783"/>
                  </a:lnTo>
                  <a:lnTo>
                    <a:pt x="2481199" y="686180"/>
                  </a:lnTo>
                  <a:lnTo>
                    <a:pt x="2483231" y="687577"/>
                  </a:lnTo>
                  <a:lnTo>
                    <a:pt x="2491105" y="695832"/>
                  </a:lnTo>
                  <a:lnTo>
                    <a:pt x="2493137" y="683640"/>
                  </a:lnTo>
                  <a:lnTo>
                    <a:pt x="2495042" y="682243"/>
                  </a:lnTo>
                  <a:lnTo>
                    <a:pt x="2497074" y="678179"/>
                  </a:lnTo>
                  <a:lnTo>
                    <a:pt x="2498979" y="676782"/>
                  </a:lnTo>
                  <a:lnTo>
                    <a:pt x="2504948" y="675512"/>
                  </a:lnTo>
                  <a:lnTo>
                    <a:pt x="2506980" y="676909"/>
                  </a:lnTo>
                  <a:lnTo>
                    <a:pt x="2508885" y="672845"/>
                  </a:lnTo>
                  <a:lnTo>
                    <a:pt x="2510917" y="674243"/>
                  </a:lnTo>
                  <a:lnTo>
                    <a:pt x="2512822" y="672972"/>
                  </a:lnTo>
                  <a:lnTo>
                    <a:pt x="2518791" y="670305"/>
                  </a:lnTo>
                  <a:lnTo>
                    <a:pt x="2520823" y="666241"/>
                  </a:lnTo>
                  <a:lnTo>
                    <a:pt x="2522728" y="667638"/>
                  </a:lnTo>
                  <a:lnTo>
                    <a:pt x="2524760" y="668908"/>
                  </a:lnTo>
                  <a:lnTo>
                    <a:pt x="2526665" y="675893"/>
                  </a:lnTo>
                  <a:lnTo>
                    <a:pt x="2532634" y="670559"/>
                  </a:lnTo>
                  <a:lnTo>
                    <a:pt x="2534666" y="678687"/>
                  </a:lnTo>
                  <a:lnTo>
                    <a:pt x="2538603" y="669162"/>
                  </a:lnTo>
                  <a:lnTo>
                    <a:pt x="2540508" y="688340"/>
                  </a:lnTo>
                  <a:lnTo>
                    <a:pt x="2546477" y="692530"/>
                  </a:lnTo>
                  <a:lnTo>
                    <a:pt x="2548509" y="692530"/>
                  </a:lnTo>
                  <a:lnTo>
                    <a:pt x="2550414" y="684402"/>
                  </a:lnTo>
                  <a:lnTo>
                    <a:pt x="2552446" y="678941"/>
                  </a:lnTo>
                  <a:lnTo>
                    <a:pt x="2554351" y="658621"/>
                  </a:lnTo>
                  <a:lnTo>
                    <a:pt x="2560320" y="655827"/>
                  </a:lnTo>
                  <a:lnTo>
                    <a:pt x="2562352" y="655827"/>
                  </a:lnTo>
                  <a:lnTo>
                    <a:pt x="2564257" y="654557"/>
                  </a:lnTo>
                  <a:lnTo>
                    <a:pt x="2566289" y="657351"/>
                  </a:lnTo>
                  <a:lnTo>
                    <a:pt x="2568194" y="672337"/>
                  </a:lnTo>
                  <a:lnTo>
                    <a:pt x="2574163" y="672465"/>
                  </a:lnTo>
                  <a:lnTo>
                    <a:pt x="2576195" y="664336"/>
                  </a:lnTo>
                  <a:lnTo>
                    <a:pt x="2578100" y="667004"/>
                  </a:lnTo>
                  <a:lnTo>
                    <a:pt x="2580132" y="665607"/>
                  </a:lnTo>
                  <a:lnTo>
                    <a:pt x="2582037" y="664463"/>
                  </a:lnTo>
                  <a:lnTo>
                    <a:pt x="2588006" y="664463"/>
                  </a:lnTo>
                  <a:lnTo>
                    <a:pt x="2589911" y="656208"/>
                  </a:lnTo>
                  <a:lnTo>
                    <a:pt x="2591943" y="665860"/>
                  </a:lnTo>
                  <a:lnTo>
                    <a:pt x="2593975" y="685037"/>
                  </a:lnTo>
                  <a:lnTo>
                    <a:pt x="2595880" y="693293"/>
                  </a:lnTo>
                  <a:lnTo>
                    <a:pt x="2601849" y="685165"/>
                  </a:lnTo>
                  <a:lnTo>
                    <a:pt x="2603754" y="677036"/>
                  </a:lnTo>
                  <a:lnTo>
                    <a:pt x="2605786" y="671576"/>
                  </a:lnTo>
                  <a:lnTo>
                    <a:pt x="2607818" y="671702"/>
                  </a:lnTo>
                  <a:lnTo>
                    <a:pt x="2609723" y="670305"/>
                  </a:lnTo>
                  <a:lnTo>
                    <a:pt x="2615692" y="673099"/>
                  </a:lnTo>
                  <a:lnTo>
                    <a:pt x="2617597" y="681354"/>
                  </a:lnTo>
                  <a:lnTo>
                    <a:pt x="2619629" y="689482"/>
                  </a:lnTo>
                  <a:lnTo>
                    <a:pt x="2621661" y="693673"/>
                  </a:lnTo>
                  <a:lnTo>
                    <a:pt x="2623566" y="697865"/>
                  </a:lnTo>
                  <a:lnTo>
                    <a:pt x="2629535" y="696468"/>
                  </a:lnTo>
                  <a:lnTo>
                    <a:pt x="2631440" y="703326"/>
                  </a:lnTo>
                  <a:lnTo>
                    <a:pt x="2633472" y="701929"/>
                  </a:lnTo>
                  <a:lnTo>
                    <a:pt x="2635504" y="692404"/>
                  </a:lnTo>
                  <a:lnTo>
                    <a:pt x="2637409" y="688340"/>
                  </a:lnTo>
                  <a:lnTo>
                    <a:pt x="2645283" y="691260"/>
                  </a:lnTo>
                  <a:lnTo>
                    <a:pt x="2647315" y="685799"/>
                  </a:lnTo>
                  <a:lnTo>
                    <a:pt x="2649347" y="687196"/>
                  </a:lnTo>
                  <a:lnTo>
                    <a:pt x="2651252" y="687323"/>
                  </a:lnTo>
                  <a:lnTo>
                    <a:pt x="2657221" y="691515"/>
                  </a:lnTo>
                  <a:lnTo>
                    <a:pt x="2659126" y="691515"/>
                  </a:lnTo>
                  <a:lnTo>
                    <a:pt x="2661158" y="695579"/>
                  </a:lnTo>
                  <a:lnTo>
                    <a:pt x="2663063" y="698245"/>
                  </a:lnTo>
                  <a:lnTo>
                    <a:pt x="2665095" y="696976"/>
                  </a:lnTo>
                  <a:lnTo>
                    <a:pt x="2671064" y="690244"/>
                  </a:lnTo>
                  <a:lnTo>
                    <a:pt x="2672969" y="693038"/>
                  </a:lnTo>
                  <a:lnTo>
                    <a:pt x="2675001" y="694435"/>
                  </a:lnTo>
                  <a:lnTo>
                    <a:pt x="2676906" y="693038"/>
                  </a:lnTo>
                  <a:lnTo>
                    <a:pt x="2678938" y="691641"/>
                  </a:lnTo>
                  <a:lnTo>
                    <a:pt x="2684907" y="693165"/>
                  </a:lnTo>
                  <a:lnTo>
                    <a:pt x="2686812" y="694690"/>
                  </a:lnTo>
                  <a:lnTo>
                    <a:pt x="2688844" y="694690"/>
                  </a:lnTo>
                  <a:lnTo>
                    <a:pt x="2690749" y="693293"/>
                  </a:lnTo>
                  <a:lnTo>
                    <a:pt x="2692781" y="707008"/>
                  </a:lnTo>
                  <a:lnTo>
                    <a:pt x="2698750" y="707008"/>
                  </a:lnTo>
                  <a:lnTo>
                    <a:pt x="2700655" y="713866"/>
                  </a:lnTo>
                  <a:lnTo>
                    <a:pt x="2702687" y="715263"/>
                  </a:lnTo>
                  <a:lnTo>
                    <a:pt x="2704592" y="717549"/>
                  </a:lnTo>
                  <a:lnTo>
                    <a:pt x="2706624" y="725677"/>
                  </a:lnTo>
                  <a:lnTo>
                    <a:pt x="2712593" y="720979"/>
                  </a:lnTo>
                  <a:lnTo>
                    <a:pt x="2714498" y="731901"/>
                  </a:lnTo>
                  <a:lnTo>
                    <a:pt x="2716530" y="744219"/>
                  </a:lnTo>
                  <a:lnTo>
                    <a:pt x="2718435" y="746759"/>
                  </a:lnTo>
                  <a:lnTo>
                    <a:pt x="2720467" y="747648"/>
                  </a:lnTo>
                  <a:lnTo>
                    <a:pt x="2726436" y="761110"/>
                  </a:lnTo>
                  <a:lnTo>
                    <a:pt x="2728341" y="754379"/>
                  </a:lnTo>
                  <a:lnTo>
                    <a:pt x="2730373" y="745743"/>
                  </a:lnTo>
                  <a:lnTo>
                    <a:pt x="2732278" y="742187"/>
                  </a:lnTo>
                  <a:lnTo>
                    <a:pt x="2734310" y="755268"/>
                  </a:lnTo>
                  <a:lnTo>
                    <a:pt x="2740279" y="748157"/>
                  </a:lnTo>
                  <a:lnTo>
                    <a:pt x="2742184" y="752729"/>
                  </a:lnTo>
                  <a:lnTo>
                    <a:pt x="2744216" y="756538"/>
                  </a:lnTo>
                  <a:lnTo>
                    <a:pt x="2746121" y="766318"/>
                  </a:lnTo>
                  <a:lnTo>
                    <a:pt x="2748153" y="768349"/>
                  </a:lnTo>
                  <a:lnTo>
                    <a:pt x="2754122" y="770508"/>
                  </a:lnTo>
                  <a:lnTo>
                    <a:pt x="2756027" y="768730"/>
                  </a:lnTo>
                  <a:lnTo>
                    <a:pt x="2758059" y="762126"/>
                  </a:lnTo>
                  <a:lnTo>
                    <a:pt x="2759964" y="763777"/>
                  </a:lnTo>
                  <a:lnTo>
                    <a:pt x="2761996" y="764666"/>
                  </a:lnTo>
                  <a:lnTo>
                    <a:pt x="2767965" y="760857"/>
                  </a:lnTo>
                  <a:lnTo>
                    <a:pt x="2769870" y="760857"/>
                  </a:lnTo>
                  <a:lnTo>
                    <a:pt x="2771902" y="755904"/>
                  </a:lnTo>
                  <a:lnTo>
                    <a:pt x="2773807" y="753871"/>
                  </a:lnTo>
                  <a:lnTo>
                    <a:pt x="2775839" y="740282"/>
                  </a:lnTo>
                  <a:lnTo>
                    <a:pt x="2781808" y="725677"/>
                  </a:lnTo>
                  <a:lnTo>
                    <a:pt x="2783713" y="730376"/>
                  </a:lnTo>
                  <a:lnTo>
                    <a:pt x="2785745" y="729107"/>
                  </a:lnTo>
                  <a:lnTo>
                    <a:pt x="2787650" y="725423"/>
                  </a:lnTo>
                  <a:lnTo>
                    <a:pt x="2789682" y="729868"/>
                  </a:lnTo>
                  <a:lnTo>
                    <a:pt x="2795651" y="734568"/>
                  </a:lnTo>
                  <a:lnTo>
                    <a:pt x="2797556" y="737743"/>
                  </a:lnTo>
                  <a:lnTo>
                    <a:pt x="2799588" y="724788"/>
                  </a:lnTo>
                  <a:lnTo>
                    <a:pt x="2801493" y="725932"/>
                  </a:lnTo>
                  <a:lnTo>
                    <a:pt x="2803525" y="721105"/>
                  </a:lnTo>
                  <a:lnTo>
                    <a:pt x="2809494" y="716787"/>
                  </a:lnTo>
                  <a:lnTo>
                    <a:pt x="2811399" y="714120"/>
                  </a:lnTo>
                  <a:lnTo>
                    <a:pt x="2813431" y="707390"/>
                  </a:lnTo>
                  <a:lnTo>
                    <a:pt x="2815336" y="703198"/>
                  </a:lnTo>
                  <a:lnTo>
                    <a:pt x="2817368" y="703326"/>
                  </a:lnTo>
                  <a:lnTo>
                    <a:pt x="2823210" y="703326"/>
                  </a:lnTo>
                  <a:lnTo>
                    <a:pt x="2825242" y="701929"/>
                  </a:lnTo>
                  <a:lnTo>
                    <a:pt x="2827274" y="699261"/>
                  </a:lnTo>
                  <a:lnTo>
                    <a:pt x="2829179" y="689863"/>
                  </a:lnTo>
                  <a:lnTo>
                    <a:pt x="2831211" y="689863"/>
                  </a:lnTo>
                  <a:lnTo>
                    <a:pt x="2837053" y="685799"/>
                  </a:lnTo>
                  <a:lnTo>
                    <a:pt x="2839085" y="683132"/>
                  </a:lnTo>
                  <a:lnTo>
                    <a:pt x="2841117" y="673607"/>
                  </a:lnTo>
                  <a:lnTo>
                    <a:pt x="2843022" y="664209"/>
                  </a:lnTo>
                  <a:lnTo>
                    <a:pt x="2845054" y="662812"/>
                  </a:lnTo>
                  <a:lnTo>
                    <a:pt x="2850896" y="679195"/>
                  </a:lnTo>
                  <a:lnTo>
                    <a:pt x="2852928" y="671068"/>
                  </a:lnTo>
                  <a:lnTo>
                    <a:pt x="2854960" y="669797"/>
                  </a:lnTo>
                  <a:lnTo>
                    <a:pt x="2856865" y="667004"/>
                  </a:lnTo>
                  <a:lnTo>
                    <a:pt x="2856896" y="666494"/>
                  </a:lnTo>
                  <a:lnTo>
                    <a:pt x="2857119" y="662924"/>
                  </a:lnTo>
                  <a:lnTo>
                    <a:pt x="2857722" y="653234"/>
                  </a:lnTo>
                  <a:lnTo>
                    <a:pt x="2858897" y="634365"/>
                  </a:lnTo>
                  <a:lnTo>
                    <a:pt x="2864739" y="630427"/>
                  </a:lnTo>
                  <a:lnTo>
                    <a:pt x="2866771" y="631824"/>
                  </a:lnTo>
                  <a:lnTo>
                    <a:pt x="2868803" y="626363"/>
                  </a:lnTo>
                  <a:lnTo>
                    <a:pt x="2870708" y="625093"/>
                  </a:lnTo>
                  <a:lnTo>
                    <a:pt x="2882646" y="622426"/>
                  </a:lnTo>
                  <a:lnTo>
                    <a:pt x="2884551" y="617093"/>
                  </a:lnTo>
                  <a:lnTo>
                    <a:pt x="2886583" y="615695"/>
                  </a:lnTo>
                  <a:lnTo>
                    <a:pt x="2894457" y="605027"/>
                  </a:lnTo>
                  <a:lnTo>
                    <a:pt x="2896362" y="614552"/>
                  </a:lnTo>
                  <a:lnTo>
                    <a:pt x="2898394" y="639063"/>
                  </a:lnTo>
                  <a:lnTo>
                    <a:pt x="2900426" y="644524"/>
                  </a:lnTo>
                  <a:lnTo>
                    <a:pt x="2906268" y="647318"/>
                  </a:lnTo>
                  <a:lnTo>
                    <a:pt x="2908300" y="647445"/>
                  </a:lnTo>
                  <a:lnTo>
                    <a:pt x="2910205" y="661034"/>
                  </a:lnTo>
                  <a:lnTo>
                    <a:pt x="2912237" y="655573"/>
                  </a:lnTo>
                  <a:lnTo>
                    <a:pt x="2914269" y="640715"/>
                  </a:lnTo>
                  <a:lnTo>
                    <a:pt x="2920111" y="629793"/>
                  </a:lnTo>
                  <a:lnTo>
                    <a:pt x="2922143" y="628522"/>
                  </a:lnTo>
                  <a:lnTo>
                    <a:pt x="2924048" y="636651"/>
                  </a:lnTo>
                  <a:lnTo>
                    <a:pt x="2926080" y="643508"/>
                  </a:lnTo>
                  <a:lnTo>
                    <a:pt x="2928112" y="646302"/>
                  </a:lnTo>
                  <a:lnTo>
                    <a:pt x="2933954" y="647826"/>
                  </a:lnTo>
                  <a:lnTo>
                    <a:pt x="2935986" y="640968"/>
                  </a:lnTo>
                  <a:lnTo>
                    <a:pt x="2937891" y="658621"/>
                  </a:lnTo>
                  <a:lnTo>
                    <a:pt x="2939923" y="646429"/>
                  </a:lnTo>
                  <a:lnTo>
                    <a:pt x="2941955" y="646557"/>
                  </a:lnTo>
                  <a:lnTo>
                    <a:pt x="2947797" y="642493"/>
                  </a:lnTo>
                  <a:lnTo>
                    <a:pt x="2949829" y="639826"/>
                  </a:lnTo>
                  <a:lnTo>
                    <a:pt x="2951734" y="635761"/>
                  </a:lnTo>
                  <a:lnTo>
                    <a:pt x="2953766" y="630301"/>
                  </a:lnTo>
                  <a:lnTo>
                    <a:pt x="2955798" y="624966"/>
                  </a:lnTo>
                  <a:lnTo>
                    <a:pt x="2961640" y="642746"/>
                  </a:lnTo>
                  <a:lnTo>
                    <a:pt x="2963672" y="652271"/>
                  </a:lnTo>
                  <a:lnTo>
                    <a:pt x="2965577" y="638809"/>
                  </a:lnTo>
                  <a:lnTo>
                    <a:pt x="2967609" y="636015"/>
                  </a:lnTo>
                  <a:lnTo>
                    <a:pt x="2969514" y="638809"/>
                  </a:lnTo>
                  <a:lnTo>
                    <a:pt x="2975483" y="641604"/>
                  </a:lnTo>
                  <a:lnTo>
                    <a:pt x="2977515" y="640207"/>
                  </a:lnTo>
                  <a:lnTo>
                    <a:pt x="2979420" y="649732"/>
                  </a:lnTo>
                  <a:lnTo>
                    <a:pt x="2981452" y="649858"/>
                  </a:lnTo>
                  <a:lnTo>
                    <a:pt x="2983357" y="651255"/>
                  </a:lnTo>
                  <a:lnTo>
                    <a:pt x="2989326" y="658113"/>
                  </a:lnTo>
                  <a:lnTo>
                    <a:pt x="2991358" y="647318"/>
                  </a:lnTo>
                  <a:lnTo>
                    <a:pt x="2993263" y="645921"/>
                  </a:lnTo>
                  <a:lnTo>
                    <a:pt x="2995295" y="648715"/>
                  </a:lnTo>
                  <a:lnTo>
                    <a:pt x="2997200" y="647318"/>
                  </a:lnTo>
                  <a:lnTo>
                    <a:pt x="3003169" y="637920"/>
                  </a:lnTo>
                  <a:lnTo>
                    <a:pt x="3005201" y="632459"/>
                  </a:lnTo>
                  <a:lnTo>
                    <a:pt x="3007106" y="633857"/>
                  </a:lnTo>
                  <a:lnTo>
                    <a:pt x="3009138" y="632459"/>
                  </a:lnTo>
                  <a:lnTo>
                    <a:pt x="3011043" y="628522"/>
                  </a:lnTo>
                  <a:lnTo>
                    <a:pt x="3017012" y="624585"/>
                  </a:lnTo>
                  <a:lnTo>
                    <a:pt x="3019044" y="618997"/>
                  </a:lnTo>
                  <a:lnTo>
                    <a:pt x="3020949" y="616330"/>
                  </a:lnTo>
                  <a:lnTo>
                    <a:pt x="3022981" y="619124"/>
                  </a:lnTo>
                  <a:lnTo>
                    <a:pt x="3024886" y="608329"/>
                  </a:lnTo>
                  <a:lnTo>
                    <a:pt x="3030855" y="602868"/>
                  </a:lnTo>
                  <a:lnTo>
                    <a:pt x="3032887" y="605790"/>
                  </a:lnTo>
                  <a:lnTo>
                    <a:pt x="3034792" y="609726"/>
                  </a:lnTo>
                  <a:lnTo>
                    <a:pt x="3036824" y="608583"/>
                  </a:lnTo>
                  <a:lnTo>
                    <a:pt x="3038729" y="613918"/>
                  </a:lnTo>
                  <a:lnTo>
                    <a:pt x="3044698" y="618108"/>
                  </a:lnTo>
                  <a:lnTo>
                    <a:pt x="3046730" y="618235"/>
                  </a:lnTo>
                  <a:lnTo>
                    <a:pt x="3048635" y="615568"/>
                  </a:lnTo>
                  <a:lnTo>
                    <a:pt x="3050667" y="611504"/>
                  </a:lnTo>
                  <a:lnTo>
                    <a:pt x="3058541" y="595248"/>
                  </a:lnTo>
                  <a:lnTo>
                    <a:pt x="3060573" y="595248"/>
                  </a:lnTo>
                  <a:lnTo>
                    <a:pt x="3062478" y="595376"/>
                  </a:lnTo>
                  <a:lnTo>
                    <a:pt x="3064510" y="589787"/>
                  </a:lnTo>
                  <a:lnTo>
                    <a:pt x="3074416" y="580516"/>
                  </a:lnTo>
                  <a:lnTo>
                    <a:pt x="3076321" y="602360"/>
                  </a:lnTo>
                  <a:lnTo>
                    <a:pt x="3078353" y="602360"/>
                  </a:lnTo>
                  <a:lnTo>
                    <a:pt x="3080258" y="595629"/>
                  </a:lnTo>
                  <a:lnTo>
                    <a:pt x="3086227" y="595757"/>
                  </a:lnTo>
                  <a:lnTo>
                    <a:pt x="3088259" y="598423"/>
                  </a:lnTo>
                  <a:lnTo>
                    <a:pt x="3090164" y="591693"/>
                  </a:lnTo>
                  <a:lnTo>
                    <a:pt x="3092196" y="599820"/>
                  </a:lnTo>
                  <a:lnTo>
                    <a:pt x="3094101" y="612140"/>
                  </a:lnTo>
                  <a:lnTo>
                    <a:pt x="3100070" y="610869"/>
                  </a:lnTo>
                  <a:lnTo>
                    <a:pt x="3102102" y="623061"/>
                  </a:lnTo>
                  <a:lnTo>
                    <a:pt x="3104007" y="636651"/>
                  </a:lnTo>
                  <a:lnTo>
                    <a:pt x="3106039" y="636777"/>
                  </a:lnTo>
                  <a:lnTo>
                    <a:pt x="3107944" y="627252"/>
                  </a:lnTo>
                  <a:lnTo>
                    <a:pt x="3113913" y="625982"/>
                  </a:lnTo>
                  <a:lnTo>
                    <a:pt x="3115818" y="623315"/>
                  </a:lnTo>
                  <a:lnTo>
                    <a:pt x="3117850" y="620648"/>
                  </a:lnTo>
                  <a:lnTo>
                    <a:pt x="3119882" y="625982"/>
                  </a:lnTo>
                  <a:lnTo>
                    <a:pt x="3121787" y="631570"/>
                  </a:lnTo>
                  <a:lnTo>
                    <a:pt x="3127756" y="627507"/>
                  </a:lnTo>
                  <a:lnTo>
                    <a:pt x="3129661" y="622172"/>
                  </a:lnTo>
                  <a:lnTo>
                    <a:pt x="3131693" y="624966"/>
                  </a:lnTo>
                  <a:lnTo>
                    <a:pt x="3133725" y="630301"/>
                  </a:lnTo>
                  <a:lnTo>
                    <a:pt x="3135630" y="624966"/>
                  </a:lnTo>
                  <a:lnTo>
                    <a:pt x="3143504" y="615568"/>
                  </a:lnTo>
                  <a:lnTo>
                    <a:pt x="3145536" y="602107"/>
                  </a:lnTo>
                  <a:lnTo>
                    <a:pt x="3147568" y="606043"/>
                  </a:lnTo>
                  <a:lnTo>
                    <a:pt x="3149473" y="607440"/>
                  </a:lnTo>
                  <a:lnTo>
                    <a:pt x="3155442" y="606170"/>
                  </a:lnTo>
                  <a:lnTo>
                    <a:pt x="3157347" y="606170"/>
                  </a:lnTo>
                  <a:lnTo>
                    <a:pt x="3159379" y="604901"/>
                  </a:lnTo>
                  <a:lnTo>
                    <a:pt x="3161411" y="596772"/>
                  </a:lnTo>
                  <a:lnTo>
                    <a:pt x="3163316" y="600963"/>
                  </a:lnTo>
                  <a:lnTo>
                    <a:pt x="3169285" y="595629"/>
                  </a:lnTo>
                  <a:lnTo>
                    <a:pt x="3171190" y="595629"/>
                  </a:lnTo>
                  <a:lnTo>
                    <a:pt x="3173222" y="592835"/>
                  </a:lnTo>
                  <a:lnTo>
                    <a:pt x="3175254" y="597026"/>
                  </a:lnTo>
                  <a:lnTo>
                    <a:pt x="3177159" y="603884"/>
                  </a:lnTo>
                  <a:lnTo>
                    <a:pt x="3185033" y="605408"/>
                  </a:lnTo>
                  <a:lnTo>
                    <a:pt x="3187065" y="606679"/>
                  </a:lnTo>
                  <a:lnTo>
                    <a:pt x="3188970" y="613536"/>
                  </a:lnTo>
                  <a:lnTo>
                    <a:pt x="3191002" y="609472"/>
                  </a:lnTo>
                  <a:lnTo>
                    <a:pt x="3196971" y="606805"/>
                  </a:lnTo>
                  <a:lnTo>
                    <a:pt x="3198876" y="601471"/>
                  </a:lnTo>
                  <a:lnTo>
                    <a:pt x="3200908" y="601471"/>
                  </a:lnTo>
                  <a:lnTo>
                    <a:pt x="3202813" y="598804"/>
                  </a:lnTo>
                  <a:lnTo>
                    <a:pt x="3210814" y="598932"/>
                  </a:lnTo>
                  <a:lnTo>
                    <a:pt x="3212719" y="611251"/>
                  </a:lnTo>
                  <a:lnTo>
                    <a:pt x="3214751" y="617982"/>
                  </a:lnTo>
                  <a:lnTo>
                    <a:pt x="3216656" y="600329"/>
                  </a:lnTo>
                  <a:lnTo>
                    <a:pt x="3218688" y="594994"/>
                  </a:lnTo>
                  <a:lnTo>
                    <a:pt x="3224657" y="597788"/>
                  </a:lnTo>
                  <a:lnTo>
                    <a:pt x="3226562" y="603249"/>
                  </a:lnTo>
                  <a:lnTo>
                    <a:pt x="3228594" y="597915"/>
                  </a:lnTo>
                  <a:lnTo>
                    <a:pt x="3230499" y="596518"/>
                  </a:lnTo>
                  <a:lnTo>
                    <a:pt x="3232531" y="600582"/>
                  </a:lnTo>
                  <a:lnTo>
                    <a:pt x="3238500" y="600709"/>
                  </a:lnTo>
                  <a:lnTo>
                    <a:pt x="3240405" y="602107"/>
                  </a:lnTo>
                  <a:lnTo>
                    <a:pt x="3242437" y="600709"/>
                  </a:lnTo>
                  <a:lnTo>
                    <a:pt x="3244342" y="602233"/>
                  </a:lnTo>
                  <a:lnTo>
                    <a:pt x="3246374" y="603504"/>
                  </a:lnTo>
                  <a:lnTo>
                    <a:pt x="3252342" y="606297"/>
                  </a:lnTo>
                  <a:lnTo>
                    <a:pt x="3254248" y="617219"/>
                  </a:lnTo>
                  <a:lnTo>
                    <a:pt x="3256279" y="618743"/>
                  </a:lnTo>
                  <a:lnTo>
                    <a:pt x="3258185" y="607821"/>
                  </a:lnTo>
                  <a:lnTo>
                    <a:pt x="3266186" y="606551"/>
                  </a:lnTo>
                  <a:lnTo>
                    <a:pt x="3268091" y="595757"/>
                  </a:lnTo>
                  <a:lnTo>
                    <a:pt x="3270123" y="595883"/>
                  </a:lnTo>
                  <a:lnTo>
                    <a:pt x="3272028" y="593090"/>
                  </a:lnTo>
                  <a:lnTo>
                    <a:pt x="3274060" y="582294"/>
                  </a:lnTo>
                  <a:lnTo>
                    <a:pt x="3280029" y="581024"/>
                  </a:lnTo>
                  <a:lnTo>
                    <a:pt x="3281934" y="587882"/>
                  </a:lnTo>
                  <a:lnTo>
                    <a:pt x="3283966" y="582421"/>
                  </a:lnTo>
                  <a:lnTo>
                    <a:pt x="3285871" y="583818"/>
                  </a:lnTo>
                  <a:lnTo>
                    <a:pt x="3287903" y="585215"/>
                  </a:lnTo>
                  <a:lnTo>
                    <a:pt x="3293872" y="590676"/>
                  </a:lnTo>
                  <a:lnTo>
                    <a:pt x="3295777" y="594868"/>
                  </a:lnTo>
                  <a:lnTo>
                    <a:pt x="3297809" y="585343"/>
                  </a:lnTo>
                  <a:lnTo>
                    <a:pt x="3299714" y="588136"/>
                  </a:lnTo>
                  <a:lnTo>
                    <a:pt x="3301746" y="592201"/>
                  </a:lnTo>
                  <a:lnTo>
                    <a:pt x="3307715" y="588263"/>
                  </a:lnTo>
                  <a:lnTo>
                    <a:pt x="3309620" y="585596"/>
                  </a:lnTo>
                  <a:lnTo>
                    <a:pt x="3311652" y="585596"/>
                  </a:lnTo>
                  <a:lnTo>
                    <a:pt x="3313557" y="586866"/>
                  </a:lnTo>
                  <a:lnTo>
                    <a:pt x="3315589" y="582802"/>
                  </a:lnTo>
                  <a:lnTo>
                    <a:pt x="3321558" y="573532"/>
                  </a:lnTo>
                  <a:lnTo>
                    <a:pt x="3323463" y="580262"/>
                  </a:lnTo>
                  <a:lnTo>
                    <a:pt x="3325495" y="583057"/>
                  </a:lnTo>
                  <a:lnTo>
                    <a:pt x="3327400" y="581786"/>
                  </a:lnTo>
                  <a:lnTo>
                    <a:pt x="3329432" y="583057"/>
                  </a:lnTo>
                  <a:lnTo>
                    <a:pt x="3335274" y="579246"/>
                  </a:lnTo>
                  <a:lnTo>
                    <a:pt x="3337305" y="575182"/>
                  </a:lnTo>
                  <a:lnTo>
                    <a:pt x="3339338" y="571118"/>
                  </a:lnTo>
                  <a:lnTo>
                    <a:pt x="3341242" y="565784"/>
                  </a:lnTo>
                  <a:lnTo>
                    <a:pt x="3343275" y="568451"/>
                  </a:lnTo>
                  <a:lnTo>
                    <a:pt x="3349116" y="562990"/>
                  </a:lnTo>
                  <a:lnTo>
                    <a:pt x="3351149" y="561847"/>
                  </a:lnTo>
                  <a:lnTo>
                    <a:pt x="3353180" y="553593"/>
                  </a:lnTo>
                  <a:lnTo>
                    <a:pt x="3355086" y="552449"/>
                  </a:lnTo>
                  <a:lnTo>
                    <a:pt x="3357117" y="556386"/>
                  </a:lnTo>
                  <a:lnTo>
                    <a:pt x="3364991" y="553846"/>
                  </a:lnTo>
                  <a:lnTo>
                    <a:pt x="3367024" y="557910"/>
                  </a:lnTo>
                  <a:lnTo>
                    <a:pt x="3368929" y="551179"/>
                  </a:lnTo>
                  <a:lnTo>
                    <a:pt x="3370961" y="552704"/>
                  </a:lnTo>
                  <a:lnTo>
                    <a:pt x="3376803" y="552704"/>
                  </a:lnTo>
                  <a:lnTo>
                    <a:pt x="3378835" y="549909"/>
                  </a:lnTo>
                  <a:lnTo>
                    <a:pt x="3380866" y="554101"/>
                  </a:lnTo>
                  <a:lnTo>
                    <a:pt x="3382772" y="552830"/>
                  </a:lnTo>
                  <a:lnTo>
                    <a:pt x="3384804" y="543305"/>
                  </a:lnTo>
                  <a:lnTo>
                    <a:pt x="3390646" y="543432"/>
                  </a:lnTo>
                  <a:lnTo>
                    <a:pt x="3392678" y="547496"/>
                  </a:lnTo>
                  <a:lnTo>
                    <a:pt x="3394710" y="544829"/>
                  </a:lnTo>
                  <a:lnTo>
                    <a:pt x="3396615" y="544829"/>
                  </a:lnTo>
                  <a:lnTo>
                    <a:pt x="3398647" y="543559"/>
                  </a:lnTo>
                  <a:lnTo>
                    <a:pt x="3404489" y="538226"/>
                  </a:lnTo>
                  <a:lnTo>
                    <a:pt x="3406521" y="527430"/>
                  </a:lnTo>
                  <a:lnTo>
                    <a:pt x="3408426" y="527430"/>
                  </a:lnTo>
                  <a:lnTo>
                    <a:pt x="3410458" y="530097"/>
                  </a:lnTo>
                  <a:lnTo>
                    <a:pt x="3412490" y="530224"/>
                  </a:lnTo>
                  <a:lnTo>
                    <a:pt x="3418332" y="530224"/>
                  </a:lnTo>
                  <a:lnTo>
                    <a:pt x="3420364" y="533145"/>
                  </a:lnTo>
                  <a:lnTo>
                    <a:pt x="3422269" y="529082"/>
                  </a:lnTo>
                  <a:lnTo>
                    <a:pt x="3424301" y="533145"/>
                  </a:lnTo>
                  <a:lnTo>
                    <a:pt x="3426333" y="533272"/>
                  </a:lnTo>
                  <a:lnTo>
                    <a:pt x="3432175" y="530479"/>
                  </a:lnTo>
                  <a:lnTo>
                    <a:pt x="3434207" y="530479"/>
                  </a:lnTo>
                  <a:lnTo>
                    <a:pt x="3436112" y="525144"/>
                  </a:lnTo>
                  <a:lnTo>
                    <a:pt x="3438144" y="529335"/>
                  </a:lnTo>
                  <a:lnTo>
                    <a:pt x="3440176" y="532002"/>
                  </a:lnTo>
                  <a:lnTo>
                    <a:pt x="3446017" y="540257"/>
                  </a:lnTo>
                  <a:lnTo>
                    <a:pt x="3448050" y="544321"/>
                  </a:lnTo>
                  <a:lnTo>
                    <a:pt x="3449954" y="545718"/>
                  </a:lnTo>
                  <a:lnTo>
                    <a:pt x="3451987" y="543051"/>
                  </a:lnTo>
                  <a:lnTo>
                    <a:pt x="3454019" y="551179"/>
                  </a:lnTo>
                  <a:lnTo>
                    <a:pt x="3459861" y="551307"/>
                  </a:lnTo>
                  <a:lnTo>
                    <a:pt x="3461892" y="551307"/>
                  </a:lnTo>
                  <a:lnTo>
                    <a:pt x="3463798" y="544576"/>
                  </a:lnTo>
                  <a:lnTo>
                    <a:pt x="3465829" y="541908"/>
                  </a:lnTo>
                  <a:lnTo>
                    <a:pt x="3467862" y="550036"/>
                  </a:lnTo>
                  <a:lnTo>
                    <a:pt x="3473704" y="547496"/>
                  </a:lnTo>
                  <a:lnTo>
                    <a:pt x="3475736" y="556894"/>
                  </a:lnTo>
                  <a:lnTo>
                    <a:pt x="3477641" y="565149"/>
                  </a:lnTo>
                  <a:lnTo>
                    <a:pt x="3479673" y="565149"/>
                  </a:lnTo>
                  <a:lnTo>
                    <a:pt x="3481578" y="566546"/>
                  </a:lnTo>
                  <a:lnTo>
                    <a:pt x="3487547" y="559815"/>
                  </a:lnTo>
                  <a:lnTo>
                    <a:pt x="3489579" y="562609"/>
                  </a:lnTo>
                  <a:lnTo>
                    <a:pt x="3491484" y="562736"/>
                  </a:lnTo>
                  <a:lnTo>
                    <a:pt x="3493516" y="557276"/>
                  </a:lnTo>
                  <a:lnTo>
                    <a:pt x="3495421" y="561340"/>
                  </a:lnTo>
                  <a:lnTo>
                    <a:pt x="3501390" y="569594"/>
                  </a:lnTo>
                  <a:lnTo>
                    <a:pt x="3503422" y="562863"/>
                  </a:lnTo>
                  <a:lnTo>
                    <a:pt x="3505327" y="568324"/>
                  </a:lnTo>
                  <a:lnTo>
                    <a:pt x="3507359" y="573658"/>
                  </a:lnTo>
                  <a:lnTo>
                    <a:pt x="3509264" y="558926"/>
                  </a:lnTo>
                  <a:lnTo>
                    <a:pt x="3515233" y="552195"/>
                  </a:lnTo>
                  <a:lnTo>
                    <a:pt x="3517265" y="552195"/>
                  </a:lnTo>
                  <a:lnTo>
                    <a:pt x="3519170" y="559054"/>
                  </a:lnTo>
                  <a:lnTo>
                    <a:pt x="3521202" y="560323"/>
                  </a:lnTo>
                  <a:lnTo>
                    <a:pt x="3523107" y="563118"/>
                  </a:lnTo>
                  <a:lnTo>
                    <a:pt x="3529076" y="569976"/>
                  </a:lnTo>
                  <a:lnTo>
                    <a:pt x="3531108" y="571372"/>
                  </a:lnTo>
                  <a:lnTo>
                    <a:pt x="3533013" y="569976"/>
                  </a:lnTo>
                  <a:lnTo>
                    <a:pt x="3535045" y="566038"/>
                  </a:lnTo>
                  <a:lnTo>
                    <a:pt x="3536950" y="564768"/>
                  </a:lnTo>
                  <a:lnTo>
                    <a:pt x="3542919" y="563371"/>
                  </a:lnTo>
                  <a:lnTo>
                    <a:pt x="3544951" y="560704"/>
                  </a:lnTo>
                  <a:lnTo>
                    <a:pt x="3546855" y="556640"/>
                  </a:lnTo>
                  <a:lnTo>
                    <a:pt x="3548888" y="551307"/>
                  </a:lnTo>
                  <a:lnTo>
                    <a:pt x="3550792" y="551433"/>
                  </a:lnTo>
                </a:path>
              </a:pathLst>
            </a:custGeom>
            <a:ln w="9524">
              <a:solidFill>
                <a:srgbClr val="22366E"/>
              </a:solidFill>
            </a:ln>
          </p:spPr>
          <p:txBody>
            <a:bodyPr wrap="square" lIns="0" tIns="0" rIns="0" bIns="0" rtlCol="0"/>
            <a:lstStyle/>
            <a:p>
              <a:endParaRPr/>
            </a:p>
          </p:txBody>
        </p:sp>
      </p:grpSp>
      <p:sp>
        <p:nvSpPr>
          <p:cNvPr id="81" name="object 81">
            <a:extLst>
              <a:ext uri="{FF2B5EF4-FFF2-40B4-BE49-F238E27FC236}">
                <a16:creationId xmlns:a16="http://schemas.microsoft.com/office/drawing/2014/main" id="{17D0BA88-AF72-8D29-3477-D2B55F858212}"/>
              </a:ext>
            </a:extLst>
          </p:cNvPr>
          <p:cNvSpPr txBox="1"/>
          <p:nvPr/>
        </p:nvSpPr>
        <p:spPr>
          <a:xfrm>
            <a:off x="3070373" y="6774559"/>
            <a:ext cx="4080283" cy="1439497"/>
          </a:xfrm>
          <a:prstGeom prst="rect">
            <a:avLst/>
          </a:prstGeom>
        </p:spPr>
        <p:txBody>
          <a:bodyPr vert="horz" wrap="square" lIns="0" tIns="15875" rIns="0" bIns="0" rtlCol="0">
            <a:spAutoFit/>
          </a:bodyPr>
          <a:lstStyle/>
          <a:p>
            <a:pPr marL="111125">
              <a:lnSpc>
                <a:spcPct val="100000"/>
              </a:lnSpc>
              <a:spcBef>
                <a:spcPts val="125"/>
              </a:spcBef>
            </a:pPr>
            <a:r>
              <a:rPr sz="800" dirty="0">
                <a:latin typeface="Arial"/>
                <a:cs typeface="Arial"/>
              </a:rPr>
              <a:t>-</a:t>
            </a:r>
            <a:r>
              <a:rPr sz="800" spc="-25" dirty="0">
                <a:latin typeface="Arial"/>
                <a:cs typeface="Arial"/>
              </a:rPr>
              <a:t>25%</a:t>
            </a:r>
            <a:endParaRPr sz="800" dirty="0">
              <a:latin typeface="Arial"/>
              <a:cs typeface="Arial"/>
            </a:endParaRPr>
          </a:p>
          <a:p>
            <a:pPr>
              <a:lnSpc>
                <a:spcPct val="100000"/>
              </a:lnSpc>
            </a:pPr>
            <a:endParaRPr sz="900" dirty="0">
              <a:latin typeface="Arial"/>
              <a:cs typeface="Arial"/>
            </a:endParaRPr>
          </a:p>
          <a:p>
            <a:pPr marL="331470">
              <a:lnSpc>
                <a:spcPct val="100000"/>
              </a:lnSpc>
              <a:spcBef>
                <a:spcPts val="715"/>
              </a:spcBef>
              <a:tabLst>
                <a:tab pos="1237615" algn="l"/>
                <a:tab pos="2144395" algn="l"/>
                <a:tab pos="3037840" algn="l"/>
                <a:tab pos="3717290" algn="l"/>
              </a:tabLst>
            </a:pPr>
            <a:r>
              <a:rPr sz="800" dirty="0">
                <a:latin typeface="Arial"/>
                <a:cs typeface="Arial"/>
              </a:rPr>
              <a:t>Dec</a:t>
            </a:r>
            <a:r>
              <a:rPr sz="800" spc="45" dirty="0">
                <a:latin typeface="Arial"/>
                <a:cs typeface="Arial"/>
              </a:rPr>
              <a:t> </a:t>
            </a:r>
            <a:r>
              <a:rPr sz="800" spc="-25" dirty="0">
                <a:latin typeface="Arial"/>
                <a:cs typeface="Arial"/>
              </a:rPr>
              <a:t>19</a:t>
            </a:r>
            <a:r>
              <a:rPr sz="800" dirty="0">
                <a:latin typeface="Arial"/>
                <a:cs typeface="Arial"/>
              </a:rPr>
              <a:t>	Mar</a:t>
            </a:r>
            <a:r>
              <a:rPr sz="800" spc="45" dirty="0">
                <a:latin typeface="Arial"/>
                <a:cs typeface="Arial"/>
              </a:rPr>
              <a:t> </a:t>
            </a:r>
            <a:r>
              <a:rPr sz="800" spc="-25" dirty="0">
                <a:latin typeface="Arial"/>
                <a:cs typeface="Arial"/>
              </a:rPr>
              <a:t>21</a:t>
            </a:r>
            <a:r>
              <a:rPr sz="800" dirty="0">
                <a:latin typeface="Arial"/>
                <a:cs typeface="Arial"/>
              </a:rPr>
              <a:t>	Jun</a:t>
            </a:r>
            <a:r>
              <a:rPr sz="800" spc="30" dirty="0">
                <a:latin typeface="Arial"/>
                <a:cs typeface="Arial"/>
              </a:rPr>
              <a:t> </a:t>
            </a:r>
            <a:r>
              <a:rPr sz="800" spc="-25" dirty="0">
                <a:latin typeface="Arial"/>
                <a:cs typeface="Arial"/>
              </a:rPr>
              <a:t>22</a:t>
            </a:r>
            <a:r>
              <a:rPr sz="800" dirty="0">
                <a:latin typeface="Arial"/>
                <a:cs typeface="Arial"/>
              </a:rPr>
              <a:t>	Sep</a:t>
            </a:r>
            <a:r>
              <a:rPr sz="800" spc="35" dirty="0">
                <a:latin typeface="Arial"/>
                <a:cs typeface="Arial"/>
              </a:rPr>
              <a:t> </a:t>
            </a:r>
            <a:r>
              <a:rPr sz="800" spc="-25" dirty="0">
                <a:latin typeface="Arial"/>
                <a:cs typeface="Arial"/>
              </a:rPr>
              <a:t>23</a:t>
            </a:r>
            <a:r>
              <a:rPr sz="800" dirty="0">
                <a:latin typeface="Arial"/>
                <a:cs typeface="Arial"/>
              </a:rPr>
              <a:t>	Dec</a:t>
            </a:r>
            <a:r>
              <a:rPr sz="800" spc="45" dirty="0">
                <a:latin typeface="Arial"/>
                <a:cs typeface="Arial"/>
              </a:rPr>
              <a:t> </a:t>
            </a:r>
            <a:r>
              <a:rPr sz="800" spc="-25" dirty="0">
                <a:latin typeface="Arial"/>
                <a:cs typeface="Arial"/>
              </a:rPr>
              <a:t>24</a:t>
            </a:r>
            <a:endParaRPr sz="800" dirty="0">
              <a:latin typeface="Arial"/>
              <a:cs typeface="Arial"/>
            </a:endParaRPr>
          </a:p>
          <a:p>
            <a:pPr marL="1791970">
              <a:lnSpc>
                <a:spcPct val="100000"/>
              </a:lnSpc>
              <a:spcBef>
                <a:spcPts val="155"/>
              </a:spcBef>
            </a:pPr>
            <a:r>
              <a:rPr lang="en-GB" sz="650" dirty="0">
                <a:solidFill>
                  <a:srgbClr val="999999"/>
                </a:solidFill>
                <a:latin typeface="Arial"/>
                <a:cs typeface="Arial"/>
              </a:rPr>
              <a:t>28</a:t>
            </a:r>
            <a:r>
              <a:rPr sz="650" dirty="0">
                <a:solidFill>
                  <a:srgbClr val="999999"/>
                </a:solidFill>
                <a:latin typeface="Arial"/>
                <a:cs typeface="Arial"/>
              </a:rPr>
              <a:t>/</a:t>
            </a:r>
            <a:r>
              <a:rPr lang="en-GB" sz="650" dirty="0">
                <a:solidFill>
                  <a:srgbClr val="999999"/>
                </a:solidFill>
                <a:latin typeface="Arial"/>
                <a:cs typeface="Arial"/>
              </a:rPr>
              <a:t>02</a:t>
            </a:r>
            <a:r>
              <a:rPr sz="650" dirty="0">
                <a:solidFill>
                  <a:srgbClr val="999999"/>
                </a:solidFill>
                <a:latin typeface="Arial"/>
                <a:cs typeface="Arial"/>
              </a:rPr>
              <a:t>/2019</a:t>
            </a:r>
            <a:r>
              <a:rPr sz="650" spc="35" dirty="0">
                <a:solidFill>
                  <a:srgbClr val="999999"/>
                </a:solidFill>
                <a:latin typeface="Arial"/>
                <a:cs typeface="Arial"/>
              </a:rPr>
              <a:t> </a:t>
            </a:r>
            <a:r>
              <a:rPr lang="en-GB" sz="650" dirty="0">
                <a:solidFill>
                  <a:srgbClr val="999999"/>
                </a:solidFill>
                <a:latin typeface="Arial"/>
                <a:cs typeface="Arial"/>
              </a:rPr>
              <a:t>–</a:t>
            </a:r>
            <a:r>
              <a:rPr sz="650" spc="40" dirty="0">
                <a:solidFill>
                  <a:srgbClr val="999999"/>
                </a:solidFill>
                <a:latin typeface="Arial"/>
                <a:cs typeface="Arial"/>
              </a:rPr>
              <a:t> </a:t>
            </a:r>
            <a:r>
              <a:rPr sz="650" dirty="0">
                <a:solidFill>
                  <a:srgbClr val="999999"/>
                </a:solidFill>
                <a:latin typeface="Arial"/>
                <a:cs typeface="Arial"/>
              </a:rPr>
              <a:t>2</a:t>
            </a:r>
            <a:r>
              <a:rPr lang="en-GB" sz="650" dirty="0">
                <a:solidFill>
                  <a:srgbClr val="999999"/>
                </a:solidFill>
                <a:latin typeface="Arial"/>
                <a:cs typeface="Arial"/>
              </a:rPr>
              <a:t>8/02</a:t>
            </a:r>
            <a:r>
              <a:rPr sz="650" dirty="0">
                <a:solidFill>
                  <a:srgbClr val="999999"/>
                </a:solidFill>
                <a:latin typeface="Arial"/>
                <a:cs typeface="Arial"/>
              </a:rPr>
              <a:t>/202</a:t>
            </a:r>
            <a:r>
              <a:rPr lang="en-GB" sz="650" dirty="0">
                <a:solidFill>
                  <a:srgbClr val="999999"/>
                </a:solidFill>
                <a:latin typeface="Arial"/>
                <a:cs typeface="Arial"/>
              </a:rPr>
              <a:t>5</a:t>
            </a:r>
            <a:r>
              <a:rPr sz="650" spc="35" dirty="0">
                <a:solidFill>
                  <a:srgbClr val="999999"/>
                </a:solidFill>
                <a:latin typeface="Arial"/>
                <a:cs typeface="Arial"/>
              </a:rPr>
              <a:t> </a:t>
            </a:r>
            <a:r>
              <a:rPr sz="650" dirty="0">
                <a:solidFill>
                  <a:srgbClr val="999999"/>
                </a:solidFill>
                <a:latin typeface="Arial"/>
                <a:cs typeface="Arial"/>
              </a:rPr>
              <a:t>Powered</a:t>
            </a:r>
            <a:r>
              <a:rPr sz="650" spc="40" dirty="0">
                <a:solidFill>
                  <a:srgbClr val="999999"/>
                </a:solidFill>
                <a:latin typeface="Arial"/>
                <a:cs typeface="Arial"/>
              </a:rPr>
              <a:t> </a:t>
            </a:r>
            <a:r>
              <a:rPr sz="650" dirty="0">
                <a:solidFill>
                  <a:srgbClr val="999999"/>
                </a:solidFill>
                <a:latin typeface="Arial"/>
                <a:cs typeface="Arial"/>
              </a:rPr>
              <a:t>by</a:t>
            </a:r>
            <a:r>
              <a:rPr sz="650" spc="35" dirty="0">
                <a:solidFill>
                  <a:srgbClr val="999999"/>
                </a:solidFill>
                <a:latin typeface="Arial"/>
                <a:cs typeface="Arial"/>
              </a:rPr>
              <a:t> </a:t>
            </a:r>
            <a:r>
              <a:rPr sz="650" dirty="0">
                <a:solidFill>
                  <a:srgbClr val="999999"/>
                </a:solidFill>
                <a:latin typeface="Arial"/>
                <a:cs typeface="Arial"/>
              </a:rPr>
              <a:t>data</a:t>
            </a:r>
            <a:r>
              <a:rPr sz="650" spc="40" dirty="0">
                <a:solidFill>
                  <a:srgbClr val="999999"/>
                </a:solidFill>
                <a:latin typeface="Arial"/>
                <a:cs typeface="Arial"/>
              </a:rPr>
              <a:t> </a:t>
            </a:r>
            <a:r>
              <a:rPr sz="650" dirty="0">
                <a:solidFill>
                  <a:srgbClr val="999999"/>
                </a:solidFill>
                <a:latin typeface="Arial"/>
                <a:cs typeface="Arial"/>
              </a:rPr>
              <a:t>from</a:t>
            </a:r>
            <a:r>
              <a:rPr sz="650" spc="35" dirty="0">
                <a:solidFill>
                  <a:srgbClr val="999999"/>
                </a:solidFill>
                <a:latin typeface="Arial"/>
                <a:cs typeface="Arial"/>
              </a:rPr>
              <a:t> </a:t>
            </a:r>
            <a:r>
              <a:rPr sz="650" dirty="0">
                <a:solidFill>
                  <a:srgbClr val="999999"/>
                </a:solidFill>
                <a:latin typeface="Arial"/>
                <a:cs typeface="Arial"/>
              </a:rPr>
              <a:t>FE</a:t>
            </a:r>
            <a:r>
              <a:rPr sz="650" spc="40" dirty="0">
                <a:solidFill>
                  <a:srgbClr val="999999"/>
                </a:solidFill>
                <a:latin typeface="Arial"/>
                <a:cs typeface="Arial"/>
              </a:rPr>
              <a:t> </a:t>
            </a:r>
            <a:r>
              <a:rPr sz="650" spc="-10" dirty="0" err="1">
                <a:solidFill>
                  <a:srgbClr val="999999"/>
                </a:solidFill>
                <a:latin typeface="Arial"/>
                <a:cs typeface="Arial"/>
              </a:rPr>
              <a:t>fundinfo</a:t>
            </a:r>
            <a:endParaRPr sz="650" dirty="0">
              <a:latin typeface="Arial"/>
              <a:cs typeface="Arial"/>
            </a:endParaRPr>
          </a:p>
          <a:p>
            <a:pPr marL="156210">
              <a:lnSpc>
                <a:spcPct val="100000"/>
              </a:lnSpc>
              <a:spcBef>
                <a:spcPts val="430"/>
              </a:spcBef>
            </a:pPr>
            <a:r>
              <a:rPr lang="en-GB" sz="800" dirty="0">
                <a:latin typeface="Zurich Sans Light"/>
                <a:cs typeface="Zurich Sans Light"/>
              </a:rPr>
              <a:t>Fidelity Emerging Market Debt	</a:t>
            </a:r>
          </a:p>
          <a:p>
            <a:pPr marL="156210">
              <a:lnSpc>
                <a:spcPct val="100000"/>
              </a:lnSpc>
              <a:spcBef>
                <a:spcPts val="430"/>
              </a:spcBef>
            </a:pPr>
            <a:r>
              <a:rPr lang="en-GB" sz="800" dirty="0">
                <a:latin typeface="Zurich Sans Light"/>
                <a:cs typeface="Zurich Sans Light"/>
              </a:rPr>
              <a:t>Sector	</a:t>
            </a:r>
            <a:endParaRPr sz="800" dirty="0">
              <a:latin typeface="Zurich Sans Light"/>
              <a:cs typeface="Zurich Sans Light"/>
            </a:endParaRPr>
          </a:p>
          <a:p>
            <a:pPr marL="12700" marR="33020">
              <a:lnSpc>
                <a:spcPts val="780"/>
              </a:lnSpc>
              <a:spcBef>
                <a:spcPts val="450"/>
              </a:spcBef>
            </a:pPr>
            <a:r>
              <a:rPr sz="750" b="0" dirty="0">
                <a:solidFill>
                  <a:srgbClr val="142863"/>
                </a:solidFill>
                <a:latin typeface="Zurich Sans Light"/>
                <a:cs typeface="Zurich Sans Light"/>
              </a:rPr>
              <a:t>Source:</a:t>
            </a:r>
            <a:r>
              <a:rPr sz="750" b="0" spc="85" dirty="0">
                <a:solidFill>
                  <a:srgbClr val="142863"/>
                </a:solidFill>
                <a:latin typeface="Zurich Sans Light"/>
                <a:cs typeface="Zurich Sans Light"/>
              </a:rPr>
              <a:t> </a:t>
            </a:r>
            <a:r>
              <a:rPr sz="750" b="0" dirty="0" err="1">
                <a:solidFill>
                  <a:srgbClr val="142863"/>
                </a:solidFill>
                <a:latin typeface="Zurich Sans Light"/>
                <a:cs typeface="Zurich Sans Light"/>
              </a:rPr>
              <a:t>FEfundinfo</a:t>
            </a:r>
            <a:r>
              <a:rPr sz="750" b="0" spc="90" dirty="0">
                <a:solidFill>
                  <a:srgbClr val="142863"/>
                </a:solidFill>
                <a:latin typeface="Zurich Sans Light"/>
                <a:cs typeface="Zurich Sans Light"/>
              </a:rPr>
              <a:t> </a:t>
            </a:r>
            <a:r>
              <a:rPr sz="750" b="0" dirty="0">
                <a:solidFill>
                  <a:srgbClr val="142863"/>
                </a:solidFill>
                <a:latin typeface="Zurich Sans Light"/>
                <a:cs typeface="Zurich Sans Light"/>
              </a:rPr>
              <a:t>as</a:t>
            </a:r>
            <a:r>
              <a:rPr sz="750" b="0" spc="90" dirty="0">
                <a:solidFill>
                  <a:srgbClr val="142863"/>
                </a:solidFill>
                <a:latin typeface="Zurich Sans Light"/>
                <a:cs typeface="Zurich Sans Light"/>
              </a:rPr>
              <a:t> </a:t>
            </a:r>
            <a:r>
              <a:rPr sz="750" b="0" dirty="0">
                <a:solidFill>
                  <a:srgbClr val="142863"/>
                </a:solidFill>
                <a:latin typeface="Zurich Sans Light"/>
                <a:cs typeface="Zurich Sans Light"/>
              </a:rPr>
              <a:t>at</a:t>
            </a:r>
            <a:r>
              <a:rPr sz="750" b="0" spc="90" dirty="0">
                <a:solidFill>
                  <a:srgbClr val="142863"/>
                </a:solidFill>
                <a:latin typeface="Zurich Sans Light"/>
                <a:cs typeface="Zurich Sans Light"/>
              </a:rPr>
              <a:t> </a:t>
            </a:r>
            <a:r>
              <a:rPr lang="en-GB" sz="750" spc="90" dirty="0">
                <a:solidFill>
                  <a:srgbClr val="142863"/>
                </a:solidFill>
                <a:latin typeface="Zurich Sans Light"/>
                <a:cs typeface="Zurich Sans Light"/>
              </a:rPr>
              <a:t>28</a:t>
            </a:r>
            <a:r>
              <a:rPr sz="750" b="0" dirty="0">
                <a:solidFill>
                  <a:srgbClr val="142863"/>
                </a:solidFill>
                <a:latin typeface="Zurich Sans Light"/>
                <a:cs typeface="Zurich Sans Light"/>
              </a:rPr>
              <a:t>/</a:t>
            </a:r>
            <a:r>
              <a:rPr lang="en-GB" sz="750" b="0" dirty="0">
                <a:solidFill>
                  <a:srgbClr val="142863"/>
                </a:solidFill>
                <a:latin typeface="Zurich Sans Light"/>
                <a:cs typeface="Zurich Sans Light"/>
              </a:rPr>
              <a:t>02</a:t>
            </a:r>
            <a:r>
              <a:rPr sz="750" b="0" dirty="0">
                <a:solidFill>
                  <a:srgbClr val="142863"/>
                </a:solidFill>
                <a:latin typeface="Zurich Sans Light"/>
                <a:cs typeface="Zurich Sans Light"/>
              </a:rPr>
              <a:t>/202</a:t>
            </a:r>
            <a:r>
              <a:rPr lang="en-GB" sz="750" b="0" dirty="0">
                <a:solidFill>
                  <a:srgbClr val="142863"/>
                </a:solidFill>
                <a:latin typeface="Zurich Sans Light"/>
                <a:cs typeface="Zurich Sans Light"/>
              </a:rPr>
              <a:t>5, bid to bid gross in USD. </a:t>
            </a:r>
            <a:br>
              <a:rPr lang="en-GB" sz="750" b="0" dirty="0">
                <a:solidFill>
                  <a:srgbClr val="142863"/>
                </a:solidFill>
                <a:latin typeface="Zurich Sans Light"/>
                <a:cs typeface="Zurich Sans Light"/>
              </a:rPr>
            </a:br>
            <a:br>
              <a:rPr lang="en-GB" sz="750" b="0" dirty="0">
                <a:solidFill>
                  <a:srgbClr val="142863"/>
                </a:solidFill>
                <a:latin typeface="Zurich Sans Light"/>
                <a:cs typeface="Zurich Sans Light"/>
              </a:rPr>
            </a:br>
            <a:r>
              <a:rPr lang="en-GB" sz="750" b="0" dirty="0">
                <a:solidFill>
                  <a:srgbClr val="142863"/>
                </a:solidFill>
                <a:latin typeface="Zurich Sans Light"/>
                <a:cs typeface="Zurich Sans Light"/>
              </a:rPr>
              <a:t>Sector returns are based on the FE sector category highlighted opposite.  They are provided for comparison purposes only. Past performance is not a guide to future performance</a:t>
            </a:r>
            <a:r>
              <a:rPr sz="750" b="0" spc="90" dirty="0">
                <a:solidFill>
                  <a:srgbClr val="142863"/>
                </a:solidFill>
                <a:latin typeface="Zurich Sans Light"/>
                <a:cs typeface="Zurich Sans Light"/>
              </a:rPr>
              <a:t> </a:t>
            </a:r>
            <a:endParaRPr lang="en-GB" sz="750" b="0" spc="90" dirty="0">
              <a:solidFill>
                <a:srgbClr val="142863"/>
              </a:solidFill>
              <a:latin typeface="Zurich Sans Light"/>
              <a:cs typeface="Zurich Sans Light"/>
            </a:endParaRPr>
          </a:p>
        </p:txBody>
      </p:sp>
      <p:sp>
        <p:nvSpPr>
          <p:cNvPr id="82" name="object 82">
            <a:extLst>
              <a:ext uri="{FF2B5EF4-FFF2-40B4-BE49-F238E27FC236}">
                <a16:creationId xmlns:a16="http://schemas.microsoft.com/office/drawing/2014/main" id="{34D4C37C-37B0-F5EA-B2D2-378DB468A951}"/>
              </a:ext>
            </a:extLst>
          </p:cNvPr>
          <p:cNvSpPr txBox="1"/>
          <p:nvPr/>
        </p:nvSpPr>
        <p:spPr>
          <a:xfrm>
            <a:off x="3214521" y="6227358"/>
            <a:ext cx="177165" cy="151130"/>
          </a:xfrm>
          <a:prstGeom prst="rect">
            <a:avLst/>
          </a:prstGeom>
        </p:spPr>
        <p:txBody>
          <a:bodyPr vert="horz" wrap="square" lIns="0" tIns="15875" rIns="0" bIns="0" rtlCol="0">
            <a:spAutoFit/>
          </a:bodyPr>
          <a:lstStyle/>
          <a:p>
            <a:pPr marL="12700">
              <a:lnSpc>
                <a:spcPct val="100000"/>
              </a:lnSpc>
              <a:spcBef>
                <a:spcPts val="125"/>
              </a:spcBef>
            </a:pPr>
            <a:r>
              <a:rPr sz="800" spc="-25">
                <a:latin typeface="Arial"/>
                <a:cs typeface="Arial"/>
              </a:rPr>
              <a:t>0%</a:t>
            </a:r>
            <a:endParaRPr sz="800">
              <a:latin typeface="Arial"/>
              <a:cs typeface="Arial"/>
            </a:endParaRPr>
          </a:p>
        </p:txBody>
      </p:sp>
      <p:sp>
        <p:nvSpPr>
          <p:cNvPr id="83" name="object 83">
            <a:extLst>
              <a:ext uri="{FF2B5EF4-FFF2-40B4-BE49-F238E27FC236}">
                <a16:creationId xmlns:a16="http://schemas.microsoft.com/office/drawing/2014/main" id="{8EB5B378-D7C6-5E80-7636-6D7C1EED7620}"/>
              </a:ext>
            </a:extLst>
          </p:cNvPr>
          <p:cNvSpPr txBox="1"/>
          <p:nvPr/>
        </p:nvSpPr>
        <p:spPr>
          <a:xfrm>
            <a:off x="3128527" y="5748556"/>
            <a:ext cx="235585" cy="151130"/>
          </a:xfrm>
          <a:prstGeom prst="rect">
            <a:avLst/>
          </a:prstGeom>
        </p:spPr>
        <p:txBody>
          <a:bodyPr vert="horz" wrap="square" lIns="0" tIns="15875" rIns="0" bIns="0" rtlCol="0">
            <a:spAutoFit/>
          </a:bodyPr>
          <a:lstStyle/>
          <a:p>
            <a:pPr marL="12700">
              <a:lnSpc>
                <a:spcPct val="100000"/>
              </a:lnSpc>
              <a:spcBef>
                <a:spcPts val="125"/>
              </a:spcBef>
            </a:pPr>
            <a:r>
              <a:rPr sz="800" spc="-25">
                <a:latin typeface="Arial"/>
                <a:cs typeface="Arial"/>
              </a:rPr>
              <a:t>25%</a:t>
            </a:r>
            <a:endParaRPr sz="800">
              <a:latin typeface="Arial"/>
              <a:cs typeface="Arial"/>
            </a:endParaRPr>
          </a:p>
        </p:txBody>
      </p:sp>
      <p:sp>
        <p:nvSpPr>
          <p:cNvPr id="3" name="object 34">
            <a:extLst>
              <a:ext uri="{FF2B5EF4-FFF2-40B4-BE49-F238E27FC236}">
                <a16:creationId xmlns:a16="http://schemas.microsoft.com/office/drawing/2014/main" id="{BE5A61ED-8E16-4618-FCE5-6C3566D7447D}"/>
              </a:ext>
            </a:extLst>
          </p:cNvPr>
          <p:cNvSpPr/>
          <p:nvPr/>
        </p:nvSpPr>
        <p:spPr>
          <a:xfrm>
            <a:off x="3090968" y="7620875"/>
            <a:ext cx="116128"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AAC7EA"/>
          </a:solidFill>
        </p:spPr>
        <p:txBody>
          <a:bodyPr wrap="square" lIns="0" tIns="0" rIns="0" bIns="0" rtlCol="0"/>
          <a:lstStyle/>
          <a:p>
            <a:endParaRPr/>
          </a:p>
        </p:txBody>
      </p:sp>
      <p:sp>
        <p:nvSpPr>
          <p:cNvPr id="7" name="object 30">
            <a:extLst>
              <a:ext uri="{FF2B5EF4-FFF2-40B4-BE49-F238E27FC236}">
                <a16:creationId xmlns:a16="http://schemas.microsoft.com/office/drawing/2014/main" id="{4C32464F-BE6E-9E89-4FD9-6C73A8AC6922}"/>
              </a:ext>
            </a:extLst>
          </p:cNvPr>
          <p:cNvSpPr/>
          <p:nvPr/>
        </p:nvSpPr>
        <p:spPr>
          <a:xfrm>
            <a:off x="3090968" y="7420320"/>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endParaRPr/>
          </a:p>
        </p:txBody>
      </p:sp>
      <p:sp>
        <p:nvSpPr>
          <p:cNvPr id="13" name="object 80">
            <a:extLst>
              <a:ext uri="{FF2B5EF4-FFF2-40B4-BE49-F238E27FC236}">
                <a16:creationId xmlns:a16="http://schemas.microsoft.com/office/drawing/2014/main" id="{D5DEABEA-C4E4-1F8D-EEE9-0C370332DF21}"/>
              </a:ext>
            </a:extLst>
          </p:cNvPr>
          <p:cNvSpPr/>
          <p:nvPr/>
        </p:nvSpPr>
        <p:spPr>
          <a:xfrm>
            <a:off x="3419037" y="6001942"/>
            <a:ext cx="3550920" cy="854075"/>
          </a:xfrm>
          <a:custGeom>
            <a:avLst/>
            <a:gdLst/>
            <a:ahLst/>
            <a:cxnLst/>
            <a:rect l="l" t="t" r="r" b="b"/>
            <a:pathLst>
              <a:path w="3550920" h="854075">
                <a:moveTo>
                  <a:pt x="0" y="112013"/>
                </a:moveTo>
                <a:lnTo>
                  <a:pt x="0" y="112013"/>
                </a:lnTo>
                <a:lnTo>
                  <a:pt x="1905" y="109219"/>
                </a:lnTo>
                <a:lnTo>
                  <a:pt x="5969" y="109346"/>
                </a:lnTo>
                <a:lnTo>
                  <a:pt x="7874" y="102361"/>
                </a:lnTo>
                <a:lnTo>
                  <a:pt x="13843" y="101218"/>
                </a:lnTo>
                <a:lnTo>
                  <a:pt x="15748" y="101218"/>
                </a:lnTo>
                <a:lnTo>
                  <a:pt x="17780" y="95503"/>
                </a:lnTo>
                <a:lnTo>
                  <a:pt x="19812" y="98424"/>
                </a:lnTo>
                <a:lnTo>
                  <a:pt x="21717" y="98424"/>
                </a:lnTo>
                <a:lnTo>
                  <a:pt x="27686" y="92963"/>
                </a:lnTo>
                <a:lnTo>
                  <a:pt x="29591" y="98551"/>
                </a:lnTo>
                <a:lnTo>
                  <a:pt x="31623" y="91693"/>
                </a:lnTo>
                <a:lnTo>
                  <a:pt x="33655" y="81914"/>
                </a:lnTo>
                <a:lnTo>
                  <a:pt x="35560" y="84835"/>
                </a:lnTo>
                <a:lnTo>
                  <a:pt x="41529" y="86232"/>
                </a:lnTo>
                <a:lnTo>
                  <a:pt x="43434" y="84962"/>
                </a:lnTo>
                <a:lnTo>
                  <a:pt x="45466" y="84962"/>
                </a:lnTo>
                <a:lnTo>
                  <a:pt x="47498" y="85089"/>
                </a:lnTo>
                <a:lnTo>
                  <a:pt x="49403" y="85089"/>
                </a:lnTo>
                <a:lnTo>
                  <a:pt x="55372" y="83692"/>
                </a:lnTo>
                <a:lnTo>
                  <a:pt x="57277" y="92201"/>
                </a:lnTo>
                <a:lnTo>
                  <a:pt x="59309" y="89407"/>
                </a:lnTo>
                <a:lnTo>
                  <a:pt x="61341" y="83819"/>
                </a:lnTo>
                <a:lnTo>
                  <a:pt x="63246" y="85343"/>
                </a:lnTo>
                <a:lnTo>
                  <a:pt x="69215" y="82549"/>
                </a:lnTo>
                <a:lnTo>
                  <a:pt x="71120" y="79882"/>
                </a:lnTo>
                <a:lnTo>
                  <a:pt x="73152" y="79882"/>
                </a:lnTo>
                <a:lnTo>
                  <a:pt x="75057" y="78612"/>
                </a:lnTo>
                <a:lnTo>
                  <a:pt x="77089" y="74421"/>
                </a:lnTo>
                <a:lnTo>
                  <a:pt x="83058" y="73024"/>
                </a:lnTo>
                <a:lnTo>
                  <a:pt x="84963" y="74548"/>
                </a:lnTo>
                <a:lnTo>
                  <a:pt x="86995" y="73151"/>
                </a:lnTo>
                <a:lnTo>
                  <a:pt x="88900" y="74675"/>
                </a:lnTo>
                <a:lnTo>
                  <a:pt x="90932" y="74675"/>
                </a:lnTo>
                <a:lnTo>
                  <a:pt x="96901" y="67817"/>
                </a:lnTo>
                <a:lnTo>
                  <a:pt x="98806" y="66420"/>
                </a:lnTo>
                <a:lnTo>
                  <a:pt x="100838" y="66420"/>
                </a:lnTo>
                <a:lnTo>
                  <a:pt x="102743" y="67944"/>
                </a:lnTo>
                <a:lnTo>
                  <a:pt x="104775" y="65150"/>
                </a:lnTo>
                <a:lnTo>
                  <a:pt x="110744" y="62356"/>
                </a:lnTo>
                <a:lnTo>
                  <a:pt x="112648" y="66674"/>
                </a:lnTo>
                <a:lnTo>
                  <a:pt x="114680" y="72262"/>
                </a:lnTo>
                <a:lnTo>
                  <a:pt x="116586" y="83565"/>
                </a:lnTo>
                <a:lnTo>
                  <a:pt x="118618" y="93471"/>
                </a:lnTo>
                <a:lnTo>
                  <a:pt x="124587" y="110489"/>
                </a:lnTo>
                <a:lnTo>
                  <a:pt x="126492" y="101980"/>
                </a:lnTo>
                <a:lnTo>
                  <a:pt x="128523" y="83819"/>
                </a:lnTo>
                <a:lnTo>
                  <a:pt x="130429" y="74040"/>
                </a:lnTo>
                <a:lnTo>
                  <a:pt x="132461" y="85343"/>
                </a:lnTo>
                <a:lnTo>
                  <a:pt x="138430" y="103758"/>
                </a:lnTo>
                <a:lnTo>
                  <a:pt x="138459" y="105028"/>
                </a:lnTo>
                <a:lnTo>
                  <a:pt x="140335" y="185038"/>
                </a:lnTo>
                <a:lnTo>
                  <a:pt x="140589" y="190468"/>
                </a:lnTo>
                <a:lnTo>
                  <a:pt x="141192" y="203362"/>
                </a:lnTo>
                <a:lnTo>
                  <a:pt x="142367" y="228472"/>
                </a:lnTo>
                <a:lnTo>
                  <a:pt x="142396" y="229020"/>
                </a:lnTo>
                <a:lnTo>
                  <a:pt x="142605" y="232854"/>
                </a:lnTo>
                <a:lnTo>
                  <a:pt x="143170" y="243260"/>
                </a:lnTo>
                <a:lnTo>
                  <a:pt x="144272" y="263524"/>
                </a:lnTo>
                <a:lnTo>
                  <a:pt x="144303" y="265080"/>
                </a:lnTo>
                <a:lnTo>
                  <a:pt x="144526" y="275970"/>
                </a:lnTo>
                <a:lnTo>
                  <a:pt x="145129" y="305530"/>
                </a:lnTo>
                <a:lnTo>
                  <a:pt x="146304" y="363092"/>
                </a:lnTo>
                <a:lnTo>
                  <a:pt x="152273" y="374522"/>
                </a:lnTo>
                <a:lnTo>
                  <a:pt x="152302" y="375027"/>
                </a:lnTo>
                <a:lnTo>
                  <a:pt x="152511" y="378555"/>
                </a:lnTo>
                <a:lnTo>
                  <a:pt x="153076" y="388131"/>
                </a:lnTo>
                <a:lnTo>
                  <a:pt x="154178" y="406780"/>
                </a:lnTo>
                <a:lnTo>
                  <a:pt x="154209" y="407503"/>
                </a:lnTo>
                <a:lnTo>
                  <a:pt x="154432" y="412559"/>
                </a:lnTo>
                <a:lnTo>
                  <a:pt x="155035" y="426283"/>
                </a:lnTo>
                <a:lnTo>
                  <a:pt x="156210" y="453008"/>
                </a:lnTo>
                <a:lnTo>
                  <a:pt x="156239" y="454455"/>
                </a:lnTo>
                <a:lnTo>
                  <a:pt x="156448" y="464581"/>
                </a:lnTo>
                <a:lnTo>
                  <a:pt x="157013" y="492067"/>
                </a:lnTo>
                <a:lnTo>
                  <a:pt x="158115" y="545591"/>
                </a:lnTo>
                <a:lnTo>
                  <a:pt x="158146" y="546314"/>
                </a:lnTo>
                <a:lnTo>
                  <a:pt x="158369" y="551370"/>
                </a:lnTo>
                <a:lnTo>
                  <a:pt x="158972" y="565094"/>
                </a:lnTo>
                <a:lnTo>
                  <a:pt x="160147" y="591819"/>
                </a:lnTo>
                <a:lnTo>
                  <a:pt x="160240" y="591272"/>
                </a:lnTo>
                <a:lnTo>
                  <a:pt x="160893" y="587438"/>
                </a:lnTo>
                <a:lnTo>
                  <a:pt x="162665" y="577032"/>
                </a:lnTo>
                <a:lnTo>
                  <a:pt x="166116" y="556768"/>
                </a:lnTo>
                <a:lnTo>
                  <a:pt x="166145" y="557514"/>
                </a:lnTo>
                <a:lnTo>
                  <a:pt x="166354" y="562737"/>
                </a:lnTo>
                <a:lnTo>
                  <a:pt x="166919" y="576913"/>
                </a:lnTo>
                <a:lnTo>
                  <a:pt x="168021" y="604519"/>
                </a:lnTo>
                <a:lnTo>
                  <a:pt x="168052" y="603928"/>
                </a:lnTo>
                <a:lnTo>
                  <a:pt x="168275" y="599789"/>
                </a:lnTo>
                <a:lnTo>
                  <a:pt x="168878" y="588553"/>
                </a:lnTo>
                <a:lnTo>
                  <a:pt x="170053" y="566673"/>
                </a:lnTo>
                <a:lnTo>
                  <a:pt x="170082" y="566019"/>
                </a:lnTo>
                <a:lnTo>
                  <a:pt x="170291" y="561435"/>
                </a:lnTo>
                <a:lnTo>
                  <a:pt x="170856" y="548993"/>
                </a:lnTo>
                <a:lnTo>
                  <a:pt x="171958" y="524763"/>
                </a:lnTo>
                <a:lnTo>
                  <a:pt x="173990" y="507872"/>
                </a:lnTo>
                <a:lnTo>
                  <a:pt x="179959" y="515111"/>
                </a:lnTo>
                <a:lnTo>
                  <a:pt x="181864" y="537463"/>
                </a:lnTo>
                <a:lnTo>
                  <a:pt x="183896" y="530479"/>
                </a:lnTo>
                <a:lnTo>
                  <a:pt x="185801" y="525018"/>
                </a:lnTo>
                <a:lnTo>
                  <a:pt x="185832" y="525631"/>
                </a:lnTo>
                <a:lnTo>
                  <a:pt x="186055" y="529923"/>
                </a:lnTo>
                <a:lnTo>
                  <a:pt x="186658" y="541573"/>
                </a:lnTo>
                <a:lnTo>
                  <a:pt x="187833" y="564260"/>
                </a:lnTo>
                <a:lnTo>
                  <a:pt x="187926" y="563758"/>
                </a:lnTo>
                <a:lnTo>
                  <a:pt x="188579" y="560244"/>
                </a:lnTo>
                <a:lnTo>
                  <a:pt x="190351" y="550705"/>
                </a:lnTo>
                <a:lnTo>
                  <a:pt x="193802" y="532129"/>
                </a:lnTo>
                <a:lnTo>
                  <a:pt x="195707" y="533526"/>
                </a:lnTo>
                <a:lnTo>
                  <a:pt x="197739" y="522350"/>
                </a:lnTo>
                <a:lnTo>
                  <a:pt x="199644" y="523747"/>
                </a:lnTo>
                <a:lnTo>
                  <a:pt x="199798" y="523291"/>
                </a:lnTo>
                <a:lnTo>
                  <a:pt x="200882" y="520096"/>
                </a:lnTo>
                <a:lnTo>
                  <a:pt x="203823" y="511425"/>
                </a:lnTo>
                <a:lnTo>
                  <a:pt x="209550" y="494538"/>
                </a:lnTo>
                <a:lnTo>
                  <a:pt x="209581" y="494035"/>
                </a:lnTo>
                <a:lnTo>
                  <a:pt x="209804" y="490521"/>
                </a:lnTo>
                <a:lnTo>
                  <a:pt x="210407" y="480982"/>
                </a:lnTo>
                <a:lnTo>
                  <a:pt x="211582" y="462406"/>
                </a:lnTo>
                <a:lnTo>
                  <a:pt x="213486" y="451103"/>
                </a:lnTo>
                <a:lnTo>
                  <a:pt x="215519" y="469391"/>
                </a:lnTo>
                <a:lnTo>
                  <a:pt x="221361" y="468121"/>
                </a:lnTo>
                <a:lnTo>
                  <a:pt x="223393" y="472313"/>
                </a:lnTo>
                <a:lnTo>
                  <a:pt x="223424" y="472729"/>
                </a:lnTo>
                <a:lnTo>
                  <a:pt x="223647" y="475646"/>
                </a:lnTo>
                <a:lnTo>
                  <a:pt x="224250" y="483564"/>
                </a:lnTo>
                <a:lnTo>
                  <a:pt x="225425" y="498982"/>
                </a:lnTo>
                <a:lnTo>
                  <a:pt x="227329" y="506094"/>
                </a:lnTo>
                <a:lnTo>
                  <a:pt x="229361" y="499109"/>
                </a:lnTo>
                <a:lnTo>
                  <a:pt x="235204" y="500506"/>
                </a:lnTo>
                <a:lnTo>
                  <a:pt x="237236" y="504824"/>
                </a:lnTo>
                <a:lnTo>
                  <a:pt x="239268" y="509016"/>
                </a:lnTo>
                <a:lnTo>
                  <a:pt x="241172" y="495045"/>
                </a:lnTo>
                <a:lnTo>
                  <a:pt x="241204" y="494500"/>
                </a:lnTo>
                <a:lnTo>
                  <a:pt x="241426" y="490680"/>
                </a:lnTo>
                <a:lnTo>
                  <a:pt x="242030" y="480312"/>
                </a:lnTo>
                <a:lnTo>
                  <a:pt x="243204" y="460120"/>
                </a:lnTo>
                <a:lnTo>
                  <a:pt x="249047" y="475614"/>
                </a:lnTo>
                <a:lnTo>
                  <a:pt x="251079" y="481202"/>
                </a:lnTo>
                <a:lnTo>
                  <a:pt x="253111" y="460247"/>
                </a:lnTo>
                <a:lnTo>
                  <a:pt x="255015" y="458850"/>
                </a:lnTo>
                <a:lnTo>
                  <a:pt x="262890" y="449198"/>
                </a:lnTo>
                <a:lnTo>
                  <a:pt x="262921" y="448609"/>
                </a:lnTo>
                <a:lnTo>
                  <a:pt x="263144" y="444484"/>
                </a:lnTo>
                <a:lnTo>
                  <a:pt x="263747" y="433286"/>
                </a:lnTo>
                <a:lnTo>
                  <a:pt x="264922" y="411479"/>
                </a:lnTo>
                <a:lnTo>
                  <a:pt x="266954" y="414273"/>
                </a:lnTo>
                <a:lnTo>
                  <a:pt x="268859" y="415670"/>
                </a:lnTo>
                <a:lnTo>
                  <a:pt x="270891" y="428370"/>
                </a:lnTo>
                <a:lnTo>
                  <a:pt x="276733" y="414527"/>
                </a:lnTo>
                <a:lnTo>
                  <a:pt x="278765" y="392048"/>
                </a:lnTo>
                <a:lnTo>
                  <a:pt x="280797" y="379475"/>
                </a:lnTo>
                <a:lnTo>
                  <a:pt x="282702" y="355726"/>
                </a:lnTo>
                <a:lnTo>
                  <a:pt x="282733" y="355137"/>
                </a:lnTo>
                <a:lnTo>
                  <a:pt x="282956" y="351012"/>
                </a:lnTo>
                <a:lnTo>
                  <a:pt x="283559" y="339814"/>
                </a:lnTo>
                <a:lnTo>
                  <a:pt x="284734" y="318007"/>
                </a:lnTo>
                <a:lnTo>
                  <a:pt x="292608" y="340613"/>
                </a:lnTo>
                <a:lnTo>
                  <a:pt x="292608" y="340613"/>
                </a:lnTo>
                <a:lnTo>
                  <a:pt x="294513" y="322452"/>
                </a:lnTo>
                <a:lnTo>
                  <a:pt x="296545" y="302767"/>
                </a:lnTo>
                <a:lnTo>
                  <a:pt x="298577" y="322579"/>
                </a:lnTo>
                <a:lnTo>
                  <a:pt x="304419" y="322579"/>
                </a:lnTo>
                <a:lnTo>
                  <a:pt x="306451" y="312800"/>
                </a:lnTo>
                <a:lnTo>
                  <a:pt x="308356" y="298957"/>
                </a:lnTo>
                <a:lnTo>
                  <a:pt x="310388" y="273684"/>
                </a:lnTo>
                <a:lnTo>
                  <a:pt x="312420" y="268223"/>
                </a:lnTo>
                <a:lnTo>
                  <a:pt x="318262" y="251459"/>
                </a:lnTo>
                <a:lnTo>
                  <a:pt x="320294" y="227710"/>
                </a:lnTo>
                <a:lnTo>
                  <a:pt x="322199" y="223646"/>
                </a:lnTo>
                <a:lnTo>
                  <a:pt x="324231" y="229234"/>
                </a:lnTo>
                <a:lnTo>
                  <a:pt x="326263" y="243331"/>
                </a:lnTo>
                <a:lnTo>
                  <a:pt x="332105" y="248919"/>
                </a:lnTo>
                <a:lnTo>
                  <a:pt x="334137" y="264413"/>
                </a:lnTo>
                <a:lnTo>
                  <a:pt x="334166" y="263931"/>
                </a:lnTo>
                <a:lnTo>
                  <a:pt x="334375" y="260556"/>
                </a:lnTo>
                <a:lnTo>
                  <a:pt x="334940" y="251394"/>
                </a:lnTo>
                <a:lnTo>
                  <a:pt x="336042" y="233552"/>
                </a:lnTo>
                <a:lnTo>
                  <a:pt x="336042" y="233552"/>
                </a:lnTo>
                <a:lnTo>
                  <a:pt x="338074" y="233679"/>
                </a:lnTo>
                <a:lnTo>
                  <a:pt x="340106" y="236600"/>
                </a:lnTo>
                <a:lnTo>
                  <a:pt x="345948" y="228218"/>
                </a:lnTo>
                <a:lnTo>
                  <a:pt x="347980" y="226948"/>
                </a:lnTo>
                <a:lnTo>
                  <a:pt x="349885" y="219963"/>
                </a:lnTo>
                <a:lnTo>
                  <a:pt x="351917" y="225551"/>
                </a:lnTo>
                <a:lnTo>
                  <a:pt x="353949" y="229869"/>
                </a:lnTo>
                <a:lnTo>
                  <a:pt x="359791" y="229996"/>
                </a:lnTo>
                <a:lnTo>
                  <a:pt x="361823" y="235584"/>
                </a:lnTo>
                <a:lnTo>
                  <a:pt x="363728" y="235584"/>
                </a:lnTo>
                <a:lnTo>
                  <a:pt x="365760" y="227202"/>
                </a:lnTo>
                <a:lnTo>
                  <a:pt x="367665" y="218820"/>
                </a:lnTo>
                <a:lnTo>
                  <a:pt x="375666" y="214756"/>
                </a:lnTo>
                <a:lnTo>
                  <a:pt x="377571" y="199516"/>
                </a:lnTo>
                <a:lnTo>
                  <a:pt x="379603" y="202310"/>
                </a:lnTo>
                <a:lnTo>
                  <a:pt x="381508" y="203834"/>
                </a:lnTo>
                <a:lnTo>
                  <a:pt x="387477" y="210819"/>
                </a:lnTo>
                <a:lnTo>
                  <a:pt x="389509" y="208025"/>
                </a:lnTo>
                <a:lnTo>
                  <a:pt x="391414" y="210946"/>
                </a:lnTo>
                <a:lnTo>
                  <a:pt x="393446" y="205358"/>
                </a:lnTo>
                <a:lnTo>
                  <a:pt x="395351" y="203961"/>
                </a:lnTo>
                <a:lnTo>
                  <a:pt x="401320" y="200024"/>
                </a:lnTo>
                <a:lnTo>
                  <a:pt x="403352" y="191515"/>
                </a:lnTo>
                <a:lnTo>
                  <a:pt x="405257" y="173481"/>
                </a:lnTo>
                <a:lnTo>
                  <a:pt x="407289" y="153923"/>
                </a:lnTo>
                <a:lnTo>
                  <a:pt x="409194" y="161035"/>
                </a:lnTo>
                <a:lnTo>
                  <a:pt x="415163" y="169417"/>
                </a:lnTo>
                <a:lnTo>
                  <a:pt x="417195" y="151256"/>
                </a:lnTo>
                <a:lnTo>
                  <a:pt x="419100" y="165353"/>
                </a:lnTo>
                <a:lnTo>
                  <a:pt x="421131" y="161162"/>
                </a:lnTo>
                <a:lnTo>
                  <a:pt x="423037" y="159892"/>
                </a:lnTo>
                <a:lnTo>
                  <a:pt x="429006" y="155701"/>
                </a:lnTo>
                <a:lnTo>
                  <a:pt x="431038" y="143255"/>
                </a:lnTo>
                <a:lnTo>
                  <a:pt x="432943" y="130682"/>
                </a:lnTo>
                <a:lnTo>
                  <a:pt x="434975" y="137794"/>
                </a:lnTo>
                <a:lnTo>
                  <a:pt x="436880" y="130809"/>
                </a:lnTo>
                <a:lnTo>
                  <a:pt x="442848" y="128142"/>
                </a:lnTo>
                <a:lnTo>
                  <a:pt x="444881" y="125348"/>
                </a:lnTo>
                <a:lnTo>
                  <a:pt x="446786" y="124078"/>
                </a:lnTo>
                <a:lnTo>
                  <a:pt x="448818" y="125348"/>
                </a:lnTo>
                <a:lnTo>
                  <a:pt x="450723" y="121284"/>
                </a:lnTo>
                <a:lnTo>
                  <a:pt x="456692" y="128269"/>
                </a:lnTo>
                <a:lnTo>
                  <a:pt x="458723" y="128396"/>
                </a:lnTo>
                <a:lnTo>
                  <a:pt x="460629" y="131317"/>
                </a:lnTo>
                <a:lnTo>
                  <a:pt x="462661" y="125729"/>
                </a:lnTo>
                <a:lnTo>
                  <a:pt x="464566" y="117347"/>
                </a:lnTo>
                <a:lnTo>
                  <a:pt x="470534" y="125856"/>
                </a:lnTo>
                <a:lnTo>
                  <a:pt x="472567" y="121665"/>
                </a:lnTo>
                <a:lnTo>
                  <a:pt x="474472" y="127380"/>
                </a:lnTo>
                <a:lnTo>
                  <a:pt x="476504" y="141350"/>
                </a:lnTo>
                <a:lnTo>
                  <a:pt x="486409" y="130428"/>
                </a:lnTo>
                <a:lnTo>
                  <a:pt x="488315" y="116458"/>
                </a:lnTo>
                <a:lnTo>
                  <a:pt x="490347" y="99694"/>
                </a:lnTo>
                <a:lnTo>
                  <a:pt x="492252" y="91439"/>
                </a:lnTo>
                <a:lnTo>
                  <a:pt x="498220" y="98424"/>
                </a:lnTo>
                <a:lnTo>
                  <a:pt x="500253" y="98424"/>
                </a:lnTo>
                <a:lnTo>
                  <a:pt x="502158" y="105536"/>
                </a:lnTo>
                <a:lnTo>
                  <a:pt x="504190" y="105536"/>
                </a:lnTo>
                <a:lnTo>
                  <a:pt x="506095" y="119633"/>
                </a:lnTo>
                <a:lnTo>
                  <a:pt x="512064" y="109981"/>
                </a:lnTo>
                <a:lnTo>
                  <a:pt x="514095" y="111505"/>
                </a:lnTo>
                <a:lnTo>
                  <a:pt x="516001" y="105790"/>
                </a:lnTo>
                <a:lnTo>
                  <a:pt x="518033" y="107314"/>
                </a:lnTo>
                <a:lnTo>
                  <a:pt x="519938" y="118490"/>
                </a:lnTo>
                <a:lnTo>
                  <a:pt x="525907" y="121411"/>
                </a:lnTo>
                <a:lnTo>
                  <a:pt x="527812" y="146557"/>
                </a:lnTo>
                <a:lnTo>
                  <a:pt x="529844" y="156463"/>
                </a:lnTo>
                <a:lnTo>
                  <a:pt x="531876" y="169036"/>
                </a:lnTo>
                <a:lnTo>
                  <a:pt x="533781" y="184276"/>
                </a:lnTo>
                <a:lnTo>
                  <a:pt x="539750" y="178942"/>
                </a:lnTo>
                <a:lnTo>
                  <a:pt x="541655" y="174751"/>
                </a:lnTo>
                <a:lnTo>
                  <a:pt x="543687" y="180466"/>
                </a:lnTo>
                <a:lnTo>
                  <a:pt x="545719" y="184530"/>
                </a:lnTo>
                <a:lnTo>
                  <a:pt x="547624" y="174878"/>
                </a:lnTo>
                <a:lnTo>
                  <a:pt x="553593" y="181990"/>
                </a:lnTo>
                <a:lnTo>
                  <a:pt x="555498" y="165226"/>
                </a:lnTo>
                <a:lnTo>
                  <a:pt x="557530" y="172338"/>
                </a:lnTo>
                <a:lnTo>
                  <a:pt x="559562" y="159765"/>
                </a:lnTo>
                <a:lnTo>
                  <a:pt x="561467" y="161162"/>
                </a:lnTo>
                <a:lnTo>
                  <a:pt x="567436" y="162686"/>
                </a:lnTo>
                <a:lnTo>
                  <a:pt x="569341" y="147446"/>
                </a:lnTo>
                <a:lnTo>
                  <a:pt x="571373" y="146049"/>
                </a:lnTo>
                <a:lnTo>
                  <a:pt x="573405" y="153034"/>
                </a:lnTo>
                <a:lnTo>
                  <a:pt x="575310" y="164337"/>
                </a:lnTo>
                <a:lnTo>
                  <a:pt x="581279" y="158749"/>
                </a:lnTo>
                <a:lnTo>
                  <a:pt x="583184" y="160273"/>
                </a:lnTo>
                <a:lnTo>
                  <a:pt x="585216" y="170052"/>
                </a:lnTo>
                <a:lnTo>
                  <a:pt x="587248" y="172846"/>
                </a:lnTo>
                <a:lnTo>
                  <a:pt x="589153" y="179958"/>
                </a:lnTo>
                <a:lnTo>
                  <a:pt x="595122" y="192531"/>
                </a:lnTo>
                <a:lnTo>
                  <a:pt x="597027" y="182879"/>
                </a:lnTo>
                <a:lnTo>
                  <a:pt x="599059" y="178688"/>
                </a:lnTo>
                <a:lnTo>
                  <a:pt x="600964" y="189991"/>
                </a:lnTo>
                <a:lnTo>
                  <a:pt x="602996" y="195452"/>
                </a:lnTo>
                <a:lnTo>
                  <a:pt x="608965" y="201167"/>
                </a:lnTo>
                <a:lnTo>
                  <a:pt x="610870" y="208152"/>
                </a:lnTo>
                <a:lnTo>
                  <a:pt x="612902" y="184530"/>
                </a:lnTo>
                <a:lnTo>
                  <a:pt x="614807" y="160908"/>
                </a:lnTo>
                <a:lnTo>
                  <a:pt x="616839" y="138556"/>
                </a:lnTo>
                <a:lnTo>
                  <a:pt x="622808" y="137413"/>
                </a:lnTo>
                <a:lnTo>
                  <a:pt x="624713" y="131698"/>
                </a:lnTo>
                <a:lnTo>
                  <a:pt x="626745" y="134619"/>
                </a:lnTo>
                <a:lnTo>
                  <a:pt x="628650" y="126237"/>
                </a:lnTo>
                <a:lnTo>
                  <a:pt x="630682" y="119379"/>
                </a:lnTo>
                <a:lnTo>
                  <a:pt x="636651" y="119506"/>
                </a:lnTo>
                <a:lnTo>
                  <a:pt x="638556" y="112521"/>
                </a:lnTo>
                <a:lnTo>
                  <a:pt x="640588" y="112521"/>
                </a:lnTo>
                <a:lnTo>
                  <a:pt x="642493" y="112648"/>
                </a:lnTo>
                <a:lnTo>
                  <a:pt x="644525" y="111378"/>
                </a:lnTo>
                <a:lnTo>
                  <a:pt x="650494" y="102996"/>
                </a:lnTo>
                <a:lnTo>
                  <a:pt x="652399" y="101726"/>
                </a:lnTo>
                <a:lnTo>
                  <a:pt x="654431" y="100329"/>
                </a:lnTo>
                <a:lnTo>
                  <a:pt x="656336" y="94868"/>
                </a:lnTo>
                <a:lnTo>
                  <a:pt x="658368" y="93471"/>
                </a:lnTo>
                <a:lnTo>
                  <a:pt x="664337" y="90804"/>
                </a:lnTo>
                <a:lnTo>
                  <a:pt x="666242" y="90804"/>
                </a:lnTo>
                <a:lnTo>
                  <a:pt x="668274" y="86613"/>
                </a:lnTo>
                <a:lnTo>
                  <a:pt x="670179" y="85343"/>
                </a:lnTo>
                <a:lnTo>
                  <a:pt x="672211" y="74167"/>
                </a:lnTo>
                <a:lnTo>
                  <a:pt x="678180" y="68833"/>
                </a:lnTo>
                <a:lnTo>
                  <a:pt x="680085" y="64642"/>
                </a:lnTo>
                <a:lnTo>
                  <a:pt x="682117" y="61975"/>
                </a:lnTo>
                <a:lnTo>
                  <a:pt x="684022" y="60451"/>
                </a:lnTo>
                <a:lnTo>
                  <a:pt x="686054" y="68833"/>
                </a:lnTo>
                <a:lnTo>
                  <a:pt x="692023" y="52323"/>
                </a:lnTo>
                <a:lnTo>
                  <a:pt x="693928" y="60705"/>
                </a:lnTo>
                <a:lnTo>
                  <a:pt x="695960" y="49529"/>
                </a:lnTo>
                <a:lnTo>
                  <a:pt x="697865" y="45592"/>
                </a:lnTo>
                <a:lnTo>
                  <a:pt x="699897" y="39877"/>
                </a:lnTo>
                <a:lnTo>
                  <a:pt x="705866" y="40004"/>
                </a:lnTo>
                <a:lnTo>
                  <a:pt x="707771" y="47116"/>
                </a:lnTo>
                <a:lnTo>
                  <a:pt x="709803" y="45719"/>
                </a:lnTo>
                <a:lnTo>
                  <a:pt x="721614" y="45973"/>
                </a:lnTo>
                <a:lnTo>
                  <a:pt x="723646" y="40385"/>
                </a:lnTo>
                <a:lnTo>
                  <a:pt x="725551" y="37718"/>
                </a:lnTo>
                <a:lnTo>
                  <a:pt x="733552" y="35178"/>
                </a:lnTo>
                <a:lnTo>
                  <a:pt x="735457" y="30987"/>
                </a:lnTo>
                <a:lnTo>
                  <a:pt x="737489" y="36575"/>
                </a:lnTo>
                <a:lnTo>
                  <a:pt x="739394" y="46354"/>
                </a:lnTo>
                <a:lnTo>
                  <a:pt x="741426" y="52069"/>
                </a:lnTo>
                <a:lnTo>
                  <a:pt x="747268" y="53466"/>
                </a:lnTo>
                <a:lnTo>
                  <a:pt x="749300" y="59054"/>
                </a:lnTo>
                <a:lnTo>
                  <a:pt x="751332" y="73024"/>
                </a:lnTo>
                <a:lnTo>
                  <a:pt x="753237" y="66166"/>
                </a:lnTo>
                <a:lnTo>
                  <a:pt x="755269" y="63372"/>
                </a:lnTo>
                <a:lnTo>
                  <a:pt x="761111" y="66293"/>
                </a:lnTo>
                <a:lnTo>
                  <a:pt x="763143" y="66293"/>
                </a:lnTo>
                <a:lnTo>
                  <a:pt x="765175" y="65023"/>
                </a:lnTo>
                <a:lnTo>
                  <a:pt x="767080" y="65150"/>
                </a:lnTo>
                <a:lnTo>
                  <a:pt x="769112" y="63626"/>
                </a:lnTo>
                <a:lnTo>
                  <a:pt x="774954" y="63753"/>
                </a:lnTo>
                <a:lnTo>
                  <a:pt x="776986" y="58292"/>
                </a:lnTo>
                <a:lnTo>
                  <a:pt x="779018" y="58419"/>
                </a:lnTo>
                <a:lnTo>
                  <a:pt x="780923" y="61213"/>
                </a:lnTo>
                <a:lnTo>
                  <a:pt x="782955" y="64007"/>
                </a:lnTo>
                <a:lnTo>
                  <a:pt x="788797" y="61340"/>
                </a:lnTo>
                <a:lnTo>
                  <a:pt x="790829" y="59943"/>
                </a:lnTo>
                <a:lnTo>
                  <a:pt x="792861" y="57276"/>
                </a:lnTo>
                <a:lnTo>
                  <a:pt x="794766" y="57276"/>
                </a:lnTo>
                <a:lnTo>
                  <a:pt x="796798" y="55879"/>
                </a:lnTo>
                <a:lnTo>
                  <a:pt x="802640" y="49021"/>
                </a:lnTo>
                <a:lnTo>
                  <a:pt x="804672" y="50545"/>
                </a:lnTo>
                <a:lnTo>
                  <a:pt x="806704" y="56133"/>
                </a:lnTo>
                <a:lnTo>
                  <a:pt x="808609" y="56133"/>
                </a:lnTo>
                <a:lnTo>
                  <a:pt x="810641" y="58927"/>
                </a:lnTo>
                <a:lnTo>
                  <a:pt x="816483" y="46608"/>
                </a:lnTo>
                <a:lnTo>
                  <a:pt x="818515" y="56387"/>
                </a:lnTo>
                <a:lnTo>
                  <a:pt x="820419" y="66166"/>
                </a:lnTo>
                <a:lnTo>
                  <a:pt x="822452" y="73151"/>
                </a:lnTo>
                <a:lnTo>
                  <a:pt x="824484" y="68960"/>
                </a:lnTo>
                <a:lnTo>
                  <a:pt x="830326" y="73278"/>
                </a:lnTo>
                <a:lnTo>
                  <a:pt x="832358" y="83057"/>
                </a:lnTo>
                <a:lnTo>
                  <a:pt x="834263" y="85851"/>
                </a:lnTo>
                <a:lnTo>
                  <a:pt x="836294" y="85978"/>
                </a:lnTo>
                <a:lnTo>
                  <a:pt x="838327" y="95757"/>
                </a:lnTo>
                <a:lnTo>
                  <a:pt x="844169" y="108330"/>
                </a:lnTo>
                <a:lnTo>
                  <a:pt x="846201" y="98678"/>
                </a:lnTo>
                <a:lnTo>
                  <a:pt x="848106" y="97408"/>
                </a:lnTo>
                <a:lnTo>
                  <a:pt x="850138" y="104393"/>
                </a:lnTo>
                <a:lnTo>
                  <a:pt x="852169" y="108457"/>
                </a:lnTo>
                <a:lnTo>
                  <a:pt x="858012" y="126745"/>
                </a:lnTo>
                <a:lnTo>
                  <a:pt x="860044" y="140715"/>
                </a:lnTo>
                <a:lnTo>
                  <a:pt x="861949" y="138048"/>
                </a:lnTo>
                <a:lnTo>
                  <a:pt x="863981" y="132460"/>
                </a:lnTo>
                <a:lnTo>
                  <a:pt x="866013" y="118490"/>
                </a:lnTo>
                <a:lnTo>
                  <a:pt x="871855" y="129793"/>
                </a:lnTo>
                <a:lnTo>
                  <a:pt x="873887" y="125729"/>
                </a:lnTo>
                <a:lnTo>
                  <a:pt x="875791" y="117474"/>
                </a:lnTo>
                <a:lnTo>
                  <a:pt x="877824" y="125729"/>
                </a:lnTo>
                <a:lnTo>
                  <a:pt x="879856" y="135508"/>
                </a:lnTo>
                <a:lnTo>
                  <a:pt x="885697" y="134365"/>
                </a:lnTo>
                <a:lnTo>
                  <a:pt x="887730" y="124586"/>
                </a:lnTo>
                <a:lnTo>
                  <a:pt x="889635" y="123189"/>
                </a:lnTo>
                <a:lnTo>
                  <a:pt x="891666" y="123316"/>
                </a:lnTo>
                <a:lnTo>
                  <a:pt x="893572" y="124713"/>
                </a:lnTo>
                <a:lnTo>
                  <a:pt x="899541" y="129031"/>
                </a:lnTo>
                <a:lnTo>
                  <a:pt x="901572" y="143001"/>
                </a:lnTo>
                <a:lnTo>
                  <a:pt x="903478" y="141604"/>
                </a:lnTo>
                <a:lnTo>
                  <a:pt x="905510" y="136016"/>
                </a:lnTo>
                <a:lnTo>
                  <a:pt x="915416" y="119633"/>
                </a:lnTo>
                <a:lnTo>
                  <a:pt x="917321" y="119633"/>
                </a:lnTo>
                <a:lnTo>
                  <a:pt x="919353" y="104393"/>
                </a:lnTo>
                <a:lnTo>
                  <a:pt x="921258" y="101726"/>
                </a:lnTo>
                <a:lnTo>
                  <a:pt x="927227" y="111505"/>
                </a:lnTo>
                <a:lnTo>
                  <a:pt x="929259" y="110108"/>
                </a:lnTo>
                <a:lnTo>
                  <a:pt x="931163" y="101726"/>
                </a:lnTo>
                <a:lnTo>
                  <a:pt x="933196" y="100456"/>
                </a:lnTo>
                <a:lnTo>
                  <a:pt x="935101" y="86613"/>
                </a:lnTo>
                <a:lnTo>
                  <a:pt x="941069" y="78485"/>
                </a:lnTo>
                <a:lnTo>
                  <a:pt x="943102" y="72897"/>
                </a:lnTo>
                <a:lnTo>
                  <a:pt x="945007" y="75691"/>
                </a:lnTo>
                <a:lnTo>
                  <a:pt x="947038" y="79882"/>
                </a:lnTo>
                <a:lnTo>
                  <a:pt x="948944" y="77215"/>
                </a:lnTo>
                <a:lnTo>
                  <a:pt x="954913" y="71754"/>
                </a:lnTo>
                <a:lnTo>
                  <a:pt x="956944" y="75945"/>
                </a:lnTo>
                <a:lnTo>
                  <a:pt x="958850" y="80136"/>
                </a:lnTo>
                <a:lnTo>
                  <a:pt x="960882" y="84454"/>
                </a:lnTo>
                <a:lnTo>
                  <a:pt x="962787" y="80263"/>
                </a:lnTo>
                <a:lnTo>
                  <a:pt x="970788" y="77723"/>
                </a:lnTo>
                <a:lnTo>
                  <a:pt x="972693" y="76326"/>
                </a:lnTo>
                <a:lnTo>
                  <a:pt x="974725" y="75056"/>
                </a:lnTo>
                <a:lnTo>
                  <a:pt x="976630" y="68071"/>
                </a:lnTo>
                <a:lnTo>
                  <a:pt x="982599" y="61213"/>
                </a:lnTo>
                <a:lnTo>
                  <a:pt x="984631" y="57022"/>
                </a:lnTo>
                <a:lnTo>
                  <a:pt x="986536" y="64134"/>
                </a:lnTo>
                <a:lnTo>
                  <a:pt x="988568" y="75310"/>
                </a:lnTo>
                <a:lnTo>
                  <a:pt x="990472" y="76707"/>
                </a:lnTo>
                <a:lnTo>
                  <a:pt x="996441" y="72516"/>
                </a:lnTo>
                <a:lnTo>
                  <a:pt x="998474" y="69849"/>
                </a:lnTo>
                <a:lnTo>
                  <a:pt x="1000379" y="71373"/>
                </a:lnTo>
                <a:lnTo>
                  <a:pt x="1002411" y="76961"/>
                </a:lnTo>
                <a:lnTo>
                  <a:pt x="1004316" y="75564"/>
                </a:lnTo>
                <a:lnTo>
                  <a:pt x="1010285" y="81279"/>
                </a:lnTo>
                <a:lnTo>
                  <a:pt x="1012316" y="70103"/>
                </a:lnTo>
                <a:lnTo>
                  <a:pt x="1014222" y="66039"/>
                </a:lnTo>
                <a:lnTo>
                  <a:pt x="1016254" y="63245"/>
                </a:lnTo>
                <a:lnTo>
                  <a:pt x="1018159" y="66039"/>
                </a:lnTo>
                <a:lnTo>
                  <a:pt x="1026160" y="63499"/>
                </a:lnTo>
                <a:lnTo>
                  <a:pt x="1028065" y="60832"/>
                </a:lnTo>
                <a:lnTo>
                  <a:pt x="1030097" y="55371"/>
                </a:lnTo>
                <a:lnTo>
                  <a:pt x="1032002" y="58165"/>
                </a:lnTo>
                <a:lnTo>
                  <a:pt x="1037971" y="51307"/>
                </a:lnTo>
                <a:lnTo>
                  <a:pt x="1039876" y="48640"/>
                </a:lnTo>
                <a:lnTo>
                  <a:pt x="1041908" y="44449"/>
                </a:lnTo>
                <a:lnTo>
                  <a:pt x="1043940" y="37464"/>
                </a:lnTo>
                <a:lnTo>
                  <a:pt x="1045844" y="36067"/>
                </a:lnTo>
                <a:lnTo>
                  <a:pt x="1051814" y="29336"/>
                </a:lnTo>
                <a:lnTo>
                  <a:pt x="1053719" y="36321"/>
                </a:lnTo>
                <a:lnTo>
                  <a:pt x="1055751" y="40512"/>
                </a:lnTo>
                <a:lnTo>
                  <a:pt x="1057783" y="39242"/>
                </a:lnTo>
                <a:lnTo>
                  <a:pt x="1059688" y="47624"/>
                </a:lnTo>
                <a:lnTo>
                  <a:pt x="1065657" y="35178"/>
                </a:lnTo>
                <a:lnTo>
                  <a:pt x="1067562" y="40766"/>
                </a:lnTo>
                <a:lnTo>
                  <a:pt x="1069594" y="46354"/>
                </a:lnTo>
                <a:lnTo>
                  <a:pt x="1071626" y="53339"/>
                </a:lnTo>
                <a:lnTo>
                  <a:pt x="1073531" y="43687"/>
                </a:lnTo>
                <a:lnTo>
                  <a:pt x="1079500" y="48005"/>
                </a:lnTo>
                <a:lnTo>
                  <a:pt x="1081405" y="43814"/>
                </a:lnTo>
                <a:lnTo>
                  <a:pt x="1083437" y="45338"/>
                </a:lnTo>
                <a:lnTo>
                  <a:pt x="1085469" y="52323"/>
                </a:lnTo>
                <a:lnTo>
                  <a:pt x="1087374" y="45465"/>
                </a:lnTo>
                <a:lnTo>
                  <a:pt x="1095248" y="45592"/>
                </a:lnTo>
                <a:lnTo>
                  <a:pt x="1097280" y="42798"/>
                </a:lnTo>
                <a:lnTo>
                  <a:pt x="1099312" y="38734"/>
                </a:lnTo>
                <a:lnTo>
                  <a:pt x="1101217" y="41528"/>
                </a:lnTo>
                <a:lnTo>
                  <a:pt x="1107186" y="34670"/>
                </a:lnTo>
                <a:lnTo>
                  <a:pt x="1109091" y="44449"/>
                </a:lnTo>
                <a:lnTo>
                  <a:pt x="1111123" y="43052"/>
                </a:lnTo>
                <a:lnTo>
                  <a:pt x="1113028" y="43052"/>
                </a:lnTo>
                <a:lnTo>
                  <a:pt x="1115060" y="37591"/>
                </a:lnTo>
                <a:lnTo>
                  <a:pt x="1121029" y="26669"/>
                </a:lnTo>
                <a:lnTo>
                  <a:pt x="1122934" y="33654"/>
                </a:lnTo>
                <a:lnTo>
                  <a:pt x="1124966" y="35051"/>
                </a:lnTo>
                <a:lnTo>
                  <a:pt x="1126871" y="40639"/>
                </a:lnTo>
                <a:lnTo>
                  <a:pt x="1128903" y="46227"/>
                </a:lnTo>
                <a:lnTo>
                  <a:pt x="1134872" y="39369"/>
                </a:lnTo>
                <a:lnTo>
                  <a:pt x="1136777" y="40893"/>
                </a:lnTo>
                <a:lnTo>
                  <a:pt x="1138809" y="45084"/>
                </a:lnTo>
                <a:lnTo>
                  <a:pt x="1140714" y="49275"/>
                </a:lnTo>
                <a:lnTo>
                  <a:pt x="1142746" y="46481"/>
                </a:lnTo>
                <a:lnTo>
                  <a:pt x="1148715" y="46608"/>
                </a:lnTo>
                <a:lnTo>
                  <a:pt x="1150620" y="36956"/>
                </a:lnTo>
                <a:lnTo>
                  <a:pt x="1152652" y="37083"/>
                </a:lnTo>
                <a:lnTo>
                  <a:pt x="1154557" y="35813"/>
                </a:lnTo>
                <a:lnTo>
                  <a:pt x="1156589" y="37083"/>
                </a:lnTo>
                <a:lnTo>
                  <a:pt x="1162558" y="44195"/>
                </a:lnTo>
                <a:lnTo>
                  <a:pt x="1164463" y="46989"/>
                </a:lnTo>
                <a:lnTo>
                  <a:pt x="1166495" y="51180"/>
                </a:lnTo>
                <a:lnTo>
                  <a:pt x="1168400" y="53974"/>
                </a:lnTo>
                <a:lnTo>
                  <a:pt x="1170432" y="49910"/>
                </a:lnTo>
                <a:lnTo>
                  <a:pt x="1176401" y="44449"/>
                </a:lnTo>
                <a:lnTo>
                  <a:pt x="1178306" y="37591"/>
                </a:lnTo>
                <a:lnTo>
                  <a:pt x="1180338" y="37591"/>
                </a:lnTo>
                <a:lnTo>
                  <a:pt x="1182243" y="36194"/>
                </a:lnTo>
                <a:lnTo>
                  <a:pt x="1184275" y="30733"/>
                </a:lnTo>
                <a:lnTo>
                  <a:pt x="1190244" y="29463"/>
                </a:lnTo>
                <a:lnTo>
                  <a:pt x="1192149" y="25399"/>
                </a:lnTo>
                <a:lnTo>
                  <a:pt x="1194181" y="22732"/>
                </a:lnTo>
                <a:lnTo>
                  <a:pt x="1196086" y="19938"/>
                </a:lnTo>
                <a:lnTo>
                  <a:pt x="1205992" y="21589"/>
                </a:lnTo>
                <a:lnTo>
                  <a:pt x="1208024" y="7746"/>
                </a:lnTo>
                <a:lnTo>
                  <a:pt x="1209929" y="6349"/>
                </a:lnTo>
                <a:lnTo>
                  <a:pt x="1211961" y="5079"/>
                </a:lnTo>
                <a:lnTo>
                  <a:pt x="1217930" y="6476"/>
                </a:lnTo>
                <a:lnTo>
                  <a:pt x="1219835" y="8000"/>
                </a:lnTo>
                <a:lnTo>
                  <a:pt x="1221867" y="9524"/>
                </a:lnTo>
                <a:lnTo>
                  <a:pt x="1223772" y="10794"/>
                </a:lnTo>
                <a:lnTo>
                  <a:pt x="1225804" y="9524"/>
                </a:lnTo>
                <a:lnTo>
                  <a:pt x="1231773" y="6857"/>
                </a:lnTo>
                <a:lnTo>
                  <a:pt x="1233678" y="1396"/>
                </a:lnTo>
                <a:lnTo>
                  <a:pt x="1235710" y="0"/>
                </a:lnTo>
                <a:lnTo>
                  <a:pt x="1237615" y="9651"/>
                </a:lnTo>
                <a:lnTo>
                  <a:pt x="1239647" y="5714"/>
                </a:lnTo>
                <a:lnTo>
                  <a:pt x="1245616" y="11302"/>
                </a:lnTo>
                <a:lnTo>
                  <a:pt x="1247521" y="18287"/>
                </a:lnTo>
                <a:lnTo>
                  <a:pt x="1249553" y="18287"/>
                </a:lnTo>
                <a:lnTo>
                  <a:pt x="1251458" y="19684"/>
                </a:lnTo>
                <a:lnTo>
                  <a:pt x="1253490" y="23875"/>
                </a:lnTo>
                <a:lnTo>
                  <a:pt x="1259332" y="36448"/>
                </a:lnTo>
                <a:lnTo>
                  <a:pt x="1261364" y="43433"/>
                </a:lnTo>
                <a:lnTo>
                  <a:pt x="1263396" y="57403"/>
                </a:lnTo>
                <a:lnTo>
                  <a:pt x="1265301" y="53212"/>
                </a:lnTo>
                <a:lnTo>
                  <a:pt x="1267333" y="57530"/>
                </a:lnTo>
                <a:lnTo>
                  <a:pt x="1273175" y="58927"/>
                </a:lnTo>
                <a:lnTo>
                  <a:pt x="1275207" y="58927"/>
                </a:lnTo>
                <a:lnTo>
                  <a:pt x="1277239" y="75691"/>
                </a:lnTo>
                <a:lnTo>
                  <a:pt x="1279144" y="70230"/>
                </a:lnTo>
                <a:lnTo>
                  <a:pt x="1281176" y="68833"/>
                </a:lnTo>
                <a:lnTo>
                  <a:pt x="1287018" y="74548"/>
                </a:lnTo>
                <a:lnTo>
                  <a:pt x="1289050" y="78739"/>
                </a:lnTo>
                <a:lnTo>
                  <a:pt x="1291082" y="81533"/>
                </a:lnTo>
                <a:lnTo>
                  <a:pt x="1292987" y="77469"/>
                </a:lnTo>
                <a:lnTo>
                  <a:pt x="1295019" y="70484"/>
                </a:lnTo>
                <a:lnTo>
                  <a:pt x="1300861" y="72135"/>
                </a:lnTo>
                <a:lnTo>
                  <a:pt x="1302893" y="73405"/>
                </a:lnTo>
                <a:lnTo>
                  <a:pt x="1304925" y="85978"/>
                </a:lnTo>
                <a:lnTo>
                  <a:pt x="1306830" y="80517"/>
                </a:lnTo>
                <a:lnTo>
                  <a:pt x="1308862" y="85978"/>
                </a:lnTo>
                <a:lnTo>
                  <a:pt x="1314704" y="83438"/>
                </a:lnTo>
                <a:lnTo>
                  <a:pt x="1316736" y="82041"/>
                </a:lnTo>
                <a:lnTo>
                  <a:pt x="1318768" y="82041"/>
                </a:lnTo>
                <a:lnTo>
                  <a:pt x="1320673" y="72389"/>
                </a:lnTo>
                <a:lnTo>
                  <a:pt x="1322705" y="71119"/>
                </a:lnTo>
                <a:lnTo>
                  <a:pt x="1328547" y="75437"/>
                </a:lnTo>
                <a:lnTo>
                  <a:pt x="1330579" y="90677"/>
                </a:lnTo>
                <a:lnTo>
                  <a:pt x="1332484" y="85216"/>
                </a:lnTo>
                <a:lnTo>
                  <a:pt x="1334516" y="83819"/>
                </a:lnTo>
                <a:lnTo>
                  <a:pt x="1336548" y="85343"/>
                </a:lnTo>
                <a:lnTo>
                  <a:pt x="1342390" y="86740"/>
                </a:lnTo>
                <a:lnTo>
                  <a:pt x="1344422" y="78485"/>
                </a:lnTo>
                <a:lnTo>
                  <a:pt x="1346327" y="75691"/>
                </a:lnTo>
                <a:lnTo>
                  <a:pt x="1348359" y="85470"/>
                </a:lnTo>
                <a:lnTo>
                  <a:pt x="1350391" y="88391"/>
                </a:lnTo>
                <a:lnTo>
                  <a:pt x="1356233" y="88518"/>
                </a:lnTo>
                <a:lnTo>
                  <a:pt x="1358265" y="91312"/>
                </a:lnTo>
                <a:lnTo>
                  <a:pt x="1360170" y="98297"/>
                </a:lnTo>
                <a:lnTo>
                  <a:pt x="1362202" y="112013"/>
                </a:lnTo>
                <a:lnTo>
                  <a:pt x="1364234" y="109346"/>
                </a:lnTo>
                <a:lnTo>
                  <a:pt x="1370076" y="105282"/>
                </a:lnTo>
                <a:lnTo>
                  <a:pt x="1372108" y="101218"/>
                </a:lnTo>
                <a:lnTo>
                  <a:pt x="1374013" y="110997"/>
                </a:lnTo>
                <a:lnTo>
                  <a:pt x="1376045" y="123443"/>
                </a:lnTo>
                <a:lnTo>
                  <a:pt x="1378077" y="123443"/>
                </a:lnTo>
                <a:lnTo>
                  <a:pt x="1383919" y="129158"/>
                </a:lnTo>
                <a:lnTo>
                  <a:pt x="1385951" y="134746"/>
                </a:lnTo>
                <a:lnTo>
                  <a:pt x="1387856" y="133349"/>
                </a:lnTo>
                <a:lnTo>
                  <a:pt x="1389888" y="140334"/>
                </a:lnTo>
                <a:lnTo>
                  <a:pt x="1391920" y="125094"/>
                </a:lnTo>
                <a:lnTo>
                  <a:pt x="1397762" y="116966"/>
                </a:lnTo>
                <a:lnTo>
                  <a:pt x="1399794" y="115569"/>
                </a:lnTo>
                <a:lnTo>
                  <a:pt x="1401699" y="108711"/>
                </a:lnTo>
                <a:lnTo>
                  <a:pt x="1403731" y="111632"/>
                </a:lnTo>
                <a:lnTo>
                  <a:pt x="1405636" y="110235"/>
                </a:lnTo>
                <a:lnTo>
                  <a:pt x="1411605" y="120014"/>
                </a:lnTo>
                <a:lnTo>
                  <a:pt x="1413637" y="121538"/>
                </a:lnTo>
                <a:lnTo>
                  <a:pt x="1415542" y="113156"/>
                </a:lnTo>
                <a:lnTo>
                  <a:pt x="1417574" y="118744"/>
                </a:lnTo>
                <a:lnTo>
                  <a:pt x="1419479" y="121538"/>
                </a:lnTo>
                <a:lnTo>
                  <a:pt x="1425448" y="113410"/>
                </a:lnTo>
                <a:lnTo>
                  <a:pt x="1427480" y="131444"/>
                </a:lnTo>
                <a:lnTo>
                  <a:pt x="1429385" y="137032"/>
                </a:lnTo>
                <a:lnTo>
                  <a:pt x="1431417" y="134238"/>
                </a:lnTo>
                <a:lnTo>
                  <a:pt x="1443228" y="134492"/>
                </a:lnTo>
                <a:lnTo>
                  <a:pt x="1445260" y="133095"/>
                </a:lnTo>
                <a:lnTo>
                  <a:pt x="1447165" y="131698"/>
                </a:lnTo>
                <a:lnTo>
                  <a:pt x="1455166" y="129158"/>
                </a:lnTo>
                <a:lnTo>
                  <a:pt x="1457071" y="140334"/>
                </a:lnTo>
                <a:lnTo>
                  <a:pt x="1459103" y="141604"/>
                </a:lnTo>
                <a:lnTo>
                  <a:pt x="1461008" y="158241"/>
                </a:lnTo>
                <a:lnTo>
                  <a:pt x="1466977" y="170941"/>
                </a:lnTo>
                <a:lnTo>
                  <a:pt x="1469009" y="172338"/>
                </a:lnTo>
                <a:lnTo>
                  <a:pt x="1470914" y="170941"/>
                </a:lnTo>
                <a:lnTo>
                  <a:pt x="1472946" y="170941"/>
                </a:lnTo>
                <a:lnTo>
                  <a:pt x="1474851" y="179323"/>
                </a:lnTo>
                <a:lnTo>
                  <a:pt x="1480820" y="191896"/>
                </a:lnTo>
                <a:lnTo>
                  <a:pt x="1482852" y="203072"/>
                </a:lnTo>
                <a:lnTo>
                  <a:pt x="1484757" y="212724"/>
                </a:lnTo>
                <a:lnTo>
                  <a:pt x="1486789" y="214121"/>
                </a:lnTo>
                <a:lnTo>
                  <a:pt x="1488694" y="197484"/>
                </a:lnTo>
                <a:lnTo>
                  <a:pt x="1494663" y="187959"/>
                </a:lnTo>
                <a:lnTo>
                  <a:pt x="1496695" y="192277"/>
                </a:lnTo>
                <a:lnTo>
                  <a:pt x="1498600" y="208787"/>
                </a:lnTo>
                <a:lnTo>
                  <a:pt x="1500632" y="201929"/>
                </a:lnTo>
                <a:lnTo>
                  <a:pt x="1502537" y="184149"/>
                </a:lnTo>
                <a:lnTo>
                  <a:pt x="1508506" y="173100"/>
                </a:lnTo>
                <a:lnTo>
                  <a:pt x="1510538" y="182879"/>
                </a:lnTo>
                <a:lnTo>
                  <a:pt x="1512443" y="196722"/>
                </a:lnTo>
                <a:lnTo>
                  <a:pt x="1514475" y="174497"/>
                </a:lnTo>
                <a:lnTo>
                  <a:pt x="1516380" y="191134"/>
                </a:lnTo>
                <a:lnTo>
                  <a:pt x="1522349" y="188594"/>
                </a:lnTo>
                <a:lnTo>
                  <a:pt x="1524381" y="205231"/>
                </a:lnTo>
                <a:lnTo>
                  <a:pt x="1526286" y="202437"/>
                </a:lnTo>
                <a:lnTo>
                  <a:pt x="1528318" y="198373"/>
                </a:lnTo>
                <a:lnTo>
                  <a:pt x="1530223" y="202564"/>
                </a:lnTo>
                <a:lnTo>
                  <a:pt x="1536192" y="224789"/>
                </a:lnTo>
                <a:lnTo>
                  <a:pt x="1538224" y="221995"/>
                </a:lnTo>
                <a:lnTo>
                  <a:pt x="1540129" y="210946"/>
                </a:lnTo>
                <a:lnTo>
                  <a:pt x="1542161" y="220725"/>
                </a:lnTo>
                <a:lnTo>
                  <a:pt x="1544066" y="223646"/>
                </a:lnTo>
                <a:lnTo>
                  <a:pt x="1550035" y="220852"/>
                </a:lnTo>
                <a:lnTo>
                  <a:pt x="1551940" y="226440"/>
                </a:lnTo>
                <a:lnTo>
                  <a:pt x="1553972" y="234822"/>
                </a:lnTo>
                <a:lnTo>
                  <a:pt x="1556004" y="252856"/>
                </a:lnTo>
                <a:lnTo>
                  <a:pt x="1556033" y="253545"/>
                </a:lnTo>
                <a:lnTo>
                  <a:pt x="1556242" y="258365"/>
                </a:lnTo>
                <a:lnTo>
                  <a:pt x="1556807" y="271448"/>
                </a:lnTo>
                <a:lnTo>
                  <a:pt x="1557909" y="296925"/>
                </a:lnTo>
                <a:lnTo>
                  <a:pt x="1563878" y="295782"/>
                </a:lnTo>
                <a:lnTo>
                  <a:pt x="1565783" y="313689"/>
                </a:lnTo>
                <a:lnTo>
                  <a:pt x="1565814" y="314209"/>
                </a:lnTo>
                <a:lnTo>
                  <a:pt x="1566037" y="317849"/>
                </a:lnTo>
                <a:lnTo>
                  <a:pt x="1566640" y="327727"/>
                </a:lnTo>
                <a:lnTo>
                  <a:pt x="1567815" y="346963"/>
                </a:lnTo>
                <a:lnTo>
                  <a:pt x="1569847" y="351154"/>
                </a:lnTo>
                <a:lnTo>
                  <a:pt x="1569876" y="351651"/>
                </a:lnTo>
                <a:lnTo>
                  <a:pt x="1570085" y="355123"/>
                </a:lnTo>
                <a:lnTo>
                  <a:pt x="1570650" y="364549"/>
                </a:lnTo>
                <a:lnTo>
                  <a:pt x="1571752" y="382904"/>
                </a:lnTo>
                <a:lnTo>
                  <a:pt x="1577721" y="402335"/>
                </a:lnTo>
                <a:lnTo>
                  <a:pt x="1579626" y="423036"/>
                </a:lnTo>
                <a:lnTo>
                  <a:pt x="1581658" y="431291"/>
                </a:lnTo>
                <a:lnTo>
                  <a:pt x="1583690" y="418972"/>
                </a:lnTo>
                <a:lnTo>
                  <a:pt x="1585595" y="420496"/>
                </a:lnTo>
                <a:lnTo>
                  <a:pt x="1591564" y="413638"/>
                </a:lnTo>
                <a:lnTo>
                  <a:pt x="1593469" y="419099"/>
                </a:lnTo>
                <a:lnTo>
                  <a:pt x="1595501" y="426084"/>
                </a:lnTo>
                <a:lnTo>
                  <a:pt x="1597533" y="410971"/>
                </a:lnTo>
                <a:lnTo>
                  <a:pt x="1599438" y="402716"/>
                </a:lnTo>
                <a:lnTo>
                  <a:pt x="1605407" y="395858"/>
                </a:lnTo>
                <a:lnTo>
                  <a:pt x="1607312" y="395858"/>
                </a:lnTo>
                <a:lnTo>
                  <a:pt x="1609344" y="408304"/>
                </a:lnTo>
                <a:lnTo>
                  <a:pt x="1611376" y="408431"/>
                </a:lnTo>
                <a:lnTo>
                  <a:pt x="1613281" y="404367"/>
                </a:lnTo>
                <a:lnTo>
                  <a:pt x="1619250" y="407161"/>
                </a:lnTo>
                <a:lnTo>
                  <a:pt x="1621155" y="400303"/>
                </a:lnTo>
                <a:lnTo>
                  <a:pt x="1623187" y="383793"/>
                </a:lnTo>
                <a:lnTo>
                  <a:pt x="1625219" y="374141"/>
                </a:lnTo>
                <a:lnTo>
                  <a:pt x="1627124" y="370077"/>
                </a:lnTo>
                <a:lnTo>
                  <a:pt x="1633093" y="372871"/>
                </a:lnTo>
                <a:lnTo>
                  <a:pt x="1634998" y="366013"/>
                </a:lnTo>
                <a:lnTo>
                  <a:pt x="1637030" y="371728"/>
                </a:lnTo>
                <a:lnTo>
                  <a:pt x="1638935" y="384047"/>
                </a:lnTo>
                <a:lnTo>
                  <a:pt x="1640967" y="386841"/>
                </a:lnTo>
                <a:lnTo>
                  <a:pt x="1646936" y="392429"/>
                </a:lnTo>
                <a:lnTo>
                  <a:pt x="1646965" y="392840"/>
                </a:lnTo>
                <a:lnTo>
                  <a:pt x="1647174" y="395716"/>
                </a:lnTo>
                <a:lnTo>
                  <a:pt x="1647739" y="403520"/>
                </a:lnTo>
                <a:lnTo>
                  <a:pt x="1648841" y="418718"/>
                </a:lnTo>
                <a:lnTo>
                  <a:pt x="1650873" y="407796"/>
                </a:lnTo>
                <a:lnTo>
                  <a:pt x="1650873" y="407796"/>
                </a:lnTo>
                <a:lnTo>
                  <a:pt x="1652777" y="421513"/>
                </a:lnTo>
                <a:lnTo>
                  <a:pt x="1662683" y="411988"/>
                </a:lnTo>
                <a:lnTo>
                  <a:pt x="1664716" y="425957"/>
                </a:lnTo>
                <a:lnTo>
                  <a:pt x="1666620" y="424688"/>
                </a:lnTo>
                <a:lnTo>
                  <a:pt x="1668652" y="427354"/>
                </a:lnTo>
                <a:lnTo>
                  <a:pt x="1674622" y="432942"/>
                </a:lnTo>
                <a:lnTo>
                  <a:pt x="1676527" y="442721"/>
                </a:lnTo>
                <a:lnTo>
                  <a:pt x="1678558" y="441324"/>
                </a:lnTo>
                <a:lnTo>
                  <a:pt x="1680464" y="452373"/>
                </a:lnTo>
                <a:lnTo>
                  <a:pt x="1682495" y="457961"/>
                </a:lnTo>
                <a:lnTo>
                  <a:pt x="1690370" y="464946"/>
                </a:lnTo>
                <a:lnTo>
                  <a:pt x="1690401" y="465399"/>
                </a:lnTo>
                <a:lnTo>
                  <a:pt x="1690624" y="468566"/>
                </a:lnTo>
                <a:lnTo>
                  <a:pt x="1691227" y="477162"/>
                </a:lnTo>
                <a:lnTo>
                  <a:pt x="1692402" y="493902"/>
                </a:lnTo>
                <a:lnTo>
                  <a:pt x="1694307" y="480313"/>
                </a:lnTo>
                <a:lnTo>
                  <a:pt x="1696339" y="482980"/>
                </a:lnTo>
                <a:lnTo>
                  <a:pt x="1696432" y="483393"/>
                </a:lnTo>
                <a:lnTo>
                  <a:pt x="1697085" y="486282"/>
                </a:lnTo>
                <a:lnTo>
                  <a:pt x="1698857" y="494125"/>
                </a:lnTo>
                <a:lnTo>
                  <a:pt x="1702308" y="509396"/>
                </a:lnTo>
                <a:lnTo>
                  <a:pt x="1704213" y="521715"/>
                </a:lnTo>
                <a:lnTo>
                  <a:pt x="1706245" y="503808"/>
                </a:lnTo>
                <a:lnTo>
                  <a:pt x="1708150" y="509396"/>
                </a:lnTo>
                <a:lnTo>
                  <a:pt x="1710182" y="510793"/>
                </a:lnTo>
                <a:lnTo>
                  <a:pt x="1716151" y="514984"/>
                </a:lnTo>
                <a:lnTo>
                  <a:pt x="1718056" y="520572"/>
                </a:lnTo>
                <a:lnTo>
                  <a:pt x="1720088" y="528954"/>
                </a:lnTo>
                <a:lnTo>
                  <a:pt x="1721993" y="528954"/>
                </a:lnTo>
                <a:lnTo>
                  <a:pt x="1724025" y="534415"/>
                </a:lnTo>
                <a:lnTo>
                  <a:pt x="1729994" y="527684"/>
                </a:lnTo>
                <a:lnTo>
                  <a:pt x="1731899" y="529082"/>
                </a:lnTo>
                <a:lnTo>
                  <a:pt x="1733931" y="527684"/>
                </a:lnTo>
                <a:lnTo>
                  <a:pt x="1735836" y="518159"/>
                </a:lnTo>
                <a:lnTo>
                  <a:pt x="1737868" y="513968"/>
                </a:lnTo>
                <a:lnTo>
                  <a:pt x="1743837" y="503173"/>
                </a:lnTo>
                <a:lnTo>
                  <a:pt x="1745742" y="505967"/>
                </a:lnTo>
                <a:lnTo>
                  <a:pt x="1747774" y="512825"/>
                </a:lnTo>
                <a:lnTo>
                  <a:pt x="1757680" y="517016"/>
                </a:lnTo>
                <a:lnTo>
                  <a:pt x="1759585" y="522731"/>
                </a:lnTo>
                <a:lnTo>
                  <a:pt x="1761617" y="524001"/>
                </a:lnTo>
                <a:lnTo>
                  <a:pt x="1763522" y="543305"/>
                </a:lnTo>
                <a:lnTo>
                  <a:pt x="1771523" y="542162"/>
                </a:lnTo>
                <a:lnTo>
                  <a:pt x="1771552" y="542938"/>
                </a:lnTo>
                <a:lnTo>
                  <a:pt x="1771761" y="548370"/>
                </a:lnTo>
                <a:lnTo>
                  <a:pt x="1772326" y="563112"/>
                </a:lnTo>
                <a:lnTo>
                  <a:pt x="1773427" y="591819"/>
                </a:lnTo>
                <a:lnTo>
                  <a:pt x="1773427" y="591819"/>
                </a:lnTo>
                <a:lnTo>
                  <a:pt x="1775460" y="601471"/>
                </a:lnTo>
                <a:lnTo>
                  <a:pt x="1777364" y="602868"/>
                </a:lnTo>
                <a:lnTo>
                  <a:pt x="1779397" y="608457"/>
                </a:lnTo>
                <a:lnTo>
                  <a:pt x="1785239" y="609854"/>
                </a:lnTo>
                <a:lnTo>
                  <a:pt x="1787270" y="612647"/>
                </a:lnTo>
                <a:lnTo>
                  <a:pt x="1789302" y="626490"/>
                </a:lnTo>
                <a:lnTo>
                  <a:pt x="1791208" y="630682"/>
                </a:lnTo>
                <a:lnTo>
                  <a:pt x="1793239" y="630682"/>
                </a:lnTo>
                <a:lnTo>
                  <a:pt x="1799082" y="637666"/>
                </a:lnTo>
                <a:lnTo>
                  <a:pt x="1801114" y="643127"/>
                </a:lnTo>
                <a:lnTo>
                  <a:pt x="1803145" y="654304"/>
                </a:lnTo>
                <a:lnTo>
                  <a:pt x="1805051" y="662432"/>
                </a:lnTo>
                <a:lnTo>
                  <a:pt x="1807083" y="669416"/>
                </a:lnTo>
                <a:lnTo>
                  <a:pt x="1812925" y="653033"/>
                </a:lnTo>
                <a:lnTo>
                  <a:pt x="1816989" y="665352"/>
                </a:lnTo>
                <a:lnTo>
                  <a:pt x="1818894" y="655827"/>
                </a:lnTo>
                <a:lnTo>
                  <a:pt x="1820926" y="666876"/>
                </a:lnTo>
                <a:lnTo>
                  <a:pt x="1826768" y="686307"/>
                </a:lnTo>
                <a:lnTo>
                  <a:pt x="1828800" y="690498"/>
                </a:lnTo>
                <a:lnTo>
                  <a:pt x="1828831" y="690913"/>
                </a:lnTo>
                <a:lnTo>
                  <a:pt x="1829054" y="693816"/>
                </a:lnTo>
                <a:lnTo>
                  <a:pt x="1829657" y="701696"/>
                </a:lnTo>
                <a:lnTo>
                  <a:pt x="1830832" y="717041"/>
                </a:lnTo>
                <a:lnTo>
                  <a:pt x="1830832" y="717041"/>
                </a:lnTo>
                <a:lnTo>
                  <a:pt x="1832737" y="736599"/>
                </a:lnTo>
                <a:lnTo>
                  <a:pt x="1834769" y="748918"/>
                </a:lnTo>
                <a:lnTo>
                  <a:pt x="1840611" y="746505"/>
                </a:lnTo>
                <a:lnTo>
                  <a:pt x="1842643" y="745616"/>
                </a:lnTo>
                <a:lnTo>
                  <a:pt x="1844675" y="753109"/>
                </a:lnTo>
                <a:lnTo>
                  <a:pt x="1846580" y="744346"/>
                </a:lnTo>
                <a:lnTo>
                  <a:pt x="1848612" y="725804"/>
                </a:lnTo>
                <a:lnTo>
                  <a:pt x="1854454" y="712851"/>
                </a:lnTo>
                <a:lnTo>
                  <a:pt x="1856486" y="705611"/>
                </a:lnTo>
                <a:lnTo>
                  <a:pt x="1858391" y="704722"/>
                </a:lnTo>
                <a:lnTo>
                  <a:pt x="1860423" y="706882"/>
                </a:lnTo>
                <a:lnTo>
                  <a:pt x="1862455" y="692276"/>
                </a:lnTo>
                <a:lnTo>
                  <a:pt x="1868297" y="675766"/>
                </a:lnTo>
                <a:lnTo>
                  <a:pt x="1870329" y="682751"/>
                </a:lnTo>
                <a:lnTo>
                  <a:pt x="1872233" y="675893"/>
                </a:lnTo>
                <a:lnTo>
                  <a:pt x="1874266" y="669035"/>
                </a:lnTo>
                <a:lnTo>
                  <a:pt x="1876298" y="656716"/>
                </a:lnTo>
                <a:lnTo>
                  <a:pt x="1882139" y="656716"/>
                </a:lnTo>
                <a:lnTo>
                  <a:pt x="1884172" y="644397"/>
                </a:lnTo>
                <a:lnTo>
                  <a:pt x="1886077" y="638936"/>
                </a:lnTo>
                <a:lnTo>
                  <a:pt x="1888108" y="640333"/>
                </a:lnTo>
                <a:lnTo>
                  <a:pt x="1890141" y="626618"/>
                </a:lnTo>
                <a:lnTo>
                  <a:pt x="1895983" y="632205"/>
                </a:lnTo>
                <a:lnTo>
                  <a:pt x="1898014" y="630935"/>
                </a:lnTo>
                <a:lnTo>
                  <a:pt x="1899920" y="633602"/>
                </a:lnTo>
                <a:lnTo>
                  <a:pt x="1901952" y="641984"/>
                </a:lnTo>
                <a:lnTo>
                  <a:pt x="1903983" y="639190"/>
                </a:lnTo>
                <a:lnTo>
                  <a:pt x="1909826" y="650366"/>
                </a:lnTo>
                <a:lnTo>
                  <a:pt x="1911858" y="661415"/>
                </a:lnTo>
                <a:lnTo>
                  <a:pt x="1913763" y="655827"/>
                </a:lnTo>
                <a:lnTo>
                  <a:pt x="1915795" y="657351"/>
                </a:lnTo>
                <a:lnTo>
                  <a:pt x="1917827" y="653160"/>
                </a:lnTo>
                <a:lnTo>
                  <a:pt x="1925701" y="647826"/>
                </a:lnTo>
                <a:lnTo>
                  <a:pt x="1927606" y="661669"/>
                </a:lnTo>
                <a:lnTo>
                  <a:pt x="1929638" y="668401"/>
                </a:lnTo>
                <a:lnTo>
                  <a:pt x="1931543" y="693293"/>
                </a:lnTo>
                <a:lnTo>
                  <a:pt x="1937512" y="679576"/>
                </a:lnTo>
                <a:lnTo>
                  <a:pt x="1939544" y="676909"/>
                </a:lnTo>
                <a:lnTo>
                  <a:pt x="1941449" y="682370"/>
                </a:lnTo>
                <a:lnTo>
                  <a:pt x="1943481" y="682370"/>
                </a:lnTo>
                <a:lnTo>
                  <a:pt x="1945386" y="679704"/>
                </a:lnTo>
                <a:lnTo>
                  <a:pt x="1951355" y="678433"/>
                </a:lnTo>
                <a:lnTo>
                  <a:pt x="1953387" y="672972"/>
                </a:lnTo>
                <a:lnTo>
                  <a:pt x="1955292" y="679830"/>
                </a:lnTo>
                <a:lnTo>
                  <a:pt x="1957324" y="684021"/>
                </a:lnTo>
                <a:lnTo>
                  <a:pt x="1959229" y="684148"/>
                </a:lnTo>
                <a:lnTo>
                  <a:pt x="1967230" y="693801"/>
                </a:lnTo>
                <a:lnTo>
                  <a:pt x="1969135" y="702055"/>
                </a:lnTo>
                <a:lnTo>
                  <a:pt x="1971167" y="704849"/>
                </a:lnTo>
                <a:lnTo>
                  <a:pt x="1973072" y="721105"/>
                </a:lnTo>
                <a:lnTo>
                  <a:pt x="1979041" y="721105"/>
                </a:lnTo>
                <a:lnTo>
                  <a:pt x="1981073" y="734821"/>
                </a:lnTo>
                <a:lnTo>
                  <a:pt x="1982977" y="751458"/>
                </a:lnTo>
                <a:lnTo>
                  <a:pt x="1985010" y="766698"/>
                </a:lnTo>
                <a:lnTo>
                  <a:pt x="1986914" y="771016"/>
                </a:lnTo>
                <a:lnTo>
                  <a:pt x="1992883" y="772794"/>
                </a:lnTo>
                <a:lnTo>
                  <a:pt x="1994916" y="775715"/>
                </a:lnTo>
                <a:lnTo>
                  <a:pt x="1996820" y="759079"/>
                </a:lnTo>
                <a:lnTo>
                  <a:pt x="1998852" y="767715"/>
                </a:lnTo>
                <a:lnTo>
                  <a:pt x="2000758" y="781811"/>
                </a:lnTo>
                <a:lnTo>
                  <a:pt x="2006727" y="772921"/>
                </a:lnTo>
                <a:lnTo>
                  <a:pt x="2008758" y="782701"/>
                </a:lnTo>
                <a:lnTo>
                  <a:pt x="2010664" y="800607"/>
                </a:lnTo>
                <a:lnTo>
                  <a:pt x="2012695" y="794511"/>
                </a:lnTo>
                <a:lnTo>
                  <a:pt x="2014601" y="819657"/>
                </a:lnTo>
                <a:lnTo>
                  <a:pt x="2020570" y="820038"/>
                </a:lnTo>
                <a:lnTo>
                  <a:pt x="2022602" y="821054"/>
                </a:lnTo>
                <a:lnTo>
                  <a:pt x="2024507" y="814069"/>
                </a:lnTo>
                <a:lnTo>
                  <a:pt x="2026539" y="822959"/>
                </a:lnTo>
                <a:lnTo>
                  <a:pt x="2028444" y="834008"/>
                </a:lnTo>
                <a:lnTo>
                  <a:pt x="2034413" y="849629"/>
                </a:lnTo>
                <a:lnTo>
                  <a:pt x="2036445" y="847216"/>
                </a:lnTo>
                <a:lnTo>
                  <a:pt x="2038350" y="853820"/>
                </a:lnTo>
                <a:lnTo>
                  <a:pt x="2040382" y="830452"/>
                </a:lnTo>
                <a:lnTo>
                  <a:pt x="2042287" y="820419"/>
                </a:lnTo>
                <a:lnTo>
                  <a:pt x="2048256" y="819022"/>
                </a:lnTo>
                <a:lnTo>
                  <a:pt x="2050288" y="820419"/>
                </a:lnTo>
                <a:lnTo>
                  <a:pt x="2052193" y="818895"/>
                </a:lnTo>
                <a:lnTo>
                  <a:pt x="2054225" y="821054"/>
                </a:lnTo>
                <a:lnTo>
                  <a:pt x="2056130" y="826643"/>
                </a:lnTo>
                <a:lnTo>
                  <a:pt x="2062099" y="823721"/>
                </a:lnTo>
                <a:lnTo>
                  <a:pt x="2064131" y="829818"/>
                </a:lnTo>
                <a:lnTo>
                  <a:pt x="2066036" y="813562"/>
                </a:lnTo>
                <a:lnTo>
                  <a:pt x="2068068" y="807211"/>
                </a:lnTo>
                <a:lnTo>
                  <a:pt x="2069973" y="804926"/>
                </a:lnTo>
                <a:lnTo>
                  <a:pt x="2070066" y="804529"/>
                </a:lnTo>
                <a:lnTo>
                  <a:pt x="2070719" y="801751"/>
                </a:lnTo>
                <a:lnTo>
                  <a:pt x="2072491" y="794210"/>
                </a:lnTo>
                <a:lnTo>
                  <a:pt x="2075942" y="779526"/>
                </a:lnTo>
                <a:lnTo>
                  <a:pt x="2077847" y="764540"/>
                </a:lnTo>
                <a:lnTo>
                  <a:pt x="2079879" y="763143"/>
                </a:lnTo>
                <a:lnTo>
                  <a:pt x="2081911" y="740918"/>
                </a:lnTo>
                <a:lnTo>
                  <a:pt x="2083816" y="744219"/>
                </a:lnTo>
                <a:lnTo>
                  <a:pt x="2089785" y="747521"/>
                </a:lnTo>
                <a:lnTo>
                  <a:pt x="2091689" y="749680"/>
                </a:lnTo>
                <a:lnTo>
                  <a:pt x="2093722" y="746379"/>
                </a:lnTo>
                <a:lnTo>
                  <a:pt x="2095754" y="738377"/>
                </a:lnTo>
                <a:lnTo>
                  <a:pt x="2097659" y="732535"/>
                </a:lnTo>
                <a:lnTo>
                  <a:pt x="2103628" y="728598"/>
                </a:lnTo>
                <a:lnTo>
                  <a:pt x="2105533" y="723010"/>
                </a:lnTo>
                <a:lnTo>
                  <a:pt x="2107565" y="713740"/>
                </a:lnTo>
                <a:lnTo>
                  <a:pt x="2109597" y="708405"/>
                </a:lnTo>
                <a:lnTo>
                  <a:pt x="2111502" y="688974"/>
                </a:lnTo>
                <a:lnTo>
                  <a:pt x="2117471" y="679449"/>
                </a:lnTo>
                <a:lnTo>
                  <a:pt x="2119376" y="672591"/>
                </a:lnTo>
                <a:lnTo>
                  <a:pt x="2121408" y="676782"/>
                </a:lnTo>
                <a:lnTo>
                  <a:pt x="2123440" y="675385"/>
                </a:lnTo>
                <a:lnTo>
                  <a:pt x="2125345" y="669924"/>
                </a:lnTo>
                <a:lnTo>
                  <a:pt x="2131314" y="671448"/>
                </a:lnTo>
                <a:lnTo>
                  <a:pt x="2133219" y="683894"/>
                </a:lnTo>
                <a:lnTo>
                  <a:pt x="2135251" y="660526"/>
                </a:lnTo>
                <a:lnTo>
                  <a:pt x="2137283" y="659129"/>
                </a:lnTo>
                <a:lnTo>
                  <a:pt x="2139188" y="649604"/>
                </a:lnTo>
                <a:lnTo>
                  <a:pt x="2145157" y="656590"/>
                </a:lnTo>
                <a:lnTo>
                  <a:pt x="2147062" y="678433"/>
                </a:lnTo>
                <a:lnTo>
                  <a:pt x="2149094" y="673099"/>
                </a:lnTo>
                <a:lnTo>
                  <a:pt x="2150999" y="668908"/>
                </a:lnTo>
                <a:lnTo>
                  <a:pt x="2162937" y="666368"/>
                </a:lnTo>
                <a:lnTo>
                  <a:pt x="2164842" y="678815"/>
                </a:lnTo>
                <a:lnTo>
                  <a:pt x="2166874" y="677544"/>
                </a:lnTo>
                <a:lnTo>
                  <a:pt x="2174748" y="681608"/>
                </a:lnTo>
                <a:lnTo>
                  <a:pt x="2176780" y="674877"/>
                </a:lnTo>
                <a:lnTo>
                  <a:pt x="2178685" y="666622"/>
                </a:lnTo>
                <a:lnTo>
                  <a:pt x="2180717" y="663955"/>
                </a:lnTo>
                <a:lnTo>
                  <a:pt x="2186686" y="655701"/>
                </a:lnTo>
                <a:lnTo>
                  <a:pt x="2186715" y="655274"/>
                </a:lnTo>
                <a:lnTo>
                  <a:pt x="2186924" y="652287"/>
                </a:lnTo>
                <a:lnTo>
                  <a:pt x="2187489" y="644181"/>
                </a:lnTo>
                <a:lnTo>
                  <a:pt x="2188591" y="628395"/>
                </a:lnTo>
                <a:lnTo>
                  <a:pt x="2188622" y="628868"/>
                </a:lnTo>
                <a:lnTo>
                  <a:pt x="2188845" y="632174"/>
                </a:lnTo>
                <a:lnTo>
                  <a:pt x="2189448" y="641147"/>
                </a:lnTo>
                <a:lnTo>
                  <a:pt x="2190623" y="658621"/>
                </a:lnTo>
                <a:lnTo>
                  <a:pt x="2190652" y="658086"/>
                </a:lnTo>
                <a:lnTo>
                  <a:pt x="2190861" y="654335"/>
                </a:lnTo>
                <a:lnTo>
                  <a:pt x="2191426" y="644155"/>
                </a:lnTo>
                <a:lnTo>
                  <a:pt x="2192528" y="624332"/>
                </a:lnTo>
                <a:lnTo>
                  <a:pt x="2194560" y="613409"/>
                </a:lnTo>
                <a:lnTo>
                  <a:pt x="2200529" y="605282"/>
                </a:lnTo>
                <a:lnTo>
                  <a:pt x="2202434" y="618997"/>
                </a:lnTo>
                <a:lnTo>
                  <a:pt x="2204466" y="618997"/>
                </a:lnTo>
                <a:lnTo>
                  <a:pt x="2206371" y="602615"/>
                </a:lnTo>
                <a:lnTo>
                  <a:pt x="2208403" y="602615"/>
                </a:lnTo>
                <a:lnTo>
                  <a:pt x="2214372" y="608202"/>
                </a:lnTo>
                <a:lnTo>
                  <a:pt x="2216277" y="606805"/>
                </a:lnTo>
                <a:lnTo>
                  <a:pt x="2218309" y="604138"/>
                </a:lnTo>
                <a:lnTo>
                  <a:pt x="2220214" y="601471"/>
                </a:lnTo>
                <a:lnTo>
                  <a:pt x="2222246" y="601471"/>
                </a:lnTo>
                <a:lnTo>
                  <a:pt x="2222246" y="601471"/>
                </a:lnTo>
                <a:lnTo>
                  <a:pt x="2228215" y="601598"/>
                </a:lnTo>
                <a:lnTo>
                  <a:pt x="2230120" y="605790"/>
                </a:lnTo>
                <a:lnTo>
                  <a:pt x="2232152" y="611251"/>
                </a:lnTo>
                <a:lnTo>
                  <a:pt x="2234057" y="601726"/>
                </a:lnTo>
                <a:lnTo>
                  <a:pt x="2234088" y="601253"/>
                </a:lnTo>
                <a:lnTo>
                  <a:pt x="2234311" y="597947"/>
                </a:lnTo>
                <a:lnTo>
                  <a:pt x="2234914" y="588974"/>
                </a:lnTo>
                <a:lnTo>
                  <a:pt x="2236089" y="571499"/>
                </a:lnTo>
                <a:lnTo>
                  <a:pt x="2236089" y="571499"/>
                </a:lnTo>
                <a:lnTo>
                  <a:pt x="2242058" y="594868"/>
                </a:lnTo>
                <a:lnTo>
                  <a:pt x="2243963" y="608710"/>
                </a:lnTo>
                <a:lnTo>
                  <a:pt x="2245995" y="618362"/>
                </a:lnTo>
                <a:lnTo>
                  <a:pt x="2247900" y="621029"/>
                </a:lnTo>
                <a:lnTo>
                  <a:pt x="2249932" y="618362"/>
                </a:lnTo>
                <a:lnTo>
                  <a:pt x="2255901" y="638936"/>
                </a:lnTo>
                <a:lnTo>
                  <a:pt x="2257806" y="640333"/>
                </a:lnTo>
                <a:lnTo>
                  <a:pt x="2259838" y="641857"/>
                </a:lnTo>
                <a:lnTo>
                  <a:pt x="2261743" y="647318"/>
                </a:lnTo>
                <a:lnTo>
                  <a:pt x="2263775" y="652779"/>
                </a:lnTo>
                <a:lnTo>
                  <a:pt x="2269744" y="658494"/>
                </a:lnTo>
                <a:lnTo>
                  <a:pt x="2271649" y="659765"/>
                </a:lnTo>
                <a:lnTo>
                  <a:pt x="2273681" y="678941"/>
                </a:lnTo>
                <a:lnTo>
                  <a:pt x="2275586" y="672083"/>
                </a:lnTo>
                <a:lnTo>
                  <a:pt x="2277618" y="663955"/>
                </a:lnTo>
                <a:lnTo>
                  <a:pt x="2283587" y="675004"/>
                </a:lnTo>
                <a:lnTo>
                  <a:pt x="2285492" y="661415"/>
                </a:lnTo>
                <a:lnTo>
                  <a:pt x="2287524" y="666876"/>
                </a:lnTo>
                <a:lnTo>
                  <a:pt x="2289429" y="681990"/>
                </a:lnTo>
                <a:lnTo>
                  <a:pt x="2291461" y="684783"/>
                </a:lnTo>
                <a:lnTo>
                  <a:pt x="2297303" y="686180"/>
                </a:lnTo>
                <a:lnTo>
                  <a:pt x="2299335" y="679322"/>
                </a:lnTo>
                <a:lnTo>
                  <a:pt x="2301367" y="680846"/>
                </a:lnTo>
                <a:lnTo>
                  <a:pt x="2303272" y="671321"/>
                </a:lnTo>
                <a:lnTo>
                  <a:pt x="2305304" y="676782"/>
                </a:lnTo>
                <a:lnTo>
                  <a:pt x="2311146" y="680973"/>
                </a:lnTo>
                <a:lnTo>
                  <a:pt x="2313178" y="672718"/>
                </a:lnTo>
                <a:lnTo>
                  <a:pt x="2315210" y="679576"/>
                </a:lnTo>
                <a:lnTo>
                  <a:pt x="2317115" y="670051"/>
                </a:lnTo>
                <a:lnTo>
                  <a:pt x="2319147" y="681101"/>
                </a:lnTo>
                <a:lnTo>
                  <a:pt x="2324989" y="688085"/>
                </a:lnTo>
                <a:lnTo>
                  <a:pt x="2327021" y="689355"/>
                </a:lnTo>
                <a:lnTo>
                  <a:pt x="2329053" y="686688"/>
                </a:lnTo>
                <a:lnTo>
                  <a:pt x="2330958" y="685291"/>
                </a:lnTo>
                <a:lnTo>
                  <a:pt x="2332990" y="681354"/>
                </a:lnTo>
                <a:lnTo>
                  <a:pt x="2338832" y="679957"/>
                </a:lnTo>
                <a:lnTo>
                  <a:pt x="2340864" y="686815"/>
                </a:lnTo>
                <a:lnTo>
                  <a:pt x="2342896" y="692276"/>
                </a:lnTo>
                <a:lnTo>
                  <a:pt x="2344801" y="700658"/>
                </a:lnTo>
                <a:lnTo>
                  <a:pt x="2346833" y="681482"/>
                </a:lnTo>
                <a:lnTo>
                  <a:pt x="2352675" y="678815"/>
                </a:lnTo>
                <a:lnTo>
                  <a:pt x="2354707" y="665098"/>
                </a:lnTo>
                <a:lnTo>
                  <a:pt x="2356739" y="658368"/>
                </a:lnTo>
                <a:lnTo>
                  <a:pt x="2358644" y="661161"/>
                </a:lnTo>
                <a:lnTo>
                  <a:pt x="2368550" y="662558"/>
                </a:lnTo>
                <a:lnTo>
                  <a:pt x="2370455" y="670813"/>
                </a:lnTo>
                <a:lnTo>
                  <a:pt x="2372487" y="668146"/>
                </a:lnTo>
                <a:lnTo>
                  <a:pt x="2374519" y="668273"/>
                </a:lnTo>
                <a:lnTo>
                  <a:pt x="2380361" y="672337"/>
                </a:lnTo>
                <a:lnTo>
                  <a:pt x="2382393" y="673734"/>
                </a:lnTo>
                <a:lnTo>
                  <a:pt x="2384298" y="673861"/>
                </a:lnTo>
                <a:lnTo>
                  <a:pt x="2386330" y="681990"/>
                </a:lnTo>
                <a:lnTo>
                  <a:pt x="2388362" y="679322"/>
                </a:lnTo>
                <a:lnTo>
                  <a:pt x="2394204" y="682116"/>
                </a:lnTo>
                <a:lnTo>
                  <a:pt x="2396236" y="680846"/>
                </a:lnTo>
                <a:lnTo>
                  <a:pt x="2398141" y="675258"/>
                </a:lnTo>
                <a:lnTo>
                  <a:pt x="2400173" y="672591"/>
                </a:lnTo>
                <a:lnTo>
                  <a:pt x="2402205" y="678179"/>
                </a:lnTo>
                <a:lnTo>
                  <a:pt x="2410079" y="672718"/>
                </a:lnTo>
                <a:lnTo>
                  <a:pt x="2411984" y="674243"/>
                </a:lnTo>
                <a:lnTo>
                  <a:pt x="2414016" y="681101"/>
                </a:lnTo>
                <a:lnTo>
                  <a:pt x="2416048" y="670179"/>
                </a:lnTo>
                <a:lnTo>
                  <a:pt x="2423922" y="675640"/>
                </a:lnTo>
                <a:lnTo>
                  <a:pt x="2425827" y="679830"/>
                </a:lnTo>
                <a:lnTo>
                  <a:pt x="2427859" y="678433"/>
                </a:lnTo>
                <a:lnTo>
                  <a:pt x="2429891" y="674496"/>
                </a:lnTo>
                <a:lnTo>
                  <a:pt x="2435733" y="674623"/>
                </a:lnTo>
                <a:lnTo>
                  <a:pt x="2437765" y="684148"/>
                </a:lnTo>
                <a:lnTo>
                  <a:pt x="2439670" y="697865"/>
                </a:lnTo>
                <a:lnTo>
                  <a:pt x="2441702" y="691133"/>
                </a:lnTo>
                <a:lnTo>
                  <a:pt x="2443607" y="703452"/>
                </a:lnTo>
                <a:lnTo>
                  <a:pt x="2449576" y="703452"/>
                </a:lnTo>
                <a:lnTo>
                  <a:pt x="2451608" y="706246"/>
                </a:lnTo>
                <a:lnTo>
                  <a:pt x="2453513" y="698118"/>
                </a:lnTo>
                <a:lnTo>
                  <a:pt x="2455545" y="707770"/>
                </a:lnTo>
                <a:lnTo>
                  <a:pt x="2457450" y="702182"/>
                </a:lnTo>
                <a:lnTo>
                  <a:pt x="2465451" y="714629"/>
                </a:lnTo>
                <a:lnTo>
                  <a:pt x="2467356" y="696848"/>
                </a:lnTo>
                <a:lnTo>
                  <a:pt x="2469388" y="695451"/>
                </a:lnTo>
                <a:lnTo>
                  <a:pt x="2471293" y="692784"/>
                </a:lnTo>
                <a:lnTo>
                  <a:pt x="2477262" y="699769"/>
                </a:lnTo>
                <a:lnTo>
                  <a:pt x="2479294" y="684783"/>
                </a:lnTo>
                <a:lnTo>
                  <a:pt x="2481199" y="686180"/>
                </a:lnTo>
                <a:lnTo>
                  <a:pt x="2483231" y="687577"/>
                </a:lnTo>
                <a:lnTo>
                  <a:pt x="2491105" y="695832"/>
                </a:lnTo>
                <a:lnTo>
                  <a:pt x="2493137" y="683640"/>
                </a:lnTo>
                <a:lnTo>
                  <a:pt x="2495042" y="682243"/>
                </a:lnTo>
                <a:lnTo>
                  <a:pt x="2497074" y="678179"/>
                </a:lnTo>
                <a:lnTo>
                  <a:pt x="2498979" y="676782"/>
                </a:lnTo>
                <a:lnTo>
                  <a:pt x="2504948" y="675512"/>
                </a:lnTo>
                <a:lnTo>
                  <a:pt x="2506980" y="676909"/>
                </a:lnTo>
                <a:lnTo>
                  <a:pt x="2508885" y="672845"/>
                </a:lnTo>
                <a:lnTo>
                  <a:pt x="2510917" y="674243"/>
                </a:lnTo>
                <a:lnTo>
                  <a:pt x="2512822" y="672972"/>
                </a:lnTo>
                <a:lnTo>
                  <a:pt x="2518791" y="670305"/>
                </a:lnTo>
                <a:lnTo>
                  <a:pt x="2520823" y="666241"/>
                </a:lnTo>
                <a:lnTo>
                  <a:pt x="2522728" y="667638"/>
                </a:lnTo>
                <a:lnTo>
                  <a:pt x="2524760" y="668908"/>
                </a:lnTo>
                <a:lnTo>
                  <a:pt x="2526665" y="675893"/>
                </a:lnTo>
                <a:lnTo>
                  <a:pt x="2532634" y="670559"/>
                </a:lnTo>
                <a:lnTo>
                  <a:pt x="2534666" y="678687"/>
                </a:lnTo>
                <a:lnTo>
                  <a:pt x="2538603" y="669162"/>
                </a:lnTo>
                <a:lnTo>
                  <a:pt x="2540508" y="688340"/>
                </a:lnTo>
                <a:lnTo>
                  <a:pt x="2546477" y="692530"/>
                </a:lnTo>
                <a:lnTo>
                  <a:pt x="2548509" y="692530"/>
                </a:lnTo>
                <a:lnTo>
                  <a:pt x="2550414" y="684402"/>
                </a:lnTo>
                <a:lnTo>
                  <a:pt x="2552446" y="678941"/>
                </a:lnTo>
                <a:lnTo>
                  <a:pt x="2554351" y="658621"/>
                </a:lnTo>
                <a:lnTo>
                  <a:pt x="2560320" y="655827"/>
                </a:lnTo>
                <a:lnTo>
                  <a:pt x="2562352" y="655827"/>
                </a:lnTo>
                <a:lnTo>
                  <a:pt x="2564257" y="654557"/>
                </a:lnTo>
                <a:lnTo>
                  <a:pt x="2566289" y="657351"/>
                </a:lnTo>
                <a:lnTo>
                  <a:pt x="2568194" y="672337"/>
                </a:lnTo>
                <a:lnTo>
                  <a:pt x="2574163" y="672465"/>
                </a:lnTo>
                <a:lnTo>
                  <a:pt x="2576195" y="664336"/>
                </a:lnTo>
                <a:lnTo>
                  <a:pt x="2578100" y="667004"/>
                </a:lnTo>
                <a:lnTo>
                  <a:pt x="2580132" y="665607"/>
                </a:lnTo>
                <a:lnTo>
                  <a:pt x="2582037" y="664463"/>
                </a:lnTo>
                <a:lnTo>
                  <a:pt x="2588006" y="664463"/>
                </a:lnTo>
                <a:lnTo>
                  <a:pt x="2589911" y="656208"/>
                </a:lnTo>
                <a:lnTo>
                  <a:pt x="2591943" y="665860"/>
                </a:lnTo>
                <a:lnTo>
                  <a:pt x="2593975" y="685037"/>
                </a:lnTo>
                <a:lnTo>
                  <a:pt x="2595880" y="693293"/>
                </a:lnTo>
                <a:lnTo>
                  <a:pt x="2601849" y="685165"/>
                </a:lnTo>
                <a:lnTo>
                  <a:pt x="2603754" y="677036"/>
                </a:lnTo>
                <a:lnTo>
                  <a:pt x="2605786" y="671576"/>
                </a:lnTo>
                <a:lnTo>
                  <a:pt x="2607818" y="671702"/>
                </a:lnTo>
                <a:lnTo>
                  <a:pt x="2609723" y="670305"/>
                </a:lnTo>
                <a:lnTo>
                  <a:pt x="2615692" y="673099"/>
                </a:lnTo>
                <a:lnTo>
                  <a:pt x="2617597" y="681354"/>
                </a:lnTo>
                <a:lnTo>
                  <a:pt x="2619629" y="689482"/>
                </a:lnTo>
                <a:lnTo>
                  <a:pt x="2621661" y="693673"/>
                </a:lnTo>
                <a:lnTo>
                  <a:pt x="2623566" y="697865"/>
                </a:lnTo>
                <a:lnTo>
                  <a:pt x="2629535" y="696468"/>
                </a:lnTo>
                <a:lnTo>
                  <a:pt x="2631440" y="703326"/>
                </a:lnTo>
                <a:lnTo>
                  <a:pt x="2633472" y="701929"/>
                </a:lnTo>
                <a:lnTo>
                  <a:pt x="2635504" y="692404"/>
                </a:lnTo>
                <a:lnTo>
                  <a:pt x="2637409" y="688340"/>
                </a:lnTo>
                <a:lnTo>
                  <a:pt x="2645283" y="691260"/>
                </a:lnTo>
                <a:lnTo>
                  <a:pt x="2647315" y="685799"/>
                </a:lnTo>
                <a:lnTo>
                  <a:pt x="2649347" y="687196"/>
                </a:lnTo>
                <a:lnTo>
                  <a:pt x="2651252" y="687323"/>
                </a:lnTo>
                <a:lnTo>
                  <a:pt x="2657221" y="691515"/>
                </a:lnTo>
                <a:lnTo>
                  <a:pt x="2659126" y="691515"/>
                </a:lnTo>
                <a:lnTo>
                  <a:pt x="2661158" y="695579"/>
                </a:lnTo>
                <a:lnTo>
                  <a:pt x="2663063" y="698245"/>
                </a:lnTo>
                <a:lnTo>
                  <a:pt x="2665095" y="696976"/>
                </a:lnTo>
                <a:lnTo>
                  <a:pt x="2671064" y="690244"/>
                </a:lnTo>
                <a:lnTo>
                  <a:pt x="2672969" y="693038"/>
                </a:lnTo>
                <a:lnTo>
                  <a:pt x="2675001" y="694435"/>
                </a:lnTo>
                <a:lnTo>
                  <a:pt x="2676906" y="693038"/>
                </a:lnTo>
                <a:lnTo>
                  <a:pt x="2678938" y="691641"/>
                </a:lnTo>
                <a:lnTo>
                  <a:pt x="2684907" y="693165"/>
                </a:lnTo>
                <a:lnTo>
                  <a:pt x="2686812" y="694690"/>
                </a:lnTo>
                <a:lnTo>
                  <a:pt x="2688844" y="694690"/>
                </a:lnTo>
                <a:lnTo>
                  <a:pt x="2690749" y="693293"/>
                </a:lnTo>
                <a:lnTo>
                  <a:pt x="2692781" y="707008"/>
                </a:lnTo>
                <a:lnTo>
                  <a:pt x="2698750" y="707008"/>
                </a:lnTo>
                <a:lnTo>
                  <a:pt x="2700655" y="713866"/>
                </a:lnTo>
                <a:lnTo>
                  <a:pt x="2702687" y="715263"/>
                </a:lnTo>
                <a:lnTo>
                  <a:pt x="2704592" y="717549"/>
                </a:lnTo>
                <a:lnTo>
                  <a:pt x="2706624" y="725677"/>
                </a:lnTo>
                <a:lnTo>
                  <a:pt x="2712593" y="720979"/>
                </a:lnTo>
                <a:lnTo>
                  <a:pt x="2714498" y="731901"/>
                </a:lnTo>
                <a:lnTo>
                  <a:pt x="2716530" y="744219"/>
                </a:lnTo>
                <a:lnTo>
                  <a:pt x="2718435" y="746759"/>
                </a:lnTo>
                <a:lnTo>
                  <a:pt x="2720467" y="747648"/>
                </a:lnTo>
                <a:lnTo>
                  <a:pt x="2726436" y="761110"/>
                </a:lnTo>
                <a:lnTo>
                  <a:pt x="2728341" y="754379"/>
                </a:lnTo>
                <a:lnTo>
                  <a:pt x="2730373" y="745743"/>
                </a:lnTo>
                <a:lnTo>
                  <a:pt x="2732278" y="742187"/>
                </a:lnTo>
                <a:lnTo>
                  <a:pt x="2734310" y="755268"/>
                </a:lnTo>
                <a:lnTo>
                  <a:pt x="2740279" y="748157"/>
                </a:lnTo>
                <a:lnTo>
                  <a:pt x="2742184" y="752729"/>
                </a:lnTo>
                <a:lnTo>
                  <a:pt x="2744216" y="756538"/>
                </a:lnTo>
                <a:lnTo>
                  <a:pt x="2746121" y="766318"/>
                </a:lnTo>
                <a:lnTo>
                  <a:pt x="2748153" y="768349"/>
                </a:lnTo>
                <a:lnTo>
                  <a:pt x="2754122" y="770508"/>
                </a:lnTo>
                <a:lnTo>
                  <a:pt x="2756027" y="768730"/>
                </a:lnTo>
                <a:lnTo>
                  <a:pt x="2758059" y="762126"/>
                </a:lnTo>
                <a:lnTo>
                  <a:pt x="2759964" y="763777"/>
                </a:lnTo>
                <a:lnTo>
                  <a:pt x="2761996" y="764666"/>
                </a:lnTo>
                <a:lnTo>
                  <a:pt x="2767965" y="760857"/>
                </a:lnTo>
                <a:lnTo>
                  <a:pt x="2769870" y="760857"/>
                </a:lnTo>
                <a:lnTo>
                  <a:pt x="2771902" y="755904"/>
                </a:lnTo>
                <a:lnTo>
                  <a:pt x="2773807" y="753871"/>
                </a:lnTo>
                <a:lnTo>
                  <a:pt x="2775839" y="740282"/>
                </a:lnTo>
                <a:lnTo>
                  <a:pt x="2781808" y="725677"/>
                </a:lnTo>
                <a:lnTo>
                  <a:pt x="2783713" y="730376"/>
                </a:lnTo>
                <a:lnTo>
                  <a:pt x="2785745" y="729107"/>
                </a:lnTo>
                <a:lnTo>
                  <a:pt x="2787650" y="725423"/>
                </a:lnTo>
                <a:lnTo>
                  <a:pt x="2789682" y="729868"/>
                </a:lnTo>
                <a:lnTo>
                  <a:pt x="2795651" y="734568"/>
                </a:lnTo>
                <a:lnTo>
                  <a:pt x="2797556" y="737743"/>
                </a:lnTo>
                <a:lnTo>
                  <a:pt x="2799588" y="724788"/>
                </a:lnTo>
                <a:lnTo>
                  <a:pt x="2801493" y="725932"/>
                </a:lnTo>
                <a:lnTo>
                  <a:pt x="2803525" y="721105"/>
                </a:lnTo>
                <a:lnTo>
                  <a:pt x="2809494" y="716787"/>
                </a:lnTo>
                <a:lnTo>
                  <a:pt x="2811399" y="714120"/>
                </a:lnTo>
                <a:lnTo>
                  <a:pt x="2813431" y="707390"/>
                </a:lnTo>
                <a:lnTo>
                  <a:pt x="2815336" y="703198"/>
                </a:lnTo>
                <a:lnTo>
                  <a:pt x="2817368" y="703326"/>
                </a:lnTo>
                <a:lnTo>
                  <a:pt x="2823210" y="703326"/>
                </a:lnTo>
                <a:lnTo>
                  <a:pt x="2825242" y="701929"/>
                </a:lnTo>
                <a:lnTo>
                  <a:pt x="2827274" y="699261"/>
                </a:lnTo>
                <a:lnTo>
                  <a:pt x="2829179" y="689863"/>
                </a:lnTo>
                <a:lnTo>
                  <a:pt x="2831211" y="689863"/>
                </a:lnTo>
                <a:lnTo>
                  <a:pt x="2837053" y="685799"/>
                </a:lnTo>
                <a:lnTo>
                  <a:pt x="2839085" y="683132"/>
                </a:lnTo>
                <a:lnTo>
                  <a:pt x="2841117" y="673607"/>
                </a:lnTo>
                <a:lnTo>
                  <a:pt x="2843022" y="664209"/>
                </a:lnTo>
                <a:lnTo>
                  <a:pt x="2845054" y="662812"/>
                </a:lnTo>
                <a:lnTo>
                  <a:pt x="2850896" y="679195"/>
                </a:lnTo>
                <a:lnTo>
                  <a:pt x="2852928" y="671068"/>
                </a:lnTo>
                <a:lnTo>
                  <a:pt x="2854960" y="669797"/>
                </a:lnTo>
                <a:lnTo>
                  <a:pt x="2856865" y="667004"/>
                </a:lnTo>
                <a:lnTo>
                  <a:pt x="2856896" y="666494"/>
                </a:lnTo>
                <a:lnTo>
                  <a:pt x="2857119" y="662924"/>
                </a:lnTo>
                <a:lnTo>
                  <a:pt x="2857722" y="653234"/>
                </a:lnTo>
                <a:lnTo>
                  <a:pt x="2858897" y="634365"/>
                </a:lnTo>
                <a:lnTo>
                  <a:pt x="2864739" y="630427"/>
                </a:lnTo>
                <a:lnTo>
                  <a:pt x="2866771" y="631824"/>
                </a:lnTo>
                <a:lnTo>
                  <a:pt x="2868803" y="626363"/>
                </a:lnTo>
                <a:lnTo>
                  <a:pt x="2870708" y="625093"/>
                </a:lnTo>
                <a:lnTo>
                  <a:pt x="2882646" y="622426"/>
                </a:lnTo>
                <a:lnTo>
                  <a:pt x="2884551" y="617093"/>
                </a:lnTo>
                <a:lnTo>
                  <a:pt x="2886583" y="615695"/>
                </a:lnTo>
                <a:lnTo>
                  <a:pt x="2894457" y="605027"/>
                </a:lnTo>
                <a:lnTo>
                  <a:pt x="2896362" y="614552"/>
                </a:lnTo>
                <a:lnTo>
                  <a:pt x="2898394" y="639063"/>
                </a:lnTo>
                <a:lnTo>
                  <a:pt x="2900426" y="644524"/>
                </a:lnTo>
                <a:lnTo>
                  <a:pt x="2906268" y="647318"/>
                </a:lnTo>
                <a:lnTo>
                  <a:pt x="2908300" y="647445"/>
                </a:lnTo>
                <a:lnTo>
                  <a:pt x="2910205" y="661034"/>
                </a:lnTo>
                <a:lnTo>
                  <a:pt x="2912237" y="655573"/>
                </a:lnTo>
                <a:lnTo>
                  <a:pt x="2914269" y="640715"/>
                </a:lnTo>
                <a:lnTo>
                  <a:pt x="2920111" y="629793"/>
                </a:lnTo>
                <a:lnTo>
                  <a:pt x="2922143" y="628522"/>
                </a:lnTo>
                <a:lnTo>
                  <a:pt x="2924048" y="636651"/>
                </a:lnTo>
                <a:lnTo>
                  <a:pt x="2926080" y="643508"/>
                </a:lnTo>
                <a:lnTo>
                  <a:pt x="2928112" y="646302"/>
                </a:lnTo>
                <a:lnTo>
                  <a:pt x="2933954" y="647826"/>
                </a:lnTo>
                <a:lnTo>
                  <a:pt x="2935986" y="640968"/>
                </a:lnTo>
                <a:lnTo>
                  <a:pt x="2937891" y="658621"/>
                </a:lnTo>
                <a:lnTo>
                  <a:pt x="2939923" y="646429"/>
                </a:lnTo>
                <a:lnTo>
                  <a:pt x="2941955" y="646557"/>
                </a:lnTo>
                <a:lnTo>
                  <a:pt x="2947797" y="642493"/>
                </a:lnTo>
                <a:lnTo>
                  <a:pt x="2949829" y="639826"/>
                </a:lnTo>
                <a:lnTo>
                  <a:pt x="2951734" y="635761"/>
                </a:lnTo>
                <a:lnTo>
                  <a:pt x="2953766" y="630301"/>
                </a:lnTo>
                <a:lnTo>
                  <a:pt x="2955798" y="624966"/>
                </a:lnTo>
                <a:lnTo>
                  <a:pt x="2961640" y="642746"/>
                </a:lnTo>
                <a:lnTo>
                  <a:pt x="2963672" y="652271"/>
                </a:lnTo>
                <a:lnTo>
                  <a:pt x="2965577" y="638809"/>
                </a:lnTo>
                <a:lnTo>
                  <a:pt x="2967609" y="636015"/>
                </a:lnTo>
                <a:lnTo>
                  <a:pt x="2969514" y="638809"/>
                </a:lnTo>
                <a:lnTo>
                  <a:pt x="2975483" y="641604"/>
                </a:lnTo>
                <a:lnTo>
                  <a:pt x="2977515" y="640207"/>
                </a:lnTo>
                <a:lnTo>
                  <a:pt x="2979420" y="649732"/>
                </a:lnTo>
                <a:lnTo>
                  <a:pt x="2981452" y="649858"/>
                </a:lnTo>
                <a:lnTo>
                  <a:pt x="2983357" y="651255"/>
                </a:lnTo>
                <a:lnTo>
                  <a:pt x="2989326" y="658113"/>
                </a:lnTo>
                <a:lnTo>
                  <a:pt x="2991358" y="647318"/>
                </a:lnTo>
                <a:lnTo>
                  <a:pt x="2993263" y="645921"/>
                </a:lnTo>
                <a:lnTo>
                  <a:pt x="2995295" y="648715"/>
                </a:lnTo>
                <a:lnTo>
                  <a:pt x="2997200" y="647318"/>
                </a:lnTo>
                <a:lnTo>
                  <a:pt x="3003169" y="637920"/>
                </a:lnTo>
                <a:lnTo>
                  <a:pt x="3005201" y="632459"/>
                </a:lnTo>
                <a:lnTo>
                  <a:pt x="3007106" y="633857"/>
                </a:lnTo>
                <a:lnTo>
                  <a:pt x="3009138" y="632459"/>
                </a:lnTo>
                <a:lnTo>
                  <a:pt x="3011043" y="628522"/>
                </a:lnTo>
                <a:lnTo>
                  <a:pt x="3017012" y="624585"/>
                </a:lnTo>
                <a:lnTo>
                  <a:pt x="3019044" y="618997"/>
                </a:lnTo>
                <a:lnTo>
                  <a:pt x="3020949" y="616330"/>
                </a:lnTo>
                <a:lnTo>
                  <a:pt x="3022981" y="619124"/>
                </a:lnTo>
                <a:lnTo>
                  <a:pt x="3024886" y="608329"/>
                </a:lnTo>
                <a:lnTo>
                  <a:pt x="3030855" y="602868"/>
                </a:lnTo>
                <a:lnTo>
                  <a:pt x="3032887" y="605790"/>
                </a:lnTo>
                <a:lnTo>
                  <a:pt x="3034792" y="609726"/>
                </a:lnTo>
                <a:lnTo>
                  <a:pt x="3036824" y="608583"/>
                </a:lnTo>
                <a:lnTo>
                  <a:pt x="3038729" y="613918"/>
                </a:lnTo>
                <a:lnTo>
                  <a:pt x="3044698" y="618108"/>
                </a:lnTo>
                <a:lnTo>
                  <a:pt x="3046730" y="618235"/>
                </a:lnTo>
                <a:lnTo>
                  <a:pt x="3048635" y="615568"/>
                </a:lnTo>
                <a:lnTo>
                  <a:pt x="3050667" y="611504"/>
                </a:lnTo>
                <a:lnTo>
                  <a:pt x="3058541" y="595248"/>
                </a:lnTo>
                <a:lnTo>
                  <a:pt x="3060573" y="595248"/>
                </a:lnTo>
                <a:lnTo>
                  <a:pt x="3062478" y="595376"/>
                </a:lnTo>
                <a:lnTo>
                  <a:pt x="3064510" y="589787"/>
                </a:lnTo>
                <a:lnTo>
                  <a:pt x="3074416" y="580516"/>
                </a:lnTo>
                <a:lnTo>
                  <a:pt x="3076321" y="602360"/>
                </a:lnTo>
                <a:lnTo>
                  <a:pt x="3078353" y="602360"/>
                </a:lnTo>
                <a:lnTo>
                  <a:pt x="3080258" y="595629"/>
                </a:lnTo>
                <a:lnTo>
                  <a:pt x="3086227" y="595757"/>
                </a:lnTo>
                <a:lnTo>
                  <a:pt x="3088259" y="598423"/>
                </a:lnTo>
                <a:lnTo>
                  <a:pt x="3090164" y="591693"/>
                </a:lnTo>
                <a:lnTo>
                  <a:pt x="3092196" y="599820"/>
                </a:lnTo>
                <a:lnTo>
                  <a:pt x="3094101" y="612140"/>
                </a:lnTo>
                <a:lnTo>
                  <a:pt x="3100070" y="610869"/>
                </a:lnTo>
                <a:lnTo>
                  <a:pt x="3102102" y="623061"/>
                </a:lnTo>
                <a:lnTo>
                  <a:pt x="3104007" y="636651"/>
                </a:lnTo>
                <a:lnTo>
                  <a:pt x="3106039" y="636777"/>
                </a:lnTo>
                <a:lnTo>
                  <a:pt x="3107944" y="627252"/>
                </a:lnTo>
                <a:lnTo>
                  <a:pt x="3113913" y="625982"/>
                </a:lnTo>
                <a:lnTo>
                  <a:pt x="3115818" y="623315"/>
                </a:lnTo>
                <a:lnTo>
                  <a:pt x="3117850" y="620648"/>
                </a:lnTo>
                <a:lnTo>
                  <a:pt x="3119882" y="625982"/>
                </a:lnTo>
                <a:lnTo>
                  <a:pt x="3121787" y="631570"/>
                </a:lnTo>
                <a:lnTo>
                  <a:pt x="3127756" y="627507"/>
                </a:lnTo>
                <a:lnTo>
                  <a:pt x="3129661" y="622172"/>
                </a:lnTo>
                <a:lnTo>
                  <a:pt x="3131693" y="624966"/>
                </a:lnTo>
                <a:lnTo>
                  <a:pt x="3133725" y="630301"/>
                </a:lnTo>
                <a:lnTo>
                  <a:pt x="3135630" y="624966"/>
                </a:lnTo>
                <a:lnTo>
                  <a:pt x="3143504" y="615568"/>
                </a:lnTo>
                <a:lnTo>
                  <a:pt x="3145536" y="602107"/>
                </a:lnTo>
                <a:lnTo>
                  <a:pt x="3147568" y="606043"/>
                </a:lnTo>
                <a:lnTo>
                  <a:pt x="3149473" y="607440"/>
                </a:lnTo>
                <a:lnTo>
                  <a:pt x="3155442" y="606170"/>
                </a:lnTo>
                <a:lnTo>
                  <a:pt x="3157347" y="606170"/>
                </a:lnTo>
                <a:lnTo>
                  <a:pt x="3159379" y="604901"/>
                </a:lnTo>
                <a:lnTo>
                  <a:pt x="3161411" y="596772"/>
                </a:lnTo>
                <a:lnTo>
                  <a:pt x="3163316" y="600963"/>
                </a:lnTo>
                <a:lnTo>
                  <a:pt x="3169285" y="595629"/>
                </a:lnTo>
                <a:lnTo>
                  <a:pt x="3171190" y="595629"/>
                </a:lnTo>
                <a:lnTo>
                  <a:pt x="3173222" y="592835"/>
                </a:lnTo>
                <a:lnTo>
                  <a:pt x="3175254" y="597026"/>
                </a:lnTo>
                <a:lnTo>
                  <a:pt x="3177159" y="603884"/>
                </a:lnTo>
                <a:lnTo>
                  <a:pt x="3185033" y="605408"/>
                </a:lnTo>
                <a:lnTo>
                  <a:pt x="3187065" y="606679"/>
                </a:lnTo>
                <a:lnTo>
                  <a:pt x="3188970" y="613536"/>
                </a:lnTo>
                <a:lnTo>
                  <a:pt x="3191002" y="609472"/>
                </a:lnTo>
                <a:lnTo>
                  <a:pt x="3196971" y="606805"/>
                </a:lnTo>
                <a:lnTo>
                  <a:pt x="3198876" y="601471"/>
                </a:lnTo>
                <a:lnTo>
                  <a:pt x="3200908" y="601471"/>
                </a:lnTo>
                <a:lnTo>
                  <a:pt x="3202813" y="598804"/>
                </a:lnTo>
                <a:lnTo>
                  <a:pt x="3210814" y="598932"/>
                </a:lnTo>
                <a:lnTo>
                  <a:pt x="3212719" y="611251"/>
                </a:lnTo>
                <a:lnTo>
                  <a:pt x="3214751" y="617982"/>
                </a:lnTo>
                <a:lnTo>
                  <a:pt x="3216656" y="600329"/>
                </a:lnTo>
                <a:lnTo>
                  <a:pt x="3218688" y="594994"/>
                </a:lnTo>
                <a:lnTo>
                  <a:pt x="3224657" y="597788"/>
                </a:lnTo>
                <a:lnTo>
                  <a:pt x="3226562" y="603249"/>
                </a:lnTo>
                <a:lnTo>
                  <a:pt x="3228594" y="597915"/>
                </a:lnTo>
                <a:lnTo>
                  <a:pt x="3230499" y="596518"/>
                </a:lnTo>
                <a:lnTo>
                  <a:pt x="3232531" y="600582"/>
                </a:lnTo>
                <a:lnTo>
                  <a:pt x="3238500" y="600709"/>
                </a:lnTo>
                <a:lnTo>
                  <a:pt x="3240405" y="602107"/>
                </a:lnTo>
                <a:lnTo>
                  <a:pt x="3242437" y="600709"/>
                </a:lnTo>
                <a:lnTo>
                  <a:pt x="3244342" y="602233"/>
                </a:lnTo>
                <a:lnTo>
                  <a:pt x="3246374" y="603504"/>
                </a:lnTo>
                <a:lnTo>
                  <a:pt x="3252342" y="606297"/>
                </a:lnTo>
                <a:lnTo>
                  <a:pt x="3254248" y="617219"/>
                </a:lnTo>
                <a:lnTo>
                  <a:pt x="3256279" y="618743"/>
                </a:lnTo>
                <a:lnTo>
                  <a:pt x="3258185" y="607821"/>
                </a:lnTo>
                <a:lnTo>
                  <a:pt x="3266186" y="606551"/>
                </a:lnTo>
                <a:lnTo>
                  <a:pt x="3268091" y="595757"/>
                </a:lnTo>
                <a:lnTo>
                  <a:pt x="3270123" y="595883"/>
                </a:lnTo>
                <a:lnTo>
                  <a:pt x="3272028" y="593090"/>
                </a:lnTo>
                <a:lnTo>
                  <a:pt x="3274060" y="582294"/>
                </a:lnTo>
                <a:lnTo>
                  <a:pt x="3280029" y="581024"/>
                </a:lnTo>
                <a:lnTo>
                  <a:pt x="3281934" y="587882"/>
                </a:lnTo>
                <a:lnTo>
                  <a:pt x="3283966" y="582421"/>
                </a:lnTo>
                <a:lnTo>
                  <a:pt x="3285871" y="583818"/>
                </a:lnTo>
                <a:lnTo>
                  <a:pt x="3287903" y="585215"/>
                </a:lnTo>
                <a:lnTo>
                  <a:pt x="3293872" y="590676"/>
                </a:lnTo>
                <a:lnTo>
                  <a:pt x="3295777" y="594868"/>
                </a:lnTo>
                <a:lnTo>
                  <a:pt x="3297809" y="585343"/>
                </a:lnTo>
                <a:lnTo>
                  <a:pt x="3299714" y="588136"/>
                </a:lnTo>
                <a:lnTo>
                  <a:pt x="3301746" y="592201"/>
                </a:lnTo>
                <a:lnTo>
                  <a:pt x="3307715" y="588263"/>
                </a:lnTo>
                <a:lnTo>
                  <a:pt x="3309620" y="585596"/>
                </a:lnTo>
                <a:lnTo>
                  <a:pt x="3311652" y="585596"/>
                </a:lnTo>
                <a:lnTo>
                  <a:pt x="3313557" y="586866"/>
                </a:lnTo>
                <a:lnTo>
                  <a:pt x="3315589" y="582802"/>
                </a:lnTo>
                <a:lnTo>
                  <a:pt x="3321558" y="573532"/>
                </a:lnTo>
                <a:lnTo>
                  <a:pt x="3323463" y="580262"/>
                </a:lnTo>
                <a:lnTo>
                  <a:pt x="3325495" y="583057"/>
                </a:lnTo>
                <a:lnTo>
                  <a:pt x="3327400" y="581786"/>
                </a:lnTo>
                <a:lnTo>
                  <a:pt x="3329432" y="583057"/>
                </a:lnTo>
                <a:lnTo>
                  <a:pt x="3335274" y="579246"/>
                </a:lnTo>
                <a:lnTo>
                  <a:pt x="3337305" y="575182"/>
                </a:lnTo>
                <a:lnTo>
                  <a:pt x="3339338" y="571118"/>
                </a:lnTo>
                <a:lnTo>
                  <a:pt x="3341242" y="565784"/>
                </a:lnTo>
                <a:lnTo>
                  <a:pt x="3343275" y="568451"/>
                </a:lnTo>
                <a:lnTo>
                  <a:pt x="3349116" y="562990"/>
                </a:lnTo>
                <a:lnTo>
                  <a:pt x="3351149" y="561847"/>
                </a:lnTo>
                <a:lnTo>
                  <a:pt x="3353180" y="553593"/>
                </a:lnTo>
                <a:lnTo>
                  <a:pt x="3355086" y="552449"/>
                </a:lnTo>
                <a:lnTo>
                  <a:pt x="3357117" y="556386"/>
                </a:lnTo>
                <a:lnTo>
                  <a:pt x="3364991" y="553846"/>
                </a:lnTo>
                <a:lnTo>
                  <a:pt x="3367024" y="557910"/>
                </a:lnTo>
                <a:lnTo>
                  <a:pt x="3368929" y="551179"/>
                </a:lnTo>
                <a:lnTo>
                  <a:pt x="3370961" y="552704"/>
                </a:lnTo>
                <a:lnTo>
                  <a:pt x="3376803" y="552704"/>
                </a:lnTo>
                <a:lnTo>
                  <a:pt x="3378835" y="549909"/>
                </a:lnTo>
                <a:lnTo>
                  <a:pt x="3380866" y="554101"/>
                </a:lnTo>
                <a:lnTo>
                  <a:pt x="3382772" y="552830"/>
                </a:lnTo>
                <a:lnTo>
                  <a:pt x="3384804" y="543305"/>
                </a:lnTo>
                <a:lnTo>
                  <a:pt x="3390646" y="543432"/>
                </a:lnTo>
                <a:lnTo>
                  <a:pt x="3392678" y="547496"/>
                </a:lnTo>
                <a:lnTo>
                  <a:pt x="3394710" y="544829"/>
                </a:lnTo>
                <a:lnTo>
                  <a:pt x="3396615" y="544829"/>
                </a:lnTo>
                <a:lnTo>
                  <a:pt x="3398647" y="543559"/>
                </a:lnTo>
                <a:lnTo>
                  <a:pt x="3404489" y="538226"/>
                </a:lnTo>
                <a:lnTo>
                  <a:pt x="3406521" y="527430"/>
                </a:lnTo>
                <a:lnTo>
                  <a:pt x="3408426" y="527430"/>
                </a:lnTo>
                <a:lnTo>
                  <a:pt x="3410458" y="530097"/>
                </a:lnTo>
                <a:lnTo>
                  <a:pt x="3412490" y="530224"/>
                </a:lnTo>
                <a:lnTo>
                  <a:pt x="3418332" y="530224"/>
                </a:lnTo>
                <a:lnTo>
                  <a:pt x="3420364" y="533145"/>
                </a:lnTo>
                <a:lnTo>
                  <a:pt x="3422269" y="529082"/>
                </a:lnTo>
                <a:lnTo>
                  <a:pt x="3424301" y="533145"/>
                </a:lnTo>
                <a:lnTo>
                  <a:pt x="3426333" y="533272"/>
                </a:lnTo>
                <a:lnTo>
                  <a:pt x="3432175" y="530479"/>
                </a:lnTo>
                <a:lnTo>
                  <a:pt x="3434207" y="530479"/>
                </a:lnTo>
                <a:lnTo>
                  <a:pt x="3436112" y="525144"/>
                </a:lnTo>
                <a:lnTo>
                  <a:pt x="3438144" y="529335"/>
                </a:lnTo>
                <a:lnTo>
                  <a:pt x="3440176" y="532002"/>
                </a:lnTo>
                <a:lnTo>
                  <a:pt x="3446017" y="540257"/>
                </a:lnTo>
                <a:lnTo>
                  <a:pt x="3448050" y="544321"/>
                </a:lnTo>
                <a:lnTo>
                  <a:pt x="3449954" y="545718"/>
                </a:lnTo>
                <a:lnTo>
                  <a:pt x="3451987" y="543051"/>
                </a:lnTo>
                <a:lnTo>
                  <a:pt x="3454019" y="551179"/>
                </a:lnTo>
                <a:lnTo>
                  <a:pt x="3459861" y="551307"/>
                </a:lnTo>
                <a:lnTo>
                  <a:pt x="3461892" y="551307"/>
                </a:lnTo>
                <a:lnTo>
                  <a:pt x="3463798" y="544576"/>
                </a:lnTo>
                <a:lnTo>
                  <a:pt x="3465829" y="541908"/>
                </a:lnTo>
                <a:lnTo>
                  <a:pt x="3467862" y="550036"/>
                </a:lnTo>
                <a:lnTo>
                  <a:pt x="3473704" y="547496"/>
                </a:lnTo>
                <a:lnTo>
                  <a:pt x="3475736" y="556894"/>
                </a:lnTo>
                <a:lnTo>
                  <a:pt x="3477641" y="565149"/>
                </a:lnTo>
                <a:lnTo>
                  <a:pt x="3479673" y="565149"/>
                </a:lnTo>
                <a:lnTo>
                  <a:pt x="3481578" y="566546"/>
                </a:lnTo>
                <a:lnTo>
                  <a:pt x="3487547" y="559815"/>
                </a:lnTo>
                <a:lnTo>
                  <a:pt x="3489579" y="562609"/>
                </a:lnTo>
                <a:lnTo>
                  <a:pt x="3491484" y="562736"/>
                </a:lnTo>
                <a:lnTo>
                  <a:pt x="3493516" y="557276"/>
                </a:lnTo>
                <a:lnTo>
                  <a:pt x="3495421" y="561340"/>
                </a:lnTo>
                <a:lnTo>
                  <a:pt x="3501390" y="569594"/>
                </a:lnTo>
                <a:lnTo>
                  <a:pt x="3503422" y="562863"/>
                </a:lnTo>
                <a:lnTo>
                  <a:pt x="3505327" y="568324"/>
                </a:lnTo>
                <a:lnTo>
                  <a:pt x="3507359" y="573658"/>
                </a:lnTo>
                <a:lnTo>
                  <a:pt x="3509264" y="558926"/>
                </a:lnTo>
                <a:lnTo>
                  <a:pt x="3515233" y="552195"/>
                </a:lnTo>
                <a:lnTo>
                  <a:pt x="3517265" y="552195"/>
                </a:lnTo>
                <a:lnTo>
                  <a:pt x="3519170" y="559054"/>
                </a:lnTo>
                <a:lnTo>
                  <a:pt x="3521202" y="560323"/>
                </a:lnTo>
                <a:lnTo>
                  <a:pt x="3523107" y="563118"/>
                </a:lnTo>
                <a:lnTo>
                  <a:pt x="3529076" y="569976"/>
                </a:lnTo>
                <a:lnTo>
                  <a:pt x="3531108" y="571372"/>
                </a:lnTo>
                <a:lnTo>
                  <a:pt x="3533013" y="569976"/>
                </a:lnTo>
                <a:lnTo>
                  <a:pt x="3535045" y="566038"/>
                </a:lnTo>
                <a:lnTo>
                  <a:pt x="3536950" y="564768"/>
                </a:lnTo>
                <a:lnTo>
                  <a:pt x="3542919" y="563371"/>
                </a:lnTo>
                <a:lnTo>
                  <a:pt x="3544951" y="560704"/>
                </a:lnTo>
                <a:lnTo>
                  <a:pt x="3546855" y="556640"/>
                </a:lnTo>
                <a:lnTo>
                  <a:pt x="3548888" y="551307"/>
                </a:lnTo>
                <a:lnTo>
                  <a:pt x="3550792" y="551433"/>
                </a:lnTo>
              </a:path>
            </a:pathLst>
          </a:custGeom>
          <a:ln w="9524">
            <a:solidFill>
              <a:schemeClr val="tx2">
                <a:lumMod val="40000"/>
                <a:lumOff val="60000"/>
              </a:schemeClr>
            </a:solidFill>
          </a:ln>
        </p:spPr>
        <p:txBody>
          <a:bodyPr wrap="square" lIns="0" tIns="0" rIns="0" bIns="0" rtlCol="0"/>
          <a:lstStyle/>
          <a:p>
            <a:endParaRPr>
              <a:solidFill>
                <a:schemeClr val="accent5">
                  <a:lumMod val="40000"/>
                  <a:lumOff val="60000"/>
                </a:schemeClr>
              </a:solidFill>
            </a:endParaRPr>
          </a:p>
        </p:txBody>
      </p:sp>
      <p:sp>
        <p:nvSpPr>
          <p:cNvPr id="14" name="object 51">
            <a:extLst>
              <a:ext uri="{FF2B5EF4-FFF2-40B4-BE49-F238E27FC236}">
                <a16:creationId xmlns:a16="http://schemas.microsoft.com/office/drawing/2014/main" id="{60B81AB6-DEEA-2DCA-CFA6-33B607585297}"/>
              </a:ext>
            </a:extLst>
          </p:cNvPr>
          <p:cNvSpPr txBox="1"/>
          <p:nvPr/>
        </p:nvSpPr>
        <p:spPr>
          <a:xfrm>
            <a:off x="280590" y="8714138"/>
            <a:ext cx="6909415" cy="1499623"/>
          </a:xfrm>
          <a:prstGeom prst="rect">
            <a:avLst/>
          </a:prstGeom>
          <a:solidFill>
            <a:schemeClr val="accent1">
              <a:lumMod val="20000"/>
              <a:lumOff val="80000"/>
            </a:schemeClr>
          </a:solidFill>
        </p:spPr>
        <p:txBody>
          <a:bodyPr vert="horz" wrap="square" lIns="72000" tIns="72000" rIns="72000" bIns="72000" rtlCol="0">
            <a:spAutoFit/>
          </a:bodyPr>
          <a:lstStyle/>
          <a:p>
            <a:pPr marR="5080"/>
            <a:r>
              <a:rPr lang="en-GB" sz="800" b="0" dirty="0">
                <a:solidFill>
                  <a:schemeClr val="tx2"/>
                </a:solidFill>
                <a:latin typeface="Zurich Sans Light"/>
                <a:cs typeface="Zurich Sans Light"/>
              </a:rPr>
              <a:t>This factsheet is for informational purposes only and is not an investment offer. Potential investors should seek professional advice before making decisions. Information may change without notice and is sourced from reliable sources, but accuracy is not guaranteed. Zurich International Life Limited and its affiliates are not responsible for errors or omissions. Please consult a financial professional to determine suitability for your investments.</a:t>
            </a:r>
          </a:p>
          <a:p>
            <a:pPr marR="5080"/>
            <a:r>
              <a:rPr lang="en-GB" sz="800" b="0" dirty="0">
                <a:solidFill>
                  <a:schemeClr val="tx2"/>
                </a:solidFill>
                <a:latin typeface="Zurich Sans Light"/>
                <a:cs typeface="Zurich Sans Light"/>
              </a:rPr>
              <a:t>All funds carry certain risks, and it is important to consider these risks before making an investment decision. The value of investments and any income derived from them is not guaranteed; they can both fall and rise and may be eroded in real terms by the effects of inflation. </a:t>
            </a:r>
            <a:br>
              <a:rPr lang="en-GB" sz="800" b="0" dirty="0">
                <a:solidFill>
                  <a:schemeClr val="tx2"/>
                </a:solidFill>
                <a:latin typeface="Zurich Sans Light"/>
                <a:cs typeface="Zurich Sans Light"/>
              </a:rPr>
            </a:br>
            <a:r>
              <a:rPr lang="en-GB" sz="800" b="0" dirty="0">
                <a:solidFill>
                  <a:schemeClr val="tx2"/>
                </a:solidFill>
                <a:latin typeface="Zurich Sans Light"/>
                <a:cs typeface="Zurich Sans Light"/>
              </a:rPr>
              <a:t>Key factors that may increase these risks include, but are not limited to:</a:t>
            </a:r>
            <a:br>
              <a:rPr lang="en-GB" sz="800" b="0" dirty="0">
                <a:solidFill>
                  <a:schemeClr val="tx2"/>
                </a:solidFill>
                <a:latin typeface="Zurich Sans Light"/>
                <a:cs typeface="Zurich Sans Light"/>
              </a:rPr>
            </a:br>
            <a:r>
              <a:rPr lang="en-GB" sz="800" b="0" dirty="0">
                <a:solidFill>
                  <a:schemeClr val="tx2"/>
                </a:solidFill>
                <a:latin typeface="Zurich Sans Light"/>
                <a:cs typeface="Zurich Sans Light"/>
              </a:rPr>
              <a:t>• The proportion of assets held overseas,</a:t>
            </a:r>
          </a:p>
          <a:p>
            <a:pPr marR="5080"/>
            <a:r>
              <a:rPr lang="en-GB" sz="800" b="0" dirty="0">
                <a:solidFill>
                  <a:schemeClr val="tx2"/>
                </a:solidFill>
                <a:latin typeface="Zurich Sans Light"/>
                <a:cs typeface="Zurich Sans Light"/>
              </a:rPr>
              <a:t>• Any concentration in specific geographic  areas or industry sectors,</a:t>
            </a:r>
          </a:p>
          <a:p>
            <a:pPr marR="5080"/>
            <a:r>
              <a:rPr lang="en-GB" sz="800" b="0" dirty="0">
                <a:solidFill>
                  <a:schemeClr val="tx2"/>
                </a:solidFill>
                <a:latin typeface="Zurich Sans Light"/>
                <a:cs typeface="Zurich Sans Light"/>
              </a:rPr>
              <a:t>• The amount invested in property or property-related shares,</a:t>
            </a:r>
          </a:p>
          <a:p>
            <a:pPr marR="5080"/>
            <a:r>
              <a:rPr lang="en-GB" sz="800" b="0" dirty="0">
                <a:solidFill>
                  <a:schemeClr val="tx2"/>
                </a:solidFill>
                <a:latin typeface="Zurich Sans Light"/>
                <a:cs typeface="Zurich Sans Light"/>
              </a:rPr>
              <a:t>• The use of derivatives and other financial instruments intended to generate outperformance,</a:t>
            </a:r>
          </a:p>
          <a:p>
            <a:pPr marR="5080"/>
            <a:r>
              <a:rPr lang="en-GB" sz="800" b="0" dirty="0">
                <a:solidFill>
                  <a:schemeClr val="tx2"/>
                </a:solidFill>
                <a:latin typeface="Zurich Sans Light"/>
                <a:cs typeface="Zurich Sans Light"/>
              </a:rPr>
              <a:t>• Additional charges that may reduce the number of units you hold.</a:t>
            </a:r>
            <a:endParaRPr sz="800" dirty="0">
              <a:solidFill>
                <a:schemeClr val="tx2"/>
              </a:solidFill>
              <a:latin typeface="Zurich Sans Light"/>
            </a:endParaRPr>
          </a:p>
        </p:txBody>
      </p:sp>
      <p:sp>
        <p:nvSpPr>
          <p:cNvPr id="40" name="object 24">
            <a:extLst>
              <a:ext uri="{FF2B5EF4-FFF2-40B4-BE49-F238E27FC236}">
                <a16:creationId xmlns:a16="http://schemas.microsoft.com/office/drawing/2014/main" id="{D78DD3F9-926D-2B18-4651-C5F29288286D}"/>
              </a:ext>
            </a:extLst>
          </p:cNvPr>
          <p:cNvSpPr txBox="1"/>
          <p:nvPr/>
        </p:nvSpPr>
        <p:spPr>
          <a:xfrm>
            <a:off x="3059937" y="3754245"/>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lang="en-GB" sz="800" b="1">
                <a:solidFill>
                  <a:srgbClr val="FFFFFF"/>
                </a:solidFill>
                <a:latin typeface="Zurich Sans"/>
                <a:cs typeface="Zurich Sans"/>
              </a:rPr>
              <a:t>Discrete</a:t>
            </a:r>
            <a:r>
              <a:rPr sz="800" b="1" spc="-5">
                <a:solidFill>
                  <a:srgbClr val="FFFFFF"/>
                </a:solidFill>
                <a:latin typeface="Zurich Sans"/>
                <a:cs typeface="Zurich Sans"/>
              </a:rPr>
              <a:t> </a:t>
            </a:r>
            <a:r>
              <a:rPr sz="800" b="1">
                <a:solidFill>
                  <a:srgbClr val="FFFFFF"/>
                </a:solidFill>
                <a:latin typeface="Zurich Sans"/>
                <a:cs typeface="Zurich Sans"/>
              </a:rPr>
              <a:t>performance</a:t>
            </a:r>
            <a:r>
              <a:rPr lang="en-GB" sz="800" b="1">
                <a:solidFill>
                  <a:srgbClr val="FFFFFF"/>
                </a:solidFill>
                <a:latin typeface="Zurich Sans"/>
                <a:cs typeface="Zurich Sans"/>
              </a:rPr>
              <a:t> (as at 28/02/2025)</a:t>
            </a:r>
            <a:endParaRPr sz="800" b="1">
              <a:latin typeface="Zurich Sans"/>
              <a:cs typeface="Zurich Sans"/>
            </a:endParaRPr>
          </a:p>
        </p:txBody>
      </p:sp>
      <p:pic>
        <p:nvPicPr>
          <p:cNvPr id="42" name="Graphic 41">
            <a:extLst>
              <a:ext uri="{FF2B5EF4-FFF2-40B4-BE49-F238E27FC236}">
                <a16:creationId xmlns:a16="http://schemas.microsoft.com/office/drawing/2014/main" id="{3E6ACC1B-EDE4-8606-AD64-3C2BA85638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70037" y="182136"/>
            <a:ext cx="1976437" cy="767521"/>
          </a:xfrm>
          <a:prstGeom prst="rect">
            <a:avLst/>
          </a:prstGeom>
        </p:spPr>
      </p:pic>
      <p:sp>
        <p:nvSpPr>
          <p:cNvPr id="4" name="object 12">
            <a:extLst>
              <a:ext uri="{FF2B5EF4-FFF2-40B4-BE49-F238E27FC236}">
                <a16:creationId xmlns:a16="http://schemas.microsoft.com/office/drawing/2014/main" id="{5C0533BC-C863-9813-B46F-7101A0DCA95A}"/>
              </a:ext>
            </a:extLst>
          </p:cNvPr>
          <p:cNvSpPr/>
          <p:nvPr/>
        </p:nvSpPr>
        <p:spPr>
          <a:xfrm>
            <a:off x="3075145" y="339119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9" name="object 12">
            <a:extLst>
              <a:ext uri="{FF2B5EF4-FFF2-40B4-BE49-F238E27FC236}">
                <a16:creationId xmlns:a16="http://schemas.microsoft.com/office/drawing/2014/main" id="{C5C25333-9EDA-2960-66D5-A060508CFC65}"/>
              </a:ext>
            </a:extLst>
          </p:cNvPr>
          <p:cNvSpPr/>
          <p:nvPr/>
        </p:nvSpPr>
        <p:spPr>
          <a:xfrm>
            <a:off x="3070729" y="3674782"/>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5" name="object 32">
            <a:extLst>
              <a:ext uri="{FF2B5EF4-FFF2-40B4-BE49-F238E27FC236}">
                <a16:creationId xmlns:a16="http://schemas.microsoft.com/office/drawing/2014/main" id="{C99B43AD-2B7C-C2B2-498B-8B388082D185}"/>
              </a:ext>
            </a:extLst>
          </p:cNvPr>
          <p:cNvSpPr txBox="1"/>
          <p:nvPr/>
        </p:nvSpPr>
        <p:spPr>
          <a:xfrm>
            <a:off x="4168425" y="3417053"/>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19" name="object 33">
            <a:extLst>
              <a:ext uri="{FF2B5EF4-FFF2-40B4-BE49-F238E27FC236}">
                <a16:creationId xmlns:a16="http://schemas.microsoft.com/office/drawing/2014/main" id="{2BB27EF0-40DE-7F57-9951-8B5EFA550E50}"/>
              </a:ext>
            </a:extLst>
          </p:cNvPr>
          <p:cNvSpPr txBox="1"/>
          <p:nvPr/>
        </p:nvSpPr>
        <p:spPr>
          <a:xfrm>
            <a:off x="4757006" y="3417053"/>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43" name="object 34">
            <a:extLst>
              <a:ext uri="{FF2B5EF4-FFF2-40B4-BE49-F238E27FC236}">
                <a16:creationId xmlns:a16="http://schemas.microsoft.com/office/drawing/2014/main" id="{7963DAB2-2789-F9D4-9D3F-7813F1D362C2}"/>
              </a:ext>
            </a:extLst>
          </p:cNvPr>
          <p:cNvSpPr txBox="1"/>
          <p:nvPr/>
        </p:nvSpPr>
        <p:spPr>
          <a:xfrm>
            <a:off x="5297839" y="3417053"/>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44" name="object 35">
            <a:extLst>
              <a:ext uri="{FF2B5EF4-FFF2-40B4-BE49-F238E27FC236}">
                <a16:creationId xmlns:a16="http://schemas.microsoft.com/office/drawing/2014/main" id="{0B6734F0-31F8-C52C-3867-BA7509310FA8}"/>
              </a:ext>
            </a:extLst>
          </p:cNvPr>
          <p:cNvSpPr txBox="1"/>
          <p:nvPr/>
        </p:nvSpPr>
        <p:spPr>
          <a:xfrm>
            <a:off x="5770330" y="3417053"/>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45" name="object 36">
            <a:extLst>
              <a:ext uri="{FF2B5EF4-FFF2-40B4-BE49-F238E27FC236}">
                <a16:creationId xmlns:a16="http://schemas.microsoft.com/office/drawing/2014/main" id="{46DDC4D4-2EE9-E53C-260E-9040AE8FA19A}"/>
              </a:ext>
            </a:extLst>
          </p:cNvPr>
          <p:cNvSpPr txBox="1"/>
          <p:nvPr/>
        </p:nvSpPr>
        <p:spPr>
          <a:xfrm>
            <a:off x="6698612" y="3405831"/>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46" name="object 32">
            <a:extLst>
              <a:ext uri="{FF2B5EF4-FFF2-40B4-BE49-F238E27FC236}">
                <a16:creationId xmlns:a16="http://schemas.microsoft.com/office/drawing/2014/main" id="{00288C65-67B3-F735-C6B5-18948AB6DA0C}"/>
              </a:ext>
            </a:extLst>
          </p:cNvPr>
          <p:cNvSpPr txBox="1"/>
          <p:nvPr/>
        </p:nvSpPr>
        <p:spPr>
          <a:xfrm>
            <a:off x="3834465" y="4495720"/>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47" name="object 33">
            <a:extLst>
              <a:ext uri="{FF2B5EF4-FFF2-40B4-BE49-F238E27FC236}">
                <a16:creationId xmlns:a16="http://schemas.microsoft.com/office/drawing/2014/main" id="{97A6433D-8B84-7500-B7F0-8F8EAA2FD81C}"/>
              </a:ext>
            </a:extLst>
          </p:cNvPr>
          <p:cNvSpPr txBox="1"/>
          <p:nvPr/>
        </p:nvSpPr>
        <p:spPr>
          <a:xfrm>
            <a:off x="4575767" y="4495720"/>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48" name="object 34">
            <a:extLst>
              <a:ext uri="{FF2B5EF4-FFF2-40B4-BE49-F238E27FC236}">
                <a16:creationId xmlns:a16="http://schemas.microsoft.com/office/drawing/2014/main" id="{732C1D9B-F9ED-C9AA-89BA-B3CA60C8BD39}"/>
              </a:ext>
            </a:extLst>
          </p:cNvPr>
          <p:cNvSpPr txBox="1"/>
          <p:nvPr/>
        </p:nvSpPr>
        <p:spPr>
          <a:xfrm>
            <a:off x="5229687" y="4495720"/>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49" name="object 35">
            <a:extLst>
              <a:ext uri="{FF2B5EF4-FFF2-40B4-BE49-F238E27FC236}">
                <a16:creationId xmlns:a16="http://schemas.microsoft.com/office/drawing/2014/main" id="{A777E7D2-EC30-B269-9D15-BEE2D69234CA}"/>
              </a:ext>
            </a:extLst>
          </p:cNvPr>
          <p:cNvSpPr txBox="1"/>
          <p:nvPr/>
        </p:nvSpPr>
        <p:spPr>
          <a:xfrm>
            <a:off x="5988382" y="4495720"/>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50" name="object 36">
            <a:extLst>
              <a:ext uri="{FF2B5EF4-FFF2-40B4-BE49-F238E27FC236}">
                <a16:creationId xmlns:a16="http://schemas.microsoft.com/office/drawing/2014/main" id="{FFF69D1F-FDD2-ACF3-602A-7A575269EECA}"/>
              </a:ext>
            </a:extLst>
          </p:cNvPr>
          <p:cNvSpPr txBox="1"/>
          <p:nvPr/>
        </p:nvSpPr>
        <p:spPr>
          <a:xfrm>
            <a:off x="6713806" y="4495720"/>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51" name="object 37">
            <a:extLst>
              <a:ext uri="{FF2B5EF4-FFF2-40B4-BE49-F238E27FC236}">
                <a16:creationId xmlns:a16="http://schemas.microsoft.com/office/drawing/2014/main" id="{2B9458FD-83D6-8D63-69D6-AD2D18DCB00F}"/>
              </a:ext>
            </a:extLst>
          </p:cNvPr>
          <p:cNvSpPr txBox="1"/>
          <p:nvPr/>
        </p:nvSpPr>
        <p:spPr>
          <a:xfrm>
            <a:off x="3062719" y="3412483"/>
            <a:ext cx="632829" cy="382156"/>
          </a:xfrm>
          <a:prstGeom prst="rect">
            <a:avLst/>
          </a:prstGeom>
        </p:spPr>
        <p:txBody>
          <a:bodyPr vert="horz" wrap="square" lIns="0" tIns="12700" rIns="0" bIns="0" rtlCol="0">
            <a:spAutoFit/>
          </a:bodyPr>
          <a:lstStyle/>
          <a:p>
            <a:pPr marL="12700">
              <a:lnSpc>
                <a:spcPct val="100000"/>
              </a:lnSpc>
              <a:spcBef>
                <a:spcPts val="100"/>
              </a:spcBef>
              <a:tabLst>
                <a:tab pos="901065" algn="l"/>
                <a:tab pos="1622425" algn="l"/>
              </a:tabLst>
            </a:pPr>
            <a:r>
              <a:rPr lang="en-GB" sz="800" spc="-10">
                <a:solidFill>
                  <a:srgbClr val="142863"/>
                </a:solidFill>
                <a:latin typeface="Zurich Sans"/>
                <a:cs typeface="Zurich Sans"/>
              </a:rPr>
              <a:t>Sector </a:t>
            </a:r>
            <a:r>
              <a:rPr sz="800">
                <a:solidFill>
                  <a:srgbClr val="142863"/>
                </a:solidFill>
                <a:latin typeface="Zurich Sans"/>
                <a:cs typeface="Zurich Sans"/>
              </a:rPr>
              <a:t>		</a:t>
            </a:r>
            <a:endParaRPr sz="800">
              <a:latin typeface="Zurich Sans"/>
              <a:cs typeface="Zurich Sans"/>
            </a:endParaRPr>
          </a:p>
        </p:txBody>
      </p:sp>
      <p:sp>
        <p:nvSpPr>
          <p:cNvPr id="38" name="object 32">
            <a:extLst>
              <a:ext uri="{FF2B5EF4-FFF2-40B4-BE49-F238E27FC236}">
                <a16:creationId xmlns:a16="http://schemas.microsoft.com/office/drawing/2014/main" id="{F92A59A0-9B0E-BB2B-0444-9F816EF25358}"/>
              </a:ext>
            </a:extLst>
          </p:cNvPr>
          <p:cNvSpPr txBox="1"/>
          <p:nvPr/>
        </p:nvSpPr>
        <p:spPr>
          <a:xfrm>
            <a:off x="3702050" y="3417053"/>
            <a:ext cx="309880" cy="135935"/>
          </a:xfrm>
          <a:prstGeom prst="rect">
            <a:avLst/>
          </a:prstGeom>
        </p:spPr>
        <p:txBody>
          <a:bodyPr vert="horz" wrap="square" lIns="0" tIns="12700" rIns="0" bIns="0" rtlCol="0">
            <a:spAutoFit/>
          </a:bodyPr>
          <a:lstStyle/>
          <a:p>
            <a:pPr marL="12700">
              <a:lnSpc>
                <a:spcPct val="100000"/>
              </a:lnSpc>
              <a:spcBef>
                <a:spcPts val="100"/>
              </a:spcBef>
            </a:pPr>
            <a:r>
              <a:rPr lang="en-GB" sz="800" spc="-20">
                <a:solidFill>
                  <a:srgbClr val="142863"/>
                </a:solidFill>
                <a:latin typeface="Zurich Sans"/>
                <a:cs typeface="Zurich Sans"/>
              </a:rPr>
              <a:t>7</a:t>
            </a:r>
            <a:r>
              <a:rPr sz="800" spc="-20">
                <a:solidFill>
                  <a:srgbClr val="142863"/>
                </a:solidFill>
                <a:latin typeface="Zurich Sans"/>
                <a:cs typeface="Zurich Sans"/>
              </a:rPr>
              <a:t>.95%</a:t>
            </a:r>
            <a:endParaRPr sz="800">
              <a:latin typeface="Zurich Sans"/>
              <a:cs typeface="Zurich Sans"/>
            </a:endParaRPr>
          </a:p>
        </p:txBody>
      </p:sp>
      <p:sp>
        <p:nvSpPr>
          <p:cNvPr id="53" name="object 36">
            <a:extLst>
              <a:ext uri="{FF2B5EF4-FFF2-40B4-BE49-F238E27FC236}">
                <a16:creationId xmlns:a16="http://schemas.microsoft.com/office/drawing/2014/main" id="{62ED0A0D-F101-110A-B715-B2B46EA9C0FE}"/>
              </a:ext>
            </a:extLst>
          </p:cNvPr>
          <p:cNvSpPr txBox="1"/>
          <p:nvPr/>
        </p:nvSpPr>
        <p:spPr>
          <a:xfrm>
            <a:off x="6232237" y="3414734"/>
            <a:ext cx="358108" cy="135935"/>
          </a:xfrm>
          <a:prstGeom prst="rect">
            <a:avLst/>
          </a:prstGeom>
        </p:spPr>
        <p:txBody>
          <a:bodyPr vert="horz" wrap="square" lIns="0" tIns="12700" rIns="0" bIns="0" rtlCol="0">
            <a:spAutoFit/>
          </a:bodyPr>
          <a:lstStyle/>
          <a:p>
            <a:pPr marL="12700">
              <a:lnSpc>
                <a:spcPct val="100000"/>
              </a:lnSpc>
              <a:spcBef>
                <a:spcPts val="100"/>
              </a:spcBef>
            </a:pPr>
            <a:r>
              <a:rPr lang="en-GB" sz="800" spc="-20">
                <a:solidFill>
                  <a:srgbClr val="142863"/>
                </a:solidFill>
                <a:latin typeface="Zurich Sans"/>
                <a:cs typeface="Zurich Sans"/>
              </a:rPr>
              <a:t>1</a:t>
            </a:r>
            <a:r>
              <a:rPr sz="800" spc="-20">
                <a:solidFill>
                  <a:srgbClr val="142863"/>
                </a:solidFill>
                <a:latin typeface="Zurich Sans"/>
                <a:cs typeface="Zurich Sans"/>
              </a:rPr>
              <a:t>3.30%</a:t>
            </a:r>
            <a:endParaRPr sz="800">
              <a:latin typeface="Zurich Sans"/>
              <a:cs typeface="Zurich Sans"/>
            </a:endParaRPr>
          </a:p>
        </p:txBody>
      </p:sp>
      <p:graphicFrame>
        <p:nvGraphicFramePr>
          <p:cNvPr id="86" name="Table 85">
            <a:extLst>
              <a:ext uri="{FF2B5EF4-FFF2-40B4-BE49-F238E27FC236}">
                <a16:creationId xmlns:a16="http://schemas.microsoft.com/office/drawing/2014/main" id="{0CC43028-6618-55A6-78D2-85A86DE49FBB}"/>
              </a:ext>
            </a:extLst>
          </p:cNvPr>
          <p:cNvGraphicFramePr>
            <a:graphicFrameLocks noGrp="1"/>
          </p:cNvGraphicFramePr>
          <p:nvPr>
            <p:extLst>
              <p:ext uri="{D42A27DB-BD31-4B8C-83A1-F6EECF244321}">
                <p14:modId xmlns:p14="http://schemas.microsoft.com/office/powerpoint/2010/main" val="1032798977"/>
              </p:ext>
            </p:extLst>
          </p:nvPr>
        </p:nvGraphicFramePr>
        <p:xfrm>
          <a:off x="280590" y="2725790"/>
          <a:ext cx="2596606" cy="5851839"/>
        </p:xfrm>
        <a:graphic>
          <a:graphicData uri="http://schemas.openxmlformats.org/drawingml/2006/table">
            <a:tbl>
              <a:tblPr/>
              <a:tblGrid>
                <a:gridCol w="1522553">
                  <a:extLst>
                    <a:ext uri="{9D8B030D-6E8A-4147-A177-3AD203B41FA5}">
                      <a16:colId xmlns:a16="http://schemas.microsoft.com/office/drawing/2014/main" val="3010086377"/>
                    </a:ext>
                  </a:extLst>
                </a:gridCol>
                <a:gridCol w="1074053">
                  <a:extLst>
                    <a:ext uri="{9D8B030D-6E8A-4147-A177-3AD203B41FA5}">
                      <a16:colId xmlns:a16="http://schemas.microsoft.com/office/drawing/2014/main" val="2222851836"/>
                    </a:ext>
                  </a:extLst>
                </a:gridCol>
              </a:tblGrid>
              <a:tr h="202519">
                <a:tc>
                  <a:txBody>
                    <a:bodyPr/>
                    <a:lstStyle/>
                    <a:p>
                      <a:pPr algn="l" fontAlgn="b"/>
                      <a:r>
                        <a:rPr lang="en-US" sz="1100" b="1" i="0" u="none" strike="noStrike">
                          <a:solidFill>
                            <a:srgbClr val="2167AE"/>
                          </a:solidFill>
                          <a:effectLst/>
                          <a:latin typeface="Zurich Sans"/>
                        </a:rPr>
                        <a:t>Fund information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dirty="0">
                        <a:solidFill>
                          <a:srgbClr val="2167AE"/>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5598163"/>
                  </a:ext>
                </a:extLst>
              </a:tr>
              <a:tr h="172207">
                <a:tc gridSpan="2">
                  <a:txBody>
                    <a:bodyPr/>
                    <a:lstStyle/>
                    <a:p>
                      <a:pPr algn="l" fontAlgn="b"/>
                      <a:r>
                        <a:rPr lang="en-US" sz="900" b="1" i="0" u="none" strike="noStrike">
                          <a:solidFill>
                            <a:srgbClr val="2167AE"/>
                          </a:solidFill>
                          <a:effectLst/>
                          <a:latin typeface="Zurich Sans"/>
                        </a:rPr>
                        <a:t>Fund Management Company</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r" fontAlgn="b"/>
                      <a:endParaRPr lang="en-US" sz="900" b="0" i="0" u="none" strike="noStrike">
                        <a:solidFill>
                          <a:srgbClr val="2167AE"/>
                        </a:solidFill>
                        <a:effectLst/>
                        <a:latin typeface="Zurich Sans" panose="02000500000000000000" pitchFamily="2" charset="0"/>
                      </a:endParaRPr>
                    </a:p>
                  </a:txBody>
                  <a:tcPr anchor="b">
                    <a:lnL w="12700" cmpd="sng">
                      <a:noFill/>
                      <a:prstDash val="solid"/>
                    </a:lnL>
                    <a:lnR>
                      <a:noFill/>
                    </a:lnR>
                    <a:lnT>
                      <a:noFill/>
                    </a:lnT>
                    <a:lnB>
                      <a:noFill/>
                    </a:lnB>
                    <a:solidFill>
                      <a:schemeClr val="bg1">
                        <a:lumMod val="95000"/>
                      </a:schemeClr>
                    </a:solidFill>
                  </a:tcPr>
                </a:tc>
                <a:extLst>
                  <a:ext uri="{0D108BD9-81ED-4DB2-BD59-A6C34878D82A}">
                    <a16:rowId xmlns:a16="http://schemas.microsoft.com/office/drawing/2014/main" val="321192752"/>
                  </a:ext>
                </a:extLst>
              </a:tr>
              <a:tr h="172207">
                <a:tc gridSpan="2">
                  <a:txBody>
                    <a:bodyPr/>
                    <a:lstStyle/>
                    <a:p>
                      <a:pPr algn="r" fontAlgn="ctr"/>
                      <a:r>
                        <a:rPr lang="en-US" sz="900" b="0" i="0" u="none" strike="noStrike">
                          <a:solidFill>
                            <a:srgbClr val="23366F"/>
                          </a:solidFill>
                          <a:effectLst/>
                          <a:latin typeface="Zurich Sans"/>
                        </a:rPr>
                        <a:t>Fidelity Investments</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nchor="ctr">
                    <a:lnL w="12700" cmpd="sng">
                      <a:noFill/>
                      <a:prstDash val="solid"/>
                    </a:lnL>
                    <a:lnR>
                      <a:noFill/>
                    </a:lnR>
                    <a:lnT>
                      <a:noFill/>
                    </a:lnT>
                    <a:lnB>
                      <a:noFill/>
                    </a:lnB>
                    <a:solidFill>
                      <a:schemeClr val="bg1">
                        <a:lumMod val="95000"/>
                      </a:schemeClr>
                    </a:solidFill>
                  </a:tcPr>
                </a:tc>
                <a:extLst>
                  <a:ext uri="{0D108BD9-81ED-4DB2-BD59-A6C34878D82A}">
                    <a16:rowId xmlns:a16="http://schemas.microsoft.com/office/drawing/2014/main" val="3757054817"/>
                  </a:ext>
                </a:extLst>
              </a:tr>
              <a:tr h="172207">
                <a:tc>
                  <a:txBody>
                    <a:bodyPr/>
                    <a:lstStyle/>
                    <a:p>
                      <a:pPr algn="l" fontAlgn="b"/>
                      <a:r>
                        <a:rPr lang="en-US" sz="900" b="1" i="0" u="none" strike="noStrike">
                          <a:solidFill>
                            <a:srgbClr val="2167AE"/>
                          </a:solidFill>
                          <a:effectLst/>
                          <a:latin typeface="Zurich Sans"/>
                        </a:rPr>
                        <a:t>Zurich Fund Code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3DUSD</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17312913"/>
                  </a:ext>
                </a:extLst>
              </a:tr>
              <a:tr h="172207">
                <a:tc>
                  <a:txBody>
                    <a:bodyPr/>
                    <a:lstStyle/>
                    <a:p>
                      <a:pPr algn="l" fontAlgn="b"/>
                      <a:r>
                        <a:rPr lang="en-US" sz="900" b="1" i="0" u="none" strike="noStrike">
                          <a:solidFill>
                            <a:srgbClr val="2167AE"/>
                          </a:solidFill>
                          <a:effectLst/>
                          <a:latin typeface="Zurich Sans"/>
                        </a:rPr>
                        <a:t>Underlying ISN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r>
                        <a:rPr lang="en-US" sz="800" b="0" i="0" u="none" strike="noStrike">
                          <a:solidFill>
                            <a:srgbClr val="23366F"/>
                          </a:solidFill>
                          <a:effectLst/>
                          <a:latin typeface="Zurich Sans"/>
                        </a:rPr>
                        <a:t>GB00B4K1ZK5USD</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35109854"/>
                  </a:ext>
                </a:extLst>
              </a:tr>
              <a:tr h="172207">
                <a:tc>
                  <a:txBody>
                    <a:bodyPr/>
                    <a:lstStyle/>
                    <a:p>
                      <a:pPr algn="l" fontAlgn="b"/>
                      <a:r>
                        <a:rPr lang="en-US" sz="900" b="1" i="0" u="none" strike="noStrike" dirty="0">
                          <a:solidFill>
                            <a:srgbClr val="2167AE"/>
                          </a:solidFill>
                          <a:effectLst/>
                          <a:latin typeface="Zurich Sans"/>
                        </a:rPr>
                        <a:t>Zurich Fund Size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dirty="0">
                          <a:solidFill>
                            <a:srgbClr val="23366F"/>
                          </a:solidFill>
                          <a:effectLst/>
                          <a:latin typeface="Zurich Sans"/>
                        </a:rPr>
                        <a:t>USD 52.31m</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00913602"/>
                  </a:ext>
                </a:extLst>
              </a:tr>
              <a:tr h="172207">
                <a:tc>
                  <a:txBody>
                    <a:bodyPr/>
                    <a:lstStyle/>
                    <a:p>
                      <a:pPr algn="l" fontAlgn="b"/>
                      <a:r>
                        <a:rPr lang="en-US" sz="900" b="1" i="0" u="none" strike="noStrike">
                          <a:solidFill>
                            <a:srgbClr val="2167AE"/>
                          </a:solidFill>
                          <a:effectLst/>
                          <a:latin typeface="Zurich Sans"/>
                        </a:rPr>
                        <a:t>Launch Date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01/12/2011</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48480577"/>
                  </a:ext>
                </a:extLst>
              </a:tr>
              <a:tr h="172207">
                <a:tc>
                  <a:txBody>
                    <a:bodyPr/>
                    <a:lstStyle/>
                    <a:p>
                      <a:pPr algn="l" fontAlgn="b"/>
                      <a:r>
                        <a:rPr lang="en-US" sz="900" b="1" i="0" u="none" strike="noStrike">
                          <a:solidFill>
                            <a:srgbClr val="2167AE"/>
                          </a:solidFill>
                          <a:effectLst/>
                          <a:latin typeface="Zurich Sans"/>
                        </a:rPr>
                        <a:t>Unit price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 1.54</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57280739"/>
                  </a:ext>
                </a:extLst>
              </a:tr>
              <a:tr h="172207">
                <a:tc>
                  <a:txBody>
                    <a:bodyPr/>
                    <a:lstStyle/>
                    <a:p>
                      <a:pPr algn="l" fontAlgn="b"/>
                      <a:r>
                        <a:rPr lang="en-US" sz="900" b="1" i="0" u="none" strike="noStrike">
                          <a:solidFill>
                            <a:srgbClr val="2167AE"/>
                          </a:solidFill>
                          <a:effectLst/>
                          <a:latin typeface="Zurich Sans"/>
                        </a:rPr>
                        <a:t>Currency</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89607909"/>
                  </a:ext>
                </a:extLst>
              </a:tr>
              <a:tr h="308612">
                <a:tc gridSpan="2">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lang="en-US" sz="900" b="1" i="0" u="none" strike="noStrike">
                          <a:solidFill>
                            <a:srgbClr val="2167AE"/>
                          </a:solidFill>
                          <a:effectLst/>
                          <a:latin typeface="Zurich Sans"/>
                        </a:rPr>
                        <a:t>Sector                                  </a:t>
                      </a:r>
                      <a:r>
                        <a:rPr kumimoji="0" lang="en-US" sz="900" b="0" i="0" u="none" strike="noStrike" kern="0" cap="none" spc="0" normalizeH="0" baseline="0" noProof="0">
                          <a:ln>
                            <a:noFill/>
                          </a:ln>
                          <a:solidFill>
                            <a:srgbClr val="23366F"/>
                          </a:solidFill>
                          <a:effectLst/>
                          <a:uLnTx/>
                          <a:uFillTx/>
                          <a:latin typeface="Zurich Sans"/>
                          <a:ea typeface="+mn-ea"/>
                          <a:cs typeface="+mn-cs"/>
                        </a:rPr>
                        <a:t>Fixed Interest – Emerging Markets</a:t>
                      </a:r>
                      <a:endParaRPr lang="en-US" sz="900" b="1" i="0" u="none" strike="noStrike">
                        <a:solidFill>
                          <a:srgbClr val="2167AE"/>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21261536"/>
                  </a:ext>
                </a:extLst>
              </a:tr>
              <a:tr h="172207">
                <a:tc>
                  <a:txBody>
                    <a:bodyPr/>
                    <a:lstStyle/>
                    <a:p>
                      <a:pPr algn="l" fontAlgn="b"/>
                      <a:r>
                        <a:rPr lang="en-GB" sz="900" b="1" i="0" u="none" strike="noStrike" dirty="0">
                          <a:solidFill>
                            <a:srgbClr val="2167AE"/>
                          </a:solidFill>
                          <a:effectLst/>
                          <a:latin typeface="Zurich Sans"/>
                        </a:rPr>
                        <a:t>Zurich Fund Charge</a:t>
                      </a:r>
                      <a:endParaRPr lang="en-US" sz="900" b="1" i="0" u="none" strike="noStrike" dirty="0">
                        <a:solidFill>
                          <a:srgbClr val="2167AE"/>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GB" sz="800" b="0" i="0" u="none" strike="noStrike" dirty="0">
                          <a:solidFill>
                            <a:srgbClr val="23366F"/>
                          </a:solidFill>
                          <a:effectLst/>
                          <a:latin typeface="Zurich Sans"/>
                        </a:rPr>
                        <a:t>0</a:t>
                      </a:r>
                      <a:endParaRPr lang="en-US" sz="800" b="0" i="0" u="none" strike="noStrike" dirty="0">
                        <a:solidFill>
                          <a:srgbClr val="23366F"/>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67909512"/>
                  </a:ext>
                </a:extLst>
              </a:tr>
              <a:tr h="195640">
                <a:tc>
                  <a:txBody>
                    <a:bodyPr/>
                    <a:lstStyle/>
                    <a:p>
                      <a:pPr algn="l" fontAlgn="b"/>
                      <a:r>
                        <a:rPr lang="en-US" sz="900" b="1" i="0" u="none" strike="noStrike" dirty="0">
                          <a:solidFill>
                            <a:srgbClr val="2167AE"/>
                          </a:solidFill>
                          <a:effectLst/>
                          <a:latin typeface="Zurich Sans"/>
                        </a:rPr>
                        <a:t>Annual Management Charge*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0.75%</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48880082"/>
                  </a:ext>
                </a:extLst>
              </a:tr>
              <a:tr h="172207">
                <a:tc>
                  <a:txBody>
                    <a:bodyPr/>
                    <a:lstStyle/>
                    <a:p>
                      <a:pPr algn="l" fontAlgn="b"/>
                      <a:r>
                        <a:rPr lang="en-US" sz="900" b="1" i="0" u="none" strike="noStrike" dirty="0">
                          <a:solidFill>
                            <a:srgbClr val="2167AE"/>
                          </a:solidFill>
                          <a:effectLst/>
                          <a:latin typeface="Zurich Sans"/>
                        </a:rPr>
                        <a:t>Ongoing Charge Figure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0.85%</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53992124"/>
                  </a:ext>
                </a:extLst>
              </a:tr>
              <a:tr h="308612">
                <a:tc gridSpan="2">
                  <a:txBody>
                    <a:bodyPr/>
                    <a:lstStyle/>
                    <a:p>
                      <a:pPr algn="l" fontAlgn="b"/>
                      <a:r>
                        <a:rPr lang="en-GB" sz="900" b="1" i="0" u="none" strike="noStrike" dirty="0">
                          <a:solidFill>
                            <a:srgbClr val="2167AE"/>
                          </a:solidFill>
                          <a:effectLst/>
                          <a:latin typeface="Zurich Sans"/>
                        </a:rPr>
                        <a:t>Underlying SFDR Product Type                                 </a:t>
                      </a:r>
                      <a:r>
                        <a:rPr lang="en-GB" sz="900" b="0" i="0" u="none" strike="noStrike" dirty="0">
                          <a:solidFill>
                            <a:srgbClr val="23366F"/>
                          </a:solidFill>
                          <a:effectLst/>
                          <a:latin typeface="Zurich Sans"/>
                        </a:rPr>
                        <a:t>Article 9 </a:t>
                      </a:r>
                      <a:endParaRPr lang="en-GB" sz="900" b="1" i="0" u="none" strike="noStrike" dirty="0">
                        <a:solidFill>
                          <a:srgbClr val="2167AE"/>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lnT w="12700" cmpd="sng">
                      <a:noFill/>
                      <a:prstDash val="solid"/>
                    </a:lnT>
                  </a:tcPr>
                </a:tc>
                <a:extLst>
                  <a:ext uri="{0D108BD9-81ED-4DB2-BD59-A6C34878D82A}">
                    <a16:rowId xmlns:a16="http://schemas.microsoft.com/office/drawing/2014/main" val="1676470885"/>
                  </a:ext>
                </a:extLst>
              </a:tr>
              <a:tr h="172207">
                <a:tc>
                  <a:txBody>
                    <a:bodyPr/>
                    <a:lstStyle/>
                    <a:p>
                      <a:pPr algn="l" fontAlgn="b"/>
                      <a:r>
                        <a:rPr lang="en-US" sz="900" b="1" i="0" u="none" strike="noStrike">
                          <a:solidFill>
                            <a:srgbClr val="2167AE"/>
                          </a:solidFill>
                          <a:effectLst/>
                          <a:latin typeface="Zurich Sans"/>
                        </a:rPr>
                        <a:t>FE Risk Rating</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3</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425542"/>
                  </a:ext>
                </a:extLst>
              </a:tr>
              <a:tr h="308612">
                <a:tc>
                  <a:txBody>
                    <a:bodyPr/>
                    <a:lstStyle/>
                    <a:p>
                      <a:pPr algn="l" fontAlgn="b"/>
                      <a:r>
                        <a:rPr lang="en-US" sz="900" b="1" i="0" u="none" strike="noStrike" dirty="0">
                          <a:solidFill>
                            <a:srgbClr val="2167AE"/>
                          </a:solidFill>
                          <a:effectLst/>
                          <a:latin typeface="Zurich Sans"/>
                        </a:rPr>
                        <a:t>Morningstar </a:t>
                      </a:r>
                      <a:br>
                        <a:rPr lang="en-US" sz="900" b="1" i="0" u="none" strike="noStrike" dirty="0">
                          <a:solidFill>
                            <a:srgbClr val="2167AE"/>
                          </a:solidFill>
                          <a:effectLst/>
                          <a:latin typeface="Zurich Sans"/>
                        </a:rPr>
                      </a:br>
                      <a:r>
                        <a:rPr lang="en-US" sz="900" b="1" i="0" u="none" strike="noStrike" dirty="0">
                          <a:solidFill>
                            <a:srgbClr val="2167AE"/>
                          </a:solidFill>
                          <a:effectLst/>
                          <a:latin typeface="Zurich Sans"/>
                        </a:rPr>
                        <a:t>Sustainability Rating</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04437999"/>
                  </a:ext>
                </a:extLst>
              </a:tr>
              <a:tr h="308612">
                <a:tc>
                  <a:txBody>
                    <a:bodyPr/>
                    <a:lstStyle/>
                    <a:p>
                      <a:pPr algn="l" fontAlgn="b"/>
                      <a:r>
                        <a:rPr lang="en-US" sz="900" b="1" i="0" u="none" strike="noStrike" dirty="0">
                          <a:solidFill>
                            <a:srgbClr val="2167AE"/>
                          </a:solidFill>
                          <a:effectLst/>
                          <a:latin typeface="Zurich Sans"/>
                        </a:rPr>
                        <a:t>Morningstar</a:t>
                      </a:r>
                      <a:br>
                        <a:rPr lang="en-US" sz="900" b="1" i="0" u="none" strike="noStrike" dirty="0">
                          <a:solidFill>
                            <a:srgbClr val="2167AE"/>
                          </a:solidFill>
                          <a:effectLst/>
                          <a:latin typeface="Zurich Sans"/>
                        </a:rPr>
                      </a:br>
                      <a:r>
                        <a:rPr lang="en-US" sz="900" b="1" i="0" u="none" strike="noStrike" dirty="0">
                          <a:solidFill>
                            <a:srgbClr val="2167AE"/>
                          </a:solidFill>
                          <a:effectLst/>
                          <a:latin typeface="Zurich Sans"/>
                        </a:rPr>
                        <a:t>Low Carbon Designation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1825811"/>
                  </a:ext>
                </a:extLst>
              </a:tr>
              <a:tr h="308612">
                <a:tc>
                  <a:txBody>
                    <a:bodyPr/>
                    <a:lstStyle/>
                    <a:p>
                      <a:pPr algn="l" fontAlgn="b"/>
                      <a:r>
                        <a:rPr lang="en-US" sz="900" b="1" i="0" u="none" strike="noStrike">
                          <a:solidFill>
                            <a:srgbClr val="2167AE"/>
                          </a:solidFill>
                          <a:effectLst/>
                          <a:latin typeface="Zurich Sans"/>
                        </a:rPr>
                        <a:t>Sustainability Corporate/Sovereign Score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dirty="0">
                          <a:solidFill>
                            <a:srgbClr val="FF0000"/>
                          </a:solidFill>
                          <a:effectLst/>
                          <a:latin typeface="Zurich Sans"/>
                        </a:rPr>
                        <a:t>tbc#</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59070001"/>
                  </a:ext>
                </a:extLst>
              </a:tr>
              <a:tr h="1996199">
                <a:tc gridSpan="2">
                  <a:txBody>
                    <a:bodyPr/>
                    <a:lstStyle/>
                    <a:p>
                      <a:pPr marL="171450" indent="-171450" algn="l" fontAlgn="t">
                        <a:buFont typeface="Arial" panose="020B0604020202020204" pitchFamily="34" charset="0"/>
                        <a:buChar char="•"/>
                      </a:pPr>
                      <a:r>
                        <a:rPr lang="en-GB" sz="900" b="0" i="0" u="none" strike="noStrike" dirty="0">
                          <a:solidFill>
                            <a:srgbClr val="2167AE"/>
                          </a:solidFill>
                          <a:effectLst/>
                          <a:latin typeface="Zurich Sans"/>
                        </a:rPr>
                        <a:t>This figure includes the charges and expenses that are deducted from the fund and are reflected in the unit price. Other charges which reduce the number of units you hold may apply.</a:t>
                      </a:r>
                    </a:p>
                    <a:p>
                      <a:pPr marL="171450" indent="-171450" algn="l" fontAlgn="t">
                        <a:buFont typeface="Arial" panose="020B0604020202020204" pitchFamily="34" charset="0"/>
                        <a:buChar char="•"/>
                      </a:pPr>
                      <a:endParaRPr lang="en-GB" sz="900" b="0" i="0" u="none" strike="noStrike" dirty="0">
                        <a:solidFill>
                          <a:srgbClr val="2167AE"/>
                        </a:solidFill>
                        <a:effectLst/>
                        <a:latin typeface="Zurich Sans"/>
                      </a:endParaRPr>
                    </a:p>
                    <a:p>
                      <a:pPr marL="0" marR="0" lvl="0" indent="0" algn="l" defTabSz="914400" eaLnBrk="1" fontAlgn="t" latinLnBrk="0" hangingPunct="1">
                        <a:lnSpc>
                          <a:spcPct val="100000"/>
                        </a:lnSpc>
                        <a:spcBef>
                          <a:spcPts val="0"/>
                        </a:spcBef>
                        <a:spcAft>
                          <a:spcPts val="0"/>
                        </a:spcAft>
                        <a:buClrTx/>
                        <a:buSzTx/>
                        <a:buFont typeface="Arial" panose="020B0604020202020204" pitchFamily="34" charset="0"/>
                        <a:buNone/>
                        <a:tabLst/>
                        <a:defRPr/>
                      </a:pPr>
                      <a:r>
                        <a:rPr lang="en-GB" sz="900" b="0" i="0" u="none" strike="noStrike" dirty="0">
                          <a:solidFill>
                            <a:srgbClr val="2167AE"/>
                          </a:solidFill>
                          <a:effectLst/>
                          <a:latin typeface="Zurich Sans"/>
                        </a:rPr>
                        <a:t>Zurich is not a fund manager. Instead, Zurich offers access to notional units that mirror the underlying Fund. The name of the underlying Fund is replicated by Zurich, with the addition of the word "Zurich". Zurich does not set the investment strategy nor is it responsible for the asset manager’s adherence to it. Please find the Underlying Factsheet link</a:t>
                      </a:r>
                      <a:r>
                        <a:rPr lang="en-GB" sz="1000" b="0" i="0" u="none" strike="noStrike" dirty="0">
                          <a:solidFill>
                            <a:srgbClr val="2167AE"/>
                          </a:solidFill>
                          <a:effectLst/>
                          <a:latin typeface="Zurich Sans"/>
                        </a:rPr>
                        <a:t>. </a:t>
                      </a:r>
                      <a:endParaRPr lang="en-GB" sz="900" b="0" i="0" u="none" strike="noStrike" dirty="0">
                        <a:solidFill>
                          <a:srgbClr val="2167AE"/>
                        </a:solidFill>
                        <a:effectLst/>
                        <a:latin typeface="Zurich Sans"/>
                      </a:endParaRPr>
                    </a:p>
                  </a:txBody>
                  <a:tcPr marL="36000" marR="36000" marT="9144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lnT w="12700" cmpd="sng">
                      <a:noFill/>
                      <a:prstDash val="solid"/>
                    </a:lnT>
                  </a:tcPr>
                </a:tc>
                <a:extLst>
                  <a:ext uri="{0D108BD9-81ED-4DB2-BD59-A6C34878D82A}">
                    <a16:rowId xmlns:a16="http://schemas.microsoft.com/office/drawing/2014/main" val="3030321878"/>
                  </a:ext>
                </a:extLst>
              </a:tr>
            </a:tbl>
          </a:graphicData>
        </a:graphic>
      </p:graphicFrame>
      <p:grpSp>
        <p:nvGrpSpPr>
          <p:cNvPr id="93" name="Group 92">
            <a:extLst>
              <a:ext uri="{FF2B5EF4-FFF2-40B4-BE49-F238E27FC236}">
                <a16:creationId xmlns:a16="http://schemas.microsoft.com/office/drawing/2014/main" id="{71477A63-E8DD-D2DA-ED1A-D91854D6A558}"/>
              </a:ext>
            </a:extLst>
          </p:cNvPr>
          <p:cNvGrpSpPr/>
          <p:nvPr/>
        </p:nvGrpSpPr>
        <p:grpSpPr>
          <a:xfrm>
            <a:off x="2246559" y="5834491"/>
            <a:ext cx="572167" cy="180000"/>
            <a:chOff x="2101251" y="7519667"/>
            <a:chExt cx="572167" cy="180000"/>
          </a:xfrm>
        </p:grpSpPr>
        <p:pic>
          <p:nvPicPr>
            <p:cNvPr id="87" name="Graphic 86" descr="Earth globe: Africa and Europe with solid fill">
              <a:extLst>
                <a:ext uri="{FF2B5EF4-FFF2-40B4-BE49-F238E27FC236}">
                  <a16:creationId xmlns:a16="http://schemas.microsoft.com/office/drawing/2014/main" id="{09194C56-FC5C-E342-748C-CF321D49B0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01251" y="7519667"/>
              <a:ext cx="180000" cy="180000"/>
            </a:xfrm>
            <a:prstGeom prst="rect">
              <a:avLst/>
            </a:prstGeom>
          </p:spPr>
        </p:pic>
        <p:pic>
          <p:nvPicPr>
            <p:cNvPr id="91" name="Graphic 90" descr="Earth globe: Africa and Europe with solid fill">
              <a:extLst>
                <a:ext uri="{FF2B5EF4-FFF2-40B4-BE49-F238E27FC236}">
                  <a16:creationId xmlns:a16="http://schemas.microsoft.com/office/drawing/2014/main" id="{8723E331-10AF-C9F3-8B1F-3E8834C2F0B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98221" y="7519667"/>
              <a:ext cx="180000" cy="180000"/>
            </a:xfrm>
            <a:prstGeom prst="rect">
              <a:avLst/>
            </a:prstGeom>
          </p:spPr>
        </p:pic>
        <p:pic>
          <p:nvPicPr>
            <p:cNvPr id="92" name="Graphic 91" descr="Earth globe: Africa and Europe with solid fill">
              <a:extLst>
                <a:ext uri="{FF2B5EF4-FFF2-40B4-BE49-F238E27FC236}">
                  <a16:creationId xmlns:a16="http://schemas.microsoft.com/office/drawing/2014/main" id="{6977A556-F8D0-4C3C-32BC-37871CF5E99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93418" y="7519667"/>
              <a:ext cx="180000" cy="180000"/>
            </a:xfrm>
            <a:prstGeom prst="rect">
              <a:avLst/>
            </a:prstGeom>
          </p:spPr>
        </p:pic>
      </p:grpSp>
      <p:grpSp>
        <p:nvGrpSpPr>
          <p:cNvPr id="90" name="Group 89">
            <a:extLst>
              <a:ext uri="{FF2B5EF4-FFF2-40B4-BE49-F238E27FC236}">
                <a16:creationId xmlns:a16="http://schemas.microsoft.com/office/drawing/2014/main" id="{A3D5DE3D-972D-E934-DA33-ADFCC0B64D20}"/>
              </a:ext>
            </a:extLst>
          </p:cNvPr>
          <p:cNvGrpSpPr/>
          <p:nvPr/>
        </p:nvGrpSpPr>
        <p:grpSpPr>
          <a:xfrm>
            <a:off x="2326756" y="6207749"/>
            <a:ext cx="475622" cy="144000"/>
            <a:chOff x="2118446" y="7818788"/>
            <a:chExt cx="475622" cy="144000"/>
          </a:xfrm>
          <a:solidFill>
            <a:srgbClr val="004F9E"/>
          </a:solidFill>
        </p:grpSpPr>
        <p:pic>
          <p:nvPicPr>
            <p:cNvPr id="85" name="Graphic 84" descr="Leaf with solid fill">
              <a:extLst>
                <a:ext uri="{FF2B5EF4-FFF2-40B4-BE49-F238E27FC236}">
                  <a16:creationId xmlns:a16="http://schemas.microsoft.com/office/drawing/2014/main" id="{37F25EE7-1A19-2E6C-9982-F9B5241A8B3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18446" y="7818788"/>
              <a:ext cx="144000" cy="144000"/>
            </a:xfrm>
            <a:prstGeom prst="rect">
              <a:avLst/>
            </a:prstGeom>
          </p:spPr>
        </p:pic>
        <p:pic>
          <p:nvPicPr>
            <p:cNvPr id="88" name="Graphic 87" descr="Leaf with solid fill">
              <a:extLst>
                <a:ext uri="{FF2B5EF4-FFF2-40B4-BE49-F238E27FC236}">
                  <a16:creationId xmlns:a16="http://schemas.microsoft.com/office/drawing/2014/main" id="{B476BB90-25EF-C96F-13D3-337E7A9121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90245" y="7818788"/>
              <a:ext cx="144000" cy="144000"/>
            </a:xfrm>
            <a:prstGeom prst="rect">
              <a:avLst/>
            </a:prstGeom>
          </p:spPr>
        </p:pic>
        <p:pic>
          <p:nvPicPr>
            <p:cNvPr id="89" name="Graphic 88" descr="Leaf with solid fill">
              <a:extLst>
                <a:ext uri="{FF2B5EF4-FFF2-40B4-BE49-F238E27FC236}">
                  <a16:creationId xmlns:a16="http://schemas.microsoft.com/office/drawing/2014/main" id="{D66ED5ED-2DDD-02E6-BC4C-E19D4BC005C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50068" y="7818788"/>
              <a:ext cx="144000" cy="144000"/>
            </a:xfrm>
            <a:prstGeom prst="rect">
              <a:avLst/>
            </a:prstGeom>
          </p:spPr>
        </p:pic>
      </p:grpSp>
      <p:sp>
        <p:nvSpPr>
          <p:cNvPr id="23" name="TextBox 22">
            <a:extLst>
              <a:ext uri="{FF2B5EF4-FFF2-40B4-BE49-F238E27FC236}">
                <a16:creationId xmlns:a16="http://schemas.microsoft.com/office/drawing/2014/main" id="{9EAAA8F4-D957-65FE-8194-9EE71D2C5AF2}"/>
              </a:ext>
            </a:extLst>
          </p:cNvPr>
          <p:cNvSpPr txBox="1"/>
          <p:nvPr/>
        </p:nvSpPr>
        <p:spPr>
          <a:xfrm>
            <a:off x="281738" y="10370415"/>
            <a:ext cx="6892628" cy="230832"/>
          </a:xfrm>
          <a:prstGeom prst="rect">
            <a:avLst/>
          </a:prstGeom>
          <a:solidFill>
            <a:schemeClr val="bg1">
              <a:lumMod val="95000"/>
            </a:schemeClr>
          </a:solidFill>
        </p:spPr>
        <p:txBody>
          <a:bodyPr wrap="square" rtlCol="0">
            <a:spAutoFit/>
          </a:bodyPr>
          <a:lstStyle/>
          <a:p>
            <a:r>
              <a:rPr lang="en-GB" sz="900">
                <a:solidFill>
                  <a:srgbClr val="004F9E"/>
                </a:solidFill>
                <a:latin typeface="Zurich Sans Light" panose="02000000000000000000" pitchFamily="2" charset="0"/>
              </a:rPr>
              <a:t>Glossary for some of terms used in this factsheet is available in our </a:t>
            </a:r>
            <a:r>
              <a:rPr lang="en-GB" sz="900" u="sng">
                <a:solidFill>
                  <a:srgbClr val="004F9E"/>
                </a:solidFill>
                <a:latin typeface="Zurich Sans Light" panose="02000000000000000000" pitchFamily="2" charset="0"/>
              </a:rPr>
              <a:t>Fund Centre guide </a:t>
            </a:r>
            <a:endParaRPr lang="en-US" sz="900" u="sng">
              <a:solidFill>
                <a:srgbClr val="004F9E"/>
              </a:solidFill>
              <a:latin typeface="Zurich Sans Light" panose="02000000000000000000" pitchFamily="2" charset="0"/>
            </a:endParaRPr>
          </a:p>
        </p:txBody>
      </p:sp>
      <p:sp>
        <p:nvSpPr>
          <p:cNvPr id="52" name="Rectangle 51">
            <a:extLst>
              <a:ext uri="{FF2B5EF4-FFF2-40B4-BE49-F238E27FC236}">
                <a16:creationId xmlns:a16="http://schemas.microsoft.com/office/drawing/2014/main" id="{0FD73F44-51FA-A678-9BCE-0FB373D8FAEE}"/>
              </a:ext>
            </a:extLst>
          </p:cNvPr>
          <p:cNvSpPr/>
          <p:nvPr/>
        </p:nvSpPr>
        <p:spPr>
          <a:xfrm>
            <a:off x="-3350314" y="7483419"/>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6776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FB89D-5876-2AAA-AC5B-F08C75F5286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02250CC-67EE-68A7-72C3-8493CE31FFD0}"/>
              </a:ext>
            </a:extLst>
          </p:cNvPr>
          <p:cNvSpPr txBox="1"/>
          <p:nvPr/>
        </p:nvSpPr>
        <p:spPr>
          <a:xfrm>
            <a:off x="347345" y="372456"/>
            <a:ext cx="762635" cy="1359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GB" sz="800" b="0" i="0" u="none" strike="noStrike" kern="0" cap="none" spc="0" normalizeH="0" baseline="0" noProof="0">
                <a:ln>
                  <a:noFill/>
                </a:ln>
                <a:solidFill>
                  <a:srgbClr val="142764"/>
                </a:solidFill>
                <a:effectLst/>
                <a:uLnTx/>
                <a:uFillTx/>
                <a:latin typeface="Zurich Sans Light"/>
                <a:cs typeface="Zurich Sans Light"/>
              </a:rPr>
              <a:t>March</a:t>
            </a:r>
            <a:r>
              <a:rPr kumimoji="0" sz="800" b="0" i="0" u="none" strike="noStrike" kern="0" cap="none" spc="0" normalizeH="0" baseline="0" noProof="0">
                <a:ln>
                  <a:noFill/>
                </a:ln>
                <a:solidFill>
                  <a:srgbClr val="142764"/>
                </a:solidFill>
                <a:effectLst/>
                <a:uLnTx/>
                <a:uFillTx/>
                <a:latin typeface="Zurich Sans Light"/>
                <a:cs typeface="Zurich Sans Light"/>
              </a:rPr>
              <a:t> </a:t>
            </a:r>
            <a:r>
              <a:rPr kumimoji="0" sz="800" b="0" i="0" u="none" strike="noStrike" kern="0" cap="none" spc="-20" normalizeH="0" baseline="0" noProof="0">
                <a:ln>
                  <a:noFill/>
                </a:ln>
                <a:solidFill>
                  <a:srgbClr val="142764"/>
                </a:solidFill>
                <a:effectLst/>
                <a:uLnTx/>
                <a:uFillTx/>
                <a:latin typeface="Zurich Sans Light"/>
                <a:cs typeface="Zurich Sans Light"/>
              </a:rPr>
              <a:t>202</a:t>
            </a:r>
            <a:r>
              <a:rPr kumimoji="0" lang="en-GB" sz="800" b="0" i="0" u="none" strike="noStrike" kern="0" cap="none" spc="-20" normalizeH="0" baseline="0" noProof="0">
                <a:ln>
                  <a:noFill/>
                </a:ln>
                <a:solidFill>
                  <a:srgbClr val="142764"/>
                </a:solidFill>
                <a:effectLst/>
                <a:uLnTx/>
                <a:uFillTx/>
                <a:latin typeface="Zurich Sans Light"/>
                <a:cs typeface="Zurich Sans Light"/>
              </a:rPr>
              <a:t>5</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5" name="object 5">
            <a:extLst>
              <a:ext uri="{FF2B5EF4-FFF2-40B4-BE49-F238E27FC236}">
                <a16:creationId xmlns:a16="http://schemas.microsoft.com/office/drawing/2014/main" id="{EB05EA92-43ED-CE6A-D2FD-D6302B8879B1}"/>
              </a:ext>
            </a:extLst>
          </p:cNvPr>
          <p:cNvSpPr/>
          <p:nvPr/>
        </p:nvSpPr>
        <p:spPr>
          <a:xfrm>
            <a:off x="2515978" y="2907722"/>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a:extLst>
              <a:ext uri="{FF2B5EF4-FFF2-40B4-BE49-F238E27FC236}">
                <a16:creationId xmlns:a16="http://schemas.microsoft.com/office/drawing/2014/main" id="{AE43C73C-FE45-3994-2469-9BD967C5DCA2}"/>
              </a:ext>
            </a:extLst>
          </p:cNvPr>
          <p:cNvSpPr/>
          <p:nvPr/>
        </p:nvSpPr>
        <p:spPr>
          <a:xfrm>
            <a:off x="2463324" y="5220599"/>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a:extLst>
              <a:ext uri="{FF2B5EF4-FFF2-40B4-BE49-F238E27FC236}">
                <a16:creationId xmlns:a16="http://schemas.microsoft.com/office/drawing/2014/main" id="{8CE77B3E-DEE2-18BE-9A60-07F5BFE59C1E}"/>
              </a:ext>
            </a:extLst>
          </p:cNvPr>
          <p:cNvSpPr/>
          <p:nvPr/>
        </p:nvSpPr>
        <p:spPr>
          <a:xfrm>
            <a:off x="2460029" y="7341840"/>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aphicFrame>
        <p:nvGraphicFramePr>
          <p:cNvPr id="9" name="object 9">
            <a:extLst>
              <a:ext uri="{FF2B5EF4-FFF2-40B4-BE49-F238E27FC236}">
                <a16:creationId xmlns:a16="http://schemas.microsoft.com/office/drawing/2014/main" id="{EC39587C-DC88-0EA1-B4A0-760247667623}"/>
              </a:ext>
            </a:extLst>
          </p:cNvPr>
          <p:cNvGraphicFramePr>
            <a:graphicFrameLocks noGrp="1"/>
          </p:cNvGraphicFramePr>
          <p:nvPr>
            <p:extLst>
              <p:ext uri="{D42A27DB-BD31-4B8C-83A1-F6EECF244321}">
                <p14:modId xmlns:p14="http://schemas.microsoft.com/office/powerpoint/2010/main" val="3376601321"/>
              </p:ext>
            </p:extLst>
          </p:nvPr>
        </p:nvGraphicFramePr>
        <p:xfrm>
          <a:off x="2471001" y="7995960"/>
          <a:ext cx="4140199" cy="1591309"/>
        </p:xfrm>
        <a:graphic>
          <a:graphicData uri="http://schemas.openxmlformats.org/drawingml/2006/table">
            <a:tbl>
              <a:tblPr firstRow="1" bandRow="1">
                <a:tableStyleId>{2D5ABB26-0587-4C30-8999-92F81FD0307C}</a:tableStyleId>
              </a:tblPr>
              <a:tblGrid>
                <a:gridCol w="3805554">
                  <a:extLst>
                    <a:ext uri="{9D8B030D-6E8A-4147-A177-3AD203B41FA5}">
                      <a16:colId xmlns:a16="http://schemas.microsoft.com/office/drawing/2014/main" val="20000"/>
                    </a:ext>
                  </a:extLst>
                </a:gridCol>
                <a:gridCol w="334645">
                  <a:extLst>
                    <a:ext uri="{9D8B030D-6E8A-4147-A177-3AD203B41FA5}">
                      <a16:colId xmlns:a16="http://schemas.microsoft.com/office/drawing/2014/main" val="20001"/>
                    </a:ext>
                  </a:extLst>
                </a:gridCol>
              </a:tblGrid>
              <a:tr h="386080">
                <a:tc>
                  <a:txBody>
                    <a:bodyPr/>
                    <a:lstStyle/>
                    <a:p>
                      <a:pPr marL="9525">
                        <a:lnSpc>
                          <a:spcPts val="869"/>
                        </a:lnSpc>
                      </a:pPr>
                      <a:r>
                        <a:rPr sz="800" b="0">
                          <a:solidFill>
                            <a:srgbClr val="142764"/>
                          </a:solidFill>
                          <a:latin typeface="Zurich Sans Light"/>
                          <a:cs typeface="Zurich Sans Light"/>
                        </a:rPr>
                        <a:t>FIDELITY INSTITUTIONAL LIQUIDITY FUND PLC - THE UNITED STATES </a:t>
                      </a:r>
                      <a:r>
                        <a:rPr sz="800" b="0" spc="-10">
                          <a:solidFill>
                            <a:srgbClr val="142764"/>
                          </a:solidFill>
                          <a:latin typeface="Zurich Sans Light"/>
                          <a:cs typeface="Zurich Sans Light"/>
                        </a:rPr>
                        <a:t>DOLLAR</a:t>
                      </a:r>
                      <a:endParaRPr sz="800">
                        <a:latin typeface="Zurich Sans Light"/>
                        <a:cs typeface="Zurich Sans Light"/>
                      </a:endParaRPr>
                    </a:p>
                    <a:p>
                      <a:pPr marL="9525">
                        <a:lnSpc>
                          <a:spcPts val="955"/>
                        </a:lnSpc>
                      </a:pPr>
                      <a:r>
                        <a:rPr sz="800" b="0" spc="-10">
                          <a:solidFill>
                            <a:srgbClr val="142764"/>
                          </a:solidFill>
                          <a:latin typeface="Zurich Sans Light"/>
                          <a:cs typeface="Zurich Sans Light"/>
                        </a:rPr>
                        <a:t>FUNDACC</a:t>
                      </a:r>
                      <a:endParaRPr sz="800">
                        <a:latin typeface="Zurich Sans Light"/>
                        <a:cs typeface="Zurich Sans Light"/>
                      </a:endParaRPr>
                    </a:p>
                    <a:p>
                      <a:pPr marL="9525">
                        <a:lnSpc>
                          <a:spcPct val="100000"/>
                        </a:lnSpc>
                        <a:spcBef>
                          <a:spcPts val="140"/>
                        </a:spcBef>
                      </a:pPr>
                      <a:r>
                        <a:rPr sz="800" b="0">
                          <a:solidFill>
                            <a:srgbClr val="142764"/>
                          </a:solidFill>
                          <a:latin typeface="Zurich Sans Light"/>
                          <a:cs typeface="Zurich Sans Light"/>
                        </a:rPr>
                        <a:t>SAUDI ARABIA KINGDOM OF 5.5% 10/25/2032 </a:t>
                      </a:r>
                      <a:r>
                        <a:rPr sz="800" b="0" spc="-20">
                          <a:solidFill>
                            <a:srgbClr val="142764"/>
                          </a:solidFill>
                          <a:latin typeface="Zurich Sans Light"/>
                          <a:cs typeface="Zurich Sans Light"/>
                        </a:rPr>
                        <a:t>REGS</a:t>
                      </a:r>
                      <a:endParaRPr sz="800">
                        <a:latin typeface="Zurich Sans Light"/>
                        <a:cs typeface="Zurich Sans Light"/>
                      </a:endParaRPr>
                    </a:p>
                  </a:txBody>
                  <a:tcPr marL="0" marR="0" marT="0" marB="0"/>
                </a:tc>
                <a:tc>
                  <a:txBody>
                    <a:bodyPr/>
                    <a:lstStyle/>
                    <a:p>
                      <a:pPr marL="40005">
                        <a:lnSpc>
                          <a:spcPct val="100000"/>
                        </a:lnSpc>
                        <a:spcBef>
                          <a:spcPts val="390"/>
                        </a:spcBef>
                      </a:pPr>
                      <a:r>
                        <a:rPr sz="800" b="0" spc="-20">
                          <a:solidFill>
                            <a:srgbClr val="142764"/>
                          </a:solidFill>
                          <a:latin typeface="Zurich Sans Light"/>
                          <a:cs typeface="Zurich Sans Light"/>
                        </a:rPr>
                        <a:t>9.50%</a:t>
                      </a:r>
                      <a:endParaRPr sz="800">
                        <a:latin typeface="Zurich Sans Light"/>
                        <a:cs typeface="Zurich Sans Light"/>
                      </a:endParaRPr>
                    </a:p>
                    <a:p>
                      <a:pPr marL="80010">
                        <a:lnSpc>
                          <a:spcPct val="100000"/>
                        </a:lnSpc>
                        <a:spcBef>
                          <a:spcPts val="615"/>
                        </a:spcBef>
                      </a:pPr>
                      <a:r>
                        <a:rPr sz="800" b="0" spc="-20">
                          <a:solidFill>
                            <a:srgbClr val="142764"/>
                          </a:solidFill>
                          <a:latin typeface="Zurich Sans Light"/>
                          <a:cs typeface="Zurich Sans Light"/>
                        </a:rPr>
                        <a:t>2.13%</a:t>
                      </a:r>
                      <a:endParaRPr sz="800">
                        <a:latin typeface="Zurich Sans Light"/>
                        <a:cs typeface="Zurich Sans Light"/>
                      </a:endParaRPr>
                    </a:p>
                  </a:txBody>
                  <a:tcPr marL="0" marR="0" marT="49530" marB="0"/>
                </a:tc>
                <a:extLst>
                  <a:ext uri="{0D108BD9-81ED-4DB2-BD59-A6C34878D82A}">
                    <a16:rowId xmlns:a16="http://schemas.microsoft.com/office/drawing/2014/main" val="10000"/>
                  </a:ext>
                </a:extLst>
              </a:tr>
              <a:tr h="139700">
                <a:tc>
                  <a:txBody>
                    <a:bodyPr/>
                    <a:lstStyle/>
                    <a:p>
                      <a:pPr marL="9525">
                        <a:lnSpc>
                          <a:spcPct val="100000"/>
                        </a:lnSpc>
                        <a:spcBef>
                          <a:spcPts val="20"/>
                        </a:spcBef>
                      </a:pPr>
                      <a:r>
                        <a:rPr sz="800" b="0">
                          <a:solidFill>
                            <a:srgbClr val="142764"/>
                          </a:solidFill>
                          <a:latin typeface="Zurich Sans Light"/>
                          <a:cs typeface="Zurich Sans Light"/>
                        </a:rPr>
                        <a:t>GACI FIRST INVESTMENT 4.875% 02/14/2035 </a:t>
                      </a:r>
                      <a:r>
                        <a:rPr sz="800" b="0" spc="-20">
                          <a:solidFill>
                            <a:srgbClr val="142764"/>
                          </a:solidFill>
                          <a:latin typeface="Zurich Sans Light"/>
                          <a:cs typeface="Zurich Sans Light"/>
                        </a:rPr>
                        <a:t>REGS</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1.88%</a:t>
                      </a:r>
                      <a:endParaRPr sz="800">
                        <a:latin typeface="Zurich Sans Light"/>
                        <a:cs typeface="Zurich Sans Light"/>
                      </a:endParaRPr>
                    </a:p>
                  </a:txBody>
                  <a:tcPr marL="0" marR="0" marT="2540" marB="0"/>
                </a:tc>
                <a:extLst>
                  <a:ext uri="{0D108BD9-81ED-4DB2-BD59-A6C34878D82A}">
                    <a16:rowId xmlns:a16="http://schemas.microsoft.com/office/drawing/2014/main" val="10001"/>
                  </a:ext>
                </a:extLst>
              </a:tr>
              <a:tr h="139700">
                <a:tc>
                  <a:txBody>
                    <a:bodyPr/>
                    <a:lstStyle/>
                    <a:p>
                      <a:pPr marL="9525">
                        <a:lnSpc>
                          <a:spcPct val="100000"/>
                        </a:lnSpc>
                        <a:spcBef>
                          <a:spcPts val="20"/>
                        </a:spcBef>
                      </a:pPr>
                      <a:r>
                        <a:rPr sz="800" b="0">
                          <a:solidFill>
                            <a:srgbClr val="142764"/>
                          </a:solidFill>
                          <a:latin typeface="Zurich Sans Light"/>
                          <a:cs typeface="Zurich Sans Light"/>
                        </a:rPr>
                        <a:t>CHILE REPUBLIC OF 4.95% </a:t>
                      </a:r>
                      <a:r>
                        <a:rPr sz="800" b="0" spc="-10">
                          <a:solidFill>
                            <a:srgbClr val="142764"/>
                          </a:solidFill>
                          <a:latin typeface="Zurich Sans Light"/>
                          <a:cs typeface="Zurich Sans Light"/>
                        </a:rPr>
                        <a:t>01/05/2036</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1.65%</a:t>
                      </a:r>
                      <a:endParaRPr sz="800">
                        <a:latin typeface="Zurich Sans Light"/>
                        <a:cs typeface="Zurich Sans Light"/>
                      </a:endParaRPr>
                    </a:p>
                  </a:txBody>
                  <a:tcPr marL="0" marR="0" marT="2540" marB="0"/>
                </a:tc>
                <a:extLst>
                  <a:ext uri="{0D108BD9-81ED-4DB2-BD59-A6C34878D82A}">
                    <a16:rowId xmlns:a16="http://schemas.microsoft.com/office/drawing/2014/main" val="10002"/>
                  </a:ext>
                </a:extLst>
              </a:tr>
              <a:tr h="139700">
                <a:tc>
                  <a:txBody>
                    <a:bodyPr/>
                    <a:lstStyle/>
                    <a:p>
                      <a:pPr marL="9525">
                        <a:lnSpc>
                          <a:spcPct val="100000"/>
                        </a:lnSpc>
                        <a:spcBef>
                          <a:spcPts val="20"/>
                        </a:spcBef>
                      </a:pPr>
                      <a:r>
                        <a:rPr sz="800" b="0">
                          <a:solidFill>
                            <a:srgbClr val="142764"/>
                          </a:solidFill>
                          <a:latin typeface="Zurich Sans Light"/>
                          <a:cs typeface="Zurich Sans Light"/>
                        </a:rPr>
                        <a:t>CHILE REPUBLIC OF 5.33% </a:t>
                      </a:r>
                      <a:r>
                        <a:rPr sz="800" b="0" spc="-10">
                          <a:solidFill>
                            <a:srgbClr val="142764"/>
                          </a:solidFill>
                          <a:latin typeface="Zurich Sans Light"/>
                          <a:cs typeface="Zurich Sans Light"/>
                        </a:rPr>
                        <a:t>01/05/2054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1.52%</a:t>
                      </a:r>
                      <a:endParaRPr sz="800">
                        <a:latin typeface="Zurich Sans Light"/>
                        <a:cs typeface="Zurich Sans Light"/>
                      </a:endParaRPr>
                    </a:p>
                  </a:txBody>
                  <a:tcPr marL="0" marR="0" marT="2540" marB="0"/>
                </a:tc>
                <a:extLst>
                  <a:ext uri="{0D108BD9-81ED-4DB2-BD59-A6C34878D82A}">
                    <a16:rowId xmlns:a16="http://schemas.microsoft.com/office/drawing/2014/main" val="10003"/>
                  </a:ext>
                </a:extLst>
              </a:tr>
              <a:tr h="139700">
                <a:tc>
                  <a:txBody>
                    <a:bodyPr/>
                    <a:lstStyle/>
                    <a:p>
                      <a:pPr marL="9525">
                        <a:lnSpc>
                          <a:spcPct val="100000"/>
                        </a:lnSpc>
                        <a:spcBef>
                          <a:spcPts val="20"/>
                        </a:spcBef>
                      </a:pPr>
                      <a:r>
                        <a:rPr sz="800" b="0">
                          <a:solidFill>
                            <a:srgbClr val="142764"/>
                          </a:solidFill>
                          <a:latin typeface="Zurich Sans Light"/>
                          <a:cs typeface="Zurich Sans Light"/>
                        </a:rPr>
                        <a:t>CHILE</a:t>
                      </a:r>
                      <a:r>
                        <a:rPr sz="800" b="0" spc="-10">
                          <a:solidFill>
                            <a:srgbClr val="142764"/>
                          </a:solidFill>
                          <a:latin typeface="Zurich Sans Light"/>
                          <a:cs typeface="Zurich Sans Light"/>
                        </a:rPr>
                        <a:t> </a:t>
                      </a:r>
                      <a:r>
                        <a:rPr sz="800" b="0">
                          <a:solidFill>
                            <a:srgbClr val="142764"/>
                          </a:solidFill>
                          <a:latin typeface="Zurich Sans Light"/>
                          <a:cs typeface="Zurich Sans Light"/>
                        </a:rPr>
                        <a:t>REPUBLIC OF 4.85% </a:t>
                      </a:r>
                      <a:r>
                        <a:rPr sz="800" b="0" spc="-10">
                          <a:solidFill>
                            <a:srgbClr val="142764"/>
                          </a:solidFill>
                          <a:latin typeface="Zurich Sans Light"/>
                          <a:cs typeface="Zurich Sans Light"/>
                        </a:rPr>
                        <a:t>01/22/2029</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1.47%</a:t>
                      </a:r>
                      <a:endParaRPr sz="800">
                        <a:latin typeface="Zurich Sans Light"/>
                        <a:cs typeface="Zurich Sans Light"/>
                      </a:endParaRPr>
                    </a:p>
                  </a:txBody>
                  <a:tcPr marL="0" marR="0" marT="2540" marB="0"/>
                </a:tc>
                <a:extLst>
                  <a:ext uri="{0D108BD9-81ED-4DB2-BD59-A6C34878D82A}">
                    <a16:rowId xmlns:a16="http://schemas.microsoft.com/office/drawing/2014/main" val="10004"/>
                  </a:ext>
                </a:extLst>
              </a:tr>
              <a:tr h="139700">
                <a:tc>
                  <a:txBody>
                    <a:bodyPr/>
                    <a:lstStyle/>
                    <a:p>
                      <a:pPr marL="9525">
                        <a:lnSpc>
                          <a:spcPct val="100000"/>
                        </a:lnSpc>
                        <a:spcBef>
                          <a:spcPts val="20"/>
                        </a:spcBef>
                      </a:pPr>
                      <a:r>
                        <a:rPr sz="800" b="0">
                          <a:solidFill>
                            <a:srgbClr val="142764"/>
                          </a:solidFill>
                          <a:latin typeface="Zurich Sans Light"/>
                          <a:cs typeface="Zurich Sans Light"/>
                        </a:rPr>
                        <a:t>PHILIPPINES REPUBLIC OF 4.75% </a:t>
                      </a:r>
                      <a:r>
                        <a:rPr sz="800" b="0" spc="-10">
                          <a:solidFill>
                            <a:srgbClr val="142764"/>
                          </a:solidFill>
                          <a:latin typeface="Zurich Sans Light"/>
                          <a:cs typeface="Zurich Sans Light"/>
                        </a:rPr>
                        <a:t>03/05/2035</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1.42%</a:t>
                      </a:r>
                      <a:endParaRPr sz="800">
                        <a:latin typeface="Zurich Sans Light"/>
                        <a:cs typeface="Zurich Sans Light"/>
                      </a:endParaRPr>
                    </a:p>
                  </a:txBody>
                  <a:tcPr marL="0" marR="0" marT="2540" marB="0"/>
                </a:tc>
                <a:extLst>
                  <a:ext uri="{0D108BD9-81ED-4DB2-BD59-A6C34878D82A}">
                    <a16:rowId xmlns:a16="http://schemas.microsoft.com/office/drawing/2014/main" val="10005"/>
                  </a:ext>
                </a:extLst>
              </a:tr>
              <a:tr h="139700">
                <a:tc>
                  <a:txBody>
                    <a:bodyPr/>
                    <a:lstStyle/>
                    <a:p>
                      <a:pPr marL="9525">
                        <a:lnSpc>
                          <a:spcPct val="100000"/>
                        </a:lnSpc>
                        <a:spcBef>
                          <a:spcPts val="20"/>
                        </a:spcBef>
                      </a:pPr>
                      <a:r>
                        <a:rPr sz="800" b="0">
                          <a:solidFill>
                            <a:srgbClr val="142764"/>
                          </a:solidFill>
                          <a:latin typeface="Zurich Sans Light"/>
                          <a:cs typeface="Zurich Sans Light"/>
                        </a:rPr>
                        <a:t>INDONESIA REPUBLIC OF 4.75% </a:t>
                      </a:r>
                      <a:r>
                        <a:rPr sz="800" b="0" spc="-10">
                          <a:solidFill>
                            <a:srgbClr val="142764"/>
                          </a:solidFill>
                          <a:latin typeface="Zurich Sans Light"/>
                          <a:cs typeface="Zurich Sans Light"/>
                        </a:rPr>
                        <a:t>09/10/2034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1.42%</a:t>
                      </a:r>
                      <a:endParaRPr sz="800">
                        <a:latin typeface="Zurich Sans Light"/>
                        <a:cs typeface="Zurich Sans Light"/>
                      </a:endParaRPr>
                    </a:p>
                  </a:txBody>
                  <a:tcPr marL="0" marR="0" marT="2540" marB="0"/>
                </a:tc>
                <a:extLst>
                  <a:ext uri="{0D108BD9-81ED-4DB2-BD59-A6C34878D82A}">
                    <a16:rowId xmlns:a16="http://schemas.microsoft.com/office/drawing/2014/main" val="10006"/>
                  </a:ext>
                </a:extLst>
              </a:tr>
              <a:tr h="139700">
                <a:tc>
                  <a:txBody>
                    <a:bodyPr/>
                    <a:lstStyle/>
                    <a:p>
                      <a:pPr marL="9525">
                        <a:lnSpc>
                          <a:spcPct val="100000"/>
                        </a:lnSpc>
                        <a:spcBef>
                          <a:spcPts val="20"/>
                        </a:spcBef>
                      </a:pPr>
                      <a:r>
                        <a:rPr sz="800" b="0">
                          <a:solidFill>
                            <a:srgbClr val="142764"/>
                          </a:solidFill>
                          <a:latin typeface="Zurich Sans Light"/>
                          <a:cs typeface="Zurich Sans Light"/>
                        </a:rPr>
                        <a:t>INDONESIA REPUBLIC OF 5.15% </a:t>
                      </a:r>
                      <a:r>
                        <a:rPr sz="800" b="0" spc="-10">
                          <a:solidFill>
                            <a:srgbClr val="142764"/>
                          </a:solidFill>
                          <a:latin typeface="Zurich Sans Light"/>
                          <a:cs typeface="Zurich Sans Light"/>
                        </a:rPr>
                        <a:t>09/10/2054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1.41%</a:t>
                      </a:r>
                      <a:endParaRPr sz="800">
                        <a:latin typeface="Zurich Sans Light"/>
                        <a:cs typeface="Zurich Sans Light"/>
                      </a:endParaRPr>
                    </a:p>
                  </a:txBody>
                  <a:tcPr marL="0" marR="0" marT="2540" marB="0"/>
                </a:tc>
                <a:extLst>
                  <a:ext uri="{0D108BD9-81ED-4DB2-BD59-A6C34878D82A}">
                    <a16:rowId xmlns:a16="http://schemas.microsoft.com/office/drawing/2014/main" val="10007"/>
                  </a:ext>
                </a:extLst>
              </a:tr>
              <a:tr h="227329">
                <a:tc>
                  <a:txBody>
                    <a:bodyPr/>
                    <a:lstStyle/>
                    <a:p>
                      <a:pPr marL="9525">
                        <a:lnSpc>
                          <a:spcPct val="100000"/>
                        </a:lnSpc>
                        <a:spcBef>
                          <a:spcPts val="20"/>
                        </a:spcBef>
                      </a:pPr>
                      <a:r>
                        <a:rPr sz="800" b="0">
                          <a:solidFill>
                            <a:srgbClr val="142764"/>
                          </a:solidFill>
                          <a:latin typeface="Zurich Sans Light"/>
                          <a:cs typeface="Zurich Sans Light"/>
                        </a:rPr>
                        <a:t>PHILIPPINES REPUBLIC OF 5.175% </a:t>
                      </a:r>
                      <a:r>
                        <a:rPr sz="800" b="0" spc="-10">
                          <a:solidFill>
                            <a:srgbClr val="142764"/>
                          </a:solidFill>
                          <a:latin typeface="Zurich Sans Light"/>
                          <a:cs typeface="Zurich Sans Light"/>
                        </a:rPr>
                        <a:t>09/05/2049</a:t>
                      </a:r>
                      <a:endParaRPr sz="800">
                        <a:latin typeface="Zurich Sans Light"/>
                        <a:cs typeface="Zurich Sans Light"/>
                      </a:endParaRPr>
                    </a:p>
                  </a:txBody>
                  <a:tcPr marL="0" marR="0" marT="2540" marB="0">
                    <a:lnB w="38100">
                      <a:solidFill>
                        <a:srgbClr val="4890D9"/>
                      </a:solidFill>
                      <a:prstDash val="solid"/>
                    </a:lnB>
                  </a:tcPr>
                </a:tc>
                <a:tc>
                  <a:txBody>
                    <a:bodyPr/>
                    <a:lstStyle/>
                    <a:p>
                      <a:pPr marR="1270" algn="r">
                        <a:lnSpc>
                          <a:spcPct val="100000"/>
                        </a:lnSpc>
                        <a:spcBef>
                          <a:spcPts val="20"/>
                        </a:spcBef>
                      </a:pPr>
                      <a:r>
                        <a:rPr sz="800" b="0" spc="-10">
                          <a:solidFill>
                            <a:srgbClr val="142764"/>
                          </a:solidFill>
                          <a:latin typeface="Zurich Sans Light"/>
                          <a:cs typeface="Zurich Sans Light"/>
                        </a:rPr>
                        <a:t>1.41%</a:t>
                      </a:r>
                      <a:endParaRPr sz="800">
                        <a:latin typeface="Zurich Sans Light"/>
                        <a:cs typeface="Zurich Sans Light"/>
                      </a:endParaRPr>
                    </a:p>
                  </a:txBody>
                  <a:tcPr marL="0" marR="0" marT="2540" marB="0">
                    <a:lnB w="38100">
                      <a:solidFill>
                        <a:srgbClr val="4890D9"/>
                      </a:solidFill>
                      <a:prstDash val="solid"/>
                    </a:lnB>
                  </a:tcPr>
                </a:tc>
                <a:extLst>
                  <a:ext uri="{0D108BD9-81ED-4DB2-BD59-A6C34878D82A}">
                    <a16:rowId xmlns:a16="http://schemas.microsoft.com/office/drawing/2014/main" val="10008"/>
                  </a:ext>
                </a:extLst>
              </a:tr>
            </a:tbl>
          </a:graphicData>
        </a:graphic>
      </p:graphicFrame>
      <p:sp>
        <p:nvSpPr>
          <p:cNvPr id="10" name="object 10">
            <a:extLst>
              <a:ext uri="{FF2B5EF4-FFF2-40B4-BE49-F238E27FC236}">
                <a16:creationId xmlns:a16="http://schemas.microsoft.com/office/drawing/2014/main" id="{A05D3CBF-8E0A-EC5B-9FA9-FEE5EE84CEB5}"/>
              </a:ext>
            </a:extLst>
          </p:cNvPr>
          <p:cNvSpPr/>
          <p:nvPr/>
        </p:nvSpPr>
        <p:spPr>
          <a:xfrm>
            <a:off x="2480527" y="1296889"/>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a:extLst>
              <a:ext uri="{FF2B5EF4-FFF2-40B4-BE49-F238E27FC236}">
                <a16:creationId xmlns:a16="http://schemas.microsoft.com/office/drawing/2014/main" id="{4D54B3A5-52D1-9A3C-CBD0-9BB54AB48FD4}"/>
              </a:ext>
            </a:extLst>
          </p:cNvPr>
          <p:cNvSpPr/>
          <p:nvPr/>
        </p:nvSpPr>
        <p:spPr>
          <a:xfrm>
            <a:off x="2480527" y="1429245"/>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a:extLst>
              <a:ext uri="{FF2B5EF4-FFF2-40B4-BE49-F238E27FC236}">
                <a16:creationId xmlns:a16="http://schemas.microsoft.com/office/drawing/2014/main" id="{F00C651F-E666-8D39-7953-88F20216E7C4}"/>
              </a:ext>
            </a:extLst>
          </p:cNvPr>
          <p:cNvSpPr/>
          <p:nvPr/>
        </p:nvSpPr>
        <p:spPr>
          <a:xfrm>
            <a:off x="2480527" y="1561601"/>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a:extLst>
              <a:ext uri="{FF2B5EF4-FFF2-40B4-BE49-F238E27FC236}">
                <a16:creationId xmlns:a16="http://schemas.microsoft.com/office/drawing/2014/main" id="{F485F40E-93B0-F9E9-5DFF-D2592B12FAB5}"/>
              </a:ext>
            </a:extLst>
          </p:cNvPr>
          <p:cNvSpPr/>
          <p:nvPr/>
        </p:nvSpPr>
        <p:spPr>
          <a:xfrm>
            <a:off x="2480527" y="1693957"/>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a:extLst>
              <a:ext uri="{FF2B5EF4-FFF2-40B4-BE49-F238E27FC236}">
                <a16:creationId xmlns:a16="http://schemas.microsoft.com/office/drawing/2014/main" id="{312D4351-539D-64EE-2247-411479DF360E}"/>
              </a:ext>
            </a:extLst>
          </p:cNvPr>
          <p:cNvSpPr/>
          <p:nvPr/>
        </p:nvSpPr>
        <p:spPr>
          <a:xfrm>
            <a:off x="2480527" y="1826313"/>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5">
            <a:extLst>
              <a:ext uri="{FF2B5EF4-FFF2-40B4-BE49-F238E27FC236}">
                <a16:creationId xmlns:a16="http://schemas.microsoft.com/office/drawing/2014/main" id="{15647E93-85D0-3378-6E5A-46F97D4AD92C}"/>
              </a:ext>
            </a:extLst>
          </p:cNvPr>
          <p:cNvSpPr/>
          <p:nvPr/>
        </p:nvSpPr>
        <p:spPr>
          <a:xfrm>
            <a:off x="2480527" y="1958669"/>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6">
            <a:extLst>
              <a:ext uri="{FF2B5EF4-FFF2-40B4-BE49-F238E27FC236}">
                <a16:creationId xmlns:a16="http://schemas.microsoft.com/office/drawing/2014/main" id="{7A82FCBF-6369-807C-52B4-C8B5BFD5CC18}"/>
              </a:ext>
            </a:extLst>
          </p:cNvPr>
          <p:cNvSpPr/>
          <p:nvPr/>
        </p:nvSpPr>
        <p:spPr>
          <a:xfrm>
            <a:off x="2480527" y="2091025"/>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7">
            <a:extLst>
              <a:ext uri="{FF2B5EF4-FFF2-40B4-BE49-F238E27FC236}">
                <a16:creationId xmlns:a16="http://schemas.microsoft.com/office/drawing/2014/main" id="{D218C4A7-5DD1-E185-062D-B17D783773F2}"/>
              </a:ext>
            </a:extLst>
          </p:cNvPr>
          <p:cNvSpPr/>
          <p:nvPr/>
        </p:nvSpPr>
        <p:spPr>
          <a:xfrm>
            <a:off x="2480527" y="2223381"/>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8">
            <a:extLst>
              <a:ext uri="{FF2B5EF4-FFF2-40B4-BE49-F238E27FC236}">
                <a16:creationId xmlns:a16="http://schemas.microsoft.com/office/drawing/2014/main" id="{03D9EF99-8159-3B01-5551-4DCCEF95BF7A}"/>
              </a:ext>
            </a:extLst>
          </p:cNvPr>
          <p:cNvSpPr/>
          <p:nvPr/>
        </p:nvSpPr>
        <p:spPr>
          <a:xfrm>
            <a:off x="2480527" y="2355737"/>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9">
            <a:extLst>
              <a:ext uri="{FF2B5EF4-FFF2-40B4-BE49-F238E27FC236}">
                <a16:creationId xmlns:a16="http://schemas.microsoft.com/office/drawing/2014/main" id="{BA6B7175-9B7C-3713-43F1-1906D1AD391C}"/>
              </a:ext>
            </a:extLst>
          </p:cNvPr>
          <p:cNvSpPr txBox="1"/>
          <p:nvPr/>
        </p:nvSpPr>
        <p:spPr>
          <a:xfrm>
            <a:off x="4873587" y="1273358"/>
            <a:ext cx="32512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14.57%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0" name="object 20">
            <a:extLst>
              <a:ext uri="{FF2B5EF4-FFF2-40B4-BE49-F238E27FC236}">
                <a16:creationId xmlns:a16="http://schemas.microsoft.com/office/drawing/2014/main" id="{BA09D904-5727-79F6-6A38-324C229CA18C}"/>
              </a:ext>
            </a:extLst>
          </p:cNvPr>
          <p:cNvSpPr txBox="1"/>
          <p:nvPr/>
        </p:nvSpPr>
        <p:spPr>
          <a:xfrm>
            <a:off x="4865967" y="1430213"/>
            <a:ext cx="33274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12.94%</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1" name="object 21">
            <a:extLst>
              <a:ext uri="{FF2B5EF4-FFF2-40B4-BE49-F238E27FC236}">
                <a16:creationId xmlns:a16="http://schemas.microsoft.com/office/drawing/2014/main" id="{007C03B6-DA16-F425-01CC-FCD8111E34B2}"/>
              </a:ext>
            </a:extLst>
          </p:cNvPr>
          <p:cNvSpPr txBox="1"/>
          <p:nvPr/>
        </p:nvSpPr>
        <p:spPr>
          <a:xfrm>
            <a:off x="4932642" y="1587068"/>
            <a:ext cx="26606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7.31%</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2" name="object 22">
            <a:extLst>
              <a:ext uri="{FF2B5EF4-FFF2-40B4-BE49-F238E27FC236}">
                <a16:creationId xmlns:a16="http://schemas.microsoft.com/office/drawing/2014/main" id="{079B9979-4C74-8269-A0F5-FA4AC6646A72}"/>
              </a:ext>
            </a:extLst>
          </p:cNvPr>
          <p:cNvSpPr txBox="1"/>
          <p:nvPr/>
        </p:nvSpPr>
        <p:spPr>
          <a:xfrm>
            <a:off x="4898352" y="1743923"/>
            <a:ext cx="30035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6.32%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3" name="object 23">
            <a:extLst>
              <a:ext uri="{FF2B5EF4-FFF2-40B4-BE49-F238E27FC236}">
                <a16:creationId xmlns:a16="http://schemas.microsoft.com/office/drawing/2014/main" id="{9ACDAEDC-9048-3F37-F19A-CD0477213368}"/>
              </a:ext>
            </a:extLst>
          </p:cNvPr>
          <p:cNvSpPr txBox="1"/>
          <p:nvPr/>
        </p:nvSpPr>
        <p:spPr>
          <a:xfrm>
            <a:off x="4918037" y="1900778"/>
            <a:ext cx="28067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6.18%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4" name="object 24">
            <a:extLst>
              <a:ext uri="{FF2B5EF4-FFF2-40B4-BE49-F238E27FC236}">
                <a16:creationId xmlns:a16="http://schemas.microsoft.com/office/drawing/2014/main" id="{B9A7A900-7E83-C73D-E0C5-DEA96B3D0662}"/>
              </a:ext>
            </a:extLst>
          </p:cNvPr>
          <p:cNvSpPr txBox="1"/>
          <p:nvPr/>
        </p:nvSpPr>
        <p:spPr>
          <a:xfrm>
            <a:off x="4904702" y="2057633"/>
            <a:ext cx="29400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4.78%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5" name="object 25">
            <a:extLst>
              <a:ext uri="{FF2B5EF4-FFF2-40B4-BE49-F238E27FC236}">
                <a16:creationId xmlns:a16="http://schemas.microsoft.com/office/drawing/2014/main" id="{7AFE616A-D97B-CF15-A4F8-6B948138ACCC}"/>
              </a:ext>
            </a:extLst>
          </p:cNvPr>
          <p:cNvSpPr txBox="1"/>
          <p:nvPr/>
        </p:nvSpPr>
        <p:spPr>
          <a:xfrm>
            <a:off x="4930102" y="2214488"/>
            <a:ext cx="26860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4.12%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6" name="object 26">
            <a:extLst>
              <a:ext uri="{FF2B5EF4-FFF2-40B4-BE49-F238E27FC236}">
                <a16:creationId xmlns:a16="http://schemas.microsoft.com/office/drawing/2014/main" id="{67C63FA4-36E5-EC60-CE44-7BF8842397B0}"/>
              </a:ext>
            </a:extLst>
          </p:cNvPr>
          <p:cNvSpPr txBox="1"/>
          <p:nvPr/>
        </p:nvSpPr>
        <p:spPr>
          <a:xfrm>
            <a:off x="4897717" y="2371343"/>
            <a:ext cx="30099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4.04%</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7" name="object 27">
            <a:extLst>
              <a:ext uri="{FF2B5EF4-FFF2-40B4-BE49-F238E27FC236}">
                <a16:creationId xmlns:a16="http://schemas.microsoft.com/office/drawing/2014/main" id="{96C6D7B7-E29E-2E42-C126-73DBFD20F7C0}"/>
              </a:ext>
            </a:extLst>
          </p:cNvPr>
          <p:cNvSpPr txBox="1"/>
          <p:nvPr/>
        </p:nvSpPr>
        <p:spPr>
          <a:xfrm>
            <a:off x="4841202" y="2528198"/>
            <a:ext cx="357505" cy="135935"/>
          </a:xfrm>
          <a:prstGeom prst="rect">
            <a:avLst/>
          </a:prstGeom>
        </p:spPr>
        <p:txBody>
          <a:bodyPr vert="horz" wrap="square" lIns="0" tIns="12700" rIns="0" bIns="0" rtlCol="0">
            <a:spAutoFit/>
          </a:bodyPr>
          <a:lstStyle/>
          <a:p>
            <a:pPr marL="635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3.98%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8" name="object 28">
            <a:extLst>
              <a:ext uri="{FF2B5EF4-FFF2-40B4-BE49-F238E27FC236}">
                <a16:creationId xmlns:a16="http://schemas.microsoft.com/office/drawing/2014/main" id="{A066A339-2EA4-FBAD-48EF-F280FED074B6}"/>
              </a:ext>
            </a:extLst>
          </p:cNvPr>
          <p:cNvSpPr txBox="1"/>
          <p:nvPr/>
        </p:nvSpPr>
        <p:spPr>
          <a:xfrm>
            <a:off x="2397892" y="957118"/>
            <a:ext cx="3144307" cy="1846339"/>
          </a:xfrm>
          <a:prstGeom prst="rect">
            <a:avLst/>
          </a:prstGeom>
        </p:spPr>
        <p:txBody>
          <a:bodyPr vert="horz" wrap="square" lIns="0" tIns="93345" rIns="0" bIns="0" rtlCol="0">
            <a:spAutoFit/>
          </a:bodyPr>
          <a:lstStyle/>
          <a:p>
            <a:pPr marL="12700" marR="0" lvl="0" indent="0" defTabSz="914400" eaLnBrk="1" fontAlgn="auto" latinLnBrk="0" hangingPunct="1">
              <a:lnSpc>
                <a:spcPct val="100000"/>
              </a:lnSpc>
              <a:spcBef>
                <a:spcPts val="735"/>
              </a:spcBef>
              <a:spcAft>
                <a:spcPts val="0"/>
              </a:spcAft>
              <a:buClrTx/>
              <a:buSzTx/>
              <a:buFontTx/>
              <a:buNone/>
              <a:tabLst/>
              <a:defRPr/>
            </a:pPr>
            <a:r>
              <a:rPr kumimoji="0" sz="1150" b="1" i="0" u="none" strike="noStrike" kern="0" cap="none" spc="0" normalizeH="0" baseline="0" noProof="0" dirty="0">
                <a:ln>
                  <a:noFill/>
                </a:ln>
                <a:solidFill>
                  <a:srgbClr val="004E9E"/>
                </a:solidFill>
                <a:effectLst/>
                <a:uLnTx/>
                <a:uFillTx/>
                <a:latin typeface="Zurich Sans"/>
                <a:cs typeface="Zurich Sans"/>
              </a:rPr>
              <a:t>Asset</a:t>
            </a:r>
            <a:r>
              <a:rPr kumimoji="0" sz="1150" b="1" i="0" u="none" strike="noStrike" kern="0" cap="none" spc="-5" normalizeH="0" baseline="0" noProof="0" dirty="0">
                <a:ln>
                  <a:noFill/>
                </a:ln>
                <a:solidFill>
                  <a:srgbClr val="004E9E"/>
                </a:solidFill>
                <a:effectLst/>
                <a:uLnTx/>
                <a:uFillTx/>
                <a:latin typeface="Zurich Sans"/>
                <a:cs typeface="Zurich Sans"/>
              </a:rPr>
              <a:t> </a:t>
            </a:r>
            <a:r>
              <a:rPr kumimoji="0" sz="1150" b="1" i="0" u="none" strike="noStrike" kern="0" cap="none" spc="0" normalizeH="0" baseline="0" noProof="0" dirty="0">
                <a:ln>
                  <a:noFill/>
                </a:ln>
                <a:solidFill>
                  <a:srgbClr val="004E9E"/>
                </a:solidFill>
                <a:effectLst/>
                <a:uLnTx/>
                <a:uFillTx/>
                <a:latin typeface="Zurich Sans"/>
                <a:cs typeface="Zurich Sans"/>
              </a:rPr>
              <a:t>Split</a:t>
            </a:r>
            <a:r>
              <a:rPr kumimoji="0" sz="1150" b="1" i="0" u="none" strike="noStrike" kern="0" cap="none" spc="-5" normalizeH="0" baseline="0" noProof="0" dirty="0">
                <a:ln>
                  <a:noFill/>
                </a:ln>
                <a:solidFill>
                  <a:srgbClr val="004E9E"/>
                </a:solidFill>
                <a:effectLst/>
                <a:uLnTx/>
                <a:uFillTx/>
                <a:latin typeface="Zurich Sans"/>
                <a:cs typeface="Zurich Sans"/>
              </a:rPr>
              <a:t> </a:t>
            </a:r>
            <a:r>
              <a:rPr kumimoji="0" sz="900" b="1" i="0" u="none" strike="noStrike" kern="0" cap="none" spc="0" normalizeH="0" baseline="0" noProof="0" dirty="0">
                <a:ln>
                  <a:noFill/>
                </a:ln>
                <a:solidFill>
                  <a:srgbClr val="004E9E"/>
                </a:solidFill>
                <a:effectLst/>
                <a:uLnTx/>
                <a:uFillTx/>
                <a:latin typeface="Zurich Sans"/>
                <a:cs typeface="Zurich Sans"/>
              </a:rPr>
              <a:t>(as</a:t>
            </a:r>
            <a:r>
              <a:rPr kumimoji="0" sz="900" b="1" i="0" u="none" strike="noStrike" kern="0" cap="none" spc="-5" normalizeH="0" baseline="0" noProof="0" dirty="0">
                <a:ln>
                  <a:noFill/>
                </a:ln>
                <a:solidFill>
                  <a:srgbClr val="004E9E"/>
                </a:solidFill>
                <a:effectLst/>
                <a:uLnTx/>
                <a:uFillTx/>
                <a:latin typeface="Zurich Sans"/>
                <a:cs typeface="Zurich Sans"/>
              </a:rPr>
              <a:t> </a:t>
            </a:r>
            <a:r>
              <a:rPr kumimoji="0" sz="900" b="1" i="0" u="none" strike="noStrike" kern="0" cap="none" spc="0" normalizeH="0" baseline="0" noProof="0" dirty="0">
                <a:ln>
                  <a:noFill/>
                </a:ln>
                <a:solidFill>
                  <a:srgbClr val="004E9E"/>
                </a:solidFill>
                <a:effectLst/>
                <a:uLnTx/>
                <a:uFillTx/>
                <a:latin typeface="Zurich Sans"/>
                <a:cs typeface="Zurich Sans"/>
              </a:rPr>
              <a:t>at</a:t>
            </a:r>
            <a:r>
              <a:rPr kumimoji="0" sz="900" b="1" i="0" u="none" strike="noStrike" kern="0" cap="none" spc="-5" normalizeH="0" baseline="0" noProof="0" dirty="0">
                <a:ln>
                  <a:noFill/>
                </a:ln>
                <a:solidFill>
                  <a:srgbClr val="004E9E"/>
                </a:solidFill>
                <a:effectLst/>
                <a:uLnTx/>
                <a:uFillTx/>
                <a:latin typeface="Zurich Sans"/>
                <a:cs typeface="Zurich Sans"/>
              </a:rPr>
              <a:t> </a:t>
            </a:r>
            <a:r>
              <a:rPr kumimoji="0" lang="en-GB" sz="900" b="1" i="0" u="none" strike="noStrike" kern="0" cap="none" spc="-5" normalizeH="0" baseline="0" noProof="0" dirty="0">
                <a:ln>
                  <a:noFill/>
                </a:ln>
                <a:solidFill>
                  <a:srgbClr val="004E9E"/>
                </a:solidFill>
                <a:effectLst/>
                <a:uLnTx/>
                <a:uFillTx/>
                <a:latin typeface="Zurich Sans"/>
                <a:cs typeface="Zurich Sans"/>
              </a:rPr>
              <a:t>28</a:t>
            </a:r>
            <a:r>
              <a:rPr kumimoji="0" sz="900" b="1" i="0" u="none" strike="noStrike" kern="0" cap="none" spc="-10" normalizeH="0" baseline="0" noProof="0" dirty="0">
                <a:ln>
                  <a:noFill/>
                </a:ln>
                <a:solidFill>
                  <a:srgbClr val="004E9E"/>
                </a:solidFill>
                <a:effectLst/>
                <a:uLnTx/>
                <a:uFillTx/>
                <a:latin typeface="Zurich Sans"/>
                <a:cs typeface="Zurich Sans"/>
              </a:rPr>
              <a:t>/</a:t>
            </a:r>
            <a:r>
              <a:rPr kumimoji="0" lang="en-GB" sz="900" b="1" i="0" u="none" strike="noStrike" kern="0" cap="none" spc="-10" normalizeH="0" baseline="0" noProof="0" dirty="0">
                <a:ln>
                  <a:noFill/>
                </a:ln>
                <a:solidFill>
                  <a:srgbClr val="004E9E"/>
                </a:solidFill>
                <a:effectLst/>
                <a:uLnTx/>
                <a:uFillTx/>
                <a:latin typeface="Zurich Sans"/>
                <a:cs typeface="Zurich Sans"/>
              </a:rPr>
              <a:t>02</a:t>
            </a:r>
            <a:r>
              <a:rPr kumimoji="0" sz="900" b="1" i="0" u="none" strike="noStrike" kern="0" cap="none" spc="-10" normalizeH="0" baseline="0" noProof="0" dirty="0">
                <a:ln>
                  <a:noFill/>
                </a:ln>
                <a:solidFill>
                  <a:srgbClr val="004E9E"/>
                </a:solidFill>
                <a:effectLst/>
                <a:uLnTx/>
                <a:uFillTx/>
                <a:latin typeface="Zurich Sans"/>
                <a:cs typeface="Zurich Sans"/>
              </a:rPr>
              <a:t>/202</a:t>
            </a:r>
            <a:r>
              <a:rPr kumimoji="0" lang="en-GB" sz="900" b="1" i="0" u="none" strike="noStrike" kern="0" cap="none" spc="-10" normalizeH="0" baseline="0" noProof="0" dirty="0">
                <a:ln>
                  <a:noFill/>
                </a:ln>
                <a:solidFill>
                  <a:srgbClr val="004E9E"/>
                </a:solidFill>
                <a:effectLst/>
                <a:uLnTx/>
                <a:uFillTx/>
                <a:latin typeface="Zurich Sans"/>
                <a:cs typeface="Zurich Sans"/>
              </a:rPr>
              <a:t>5</a:t>
            </a:r>
            <a:r>
              <a:rPr kumimoji="0" sz="900" b="1" i="0" u="none" strike="noStrike" kern="0" cap="none" spc="-10" normalizeH="0" baseline="0" noProof="0" dirty="0">
                <a:ln>
                  <a:noFill/>
                </a:ln>
                <a:solidFill>
                  <a:srgbClr val="004E9E"/>
                </a:solidFill>
                <a:effectLst/>
                <a:uLnTx/>
                <a:uFillTx/>
                <a:latin typeface="Zurich Sans"/>
                <a:cs typeface="Zurich Sans"/>
              </a:rPr>
              <a:t>)</a:t>
            </a:r>
            <a:endParaRPr kumimoji="0" sz="900" b="0" i="0" u="none" strike="noStrike" kern="0" cap="none" spc="0" normalizeH="0" baseline="0" noProof="0" dirty="0">
              <a:ln>
                <a:noFill/>
              </a:ln>
              <a:solidFill>
                <a:sysClr val="windowText" lastClr="000000"/>
              </a:solidFill>
              <a:effectLst/>
              <a:uLnTx/>
              <a:uFillTx/>
              <a:latin typeface="Zurich Sans"/>
              <a:cs typeface="Zurich Sans"/>
            </a:endParaRPr>
          </a:p>
          <a:p>
            <a:pPr marL="270510" marR="575945" lvl="0" indent="0" defTabSz="914400" eaLnBrk="1" fontAlgn="auto" latinLnBrk="0" hangingPunct="1">
              <a:lnSpc>
                <a:spcPts val="1200"/>
              </a:lnSpc>
              <a:spcBef>
                <a:spcPts val="375"/>
              </a:spcBef>
              <a:spcAft>
                <a:spcPts val="0"/>
              </a:spcAft>
              <a:buClrTx/>
              <a:buSzTx/>
              <a:buFontTx/>
              <a:buNone/>
              <a:tabLst/>
              <a:defRPr/>
            </a:pPr>
            <a:r>
              <a:rPr kumimoji="0" sz="800" b="0" i="0" u="none" strike="noStrike" kern="0" cap="none" spc="0" normalizeH="0" baseline="0" noProof="0" dirty="0">
                <a:ln>
                  <a:noFill/>
                </a:ln>
                <a:solidFill>
                  <a:srgbClr val="142764"/>
                </a:solidFill>
                <a:effectLst/>
                <a:uLnTx/>
                <a:uFillTx/>
                <a:latin typeface="Zurich Sans Light"/>
                <a:cs typeface="Zurich Sans Light"/>
              </a:rPr>
              <a:t>American </a:t>
            </a:r>
            <a:r>
              <a:rPr kumimoji="0" sz="800" b="0" i="0" u="none" strike="noStrike" kern="0" cap="none" spc="-10" normalizeH="0" baseline="0" noProof="0" dirty="0">
                <a:ln>
                  <a:noFill/>
                </a:ln>
                <a:solidFill>
                  <a:srgbClr val="142764"/>
                </a:solidFill>
                <a:effectLst/>
                <a:uLnTx/>
                <a:uFillTx/>
                <a:latin typeface="Zurich Sans Light"/>
                <a:cs typeface="Zurich Sans Light"/>
              </a:rPr>
              <a:t>Emerging</a:t>
            </a:r>
            <a:r>
              <a:rPr kumimoji="0" lang="en-GB" sz="800" b="0" i="0" u="none" strike="noStrike" kern="0" cap="none" spc="-1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Government Fixed </a:t>
            </a:r>
            <a:r>
              <a:rPr kumimoji="0" sz="800" b="0" i="0" u="none" strike="noStrike" kern="0" cap="none" spc="-10" normalizeH="0" baseline="0" noProof="0" dirty="0">
                <a:ln>
                  <a:noFill/>
                </a:ln>
                <a:solidFill>
                  <a:srgbClr val="142764"/>
                </a:solidFill>
                <a:effectLst/>
                <a:uLnTx/>
                <a:uFillTx/>
                <a:latin typeface="Zurich Sans Light"/>
                <a:cs typeface="Zurich Sans Light"/>
              </a:rPr>
              <a:t>Interest</a:t>
            </a:r>
            <a:r>
              <a:rPr kumimoji="0" sz="800" b="0" i="0" u="none" strike="noStrike" kern="0" cap="none" spc="500" normalizeH="0" baseline="0" noProof="0" dirty="0">
                <a:ln>
                  <a:noFill/>
                </a:ln>
                <a:solidFill>
                  <a:srgbClr val="142764"/>
                </a:solidFill>
                <a:effectLst/>
                <a:uLnTx/>
                <a:uFillTx/>
                <a:latin typeface="Zurich Sans Light"/>
                <a:cs typeface="Zurich Sans Light"/>
              </a:rPr>
              <a:t> </a:t>
            </a:r>
            <a:br>
              <a:rPr kumimoji="0" lang="en-GB" sz="800" b="0" i="0" u="none" strike="noStrike" kern="0" cap="none" spc="500" normalizeH="0" baseline="0" noProof="0" dirty="0">
                <a:ln>
                  <a:noFill/>
                </a:ln>
                <a:solidFill>
                  <a:srgbClr val="142764"/>
                </a:solidFill>
                <a:effectLst/>
                <a:uLnTx/>
                <a:uFillTx/>
                <a:latin typeface="Zurich Sans Light"/>
                <a:cs typeface="Zurich Sans Light"/>
              </a:rPr>
            </a:br>
            <a:r>
              <a:rPr kumimoji="0" sz="800" b="0" i="0" u="none" strike="noStrike" kern="0" cap="none" spc="0" normalizeH="0" baseline="0" noProof="0" dirty="0">
                <a:ln>
                  <a:noFill/>
                </a:ln>
                <a:solidFill>
                  <a:srgbClr val="142764"/>
                </a:solidFill>
                <a:effectLst/>
                <a:uLnTx/>
                <a:uFillTx/>
                <a:latin typeface="Zurich Sans Light"/>
                <a:cs typeface="Zurich Sans Light"/>
              </a:rPr>
              <a:t>African Government </a:t>
            </a:r>
            <a:r>
              <a:rPr kumimoji="0" sz="800" b="0" i="0" u="none" strike="noStrike" kern="0" cap="none" spc="-20" normalizeH="0" baseline="0" noProof="0" dirty="0">
                <a:ln>
                  <a:noFill/>
                </a:ln>
                <a:solidFill>
                  <a:srgbClr val="142764"/>
                </a:solidFill>
                <a:effectLst/>
                <a:uLnTx/>
                <a:uFillTx/>
                <a:latin typeface="Zurich Sans Light"/>
                <a:cs typeface="Zurich Sans Light"/>
              </a:rPr>
              <a:t>Fixed</a:t>
            </a:r>
            <a:r>
              <a:rPr kumimoji="0" lang="en-GB" sz="800" b="0" i="0" u="none" strike="noStrike" kern="0" cap="none" spc="-20" normalizeH="0" baseline="0" noProof="0" dirty="0">
                <a:ln>
                  <a:noFill/>
                </a:ln>
                <a:solidFill>
                  <a:srgbClr val="142764"/>
                </a:solidFill>
                <a:effectLst/>
                <a:uLnTx/>
                <a:uFillTx/>
                <a:latin typeface="Zurich Sans Light"/>
                <a:cs typeface="Zurich Sans Light"/>
              </a:rPr>
              <a:t> </a:t>
            </a:r>
            <a:r>
              <a:rPr kumimoji="0" sz="800" b="0" i="0" u="none" strike="noStrike" kern="0" cap="none" spc="-10" normalizeH="0" baseline="0" noProof="0" dirty="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dirty="0">
                <a:ln>
                  <a:noFill/>
                </a:ln>
                <a:solidFill>
                  <a:srgbClr val="142764"/>
                </a:solidFill>
                <a:effectLst/>
                <a:uLnTx/>
                <a:uFillTx/>
                <a:latin typeface="Zurich Sans Light"/>
                <a:cs typeface="Zurich Sans Light"/>
              </a:rPr>
            </a:br>
            <a:r>
              <a:rPr kumimoji="0" sz="800" b="0" i="0" u="none" strike="noStrike" kern="0" cap="none" spc="0" normalizeH="0" baseline="0" noProof="0" dirty="0">
                <a:ln>
                  <a:noFill/>
                </a:ln>
                <a:solidFill>
                  <a:srgbClr val="142764"/>
                </a:solidFill>
                <a:effectLst/>
                <a:uLnTx/>
                <a:uFillTx/>
                <a:latin typeface="Zurich Sans Light"/>
                <a:cs typeface="Zurich Sans Light"/>
              </a:rPr>
              <a:t>GCC Government </a:t>
            </a:r>
            <a:r>
              <a:rPr kumimoji="0" sz="800" b="0" i="0" u="none" strike="noStrike" kern="0" cap="none" spc="-10" normalizeH="0" baseline="0" noProof="0" dirty="0">
                <a:ln>
                  <a:noFill/>
                </a:ln>
                <a:solidFill>
                  <a:srgbClr val="142764"/>
                </a:solidFill>
                <a:effectLst/>
                <a:uLnTx/>
                <a:uFillTx/>
                <a:latin typeface="Zurich Sans Light"/>
                <a:cs typeface="Zurich Sans Light"/>
              </a:rPr>
              <a:t>Fixed</a:t>
            </a:r>
            <a:r>
              <a:rPr kumimoji="0" lang="en-GB" sz="800" b="0" i="0" u="none" strike="noStrike" kern="0" cap="none" spc="-10" normalizeH="0" baseline="0" noProof="0" dirty="0">
                <a:ln>
                  <a:noFill/>
                </a:ln>
                <a:solidFill>
                  <a:srgbClr val="142764"/>
                </a:solidFill>
                <a:effectLst/>
                <a:uLnTx/>
                <a:uFillTx/>
                <a:latin typeface="Zurich Sans Light"/>
                <a:cs typeface="Zurich Sans Light"/>
              </a:rPr>
              <a:t> </a:t>
            </a:r>
            <a:r>
              <a:rPr kumimoji="0" sz="800" b="0" i="0" u="none" strike="noStrike" kern="0" cap="none" spc="-10" normalizeH="0" baseline="0" noProof="0" dirty="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dirty="0">
                <a:ln>
                  <a:noFill/>
                </a:ln>
                <a:solidFill>
                  <a:srgbClr val="142764"/>
                </a:solidFill>
                <a:effectLst/>
                <a:uLnTx/>
                <a:uFillTx/>
                <a:latin typeface="Zurich Sans Light"/>
                <a:cs typeface="Zurich Sans Light"/>
              </a:rPr>
            </a:br>
            <a:r>
              <a:rPr kumimoji="0" sz="800" b="0" i="0" u="none" strike="noStrike" kern="0" cap="none" spc="0" normalizeH="0" baseline="0" noProof="0" dirty="0">
                <a:ln>
                  <a:noFill/>
                </a:ln>
                <a:solidFill>
                  <a:srgbClr val="142764"/>
                </a:solidFill>
                <a:effectLst/>
                <a:uLnTx/>
                <a:uFillTx/>
                <a:latin typeface="Zurich Sans Light"/>
                <a:cs typeface="Zurich Sans Light"/>
              </a:rPr>
              <a:t>Indonesian </a:t>
            </a:r>
            <a:r>
              <a:rPr kumimoji="0" sz="800" b="0" i="0" u="none" strike="noStrike" kern="0" cap="none" spc="-10" normalizeH="0" baseline="0" noProof="0" dirty="0">
                <a:ln>
                  <a:noFill/>
                </a:ln>
                <a:solidFill>
                  <a:srgbClr val="142764"/>
                </a:solidFill>
                <a:effectLst/>
                <a:uLnTx/>
                <a:uFillTx/>
                <a:latin typeface="Zurich Sans Light"/>
                <a:cs typeface="Zurich Sans Light"/>
              </a:rPr>
              <a:t>Government</a:t>
            </a:r>
            <a:r>
              <a:rPr kumimoji="0" lang="en-GB" sz="800" b="0" i="0" u="none" strike="noStrike" kern="0" cap="none" spc="-1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Fixed</a:t>
            </a:r>
            <a:r>
              <a:rPr kumimoji="0" sz="800" b="0" i="0" u="none" strike="noStrike" kern="0" cap="none" spc="-10" normalizeH="0" baseline="0" noProof="0" dirty="0">
                <a:ln>
                  <a:noFill/>
                </a:ln>
                <a:solidFill>
                  <a:srgbClr val="142764"/>
                </a:solidFill>
                <a:effectLst/>
                <a:uLnTx/>
                <a:uFillTx/>
                <a:latin typeface="Zurich Sans Light"/>
                <a:cs typeface="Zurich Sans Light"/>
              </a:rPr>
              <a:t> Interest</a:t>
            </a:r>
            <a:br>
              <a:rPr kumimoji="0" lang="en-GB" sz="800" b="0" i="0" u="none" strike="noStrike" kern="0" cap="none" spc="-10" normalizeH="0" baseline="0" noProof="0" dirty="0">
                <a:ln>
                  <a:noFill/>
                </a:ln>
                <a:solidFill>
                  <a:srgbClr val="142764"/>
                </a:solidFill>
                <a:effectLst/>
                <a:uLnTx/>
                <a:uFillTx/>
                <a:latin typeface="Zurich Sans Light"/>
                <a:cs typeface="Zurich Sans Light"/>
              </a:rPr>
            </a:br>
            <a:r>
              <a:rPr kumimoji="0" sz="800" b="0" i="0" u="none" strike="noStrike" kern="0" cap="none" spc="0" normalizeH="0" baseline="0" noProof="0" dirty="0">
                <a:ln>
                  <a:noFill/>
                </a:ln>
                <a:solidFill>
                  <a:srgbClr val="142764"/>
                </a:solidFill>
                <a:effectLst/>
                <a:uLnTx/>
                <a:uFillTx/>
                <a:latin typeface="Zurich Sans Light"/>
                <a:cs typeface="Zurich Sans Light"/>
              </a:rPr>
              <a:t>Philippine Government </a:t>
            </a:r>
            <a:r>
              <a:rPr kumimoji="0" sz="800" b="0" i="0" u="none" strike="noStrike" kern="0" cap="none" spc="-20" normalizeH="0" baseline="0" noProof="0" dirty="0">
                <a:ln>
                  <a:noFill/>
                </a:ln>
                <a:solidFill>
                  <a:srgbClr val="142764"/>
                </a:solidFill>
                <a:effectLst/>
                <a:uLnTx/>
                <a:uFillTx/>
                <a:latin typeface="Zurich Sans Light"/>
                <a:cs typeface="Zurich Sans Light"/>
              </a:rPr>
              <a:t>Fixed</a:t>
            </a:r>
            <a:r>
              <a:rPr kumimoji="0" lang="en-GB" sz="800" b="0" i="0" u="none" strike="noStrike" kern="0" cap="none" spc="-20" normalizeH="0" baseline="0" noProof="0" dirty="0">
                <a:ln>
                  <a:noFill/>
                </a:ln>
                <a:solidFill>
                  <a:srgbClr val="142764"/>
                </a:solidFill>
                <a:effectLst/>
                <a:uLnTx/>
                <a:uFillTx/>
                <a:latin typeface="Zurich Sans Light"/>
                <a:cs typeface="Zurich Sans Light"/>
              </a:rPr>
              <a:t> </a:t>
            </a:r>
            <a:r>
              <a:rPr kumimoji="0" sz="800" b="0" i="0" u="none" strike="noStrike" kern="0" cap="none" spc="-10" normalizeH="0" baseline="0" noProof="0" dirty="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dirty="0">
                <a:ln>
                  <a:noFill/>
                </a:ln>
                <a:solidFill>
                  <a:srgbClr val="142764"/>
                </a:solidFill>
                <a:effectLst/>
                <a:uLnTx/>
                <a:uFillTx/>
                <a:latin typeface="Zurich Sans Light"/>
                <a:cs typeface="Zurich Sans Light"/>
              </a:rPr>
            </a:br>
            <a:r>
              <a:rPr kumimoji="0" sz="800" b="0" i="0" u="none" strike="noStrike" kern="0" cap="none" spc="0" normalizeH="0" baseline="0" noProof="0" dirty="0">
                <a:ln>
                  <a:noFill/>
                </a:ln>
                <a:solidFill>
                  <a:srgbClr val="142764"/>
                </a:solidFill>
                <a:effectLst/>
                <a:uLnTx/>
                <a:uFillTx/>
                <a:latin typeface="Zurich Sans Light"/>
                <a:cs typeface="Zurich Sans Light"/>
              </a:rPr>
              <a:t>Chilean Government </a:t>
            </a:r>
            <a:r>
              <a:rPr kumimoji="0" sz="800" b="0" i="0" u="none" strike="noStrike" kern="0" cap="none" spc="-20" normalizeH="0" baseline="0" noProof="0" dirty="0">
                <a:ln>
                  <a:noFill/>
                </a:ln>
                <a:solidFill>
                  <a:srgbClr val="142764"/>
                </a:solidFill>
                <a:effectLst/>
                <a:uLnTx/>
                <a:uFillTx/>
                <a:latin typeface="Zurich Sans Light"/>
                <a:cs typeface="Zurich Sans Light"/>
              </a:rPr>
              <a:t>Fixed</a:t>
            </a:r>
            <a:r>
              <a:rPr kumimoji="0" lang="en-GB" sz="800" b="0" i="0" u="none" strike="noStrike" kern="0" cap="none" spc="-20" normalizeH="0" baseline="0" noProof="0" dirty="0">
                <a:ln>
                  <a:noFill/>
                </a:ln>
                <a:solidFill>
                  <a:srgbClr val="142764"/>
                </a:solidFill>
                <a:effectLst/>
                <a:uLnTx/>
                <a:uFillTx/>
                <a:latin typeface="Zurich Sans Light"/>
                <a:cs typeface="Zurich Sans Light"/>
              </a:rPr>
              <a:t> </a:t>
            </a:r>
            <a:r>
              <a:rPr kumimoji="0" sz="800" b="0" i="0" u="none" strike="noStrike" kern="0" cap="none" spc="-10" normalizeH="0" baseline="0" noProof="0" dirty="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dirty="0">
                <a:ln>
                  <a:noFill/>
                </a:ln>
                <a:solidFill>
                  <a:srgbClr val="142764"/>
                </a:solidFill>
                <a:effectLst/>
                <a:uLnTx/>
                <a:uFillTx/>
                <a:latin typeface="Zurich Sans Light"/>
                <a:cs typeface="Zurich Sans Light"/>
              </a:rPr>
            </a:br>
            <a:r>
              <a:rPr kumimoji="0" sz="800" b="0" i="0" u="none" strike="noStrike" kern="0" cap="none" spc="0" normalizeH="0" baseline="0" noProof="0" dirty="0">
                <a:ln>
                  <a:noFill/>
                </a:ln>
                <a:solidFill>
                  <a:srgbClr val="142764"/>
                </a:solidFill>
                <a:effectLst/>
                <a:uLnTx/>
                <a:uFillTx/>
                <a:latin typeface="Zurich Sans Light"/>
                <a:cs typeface="Zurich Sans Light"/>
              </a:rPr>
              <a:t>Peruvian Government </a:t>
            </a:r>
            <a:r>
              <a:rPr kumimoji="0" sz="800" b="0" i="0" u="none" strike="noStrike" kern="0" cap="none" spc="-20" normalizeH="0" baseline="0" noProof="0" dirty="0">
                <a:ln>
                  <a:noFill/>
                </a:ln>
                <a:solidFill>
                  <a:srgbClr val="142764"/>
                </a:solidFill>
                <a:effectLst/>
                <a:uLnTx/>
                <a:uFillTx/>
                <a:latin typeface="Zurich Sans Light"/>
                <a:cs typeface="Zurich Sans Light"/>
              </a:rPr>
              <a:t>Fixed</a:t>
            </a:r>
            <a:r>
              <a:rPr kumimoji="0" lang="en-GB" sz="800" b="0" i="0" u="none" strike="noStrike" kern="0" cap="none" spc="-20" normalizeH="0" baseline="0" noProof="0" dirty="0">
                <a:ln>
                  <a:noFill/>
                </a:ln>
                <a:solidFill>
                  <a:srgbClr val="142764"/>
                </a:solidFill>
                <a:effectLst/>
                <a:uLnTx/>
                <a:uFillTx/>
                <a:latin typeface="Zurich Sans Light"/>
                <a:cs typeface="Zurich Sans Light"/>
              </a:rPr>
              <a:t> </a:t>
            </a:r>
            <a:r>
              <a:rPr kumimoji="0" sz="800" b="0" i="0" u="none" strike="noStrike" kern="0" cap="none" spc="-10" normalizeH="0" baseline="0" noProof="0" dirty="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dirty="0">
                <a:ln>
                  <a:noFill/>
                </a:ln>
                <a:solidFill>
                  <a:srgbClr val="142764"/>
                </a:solidFill>
                <a:effectLst/>
                <a:uLnTx/>
                <a:uFillTx/>
                <a:latin typeface="Zurich Sans Light"/>
                <a:cs typeface="Zurich Sans Light"/>
              </a:rPr>
            </a:br>
            <a:r>
              <a:rPr kumimoji="0" sz="800" b="0" i="0" u="none" strike="noStrike" kern="0" cap="none" spc="0" normalizeH="0" baseline="0" noProof="0" dirty="0">
                <a:ln>
                  <a:noFill/>
                </a:ln>
                <a:solidFill>
                  <a:srgbClr val="142764"/>
                </a:solidFill>
                <a:effectLst/>
                <a:uLnTx/>
                <a:uFillTx/>
                <a:latin typeface="Zurich Sans Light"/>
                <a:cs typeface="Zurich Sans Light"/>
              </a:rPr>
              <a:t>South African </a:t>
            </a:r>
            <a:r>
              <a:rPr kumimoji="0" sz="800" b="0" i="0" u="none" strike="noStrike" kern="0" cap="none" spc="-10" normalizeH="0" baseline="0" noProof="0" dirty="0">
                <a:ln>
                  <a:noFill/>
                </a:ln>
                <a:solidFill>
                  <a:srgbClr val="142764"/>
                </a:solidFill>
                <a:effectLst/>
                <a:uLnTx/>
                <a:uFillTx/>
                <a:latin typeface="Zurich Sans Light"/>
                <a:cs typeface="Zurich Sans Light"/>
              </a:rPr>
              <a:t>Corporate</a:t>
            </a:r>
            <a:r>
              <a:rPr kumimoji="0" lang="en-GB" sz="800" b="0" i="0" u="none" strike="noStrike" kern="0" cap="none" spc="-1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Fixed</a:t>
            </a:r>
            <a:r>
              <a:rPr kumimoji="0" sz="800" b="0" i="0" u="none" strike="noStrike" kern="0" cap="none" spc="-10" normalizeH="0" baseline="0" noProof="0" dirty="0">
                <a:ln>
                  <a:noFill/>
                </a:ln>
                <a:solidFill>
                  <a:srgbClr val="142764"/>
                </a:solidFill>
                <a:effectLst/>
                <a:uLnTx/>
                <a:uFillTx/>
                <a:latin typeface="Zurich Sans Light"/>
                <a:cs typeface="Zurich Sans Light"/>
              </a:rPr>
              <a:t> Interest</a:t>
            </a:r>
            <a:endParaRPr kumimoji="0" sz="800" b="0" i="0" u="none" strike="noStrike" kern="0" cap="none" spc="0" normalizeH="0" baseline="0" noProof="0" dirty="0">
              <a:ln>
                <a:noFill/>
              </a:ln>
              <a:solidFill>
                <a:sysClr val="windowText" lastClr="000000"/>
              </a:solidFill>
              <a:effectLst/>
              <a:uLnTx/>
              <a:uFillTx/>
              <a:latin typeface="Zurich Sans Light"/>
              <a:cs typeface="Zurich Sans Light"/>
            </a:endParaRPr>
          </a:p>
          <a:p>
            <a:pPr marL="270510" marR="575945" lvl="0" indent="0" defTabSz="914400" eaLnBrk="1" fontAlgn="auto" latinLnBrk="0" hangingPunct="1">
              <a:lnSpc>
                <a:spcPts val="1200"/>
              </a:lnSpc>
              <a:spcBef>
                <a:spcPts val="45"/>
              </a:spcBef>
              <a:spcAft>
                <a:spcPts val="0"/>
              </a:spcAft>
              <a:buClrTx/>
              <a:buSzTx/>
              <a:buFontTx/>
              <a:buNone/>
              <a:tabLst/>
              <a:defRPr/>
            </a:pPr>
            <a:r>
              <a:rPr kumimoji="0" sz="800" b="0" i="0" u="none" strike="noStrike" kern="0" cap="none" spc="0" normalizeH="0" baseline="0" noProof="0" dirty="0">
                <a:ln>
                  <a:noFill/>
                </a:ln>
                <a:solidFill>
                  <a:srgbClr val="142764"/>
                </a:solidFill>
                <a:effectLst/>
                <a:uLnTx/>
                <a:uFillTx/>
                <a:latin typeface="Zurich Sans Light"/>
                <a:cs typeface="Zurich Sans Light"/>
              </a:rPr>
              <a:t>Middle</a:t>
            </a:r>
            <a:r>
              <a:rPr kumimoji="0" sz="800" b="0" i="0" u="none" strike="noStrike" kern="0" cap="none" spc="-1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East &amp; </a:t>
            </a:r>
            <a:r>
              <a:rPr kumimoji="0" sz="800" b="0" i="0" u="none" strike="noStrike" kern="0" cap="none" spc="-10" normalizeH="0" baseline="0" noProof="0" dirty="0">
                <a:ln>
                  <a:noFill/>
                </a:ln>
                <a:solidFill>
                  <a:srgbClr val="142764"/>
                </a:solidFill>
                <a:effectLst/>
                <a:uLnTx/>
                <a:uFillTx/>
                <a:latin typeface="Zurich Sans Light"/>
                <a:cs typeface="Zurich Sans Light"/>
              </a:rPr>
              <a:t>African</a:t>
            </a:r>
            <a:r>
              <a:rPr kumimoji="0" lang="en-GB" sz="800" b="0" i="0" u="none" strike="noStrike" kern="0" cap="none" spc="-1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Government Fixed </a:t>
            </a:r>
            <a:r>
              <a:rPr kumimoji="0" sz="800" b="0" i="0" u="none" strike="noStrike" kern="0" cap="none" spc="-10" normalizeH="0" baseline="0" noProof="0" dirty="0">
                <a:ln>
                  <a:noFill/>
                </a:ln>
                <a:solidFill>
                  <a:srgbClr val="142764"/>
                </a:solidFill>
                <a:effectLst/>
                <a:uLnTx/>
                <a:uFillTx/>
                <a:latin typeface="Zurich Sans Light"/>
                <a:cs typeface="Zurich Sans Light"/>
              </a:rPr>
              <a:t>Interest</a:t>
            </a:r>
            <a:r>
              <a:rPr kumimoji="0" sz="800" b="0" i="0" u="none" strike="noStrike" kern="0" cap="none" spc="500" normalizeH="0" baseline="0" noProof="0" dirty="0">
                <a:ln>
                  <a:noFill/>
                </a:ln>
                <a:solidFill>
                  <a:srgbClr val="142764"/>
                </a:solidFill>
                <a:effectLst/>
                <a:uLnTx/>
                <a:uFillTx/>
                <a:latin typeface="Zurich Sans Light"/>
                <a:cs typeface="Zurich Sans Light"/>
              </a:rPr>
              <a:t> </a:t>
            </a:r>
            <a:br>
              <a:rPr kumimoji="0" lang="en-GB" sz="800" b="0" i="0" u="none" strike="noStrike" kern="0" cap="none" spc="500" normalizeH="0" baseline="0" noProof="0" dirty="0">
                <a:ln>
                  <a:noFill/>
                </a:ln>
                <a:solidFill>
                  <a:srgbClr val="142764"/>
                </a:solidFill>
                <a:effectLst/>
                <a:uLnTx/>
                <a:uFillTx/>
                <a:latin typeface="Zurich Sans Light"/>
                <a:cs typeface="Zurich Sans Light"/>
              </a:rPr>
            </a:br>
            <a:r>
              <a:rPr kumimoji="0" sz="800" b="0" i="0" u="none" strike="noStrike" kern="0" cap="none" spc="-10" normalizeH="0" baseline="0" noProof="0" dirty="0">
                <a:ln>
                  <a:noFill/>
                </a:ln>
                <a:solidFill>
                  <a:srgbClr val="142764"/>
                </a:solidFill>
                <a:effectLst/>
                <a:uLnTx/>
                <a:uFillTx/>
                <a:latin typeface="Zurich Sans Light"/>
                <a:cs typeface="Zurich Sans Light"/>
              </a:rPr>
              <a:t>Other</a:t>
            </a:r>
            <a:endParaRPr kumimoji="0" sz="800" b="0" i="0" u="none" strike="noStrike" kern="0" cap="none" spc="0" normalizeH="0" baseline="0" noProof="0" dirty="0">
              <a:ln>
                <a:noFill/>
              </a:ln>
              <a:solidFill>
                <a:sysClr val="windowText" lastClr="000000"/>
              </a:solidFill>
              <a:effectLst/>
              <a:uLnTx/>
              <a:uFillTx/>
              <a:latin typeface="Zurich Sans Light"/>
              <a:cs typeface="Zurich Sans Light"/>
            </a:endParaRPr>
          </a:p>
        </p:txBody>
      </p:sp>
      <p:sp>
        <p:nvSpPr>
          <p:cNvPr id="43" name="object 43">
            <a:extLst>
              <a:ext uri="{FF2B5EF4-FFF2-40B4-BE49-F238E27FC236}">
                <a16:creationId xmlns:a16="http://schemas.microsoft.com/office/drawing/2014/main" id="{27518619-8460-27C5-AD29-E7B2DBEECBDE}"/>
              </a:ext>
            </a:extLst>
          </p:cNvPr>
          <p:cNvSpPr txBox="1"/>
          <p:nvPr/>
        </p:nvSpPr>
        <p:spPr>
          <a:xfrm>
            <a:off x="2458301" y="7508805"/>
            <a:ext cx="4093845" cy="448841"/>
          </a:xfrm>
          <a:prstGeom prst="rect">
            <a:avLst/>
          </a:prstGeom>
        </p:spPr>
        <p:txBody>
          <a:bodyPr vert="horz" wrap="square" lIns="0" tIns="1778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Top</a:t>
            </a:r>
            <a:r>
              <a:rPr kumimoji="0" sz="1150" b="1" i="0" u="none" strike="noStrike" kern="0" cap="none" spc="-1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10</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Holdings</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10" normalizeH="0" baseline="0" noProof="0">
                <a:ln>
                  <a:noFill/>
                </a:ln>
                <a:solidFill>
                  <a:srgbClr val="004E9E"/>
                </a:solidFill>
                <a:effectLst/>
                <a:uLnTx/>
                <a:uFillTx/>
                <a:latin typeface="Zurich Sans"/>
                <a:cs typeface="Zurich Sans"/>
              </a:rPr>
              <a:t>28/02/2025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p:txBody>
      </p:sp>
      <p:sp>
        <p:nvSpPr>
          <p:cNvPr id="45" name="object 45">
            <a:extLst>
              <a:ext uri="{FF2B5EF4-FFF2-40B4-BE49-F238E27FC236}">
                <a16:creationId xmlns:a16="http://schemas.microsoft.com/office/drawing/2014/main" id="{4E49E550-E016-9B29-AFA5-7F8D087FB56F}"/>
              </a:ext>
            </a:extLst>
          </p:cNvPr>
          <p:cNvSpPr/>
          <p:nvPr/>
        </p:nvSpPr>
        <p:spPr>
          <a:xfrm>
            <a:off x="243928" y="934948"/>
            <a:ext cx="1930812" cy="9354246"/>
          </a:xfrm>
          <a:custGeom>
            <a:avLst/>
            <a:gdLst/>
            <a:ahLst/>
            <a:cxnLst/>
            <a:rect l="l" t="t" r="r" b="b"/>
            <a:pathLst>
              <a:path w="2520315" h="8784590">
                <a:moveTo>
                  <a:pt x="2519934" y="0"/>
                </a:moveTo>
                <a:lnTo>
                  <a:pt x="0" y="0"/>
                </a:lnTo>
                <a:lnTo>
                  <a:pt x="0" y="8784082"/>
                </a:lnTo>
                <a:lnTo>
                  <a:pt x="2519934" y="8784082"/>
                </a:lnTo>
                <a:lnTo>
                  <a:pt x="2519934" y="0"/>
                </a:lnTo>
                <a:close/>
              </a:path>
            </a:pathLst>
          </a:custGeom>
          <a:solidFill>
            <a:srgbClr val="EDEBE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52">
            <a:extLst>
              <a:ext uri="{FF2B5EF4-FFF2-40B4-BE49-F238E27FC236}">
                <a16:creationId xmlns:a16="http://schemas.microsoft.com/office/drawing/2014/main" id="{1E2FEAEC-19B4-DB88-204E-DCA454AC95FD}"/>
              </a:ext>
            </a:extLst>
          </p:cNvPr>
          <p:cNvSpPr txBox="1"/>
          <p:nvPr/>
        </p:nvSpPr>
        <p:spPr>
          <a:xfrm>
            <a:off x="-238084" y="9632758"/>
            <a:ext cx="6658609" cy="759182"/>
          </a:xfrm>
          <a:prstGeom prst="rect">
            <a:avLst/>
          </a:prstGeom>
        </p:spPr>
        <p:txBody>
          <a:bodyPr vert="horz" wrap="square" lIns="0" tIns="12700" rIns="0" bIns="0" rtlCol="0">
            <a:spAutoFit/>
          </a:bodyPr>
          <a:lstStyle/>
          <a:p>
            <a:pPr marL="2712085" marR="508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0" normalizeH="0" baseline="0" noProof="0" dirty="0">
                <a:ln>
                  <a:noFill/>
                </a:ln>
                <a:solidFill>
                  <a:srgbClr val="142764"/>
                </a:solidFill>
                <a:effectLst/>
                <a:uLnTx/>
                <a:uFillTx/>
                <a:latin typeface="Zurich Sans Light"/>
                <a:cs typeface="Zurich Sans Light"/>
              </a:rPr>
              <a:t>Zurich sources its funds data from </a:t>
            </a:r>
            <a:r>
              <a:rPr kumimoji="0" sz="800" b="0" i="0" u="none" strike="noStrike" kern="0" cap="none" spc="0" normalizeH="0" baseline="0" noProof="0" dirty="0" err="1">
                <a:ln>
                  <a:noFill/>
                </a:ln>
                <a:solidFill>
                  <a:srgbClr val="142764"/>
                </a:solidFill>
                <a:effectLst/>
                <a:uLnTx/>
                <a:uFillTx/>
                <a:latin typeface="Zurich Sans Light"/>
                <a:cs typeface="Zurich Sans Light"/>
              </a:rPr>
              <a:t>FEfundinfo</a:t>
            </a:r>
            <a:r>
              <a:rPr kumimoji="0" sz="800" b="0" i="0" u="none" strike="noStrike" kern="0" cap="none" spc="0" normalizeH="0" baseline="0" noProof="0" dirty="0">
                <a:ln>
                  <a:noFill/>
                </a:ln>
                <a:solidFill>
                  <a:srgbClr val="142764"/>
                </a:solidFill>
                <a:effectLst/>
                <a:uLnTx/>
                <a:uFillTx/>
                <a:latin typeface="Zurich Sans Light"/>
                <a:cs typeface="Zurich Sans Light"/>
              </a:rPr>
              <a:t>. The date shown reflects the last </a:t>
            </a:r>
            <a:r>
              <a:rPr kumimoji="0" sz="800" b="0" i="0" u="none" strike="noStrike" kern="0" cap="none" spc="-10" normalizeH="0" baseline="0" noProof="0" dirty="0">
                <a:ln>
                  <a:noFill/>
                </a:ln>
                <a:solidFill>
                  <a:srgbClr val="142764"/>
                </a:solidFill>
                <a:effectLst/>
                <a:uLnTx/>
                <a:uFillTx/>
                <a:latin typeface="Zurich Sans Light"/>
                <a:cs typeface="Zurich Sans Light"/>
              </a:rPr>
              <a:t>available</a:t>
            </a:r>
            <a:r>
              <a:rPr kumimoji="0" sz="800" b="0" i="0" u="none" strike="noStrike" kern="0" cap="none" spc="50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regional, sector and asset breakdown data provided by the fund's administrator </a:t>
            </a:r>
            <a:r>
              <a:rPr kumimoji="0" sz="800" b="0" i="0" u="none" strike="noStrike" kern="0" cap="none" spc="-25" normalizeH="0" baseline="0" noProof="0" dirty="0">
                <a:ln>
                  <a:noFill/>
                </a:ln>
                <a:solidFill>
                  <a:srgbClr val="142764"/>
                </a:solidFill>
                <a:effectLst/>
                <a:uLnTx/>
                <a:uFillTx/>
                <a:latin typeface="Zurich Sans Light"/>
                <a:cs typeface="Zurich Sans Light"/>
              </a:rPr>
              <a:t>to</a:t>
            </a:r>
            <a:r>
              <a:rPr kumimoji="0" sz="800" b="0" i="0" u="none" strike="noStrike" kern="0" cap="none" spc="50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err="1">
                <a:ln>
                  <a:noFill/>
                </a:ln>
                <a:solidFill>
                  <a:srgbClr val="142764"/>
                </a:solidFill>
                <a:effectLst/>
                <a:uLnTx/>
                <a:uFillTx/>
                <a:latin typeface="Zurich Sans Light"/>
                <a:cs typeface="Zurich Sans Light"/>
              </a:rPr>
              <a:t>FEfundinfo</a:t>
            </a:r>
            <a:r>
              <a:rPr kumimoji="0" sz="800" b="0" i="0" u="none" strike="noStrike" kern="0" cap="none" spc="0" normalizeH="0" baseline="0" noProof="0" dirty="0">
                <a:ln>
                  <a:noFill/>
                </a:ln>
                <a:solidFill>
                  <a:srgbClr val="142764"/>
                </a:solidFill>
                <a:effectLst/>
                <a:uLnTx/>
                <a:uFillTx/>
                <a:latin typeface="Zurich Sans Light"/>
                <a:cs typeface="Zurich Sans Light"/>
              </a:rPr>
              <a:t>. The timeliness of this data is affected by the speed and regularity of </a:t>
            </a:r>
            <a:r>
              <a:rPr kumimoji="0" sz="800" b="0" i="0" u="none" strike="noStrike" kern="0" cap="none" spc="-10" normalizeH="0" baseline="0" noProof="0" dirty="0">
                <a:ln>
                  <a:noFill/>
                </a:ln>
                <a:solidFill>
                  <a:srgbClr val="142764"/>
                </a:solidFill>
                <a:effectLst/>
                <a:uLnTx/>
                <a:uFillTx/>
                <a:latin typeface="Zurich Sans Light"/>
                <a:cs typeface="Zurich Sans Light"/>
              </a:rPr>
              <a:t>their</a:t>
            </a:r>
            <a:r>
              <a:rPr kumimoji="0" sz="800" b="0" i="0" u="none" strike="noStrike" kern="0" cap="none" spc="50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publication by the fund </a:t>
            </a:r>
            <a:r>
              <a:rPr kumimoji="0" sz="800" b="0" i="0" u="none" strike="noStrike" kern="0" cap="none" spc="-10" normalizeH="0" baseline="0" noProof="0" dirty="0">
                <a:ln>
                  <a:noFill/>
                </a:ln>
                <a:solidFill>
                  <a:srgbClr val="142764"/>
                </a:solidFill>
                <a:effectLst/>
                <a:uLnTx/>
                <a:uFillTx/>
                <a:latin typeface="Zurich Sans Light"/>
                <a:cs typeface="Zurich Sans Light"/>
              </a:rPr>
              <a:t>administrator.</a:t>
            </a:r>
            <a:endParaRPr kumimoji="0" sz="800" b="0" i="0" u="none" strike="noStrike" kern="0" cap="none" spc="0" normalizeH="0" baseline="0" noProof="0" dirty="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15"/>
              </a:spcBef>
              <a:spcAft>
                <a:spcPts val="0"/>
              </a:spcAft>
              <a:buClrTx/>
              <a:buSzTx/>
              <a:buFontTx/>
              <a:buNone/>
              <a:tabLst/>
              <a:defRPr/>
            </a:pPr>
            <a:endParaRPr kumimoji="0" sz="750" b="0" i="0" u="none" strike="noStrike" kern="0" cap="none" spc="0" normalizeH="0" baseline="0" noProof="0" dirty="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ysClr val="windowText" lastClr="000000"/>
              </a:solidFill>
              <a:effectLst/>
              <a:uLnTx/>
              <a:uFillTx/>
              <a:latin typeface="Zurich Sans Light"/>
              <a:cs typeface="Zurich Sans Light"/>
            </a:endParaRPr>
          </a:p>
        </p:txBody>
      </p:sp>
      <p:grpSp>
        <p:nvGrpSpPr>
          <p:cNvPr id="53" name="object 53">
            <a:extLst>
              <a:ext uri="{FF2B5EF4-FFF2-40B4-BE49-F238E27FC236}">
                <a16:creationId xmlns:a16="http://schemas.microsoft.com/office/drawing/2014/main" id="{341884BE-9EB1-DAAE-BB1D-7FAC2D9316AF}"/>
              </a:ext>
            </a:extLst>
          </p:cNvPr>
          <p:cNvGrpSpPr/>
          <p:nvPr/>
        </p:nvGrpSpPr>
        <p:grpSpPr>
          <a:xfrm>
            <a:off x="5332744" y="1224038"/>
            <a:ext cx="1457546" cy="1457452"/>
            <a:chOff x="5639340" y="652650"/>
            <a:chExt cx="1457546" cy="1457452"/>
          </a:xfrm>
        </p:grpSpPr>
        <p:sp>
          <p:nvSpPr>
            <p:cNvPr id="54" name="object 54">
              <a:extLst>
                <a:ext uri="{FF2B5EF4-FFF2-40B4-BE49-F238E27FC236}">
                  <a16:creationId xmlns:a16="http://schemas.microsoft.com/office/drawing/2014/main" id="{2DB74837-1109-D963-3368-EA91A88FC22D}"/>
                </a:ext>
              </a:extLst>
            </p:cNvPr>
            <p:cNvSpPr/>
            <p:nvPr/>
          </p:nvSpPr>
          <p:spPr>
            <a:xfrm>
              <a:off x="6367779" y="652650"/>
              <a:ext cx="577850" cy="506730"/>
            </a:xfrm>
            <a:custGeom>
              <a:avLst/>
              <a:gdLst/>
              <a:ahLst/>
              <a:cxnLst/>
              <a:rect l="l" t="t" r="r" b="b"/>
              <a:pathLst>
                <a:path w="577850" h="506730">
                  <a:moveTo>
                    <a:pt x="0" y="0"/>
                  </a:moveTo>
                  <a:lnTo>
                    <a:pt x="0" y="364363"/>
                  </a:lnTo>
                  <a:lnTo>
                    <a:pt x="48008" y="367529"/>
                  </a:lnTo>
                  <a:lnTo>
                    <a:pt x="94676" y="376852"/>
                  </a:lnTo>
                  <a:lnTo>
                    <a:pt x="139459" y="392064"/>
                  </a:lnTo>
                  <a:lnTo>
                    <a:pt x="181809" y="412899"/>
                  </a:lnTo>
                  <a:lnTo>
                    <a:pt x="221179" y="439091"/>
                  </a:lnTo>
                  <a:lnTo>
                    <a:pt x="257025" y="470372"/>
                  </a:lnTo>
                  <a:lnTo>
                    <a:pt x="288798" y="506475"/>
                  </a:lnTo>
                  <a:lnTo>
                    <a:pt x="577596" y="284225"/>
                  </a:lnTo>
                  <a:lnTo>
                    <a:pt x="546884" y="246973"/>
                  </a:lnTo>
                  <a:lnTo>
                    <a:pt x="514003" y="212058"/>
                  </a:lnTo>
                  <a:lnTo>
                    <a:pt x="479090" y="179548"/>
                  </a:lnTo>
                  <a:lnTo>
                    <a:pt x="442282" y="149511"/>
                  </a:lnTo>
                  <a:lnTo>
                    <a:pt x="403714" y="122015"/>
                  </a:lnTo>
                  <a:lnTo>
                    <a:pt x="363525" y="97127"/>
                  </a:lnTo>
                  <a:lnTo>
                    <a:pt x="321849" y="74914"/>
                  </a:lnTo>
                  <a:lnTo>
                    <a:pt x="278825" y="55443"/>
                  </a:lnTo>
                  <a:lnTo>
                    <a:pt x="234588" y="38783"/>
                  </a:lnTo>
                  <a:lnTo>
                    <a:pt x="189275" y="25001"/>
                  </a:lnTo>
                  <a:lnTo>
                    <a:pt x="143024" y="14164"/>
                  </a:lnTo>
                  <a:lnTo>
                    <a:pt x="95969" y="6340"/>
                  </a:lnTo>
                  <a:lnTo>
                    <a:pt x="48249" y="1596"/>
                  </a:lnTo>
                  <a:lnTo>
                    <a:pt x="0"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55">
              <a:extLst>
                <a:ext uri="{FF2B5EF4-FFF2-40B4-BE49-F238E27FC236}">
                  <a16:creationId xmlns:a16="http://schemas.microsoft.com/office/drawing/2014/main" id="{51A2F201-C4D5-F5E5-B6A2-3D9CEB86F4F9}"/>
                </a:ext>
              </a:extLst>
            </p:cNvPr>
            <p:cNvSpPr/>
            <p:nvPr/>
          </p:nvSpPr>
          <p:spPr>
            <a:xfrm>
              <a:off x="6656831" y="937511"/>
              <a:ext cx="440055" cy="558165"/>
            </a:xfrm>
            <a:custGeom>
              <a:avLst/>
              <a:gdLst/>
              <a:ahLst/>
              <a:cxnLst/>
              <a:rect l="l" t="t" r="r" b="b"/>
              <a:pathLst>
                <a:path w="440054" h="558165">
                  <a:moveTo>
                    <a:pt x="288925" y="0"/>
                  </a:moveTo>
                  <a:lnTo>
                    <a:pt x="0" y="221869"/>
                  </a:lnTo>
                  <a:lnTo>
                    <a:pt x="27510" y="263191"/>
                  </a:lnTo>
                  <a:lnTo>
                    <a:pt x="48970" y="307467"/>
                  </a:lnTo>
                  <a:lnTo>
                    <a:pt x="64214" y="354028"/>
                  </a:lnTo>
                  <a:lnTo>
                    <a:pt x="73076" y="402209"/>
                  </a:lnTo>
                  <a:lnTo>
                    <a:pt x="75391" y="451342"/>
                  </a:lnTo>
                  <a:lnTo>
                    <a:pt x="70993" y="500761"/>
                  </a:lnTo>
                  <a:lnTo>
                    <a:pt x="430784" y="557784"/>
                  </a:lnTo>
                  <a:lnTo>
                    <a:pt x="436881" y="508323"/>
                  </a:lnTo>
                  <a:lnTo>
                    <a:pt x="439581" y="458858"/>
                  </a:lnTo>
                  <a:lnTo>
                    <a:pt x="438925" y="409551"/>
                  </a:lnTo>
                  <a:lnTo>
                    <a:pt x="434956" y="360567"/>
                  </a:lnTo>
                  <a:lnTo>
                    <a:pt x="427714" y="312069"/>
                  </a:lnTo>
                  <a:lnTo>
                    <a:pt x="417242" y="264223"/>
                  </a:lnTo>
                  <a:lnTo>
                    <a:pt x="403582" y="217192"/>
                  </a:lnTo>
                  <a:lnTo>
                    <a:pt x="386776" y="171139"/>
                  </a:lnTo>
                  <a:lnTo>
                    <a:pt x="366865" y="126230"/>
                  </a:lnTo>
                  <a:lnTo>
                    <a:pt x="343891" y="82627"/>
                  </a:lnTo>
                  <a:lnTo>
                    <a:pt x="317897" y="40496"/>
                  </a:lnTo>
                  <a:lnTo>
                    <a:pt x="288925"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56">
              <a:extLst>
                <a:ext uri="{FF2B5EF4-FFF2-40B4-BE49-F238E27FC236}">
                  <a16:creationId xmlns:a16="http://schemas.microsoft.com/office/drawing/2014/main" id="{6DFB1BBA-D37A-B6DB-9888-068DDBDC0C8B}"/>
                </a:ext>
              </a:extLst>
            </p:cNvPr>
            <p:cNvSpPr/>
            <p:nvPr/>
          </p:nvSpPr>
          <p:spPr>
            <a:xfrm>
              <a:off x="6656831" y="937511"/>
              <a:ext cx="440055" cy="558165"/>
            </a:xfrm>
            <a:custGeom>
              <a:avLst/>
              <a:gdLst/>
              <a:ahLst/>
              <a:cxnLst/>
              <a:rect l="l" t="t" r="r" b="b"/>
              <a:pathLst>
                <a:path w="440054" h="558165">
                  <a:moveTo>
                    <a:pt x="288925" y="0"/>
                  </a:moveTo>
                  <a:lnTo>
                    <a:pt x="317897" y="40496"/>
                  </a:lnTo>
                  <a:lnTo>
                    <a:pt x="343891" y="82627"/>
                  </a:lnTo>
                  <a:lnTo>
                    <a:pt x="366865" y="126230"/>
                  </a:lnTo>
                  <a:lnTo>
                    <a:pt x="386776" y="171139"/>
                  </a:lnTo>
                  <a:lnTo>
                    <a:pt x="403582" y="217192"/>
                  </a:lnTo>
                  <a:lnTo>
                    <a:pt x="417242" y="264223"/>
                  </a:lnTo>
                  <a:lnTo>
                    <a:pt x="427714" y="312069"/>
                  </a:lnTo>
                  <a:lnTo>
                    <a:pt x="434956" y="360567"/>
                  </a:lnTo>
                  <a:lnTo>
                    <a:pt x="438925" y="409551"/>
                  </a:lnTo>
                  <a:lnTo>
                    <a:pt x="439581" y="458858"/>
                  </a:lnTo>
                  <a:lnTo>
                    <a:pt x="436881" y="508323"/>
                  </a:lnTo>
                  <a:lnTo>
                    <a:pt x="430784" y="557784"/>
                  </a:lnTo>
                  <a:lnTo>
                    <a:pt x="425162" y="556893"/>
                  </a:lnTo>
                  <a:lnTo>
                    <a:pt x="385810" y="550656"/>
                  </a:lnTo>
                  <a:lnTo>
                    <a:pt x="278997" y="533727"/>
                  </a:lnTo>
                  <a:lnTo>
                    <a:pt x="70993" y="500761"/>
                  </a:lnTo>
                  <a:lnTo>
                    <a:pt x="75391" y="451342"/>
                  </a:lnTo>
                  <a:lnTo>
                    <a:pt x="73076" y="402209"/>
                  </a:lnTo>
                  <a:lnTo>
                    <a:pt x="64214" y="354028"/>
                  </a:lnTo>
                  <a:lnTo>
                    <a:pt x="48970" y="307467"/>
                  </a:lnTo>
                  <a:lnTo>
                    <a:pt x="27510" y="263191"/>
                  </a:lnTo>
                  <a:lnTo>
                    <a:pt x="0" y="221869"/>
                  </a:lnTo>
                  <a:lnTo>
                    <a:pt x="288925" y="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57">
              <a:extLst>
                <a:ext uri="{FF2B5EF4-FFF2-40B4-BE49-F238E27FC236}">
                  <a16:creationId xmlns:a16="http://schemas.microsoft.com/office/drawing/2014/main" id="{11D15646-5834-ED7A-09F8-A031C8EBDBA2}"/>
                </a:ext>
              </a:extLst>
            </p:cNvPr>
            <p:cNvSpPr/>
            <p:nvPr/>
          </p:nvSpPr>
          <p:spPr>
            <a:xfrm>
              <a:off x="6665340" y="1438653"/>
              <a:ext cx="422275" cy="363855"/>
            </a:xfrm>
            <a:custGeom>
              <a:avLst/>
              <a:gdLst/>
              <a:ahLst/>
              <a:cxnLst/>
              <a:rect l="l" t="t" r="r" b="b"/>
              <a:pathLst>
                <a:path w="422275" h="363855">
                  <a:moveTo>
                    <a:pt x="62356" y="0"/>
                  </a:moveTo>
                  <a:lnTo>
                    <a:pt x="53453" y="40772"/>
                  </a:lnTo>
                  <a:lnTo>
                    <a:pt x="39989" y="80152"/>
                  </a:lnTo>
                  <a:lnTo>
                    <a:pt x="22119" y="117746"/>
                  </a:lnTo>
                  <a:lnTo>
                    <a:pt x="0" y="153162"/>
                  </a:lnTo>
                  <a:lnTo>
                    <a:pt x="297306" y="363727"/>
                  </a:lnTo>
                  <a:lnTo>
                    <a:pt x="323616" y="323832"/>
                  </a:lnTo>
                  <a:lnTo>
                    <a:pt x="347205" y="282402"/>
                  </a:lnTo>
                  <a:lnTo>
                    <a:pt x="368009" y="239580"/>
                  </a:lnTo>
                  <a:lnTo>
                    <a:pt x="385968" y="195513"/>
                  </a:lnTo>
                  <a:lnTo>
                    <a:pt x="401019" y="150343"/>
                  </a:lnTo>
                  <a:lnTo>
                    <a:pt x="413099" y="104217"/>
                  </a:lnTo>
                  <a:lnTo>
                    <a:pt x="422148" y="57276"/>
                  </a:lnTo>
                  <a:lnTo>
                    <a:pt x="6235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58">
              <a:extLst>
                <a:ext uri="{FF2B5EF4-FFF2-40B4-BE49-F238E27FC236}">
                  <a16:creationId xmlns:a16="http://schemas.microsoft.com/office/drawing/2014/main" id="{5156A83E-5E2E-439F-7174-083A4713AEEC}"/>
                </a:ext>
              </a:extLst>
            </p:cNvPr>
            <p:cNvSpPr/>
            <p:nvPr/>
          </p:nvSpPr>
          <p:spPr>
            <a:xfrm>
              <a:off x="6665340" y="1438653"/>
              <a:ext cx="422275" cy="363855"/>
            </a:xfrm>
            <a:custGeom>
              <a:avLst/>
              <a:gdLst/>
              <a:ahLst/>
              <a:cxnLst/>
              <a:rect l="l" t="t" r="r" b="b"/>
              <a:pathLst>
                <a:path w="422275" h="363855">
                  <a:moveTo>
                    <a:pt x="422148" y="57276"/>
                  </a:moveTo>
                  <a:lnTo>
                    <a:pt x="413099" y="104217"/>
                  </a:lnTo>
                  <a:lnTo>
                    <a:pt x="401019" y="150343"/>
                  </a:lnTo>
                  <a:lnTo>
                    <a:pt x="385968" y="195513"/>
                  </a:lnTo>
                  <a:lnTo>
                    <a:pt x="368009" y="239580"/>
                  </a:lnTo>
                  <a:lnTo>
                    <a:pt x="347205" y="282402"/>
                  </a:lnTo>
                  <a:lnTo>
                    <a:pt x="323616" y="323832"/>
                  </a:lnTo>
                  <a:lnTo>
                    <a:pt x="297306" y="363727"/>
                  </a:lnTo>
                  <a:lnTo>
                    <a:pt x="292661" y="360437"/>
                  </a:lnTo>
                  <a:lnTo>
                    <a:pt x="260143" y="337407"/>
                  </a:lnTo>
                  <a:lnTo>
                    <a:pt x="171880" y="274895"/>
                  </a:lnTo>
                  <a:lnTo>
                    <a:pt x="0" y="153162"/>
                  </a:lnTo>
                  <a:lnTo>
                    <a:pt x="22119" y="117746"/>
                  </a:lnTo>
                  <a:lnTo>
                    <a:pt x="39989" y="80152"/>
                  </a:lnTo>
                  <a:lnTo>
                    <a:pt x="53453" y="40772"/>
                  </a:lnTo>
                  <a:lnTo>
                    <a:pt x="62356" y="0"/>
                  </a:lnTo>
                  <a:lnTo>
                    <a:pt x="422148" y="5727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59">
              <a:extLst>
                <a:ext uri="{FF2B5EF4-FFF2-40B4-BE49-F238E27FC236}">
                  <a16:creationId xmlns:a16="http://schemas.microsoft.com/office/drawing/2014/main" id="{59E78C4C-0362-7EFB-6E9E-134CD8AADF24}"/>
                </a:ext>
              </a:extLst>
            </p:cNvPr>
            <p:cNvSpPr/>
            <p:nvPr/>
          </p:nvSpPr>
          <p:spPr>
            <a:xfrm>
              <a:off x="6560819" y="1592069"/>
              <a:ext cx="401955" cy="407670"/>
            </a:xfrm>
            <a:custGeom>
              <a:avLst/>
              <a:gdLst/>
              <a:ahLst/>
              <a:cxnLst/>
              <a:rect l="l" t="t" r="r" b="b"/>
              <a:pathLst>
                <a:path w="401954" h="407669">
                  <a:moveTo>
                    <a:pt x="104266" y="0"/>
                  </a:moveTo>
                  <a:lnTo>
                    <a:pt x="81938" y="28380"/>
                  </a:lnTo>
                  <a:lnTo>
                    <a:pt x="56991" y="54355"/>
                  </a:lnTo>
                  <a:lnTo>
                    <a:pt x="29614" y="77759"/>
                  </a:lnTo>
                  <a:lnTo>
                    <a:pt x="0" y="98425"/>
                  </a:lnTo>
                  <a:lnTo>
                    <a:pt x="192785" y="407415"/>
                  </a:lnTo>
                  <a:lnTo>
                    <a:pt x="232804" y="380594"/>
                  </a:lnTo>
                  <a:lnTo>
                    <a:pt x="270872" y="351253"/>
                  </a:lnTo>
                  <a:lnTo>
                    <a:pt x="306879" y="319500"/>
                  </a:lnTo>
                  <a:lnTo>
                    <a:pt x="340717" y="285439"/>
                  </a:lnTo>
                  <a:lnTo>
                    <a:pt x="372276" y="249177"/>
                  </a:lnTo>
                  <a:lnTo>
                    <a:pt x="401447" y="210820"/>
                  </a:lnTo>
                  <a:lnTo>
                    <a:pt x="10426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60">
              <a:extLst>
                <a:ext uri="{FF2B5EF4-FFF2-40B4-BE49-F238E27FC236}">
                  <a16:creationId xmlns:a16="http://schemas.microsoft.com/office/drawing/2014/main" id="{B18A5F8C-B45A-E194-397C-08642069C6C3}"/>
                </a:ext>
              </a:extLst>
            </p:cNvPr>
            <p:cNvSpPr/>
            <p:nvPr/>
          </p:nvSpPr>
          <p:spPr>
            <a:xfrm>
              <a:off x="6560819" y="1592069"/>
              <a:ext cx="401955" cy="407670"/>
            </a:xfrm>
            <a:custGeom>
              <a:avLst/>
              <a:gdLst/>
              <a:ahLst/>
              <a:cxnLst/>
              <a:rect l="l" t="t" r="r" b="b"/>
              <a:pathLst>
                <a:path w="401954" h="407669">
                  <a:moveTo>
                    <a:pt x="401447" y="210820"/>
                  </a:moveTo>
                  <a:lnTo>
                    <a:pt x="372276" y="249177"/>
                  </a:lnTo>
                  <a:lnTo>
                    <a:pt x="340717" y="285439"/>
                  </a:lnTo>
                  <a:lnTo>
                    <a:pt x="306879" y="319500"/>
                  </a:lnTo>
                  <a:lnTo>
                    <a:pt x="270872" y="351253"/>
                  </a:lnTo>
                  <a:lnTo>
                    <a:pt x="232804" y="380594"/>
                  </a:lnTo>
                  <a:lnTo>
                    <a:pt x="192785" y="407415"/>
                  </a:lnTo>
                  <a:lnTo>
                    <a:pt x="189773" y="402588"/>
                  </a:lnTo>
                  <a:lnTo>
                    <a:pt x="168687" y="368792"/>
                  </a:lnTo>
                  <a:lnTo>
                    <a:pt x="111454" y="277060"/>
                  </a:lnTo>
                  <a:lnTo>
                    <a:pt x="0" y="98425"/>
                  </a:lnTo>
                  <a:lnTo>
                    <a:pt x="29614" y="77759"/>
                  </a:lnTo>
                  <a:lnTo>
                    <a:pt x="56991" y="54355"/>
                  </a:lnTo>
                  <a:lnTo>
                    <a:pt x="81938" y="28380"/>
                  </a:lnTo>
                  <a:lnTo>
                    <a:pt x="104266" y="0"/>
                  </a:lnTo>
                  <a:lnTo>
                    <a:pt x="401447" y="21082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61">
              <a:extLst>
                <a:ext uri="{FF2B5EF4-FFF2-40B4-BE49-F238E27FC236}">
                  <a16:creationId xmlns:a16="http://schemas.microsoft.com/office/drawing/2014/main" id="{6A48E748-F019-FB3C-CFC6-FE5C7FAF73D8}"/>
                </a:ext>
              </a:extLst>
            </p:cNvPr>
            <p:cNvSpPr/>
            <p:nvPr/>
          </p:nvSpPr>
          <p:spPr>
            <a:xfrm>
              <a:off x="6429501" y="1690621"/>
              <a:ext cx="323850" cy="408940"/>
            </a:xfrm>
            <a:custGeom>
              <a:avLst/>
              <a:gdLst/>
              <a:ahLst/>
              <a:cxnLst/>
              <a:rect l="l" t="t" r="r" b="b"/>
              <a:pathLst>
                <a:path w="323850" h="408939">
                  <a:moveTo>
                    <a:pt x="130937" y="0"/>
                  </a:moveTo>
                  <a:lnTo>
                    <a:pt x="100137" y="17154"/>
                  </a:lnTo>
                  <a:lnTo>
                    <a:pt x="67897" y="31226"/>
                  </a:lnTo>
                  <a:lnTo>
                    <a:pt x="34442" y="42130"/>
                  </a:lnTo>
                  <a:lnTo>
                    <a:pt x="0" y="49783"/>
                  </a:lnTo>
                  <a:lnTo>
                    <a:pt x="61595" y="408939"/>
                  </a:lnTo>
                  <a:lnTo>
                    <a:pt x="107671" y="399464"/>
                  </a:lnTo>
                  <a:lnTo>
                    <a:pt x="152969" y="387072"/>
                  </a:lnTo>
                  <a:lnTo>
                    <a:pt x="197342" y="371808"/>
                  </a:lnTo>
                  <a:lnTo>
                    <a:pt x="240646" y="353718"/>
                  </a:lnTo>
                  <a:lnTo>
                    <a:pt x="282736" y="332848"/>
                  </a:lnTo>
                  <a:lnTo>
                    <a:pt x="323469" y="309245"/>
                  </a:lnTo>
                  <a:lnTo>
                    <a:pt x="130937"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62">
              <a:extLst>
                <a:ext uri="{FF2B5EF4-FFF2-40B4-BE49-F238E27FC236}">
                  <a16:creationId xmlns:a16="http://schemas.microsoft.com/office/drawing/2014/main" id="{E50B07DF-A9CB-D3BC-388C-BD7F24C76981}"/>
                </a:ext>
              </a:extLst>
            </p:cNvPr>
            <p:cNvSpPr/>
            <p:nvPr/>
          </p:nvSpPr>
          <p:spPr>
            <a:xfrm>
              <a:off x="6429501" y="1690621"/>
              <a:ext cx="323850" cy="408940"/>
            </a:xfrm>
            <a:custGeom>
              <a:avLst/>
              <a:gdLst/>
              <a:ahLst/>
              <a:cxnLst/>
              <a:rect l="l" t="t" r="r" b="b"/>
              <a:pathLst>
                <a:path w="323850" h="408939">
                  <a:moveTo>
                    <a:pt x="323469" y="309245"/>
                  </a:moveTo>
                  <a:lnTo>
                    <a:pt x="282736" y="332848"/>
                  </a:lnTo>
                  <a:lnTo>
                    <a:pt x="240646" y="353718"/>
                  </a:lnTo>
                  <a:lnTo>
                    <a:pt x="197342" y="371808"/>
                  </a:lnTo>
                  <a:lnTo>
                    <a:pt x="152969" y="387072"/>
                  </a:lnTo>
                  <a:lnTo>
                    <a:pt x="107671" y="399464"/>
                  </a:lnTo>
                  <a:lnTo>
                    <a:pt x="61595" y="408939"/>
                  </a:lnTo>
                  <a:lnTo>
                    <a:pt x="60632" y="403328"/>
                  </a:lnTo>
                  <a:lnTo>
                    <a:pt x="53895" y="364045"/>
                  </a:lnTo>
                  <a:lnTo>
                    <a:pt x="35609" y="257421"/>
                  </a:lnTo>
                  <a:lnTo>
                    <a:pt x="0" y="49783"/>
                  </a:lnTo>
                  <a:lnTo>
                    <a:pt x="34442" y="42130"/>
                  </a:lnTo>
                  <a:lnTo>
                    <a:pt x="67897" y="31226"/>
                  </a:lnTo>
                  <a:lnTo>
                    <a:pt x="100137" y="17154"/>
                  </a:lnTo>
                  <a:lnTo>
                    <a:pt x="130937" y="0"/>
                  </a:lnTo>
                  <a:lnTo>
                    <a:pt x="323469" y="309245"/>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63">
              <a:extLst>
                <a:ext uri="{FF2B5EF4-FFF2-40B4-BE49-F238E27FC236}">
                  <a16:creationId xmlns:a16="http://schemas.microsoft.com/office/drawing/2014/main" id="{786653B8-EFE1-BC4C-AE42-18E78CF6039F}"/>
                </a:ext>
              </a:extLst>
            </p:cNvPr>
            <p:cNvSpPr/>
            <p:nvPr/>
          </p:nvSpPr>
          <p:spPr>
            <a:xfrm>
              <a:off x="6272529" y="1740532"/>
              <a:ext cx="217804" cy="369570"/>
            </a:xfrm>
            <a:custGeom>
              <a:avLst/>
              <a:gdLst/>
              <a:ahLst/>
              <a:cxnLst/>
              <a:rect l="l" t="t" r="r" b="b"/>
              <a:pathLst>
                <a:path w="217804" h="369569">
                  <a:moveTo>
                    <a:pt x="156591" y="0"/>
                  </a:moveTo>
                  <a:lnTo>
                    <a:pt x="129512" y="3550"/>
                  </a:lnTo>
                  <a:lnTo>
                    <a:pt x="102266" y="5064"/>
                  </a:lnTo>
                  <a:lnTo>
                    <a:pt x="74973" y="4554"/>
                  </a:lnTo>
                  <a:lnTo>
                    <a:pt x="47752" y="2032"/>
                  </a:lnTo>
                  <a:lnTo>
                    <a:pt x="0" y="363220"/>
                  </a:lnTo>
                  <a:lnTo>
                    <a:pt x="54445" y="368317"/>
                  </a:lnTo>
                  <a:lnTo>
                    <a:pt x="109045" y="369331"/>
                  </a:lnTo>
                  <a:lnTo>
                    <a:pt x="163574" y="366273"/>
                  </a:lnTo>
                  <a:lnTo>
                    <a:pt x="217805" y="359156"/>
                  </a:lnTo>
                  <a:lnTo>
                    <a:pt x="156591"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4" name="object 64">
              <a:extLst>
                <a:ext uri="{FF2B5EF4-FFF2-40B4-BE49-F238E27FC236}">
                  <a16:creationId xmlns:a16="http://schemas.microsoft.com/office/drawing/2014/main" id="{4141D945-85FE-8ED4-510B-666E59AA73B2}"/>
                </a:ext>
              </a:extLst>
            </p:cNvPr>
            <p:cNvSpPr/>
            <p:nvPr/>
          </p:nvSpPr>
          <p:spPr>
            <a:xfrm>
              <a:off x="6272529" y="1740532"/>
              <a:ext cx="217804" cy="369570"/>
            </a:xfrm>
            <a:custGeom>
              <a:avLst/>
              <a:gdLst/>
              <a:ahLst/>
              <a:cxnLst/>
              <a:rect l="l" t="t" r="r" b="b"/>
              <a:pathLst>
                <a:path w="217804" h="369569">
                  <a:moveTo>
                    <a:pt x="217805" y="359156"/>
                  </a:moveTo>
                  <a:lnTo>
                    <a:pt x="163574" y="366273"/>
                  </a:lnTo>
                  <a:lnTo>
                    <a:pt x="109045" y="369331"/>
                  </a:lnTo>
                  <a:lnTo>
                    <a:pt x="54445" y="368317"/>
                  </a:lnTo>
                  <a:lnTo>
                    <a:pt x="0" y="363220"/>
                  </a:lnTo>
                  <a:lnTo>
                    <a:pt x="746" y="357576"/>
                  </a:lnTo>
                  <a:lnTo>
                    <a:pt x="5968" y="318071"/>
                  </a:lnTo>
                  <a:lnTo>
                    <a:pt x="20145" y="210843"/>
                  </a:lnTo>
                  <a:lnTo>
                    <a:pt x="47752" y="2032"/>
                  </a:lnTo>
                  <a:lnTo>
                    <a:pt x="74973" y="4554"/>
                  </a:lnTo>
                  <a:lnTo>
                    <a:pt x="102266" y="5064"/>
                  </a:lnTo>
                  <a:lnTo>
                    <a:pt x="129512" y="3550"/>
                  </a:lnTo>
                  <a:lnTo>
                    <a:pt x="156591" y="0"/>
                  </a:lnTo>
                  <a:lnTo>
                    <a:pt x="217805" y="35915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5" name="object 65">
              <a:extLst>
                <a:ext uri="{FF2B5EF4-FFF2-40B4-BE49-F238E27FC236}">
                  <a16:creationId xmlns:a16="http://schemas.microsoft.com/office/drawing/2014/main" id="{B25E73E4-7FBD-3A53-94BB-FD25A52A3D84}"/>
                </a:ext>
              </a:extLst>
            </p:cNvPr>
            <p:cNvSpPr/>
            <p:nvPr/>
          </p:nvSpPr>
          <p:spPr>
            <a:xfrm>
              <a:off x="6090792" y="1718307"/>
              <a:ext cx="229235" cy="385445"/>
            </a:xfrm>
            <a:custGeom>
              <a:avLst/>
              <a:gdLst/>
              <a:ahLst/>
              <a:cxnLst/>
              <a:rect l="l" t="t" r="r" b="b"/>
              <a:pathLst>
                <a:path w="229235" h="385444">
                  <a:moveTo>
                    <a:pt x="138557" y="0"/>
                  </a:moveTo>
                  <a:lnTo>
                    <a:pt x="0" y="336931"/>
                  </a:lnTo>
                  <a:lnTo>
                    <a:pt x="44031" y="353403"/>
                  </a:lnTo>
                  <a:lnTo>
                    <a:pt x="88979" y="366982"/>
                  </a:lnTo>
                  <a:lnTo>
                    <a:pt x="134713" y="377632"/>
                  </a:lnTo>
                  <a:lnTo>
                    <a:pt x="181102" y="385318"/>
                  </a:lnTo>
                  <a:lnTo>
                    <a:pt x="229108" y="24129"/>
                  </a:lnTo>
                  <a:lnTo>
                    <a:pt x="205904" y="20323"/>
                  </a:lnTo>
                  <a:lnTo>
                    <a:pt x="183022" y="15017"/>
                  </a:lnTo>
                  <a:lnTo>
                    <a:pt x="160545" y="8235"/>
                  </a:lnTo>
                  <a:lnTo>
                    <a:pt x="138557"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6" name="object 66">
              <a:extLst>
                <a:ext uri="{FF2B5EF4-FFF2-40B4-BE49-F238E27FC236}">
                  <a16:creationId xmlns:a16="http://schemas.microsoft.com/office/drawing/2014/main" id="{8FC82370-A57F-E1F9-1304-F55071ED5B78}"/>
                </a:ext>
              </a:extLst>
            </p:cNvPr>
            <p:cNvSpPr/>
            <p:nvPr/>
          </p:nvSpPr>
          <p:spPr>
            <a:xfrm>
              <a:off x="6090792" y="1718307"/>
              <a:ext cx="229235" cy="385445"/>
            </a:xfrm>
            <a:custGeom>
              <a:avLst/>
              <a:gdLst/>
              <a:ahLst/>
              <a:cxnLst/>
              <a:rect l="l" t="t" r="r" b="b"/>
              <a:pathLst>
                <a:path w="229235" h="385444">
                  <a:moveTo>
                    <a:pt x="181102" y="385318"/>
                  </a:moveTo>
                  <a:lnTo>
                    <a:pt x="134713" y="377632"/>
                  </a:lnTo>
                  <a:lnTo>
                    <a:pt x="88979" y="366982"/>
                  </a:lnTo>
                  <a:lnTo>
                    <a:pt x="44031" y="353403"/>
                  </a:lnTo>
                  <a:lnTo>
                    <a:pt x="0" y="336931"/>
                  </a:lnTo>
                  <a:lnTo>
                    <a:pt x="2164" y="331666"/>
                  </a:lnTo>
                  <a:lnTo>
                    <a:pt x="17319" y="294814"/>
                  </a:lnTo>
                  <a:lnTo>
                    <a:pt x="58453" y="194788"/>
                  </a:lnTo>
                  <a:lnTo>
                    <a:pt x="138557" y="0"/>
                  </a:lnTo>
                  <a:lnTo>
                    <a:pt x="160545" y="8235"/>
                  </a:lnTo>
                  <a:lnTo>
                    <a:pt x="183022" y="15017"/>
                  </a:lnTo>
                  <a:lnTo>
                    <a:pt x="205904" y="20323"/>
                  </a:lnTo>
                  <a:lnTo>
                    <a:pt x="229108" y="24129"/>
                  </a:lnTo>
                  <a:lnTo>
                    <a:pt x="181102" y="385318"/>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 name="object 67">
              <a:extLst>
                <a:ext uri="{FF2B5EF4-FFF2-40B4-BE49-F238E27FC236}">
                  <a16:creationId xmlns:a16="http://schemas.microsoft.com/office/drawing/2014/main" id="{EFDB157C-6B26-8FBC-61A2-E88750A98BA3}"/>
                </a:ext>
              </a:extLst>
            </p:cNvPr>
            <p:cNvSpPr/>
            <p:nvPr/>
          </p:nvSpPr>
          <p:spPr>
            <a:xfrm>
              <a:off x="5930899" y="1672841"/>
              <a:ext cx="298450" cy="382270"/>
            </a:xfrm>
            <a:custGeom>
              <a:avLst/>
              <a:gdLst/>
              <a:ahLst/>
              <a:cxnLst/>
              <a:rect l="l" t="t" r="r" b="b"/>
              <a:pathLst>
                <a:path w="298450" h="382269">
                  <a:moveTo>
                    <a:pt x="218439" y="0"/>
                  </a:moveTo>
                  <a:lnTo>
                    <a:pt x="0" y="291591"/>
                  </a:lnTo>
                  <a:lnTo>
                    <a:pt x="37580" y="317938"/>
                  </a:lnTo>
                  <a:lnTo>
                    <a:pt x="76707" y="341868"/>
                  </a:lnTo>
                  <a:lnTo>
                    <a:pt x="117264" y="363297"/>
                  </a:lnTo>
                  <a:lnTo>
                    <a:pt x="159130" y="382142"/>
                  </a:lnTo>
                  <a:lnTo>
                    <a:pt x="298069" y="45338"/>
                  </a:lnTo>
                  <a:lnTo>
                    <a:pt x="277143" y="35915"/>
                  </a:lnTo>
                  <a:lnTo>
                    <a:pt x="256873" y="25193"/>
                  </a:lnTo>
                  <a:lnTo>
                    <a:pt x="237293" y="13209"/>
                  </a:lnTo>
                  <a:lnTo>
                    <a:pt x="218439"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8">
              <a:extLst>
                <a:ext uri="{FF2B5EF4-FFF2-40B4-BE49-F238E27FC236}">
                  <a16:creationId xmlns:a16="http://schemas.microsoft.com/office/drawing/2014/main" id="{98A330A3-6094-5E29-E7DA-1E937D9E29B9}"/>
                </a:ext>
              </a:extLst>
            </p:cNvPr>
            <p:cNvSpPr/>
            <p:nvPr/>
          </p:nvSpPr>
          <p:spPr>
            <a:xfrm>
              <a:off x="5930899" y="1672841"/>
              <a:ext cx="298450" cy="382270"/>
            </a:xfrm>
            <a:custGeom>
              <a:avLst/>
              <a:gdLst/>
              <a:ahLst/>
              <a:cxnLst/>
              <a:rect l="l" t="t" r="r" b="b"/>
              <a:pathLst>
                <a:path w="298450" h="382269">
                  <a:moveTo>
                    <a:pt x="159130" y="382142"/>
                  </a:moveTo>
                  <a:lnTo>
                    <a:pt x="117264" y="363297"/>
                  </a:lnTo>
                  <a:lnTo>
                    <a:pt x="76707" y="341868"/>
                  </a:lnTo>
                  <a:lnTo>
                    <a:pt x="37580" y="317938"/>
                  </a:lnTo>
                  <a:lnTo>
                    <a:pt x="0" y="291591"/>
                  </a:lnTo>
                  <a:lnTo>
                    <a:pt x="3413" y="287035"/>
                  </a:lnTo>
                  <a:lnTo>
                    <a:pt x="27305" y="255142"/>
                  </a:lnTo>
                  <a:lnTo>
                    <a:pt x="92154" y="168576"/>
                  </a:lnTo>
                  <a:lnTo>
                    <a:pt x="218439" y="0"/>
                  </a:lnTo>
                  <a:lnTo>
                    <a:pt x="237293" y="13209"/>
                  </a:lnTo>
                  <a:lnTo>
                    <a:pt x="256873" y="25193"/>
                  </a:lnTo>
                  <a:lnTo>
                    <a:pt x="277143" y="35915"/>
                  </a:lnTo>
                  <a:lnTo>
                    <a:pt x="298069" y="45338"/>
                  </a:lnTo>
                  <a:lnTo>
                    <a:pt x="159130" y="38214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9" name="object 69">
              <a:extLst>
                <a:ext uri="{FF2B5EF4-FFF2-40B4-BE49-F238E27FC236}">
                  <a16:creationId xmlns:a16="http://schemas.microsoft.com/office/drawing/2014/main" id="{DE393560-2AA9-75FD-ECE5-AA1FC1C7B0DA}"/>
                </a:ext>
              </a:extLst>
            </p:cNvPr>
            <p:cNvSpPr/>
            <p:nvPr/>
          </p:nvSpPr>
          <p:spPr>
            <a:xfrm>
              <a:off x="5799708" y="1609468"/>
              <a:ext cx="349885" cy="354965"/>
            </a:xfrm>
            <a:custGeom>
              <a:avLst/>
              <a:gdLst/>
              <a:ahLst/>
              <a:cxnLst/>
              <a:rect l="l" t="t" r="r" b="b"/>
              <a:pathLst>
                <a:path w="349885" h="354964">
                  <a:moveTo>
                    <a:pt x="284099" y="0"/>
                  </a:moveTo>
                  <a:lnTo>
                    <a:pt x="0" y="228091"/>
                  </a:lnTo>
                  <a:lnTo>
                    <a:pt x="29650" y="262695"/>
                  </a:lnTo>
                  <a:lnTo>
                    <a:pt x="61372" y="295370"/>
                  </a:lnTo>
                  <a:lnTo>
                    <a:pt x="95047" y="325997"/>
                  </a:lnTo>
                  <a:lnTo>
                    <a:pt x="130555" y="354456"/>
                  </a:lnTo>
                  <a:lnTo>
                    <a:pt x="349376" y="63118"/>
                  </a:lnTo>
                  <a:lnTo>
                    <a:pt x="331622" y="48916"/>
                  </a:lnTo>
                  <a:lnTo>
                    <a:pt x="314785" y="33607"/>
                  </a:lnTo>
                  <a:lnTo>
                    <a:pt x="298924" y="17273"/>
                  </a:lnTo>
                  <a:lnTo>
                    <a:pt x="284099"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0" name="object 70">
              <a:extLst>
                <a:ext uri="{FF2B5EF4-FFF2-40B4-BE49-F238E27FC236}">
                  <a16:creationId xmlns:a16="http://schemas.microsoft.com/office/drawing/2014/main" id="{4B31AAC8-C646-4B61-4ED3-7CC696CD1D40}"/>
                </a:ext>
              </a:extLst>
            </p:cNvPr>
            <p:cNvSpPr/>
            <p:nvPr/>
          </p:nvSpPr>
          <p:spPr>
            <a:xfrm>
              <a:off x="5799708" y="1609468"/>
              <a:ext cx="349885" cy="354965"/>
            </a:xfrm>
            <a:custGeom>
              <a:avLst/>
              <a:gdLst/>
              <a:ahLst/>
              <a:cxnLst/>
              <a:rect l="l" t="t" r="r" b="b"/>
              <a:pathLst>
                <a:path w="349885" h="354964">
                  <a:moveTo>
                    <a:pt x="130555" y="354456"/>
                  </a:moveTo>
                  <a:lnTo>
                    <a:pt x="95047" y="325997"/>
                  </a:lnTo>
                  <a:lnTo>
                    <a:pt x="61372" y="295370"/>
                  </a:lnTo>
                  <a:lnTo>
                    <a:pt x="29650" y="262695"/>
                  </a:lnTo>
                  <a:lnTo>
                    <a:pt x="0" y="228091"/>
                  </a:lnTo>
                  <a:lnTo>
                    <a:pt x="4439" y="224528"/>
                  </a:lnTo>
                  <a:lnTo>
                    <a:pt x="35512" y="199580"/>
                  </a:lnTo>
                  <a:lnTo>
                    <a:pt x="119854" y="131865"/>
                  </a:lnTo>
                  <a:lnTo>
                    <a:pt x="284099" y="0"/>
                  </a:lnTo>
                  <a:lnTo>
                    <a:pt x="298924" y="17273"/>
                  </a:lnTo>
                  <a:lnTo>
                    <a:pt x="314785" y="33607"/>
                  </a:lnTo>
                  <a:lnTo>
                    <a:pt x="331622" y="48916"/>
                  </a:lnTo>
                  <a:lnTo>
                    <a:pt x="349376" y="63118"/>
                  </a:lnTo>
                  <a:lnTo>
                    <a:pt x="130555" y="35445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1" name="object 71">
              <a:extLst>
                <a:ext uri="{FF2B5EF4-FFF2-40B4-BE49-F238E27FC236}">
                  <a16:creationId xmlns:a16="http://schemas.microsoft.com/office/drawing/2014/main" id="{A2F59F6C-283D-0CE6-1405-23B5980EEDB3}"/>
                </a:ext>
              </a:extLst>
            </p:cNvPr>
            <p:cNvSpPr/>
            <p:nvPr/>
          </p:nvSpPr>
          <p:spPr>
            <a:xfrm>
              <a:off x="5639340" y="652650"/>
              <a:ext cx="728345" cy="1184910"/>
            </a:xfrm>
            <a:custGeom>
              <a:avLst/>
              <a:gdLst/>
              <a:ahLst/>
              <a:cxnLst/>
              <a:rect l="l" t="t" r="r" b="b"/>
              <a:pathLst>
                <a:path w="728345" h="1184910">
                  <a:moveTo>
                    <a:pt x="727550" y="0"/>
                  </a:moveTo>
                  <a:lnTo>
                    <a:pt x="678414" y="1719"/>
                  </a:lnTo>
                  <a:lnTo>
                    <a:pt x="629931" y="6687"/>
                  </a:lnTo>
                  <a:lnTo>
                    <a:pt x="582233" y="14820"/>
                  </a:lnTo>
                  <a:lnTo>
                    <a:pt x="535453" y="26032"/>
                  </a:lnTo>
                  <a:lnTo>
                    <a:pt x="489726" y="40241"/>
                  </a:lnTo>
                  <a:lnTo>
                    <a:pt x="445183" y="57361"/>
                  </a:lnTo>
                  <a:lnTo>
                    <a:pt x="401958" y="77308"/>
                  </a:lnTo>
                  <a:lnTo>
                    <a:pt x="360184" y="99999"/>
                  </a:lnTo>
                  <a:lnTo>
                    <a:pt x="319994" y="125349"/>
                  </a:lnTo>
                  <a:lnTo>
                    <a:pt x="281521" y="153273"/>
                  </a:lnTo>
                  <a:lnTo>
                    <a:pt x="244898" y="183689"/>
                  </a:lnTo>
                  <a:lnTo>
                    <a:pt x="210259" y="216510"/>
                  </a:lnTo>
                  <a:lnTo>
                    <a:pt x="177736" y="251654"/>
                  </a:lnTo>
                  <a:lnTo>
                    <a:pt x="147462" y="289035"/>
                  </a:lnTo>
                  <a:lnTo>
                    <a:pt x="119571" y="328571"/>
                  </a:lnTo>
                  <a:lnTo>
                    <a:pt x="94195" y="370175"/>
                  </a:lnTo>
                  <a:lnTo>
                    <a:pt x="71468" y="413766"/>
                  </a:lnTo>
                  <a:lnTo>
                    <a:pt x="51720" y="458783"/>
                  </a:lnTo>
                  <a:lnTo>
                    <a:pt x="35182" y="504622"/>
                  </a:lnTo>
                  <a:lnTo>
                    <a:pt x="21835" y="551127"/>
                  </a:lnTo>
                  <a:lnTo>
                    <a:pt x="11661" y="598140"/>
                  </a:lnTo>
                  <a:lnTo>
                    <a:pt x="4642" y="645506"/>
                  </a:lnTo>
                  <a:lnTo>
                    <a:pt x="761" y="693067"/>
                  </a:lnTo>
                  <a:lnTo>
                    <a:pt x="0" y="740667"/>
                  </a:lnTo>
                  <a:lnTo>
                    <a:pt x="2339" y="788151"/>
                  </a:lnTo>
                  <a:lnTo>
                    <a:pt x="7762" y="835360"/>
                  </a:lnTo>
                  <a:lnTo>
                    <a:pt x="16250" y="882139"/>
                  </a:lnTo>
                  <a:lnTo>
                    <a:pt x="27786" y="928332"/>
                  </a:lnTo>
                  <a:lnTo>
                    <a:pt x="42351" y="973781"/>
                  </a:lnTo>
                  <a:lnTo>
                    <a:pt x="59927" y="1018331"/>
                  </a:lnTo>
                  <a:lnTo>
                    <a:pt x="80497" y="1061824"/>
                  </a:lnTo>
                  <a:lnTo>
                    <a:pt x="104042" y="1104104"/>
                  </a:lnTo>
                  <a:lnTo>
                    <a:pt x="130545" y="1145016"/>
                  </a:lnTo>
                  <a:lnTo>
                    <a:pt x="159987" y="1184402"/>
                  </a:lnTo>
                  <a:lnTo>
                    <a:pt x="444213" y="956564"/>
                  </a:lnTo>
                  <a:lnTo>
                    <a:pt x="414712" y="913790"/>
                  </a:lnTo>
                  <a:lnTo>
                    <a:pt x="391891" y="867979"/>
                  </a:lnTo>
                  <a:lnTo>
                    <a:pt x="375836" y="819879"/>
                  </a:lnTo>
                  <a:lnTo>
                    <a:pt x="366632" y="770239"/>
                  </a:lnTo>
                  <a:lnTo>
                    <a:pt x="364363" y="719806"/>
                  </a:lnTo>
                  <a:lnTo>
                    <a:pt x="369115" y="669331"/>
                  </a:lnTo>
                  <a:lnTo>
                    <a:pt x="380971" y="619561"/>
                  </a:lnTo>
                  <a:lnTo>
                    <a:pt x="400017" y="571246"/>
                  </a:lnTo>
                  <a:lnTo>
                    <a:pt x="425765" y="526117"/>
                  </a:lnTo>
                  <a:lnTo>
                    <a:pt x="457149" y="485681"/>
                  </a:lnTo>
                  <a:lnTo>
                    <a:pt x="493531" y="450344"/>
                  </a:lnTo>
                  <a:lnTo>
                    <a:pt x="534272" y="420512"/>
                  </a:lnTo>
                  <a:lnTo>
                    <a:pt x="578734" y="396592"/>
                  </a:lnTo>
                  <a:lnTo>
                    <a:pt x="626278" y="378989"/>
                  </a:lnTo>
                  <a:lnTo>
                    <a:pt x="676265" y="368111"/>
                  </a:lnTo>
                  <a:lnTo>
                    <a:pt x="728058" y="364363"/>
                  </a:lnTo>
                  <a:lnTo>
                    <a:pt x="727550"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2" name="object 72">
              <a:extLst>
                <a:ext uri="{FF2B5EF4-FFF2-40B4-BE49-F238E27FC236}">
                  <a16:creationId xmlns:a16="http://schemas.microsoft.com/office/drawing/2014/main" id="{99221FEF-C94D-F9FF-F1B0-CF07A7F8436D}"/>
                </a:ext>
              </a:extLst>
            </p:cNvPr>
            <p:cNvSpPr/>
            <p:nvPr/>
          </p:nvSpPr>
          <p:spPr>
            <a:xfrm>
              <a:off x="5639340" y="652650"/>
              <a:ext cx="728345" cy="1184910"/>
            </a:xfrm>
            <a:custGeom>
              <a:avLst/>
              <a:gdLst/>
              <a:ahLst/>
              <a:cxnLst/>
              <a:rect l="l" t="t" r="r" b="b"/>
              <a:pathLst>
                <a:path w="728345" h="1184910">
                  <a:moveTo>
                    <a:pt x="159987" y="1184402"/>
                  </a:moveTo>
                  <a:lnTo>
                    <a:pt x="130545" y="1145016"/>
                  </a:lnTo>
                  <a:lnTo>
                    <a:pt x="104042" y="1104104"/>
                  </a:lnTo>
                  <a:lnTo>
                    <a:pt x="80497" y="1061824"/>
                  </a:lnTo>
                  <a:lnTo>
                    <a:pt x="59927" y="1018331"/>
                  </a:lnTo>
                  <a:lnTo>
                    <a:pt x="42351" y="973781"/>
                  </a:lnTo>
                  <a:lnTo>
                    <a:pt x="27786" y="928332"/>
                  </a:lnTo>
                  <a:lnTo>
                    <a:pt x="16250" y="882139"/>
                  </a:lnTo>
                  <a:lnTo>
                    <a:pt x="7762" y="835360"/>
                  </a:lnTo>
                  <a:lnTo>
                    <a:pt x="2339" y="788151"/>
                  </a:lnTo>
                  <a:lnTo>
                    <a:pt x="0" y="740667"/>
                  </a:lnTo>
                  <a:lnTo>
                    <a:pt x="761" y="693067"/>
                  </a:lnTo>
                  <a:lnTo>
                    <a:pt x="4642" y="645506"/>
                  </a:lnTo>
                  <a:lnTo>
                    <a:pt x="11661" y="598140"/>
                  </a:lnTo>
                  <a:lnTo>
                    <a:pt x="21835" y="551127"/>
                  </a:lnTo>
                  <a:lnTo>
                    <a:pt x="35182" y="504622"/>
                  </a:lnTo>
                  <a:lnTo>
                    <a:pt x="51720" y="458783"/>
                  </a:lnTo>
                  <a:lnTo>
                    <a:pt x="71468" y="413766"/>
                  </a:lnTo>
                  <a:lnTo>
                    <a:pt x="94195" y="370175"/>
                  </a:lnTo>
                  <a:lnTo>
                    <a:pt x="119571" y="328571"/>
                  </a:lnTo>
                  <a:lnTo>
                    <a:pt x="147462" y="289035"/>
                  </a:lnTo>
                  <a:lnTo>
                    <a:pt x="177736" y="251654"/>
                  </a:lnTo>
                  <a:lnTo>
                    <a:pt x="210259" y="216510"/>
                  </a:lnTo>
                  <a:lnTo>
                    <a:pt x="244898" y="183689"/>
                  </a:lnTo>
                  <a:lnTo>
                    <a:pt x="281521" y="153273"/>
                  </a:lnTo>
                  <a:lnTo>
                    <a:pt x="319994" y="125349"/>
                  </a:lnTo>
                  <a:lnTo>
                    <a:pt x="360184" y="99999"/>
                  </a:lnTo>
                  <a:lnTo>
                    <a:pt x="401958" y="77308"/>
                  </a:lnTo>
                  <a:lnTo>
                    <a:pt x="445183" y="57361"/>
                  </a:lnTo>
                  <a:lnTo>
                    <a:pt x="489726" y="40241"/>
                  </a:lnTo>
                  <a:lnTo>
                    <a:pt x="535453" y="26032"/>
                  </a:lnTo>
                  <a:lnTo>
                    <a:pt x="582233" y="14820"/>
                  </a:lnTo>
                  <a:lnTo>
                    <a:pt x="629931" y="6687"/>
                  </a:lnTo>
                  <a:lnTo>
                    <a:pt x="678414" y="1719"/>
                  </a:lnTo>
                  <a:lnTo>
                    <a:pt x="727550" y="0"/>
                  </a:lnTo>
                  <a:lnTo>
                    <a:pt x="727558" y="5693"/>
                  </a:lnTo>
                  <a:lnTo>
                    <a:pt x="727614" y="45545"/>
                  </a:lnTo>
                  <a:lnTo>
                    <a:pt x="727765" y="153715"/>
                  </a:lnTo>
                  <a:lnTo>
                    <a:pt x="728058" y="364363"/>
                  </a:lnTo>
                  <a:lnTo>
                    <a:pt x="676265" y="368111"/>
                  </a:lnTo>
                  <a:lnTo>
                    <a:pt x="626278" y="378989"/>
                  </a:lnTo>
                  <a:lnTo>
                    <a:pt x="578734" y="396592"/>
                  </a:lnTo>
                  <a:lnTo>
                    <a:pt x="534272" y="420512"/>
                  </a:lnTo>
                  <a:lnTo>
                    <a:pt x="493531" y="450344"/>
                  </a:lnTo>
                  <a:lnTo>
                    <a:pt x="457149" y="485681"/>
                  </a:lnTo>
                  <a:lnTo>
                    <a:pt x="425765" y="526117"/>
                  </a:lnTo>
                  <a:lnTo>
                    <a:pt x="400017" y="571246"/>
                  </a:lnTo>
                  <a:lnTo>
                    <a:pt x="380971" y="619561"/>
                  </a:lnTo>
                  <a:lnTo>
                    <a:pt x="369115" y="669331"/>
                  </a:lnTo>
                  <a:lnTo>
                    <a:pt x="364363" y="719806"/>
                  </a:lnTo>
                  <a:lnTo>
                    <a:pt x="366632" y="770239"/>
                  </a:lnTo>
                  <a:lnTo>
                    <a:pt x="375836" y="819879"/>
                  </a:lnTo>
                  <a:lnTo>
                    <a:pt x="391891" y="867979"/>
                  </a:lnTo>
                  <a:lnTo>
                    <a:pt x="414712" y="913790"/>
                  </a:lnTo>
                  <a:lnTo>
                    <a:pt x="444213" y="956564"/>
                  </a:lnTo>
                  <a:lnTo>
                    <a:pt x="159987" y="118440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50" name="Group 49">
            <a:extLst>
              <a:ext uri="{FF2B5EF4-FFF2-40B4-BE49-F238E27FC236}">
                <a16:creationId xmlns:a16="http://schemas.microsoft.com/office/drawing/2014/main" id="{53D6CFF5-22CC-EE40-8D0D-2D1A7021C24D}"/>
              </a:ext>
            </a:extLst>
          </p:cNvPr>
          <p:cNvGrpSpPr>
            <a:grpSpLocks noChangeAspect="1"/>
          </p:cNvGrpSpPr>
          <p:nvPr/>
        </p:nvGrpSpPr>
        <p:grpSpPr>
          <a:xfrm>
            <a:off x="2467787" y="3455744"/>
            <a:ext cx="4058437" cy="1620001"/>
            <a:chOff x="3029324" y="3818512"/>
            <a:chExt cx="4067689" cy="1623698"/>
          </a:xfrm>
        </p:grpSpPr>
        <p:grpSp>
          <p:nvGrpSpPr>
            <p:cNvPr id="29" name="object 29">
              <a:extLst>
                <a:ext uri="{FF2B5EF4-FFF2-40B4-BE49-F238E27FC236}">
                  <a16:creationId xmlns:a16="http://schemas.microsoft.com/office/drawing/2014/main" id="{492E6736-6887-70AE-7AB4-E73E2F76DCD2}"/>
                </a:ext>
              </a:extLst>
            </p:cNvPr>
            <p:cNvGrpSpPr/>
            <p:nvPr/>
          </p:nvGrpSpPr>
          <p:grpSpPr>
            <a:xfrm>
              <a:off x="3069463" y="4063238"/>
              <a:ext cx="108585" cy="1365250"/>
              <a:chOff x="3069463" y="3537328"/>
              <a:chExt cx="108585" cy="1365250"/>
            </a:xfrm>
          </p:grpSpPr>
          <p:sp>
            <p:nvSpPr>
              <p:cNvPr id="30" name="object 30">
                <a:extLst>
                  <a:ext uri="{FF2B5EF4-FFF2-40B4-BE49-F238E27FC236}">
                    <a16:creationId xmlns:a16="http://schemas.microsoft.com/office/drawing/2014/main" id="{0FB65285-BC4D-E02F-0314-500894B457B9}"/>
                  </a:ext>
                </a:extLst>
              </p:cNvPr>
              <p:cNvSpPr/>
              <p:nvPr/>
            </p:nvSpPr>
            <p:spPr>
              <a:xfrm>
                <a:off x="3069463" y="35373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1">
                <a:extLst>
                  <a:ext uri="{FF2B5EF4-FFF2-40B4-BE49-F238E27FC236}">
                    <a16:creationId xmlns:a16="http://schemas.microsoft.com/office/drawing/2014/main" id="{8B4268CD-E8D9-82A9-4B57-92EC1371D1F0}"/>
                  </a:ext>
                </a:extLst>
              </p:cNvPr>
              <p:cNvSpPr/>
              <p:nvPr/>
            </p:nvSpPr>
            <p:spPr>
              <a:xfrm>
                <a:off x="3069463" y="36770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32">
                <a:extLst>
                  <a:ext uri="{FF2B5EF4-FFF2-40B4-BE49-F238E27FC236}">
                    <a16:creationId xmlns:a16="http://schemas.microsoft.com/office/drawing/2014/main" id="{2EAA2BDC-45E0-5FD6-7C84-86EF5E7F1C50}"/>
                  </a:ext>
                </a:extLst>
              </p:cNvPr>
              <p:cNvSpPr/>
              <p:nvPr/>
            </p:nvSpPr>
            <p:spPr>
              <a:xfrm>
                <a:off x="3069463" y="38167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3">
                <a:extLst>
                  <a:ext uri="{FF2B5EF4-FFF2-40B4-BE49-F238E27FC236}">
                    <a16:creationId xmlns:a16="http://schemas.microsoft.com/office/drawing/2014/main" id="{A79A0234-9ADC-7DEC-A4A6-099FCF5FF5B2}"/>
                  </a:ext>
                </a:extLst>
              </p:cNvPr>
              <p:cNvSpPr/>
              <p:nvPr/>
            </p:nvSpPr>
            <p:spPr>
              <a:xfrm>
                <a:off x="3069463" y="39564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4">
                <a:extLst>
                  <a:ext uri="{FF2B5EF4-FFF2-40B4-BE49-F238E27FC236}">
                    <a16:creationId xmlns:a16="http://schemas.microsoft.com/office/drawing/2014/main" id="{D91BFF72-D298-0DD0-8900-53341A223EA3}"/>
                  </a:ext>
                </a:extLst>
              </p:cNvPr>
              <p:cNvSpPr/>
              <p:nvPr/>
            </p:nvSpPr>
            <p:spPr>
              <a:xfrm>
                <a:off x="3069463" y="40961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35">
                <a:extLst>
                  <a:ext uri="{FF2B5EF4-FFF2-40B4-BE49-F238E27FC236}">
                    <a16:creationId xmlns:a16="http://schemas.microsoft.com/office/drawing/2014/main" id="{52B554F4-17EF-D84D-056A-930FB96E848B}"/>
                  </a:ext>
                </a:extLst>
              </p:cNvPr>
              <p:cNvSpPr/>
              <p:nvPr/>
            </p:nvSpPr>
            <p:spPr>
              <a:xfrm>
                <a:off x="3069463" y="42358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36">
                <a:extLst>
                  <a:ext uri="{FF2B5EF4-FFF2-40B4-BE49-F238E27FC236}">
                    <a16:creationId xmlns:a16="http://schemas.microsoft.com/office/drawing/2014/main" id="{1854FB26-0AE9-D38D-52A6-82C39C2D1524}"/>
                  </a:ext>
                </a:extLst>
              </p:cNvPr>
              <p:cNvSpPr/>
              <p:nvPr/>
            </p:nvSpPr>
            <p:spPr>
              <a:xfrm>
                <a:off x="3069463" y="43755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37">
                <a:extLst>
                  <a:ext uri="{FF2B5EF4-FFF2-40B4-BE49-F238E27FC236}">
                    <a16:creationId xmlns:a16="http://schemas.microsoft.com/office/drawing/2014/main" id="{46AC32F1-C24F-683E-5DB9-156F4ED5AA5F}"/>
                  </a:ext>
                </a:extLst>
              </p:cNvPr>
              <p:cNvSpPr/>
              <p:nvPr/>
            </p:nvSpPr>
            <p:spPr>
              <a:xfrm>
                <a:off x="3069463" y="45152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8">
                <a:extLst>
                  <a:ext uri="{FF2B5EF4-FFF2-40B4-BE49-F238E27FC236}">
                    <a16:creationId xmlns:a16="http://schemas.microsoft.com/office/drawing/2014/main" id="{DFF01E4F-0718-6FB9-5437-1D348BDDA838}"/>
                  </a:ext>
                </a:extLst>
              </p:cNvPr>
              <p:cNvSpPr/>
              <p:nvPr/>
            </p:nvSpPr>
            <p:spPr>
              <a:xfrm>
                <a:off x="3069463" y="46549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39">
                <a:extLst>
                  <a:ext uri="{FF2B5EF4-FFF2-40B4-BE49-F238E27FC236}">
                    <a16:creationId xmlns:a16="http://schemas.microsoft.com/office/drawing/2014/main" id="{B9841A07-1E16-4135-697F-5F77388CF8CF}"/>
                  </a:ext>
                </a:extLst>
              </p:cNvPr>
              <p:cNvSpPr/>
              <p:nvPr/>
            </p:nvSpPr>
            <p:spPr>
              <a:xfrm>
                <a:off x="3069463" y="47946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0" name="object 40">
              <a:extLst>
                <a:ext uri="{FF2B5EF4-FFF2-40B4-BE49-F238E27FC236}">
                  <a16:creationId xmlns:a16="http://schemas.microsoft.com/office/drawing/2014/main" id="{8083A821-0587-FAFE-5D34-E4F3442C53D6}"/>
                </a:ext>
              </a:extLst>
            </p:cNvPr>
            <p:cNvSpPr txBox="1"/>
            <p:nvPr/>
          </p:nvSpPr>
          <p:spPr>
            <a:xfrm>
              <a:off x="3305175" y="4019810"/>
              <a:ext cx="977265" cy="1422400"/>
            </a:xfrm>
            <a:prstGeom prst="rect">
              <a:avLst/>
            </a:prstGeom>
          </p:spPr>
          <p:txBody>
            <a:bodyPr vert="horz" wrap="square" lIns="0" tIns="30480" rIns="0" bIns="0" rtlCol="0">
              <a:spAutoFit/>
            </a:bodyPr>
            <a:lstStyle/>
            <a:p>
              <a:pPr marL="12700" marR="0" lvl="0" indent="0" defTabSz="914400" eaLnBrk="1" fontAlgn="auto" latinLnBrk="0" hangingPunct="1">
                <a:lnSpc>
                  <a:spcPct val="100000"/>
                </a:lnSpc>
                <a:spcBef>
                  <a:spcPts val="240"/>
                </a:spcBef>
                <a:spcAft>
                  <a:spcPts val="0"/>
                </a:spcAft>
                <a:buClrTx/>
                <a:buSzTx/>
                <a:buFontTx/>
                <a:buNone/>
                <a:tabLst/>
                <a:defRPr/>
              </a:pPr>
              <a:r>
                <a:rPr kumimoji="0" sz="800" b="0" i="0" u="none" strike="noStrike" kern="0" cap="none" spc="-25" normalizeH="0" baseline="0" noProof="0">
                  <a:ln>
                    <a:noFill/>
                  </a:ln>
                  <a:solidFill>
                    <a:srgbClr val="142764"/>
                  </a:solidFill>
                  <a:effectLst/>
                  <a:uLnTx/>
                  <a:uFillTx/>
                  <a:latin typeface="Zurich Sans Light"/>
                  <a:cs typeface="Zurich Sans Light"/>
                </a:rPr>
                <a:t>USA</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383540"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Saudi </a:t>
              </a:r>
              <a:r>
                <a:rPr kumimoji="0" sz="800" b="0" i="0" u="none" strike="noStrike" kern="0" cap="none" spc="-10" normalizeH="0" baseline="0" noProof="0">
                  <a:ln>
                    <a:noFill/>
                  </a:ln>
                  <a:solidFill>
                    <a:srgbClr val="142764"/>
                  </a:solidFill>
                  <a:effectLst/>
                  <a:uLnTx/>
                  <a:uFillTx/>
                  <a:latin typeface="Zurich Sans Light"/>
                  <a:cs typeface="Zurich Sans Light"/>
                </a:rPr>
                <a:t>Arabia</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Indonesia</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Philippines</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Chile</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574675"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Peru</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Turkey</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Uruguay</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5080"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United Arab </a:t>
              </a:r>
              <a:r>
                <a:rPr kumimoji="0" sz="800" b="0" i="0" u="none" strike="noStrike" kern="0" cap="none" spc="-10" normalizeH="0" baseline="0" noProof="0">
                  <a:ln>
                    <a:noFill/>
                  </a:ln>
                  <a:solidFill>
                    <a:srgbClr val="142764"/>
                  </a:solidFill>
                  <a:effectLst/>
                  <a:uLnTx/>
                  <a:uFillTx/>
                  <a:latin typeface="Zurich Sans Light"/>
                  <a:cs typeface="Zurich Sans Light"/>
                </a:rPr>
                <a:t>Emirates</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Other</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1" name="object 41">
              <a:extLst>
                <a:ext uri="{FF2B5EF4-FFF2-40B4-BE49-F238E27FC236}">
                  <a16:creationId xmlns:a16="http://schemas.microsoft.com/office/drawing/2014/main" id="{02A8CE7B-D700-A277-CEF0-CA3A1F7235E8}"/>
                </a:ext>
              </a:extLst>
            </p:cNvPr>
            <p:cNvSpPr txBox="1"/>
            <p:nvPr/>
          </p:nvSpPr>
          <p:spPr>
            <a:xfrm>
              <a:off x="5096383" y="4019810"/>
              <a:ext cx="356235" cy="1422400"/>
            </a:xfrm>
            <a:prstGeom prst="rect">
              <a:avLst/>
            </a:prstGeom>
          </p:spPr>
          <p:txBody>
            <a:bodyPr vert="horz" wrap="square" lIns="0" tIns="30480" rIns="0" bIns="0" rtlCol="0">
              <a:spAutoFit/>
            </a:bodyPr>
            <a:lstStyle/>
            <a:p>
              <a:pPr marL="0" marR="5080" lvl="0" indent="0" algn="r" defTabSz="914400" eaLnBrk="1" fontAlgn="auto" latinLnBrk="0" hangingPunct="1">
                <a:lnSpc>
                  <a:spcPct val="100000"/>
                </a:lnSpc>
                <a:spcBef>
                  <a:spcPts val="2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10.30%</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9.50%</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6.32%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6.18%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4.97%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4.12%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3.97%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3.67%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3.55%</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48.42%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2" name="object 42">
              <a:extLst>
                <a:ext uri="{FF2B5EF4-FFF2-40B4-BE49-F238E27FC236}">
                  <a16:creationId xmlns:a16="http://schemas.microsoft.com/office/drawing/2014/main" id="{271B637D-1DEF-DBF9-3B04-1F77C44C50F5}"/>
                </a:ext>
              </a:extLst>
            </p:cNvPr>
            <p:cNvSpPr txBox="1"/>
            <p:nvPr/>
          </p:nvSpPr>
          <p:spPr>
            <a:xfrm>
              <a:off x="3029324" y="3818512"/>
              <a:ext cx="2452370" cy="189796"/>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Geographic</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Split</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10" normalizeH="0" baseline="0" noProof="0">
                  <a:ln>
                    <a:noFill/>
                  </a:ln>
                  <a:solidFill>
                    <a:srgbClr val="004E9E"/>
                  </a:solidFill>
                  <a:effectLst/>
                  <a:uLnTx/>
                  <a:uFillTx/>
                  <a:latin typeface="Zurich Sans"/>
                  <a:cs typeface="Zurich Sans"/>
                </a:rPr>
                <a:t>28</a:t>
              </a:r>
              <a:r>
                <a:rPr kumimoji="0" sz="900" b="1" i="0" u="none" strike="noStrike" kern="0" cap="none" spc="-10" normalizeH="0" baseline="0" noProof="0">
                  <a:ln>
                    <a:noFill/>
                  </a:ln>
                  <a:solidFill>
                    <a:srgbClr val="004E9E"/>
                  </a:solidFill>
                  <a:effectLst/>
                  <a:uLnTx/>
                  <a:uFillTx/>
                  <a:latin typeface="Zurich Sans"/>
                  <a:cs typeface="Zurich Sans"/>
                </a:rPr>
                <a:t>/</a:t>
              </a:r>
              <a:r>
                <a:rPr kumimoji="0" lang="en-GB" sz="900" b="1" i="0" u="none" strike="noStrike" kern="0" cap="none" spc="-10" normalizeH="0" baseline="0" noProof="0">
                  <a:ln>
                    <a:noFill/>
                  </a:ln>
                  <a:solidFill>
                    <a:srgbClr val="004E9E"/>
                  </a:solidFill>
                  <a:effectLst/>
                  <a:uLnTx/>
                  <a:uFillTx/>
                  <a:latin typeface="Zurich Sans"/>
                  <a:cs typeface="Zurich Sans"/>
                </a:rPr>
                <a:t>02</a:t>
              </a:r>
              <a:r>
                <a:rPr kumimoji="0" sz="900" b="1" i="0" u="none" strike="noStrike" kern="0" cap="none" spc="-10" normalizeH="0" baseline="0" noProof="0">
                  <a:ln>
                    <a:noFill/>
                  </a:ln>
                  <a:solidFill>
                    <a:srgbClr val="004E9E"/>
                  </a:solidFill>
                  <a:effectLst/>
                  <a:uLnTx/>
                  <a:uFillTx/>
                  <a:latin typeface="Zurich Sans"/>
                  <a:cs typeface="Zurich Sans"/>
                </a:rPr>
                <a:t>/202</a:t>
              </a:r>
              <a:r>
                <a:rPr kumimoji="0" lang="en-GB" sz="900" b="1" i="0" u="none" strike="noStrike" kern="0" cap="none" spc="-10" normalizeH="0" baseline="0" noProof="0">
                  <a:ln>
                    <a:noFill/>
                  </a:ln>
                  <a:solidFill>
                    <a:srgbClr val="004E9E"/>
                  </a:solidFill>
                  <a:effectLst/>
                  <a:uLnTx/>
                  <a:uFillTx/>
                  <a:latin typeface="Zurich Sans"/>
                  <a:cs typeface="Zurich Sans"/>
                </a:rPr>
                <a:t>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p:txBody>
        </p:sp>
        <p:grpSp>
          <p:nvGrpSpPr>
            <p:cNvPr id="73" name="object 73">
              <a:extLst>
                <a:ext uri="{FF2B5EF4-FFF2-40B4-BE49-F238E27FC236}">
                  <a16:creationId xmlns:a16="http://schemas.microsoft.com/office/drawing/2014/main" id="{467ADAED-D386-637D-2379-9EFB0664C6E1}"/>
                </a:ext>
              </a:extLst>
            </p:cNvPr>
            <p:cNvGrpSpPr/>
            <p:nvPr/>
          </p:nvGrpSpPr>
          <p:grpSpPr>
            <a:xfrm>
              <a:off x="5639197" y="3967353"/>
              <a:ext cx="1457816" cy="1457706"/>
              <a:chOff x="5639197" y="3441443"/>
              <a:chExt cx="1457816" cy="1457706"/>
            </a:xfrm>
          </p:grpSpPr>
          <p:sp>
            <p:nvSpPr>
              <p:cNvPr id="74" name="object 74">
                <a:extLst>
                  <a:ext uri="{FF2B5EF4-FFF2-40B4-BE49-F238E27FC236}">
                    <a16:creationId xmlns:a16="http://schemas.microsoft.com/office/drawing/2014/main" id="{39300340-742F-E288-F61C-46B89C83D22B}"/>
                  </a:ext>
                </a:extLst>
              </p:cNvPr>
              <p:cNvSpPr/>
              <p:nvPr/>
            </p:nvSpPr>
            <p:spPr>
              <a:xfrm>
                <a:off x="6367779" y="3441443"/>
                <a:ext cx="435609" cy="436880"/>
              </a:xfrm>
              <a:custGeom>
                <a:avLst/>
                <a:gdLst/>
                <a:ahLst/>
                <a:cxnLst/>
                <a:rect l="l" t="t" r="r" b="b"/>
                <a:pathLst>
                  <a:path w="435609" h="436879">
                    <a:moveTo>
                      <a:pt x="0" y="0"/>
                    </a:moveTo>
                    <a:lnTo>
                      <a:pt x="0" y="364362"/>
                    </a:lnTo>
                    <a:lnTo>
                      <a:pt x="46742" y="367365"/>
                    </a:lnTo>
                    <a:lnTo>
                      <a:pt x="92423" y="376250"/>
                    </a:lnTo>
                    <a:lnTo>
                      <a:pt x="136501" y="390834"/>
                    </a:lnTo>
                    <a:lnTo>
                      <a:pt x="178433" y="410936"/>
                    </a:lnTo>
                    <a:lnTo>
                      <a:pt x="217677" y="436372"/>
                    </a:lnTo>
                    <a:lnTo>
                      <a:pt x="435228" y="144145"/>
                    </a:lnTo>
                    <a:lnTo>
                      <a:pt x="392315" y="114550"/>
                    </a:lnTo>
                    <a:lnTo>
                      <a:pt x="347603" y="88206"/>
                    </a:lnTo>
                    <a:lnTo>
                      <a:pt x="301281" y="65174"/>
                    </a:lnTo>
                    <a:lnTo>
                      <a:pt x="253535" y="45517"/>
                    </a:lnTo>
                    <a:lnTo>
                      <a:pt x="204553" y="29295"/>
                    </a:lnTo>
                    <a:lnTo>
                      <a:pt x="154521" y="16571"/>
                    </a:lnTo>
                    <a:lnTo>
                      <a:pt x="103627" y="7406"/>
                    </a:lnTo>
                    <a:lnTo>
                      <a:pt x="52057" y="1861"/>
                    </a:lnTo>
                    <a:lnTo>
                      <a:pt x="0"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5" name="object 75">
                <a:extLst>
                  <a:ext uri="{FF2B5EF4-FFF2-40B4-BE49-F238E27FC236}">
                    <a16:creationId xmlns:a16="http://schemas.microsoft.com/office/drawing/2014/main" id="{C1CE96DE-13D5-A3D9-23CF-EDD380635B59}"/>
                  </a:ext>
                </a:extLst>
              </p:cNvPr>
              <p:cNvSpPr/>
              <p:nvPr/>
            </p:nvSpPr>
            <p:spPr>
              <a:xfrm>
                <a:off x="6585711" y="3585969"/>
                <a:ext cx="469265" cy="462915"/>
              </a:xfrm>
              <a:custGeom>
                <a:avLst/>
                <a:gdLst/>
                <a:ahLst/>
                <a:cxnLst/>
                <a:rect l="l" t="t" r="r" b="b"/>
                <a:pathLst>
                  <a:path w="469265" h="462914">
                    <a:moveTo>
                      <a:pt x="217805" y="0"/>
                    </a:moveTo>
                    <a:lnTo>
                      <a:pt x="0" y="292100"/>
                    </a:lnTo>
                    <a:lnTo>
                      <a:pt x="40683" y="327394"/>
                    </a:lnTo>
                    <a:lnTo>
                      <a:pt x="75533" y="368046"/>
                    </a:lnTo>
                    <a:lnTo>
                      <a:pt x="104048" y="413365"/>
                    </a:lnTo>
                    <a:lnTo>
                      <a:pt x="125730" y="462660"/>
                    </a:lnTo>
                    <a:lnTo>
                      <a:pt x="469138" y="341122"/>
                    </a:lnTo>
                    <a:lnTo>
                      <a:pt x="451650" y="296443"/>
                    </a:lnTo>
                    <a:lnTo>
                      <a:pt x="431339" y="253168"/>
                    </a:lnTo>
                    <a:lnTo>
                      <a:pt x="408295" y="211422"/>
                    </a:lnTo>
                    <a:lnTo>
                      <a:pt x="382611" y="171328"/>
                    </a:lnTo>
                    <a:lnTo>
                      <a:pt x="354378" y="133010"/>
                    </a:lnTo>
                    <a:lnTo>
                      <a:pt x="323690" y="96595"/>
                    </a:lnTo>
                    <a:lnTo>
                      <a:pt x="290636" y="62205"/>
                    </a:lnTo>
                    <a:lnTo>
                      <a:pt x="255311" y="29965"/>
                    </a:lnTo>
                    <a:lnTo>
                      <a:pt x="217805"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6" name="object 76">
                <a:extLst>
                  <a:ext uri="{FF2B5EF4-FFF2-40B4-BE49-F238E27FC236}">
                    <a16:creationId xmlns:a16="http://schemas.microsoft.com/office/drawing/2014/main" id="{2C36D10E-5273-1D20-51A9-76F411308E10}"/>
                  </a:ext>
                </a:extLst>
              </p:cNvPr>
              <p:cNvSpPr/>
              <p:nvPr/>
            </p:nvSpPr>
            <p:spPr>
              <a:xfrm>
                <a:off x="6585711" y="3585969"/>
                <a:ext cx="469265" cy="462915"/>
              </a:xfrm>
              <a:custGeom>
                <a:avLst/>
                <a:gdLst/>
                <a:ahLst/>
                <a:cxnLst/>
                <a:rect l="l" t="t" r="r" b="b"/>
                <a:pathLst>
                  <a:path w="469265" h="462914">
                    <a:moveTo>
                      <a:pt x="217805" y="0"/>
                    </a:moveTo>
                    <a:lnTo>
                      <a:pt x="255311" y="29965"/>
                    </a:lnTo>
                    <a:lnTo>
                      <a:pt x="290636" y="62205"/>
                    </a:lnTo>
                    <a:lnTo>
                      <a:pt x="323690" y="96595"/>
                    </a:lnTo>
                    <a:lnTo>
                      <a:pt x="354378" y="133010"/>
                    </a:lnTo>
                    <a:lnTo>
                      <a:pt x="382611" y="171328"/>
                    </a:lnTo>
                    <a:lnTo>
                      <a:pt x="408295" y="211422"/>
                    </a:lnTo>
                    <a:lnTo>
                      <a:pt x="431339" y="253168"/>
                    </a:lnTo>
                    <a:lnTo>
                      <a:pt x="451650" y="296443"/>
                    </a:lnTo>
                    <a:lnTo>
                      <a:pt x="469138" y="341122"/>
                    </a:lnTo>
                    <a:lnTo>
                      <a:pt x="463772" y="343021"/>
                    </a:lnTo>
                    <a:lnTo>
                      <a:pt x="426212" y="356314"/>
                    </a:lnTo>
                    <a:lnTo>
                      <a:pt x="324262" y="392396"/>
                    </a:lnTo>
                    <a:lnTo>
                      <a:pt x="125730" y="462660"/>
                    </a:lnTo>
                    <a:lnTo>
                      <a:pt x="104048" y="413365"/>
                    </a:lnTo>
                    <a:lnTo>
                      <a:pt x="75533" y="368046"/>
                    </a:lnTo>
                    <a:lnTo>
                      <a:pt x="40683" y="327394"/>
                    </a:lnTo>
                    <a:lnTo>
                      <a:pt x="0" y="292100"/>
                    </a:lnTo>
                    <a:lnTo>
                      <a:pt x="217805" y="0"/>
                    </a:lnTo>
                    <a:close/>
                  </a:path>
                </a:pathLst>
              </a:custGeom>
              <a:ln w="9524">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7" name="object 77">
                <a:extLst>
                  <a:ext uri="{FF2B5EF4-FFF2-40B4-BE49-F238E27FC236}">
                    <a16:creationId xmlns:a16="http://schemas.microsoft.com/office/drawing/2014/main" id="{B3F8D89C-F2BE-FDDD-2CE1-BEA24724DA79}"/>
                  </a:ext>
                </a:extLst>
              </p:cNvPr>
              <p:cNvSpPr/>
              <p:nvPr/>
            </p:nvSpPr>
            <p:spPr>
              <a:xfrm>
                <a:off x="6711568" y="3927726"/>
                <a:ext cx="385445" cy="281305"/>
              </a:xfrm>
              <a:custGeom>
                <a:avLst/>
                <a:gdLst/>
                <a:ahLst/>
                <a:cxnLst/>
                <a:rect l="l" t="t" r="r" b="b"/>
                <a:pathLst>
                  <a:path w="385445" h="281304">
                    <a:moveTo>
                      <a:pt x="343534" y="0"/>
                    </a:moveTo>
                    <a:lnTo>
                      <a:pt x="0" y="121157"/>
                    </a:lnTo>
                    <a:lnTo>
                      <a:pt x="10209" y="155428"/>
                    </a:lnTo>
                    <a:lnTo>
                      <a:pt x="17002" y="190436"/>
                    </a:lnTo>
                    <a:lnTo>
                      <a:pt x="20341" y="225921"/>
                    </a:lnTo>
                    <a:lnTo>
                      <a:pt x="20192" y="261620"/>
                    </a:lnTo>
                    <a:lnTo>
                      <a:pt x="383921" y="280924"/>
                    </a:lnTo>
                    <a:lnTo>
                      <a:pt x="384898" y="233259"/>
                    </a:lnTo>
                    <a:lnTo>
                      <a:pt x="382763" y="185739"/>
                    </a:lnTo>
                    <a:lnTo>
                      <a:pt x="377539" y="138509"/>
                    </a:lnTo>
                    <a:lnTo>
                      <a:pt x="369245" y="91712"/>
                    </a:lnTo>
                    <a:lnTo>
                      <a:pt x="357903" y="45494"/>
                    </a:lnTo>
                    <a:lnTo>
                      <a:pt x="343534"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8" name="object 78">
                <a:extLst>
                  <a:ext uri="{FF2B5EF4-FFF2-40B4-BE49-F238E27FC236}">
                    <a16:creationId xmlns:a16="http://schemas.microsoft.com/office/drawing/2014/main" id="{B9635C32-7582-61ED-5143-B53163AF1953}"/>
                  </a:ext>
                </a:extLst>
              </p:cNvPr>
              <p:cNvSpPr/>
              <p:nvPr/>
            </p:nvSpPr>
            <p:spPr>
              <a:xfrm>
                <a:off x="6711568" y="3927726"/>
                <a:ext cx="385445" cy="281305"/>
              </a:xfrm>
              <a:custGeom>
                <a:avLst/>
                <a:gdLst/>
                <a:ahLst/>
                <a:cxnLst/>
                <a:rect l="l" t="t" r="r" b="b"/>
                <a:pathLst>
                  <a:path w="385445" h="281304">
                    <a:moveTo>
                      <a:pt x="343534" y="0"/>
                    </a:moveTo>
                    <a:lnTo>
                      <a:pt x="357903" y="45494"/>
                    </a:lnTo>
                    <a:lnTo>
                      <a:pt x="369245" y="91712"/>
                    </a:lnTo>
                    <a:lnTo>
                      <a:pt x="377539" y="138509"/>
                    </a:lnTo>
                    <a:lnTo>
                      <a:pt x="382763" y="185739"/>
                    </a:lnTo>
                    <a:lnTo>
                      <a:pt x="384898" y="233259"/>
                    </a:lnTo>
                    <a:lnTo>
                      <a:pt x="383921" y="280924"/>
                    </a:lnTo>
                    <a:lnTo>
                      <a:pt x="378237" y="280622"/>
                    </a:lnTo>
                    <a:lnTo>
                      <a:pt x="338454" y="278511"/>
                    </a:lnTo>
                    <a:lnTo>
                      <a:pt x="230473" y="272780"/>
                    </a:lnTo>
                    <a:lnTo>
                      <a:pt x="20192" y="261620"/>
                    </a:lnTo>
                    <a:lnTo>
                      <a:pt x="20341" y="225921"/>
                    </a:lnTo>
                    <a:lnTo>
                      <a:pt x="17002" y="190436"/>
                    </a:lnTo>
                    <a:lnTo>
                      <a:pt x="10209" y="155428"/>
                    </a:lnTo>
                    <a:lnTo>
                      <a:pt x="0" y="121157"/>
                    </a:lnTo>
                    <a:lnTo>
                      <a:pt x="343534" y="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9" name="object 79">
                <a:extLst>
                  <a:ext uri="{FF2B5EF4-FFF2-40B4-BE49-F238E27FC236}">
                    <a16:creationId xmlns:a16="http://schemas.microsoft.com/office/drawing/2014/main" id="{703A599A-0F43-89A3-34EB-2ADDDCF0551D}"/>
                  </a:ext>
                </a:extLst>
              </p:cNvPr>
              <p:cNvSpPr/>
              <p:nvPr/>
            </p:nvSpPr>
            <p:spPr>
              <a:xfrm>
                <a:off x="6697852" y="4189727"/>
                <a:ext cx="398145" cy="289560"/>
              </a:xfrm>
              <a:custGeom>
                <a:avLst/>
                <a:gdLst/>
                <a:ahLst/>
                <a:cxnLst/>
                <a:rect l="l" t="t" r="r" b="b"/>
                <a:pathLst>
                  <a:path w="398145" h="289560">
                    <a:moveTo>
                      <a:pt x="33908" y="0"/>
                    </a:moveTo>
                    <a:lnTo>
                      <a:pt x="30325" y="34843"/>
                    </a:lnTo>
                    <a:lnTo>
                      <a:pt x="23431" y="69103"/>
                    </a:lnTo>
                    <a:lnTo>
                      <a:pt x="13299" y="102530"/>
                    </a:lnTo>
                    <a:lnTo>
                      <a:pt x="0" y="134874"/>
                    </a:lnTo>
                    <a:lnTo>
                      <a:pt x="329946" y="289433"/>
                    </a:lnTo>
                    <a:lnTo>
                      <a:pt x="348365" y="246529"/>
                    </a:lnTo>
                    <a:lnTo>
                      <a:pt x="363977" y="202621"/>
                    </a:lnTo>
                    <a:lnTo>
                      <a:pt x="376745" y="157845"/>
                    </a:lnTo>
                    <a:lnTo>
                      <a:pt x="386635" y="112338"/>
                    </a:lnTo>
                    <a:lnTo>
                      <a:pt x="393610" y="66239"/>
                    </a:lnTo>
                    <a:lnTo>
                      <a:pt x="397637" y="19685"/>
                    </a:lnTo>
                    <a:lnTo>
                      <a:pt x="33908"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0" name="object 80">
                <a:extLst>
                  <a:ext uri="{FF2B5EF4-FFF2-40B4-BE49-F238E27FC236}">
                    <a16:creationId xmlns:a16="http://schemas.microsoft.com/office/drawing/2014/main" id="{B1BA66A9-6FEC-704F-6311-502E775E6FE4}"/>
                  </a:ext>
                </a:extLst>
              </p:cNvPr>
              <p:cNvSpPr/>
              <p:nvPr/>
            </p:nvSpPr>
            <p:spPr>
              <a:xfrm>
                <a:off x="6697852" y="4189727"/>
                <a:ext cx="398145" cy="289560"/>
              </a:xfrm>
              <a:custGeom>
                <a:avLst/>
                <a:gdLst/>
                <a:ahLst/>
                <a:cxnLst/>
                <a:rect l="l" t="t" r="r" b="b"/>
                <a:pathLst>
                  <a:path w="398145" h="289560">
                    <a:moveTo>
                      <a:pt x="397637" y="19685"/>
                    </a:moveTo>
                    <a:lnTo>
                      <a:pt x="393610" y="66239"/>
                    </a:lnTo>
                    <a:lnTo>
                      <a:pt x="386635" y="112338"/>
                    </a:lnTo>
                    <a:lnTo>
                      <a:pt x="376745" y="157845"/>
                    </a:lnTo>
                    <a:lnTo>
                      <a:pt x="363977" y="202621"/>
                    </a:lnTo>
                    <a:lnTo>
                      <a:pt x="348365" y="246529"/>
                    </a:lnTo>
                    <a:lnTo>
                      <a:pt x="329946" y="289433"/>
                    </a:lnTo>
                    <a:lnTo>
                      <a:pt x="324790" y="287018"/>
                    </a:lnTo>
                    <a:lnTo>
                      <a:pt x="288702" y="270113"/>
                    </a:lnTo>
                    <a:lnTo>
                      <a:pt x="190750" y="224228"/>
                    </a:lnTo>
                    <a:lnTo>
                      <a:pt x="0" y="134874"/>
                    </a:lnTo>
                    <a:lnTo>
                      <a:pt x="13299" y="102530"/>
                    </a:lnTo>
                    <a:lnTo>
                      <a:pt x="23431" y="69103"/>
                    </a:lnTo>
                    <a:lnTo>
                      <a:pt x="30325" y="34843"/>
                    </a:lnTo>
                    <a:lnTo>
                      <a:pt x="33908" y="0"/>
                    </a:lnTo>
                    <a:lnTo>
                      <a:pt x="397637" y="19685"/>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1" name="object 81">
                <a:extLst>
                  <a:ext uri="{FF2B5EF4-FFF2-40B4-BE49-F238E27FC236}">
                    <a16:creationId xmlns:a16="http://schemas.microsoft.com/office/drawing/2014/main" id="{94D96DD9-2C38-5BB6-1B39-48134DF462A2}"/>
                  </a:ext>
                </a:extLst>
              </p:cNvPr>
              <p:cNvSpPr/>
              <p:nvPr/>
            </p:nvSpPr>
            <p:spPr>
              <a:xfrm>
                <a:off x="6635241" y="4324982"/>
                <a:ext cx="392430" cy="340360"/>
              </a:xfrm>
              <a:custGeom>
                <a:avLst/>
                <a:gdLst/>
                <a:ahLst/>
                <a:cxnLst/>
                <a:rect l="l" t="t" r="r" b="b"/>
                <a:pathLst>
                  <a:path w="392429" h="340360">
                    <a:moveTo>
                      <a:pt x="62483" y="0"/>
                    </a:moveTo>
                    <a:lnTo>
                      <a:pt x="49541" y="24915"/>
                    </a:lnTo>
                    <a:lnTo>
                      <a:pt x="34766" y="48736"/>
                    </a:lnTo>
                    <a:lnTo>
                      <a:pt x="18228" y="71366"/>
                    </a:lnTo>
                    <a:lnTo>
                      <a:pt x="0" y="92709"/>
                    </a:lnTo>
                    <a:lnTo>
                      <a:pt x="267334" y="340232"/>
                    </a:lnTo>
                    <a:lnTo>
                      <a:pt x="303861" y="297598"/>
                    </a:lnTo>
                    <a:lnTo>
                      <a:pt x="336946" y="252333"/>
                    </a:lnTo>
                    <a:lnTo>
                      <a:pt x="366436" y="204662"/>
                    </a:lnTo>
                    <a:lnTo>
                      <a:pt x="392175" y="154812"/>
                    </a:lnTo>
                    <a:lnTo>
                      <a:pt x="62483"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2" name="object 82">
                <a:extLst>
                  <a:ext uri="{FF2B5EF4-FFF2-40B4-BE49-F238E27FC236}">
                    <a16:creationId xmlns:a16="http://schemas.microsoft.com/office/drawing/2014/main" id="{8AB885DE-F113-18CB-8532-EAA2F08E7CB7}"/>
                  </a:ext>
                </a:extLst>
              </p:cNvPr>
              <p:cNvSpPr/>
              <p:nvPr/>
            </p:nvSpPr>
            <p:spPr>
              <a:xfrm>
                <a:off x="6635241" y="4324982"/>
                <a:ext cx="392430" cy="340360"/>
              </a:xfrm>
              <a:custGeom>
                <a:avLst/>
                <a:gdLst/>
                <a:ahLst/>
                <a:cxnLst/>
                <a:rect l="l" t="t" r="r" b="b"/>
                <a:pathLst>
                  <a:path w="392429" h="340360">
                    <a:moveTo>
                      <a:pt x="392175" y="154812"/>
                    </a:moveTo>
                    <a:lnTo>
                      <a:pt x="366436" y="204662"/>
                    </a:lnTo>
                    <a:lnTo>
                      <a:pt x="336946" y="252333"/>
                    </a:lnTo>
                    <a:lnTo>
                      <a:pt x="303861" y="297598"/>
                    </a:lnTo>
                    <a:lnTo>
                      <a:pt x="267334" y="340232"/>
                    </a:lnTo>
                    <a:lnTo>
                      <a:pt x="263157" y="336365"/>
                    </a:lnTo>
                    <a:lnTo>
                      <a:pt x="233918" y="309292"/>
                    </a:lnTo>
                    <a:lnTo>
                      <a:pt x="154553" y="235809"/>
                    </a:lnTo>
                    <a:lnTo>
                      <a:pt x="0" y="92709"/>
                    </a:lnTo>
                    <a:lnTo>
                      <a:pt x="18228" y="71366"/>
                    </a:lnTo>
                    <a:lnTo>
                      <a:pt x="34766" y="48736"/>
                    </a:lnTo>
                    <a:lnTo>
                      <a:pt x="49541" y="24915"/>
                    </a:lnTo>
                    <a:lnTo>
                      <a:pt x="62483" y="0"/>
                    </a:lnTo>
                    <a:lnTo>
                      <a:pt x="392175" y="15481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3" name="object 83">
                <a:extLst>
                  <a:ext uri="{FF2B5EF4-FFF2-40B4-BE49-F238E27FC236}">
                    <a16:creationId xmlns:a16="http://schemas.microsoft.com/office/drawing/2014/main" id="{48697E05-CA20-AE21-BFFC-8C94CC0F4578}"/>
                  </a:ext>
                </a:extLst>
              </p:cNvPr>
              <p:cNvSpPr/>
              <p:nvPr/>
            </p:nvSpPr>
            <p:spPr>
              <a:xfrm>
                <a:off x="6563867" y="4417946"/>
                <a:ext cx="338455" cy="367030"/>
              </a:xfrm>
              <a:custGeom>
                <a:avLst/>
                <a:gdLst/>
                <a:ahLst/>
                <a:cxnLst/>
                <a:rect l="l" t="t" r="r" b="b"/>
                <a:pathLst>
                  <a:path w="338454" h="367029">
                    <a:moveTo>
                      <a:pt x="71120" y="0"/>
                    </a:moveTo>
                    <a:lnTo>
                      <a:pt x="54792" y="16517"/>
                    </a:lnTo>
                    <a:lnTo>
                      <a:pt x="37465" y="31940"/>
                    </a:lnTo>
                    <a:lnTo>
                      <a:pt x="19184" y="46220"/>
                    </a:lnTo>
                    <a:lnTo>
                      <a:pt x="0" y="59308"/>
                    </a:lnTo>
                    <a:lnTo>
                      <a:pt x="195960" y="366521"/>
                    </a:lnTo>
                    <a:lnTo>
                      <a:pt x="234277" y="340270"/>
                    </a:lnTo>
                    <a:lnTo>
                      <a:pt x="270843" y="311673"/>
                    </a:lnTo>
                    <a:lnTo>
                      <a:pt x="305528" y="280814"/>
                    </a:lnTo>
                    <a:lnTo>
                      <a:pt x="338200" y="247776"/>
                    </a:lnTo>
                    <a:lnTo>
                      <a:pt x="71120"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4" name="object 84">
                <a:extLst>
                  <a:ext uri="{FF2B5EF4-FFF2-40B4-BE49-F238E27FC236}">
                    <a16:creationId xmlns:a16="http://schemas.microsoft.com/office/drawing/2014/main" id="{82A0097A-9EE9-A23F-4112-A2AD7F689DDC}"/>
                  </a:ext>
                </a:extLst>
              </p:cNvPr>
              <p:cNvSpPr/>
              <p:nvPr/>
            </p:nvSpPr>
            <p:spPr>
              <a:xfrm>
                <a:off x="6563867" y="4417946"/>
                <a:ext cx="338455" cy="367030"/>
              </a:xfrm>
              <a:custGeom>
                <a:avLst/>
                <a:gdLst/>
                <a:ahLst/>
                <a:cxnLst/>
                <a:rect l="l" t="t" r="r" b="b"/>
                <a:pathLst>
                  <a:path w="338454" h="367029">
                    <a:moveTo>
                      <a:pt x="338200" y="247776"/>
                    </a:moveTo>
                    <a:lnTo>
                      <a:pt x="305528" y="280814"/>
                    </a:lnTo>
                    <a:lnTo>
                      <a:pt x="270843" y="311673"/>
                    </a:lnTo>
                    <a:lnTo>
                      <a:pt x="234277" y="340270"/>
                    </a:lnTo>
                    <a:lnTo>
                      <a:pt x="195960" y="366521"/>
                    </a:lnTo>
                    <a:lnTo>
                      <a:pt x="192899" y="361721"/>
                    </a:lnTo>
                    <a:lnTo>
                      <a:pt x="171465" y="328120"/>
                    </a:lnTo>
                    <a:lnTo>
                      <a:pt x="113289" y="236916"/>
                    </a:lnTo>
                    <a:lnTo>
                      <a:pt x="0" y="59308"/>
                    </a:lnTo>
                    <a:lnTo>
                      <a:pt x="19184" y="46220"/>
                    </a:lnTo>
                    <a:lnTo>
                      <a:pt x="37465" y="31940"/>
                    </a:lnTo>
                    <a:lnTo>
                      <a:pt x="54792" y="16517"/>
                    </a:lnTo>
                    <a:lnTo>
                      <a:pt x="71120" y="0"/>
                    </a:lnTo>
                    <a:lnTo>
                      <a:pt x="338200" y="24777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5" name="object 85">
                <a:extLst>
                  <a:ext uri="{FF2B5EF4-FFF2-40B4-BE49-F238E27FC236}">
                    <a16:creationId xmlns:a16="http://schemas.microsoft.com/office/drawing/2014/main" id="{C2922B2D-EC1A-5515-745D-3CF6CF713EFC}"/>
                  </a:ext>
                </a:extLst>
              </p:cNvPr>
              <p:cNvSpPr/>
              <p:nvPr/>
            </p:nvSpPr>
            <p:spPr>
              <a:xfrm>
                <a:off x="6482841" y="4477509"/>
                <a:ext cx="276860" cy="384175"/>
              </a:xfrm>
              <a:custGeom>
                <a:avLst/>
                <a:gdLst/>
                <a:ahLst/>
                <a:cxnLst/>
                <a:rect l="l" t="t" r="r" b="b"/>
                <a:pathLst>
                  <a:path w="276859" h="384175">
                    <a:moveTo>
                      <a:pt x="80644" y="0"/>
                    </a:moveTo>
                    <a:lnTo>
                      <a:pt x="61418" y="11422"/>
                    </a:lnTo>
                    <a:lnTo>
                      <a:pt x="41513" y="21653"/>
                    </a:lnTo>
                    <a:lnTo>
                      <a:pt x="21012" y="30646"/>
                    </a:lnTo>
                    <a:lnTo>
                      <a:pt x="0" y="38353"/>
                    </a:lnTo>
                    <a:lnTo>
                      <a:pt x="114808" y="384048"/>
                    </a:lnTo>
                    <a:lnTo>
                      <a:pt x="156890" y="368651"/>
                    </a:lnTo>
                    <a:lnTo>
                      <a:pt x="197913" y="350694"/>
                    </a:lnTo>
                    <a:lnTo>
                      <a:pt x="237769" y="330237"/>
                    </a:lnTo>
                    <a:lnTo>
                      <a:pt x="276352" y="307339"/>
                    </a:lnTo>
                    <a:lnTo>
                      <a:pt x="80644"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6" name="object 86">
                <a:extLst>
                  <a:ext uri="{FF2B5EF4-FFF2-40B4-BE49-F238E27FC236}">
                    <a16:creationId xmlns:a16="http://schemas.microsoft.com/office/drawing/2014/main" id="{82289B90-FBB8-FE26-A652-99A3FFECFAB3}"/>
                  </a:ext>
                </a:extLst>
              </p:cNvPr>
              <p:cNvSpPr/>
              <p:nvPr/>
            </p:nvSpPr>
            <p:spPr>
              <a:xfrm>
                <a:off x="6482841" y="4477509"/>
                <a:ext cx="276860" cy="384175"/>
              </a:xfrm>
              <a:custGeom>
                <a:avLst/>
                <a:gdLst/>
                <a:ahLst/>
                <a:cxnLst/>
                <a:rect l="l" t="t" r="r" b="b"/>
                <a:pathLst>
                  <a:path w="276859" h="384175">
                    <a:moveTo>
                      <a:pt x="276352" y="307339"/>
                    </a:moveTo>
                    <a:lnTo>
                      <a:pt x="237769" y="330237"/>
                    </a:lnTo>
                    <a:lnTo>
                      <a:pt x="197913" y="350694"/>
                    </a:lnTo>
                    <a:lnTo>
                      <a:pt x="156890" y="368651"/>
                    </a:lnTo>
                    <a:lnTo>
                      <a:pt x="114808" y="384048"/>
                    </a:lnTo>
                    <a:lnTo>
                      <a:pt x="113014" y="378646"/>
                    </a:lnTo>
                    <a:lnTo>
                      <a:pt x="100457" y="340836"/>
                    </a:lnTo>
                    <a:lnTo>
                      <a:pt x="66373" y="238208"/>
                    </a:lnTo>
                    <a:lnTo>
                      <a:pt x="0" y="38353"/>
                    </a:lnTo>
                    <a:lnTo>
                      <a:pt x="21012" y="30646"/>
                    </a:lnTo>
                    <a:lnTo>
                      <a:pt x="41513" y="21653"/>
                    </a:lnTo>
                    <a:lnTo>
                      <a:pt x="61418" y="11422"/>
                    </a:lnTo>
                    <a:lnTo>
                      <a:pt x="80644" y="0"/>
                    </a:lnTo>
                    <a:lnTo>
                      <a:pt x="276352" y="307339"/>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7" name="object 87">
                <a:extLst>
                  <a:ext uri="{FF2B5EF4-FFF2-40B4-BE49-F238E27FC236}">
                    <a16:creationId xmlns:a16="http://schemas.microsoft.com/office/drawing/2014/main" id="{8137077F-6823-73B9-B48D-A56504EF6ADF}"/>
                  </a:ext>
                </a:extLst>
              </p:cNvPr>
              <p:cNvSpPr/>
              <p:nvPr/>
            </p:nvSpPr>
            <p:spPr>
              <a:xfrm>
                <a:off x="6401688" y="4515990"/>
                <a:ext cx="195580" cy="379730"/>
              </a:xfrm>
              <a:custGeom>
                <a:avLst/>
                <a:gdLst/>
                <a:ahLst/>
                <a:cxnLst/>
                <a:rect l="l" t="t" r="r" b="b"/>
                <a:pathLst>
                  <a:path w="195579" h="379729">
                    <a:moveTo>
                      <a:pt x="80772" y="0"/>
                    </a:moveTo>
                    <a:lnTo>
                      <a:pt x="60971" y="5925"/>
                    </a:lnTo>
                    <a:lnTo>
                      <a:pt x="40862" y="10731"/>
                    </a:lnTo>
                    <a:lnTo>
                      <a:pt x="20514" y="14394"/>
                    </a:lnTo>
                    <a:lnTo>
                      <a:pt x="0" y="16890"/>
                    </a:lnTo>
                    <a:lnTo>
                      <a:pt x="33782" y="379602"/>
                    </a:lnTo>
                    <a:lnTo>
                      <a:pt x="74793" y="374628"/>
                    </a:lnTo>
                    <a:lnTo>
                      <a:pt x="115458" y="367331"/>
                    </a:lnTo>
                    <a:lnTo>
                      <a:pt x="155672" y="357725"/>
                    </a:lnTo>
                    <a:lnTo>
                      <a:pt x="195326" y="345821"/>
                    </a:lnTo>
                    <a:lnTo>
                      <a:pt x="80772"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8" name="object 88">
                <a:extLst>
                  <a:ext uri="{FF2B5EF4-FFF2-40B4-BE49-F238E27FC236}">
                    <a16:creationId xmlns:a16="http://schemas.microsoft.com/office/drawing/2014/main" id="{F6994134-6B78-5A2A-1343-FAAF36B09E2D}"/>
                  </a:ext>
                </a:extLst>
              </p:cNvPr>
              <p:cNvSpPr/>
              <p:nvPr/>
            </p:nvSpPr>
            <p:spPr>
              <a:xfrm>
                <a:off x="6401688" y="4515990"/>
                <a:ext cx="195580" cy="379730"/>
              </a:xfrm>
              <a:custGeom>
                <a:avLst/>
                <a:gdLst/>
                <a:ahLst/>
                <a:cxnLst/>
                <a:rect l="l" t="t" r="r" b="b"/>
                <a:pathLst>
                  <a:path w="195579" h="379729">
                    <a:moveTo>
                      <a:pt x="195326" y="345821"/>
                    </a:moveTo>
                    <a:lnTo>
                      <a:pt x="155672" y="357725"/>
                    </a:lnTo>
                    <a:lnTo>
                      <a:pt x="115458" y="367331"/>
                    </a:lnTo>
                    <a:lnTo>
                      <a:pt x="74793" y="374628"/>
                    </a:lnTo>
                    <a:lnTo>
                      <a:pt x="33782" y="379602"/>
                    </a:lnTo>
                    <a:lnTo>
                      <a:pt x="33254" y="373935"/>
                    </a:lnTo>
                    <a:lnTo>
                      <a:pt x="29559" y="334263"/>
                    </a:lnTo>
                    <a:lnTo>
                      <a:pt x="19530" y="226583"/>
                    </a:lnTo>
                    <a:lnTo>
                      <a:pt x="0" y="16890"/>
                    </a:lnTo>
                    <a:lnTo>
                      <a:pt x="20514" y="14394"/>
                    </a:lnTo>
                    <a:lnTo>
                      <a:pt x="40862" y="10731"/>
                    </a:lnTo>
                    <a:lnTo>
                      <a:pt x="60971" y="5925"/>
                    </a:lnTo>
                    <a:lnTo>
                      <a:pt x="80772" y="0"/>
                    </a:lnTo>
                    <a:lnTo>
                      <a:pt x="195326" y="345821"/>
                    </a:lnTo>
                    <a:close/>
                  </a:path>
                </a:pathLst>
              </a:custGeom>
              <a:ln w="9524">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9" name="object 89">
                <a:extLst>
                  <a:ext uri="{FF2B5EF4-FFF2-40B4-BE49-F238E27FC236}">
                    <a16:creationId xmlns:a16="http://schemas.microsoft.com/office/drawing/2014/main" id="{7BA8D150-4F62-0715-D05F-17FF26F923AB}"/>
                  </a:ext>
                </a:extLst>
              </p:cNvPr>
              <p:cNvSpPr/>
              <p:nvPr/>
            </p:nvSpPr>
            <p:spPr>
              <a:xfrm>
                <a:off x="6274688" y="4531484"/>
                <a:ext cx="160020" cy="367665"/>
              </a:xfrm>
              <a:custGeom>
                <a:avLst/>
                <a:gdLst/>
                <a:ahLst/>
                <a:cxnLst/>
                <a:rect l="l" t="t" r="r" b="b"/>
                <a:pathLst>
                  <a:path w="160020" h="367664">
                    <a:moveTo>
                      <a:pt x="46609" y="0"/>
                    </a:moveTo>
                    <a:lnTo>
                      <a:pt x="0" y="361314"/>
                    </a:lnTo>
                    <a:lnTo>
                      <a:pt x="39915" y="365343"/>
                    </a:lnTo>
                    <a:lnTo>
                      <a:pt x="79962" y="367157"/>
                    </a:lnTo>
                    <a:lnTo>
                      <a:pt x="120032" y="366779"/>
                    </a:lnTo>
                    <a:lnTo>
                      <a:pt x="160020" y="364236"/>
                    </a:lnTo>
                    <a:lnTo>
                      <a:pt x="126619" y="1396"/>
                    </a:lnTo>
                    <a:lnTo>
                      <a:pt x="106598" y="2678"/>
                    </a:lnTo>
                    <a:lnTo>
                      <a:pt x="86566" y="2889"/>
                    </a:lnTo>
                    <a:lnTo>
                      <a:pt x="66557" y="2004"/>
                    </a:lnTo>
                    <a:lnTo>
                      <a:pt x="46609"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0" name="object 90">
                <a:extLst>
                  <a:ext uri="{FF2B5EF4-FFF2-40B4-BE49-F238E27FC236}">
                    <a16:creationId xmlns:a16="http://schemas.microsoft.com/office/drawing/2014/main" id="{E4714050-74E4-0211-E30F-F7FB0D93FFB6}"/>
                  </a:ext>
                </a:extLst>
              </p:cNvPr>
              <p:cNvSpPr/>
              <p:nvPr/>
            </p:nvSpPr>
            <p:spPr>
              <a:xfrm>
                <a:off x="6274688" y="4531484"/>
                <a:ext cx="160020" cy="367665"/>
              </a:xfrm>
              <a:custGeom>
                <a:avLst/>
                <a:gdLst/>
                <a:ahLst/>
                <a:cxnLst/>
                <a:rect l="l" t="t" r="r" b="b"/>
                <a:pathLst>
                  <a:path w="160020" h="367664">
                    <a:moveTo>
                      <a:pt x="160020" y="364236"/>
                    </a:moveTo>
                    <a:lnTo>
                      <a:pt x="120032" y="366779"/>
                    </a:lnTo>
                    <a:lnTo>
                      <a:pt x="79962" y="367157"/>
                    </a:lnTo>
                    <a:lnTo>
                      <a:pt x="39915" y="365343"/>
                    </a:lnTo>
                    <a:lnTo>
                      <a:pt x="0" y="361314"/>
                    </a:lnTo>
                    <a:lnTo>
                      <a:pt x="728" y="355669"/>
                    </a:lnTo>
                    <a:lnTo>
                      <a:pt x="5826" y="316150"/>
                    </a:lnTo>
                    <a:lnTo>
                      <a:pt x="19663" y="208885"/>
                    </a:lnTo>
                    <a:lnTo>
                      <a:pt x="46609" y="0"/>
                    </a:lnTo>
                    <a:lnTo>
                      <a:pt x="66557" y="2004"/>
                    </a:lnTo>
                    <a:lnTo>
                      <a:pt x="86566" y="2889"/>
                    </a:lnTo>
                    <a:lnTo>
                      <a:pt x="106598" y="2678"/>
                    </a:lnTo>
                    <a:lnTo>
                      <a:pt x="126619" y="1396"/>
                    </a:lnTo>
                    <a:lnTo>
                      <a:pt x="160020" y="36423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 name="object 91">
                <a:extLst>
                  <a:ext uri="{FF2B5EF4-FFF2-40B4-BE49-F238E27FC236}">
                    <a16:creationId xmlns:a16="http://schemas.microsoft.com/office/drawing/2014/main" id="{AF505058-9144-D6DF-3A87-ED1C79D8FF2C}"/>
                  </a:ext>
                </a:extLst>
              </p:cNvPr>
              <p:cNvSpPr/>
              <p:nvPr/>
            </p:nvSpPr>
            <p:spPr>
              <a:xfrm>
                <a:off x="5639197" y="3441443"/>
                <a:ext cx="728345" cy="1451610"/>
              </a:xfrm>
              <a:custGeom>
                <a:avLst/>
                <a:gdLst/>
                <a:ahLst/>
                <a:cxnLst/>
                <a:rect l="l" t="t" r="r" b="b"/>
                <a:pathLst>
                  <a:path w="728345" h="1451610">
                    <a:moveTo>
                      <a:pt x="727693" y="0"/>
                    </a:moveTo>
                    <a:lnTo>
                      <a:pt x="680064" y="1599"/>
                    </a:lnTo>
                    <a:lnTo>
                      <a:pt x="633222" y="6210"/>
                    </a:lnTo>
                    <a:lnTo>
                      <a:pt x="587267" y="13740"/>
                    </a:lnTo>
                    <a:lnTo>
                      <a:pt x="542297" y="24095"/>
                    </a:lnTo>
                    <a:lnTo>
                      <a:pt x="498411" y="37183"/>
                    </a:lnTo>
                    <a:lnTo>
                      <a:pt x="455706" y="52913"/>
                    </a:lnTo>
                    <a:lnTo>
                      <a:pt x="414282" y="71191"/>
                    </a:lnTo>
                    <a:lnTo>
                      <a:pt x="374238" y="91924"/>
                    </a:lnTo>
                    <a:lnTo>
                      <a:pt x="335671" y="115021"/>
                    </a:lnTo>
                    <a:lnTo>
                      <a:pt x="298680" y="140388"/>
                    </a:lnTo>
                    <a:lnTo>
                      <a:pt x="263364" y="167933"/>
                    </a:lnTo>
                    <a:lnTo>
                      <a:pt x="229821" y="197564"/>
                    </a:lnTo>
                    <a:lnTo>
                      <a:pt x="198150" y="229188"/>
                    </a:lnTo>
                    <a:lnTo>
                      <a:pt x="168450" y="262712"/>
                    </a:lnTo>
                    <a:lnTo>
                      <a:pt x="140819" y="298044"/>
                    </a:lnTo>
                    <a:lnTo>
                      <a:pt x="115355" y="335091"/>
                    </a:lnTo>
                    <a:lnTo>
                      <a:pt x="92158" y="373762"/>
                    </a:lnTo>
                    <a:lnTo>
                      <a:pt x="71325" y="413962"/>
                    </a:lnTo>
                    <a:lnTo>
                      <a:pt x="52956" y="455600"/>
                    </a:lnTo>
                    <a:lnTo>
                      <a:pt x="37148" y="498583"/>
                    </a:lnTo>
                    <a:lnTo>
                      <a:pt x="24001" y="542819"/>
                    </a:lnTo>
                    <a:lnTo>
                      <a:pt x="13612" y="588215"/>
                    </a:lnTo>
                    <a:lnTo>
                      <a:pt x="6081" y="634678"/>
                    </a:lnTo>
                    <a:lnTo>
                      <a:pt x="1507" y="682116"/>
                    </a:lnTo>
                    <a:lnTo>
                      <a:pt x="0" y="729751"/>
                    </a:lnTo>
                    <a:lnTo>
                      <a:pt x="1548" y="776796"/>
                    </a:lnTo>
                    <a:lnTo>
                      <a:pt x="6067" y="823147"/>
                    </a:lnTo>
                    <a:lnTo>
                      <a:pt x="13470" y="868698"/>
                    </a:lnTo>
                    <a:lnTo>
                      <a:pt x="23671" y="913347"/>
                    </a:lnTo>
                    <a:lnTo>
                      <a:pt x="36585" y="956988"/>
                    </a:lnTo>
                    <a:lnTo>
                      <a:pt x="52124" y="999517"/>
                    </a:lnTo>
                    <a:lnTo>
                      <a:pt x="70204" y="1040830"/>
                    </a:lnTo>
                    <a:lnTo>
                      <a:pt x="90739" y="1080823"/>
                    </a:lnTo>
                    <a:lnTo>
                      <a:pt x="113642" y="1119390"/>
                    </a:lnTo>
                    <a:lnTo>
                      <a:pt x="138828" y="1156427"/>
                    </a:lnTo>
                    <a:lnTo>
                      <a:pt x="166210" y="1191831"/>
                    </a:lnTo>
                    <a:lnTo>
                      <a:pt x="195703" y="1225496"/>
                    </a:lnTo>
                    <a:lnTo>
                      <a:pt x="227221" y="1257319"/>
                    </a:lnTo>
                    <a:lnTo>
                      <a:pt x="260677" y="1287195"/>
                    </a:lnTo>
                    <a:lnTo>
                      <a:pt x="295987" y="1315019"/>
                    </a:lnTo>
                    <a:lnTo>
                      <a:pt x="333063" y="1340687"/>
                    </a:lnTo>
                    <a:lnTo>
                      <a:pt x="371821" y="1364095"/>
                    </a:lnTo>
                    <a:lnTo>
                      <a:pt x="412174" y="1385138"/>
                    </a:lnTo>
                    <a:lnTo>
                      <a:pt x="454035" y="1403712"/>
                    </a:lnTo>
                    <a:lnTo>
                      <a:pt x="497320" y="1419712"/>
                    </a:lnTo>
                    <a:lnTo>
                      <a:pt x="541943" y="1433035"/>
                    </a:lnTo>
                    <a:lnTo>
                      <a:pt x="587817" y="1443575"/>
                    </a:lnTo>
                    <a:lnTo>
                      <a:pt x="634856" y="1451228"/>
                    </a:lnTo>
                    <a:lnTo>
                      <a:pt x="681719" y="1089914"/>
                    </a:lnTo>
                    <a:lnTo>
                      <a:pt x="635265" y="1080831"/>
                    </a:lnTo>
                    <a:lnTo>
                      <a:pt x="591318" y="1066182"/>
                    </a:lnTo>
                    <a:lnTo>
                      <a:pt x="550220" y="1046382"/>
                    </a:lnTo>
                    <a:lnTo>
                      <a:pt x="512315" y="1021851"/>
                    </a:lnTo>
                    <a:lnTo>
                      <a:pt x="477944" y="993005"/>
                    </a:lnTo>
                    <a:lnTo>
                      <a:pt x="447451" y="960262"/>
                    </a:lnTo>
                    <a:lnTo>
                      <a:pt x="421178" y="924040"/>
                    </a:lnTo>
                    <a:lnTo>
                      <a:pt x="399468" y="884757"/>
                    </a:lnTo>
                    <a:lnTo>
                      <a:pt x="382663" y="842829"/>
                    </a:lnTo>
                    <a:lnTo>
                      <a:pt x="371107" y="798675"/>
                    </a:lnTo>
                    <a:lnTo>
                      <a:pt x="365141" y="752712"/>
                    </a:lnTo>
                    <a:lnTo>
                      <a:pt x="365108" y="705357"/>
                    </a:lnTo>
                    <a:lnTo>
                      <a:pt x="371173" y="658421"/>
                    </a:lnTo>
                    <a:lnTo>
                      <a:pt x="382946" y="613618"/>
                    </a:lnTo>
                    <a:lnTo>
                      <a:pt x="400035" y="571317"/>
                    </a:lnTo>
                    <a:lnTo>
                      <a:pt x="422046" y="531890"/>
                    </a:lnTo>
                    <a:lnTo>
                      <a:pt x="448587" y="495706"/>
                    </a:lnTo>
                    <a:lnTo>
                      <a:pt x="479265" y="463137"/>
                    </a:lnTo>
                    <a:lnTo>
                      <a:pt x="513686" y="434552"/>
                    </a:lnTo>
                    <a:lnTo>
                      <a:pt x="551459" y="410322"/>
                    </a:lnTo>
                    <a:lnTo>
                      <a:pt x="592190" y="390818"/>
                    </a:lnTo>
                    <a:lnTo>
                      <a:pt x="635485" y="376410"/>
                    </a:lnTo>
                    <a:lnTo>
                      <a:pt x="680953" y="367468"/>
                    </a:lnTo>
                    <a:lnTo>
                      <a:pt x="728201" y="364362"/>
                    </a:lnTo>
                    <a:lnTo>
                      <a:pt x="727693"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 name="object 92">
                <a:extLst>
                  <a:ext uri="{FF2B5EF4-FFF2-40B4-BE49-F238E27FC236}">
                    <a16:creationId xmlns:a16="http://schemas.microsoft.com/office/drawing/2014/main" id="{58532A04-6C0C-9A4B-FDDD-941BF4020A26}"/>
                  </a:ext>
                </a:extLst>
              </p:cNvPr>
              <p:cNvSpPr/>
              <p:nvPr/>
            </p:nvSpPr>
            <p:spPr>
              <a:xfrm>
                <a:off x="5639197" y="3441443"/>
                <a:ext cx="728345" cy="1451610"/>
              </a:xfrm>
              <a:custGeom>
                <a:avLst/>
                <a:gdLst/>
                <a:ahLst/>
                <a:cxnLst/>
                <a:rect l="l" t="t" r="r" b="b"/>
                <a:pathLst>
                  <a:path w="728345" h="1451610">
                    <a:moveTo>
                      <a:pt x="634856" y="1451228"/>
                    </a:moveTo>
                    <a:lnTo>
                      <a:pt x="587817" y="1443575"/>
                    </a:lnTo>
                    <a:lnTo>
                      <a:pt x="541943" y="1433035"/>
                    </a:lnTo>
                    <a:lnTo>
                      <a:pt x="497320" y="1419712"/>
                    </a:lnTo>
                    <a:lnTo>
                      <a:pt x="454035" y="1403712"/>
                    </a:lnTo>
                    <a:lnTo>
                      <a:pt x="412174" y="1385138"/>
                    </a:lnTo>
                    <a:lnTo>
                      <a:pt x="371821" y="1364095"/>
                    </a:lnTo>
                    <a:lnTo>
                      <a:pt x="333063" y="1340687"/>
                    </a:lnTo>
                    <a:lnTo>
                      <a:pt x="295987" y="1315019"/>
                    </a:lnTo>
                    <a:lnTo>
                      <a:pt x="260677" y="1287195"/>
                    </a:lnTo>
                    <a:lnTo>
                      <a:pt x="227221" y="1257319"/>
                    </a:lnTo>
                    <a:lnTo>
                      <a:pt x="195703" y="1225496"/>
                    </a:lnTo>
                    <a:lnTo>
                      <a:pt x="166210" y="1191831"/>
                    </a:lnTo>
                    <a:lnTo>
                      <a:pt x="138828" y="1156427"/>
                    </a:lnTo>
                    <a:lnTo>
                      <a:pt x="113642" y="1119390"/>
                    </a:lnTo>
                    <a:lnTo>
                      <a:pt x="90739" y="1080823"/>
                    </a:lnTo>
                    <a:lnTo>
                      <a:pt x="70204" y="1040830"/>
                    </a:lnTo>
                    <a:lnTo>
                      <a:pt x="52124" y="999517"/>
                    </a:lnTo>
                    <a:lnTo>
                      <a:pt x="36585" y="956988"/>
                    </a:lnTo>
                    <a:lnTo>
                      <a:pt x="23671" y="913347"/>
                    </a:lnTo>
                    <a:lnTo>
                      <a:pt x="13470" y="868698"/>
                    </a:lnTo>
                    <a:lnTo>
                      <a:pt x="6067" y="823147"/>
                    </a:lnTo>
                    <a:lnTo>
                      <a:pt x="1548" y="776796"/>
                    </a:lnTo>
                    <a:lnTo>
                      <a:pt x="0" y="729751"/>
                    </a:lnTo>
                    <a:lnTo>
                      <a:pt x="1507" y="682116"/>
                    </a:lnTo>
                    <a:lnTo>
                      <a:pt x="6081" y="634678"/>
                    </a:lnTo>
                    <a:lnTo>
                      <a:pt x="13612" y="588215"/>
                    </a:lnTo>
                    <a:lnTo>
                      <a:pt x="24001" y="542819"/>
                    </a:lnTo>
                    <a:lnTo>
                      <a:pt x="37148" y="498583"/>
                    </a:lnTo>
                    <a:lnTo>
                      <a:pt x="52956" y="455600"/>
                    </a:lnTo>
                    <a:lnTo>
                      <a:pt x="71325" y="413962"/>
                    </a:lnTo>
                    <a:lnTo>
                      <a:pt x="92158" y="373762"/>
                    </a:lnTo>
                    <a:lnTo>
                      <a:pt x="115355" y="335091"/>
                    </a:lnTo>
                    <a:lnTo>
                      <a:pt x="140819" y="298044"/>
                    </a:lnTo>
                    <a:lnTo>
                      <a:pt x="168450" y="262712"/>
                    </a:lnTo>
                    <a:lnTo>
                      <a:pt x="198150" y="229188"/>
                    </a:lnTo>
                    <a:lnTo>
                      <a:pt x="229821" y="197564"/>
                    </a:lnTo>
                    <a:lnTo>
                      <a:pt x="263364" y="167933"/>
                    </a:lnTo>
                    <a:lnTo>
                      <a:pt x="298680" y="140388"/>
                    </a:lnTo>
                    <a:lnTo>
                      <a:pt x="335671" y="115021"/>
                    </a:lnTo>
                    <a:lnTo>
                      <a:pt x="374238" y="91924"/>
                    </a:lnTo>
                    <a:lnTo>
                      <a:pt x="414282" y="71191"/>
                    </a:lnTo>
                    <a:lnTo>
                      <a:pt x="455706" y="52913"/>
                    </a:lnTo>
                    <a:lnTo>
                      <a:pt x="498411" y="37183"/>
                    </a:lnTo>
                    <a:lnTo>
                      <a:pt x="542297" y="24095"/>
                    </a:lnTo>
                    <a:lnTo>
                      <a:pt x="587267" y="13740"/>
                    </a:lnTo>
                    <a:lnTo>
                      <a:pt x="633222" y="6210"/>
                    </a:lnTo>
                    <a:lnTo>
                      <a:pt x="680064" y="1599"/>
                    </a:lnTo>
                    <a:lnTo>
                      <a:pt x="727693" y="0"/>
                    </a:lnTo>
                    <a:lnTo>
                      <a:pt x="727701" y="5693"/>
                    </a:lnTo>
                    <a:lnTo>
                      <a:pt x="727756" y="45545"/>
                    </a:lnTo>
                    <a:lnTo>
                      <a:pt x="727907" y="153715"/>
                    </a:lnTo>
                    <a:lnTo>
                      <a:pt x="728201" y="364362"/>
                    </a:lnTo>
                    <a:lnTo>
                      <a:pt x="680953" y="367468"/>
                    </a:lnTo>
                    <a:lnTo>
                      <a:pt x="635485" y="376410"/>
                    </a:lnTo>
                    <a:lnTo>
                      <a:pt x="592190" y="390818"/>
                    </a:lnTo>
                    <a:lnTo>
                      <a:pt x="551459" y="410322"/>
                    </a:lnTo>
                    <a:lnTo>
                      <a:pt x="513686" y="434552"/>
                    </a:lnTo>
                    <a:lnTo>
                      <a:pt x="479265" y="463137"/>
                    </a:lnTo>
                    <a:lnTo>
                      <a:pt x="448587" y="495706"/>
                    </a:lnTo>
                    <a:lnTo>
                      <a:pt x="422046" y="531890"/>
                    </a:lnTo>
                    <a:lnTo>
                      <a:pt x="400035" y="571317"/>
                    </a:lnTo>
                    <a:lnTo>
                      <a:pt x="382946" y="613618"/>
                    </a:lnTo>
                    <a:lnTo>
                      <a:pt x="371173" y="658421"/>
                    </a:lnTo>
                    <a:lnTo>
                      <a:pt x="365108" y="705357"/>
                    </a:lnTo>
                    <a:lnTo>
                      <a:pt x="365141" y="752712"/>
                    </a:lnTo>
                    <a:lnTo>
                      <a:pt x="371107" y="798675"/>
                    </a:lnTo>
                    <a:lnTo>
                      <a:pt x="382663" y="842829"/>
                    </a:lnTo>
                    <a:lnTo>
                      <a:pt x="399468" y="884757"/>
                    </a:lnTo>
                    <a:lnTo>
                      <a:pt x="421178" y="924040"/>
                    </a:lnTo>
                    <a:lnTo>
                      <a:pt x="447451" y="960262"/>
                    </a:lnTo>
                    <a:lnTo>
                      <a:pt x="477944" y="993005"/>
                    </a:lnTo>
                    <a:lnTo>
                      <a:pt x="512315" y="1021851"/>
                    </a:lnTo>
                    <a:lnTo>
                      <a:pt x="550220" y="1046382"/>
                    </a:lnTo>
                    <a:lnTo>
                      <a:pt x="591318" y="1066182"/>
                    </a:lnTo>
                    <a:lnTo>
                      <a:pt x="635265" y="1080831"/>
                    </a:lnTo>
                    <a:lnTo>
                      <a:pt x="681719" y="1089914"/>
                    </a:lnTo>
                    <a:lnTo>
                      <a:pt x="634856" y="1451228"/>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sp>
        <p:nvSpPr>
          <p:cNvPr id="46" name="object 43">
            <a:extLst>
              <a:ext uri="{FF2B5EF4-FFF2-40B4-BE49-F238E27FC236}">
                <a16:creationId xmlns:a16="http://schemas.microsoft.com/office/drawing/2014/main" id="{4D4599E0-45D3-D529-FD3E-0C75EFA0404C}"/>
              </a:ext>
            </a:extLst>
          </p:cNvPr>
          <p:cNvSpPr txBox="1"/>
          <p:nvPr/>
        </p:nvSpPr>
        <p:spPr>
          <a:xfrm>
            <a:off x="2458300" y="7373590"/>
            <a:ext cx="4093845" cy="265778"/>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Sector data is sourced from </a:t>
            </a:r>
            <a:r>
              <a:rPr kumimoji="0" sz="800" b="0" i="0" u="none" strike="noStrike" kern="0" cap="none" spc="0" normalizeH="0" baseline="0" noProof="0" err="1">
                <a:ln>
                  <a:noFill/>
                </a:ln>
                <a:solidFill>
                  <a:srgbClr val="142764"/>
                </a:solidFill>
                <a:effectLst/>
                <a:uLnTx/>
                <a:uFillTx/>
                <a:latin typeface="Zurich Sans Light"/>
                <a:cs typeface="Zurich Sans Light"/>
              </a:rPr>
              <a:t>FEfundinfo</a:t>
            </a:r>
            <a:r>
              <a:rPr kumimoji="0" sz="800" b="0" i="0" u="none" strike="noStrike" kern="0" cap="none" spc="0" normalizeH="0" baseline="0" noProof="0">
                <a:ln>
                  <a:noFill/>
                </a:ln>
                <a:solidFill>
                  <a:srgbClr val="142764"/>
                </a:solidFill>
                <a:effectLst/>
                <a:uLnTx/>
                <a:uFillTx/>
                <a:latin typeface="Zurich Sans Light"/>
                <a:cs typeface="Zurich Sans Light"/>
              </a:rPr>
              <a:t>, where none is shown, the data is not available </a:t>
            </a:r>
            <a:r>
              <a:rPr kumimoji="0" sz="800" b="0" i="0" u="none" strike="noStrike" kern="0" cap="none" spc="-20" normalizeH="0" baseline="0" noProof="0">
                <a:ln>
                  <a:noFill/>
                </a:ln>
                <a:solidFill>
                  <a:srgbClr val="142764"/>
                </a:solidFill>
                <a:effectLst/>
                <a:uLnTx/>
                <a:uFillTx/>
                <a:latin typeface="Zurich Sans Light"/>
                <a:cs typeface="Zurich Sans Light"/>
              </a:rPr>
              <a:t>from</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the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a:ln>
                  <a:noFill/>
                </a:ln>
                <a:solidFill>
                  <a:srgbClr val="142764"/>
                </a:solidFill>
                <a:effectLst/>
                <a:uLnTx/>
                <a:uFillTx/>
                <a:latin typeface="Zurich Sans Light"/>
                <a:cs typeface="Zurich Sans Light"/>
              </a:rPr>
              <a:t>manager(s).</a:t>
            </a: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p:txBody>
      </p:sp>
      <p:pic>
        <p:nvPicPr>
          <p:cNvPr id="49" name="Picture 48">
            <a:extLst>
              <a:ext uri="{FF2B5EF4-FFF2-40B4-BE49-F238E27FC236}">
                <a16:creationId xmlns:a16="http://schemas.microsoft.com/office/drawing/2014/main" id="{ECE71859-03CA-6121-8068-DBA9D766758C}"/>
              </a:ext>
            </a:extLst>
          </p:cNvPr>
          <p:cNvPicPr>
            <a:picLocks noChangeAspect="1"/>
          </p:cNvPicPr>
          <p:nvPr/>
        </p:nvPicPr>
        <p:blipFill>
          <a:blip r:embed="rId2"/>
          <a:stretch>
            <a:fillRect/>
          </a:stretch>
        </p:blipFill>
        <p:spPr>
          <a:xfrm>
            <a:off x="2467778" y="5616242"/>
            <a:ext cx="4098296" cy="1660801"/>
          </a:xfrm>
          <a:prstGeom prst="rect">
            <a:avLst/>
          </a:prstGeom>
        </p:spPr>
      </p:pic>
      <p:sp>
        <p:nvSpPr>
          <p:cNvPr id="51" name="object 6">
            <a:extLst>
              <a:ext uri="{FF2B5EF4-FFF2-40B4-BE49-F238E27FC236}">
                <a16:creationId xmlns:a16="http://schemas.microsoft.com/office/drawing/2014/main" id="{0EE9FF5A-3DA9-6A19-977F-45C1071F4A15}"/>
              </a:ext>
            </a:extLst>
          </p:cNvPr>
          <p:cNvSpPr/>
          <p:nvPr/>
        </p:nvSpPr>
        <p:spPr>
          <a:xfrm>
            <a:off x="2478891" y="2667926"/>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5" name="object 27">
            <a:extLst>
              <a:ext uri="{FF2B5EF4-FFF2-40B4-BE49-F238E27FC236}">
                <a16:creationId xmlns:a16="http://schemas.microsoft.com/office/drawing/2014/main" id="{E971F29D-7C50-E602-858E-546B585399B5}"/>
              </a:ext>
            </a:extLst>
          </p:cNvPr>
          <p:cNvSpPr txBox="1"/>
          <p:nvPr/>
        </p:nvSpPr>
        <p:spPr>
          <a:xfrm>
            <a:off x="4776433" y="2673030"/>
            <a:ext cx="422274" cy="135935"/>
          </a:xfrm>
          <a:prstGeom prst="rect">
            <a:avLst/>
          </a:prstGeom>
        </p:spPr>
        <p:txBody>
          <a:bodyPr vert="horz" wrap="square" lIns="0" tIns="12700" rIns="0" bIns="0" rtlCol="0">
            <a:spAutoFit/>
          </a:bodyPr>
          <a:lstStyle/>
          <a:p>
            <a:pPr marL="635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a:t>
            </a:r>
            <a:r>
              <a:rPr kumimoji="0" lang="en-GB" sz="800" b="0" i="0" u="none" strike="noStrike" kern="0" cap="none" spc="-10" normalizeH="0" baseline="0" noProof="0">
                <a:ln>
                  <a:noFill/>
                </a:ln>
                <a:solidFill>
                  <a:srgbClr val="142764"/>
                </a:solidFill>
                <a:effectLst/>
                <a:uLnTx/>
                <a:uFillTx/>
                <a:latin typeface="Zurich Sans Light"/>
                <a:cs typeface="Zurich Sans Light"/>
              </a:rPr>
              <a:t>5.76</a:t>
            </a:r>
            <a:r>
              <a:rPr kumimoji="0" sz="800" b="0" i="0" u="none" strike="noStrike" kern="0" cap="none" spc="-10" normalizeH="0" baseline="0" noProof="0">
                <a:ln>
                  <a:noFill/>
                </a:ln>
                <a:solidFill>
                  <a:srgbClr val="142764"/>
                </a:solidFill>
                <a:effectLst/>
                <a:uLnTx/>
                <a:uFillTx/>
                <a:latin typeface="Zurich Sans Light"/>
                <a:cs typeface="Zurich Sans Light"/>
              </a:rPr>
              <a:t>%</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96" name="object 43">
            <a:extLst>
              <a:ext uri="{FF2B5EF4-FFF2-40B4-BE49-F238E27FC236}">
                <a16:creationId xmlns:a16="http://schemas.microsoft.com/office/drawing/2014/main" id="{72B21DFB-FCAD-64C9-0872-E025F6834385}"/>
              </a:ext>
            </a:extLst>
          </p:cNvPr>
          <p:cNvSpPr txBox="1"/>
          <p:nvPr/>
        </p:nvSpPr>
        <p:spPr>
          <a:xfrm>
            <a:off x="2467778" y="5255643"/>
            <a:ext cx="4093845" cy="528350"/>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lang="en-GB" sz="800" dirty="0">
                <a:solidFill>
                  <a:srgbClr val="142764"/>
                </a:solidFill>
                <a:latin typeface="Zurich Sans Light"/>
                <a:cs typeface="Zurich Sans Light"/>
              </a:rPr>
              <a:t>Geographic</a:t>
            </a:r>
            <a:r>
              <a:rPr kumimoji="0" sz="800" b="0" i="0" u="none" strike="noStrike" kern="0" cap="none" spc="0" normalizeH="0" baseline="0" noProof="0" dirty="0">
                <a:ln>
                  <a:noFill/>
                </a:ln>
                <a:solidFill>
                  <a:srgbClr val="142764"/>
                </a:solidFill>
                <a:effectLst/>
                <a:uLnTx/>
                <a:uFillTx/>
                <a:latin typeface="Zurich Sans Light"/>
                <a:cs typeface="Zurich Sans Light"/>
              </a:rPr>
              <a:t> data is sourced from FE</a:t>
            </a:r>
            <a:r>
              <a:rPr lang="en-GB" sz="800" dirty="0">
                <a:solidFill>
                  <a:srgbClr val="142764"/>
                </a:solidFill>
                <a:latin typeface="Zurich Sans Light"/>
                <a:cs typeface="Zurich Sans Light"/>
              </a:rPr>
              <a:t>f</a:t>
            </a:r>
            <a:r>
              <a:rPr kumimoji="0" sz="800" b="0" i="0" u="none" strike="noStrike" kern="0" cap="none" spc="0" normalizeH="0" baseline="0" noProof="0" dirty="0" err="1">
                <a:ln>
                  <a:noFill/>
                </a:ln>
                <a:solidFill>
                  <a:srgbClr val="142764"/>
                </a:solidFill>
                <a:effectLst/>
                <a:uLnTx/>
                <a:uFillTx/>
                <a:latin typeface="Zurich Sans Light"/>
                <a:cs typeface="Zurich Sans Light"/>
              </a:rPr>
              <a:t>undinfo</a:t>
            </a:r>
            <a:r>
              <a:rPr kumimoji="0" sz="800" b="0" i="0" u="none" strike="noStrike" kern="0" cap="none" spc="0" normalizeH="0" baseline="0" noProof="0" dirty="0">
                <a:ln>
                  <a:noFill/>
                </a:ln>
                <a:solidFill>
                  <a:srgbClr val="142764"/>
                </a:solidFill>
                <a:effectLst/>
                <a:uLnTx/>
                <a:uFillTx/>
                <a:latin typeface="Zurich Sans Light"/>
                <a:cs typeface="Zurich Sans Light"/>
              </a:rPr>
              <a:t>, where none is shown, the data is not available </a:t>
            </a:r>
            <a:r>
              <a:rPr kumimoji="0" sz="800" b="0" i="0" u="none" strike="noStrike" kern="0" cap="none" spc="-20" normalizeH="0" baseline="0" noProof="0" dirty="0">
                <a:ln>
                  <a:noFill/>
                </a:ln>
                <a:solidFill>
                  <a:srgbClr val="142764"/>
                </a:solidFill>
                <a:effectLst/>
                <a:uLnTx/>
                <a:uFillTx/>
                <a:latin typeface="Zurich Sans Light"/>
                <a:cs typeface="Zurich Sans Light"/>
              </a:rPr>
              <a:t>from</a:t>
            </a:r>
            <a:r>
              <a:rPr kumimoji="0" lang="en-GB" sz="800" b="0" i="0" u="none" strike="noStrike" kern="0" cap="none" spc="-2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the</a:t>
            </a:r>
            <a:r>
              <a:rPr kumimoji="0" sz="800" b="0" i="0" u="none" strike="noStrike" kern="0" cap="none" spc="-1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dirty="0">
                <a:ln>
                  <a:noFill/>
                </a:ln>
                <a:solidFill>
                  <a:srgbClr val="142764"/>
                </a:solidFill>
                <a:effectLst/>
                <a:uLnTx/>
                <a:uFillTx/>
                <a:latin typeface="Zurich Sans Light"/>
                <a:cs typeface="Zurich Sans Light"/>
              </a:rPr>
              <a:t>manager(s).</a:t>
            </a:r>
            <a:endParaRPr kumimoji="0" sz="800" b="0" i="0" u="none" strike="noStrike" kern="0" cap="none" spc="0" normalizeH="0" baseline="0" noProof="0" dirty="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dirty="0">
              <a:ln>
                <a:noFill/>
              </a:ln>
              <a:solidFill>
                <a:sysClr val="windowText" lastClr="000000"/>
              </a:solidFill>
              <a:effectLst/>
              <a:uLnTx/>
              <a:uFillTx/>
              <a:latin typeface="Zurich Sans Light"/>
              <a:cs typeface="Zurich Sans Light"/>
            </a:endParaRPr>
          </a:p>
        </p:txBody>
      </p:sp>
      <p:sp>
        <p:nvSpPr>
          <p:cNvPr id="97" name="object 43">
            <a:extLst>
              <a:ext uri="{FF2B5EF4-FFF2-40B4-BE49-F238E27FC236}">
                <a16:creationId xmlns:a16="http://schemas.microsoft.com/office/drawing/2014/main" id="{189E3D0B-5E10-137D-9738-85FCA29CCDE2}"/>
              </a:ext>
            </a:extLst>
          </p:cNvPr>
          <p:cNvSpPr txBox="1"/>
          <p:nvPr/>
        </p:nvSpPr>
        <p:spPr>
          <a:xfrm>
            <a:off x="2476036" y="2951984"/>
            <a:ext cx="4093845" cy="528350"/>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lang="en-GB" sz="800" dirty="0">
                <a:solidFill>
                  <a:srgbClr val="142764"/>
                </a:solidFill>
                <a:latin typeface="Zurich Sans Light"/>
                <a:cs typeface="Zurich Sans Light"/>
              </a:rPr>
              <a:t>Asset</a:t>
            </a:r>
            <a:r>
              <a:rPr kumimoji="0" sz="800" b="0" i="0" u="none" strike="noStrike" kern="0" cap="none" spc="0" normalizeH="0" baseline="0" noProof="0" dirty="0">
                <a:ln>
                  <a:noFill/>
                </a:ln>
                <a:solidFill>
                  <a:srgbClr val="142764"/>
                </a:solidFill>
                <a:effectLst/>
                <a:uLnTx/>
                <a:uFillTx/>
                <a:latin typeface="Zurich Sans Light"/>
                <a:cs typeface="Zurich Sans Light"/>
              </a:rPr>
              <a:t> data is sourced from FE</a:t>
            </a:r>
            <a:r>
              <a:rPr kumimoji="0" lang="en-GB" sz="800" b="0" i="0" u="none" strike="noStrike" kern="0" cap="none" spc="0" normalizeH="0" baseline="0" noProof="0" dirty="0">
                <a:ln>
                  <a:noFill/>
                </a:ln>
                <a:solidFill>
                  <a:srgbClr val="142764"/>
                </a:solidFill>
                <a:effectLst/>
                <a:uLnTx/>
                <a:uFillTx/>
                <a:latin typeface="Zurich Sans Light"/>
                <a:cs typeface="Zurich Sans Light"/>
              </a:rPr>
              <a:t> F</a:t>
            </a:r>
            <a:r>
              <a:rPr kumimoji="0" sz="800" b="0" i="0" u="none" strike="noStrike" kern="0" cap="none" spc="0" normalizeH="0" baseline="0" noProof="0" dirty="0" err="1">
                <a:ln>
                  <a:noFill/>
                </a:ln>
                <a:solidFill>
                  <a:srgbClr val="142764"/>
                </a:solidFill>
                <a:effectLst/>
                <a:uLnTx/>
                <a:uFillTx/>
                <a:latin typeface="Zurich Sans Light"/>
                <a:cs typeface="Zurich Sans Light"/>
              </a:rPr>
              <a:t>undinfo</a:t>
            </a:r>
            <a:r>
              <a:rPr kumimoji="0" sz="800" b="0" i="0" u="none" strike="noStrike" kern="0" cap="none" spc="0" normalizeH="0" baseline="0" noProof="0" dirty="0">
                <a:ln>
                  <a:noFill/>
                </a:ln>
                <a:solidFill>
                  <a:srgbClr val="142764"/>
                </a:solidFill>
                <a:effectLst/>
                <a:uLnTx/>
                <a:uFillTx/>
                <a:latin typeface="Zurich Sans Light"/>
                <a:cs typeface="Zurich Sans Light"/>
              </a:rPr>
              <a:t>, where none is shown, the data is not available </a:t>
            </a:r>
            <a:r>
              <a:rPr kumimoji="0" sz="800" b="0" i="0" u="none" strike="noStrike" kern="0" cap="none" spc="-20" normalizeH="0" baseline="0" noProof="0" dirty="0">
                <a:ln>
                  <a:noFill/>
                </a:ln>
                <a:solidFill>
                  <a:srgbClr val="142764"/>
                </a:solidFill>
                <a:effectLst/>
                <a:uLnTx/>
                <a:uFillTx/>
                <a:latin typeface="Zurich Sans Light"/>
                <a:cs typeface="Zurich Sans Light"/>
              </a:rPr>
              <a:t>from</a:t>
            </a:r>
            <a:r>
              <a:rPr kumimoji="0" lang="en-GB" sz="800" b="0" i="0" u="none" strike="noStrike" kern="0" cap="none" spc="-2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the</a:t>
            </a:r>
            <a:r>
              <a:rPr kumimoji="0" sz="800" b="0" i="0" u="none" strike="noStrike" kern="0" cap="none" spc="-1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dirty="0">
                <a:ln>
                  <a:noFill/>
                </a:ln>
                <a:solidFill>
                  <a:srgbClr val="142764"/>
                </a:solidFill>
                <a:effectLst/>
                <a:uLnTx/>
                <a:uFillTx/>
                <a:latin typeface="Zurich Sans Light"/>
                <a:cs typeface="Zurich Sans Light"/>
              </a:rPr>
              <a:t>manager(s).</a:t>
            </a:r>
            <a:endParaRPr kumimoji="0" sz="800" b="0" i="0" u="none" strike="noStrike" kern="0" cap="none" spc="0" normalizeH="0" baseline="0" noProof="0" dirty="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dirty="0">
              <a:ln>
                <a:noFill/>
              </a:ln>
              <a:solidFill>
                <a:sysClr val="windowText" lastClr="000000"/>
              </a:solidFill>
              <a:effectLst/>
              <a:uLnTx/>
              <a:uFillTx/>
              <a:latin typeface="Zurich Sans Light"/>
              <a:cs typeface="Zurich Sans Light"/>
            </a:endParaRPr>
          </a:p>
        </p:txBody>
      </p:sp>
      <p:pic>
        <p:nvPicPr>
          <p:cNvPr id="4" name="Graphic 3">
            <a:extLst>
              <a:ext uri="{FF2B5EF4-FFF2-40B4-BE49-F238E27FC236}">
                <a16:creationId xmlns:a16="http://schemas.microsoft.com/office/drawing/2014/main" id="{373B1073-2945-D0B6-3326-40DC663DBE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0037" y="182136"/>
            <a:ext cx="1976437" cy="767521"/>
          </a:xfrm>
          <a:prstGeom prst="rect">
            <a:avLst/>
          </a:prstGeom>
        </p:spPr>
      </p:pic>
    </p:spTree>
    <p:extLst>
      <p:ext uri="{BB962C8B-B14F-4D97-AF65-F5344CB8AC3E}">
        <p14:creationId xmlns:p14="http://schemas.microsoft.com/office/powerpoint/2010/main" val="2587217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FDB6070-57DD-F201-6538-8A13E67041F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CE0F1C3-4D9C-5707-58BC-7C1B95D9E257}"/>
              </a:ext>
            </a:extLst>
          </p:cNvPr>
          <p:cNvSpPr/>
          <p:nvPr/>
        </p:nvSpPr>
        <p:spPr>
          <a:xfrm>
            <a:off x="358446" y="1025992"/>
            <a:ext cx="6817620" cy="403195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a:extLst>
              <a:ext uri="{FF2B5EF4-FFF2-40B4-BE49-F238E27FC236}">
                <a16:creationId xmlns:a16="http://schemas.microsoft.com/office/drawing/2014/main" id="{00A7BC6D-68F1-9DCB-7A9E-8A0B4B4283A4}"/>
              </a:ext>
            </a:extLst>
          </p:cNvPr>
          <p:cNvSpPr txBox="1"/>
          <p:nvPr/>
        </p:nvSpPr>
        <p:spPr>
          <a:xfrm>
            <a:off x="347345" y="372456"/>
            <a:ext cx="762635" cy="135935"/>
          </a:xfrm>
          <a:prstGeom prst="rect">
            <a:avLst/>
          </a:prstGeom>
        </p:spPr>
        <p:txBody>
          <a:bodyPr vert="horz" wrap="square" lIns="0" tIns="12700" rIns="0" bIns="0" rtlCol="0">
            <a:spAutoFit/>
          </a:bodyPr>
          <a:lstStyle/>
          <a:p>
            <a:pPr marL="12700">
              <a:lnSpc>
                <a:spcPct val="100000"/>
              </a:lnSpc>
              <a:spcBef>
                <a:spcPts val="100"/>
              </a:spcBef>
            </a:pPr>
            <a:r>
              <a:rPr lang="en-GB" sz="800">
                <a:solidFill>
                  <a:srgbClr val="142863"/>
                </a:solidFill>
                <a:latin typeface="Zurich Sans Light"/>
                <a:cs typeface="Zurich Sans Light"/>
              </a:rPr>
              <a:t>March </a:t>
            </a:r>
            <a:r>
              <a:rPr sz="800" b="0">
                <a:solidFill>
                  <a:srgbClr val="142863"/>
                </a:solidFill>
                <a:latin typeface="Zurich Sans Light"/>
                <a:cs typeface="Zurich Sans Light"/>
              </a:rPr>
              <a:t> </a:t>
            </a:r>
            <a:r>
              <a:rPr sz="800" b="0" spc="-20">
                <a:solidFill>
                  <a:srgbClr val="142863"/>
                </a:solidFill>
                <a:latin typeface="Zurich Sans Light"/>
                <a:cs typeface="Zurich Sans Light"/>
              </a:rPr>
              <a:t>202</a:t>
            </a:r>
            <a:r>
              <a:rPr lang="en-GB" sz="800" b="0" spc="-20">
                <a:solidFill>
                  <a:srgbClr val="142863"/>
                </a:solidFill>
                <a:latin typeface="Zurich Sans Light"/>
                <a:cs typeface="Zurich Sans Light"/>
              </a:rPr>
              <a:t>5</a:t>
            </a:r>
            <a:endParaRPr sz="800">
              <a:latin typeface="Zurich Sans Light"/>
              <a:cs typeface="Zurich Sans Light"/>
            </a:endParaRPr>
          </a:p>
        </p:txBody>
      </p:sp>
      <p:sp>
        <p:nvSpPr>
          <p:cNvPr id="12" name="object 3">
            <a:extLst>
              <a:ext uri="{FF2B5EF4-FFF2-40B4-BE49-F238E27FC236}">
                <a16:creationId xmlns:a16="http://schemas.microsoft.com/office/drawing/2014/main" id="{ABA3CDBF-C53A-CA08-ED6A-25635AFD35B3}"/>
              </a:ext>
            </a:extLst>
          </p:cNvPr>
          <p:cNvSpPr txBox="1"/>
          <p:nvPr/>
        </p:nvSpPr>
        <p:spPr>
          <a:xfrm>
            <a:off x="310968" y="7582730"/>
            <a:ext cx="6817620" cy="1185581"/>
          </a:xfrm>
          <a:prstGeom prst="rect">
            <a:avLst/>
          </a:prstGeom>
        </p:spPr>
        <p:txBody>
          <a:bodyPr vert="horz" wrap="square" lIns="0" tIns="51435" rIns="0" bIns="0" rtlCol="0">
            <a:spAutoFit/>
          </a:bodyPr>
          <a:lstStyle/>
          <a:p>
            <a:pPr marL="12700" algn="just">
              <a:spcBef>
                <a:spcPts val="405"/>
              </a:spcBef>
            </a:pPr>
            <a:r>
              <a:rPr sz="800" b="1" spc="-10" dirty="0">
                <a:solidFill>
                  <a:srgbClr val="002060"/>
                </a:solidFill>
                <a:latin typeface="Zurich Sans Light" panose="02000000000000000000" pitchFamily="2" charset="0"/>
                <a:cs typeface="Zurich Sans Medium"/>
              </a:rPr>
              <a:t>Important</a:t>
            </a:r>
            <a:r>
              <a:rPr sz="800" b="1" spc="20" dirty="0">
                <a:solidFill>
                  <a:srgbClr val="002060"/>
                </a:solidFill>
                <a:latin typeface="Zurich Sans Light" panose="02000000000000000000" pitchFamily="2" charset="0"/>
                <a:cs typeface="Zurich Sans Medium"/>
              </a:rPr>
              <a:t> </a:t>
            </a:r>
            <a:r>
              <a:rPr sz="800" b="1" spc="-10" dirty="0">
                <a:solidFill>
                  <a:srgbClr val="002060"/>
                </a:solidFill>
                <a:latin typeface="Zurich Sans Light" panose="02000000000000000000" pitchFamily="2" charset="0"/>
                <a:cs typeface="Zurich Sans Medium"/>
              </a:rPr>
              <a:t>information</a:t>
            </a:r>
            <a:endParaRPr sz="800" dirty="0">
              <a:solidFill>
                <a:srgbClr val="002060"/>
              </a:solidFill>
              <a:latin typeface="Zurich Sans Light" panose="02000000000000000000" pitchFamily="2" charset="0"/>
              <a:cs typeface="Zurich Sans Medium"/>
            </a:endParaRPr>
          </a:p>
          <a:p>
            <a:pPr marL="12700" algn="just">
              <a:spcBef>
                <a:spcPts val="240"/>
              </a:spcBef>
            </a:pPr>
            <a:r>
              <a:rPr lang="en-GB" sz="800" dirty="0">
                <a:solidFill>
                  <a:srgbClr val="002060"/>
                </a:solidFill>
                <a:latin typeface="Zurich Sans Light"/>
                <a:cs typeface="Zurich Sans Light"/>
              </a:rPr>
              <a:t>Zurich Integrated Benefits</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is a business</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name of Zurich</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International Life</a:t>
            </a:r>
            <a:r>
              <a:rPr lang="en-GB" sz="800" spc="5" dirty="0">
                <a:solidFill>
                  <a:srgbClr val="002060"/>
                </a:solidFill>
                <a:latin typeface="Zurich Sans Light"/>
                <a:cs typeface="Zurich Sans Light"/>
              </a:rPr>
              <a:t> </a:t>
            </a:r>
            <a:r>
              <a:rPr lang="en-GB" sz="800" spc="-10" dirty="0">
                <a:solidFill>
                  <a:srgbClr val="002060"/>
                </a:solidFill>
                <a:latin typeface="Zurich Sans Light"/>
                <a:cs typeface="Zurich Sans Light"/>
              </a:rPr>
              <a:t>Limited. </a:t>
            </a:r>
            <a:r>
              <a:rPr lang="en-GB" sz="800" dirty="0">
                <a:solidFill>
                  <a:srgbClr val="002060"/>
                </a:solidFill>
                <a:latin typeface="Zurich Sans Light"/>
                <a:cs typeface="Zurich Sans Light"/>
              </a:rPr>
              <a:t>Zurich</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International</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Life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Limited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is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authorised</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under</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the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Isle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of</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Man</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Insurance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Act</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2008</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and</a:t>
            </a:r>
            <a:r>
              <a:rPr lang="en-GB" sz="800" spc="10" dirty="0">
                <a:solidFill>
                  <a:srgbClr val="002060"/>
                </a:solidFill>
                <a:latin typeface="Zurich Sans Light"/>
                <a:cs typeface="Zurich Sans Light"/>
              </a:rPr>
              <a:t> </a:t>
            </a:r>
            <a:r>
              <a:rPr lang="en-GB" sz="800" spc="-25" dirty="0">
                <a:solidFill>
                  <a:srgbClr val="002060"/>
                </a:solidFill>
                <a:latin typeface="Zurich Sans Light"/>
                <a:cs typeface="Zurich Sans Light"/>
              </a:rPr>
              <a:t>is  </a:t>
            </a:r>
            <a:r>
              <a:rPr lang="en-GB" sz="800" dirty="0">
                <a:solidFill>
                  <a:srgbClr val="002060"/>
                </a:solidFill>
                <a:latin typeface="Zurich Sans Light"/>
                <a:cs typeface="Zurich Sans Light"/>
              </a:rPr>
              <a:t>regulated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by</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the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Isle</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of</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Man</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Financial</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Services</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Authority</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which</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ensures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that</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the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company</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has</a:t>
            </a:r>
            <a:r>
              <a:rPr lang="en-GB" sz="800" spc="15" dirty="0">
                <a:solidFill>
                  <a:srgbClr val="002060"/>
                </a:solidFill>
                <a:latin typeface="Zurich Sans Light"/>
                <a:cs typeface="Zurich Sans Light"/>
              </a:rPr>
              <a:t> </a:t>
            </a:r>
            <a:r>
              <a:rPr lang="en-GB" sz="800" spc="-10" dirty="0">
                <a:solidFill>
                  <a:srgbClr val="002060"/>
                </a:solidFill>
                <a:latin typeface="Zurich Sans Light"/>
                <a:cs typeface="Zurich Sans Light"/>
              </a:rPr>
              <a:t>sound </a:t>
            </a:r>
            <a:r>
              <a:rPr lang="en-GB" sz="800" dirty="0">
                <a:solidFill>
                  <a:srgbClr val="002060"/>
                </a:solidFill>
                <a:latin typeface="Zurich Sans Light"/>
                <a:cs typeface="Zurich Sans Light"/>
              </a:rPr>
              <a:t>and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professional</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management</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and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provision</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has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been</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made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to</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protect</a:t>
            </a:r>
            <a:r>
              <a:rPr lang="en-GB" sz="800" spc="15" dirty="0">
                <a:solidFill>
                  <a:srgbClr val="002060"/>
                </a:solidFill>
                <a:latin typeface="Zurich Sans Light"/>
                <a:cs typeface="Zurich Sans Light"/>
              </a:rPr>
              <a:t> </a:t>
            </a:r>
            <a:r>
              <a:rPr lang="en-GB" sz="800" spc="-10" dirty="0">
                <a:solidFill>
                  <a:srgbClr val="002060"/>
                </a:solidFill>
                <a:latin typeface="Zurich Sans Light"/>
                <a:cs typeface="Zurich Sans Light"/>
              </a:rPr>
              <a:t>planholders. </a:t>
            </a:r>
            <a:r>
              <a:rPr lang="en-GB" sz="800" dirty="0">
                <a:solidFill>
                  <a:srgbClr val="002060"/>
                </a:solidFill>
                <a:latin typeface="Zurich Sans Light"/>
                <a:cs typeface="Zurich Sans Light"/>
              </a:rPr>
              <a:t>For</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life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assurance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companies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authorised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in</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the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Isle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of</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Man,</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the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Isle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of</a:t>
            </a:r>
            <a:r>
              <a:rPr lang="en-GB" sz="800" spc="5" dirty="0">
                <a:solidFill>
                  <a:srgbClr val="002060"/>
                </a:solidFill>
                <a:latin typeface="Zurich Sans Light"/>
                <a:cs typeface="Zurich Sans Light"/>
              </a:rPr>
              <a:t> </a:t>
            </a:r>
            <a:r>
              <a:rPr lang="en-GB" sz="800" spc="-10" dirty="0">
                <a:solidFill>
                  <a:srgbClr val="002060"/>
                </a:solidFill>
                <a:latin typeface="Zurich Sans Light"/>
                <a:cs typeface="Zurich Sans Light"/>
              </a:rPr>
              <a:t>Man’s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Life</a:t>
            </a:r>
            <a:r>
              <a:rPr lang="en-GB" sz="800" spc="10" dirty="0">
                <a:solidFill>
                  <a:srgbClr val="002060"/>
                </a:solidFill>
                <a:latin typeface="Zurich Sans Light"/>
                <a:cs typeface="Zurich Sans Light"/>
              </a:rPr>
              <a:t> </a:t>
            </a:r>
            <a:r>
              <a:rPr lang="en-GB" sz="800" spc="-10" dirty="0">
                <a:solidFill>
                  <a:srgbClr val="002060"/>
                </a:solidFill>
                <a:latin typeface="Zurich Sans Light"/>
                <a:cs typeface="Zurich Sans Light"/>
              </a:rPr>
              <a:t>Assurance</a:t>
            </a:r>
            <a:r>
              <a:rPr lang="en-GB" sz="800" spc="500" dirty="0">
                <a:solidFill>
                  <a:srgbClr val="002060"/>
                </a:solidFill>
                <a:latin typeface="Zurich Sans Light"/>
                <a:cs typeface="Zurich Sans Light"/>
              </a:rPr>
              <a:t> </a:t>
            </a:r>
            <a:r>
              <a:rPr lang="en-GB" sz="800" dirty="0">
                <a:solidFill>
                  <a:srgbClr val="002060"/>
                </a:solidFill>
                <a:latin typeface="Zurich Sans Light"/>
                <a:cs typeface="Zurich Sans Light"/>
              </a:rPr>
              <a:t>(Compensation of</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Policyholders) Regulations</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1991, ensure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that</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in the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event of</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a life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assurance</a:t>
            </a:r>
            <a:r>
              <a:rPr lang="en-GB" sz="800" spc="5" dirty="0">
                <a:solidFill>
                  <a:srgbClr val="002060"/>
                </a:solidFill>
                <a:latin typeface="Zurich Sans Light"/>
                <a:cs typeface="Zurich Sans Light"/>
              </a:rPr>
              <a:t> </a:t>
            </a:r>
            <a:r>
              <a:rPr lang="en-GB" sz="800" spc="-10" dirty="0">
                <a:solidFill>
                  <a:srgbClr val="002060"/>
                </a:solidFill>
                <a:latin typeface="Zurich Sans Light"/>
                <a:cs typeface="Zurich Sans Light"/>
              </a:rPr>
              <a:t>company </a:t>
            </a:r>
            <a:r>
              <a:rPr lang="en-GB" sz="800" dirty="0">
                <a:solidFill>
                  <a:srgbClr val="002060"/>
                </a:solidFill>
                <a:latin typeface="Zurich Sans Light"/>
                <a:cs typeface="Zurich Sans Light"/>
              </a:rPr>
              <a:t>being</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unable</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to</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meet</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its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liabilities</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to</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its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planholders,</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up</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to</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90%</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of</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the</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liability</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to</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the</a:t>
            </a:r>
            <a:r>
              <a:rPr lang="en-GB" sz="800" spc="15" dirty="0">
                <a:solidFill>
                  <a:srgbClr val="002060"/>
                </a:solidFill>
                <a:latin typeface="Zurich Sans Light"/>
                <a:cs typeface="Zurich Sans Light"/>
              </a:rPr>
              <a:t> </a:t>
            </a:r>
            <a:r>
              <a:rPr lang="en-GB" sz="800" spc="-10" dirty="0">
                <a:solidFill>
                  <a:srgbClr val="002060"/>
                </a:solidFill>
                <a:latin typeface="Zurich Sans Light"/>
                <a:cs typeface="Zurich Sans Light"/>
              </a:rPr>
              <a:t>protected </a:t>
            </a:r>
            <a:r>
              <a:rPr lang="en-GB" sz="800" dirty="0">
                <a:solidFill>
                  <a:srgbClr val="002060"/>
                </a:solidFill>
                <a:latin typeface="Zurich Sans Light"/>
                <a:cs typeface="Zurich Sans Light"/>
              </a:rPr>
              <a:t>planholders</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will</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be</a:t>
            </a:r>
            <a:r>
              <a:rPr lang="en-GB" sz="800" spc="15" dirty="0">
                <a:solidFill>
                  <a:srgbClr val="002060"/>
                </a:solidFill>
                <a:latin typeface="Zurich Sans Light"/>
                <a:cs typeface="Zurich Sans Light"/>
              </a:rPr>
              <a:t> </a:t>
            </a:r>
            <a:r>
              <a:rPr lang="en-GB" sz="800" spc="-20" dirty="0">
                <a:solidFill>
                  <a:srgbClr val="002060"/>
                </a:solidFill>
                <a:latin typeface="Zurich Sans Light"/>
                <a:cs typeface="Zurich Sans Light"/>
              </a:rPr>
              <a:t>met. </a:t>
            </a:r>
            <a:r>
              <a:rPr lang="en-GB" sz="800" dirty="0">
                <a:solidFill>
                  <a:srgbClr val="002060"/>
                </a:solidFill>
                <a:latin typeface="Zurich Sans Light"/>
                <a:cs typeface="Zurich Sans Light"/>
              </a:rPr>
              <a:t>The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protection</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only</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applies</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to</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the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solvency</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of</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Zurich</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International</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Life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Limited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and</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does</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not</a:t>
            </a:r>
            <a:r>
              <a:rPr lang="en-GB" sz="800" spc="10" dirty="0">
                <a:solidFill>
                  <a:srgbClr val="002060"/>
                </a:solidFill>
                <a:latin typeface="Zurich Sans Light"/>
                <a:cs typeface="Zurich Sans Light"/>
              </a:rPr>
              <a:t> </a:t>
            </a:r>
            <a:r>
              <a:rPr lang="en-GB" sz="800" spc="-10" dirty="0">
                <a:solidFill>
                  <a:srgbClr val="002060"/>
                </a:solidFill>
                <a:latin typeface="Zurich Sans Light"/>
                <a:cs typeface="Zurich Sans Light"/>
              </a:rPr>
              <a:t>extend </a:t>
            </a:r>
            <a:r>
              <a:rPr lang="en-GB" sz="800" dirty="0">
                <a:solidFill>
                  <a:srgbClr val="002060"/>
                </a:solidFill>
                <a:latin typeface="Zurich Sans Light"/>
                <a:cs typeface="Zurich Sans Light"/>
              </a:rPr>
              <a:t>to</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protecting</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the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value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of</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the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assets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held</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within</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any</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unit-linked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funds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linked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to</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your</a:t>
            </a:r>
            <a:r>
              <a:rPr lang="en-GB" sz="800" spc="15" dirty="0">
                <a:solidFill>
                  <a:srgbClr val="002060"/>
                </a:solidFill>
                <a:latin typeface="Zurich Sans Light"/>
                <a:cs typeface="Zurich Sans Light"/>
              </a:rPr>
              <a:t> </a:t>
            </a:r>
            <a:r>
              <a:rPr lang="en-GB" sz="800" spc="-10" dirty="0">
                <a:solidFill>
                  <a:srgbClr val="002060"/>
                </a:solidFill>
                <a:latin typeface="Zurich Sans Light"/>
                <a:cs typeface="Zurich Sans Light"/>
              </a:rPr>
              <a:t>plan. </a:t>
            </a:r>
            <a:r>
              <a:rPr lang="en-GB" sz="800" dirty="0">
                <a:solidFill>
                  <a:srgbClr val="002060"/>
                </a:solidFill>
                <a:latin typeface="Zurich Sans Light"/>
                <a:cs typeface="Zurich Sans Light"/>
              </a:rPr>
              <a:t>Zurich</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International</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Life</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Limited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is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not</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authorised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to</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offer</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insurance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products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for</a:t>
            </a:r>
            <a:r>
              <a:rPr lang="en-GB" sz="800" spc="5" dirty="0">
                <a:solidFill>
                  <a:srgbClr val="002060"/>
                </a:solidFill>
                <a:latin typeface="Zurich Sans Light"/>
                <a:cs typeface="Zurich Sans Light"/>
              </a:rPr>
              <a:t> </a:t>
            </a:r>
            <a:r>
              <a:rPr lang="en-GB" sz="800" dirty="0">
                <a:solidFill>
                  <a:srgbClr val="002060"/>
                </a:solidFill>
                <a:latin typeface="Zurich Sans Light"/>
                <a:cs typeface="Zurich Sans Light"/>
              </a:rPr>
              <a:t>sale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in</a:t>
            </a:r>
            <a:r>
              <a:rPr lang="en-GB" sz="800" spc="10" dirty="0">
                <a:solidFill>
                  <a:srgbClr val="002060"/>
                </a:solidFill>
                <a:latin typeface="Zurich Sans Light"/>
                <a:cs typeface="Zurich Sans Light"/>
              </a:rPr>
              <a:t> </a:t>
            </a:r>
            <a:r>
              <a:rPr lang="en-GB" sz="800" spc="-25" dirty="0">
                <a:solidFill>
                  <a:srgbClr val="002060"/>
                </a:solidFill>
                <a:latin typeface="Zurich Sans Light"/>
                <a:cs typeface="Zurich Sans Light"/>
              </a:rPr>
              <a:t>the </a:t>
            </a:r>
            <a:r>
              <a:rPr lang="en-GB" sz="800" dirty="0">
                <a:solidFill>
                  <a:srgbClr val="002060"/>
                </a:solidFill>
                <a:latin typeface="Zurich Sans Light"/>
                <a:cs typeface="Zurich Sans Light"/>
              </a:rPr>
              <a:t>United</a:t>
            </a:r>
            <a:r>
              <a:rPr lang="en-GB" sz="800" spc="-10" dirty="0">
                <a:solidFill>
                  <a:srgbClr val="002060"/>
                </a:solidFill>
                <a:latin typeface="Zurich Sans Light"/>
                <a:cs typeface="Zurich Sans Light"/>
              </a:rPr>
              <a:t> States. </a:t>
            </a:r>
            <a:r>
              <a:rPr lang="en-GB" sz="800" dirty="0">
                <a:solidFill>
                  <a:srgbClr val="002060"/>
                </a:solidFill>
                <a:latin typeface="Zurich Sans Light"/>
                <a:cs typeface="Zurich Sans Light"/>
              </a:rPr>
              <a:t>Materials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are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not</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intended</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an</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offer</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to</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invest</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and</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do</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not</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constitute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an</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offer</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or</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solicitation</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of</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an</a:t>
            </a:r>
            <a:r>
              <a:rPr lang="en-GB" sz="800" spc="15" dirty="0">
                <a:solidFill>
                  <a:srgbClr val="002060"/>
                </a:solidFill>
                <a:latin typeface="Zurich Sans Light"/>
                <a:cs typeface="Zurich Sans Light"/>
              </a:rPr>
              <a:t> </a:t>
            </a:r>
            <a:r>
              <a:rPr lang="en-GB" sz="800" spc="-10" dirty="0">
                <a:solidFill>
                  <a:srgbClr val="002060"/>
                </a:solidFill>
                <a:latin typeface="Zurich Sans Light"/>
                <a:cs typeface="Zurich Sans Light"/>
              </a:rPr>
              <a:t>offer </a:t>
            </a:r>
            <a:r>
              <a:rPr lang="en-GB" sz="800" dirty="0">
                <a:solidFill>
                  <a:srgbClr val="002060"/>
                </a:solidFill>
                <a:latin typeface="Zurich Sans Light"/>
                <a:cs typeface="Zurich Sans Light"/>
              </a:rPr>
              <a:t>to</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buy</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securities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in</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any</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other</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country</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or</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other</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jurisdiction</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in</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which</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it</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is</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unlawful</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to</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make</a:t>
            </a:r>
            <a:r>
              <a:rPr lang="en-GB" sz="800" spc="10" dirty="0">
                <a:solidFill>
                  <a:srgbClr val="002060"/>
                </a:solidFill>
                <a:latin typeface="Zurich Sans Light"/>
                <a:cs typeface="Zurich Sans Light"/>
              </a:rPr>
              <a:t> </a:t>
            </a:r>
            <a:r>
              <a:rPr lang="en-GB" sz="800" dirty="0">
                <a:solidFill>
                  <a:srgbClr val="002060"/>
                </a:solidFill>
                <a:latin typeface="Zurich Sans Light"/>
                <a:cs typeface="Zurich Sans Light"/>
              </a:rPr>
              <a:t>such</a:t>
            </a:r>
            <a:r>
              <a:rPr lang="en-GB" sz="800" spc="15" dirty="0">
                <a:solidFill>
                  <a:srgbClr val="002060"/>
                </a:solidFill>
                <a:latin typeface="Zurich Sans Light"/>
                <a:cs typeface="Zurich Sans Light"/>
              </a:rPr>
              <a:t> </a:t>
            </a:r>
            <a:r>
              <a:rPr lang="en-GB" sz="800" dirty="0">
                <a:solidFill>
                  <a:srgbClr val="002060"/>
                </a:solidFill>
                <a:latin typeface="Zurich Sans Light"/>
                <a:cs typeface="Zurich Sans Light"/>
              </a:rPr>
              <a:t>an</a:t>
            </a:r>
            <a:r>
              <a:rPr lang="en-GB" sz="800" spc="15" dirty="0">
                <a:solidFill>
                  <a:srgbClr val="002060"/>
                </a:solidFill>
                <a:latin typeface="Zurich Sans Light"/>
                <a:cs typeface="Zurich Sans Light"/>
              </a:rPr>
              <a:t> </a:t>
            </a:r>
            <a:r>
              <a:rPr lang="en-GB" sz="800" spc="-10" dirty="0">
                <a:solidFill>
                  <a:srgbClr val="002060"/>
                </a:solidFill>
                <a:latin typeface="Zurich Sans Light"/>
                <a:cs typeface="Zurich Sans Light"/>
              </a:rPr>
              <a:t>offer </a:t>
            </a:r>
            <a:r>
              <a:rPr lang="en-GB" sz="800" dirty="0">
                <a:solidFill>
                  <a:srgbClr val="002060"/>
                </a:solidFill>
                <a:latin typeface="Zurich Sans Light"/>
                <a:cs typeface="Zurich Sans Light"/>
              </a:rPr>
              <a:t>or</a:t>
            </a:r>
            <a:r>
              <a:rPr lang="en-GB" sz="800" spc="15" dirty="0">
                <a:solidFill>
                  <a:srgbClr val="002060"/>
                </a:solidFill>
                <a:latin typeface="Zurich Sans Light"/>
                <a:cs typeface="Zurich Sans Light"/>
              </a:rPr>
              <a:t> </a:t>
            </a:r>
            <a:r>
              <a:rPr lang="en-GB" sz="800" spc="-10" dirty="0">
                <a:solidFill>
                  <a:srgbClr val="002060"/>
                </a:solidFill>
                <a:latin typeface="Zurich Sans Light"/>
                <a:cs typeface="Zurich Sans Light"/>
              </a:rPr>
              <a:t>solicitation.</a:t>
            </a:r>
            <a:endParaRPr lang="en-GB" sz="800" dirty="0">
              <a:latin typeface="Zurich Sans Light"/>
              <a:cs typeface="Zurich Sans Light"/>
            </a:endParaRPr>
          </a:p>
        </p:txBody>
      </p:sp>
      <p:sp>
        <p:nvSpPr>
          <p:cNvPr id="14" name="TextBox 13">
            <a:extLst>
              <a:ext uri="{FF2B5EF4-FFF2-40B4-BE49-F238E27FC236}">
                <a16:creationId xmlns:a16="http://schemas.microsoft.com/office/drawing/2014/main" id="{F3330643-F656-94F6-1E65-C53DEA25F7E8}"/>
              </a:ext>
            </a:extLst>
          </p:cNvPr>
          <p:cNvSpPr txBox="1"/>
          <p:nvPr/>
        </p:nvSpPr>
        <p:spPr>
          <a:xfrm>
            <a:off x="310968" y="8980229"/>
            <a:ext cx="6817620" cy="1084912"/>
          </a:xfrm>
          <a:prstGeom prst="rect">
            <a:avLst/>
          </a:prstGeom>
          <a:noFill/>
        </p:spPr>
        <p:txBody>
          <a:bodyPr wrap="square" lIns="0" tIns="0" rIns="0" bIns="0" rtlCol="0">
            <a:spAutoFit/>
          </a:bodyPr>
          <a:lstStyle/>
          <a:p>
            <a:pPr algn="l"/>
            <a:r>
              <a:rPr lang="en-GB" sz="700" dirty="0">
                <a:solidFill>
                  <a:srgbClr val="002060"/>
                </a:solidFill>
                <a:latin typeface="Zurich Sans Light" panose="02000000000000000000" pitchFamily="2" charset="0"/>
              </a:rPr>
              <a:t>Zurich International Life Limited, Bahrain Branch, which is registered in Bahrain under Commercial Registration No. 17444 and is licensed as an Overseas Insurance Firm –</a:t>
            </a:r>
            <a:br>
              <a:rPr lang="en-GB" sz="700" dirty="0">
                <a:solidFill>
                  <a:srgbClr val="002060"/>
                </a:solidFill>
                <a:latin typeface="Zurich Sans Light" panose="02000000000000000000" pitchFamily="2" charset="0"/>
              </a:rPr>
            </a:br>
            <a:r>
              <a:rPr lang="en-GB" sz="700" dirty="0">
                <a:solidFill>
                  <a:srgbClr val="002060"/>
                </a:solidFill>
                <a:latin typeface="Zurich Sans Light" panose="02000000000000000000" pitchFamily="2" charset="0"/>
              </a:rPr>
              <a:t>Life Insurance by the Central Bank of Bahrain. Branch offices: 27th Floor, </a:t>
            </a:r>
            <a:r>
              <a:rPr lang="en-GB" sz="700" dirty="0" err="1">
                <a:solidFill>
                  <a:srgbClr val="002060"/>
                </a:solidFill>
                <a:latin typeface="Zurich Sans Light" panose="02000000000000000000" pitchFamily="2" charset="0"/>
              </a:rPr>
              <a:t>Almoayyed</a:t>
            </a:r>
            <a:r>
              <a:rPr lang="en-GB" sz="700" dirty="0">
                <a:solidFill>
                  <a:srgbClr val="002060"/>
                </a:solidFill>
                <a:latin typeface="Zurich Sans Light" panose="02000000000000000000" pitchFamily="2" charset="0"/>
              </a:rPr>
              <a:t> Tower, Seef District, Kingdom of Bahrain. Telephone +973 1756 3322  </a:t>
            </a:r>
            <a:br>
              <a:rPr lang="en-GB" sz="700" dirty="0">
                <a:solidFill>
                  <a:srgbClr val="002060"/>
                </a:solidFill>
                <a:latin typeface="Zurich Sans Light" panose="02000000000000000000" pitchFamily="2" charset="0"/>
              </a:rPr>
            </a:br>
            <a:r>
              <a:rPr lang="en-GB" sz="700" dirty="0">
                <a:solidFill>
                  <a:srgbClr val="002060"/>
                </a:solidFill>
                <a:latin typeface="Zurich Sans Light" panose="02000000000000000000" pitchFamily="2" charset="0"/>
              </a:rPr>
              <a:t>Zurich International Life Limited, Qatar Branch, which is authorised by the Qatar Financial Centre Regulatory Authority. Branch offices: Office No. 404, 4th Floor, Qatar Financial Centre Tower, West Bay, Doha, Qatar. Telephone: +974 4428 6322  </a:t>
            </a:r>
            <a:br>
              <a:rPr lang="en-GB" sz="700" dirty="0">
                <a:solidFill>
                  <a:srgbClr val="002060"/>
                </a:solidFill>
                <a:latin typeface="Zurich Sans Light" panose="02000000000000000000" pitchFamily="2" charset="0"/>
              </a:rPr>
            </a:br>
            <a:r>
              <a:rPr lang="en-GB" sz="700" dirty="0">
                <a:solidFill>
                  <a:srgbClr val="002060"/>
                </a:solidFill>
                <a:latin typeface="Zurich Sans Light" panose="02000000000000000000" pitchFamily="2" charset="0"/>
              </a:rPr>
              <a:t>Zurich International Life Limited, UAE Branch, which is registered (Registration No. 63) under UAE Federal Law Number 6 of 2007, and its activities in the UAE governed by such law. Registered offices at Unit 601, Building 6, 6th Floor, Emaar Square, Dubai. (PO Box 50389 Dubai) Telephone: +971 4 425 2300 www.zurich.ae  </a:t>
            </a:r>
            <a:br>
              <a:rPr lang="en-GB" sz="700" dirty="0">
                <a:solidFill>
                  <a:srgbClr val="002060"/>
                </a:solidFill>
                <a:latin typeface="Zurich Sans Light" panose="02000000000000000000" pitchFamily="2" charset="0"/>
              </a:rPr>
            </a:br>
            <a:r>
              <a:rPr lang="en-GB" sz="700" dirty="0">
                <a:solidFill>
                  <a:srgbClr val="09296D"/>
                </a:solidFill>
                <a:latin typeface="Zurich Sans Light"/>
                <a:cs typeface="Zurich Sans Light"/>
              </a:rPr>
              <a:t>Zurich</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International</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Life</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Limited</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(a</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company</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incorporated</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in</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the</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Isle</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of</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Man</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with</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limited</a:t>
            </a:r>
            <a:r>
              <a:rPr lang="en-GB" sz="700" spc="10" dirty="0">
                <a:solidFill>
                  <a:srgbClr val="09296D"/>
                </a:solidFill>
                <a:latin typeface="Zurich Sans Light"/>
                <a:cs typeface="Zurich Sans Light"/>
              </a:rPr>
              <a:t> </a:t>
            </a:r>
            <a:r>
              <a:rPr lang="en-GB" sz="700" spc="-10" dirty="0">
                <a:solidFill>
                  <a:srgbClr val="09296D"/>
                </a:solidFill>
                <a:latin typeface="Zurich Sans Light"/>
                <a:cs typeface="Zurich Sans Light"/>
              </a:rPr>
              <a:t>liability) </a:t>
            </a:r>
            <a:r>
              <a:rPr lang="en-GB" sz="700" dirty="0">
                <a:solidFill>
                  <a:srgbClr val="09296D"/>
                </a:solidFill>
                <a:latin typeface="Zurich Sans Light"/>
                <a:cs typeface="Zurich Sans Light"/>
              </a:rPr>
              <a:t>provides</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life</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assurance,</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investment</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and</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protection</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products</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and</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is</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authorised</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by</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the</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Isle</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of</a:t>
            </a:r>
            <a:r>
              <a:rPr lang="en-GB" sz="700" spc="10" dirty="0">
                <a:solidFill>
                  <a:srgbClr val="09296D"/>
                </a:solidFill>
                <a:latin typeface="Zurich Sans Light"/>
                <a:cs typeface="Zurich Sans Light"/>
              </a:rPr>
              <a:t> </a:t>
            </a:r>
            <a:r>
              <a:rPr lang="en-GB" sz="700" spc="-25" dirty="0">
                <a:solidFill>
                  <a:srgbClr val="09296D"/>
                </a:solidFill>
                <a:latin typeface="Zurich Sans Light"/>
                <a:cs typeface="Zurich Sans Light"/>
              </a:rPr>
              <a:t>Man </a:t>
            </a:r>
            <a:r>
              <a:rPr lang="en-GB" sz="700" dirty="0">
                <a:solidFill>
                  <a:srgbClr val="09296D"/>
                </a:solidFill>
                <a:latin typeface="Zurich Sans Light"/>
                <a:cs typeface="Zurich Sans Light"/>
              </a:rPr>
              <a:t>Financial</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Services</a:t>
            </a:r>
            <a:r>
              <a:rPr lang="en-GB" sz="700" spc="20" dirty="0">
                <a:solidFill>
                  <a:srgbClr val="09296D"/>
                </a:solidFill>
                <a:latin typeface="Zurich Sans Light"/>
                <a:cs typeface="Zurich Sans Light"/>
              </a:rPr>
              <a:t> </a:t>
            </a:r>
            <a:r>
              <a:rPr lang="en-GB" sz="700" spc="-10" dirty="0">
                <a:solidFill>
                  <a:srgbClr val="09296D"/>
                </a:solidFill>
                <a:latin typeface="Zurich Sans Light"/>
                <a:cs typeface="Zurich Sans Light"/>
              </a:rPr>
              <a:t>Authority. </a:t>
            </a:r>
            <a:r>
              <a:rPr lang="en-GB" sz="700" dirty="0">
                <a:solidFill>
                  <a:srgbClr val="09296D"/>
                </a:solidFill>
                <a:latin typeface="Zurich Sans Light"/>
                <a:cs typeface="Zurich Sans Light"/>
              </a:rPr>
              <a:t>Registered in</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the</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Isle</a:t>
            </a:r>
            <a:r>
              <a:rPr lang="en-GB" sz="700" spc="15" dirty="0">
                <a:solidFill>
                  <a:srgbClr val="09296D"/>
                </a:solidFill>
                <a:latin typeface="Zurich Sans Light"/>
                <a:cs typeface="Zurich Sans Light"/>
              </a:rPr>
              <a:t> </a:t>
            </a:r>
            <a:r>
              <a:rPr lang="en-GB" sz="700" dirty="0">
                <a:solidFill>
                  <a:srgbClr val="09296D"/>
                </a:solidFill>
                <a:latin typeface="Zurich Sans Light"/>
                <a:cs typeface="Zurich Sans Light"/>
              </a:rPr>
              <a:t>of</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Man</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number</a:t>
            </a:r>
            <a:r>
              <a:rPr lang="en-GB" sz="700" spc="15" dirty="0">
                <a:solidFill>
                  <a:srgbClr val="09296D"/>
                </a:solidFill>
                <a:latin typeface="Zurich Sans Light"/>
                <a:cs typeface="Zurich Sans Light"/>
              </a:rPr>
              <a:t> </a:t>
            </a:r>
            <a:r>
              <a:rPr lang="en-GB" sz="700" spc="-10" dirty="0">
                <a:solidFill>
                  <a:srgbClr val="09296D"/>
                </a:solidFill>
                <a:latin typeface="Zurich Sans Light"/>
                <a:cs typeface="Zurich Sans Light"/>
              </a:rPr>
              <a:t>020126C. </a:t>
            </a:r>
            <a:r>
              <a:rPr lang="en-GB" sz="700" dirty="0">
                <a:solidFill>
                  <a:srgbClr val="09296D"/>
                </a:solidFill>
                <a:latin typeface="Zurich Sans Light"/>
                <a:cs typeface="Zurich Sans Light"/>
              </a:rPr>
              <a:t>Registered</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office:</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Zurich</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House,</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Isle</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of</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Man</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Business</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Park,</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Douglas,</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Isle</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of</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Man,</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IM2</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2QZ,</a:t>
            </a:r>
            <a:r>
              <a:rPr lang="en-GB" sz="700" spc="5" dirty="0">
                <a:solidFill>
                  <a:srgbClr val="09296D"/>
                </a:solidFill>
                <a:latin typeface="Zurich Sans Light"/>
                <a:cs typeface="Zurich Sans Light"/>
              </a:rPr>
              <a:t> </a:t>
            </a:r>
            <a:r>
              <a:rPr lang="en-GB" sz="700" dirty="0">
                <a:solidFill>
                  <a:srgbClr val="09296D"/>
                </a:solidFill>
                <a:latin typeface="Zurich Sans Light"/>
                <a:cs typeface="Zurich Sans Light"/>
              </a:rPr>
              <a:t>British</a:t>
            </a:r>
            <a:r>
              <a:rPr lang="en-GB" sz="700" spc="10" dirty="0">
                <a:solidFill>
                  <a:srgbClr val="09296D"/>
                </a:solidFill>
                <a:latin typeface="Zurich Sans Light"/>
                <a:cs typeface="Zurich Sans Light"/>
              </a:rPr>
              <a:t> </a:t>
            </a:r>
            <a:r>
              <a:rPr lang="en-GB" sz="700" spc="-10" dirty="0">
                <a:solidFill>
                  <a:srgbClr val="09296D"/>
                </a:solidFill>
                <a:latin typeface="Zurich Sans Light"/>
                <a:cs typeface="Zurich Sans Light"/>
              </a:rPr>
              <a:t>Isles. Telephone</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+44</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1624</a:t>
            </a:r>
            <a:r>
              <a:rPr lang="en-GB" sz="700" spc="15" dirty="0">
                <a:solidFill>
                  <a:srgbClr val="09296D"/>
                </a:solidFill>
                <a:latin typeface="Zurich Sans Light"/>
                <a:cs typeface="Zurich Sans Light"/>
              </a:rPr>
              <a:t> </a:t>
            </a:r>
            <a:r>
              <a:rPr lang="en-GB" sz="700" dirty="0">
                <a:solidFill>
                  <a:srgbClr val="09296D"/>
                </a:solidFill>
                <a:latin typeface="Zurich Sans Light"/>
                <a:cs typeface="Zurich Sans Light"/>
              </a:rPr>
              <a:t>662266</a:t>
            </a:r>
            <a:r>
              <a:rPr lang="en-GB" sz="700" spc="200" dirty="0">
                <a:solidFill>
                  <a:srgbClr val="09296D"/>
                </a:solidFill>
                <a:latin typeface="Zurich Sans Light"/>
                <a:cs typeface="Zurich Sans Light"/>
              </a:rPr>
              <a:t> </a:t>
            </a:r>
            <a:r>
              <a:rPr lang="en-GB" sz="700" spc="-10" dirty="0">
                <a:solidFill>
                  <a:srgbClr val="09296D"/>
                </a:solidFill>
                <a:latin typeface="Zurich Sans Light"/>
                <a:cs typeface="Zurich Sans Light"/>
              </a:rPr>
              <a:t>Telefax</a:t>
            </a:r>
            <a:r>
              <a:rPr lang="en-GB" sz="700" spc="15" dirty="0">
                <a:solidFill>
                  <a:srgbClr val="09296D"/>
                </a:solidFill>
                <a:latin typeface="Zurich Sans Light"/>
                <a:cs typeface="Zurich Sans Light"/>
              </a:rPr>
              <a:t> </a:t>
            </a:r>
            <a:r>
              <a:rPr lang="en-GB" sz="700" dirty="0">
                <a:solidFill>
                  <a:srgbClr val="09296D"/>
                </a:solidFill>
                <a:latin typeface="Zurich Sans Light"/>
                <a:cs typeface="Zurich Sans Light"/>
              </a:rPr>
              <a:t>+44</a:t>
            </a:r>
            <a:r>
              <a:rPr lang="en-GB" sz="700" spc="10" dirty="0">
                <a:solidFill>
                  <a:srgbClr val="09296D"/>
                </a:solidFill>
                <a:latin typeface="Zurich Sans Light"/>
                <a:cs typeface="Zurich Sans Light"/>
              </a:rPr>
              <a:t> </a:t>
            </a:r>
            <a:r>
              <a:rPr lang="en-GB" sz="700" dirty="0">
                <a:solidFill>
                  <a:srgbClr val="09296D"/>
                </a:solidFill>
                <a:latin typeface="Zurich Sans Light"/>
                <a:cs typeface="Zurich Sans Light"/>
              </a:rPr>
              <a:t>1624</a:t>
            </a:r>
            <a:r>
              <a:rPr lang="en-GB" sz="700" spc="15" dirty="0">
                <a:solidFill>
                  <a:srgbClr val="09296D"/>
                </a:solidFill>
                <a:latin typeface="Zurich Sans Light"/>
                <a:cs typeface="Zurich Sans Light"/>
              </a:rPr>
              <a:t> </a:t>
            </a:r>
            <a:r>
              <a:rPr lang="en-GB" sz="700" dirty="0">
                <a:solidFill>
                  <a:srgbClr val="09296D"/>
                </a:solidFill>
                <a:latin typeface="Zurich Sans Light"/>
                <a:cs typeface="Zurich Sans Light"/>
              </a:rPr>
              <a:t>662038</a:t>
            </a:r>
            <a:r>
              <a:rPr lang="en-GB" sz="700" spc="200" dirty="0">
                <a:solidFill>
                  <a:srgbClr val="09296D"/>
                </a:solidFill>
                <a:latin typeface="Zurich Sans Light"/>
                <a:cs typeface="Zurich Sans Light"/>
              </a:rPr>
              <a:t> </a:t>
            </a:r>
            <a:r>
              <a:rPr lang="en-GB" sz="700" spc="-10" dirty="0">
                <a:solidFill>
                  <a:srgbClr val="09296D"/>
                </a:solidFill>
                <a:latin typeface="Zurich Sans Light"/>
                <a:cs typeface="Zurich Sans Light"/>
              </a:rPr>
              <a:t>www.zurichinternational.com</a:t>
            </a:r>
            <a:endParaRPr lang="en-GB" sz="700" dirty="0">
              <a:latin typeface="Zurich Sans Light"/>
              <a:cs typeface="Zurich Sans Light"/>
            </a:endParaRPr>
          </a:p>
          <a:p>
            <a:pPr algn="l"/>
            <a:endParaRPr lang="en-GB" sz="750" dirty="0">
              <a:solidFill>
                <a:srgbClr val="002060"/>
              </a:solidFill>
              <a:latin typeface="Zurich Sans Light" panose="02000000000000000000" pitchFamily="2" charset="0"/>
            </a:endParaRPr>
          </a:p>
        </p:txBody>
      </p:sp>
      <p:sp>
        <p:nvSpPr>
          <p:cNvPr id="2" name="object 5">
            <a:extLst>
              <a:ext uri="{FF2B5EF4-FFF2-40B4-BE49-F238E27FC236}">
                <a16:creationId xmlns:a16="http://schemas.microsoft.com/office/drawing/2014/main" id="{8F20C037-9461-D926-4036-0007D05A2D99}"/>
              </a:ext>
            </a:extLst>
          </p:cNvPr>
          <p:cNvSpPr txBox="1"/>
          <p:nvPr/>
        </p:nvSpPr>
        <p:spPr>
          <a:xfrm>
            <a:off x="636324" y="1296608"/>
            <a:ext cx="6248485" cy="1104790"/>
          </a:xfrm>
          <a:prstGeom prst="rect">
            <a:avLst/>
          </a:prstGeom>
          <a:noFill/>
        </p:spPr>
        <p:txBody>
          <a:bodyPr vert="horz" wrap="square" lIns="0" tIns="29845" rIns="0" bIns="0" rtlCol="0">
            <a:spAutoFit/>
          </a:bodyPr>
          <a:lstStyle/>
          <a:p>
            <a:pPr marL="12700">
              <a:lnSpc>
                <a:spcPct val="100000"/>
              </a:lnSpc>
              <a:spcBef>
                <a:spcPts val="235"/>
              </a:spcBef>
            </a:pPr>
            <a:r>
              <a:rPr sz="1150" b="1" dirty="0">
                <a:solidFill>
                  <a:srgbClr val="004F9E"/>
                </a:solidFill>
                <a:latin typeface="Zurich Sans"/>
                <a:cs typeface="Zurich Sans"/>
              </a:rPr>
              <a:t>Additional</a:t>
            </a:r>
            <a:r>
              <a:rPr sz="1150" b="1" spc="-5" dirty="0">
                <a:solidFill>
                  <a:srgbClr val="004F9E"/>
                </a:solidFill>
                <a:latin typeface="Zurich Sans"/>
                <a:cs typeface="Zurich Sans"/>
              </a:rPr>
              <a:t> </a:t>
            </a:r>
            <a:r>
              <a:rPr sz="1150" b="1" spc="-10" dirty="0">
                <a:solidFill>
                  <a:srgbClr val="004F9E"/>
                </a:solidFill>
                <a:latin typeface="Zurich Sans"/>
                <a:cs typeface="Zurich Sans"/>
              </a:rPr>
              <a:t>Information</a:t>
            </a:r>
            <a:endParaRPr sz="1150" dirty="0">
              <a:latin typeface="Zurich Sans"/>
              <a:cs typeface="Zurich Sans"/>
            </a:endParaRPr>
          </a:p>
          <a:p>
            <a:pPr marL="12700" marR="5080">
              <a:lnSpc>
                <a:spcPts val="950"/>
              </a:lnSpc>
              <a:spcBef>
                <a:spcPts val="35"/>
              </a:spcBef>
            </a:pPr>
            <a:r>
              <a:rPr lang="en-GB" sz="900" dirty="0">
                <a:solidFill>
                  <a:srgbClr val="142863"/>
                </a:solidFill>
                <a:latin typeface="Zurich Sans Light"/>
              </a:rPr>
              <a:t>The fund invests in a range of global shares, with an emphasis on European markets. The regional bias was somewhat unhelpful over the quarter as European shares underperformed those in other regions, most notably the US. Political uncertainties in France and Germany and the release of subdued economic indicators eroded sentiment. We used the weakness as an opportunity to top up the fund’s exposure to European shares and to benefit from any improved performance in 2025. These purchases were funded by selling some of the fund’s shareholdings in Asia, Japan, and the US. The latter performed particularly well, following Donald Trump’s victory in November’s election and amid suggestions that his ‘America first’ policies could help support profitability among US-listed firms.. </a:t>
            </a:r>
          </a:p>
        </p:txBody>
      </p:sp>
      <p:sp>
        <p:nvSpPr>
          <p:cNvPr id="4" name="object 5">
            <a:extLst>
              <a:ext uri="{FF2B5EF4-FFF2-40B4-BE49-F238E27FC236}">
                <a16:creationId xmlns:a16="http://schemas.microsoft.com/office/drawing/2014/main" id="{68D87422-772D-51C1-8273-17E94779B150}"/>
              </a:ext>
            </a:extLst>
          </p:cNvPr>
          <p:cNvSpPr txBox="1"/>
          <p:nvPr/>
        </p:nvSpPr>
        <p:spPr>
          <a:xfrm>
            <a:off x="636323" y="2937683"/>
            <a:ext cx="6248484" cy="1617751"/>
          </a:xfrm>
          <a:prstGeom prst="rect">
            <a:avLst/>
          </a:prstGeom>
          <a:noFill/>
        </p:spPr>
        <p:txBody>
          <a:bodyPr vert="horz" wrap="square" lIns="0" tIns="29845" rIns="0" bIns="0" rtlCol="0">
            <a:spAutoFit/>
          </a:bodyPr>
          <a:lstStyle/>
          <a:p>
            <a:pPr marL="12700">
              <a:lnSpc>
                <a:spcPct val="100000"/>
              </a:lnSpc>
              <a:spcBef>
                <a:spcPts val="235"/>
              </a:spcBef>
            </a:pPr>
            <a:r>
              <a:rPr lang="en-GB" sz="1150" b="1" dirty="0">
                <a:solidFill>
                  <a:srgbClr val="004F9E"/>
                </a:solidFill>
                <a:latin typeface="Zurich Sans"/>
                <a:cs typeface="Zurich Sans"/>
              </a:rPr>
              <a:t>Commentary</a:t>
            </a:r>
            <a:endParaRPr lang="en-GB" sz="1150" dirty="0">
              <a:latin typeface="Zurich Sans"/>
              <a:cs typeface="Zurich Sans"/>
            </a:endParaRPr>
          </a:p>
          <a:p>
            <a:pPr marL="12700" marR="5080">
              <a:lnSpc>
                <a:spcPts val="950"/>
              </a:lnSpc>
              <a:spcBef>
                <a:spcPts val="35"/>
              </a:spcBef>
            </a:pPr>
            <a:r>
              <a:rPr lang="en-GB" sz="900" dirty="0">
                <a:solidFill>
                  <a:srgbClr val="142863"/>
                </a:solidFill>
                <a:latin typeface="Zurich Sans Light"/>
              </a:rPr>
              <a:t>Market Commentary as at 31 December 2024: Both Equities and Bonds detracted from performance over the quarter, as most of the major asset classes posted negative returns. Within Bonds, performance was broadly negative across the fixed income spectrum, with US Treasuries and Emerging Market bonds being the key detractors to performance. US Treasuries came under pressure as markets mulled over the potential implications of a second Trump presidency. For Emerging Market assets, dollar strength proved to be a significant headwind, particularly for local currency denominated bonds. Within Equities, allocations to the broad US market, Financials and US Small-Cap stocks contributed positively to performance, given that</a:t>
            </a:r>
          </a:p>
          <a:p>
            <a:pPr marL="12700" marR="5080">
              <a:lnSpc>
                <a:spcPts val="950"/>
              </a:lnSpc>
              <a:spcBef>
                <a:spcPts val="35"/>
              </a:spcBef>
            </a:pPr>
            <a:r>
              <a:rPr lang="en-GB" sz="900" dirty="0">
                <a:solidFill>
                  <a:srgbClr val="142863"/>
                </a:solidFill>
                <a:latin typeface="Zurich Sans Light"/>
              </a:rPr>
              <a:t>these were amongst the few parts of the market that managed to end in positive territory over the quarter. The broad US market benefitted from the continued participation of Large-Cap Growth stocks in the AI rally, whilst Financials and Small-Cap stocks firmed on the back of expectations that they would be key beneficiaries of a second Trump presidency. On the other hand, Emerging Market equities came under pressure, particularly Korean and Chinese equities.</a:t>
            </a:r>
          </a:p>
        </p:txBody>
      </p:sp>
      <p:pic>
        <p:nvPicPr>
          <p:cNvPr id="6" name="Graphic 5">
            <a:extLst>
              <a:ext uri="{FF2B5EF4-FFF2-40B4-BE49-F238E27FC236}">
                <a16:creationId xmlns:a16="http://schemas.microsoft.com/office/drawing/2014/main" id="{0F00C67D-91B1-0305-EDE7-C5767D23EAB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70037" y="182136"/>
            <a:ext cx="1976437" cy="767521"/>
          </a:xfrm>
          <a:prstGeom prst="rect">
            <a:avLst/>
          </a:prstGeom>
        </p:spPr>
      </p:pic>
    </p:spTree>
    <p:extLst>
      <p:ext uri="{BB962C8B-B14F-4D97-AF65-F5344CB8AC3E}">
        <p14:creationId xmlns:p14="http://schemas.microsoft.com/office/powerpoint/2010/main" val="24641686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4276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6A340C0-163A-490C-B810-95DAA8FC5C73}">
  <we:reference id="c08a5a11-2a3e-44ff-83ad-a24654290e73" version="1.0.0.9"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ropositionreviewed xmlns="71027376-e51c-46d3-bbb9-ed9ee9e70bbb">1</Propositionreviewed>
    <Proposition_x002d_FinalSignoff xmlns="71027376-e51c-46d3-bbb9-ed9ee9e70bbb">
      <UserInfo>
        <DisplayName/>
        <AccountId xsi:nil="true"/>
        <AccountType/>
      </UserInfo>
    </Proposition_x002d_FinalSignoff>
    <Marketing_x002d_FinalSignoff xmlns="71027376-e51c-46d3-bbb9-ed9ee9e70bbb">
      <UserInfo>
        <DisplayName/>
        <AccountId xsi:nil="true"/>
        <AccountType/>
      </UserInfo>
    </Marketing_x002d_FinalSignoff>
    <Livamendedcomments xmlns="71027376-e51c-46d3-bbb9-ed9ee9e70bbb">true</Livamendedcomments>
    <Status xmlns="71027376-e51c-46d3-bbb9-ed9ee9e70bbb" xsi:nil="true"/>
    <Actuarialsign_x002d_off xmlns="71027376-e51c-46d3-bbb9-ed9ee9e70bbb">
      <UserInfo>
        <DisplayName/>
        <AccountId xsi:nil="true"/>
        <AccountType/>
      </UserInfo>
    </Actuarialsign_x002d_of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D01C3D76103DE44BD72E9959B953C2B" ma:contentTypeVersion="15" ma:contentTypeDescription="Create a new document." ma:contentTypeScope="" ma:versionID="8b4a25689f5b4bc0c6acb9262f869e62">
  <xsd:schema xmlns:xsd="http://www.w3.org/2001/XMLSchema" xmlns:xs="http://www.w3.org/2001/XMLSchema" xmlns:p="http://schemas.microsoft.com/office/2006/metadata/properties" xmlns:ns2="71027376-e51c-46d3-bbb9-ed9ee9e70bbb" xmlns:ns3="2de8269f-8eec-4b40-ab3e-ee7a7faa3f53" targetNamespace="http://schemas.microsoft.com/office/2006/metadata/properties" ma:root="true" ma:fieldsID="e609de8757bf008dbe54e4b424d9e29d" ns2:_="" ns3:_="">
    <xsd:import namespace="71027376-e51c-46d3-bbb9-ed9ee9e70bbb"/>
    <xsd:import namespace="2de8269f-8eec-4b40-ab3e-ee7a7faa3f53"/>
    <xsd:element name="properties">
      <xsd:complexType>
        <xsd:sequence>
          <xsd:element name="documentManagement">
            <xsd:complexType>
              <xsd:all>
                <xsd:element ref="ns2:Propositionreviewed" minOccurs="0"/>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ivamendedcomments" minOccurs="0"/>
                <xsd:element ref="ns2:Status" minOccurs="0"/>
                <xsd:element ref="ns2:Proposition_x002d_FinalSignoff" minOccurs="0"/>
                <xsd:element ref="ns2:Marketing_x002d_FinalSignoff" minOccurs="0"/>
                <xsd:element ref="ns2:Actuarialsign_x002d_of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027376-e51c-46d3-bbb9-ed9ee9e70bbb" elementFormDefault="qualified">
    <xsd:import namespace="http://schemas.microsoft.com/office/2006/documentManagement/types"/>
    <xsd:import namespace="http://schemas.microsoft.com/office/infopath/2007/PartnerControls"/>
    <xsd:element name="Propositionreviewed" ma:index="8" nillable="true" ma:displayName="Proposition reviewed" ma:default="1" ma:format="Dropdown" ma:internalName="Propositionreviewed">
      <xsd:simpleType>
        <xsd:restriction base="dms:Note">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ivamendedcomments" ma:index="15" nillable="true" ma:displayName="Liv amended comments" ma:default="1" ma:format="Dropdown" ma:internalName="Livamendedcomments">
      <xsd:simpleType>
        <xsd:restriction base="dms:Boolean"/>
      </xsd:simpleType>
    </xsd:element>
    <xsd:element name="Status" ma:index="16" nillable="true" ma:displayName="Status" ma:format="Dropdown" ma:internalName="Status">
      <xsd:simpleType>
        <xsd:restriction base="dms:Note">
          <xsd:maxLength value="255"/>
        </xsd:restriction>
      </xsd:simpleType>
    </xsd:element>
    <xsd:element name="Proposition_x002d_FinalSignoff" ma:index="17" nillable="true" ma:displayName="Proposition - Final Sign off" ma:format="Dropdown" ma:list="UserInfo" ma:SharePointGroup="0" ma:internalName="Proposition_x002d_FinalSignoff">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rketing_x002d_FinalSignoff" ma:index="18" nillable="true" ma:displayName="Marketing - Final Sign off" ma:format="Dropdown" ma:list="UserInfo" ma:SharePointGroup="0" ma:internalName="Marketing_x002d_FinalSignoff">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ctuarialsign_x002d_off" ma:index="19" nillable="true" ma:displayName="Actuarial sign-off" ma:format="Dropdown" ma:list="UserInfo" ma:SharePointGroup="0" ma:internalName="Actuarialsign_x002d_off">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de8269f-8eec-4b40-ab3e-ee7a7faa3f5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32833D-EC9D-4174-A137-6F8FEF01E540}">
  <ds:schemaRefs>
    <ds:schemaRef ds:uri="50820f9f-1a7b-4032-bdee-08f6128e8755"/>
    <ds:schemaRef ds:uri="b324f3bd-19fc-4630-9f60-efc32d0f72c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71027376-e51c-46d3-bbb9-ed9ee9e70bbb"/>
  </ds:schemaRefs>
</ds:datastoreItem>
</file>

<file path=customXml/itemProps2.xml><?xml version="1.0" encoding="utf-8"?>
<ds:datastoreItem xmlns:ds="http://schemas.openxmlformats.org/officeDocument/2006/customXml" ds:itemID="{E4208720-DBFF-48B5-A36C-7477BD2B58D5}">
  <ds:schemaRefs>
    <ds:schemaRef ds:uri="http://schemas.microsoft.com/sharepoint/v3/contenttype/forms"/>
  </ds:schemaRefs>
</ds:datastoreItem>
</file>

<file path=customXml/itemProps3.xml><?xml version="1.0" encoding="utf-8"?>
<ds:datastoreItem xmlns:ds="http://schemas.openxmlformats.org/officeDocument/2006/customXml" ds:itemID="{E3248542-D490-4046-A0A1-DFE4928242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027376-e51c-46d3-bbb9-ed9ee9e70bbb"/>
    <ds:schemaRef ds:uri="2de8269f-8eec-4b40-ab3e-ee7a7faa3f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2025</Words>
  <Application>Microsoft Office PowerPoint</Application>
  <PresentationFormat>Custom</PresentationFormat>
  <Paragraphs>157</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Zurich Sans</vt:lpstr>
      <vt:lpstr>Zurich Sans Light</vt:lpstr>
      <vt:lpstr>Zurich Sans Semibold</vt:lpstr>
      <vt:lpstr>Arial</vt:lpstr>
      <vt:lpstr>Calibri</vt:lpstr>
      <vt:lpstr>Office Theme</vt:lpstr>
      <vt:lpstr>Fidelity Emerging Market Debt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Fidelity Emerging Market Debt PDF Factsheet</dc:title>
  <dc:creator>Neil Nicol</dc:creator>
  <cp:keywords>Version=3.2;
DocumentType=MR;
PublicationCountry=;
Language=en;
RecordDate=2024-11-30;
ShareClass=0L89;
Constraint=;
LevelType=;
DisseminationRecipient=;
GeneratorContact=customersupport@fefundinfo.com;
DateOfPublication=;
DocumentUrl=;
ModificationDate=;
ProductionDateTime=;
CalculationDate=2024-11-30;
DocumentLevelFlag=F;
Citicode=0L89;
RefPath=preview/ZILFS/FS/8aa6cab9-9492-461d-acba-e0bb0d6b7b82;</cp:keywords>
  <cp:lastModifiedBy>Sylwester Smolen</cp:lastModifiedBy>
  <cp:revision>5</cp:revision>
  <dcterms:created xsi:type="dcterms:W3CDTF">2025-02-14T09:21:38Z</dcterms:created>
  <dcterms:modified xsi:type="dcterms:W3CDTF">2025-07-04T12:41:19Z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2024-12-10T00:00:00Z</vt:filetime>
  </property>
  <property fmtid="{D5CDD505-2E9C-101B-9397-08002B2CF9AE}" pid="3" name="Creator">
    <vt:lpwstr>RealObjects PDFreactor(R) 11.6.4 (14944), Serial No: 5298, Licensed for: FE fundinfo (UK) Limited</vt:lpwstr>
  </property>
  <property fmtid="{D5CDD505-2E9C-101B-9397-08002B2CF9AE}" pid="4" name="LastSaved">
    <vt:filetime>2025-02-14T00:00:00Z</vt:filetime>
  </property>
  <property fmtid="{D5CDD505-2E9C-101B-9397-08002B2CF9AE}" pid="5" name="Producer">
    <vt:lpwstr>RealObjects PDFreactor(R) 11.6.4 (14944), Serial No: 5298, Licensed for: FE fundinfo (UK) Limited</vt:lpwstr>
  </property>
  <property fmtid="{D5CDD505-2E9C-101B-9397-08002B2CF9AE}" pid="6" name="MSIP_Label_9a7ed875-cb67-40d7-9ea6-a804b08b1148_Enabled">
    <vt:lpwstr>true</vt:lpwstr>
  </property>
  <property fmtid="{D5CDD505-2E9C-101B-9397-08002B2CF9AE}" pid="7" name="MSIP_Label_9a7ed875-cb67-40d7-9ea6-a804b08b1148_SetDate">
    <vt:lpwstr>2025-02-14T09:54:45Z</vt:lpwstr>
  </property>
  <property fmtid="{D5CDD505-2E9C-101B-9397-08002B2CF9AE}" pid="8" name="MSIP_Label_9a7ed875-cb67-40d7-9ea6-a804b08b1148_Method">
    <vt:lpwstr>Privileged</vt:lpwstr>
  </property>
  <property fmtid="{D5CDD505-2E9C-101B-9397-08002B2CF9AE}" pid="9" name="MSIP_Label_9a7ed875-cb67-40d7-9ea6-a804b08b1148_Name">
    <vt:lpwstr>9a7ed875-cb67-40d7-9ea6-a804b08b1148</vt:lpwstr>
  </property>
  <property fmtid="{D5CDD505-2E9C-101B-9397-08002B2CF9AE}" pid="10" name="MSIP_Label_9a7ed875-cb67-40d7-9ea6-a804b08b1148_SiteId">
    <vt:lpwstr>473672ba-cd07-4371-a2ae-788b4c61840e</vt:lpwstr>
  </property>
  <property fmtid="{D5CDD505-2E9C-101B-9397-08002B2CF9AE}" pid="11" name="MSIP_Label_9a7ed875-cb67-40d7-9ea6-a804b08b1148_ActionId">
    <vt:lpwstr>4a3382a1-4efe-4240-9aac-901c0c39532a</vt:lpwstr>
  </property>
  <property fmtid="{D5CDD505-2E9C-101B-9397-08002B2CF9AE}" pid="12" name="MSIP_Label_9a7ed875-cb67-40d7-9ea6-a804b08b1148_ContentBits">
    <vt:lpwstr>0</vt:lpwstr>
  </property>
  <property fmtid="{D5CDD505-2E9C-101B-9397-08002B2CF9AE}" pid="13" name="ContentTypeId">
    <vt:lpwstr>0x0101002D01C3D76103DE44BD72E9959B953C2B</vt:lpwstr>
  </property>
</Properties>
</file>