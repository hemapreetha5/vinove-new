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omments/modernComment_100_8B42B2DE.xml" ContentType="application/vnd.ms-powerpoint.comments+xml"/>
  <Override PartName="/ppt/comments/modernComment_104_3124AF23.xml" ContentType="application/vnd.ms-powerpoint.comments+xml"/>
  <Override PartName="/ppt/comments/modernComment_10E_E81397A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handoutMasterIdLst>
    <p:handoutMasterId r:id="rId16"/>
  </p:handoutMasterIdLst>
  <p:sldIdLst>
    <p:sldId id="265" r:id="rId5"/>
    <p:sldId id="267" r:id="rId6"/>
    <p:sldId id="262" r:id="rId7"/>
    <p:sldId id="264" r:id="rId8"/>
    <p:sldId id="256" r:id="rId9"/>
    <p:sldId id="260" r:id="rId10"/>
    <p:sldId id="258" r:id="rId11"/>
    <p:sldId id="269" r:id="rId12"/>
    <p:sldId id="270" r:id="rId13"/>
    <p:sldId id="268" r:id="rId14"/>
    <p:sldId id="271" r:id="rId15"/>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3368" userDrawn="1">
          <p15:clr>
            <a:srgbClr val="A4A3A4"/>
          </p15:clr>
        </p15:guide>
        <p15:guide id="2" pos="23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A0012B-29AF-F9C4-317E-4C2EAE14B3EA}" name="Dario Parlato" initials="" userId="S::dario.parlato@zurich.com::4f9853cd-b1ae-4777-827d-78c505c8918a" providerId="AD"/>
  <p188:author id="{7F18F081-F471-5FB4-4092-FC83DBCAFDB4}" name="Abigail Maartens" initials="AM" userId="S::abigail.maartens@uk.zurich.com::d35da4a8-91f7-46b4-b499-aba1e6bbb1cb" providerId="AD"/>
  <p188:author id="{98858799-046F-E13D-EA3E-3D547EE34C3A}" name="Diane Renton" initials="DR" userId="S::diane.renton@zurich.com::b213c1ff-2304-40f2-9691-b0c80cfe83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C7EA"/>
    <a:srgbClr val="004F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418BE-364A-4231-BB5F-0C9D1841F081}" v="282" dt="2025-04-15T16:51:11.90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3379" y="86"/>
      </p:cViewPr>
      <p:guideLst>
        <p:guide orient="horz" pos="3368"/>
        <p:guide pos="23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2" d="100"/>
          <a:sy n="72" d="100"/>
        </p:scale>
        <p:origin x="400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omments/modernComment_10E_E81397A4.xml><?xml version="1.0" encoding="utf-8"?>
<p188:cmLst xmlns:a="http://schemas.openxmlformats.org/drawingml/2006/main" xmlns:r="http://schemas.openxmlformats.org/officeDocument/2006/relationships" xmlns:p188="http://schemas.microsoft.com/office/powerpoint/2018/8/main">
  <p188:cm id="{57CC6485-5B2D-4A97-9A8F-B8C7843FC76E}" authorId="{98858799-046F-E13D-EA3E-3D547EE34C3A}" status="resolved" created="2025-04-07T13:43:56.482">
    <ac:deMkLst xmlns:ac="http://schemas.microsoft.com/office/drawing/2013/main/command">
      <pc:docMk xmlns:pc="http://schemas.microsoft.com/office/powerpoint/2013/main/command"/>
      <pc:sldMk xmlns:pc="http://schemas.microsoft.com/office/powerpoint/2013/main/command" cId="3893598116" sldId="270"/>
      <ac:graphicFrameMk id="86" creationId="{EBFF786D-0EB8-C04A-8BC0-6E5BB5D1F8F5}"/>
    </ac:deMkLst>
    <p188:txBody>
      <a:bodyPr/>
      <a:lstStyle/>
      <a:p>
        <a:r>
          <a:rPr lang="en-GB"/>
          <a:t>Note for FE - ensure that ‘Sector’ &amp; ‘Fixed Interest - Emerging Markets’ are aligend </a:t>
        </a:r>
      </a:p>
    </p188:txBody>
  </p188:cm>
  <p188:cm id="{F3BDED85-1A4C-4D45-83E7-806DDACDAC75}" authorId="{98858799-046F-E13D-EA3E-3D547EE34C3A}" created="2025-04-07T13:45:11.646">
    <ac:deMkLst xmlns:ac="http://schemas.microsoft.com/office/drawing/2013/main/command">
      <pc:docMk xmlns:pc="http://schemas.microsoft.com/office/powerpoint/2013/main/command"/>
      <pc:sldMk xmlns:pc="http://schemas.microsoft.com/office/powerpoint/2013/main/command" cId="3893598116" sldId="270"/>
      <ac:graphicFrameMk id="86" creationId="{EBFF786D-0EB8-C04A-8BC0-6E5BB5D1F8F5}"/>
    </ac:deMkLst>
    <p188:txBody>
      <a:bodyPr/>
      <a:lstStyle/>
      <a:p>
        <a:r>
          <a:rPr lang="en-GB"/>
          <a:t>Dario to provide imagery for this score</a:t>
        </a:r>
      </a:p>
    </p188:txBody>
  </p188:cm>
  <p188:cm id="{384DCC97-DAFE-4106-B1C4-17FBE24B2A34}" authorId="{98858799-046F-E13D-EA3E-3D547EE34C3A}" status="resolved" created="2025-04-07T13:46:07.776">
    <ac:deMkLst xmlns:ac="http://schemas.microsoft.com/office/drawing/2013/main/command">
      <pc:docMk xmlns:pc="http://schemas.microsoft.com/office/powerpoint/2013/main/command"/>
      <pc:sldMk xmlns:pc="http://schemas.microsoft.com/office/powerpoint/2013/main/command" cId="3893598116" sldId="270"/>
      <ac:graphicFrameMk id="86" creationId="{EBFF786D-0EB8-C04A-8BC0-6E5BB5D1F8F5}"/>
    </ac:deMkLst>
    <p188:txBody>
      <a:bodyPr/>
      <a:lstStyle/>
      <a:p>
        <a:r>
          <a:rPr lang="en-GB"/>
          <a:t>Leave a line space between *This figure includes….. And the line above to ensure it is clear it isn’t related to the line above.</a:t>
        </a:r>
      </a:p>
    </p188:txBody>
  </p188:cm>
</p188:cmLst>
</file>

<file path=ppt/comments/modernComment_100_8B42B2DE.xml><?xml version="1.0" encoding="utf-8"?>
<p188:cmLst xmlns:a="http://schemas.openxmlformats.org/drawingml/2006/main" xmlns:r="http://schemas.openxmlformats.org/officeDocument/2006/relationships" xmlns:p188="http://schemas.microsoft.com/office/powerpoint/2018/8/main">
  <p188:cm id="{0E878B14-0FD8-4DAE-889C-CC14CB2C60CF}" authorId="{98858799-046F-E13D-EA3E-3D547EE34C3A}" status="resolved" created="2025-04-07T13:43:56.482">
    <ac:deMkLst xmlns:ac="http://schemas.microsoft.com/office/drawing/2013/main/command">
      <pc:docMk xmlns:pc="http://schemas.microsoft.com/office/powerpoint/2013/main/command"/>
      <pc:sldMk xmlns:pc="http://schemas.microsoft.com/office/powerpoint/2013/main/command" cId="2336404190" sldId="256"/>
      <ac:graphicFrameMk id="86" creationId="{3F8A61C2-5FC4-EA35-BFEA-4DC3B7E94B53}"/>
    </ac:deMkLst>
    <p188:txBody>
      <a:bodyPr/>
      <a:lstStyle/>
      <a:p>
        <a:r>
          <a:rPr lang="en-GB"/>
          <a:t>Note for FE - ensure that ‘Sector’ &amp; ‘Fixed Interest - Emerging Markets’ are aligend </a:t>
        </a:r>
      </a:p>
    </p188:txBody>
  </p188:cm>
  <p188:cm id="{BC7AFAF6-1762-4859-97EB-B74A79BE6216}" authorId="{98858799-046F-E13D-EA3E-3D547EE34C3A}" created="2025-04-07T13:45:11.646">
    <ac:deMkLst xmlns:ac="http://schemas.microsoft.com/office/drawing/2013/main/command">
      <pc:docMk xmlns:pc="http://schemas.microsoft.com/office/powerpoint/2013/main/command"/>
      <pc:sldMk xmlns:pc="http://schemas.microsoft.com/office/powerpoint/2013/main/command" cId="2336404190" sldId="256"/>
      <ac:graphicFrameMk id="86" creationId="{3F8A61C2-5FC4-EA35-BFEA-4DC3B7E94B53}"/>
    </ac:deMkLst>
    <p188:txBody>
      <a:bodyPr/>
      <a:lstStyle/>
      <a:p>
        <a:r>
          <a:rPr lang="en-GB"/>
          <a:t>Dario to provide imagery for this score</a:t>
        </a:r>
      </a:p>
    </p188:txBody>
  </p188:cm>
  <p188:cm id="{2E337DAE-0BD0-4D45-8934-EBA0D4430D46}" authorId="{98858799-046F-E13D-EA3E-3D547EE34C3A}" status="resolved" created="2025-04-07T13:46:07.776">
    <ac:deMkLst xmlns:ac="http://schemas.microsoft.com/office/drawing/2013/main/command">
      <pc:docMk xmlns:pc="http://schemas.microsoft.com/office/powerpoint/2013/main/command"/>
      <pc:sldMk xmlns:pc="http://schemas.microsoft.com/office/powerpoint/2013/main/command" cId="2336404190" sldId="256"/>
      <ac:graphicFrameMk id="86" creationId="{3F8A61C2-5FC4-EA35-BFEA-4DC3B7E94B53}"/>
    </ac:deMkLst>
    <p188:txBody>
      <a:bodyPr/>
      <a:lstStyle/>
      <a:p>
        <a:r>
          <a:rPr lang="en-GB"/>
          <a:t>Leave a line space between *This figure includes….. And the line above to ensure it is clear it isn’t related to the line above.</a:t>
        </a:r>
      </a:p>
    </p188:txBody>
  </p188:cm>
</p188:cmLst>
</file>

<file path=ppt/comments/modernComment_104_3124AF23.xml><?xml version="1.0" encoding="utf-8"?>
<p188:cmLst xmlns:a="http://schemas.openxmlformats.org/drawingml/2006/main" xmlns:r="http://schemas.openxmlformats.org/officeDocument/2006/relationships" xmlns:p188="http://schemas.microsoft.com/office/powerpoint/2018/8/main">
  <p188:cm id="{D5F7DF55-9AA3-4FAE-8A52-EBA504BB55A3}" authorId="{98858799-046F-E13D-EA3E-3D547EE34C3A}" created="2025-04-07T13:51:33.522">
    <ac:deMkLst xmlns:ac="http://schemas.microsoft.com/office/drawing/2013/main/command">
      <pc:docMk xmlns:pc="http://schemas.microsoft.com/office/powerpoint/2013/main/command"/>
      <pc:sldMk xmlns:pc="http://schemas.microsoft.com/office/powerpoint/2013/main/command" cId="824487715" sldId="260"/>
      <ac:spMk id="2" creationId="{7E711F5A-BDBC-398B-83DF-625D0396CFB6}"/>
    </ac:deMkLst>
    <p188:replyLst>
      <p188:reply id="{27FD6381-D290-46F4-B81C-52FA2DA7CBC1}" authorId="{7F18F081-F471-5FB4-4092-FC83DBCAFDB4}" created="2025-04-09T08:10:20.965">
        <p188:txBody>
          <a:bodyPr/>
          <a:lstStyle/>
          <a:p>
            <a:r>
              <a:rPr lang="en-US"/>
              <a:t>Agreed Additional Commentary not needed</a:t>
            </a:r>
          </a:p>
        </p188:txBody>
      </p188:reply>
    </p188:replyLst>
    <p188:txBody>
      <a:bodyPr/>
      <a:lstStyle/>
      <a:p>
        <a:r>
          <a:rPr lang="en-GB"/>
          <a:t>Checking with Neil which ones of these are actually required (Additional Information / Commentary / Additional Commentary)</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06249A-E1C8-B345-5216-76140A0CB47D}"/>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558CE6-D5EB-F8B0-3DE7-FB0D99D521E5}"/>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2A3DFBBA-9963-4A49-85AC-215BE23C25EA}" type="datetimeFigureOut">
              <a:rPr lang="en-US" smtClean="0"/>
              <a:t>6/23/2025</a:t>
            </a:fld>
            <a:endParaRPr lang="en-US"/>
          </a:p>
        </p:txBody>
      </p:sp>
      <p:sp>
        <p:nvSpPr>
          <p:cNvPr id="4" name="Footer Placeholder 3">
            <a:extLst>
              <a:ext uri="{FF2B5EF4-FFF2-40B4-BE49-F238E27FC236}">
                <a16:creationId xmlns:a16="http://schemas.microsoft.com/office/drawing/2014/main" id="{2EF86825-A036-3172-4F7D-26A258DC8806}"/>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6E733F7-386F-F8AC-14FA-579EE83CD252}"/>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7D9F83B4-C245-46F3-A900-3E78410CEAFB}" type="slidenum">
              <a:rPr lang="en-US" smtClean="0"/>
              <a:t>‹#›</a:t>
            </a:fld>
            <a:endParaRPr lang="en-US"/>
          </a:p>
        </p:txBody>
      </p:sp>
    </p:spTree>
    <p:extLst>
      <p:ext uri="{BB962C8B-B14F-4D97-AF65-F5344CB8AC3E}">
        <p14:creationId xmlns:p14="http://schemas.microsoft.com/office/powerpoint/2010/main" val="128517461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7345" y="495043"/>
            <a:ext cx="3947160" cy="727710"/>
          </a:xfrm>
          <a:prstGeom prst="rect">
            <a:avLst/>
          </a:prstGeom>
        </p:spPr>
        <p:txBody>
          <a:bodyPr wrap="square" lIns="0" tIns="0" rIns="0" bIns="0">
            <a:spAutoFit/>
          </a:bodyPr>
          <a:lstStyle>
            <a:lvl1pPr>
              <a:defRPr sz="2400" b="1" i="0">
                <a:solidFill>
                  <a:srgbClr val="142863"/>
                </a:solidFill>
                <a:latin typeface="Zurich Sans Semibold"/>
                <a:cs typeface="Zurich Sans Semibold"/>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6/23/2025</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8B42B2DE.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4_3124AF2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E_E81397A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B96F7-3766-3743-4BF2-FF60D698177A}"/>
            </a:ext>
          </a:extLst>
        </p:cNvPr>
        <p:cNvGrpSpPr/>
        <p:nvPr/>
      </p:nvGrpSpPr>
      <p:grpSpPr>
        <a:xfrm>
          <a:off x="0" y="0"/>
          <a:ext cx="0" cy="0"/>
          <a:chOff x="0" y="0"/>
          <a:chExt cx="0" cy="0"/>
        </a:xfrm>
      </p:grpSpPr>
      <p:sp>
        <p:nvSpPr>
          <p:cNvPr id="22" name="object 22">
            <a:extLst>
              <a:ext uri="{FF2B5EF4-FFF2-40B4-BE49-F238E27FC236}">
                <a16:creationId xmlns:a16="http://schemas.microsoft.com/office/drawing/2014/main" id="{146290AB-91CB-B8F2-2D41-96F6B3FB24A9}"/>
              </a:ext>
            </a:extLst>
          </p:cNvPr>
          <p:cNvSpPr txBox="1"/>
          <p:nvPr/>
        </p:nvSpPr>
        <p:spPr>
          <a:xfrm>
            <a:off x="3059937" y="4973992"/>
            <a:ext cx="4183242" cy="385445"/>
          </a:xfrm>
          <a:prstGeom prst="rect">
            <a:avLst/>
          </a:prstGeom>
        </p:spPr>
        <p:txBody>
          <a:bodyPr vert="horz" wrap="square" lIns="0" tIns="70485" rIns="0" bIns="0" rtlCol="0">
            <a:spAutoFit/>
          </a:bodyPr>
          <a:lstStyle/>
          <a:p>
            <a:pPr marL="643890">
              <a:lnSpc>
                <a:spcPct val="100000"/>
              </a:lnSpc>
              <a:spcBef>
                <a:spcPts val="555"/>
              </a:spcBef>
              <a:tabLst>
                <a:tab pos="1134745" algn="l"/>
                <a:tab pos="1633855" algn="l"/>
                <a:tab pos="2786380" algn="l"/>
                <a:tab pos="3216910" algn="l"/>
                <a:tab pos="3736975" algn="l"/>
              </a:tabLst>
            </a:pPr>
            <a:r>
              <a:rPr sz="800">
                <a:solidFill>
                  <a:srgbClr val="142863"/>
                </a:solidFill>
                <a:latin typeface="Zurich Sans"/>
                <a:cs typeface="Zurich Sans"/>
              </a:rPr>
              <a:t>3 </a:t>
            </a:r>
            <a:r>
              <a:rPr sz="800" spc="-10">
                <a:solidFill>
                  <a:srgbClr val="142863"/>
                </a:solidFill>
                <a:latin typeface="Zurich Sans"/>
                <a:cs typeface="Zurich Sans"/>
              </a:rPr>
              <a:t>Years</a:t>
            </a:r>
            <a:r>
              <a:rPr sz="800">
                <a:solidFill>
                  <a:srgbClr val="142863"/>
                </a:solidFill>
                <a:latin typeface="Zurich Sans"/>
                <a:cs typeface="Zurich Sans"/>
              </a:rPr>
              <a:t>	5</a:t>
            </a:r>
            <a:r>
              <a:rPr sz="800" spc="-10">
                <a:solidFill>
                  <a:srgbClr val="142863"/>
                </a:solidFill>
                <a:latin typeface="Zurich Sans"/>
                <a:cs typeface="Zurich Sans"/>
              </a:rPr>
              <a:t> Years</a:t>
            </a:r>
            <a:r>
              <a:rPr sz="800">
                <a:solidFill>
                  <a:srgbClr val="142863"/>
                </a:solidFill>
                <a:latin typeface="Zurich Sans"/>
                <a:cs typeface="Zurich Sans"/>
              </a:rPr>
              <a:t>	10</a:t>
            </a:r>
            <a:r>
              <a:rPr sz="800" spc="-10">
                <a:solidFill>
                  <a:srgbClr val="142863"/>
                </a:solidFill>
                <a:latin typeface="Zurich Sans"/>
                <a:cs typeface="Zurich Sans"/>
              </a:rPr>
              <a:t> Years</a:t>
            </a:r>
            <a:r>
              <a:rPr sz="800">
                <a:solidFill>
                  <a:srgbClr val="142863"/>
                </a:solidFill>
                <a:latin typeface="Zurich Sans"/>
                <a:cs typeface="Zurich Sans"/>
              </a:rPr>
              <a:t>	1</a:t>
            </a:r>
            <a:r>
              <a:rPr sz="800" spc="-10">
                <a:solidFill>
                  <a:srgbClr val="142863"/>
                </a:solidFill>
                <a:latin typeface="Zurich Sans"/>
                <a:cs typeface="Zurich Sans"/>
              </a:rPr>
              <a:t> </a:t>
            </a:r>
            <a:r>
              <a:rPr sz="800" spc="-20">
                <a:solidFill>
                  <a:srgbClr val="142863"/>
                </a:solidFill>
                <a:latin typeface="Zurich Sans"/>
                <a:cs typeface="Zurich Sans"/>
              </a:rPr>
              <a:t>Year</a:t>
            </a:r>
            <a:r>
              <a:rPr sz="800">
                <a:solidFill>
                  <a:srgbClr val="142863"/>
                </a:solidFill>
                <a:latin typeface="Zurich Sans"/>
                <a:cs typeface="Zurich Sans"/>
              </a:rPr>
              <a:t>	3</a:t>
            </a:r>
            <a:r>
              <a:rPr sz="800" spc="-10">
                <a:solidFill>
                  <a:srgbClr val="142863"/>
                </a:solidFill>
                <a:latin typeface="Zurich Sans"/>
                <a:cs typeface="Zurich Sans"/>
              </a:rPr>
              <a:t> Years</a:t>
            </a:r>
            <a:r>
              <a:rPr sz="800">
                <a:solidFill>
                  <a:srgbClr val="142863"/>
                </a:solidFill>
                <a:latin typeface="Zurich Sans"/>
                <a:cs typeface="Zurich Sans"/>
              </a:rPr>
              <a:t>	5 </a:t>
            </a:r>
            <a:r>
              <a:rPr sz="800" spc="-10">
                <a:solidFill>
                  <a:srgbClr val="142863"/>
                </a:solidFill>
                <a:latin typeface="Zurich Sans"/>
                <a:cs typeface="Zurich Sans"/>
              </a:rPr>
              <a:t>Years</a:t>
            </a:r>
            <a:endParaRPr sz="800">
              <a:latin typeface="Zurich Sans"/>
              <a:cs typeface="Zurich Sans"/>
            </a:endParaRPr>
          </a:p>
          <a:p>
            <a:pPr marL="12700">
              <a:lnSpc>
                <a:spcPct val="100000"/>
              </a:lnSpc>
              <a:spcBef>
                <a:spcPts val="455"/>
              </a:spcBef>
              <a:tabLst>
                <a:tab pos="665480" algn="l"/>
                <a:tab pos="1163320" algn="l"/>
                <a:tab pos="1683385" algn="l"/>
                <a:tab pos="2154555" algn="l"/>
                <a:tab pos="2815590" algn="l"/>
                <a:tab pos="3291840" algn="l"/>
                <a:tab pos="3820160" algn="l"/>
              </a:tabLst>
            </a:pPr>
            <a:r>
              <a:rPr sz="800">
                <a:solidFill>
                  <a:srgbClr val="142863"/>
                </a:solidFill>
                <a:latin typeface="Zurich Sans"/>
                <a:cs typeface="Zurich Sans"/>
              </a:rPr>
              <a:t>% </a:t>
            </a:r>
            <a:r>
              <a:rPr sz="800" spc="-10">
                <a:solidFill>
                  <a:srgbClr val="142863"/>
                </a:solidFill>
                <a:latin typeface="Zurich Sans"/>
                <a:cs typeface="Zurich Sans"/>
              </a:rPr>
              <a:t>Growth</a:t>
            </a:r>
            <a:r>
              <a:rPr sz="800">
                <a:solidFill>
                  <a:srgbClr val="142863"/>
                </a:solidFill>
                <a:latin typeface="Zurich Sans"/>
                <a:cs typeface="Zurich Sans"/>
              </a:rPr>
              <a:t>	-</a:t>
            </a:r>
            <a:r>
              <a:rPr sz="800" spc="-20">
                <a:solidFill>
                  <a:srgbClr val="142863"/>
                </a:solidFill>
                <a:latin typeface="Zurich Sans"/>
                <a:cs typeface="Zurich Sans"/>
              </a:rPr>
              <a:t>7.72%</a:t>
            </a:r>
            <a:r>
              <a:rPr sz="800">
                <a:solidFill>
                  <a:srgbClr val="142863"/>
                </a:solidFill>
                <a:latin typeface="Zurich Sans"/>
                <a:cs typeface="Zurich Sans"/>
              </a:rPr>
              <a:t>	-</a:t>
            </a:r>
            <a:r>
              <a:rPr sz="800" spc="-10">
                <a:solidFill>
                  <a:srgbClr val="142863"/>
                </a:solidFill>
                <a:latin typeface="Zurich Sans"/>
                <a:cs typeface="Zurich Sans"/>
              </a:rPr>
              <a:t>4.51%</a:t>
            </a:r>
            <a:r>
              <a:rPr sz="800">
                <a:solidFill>
                  <a:srgbClr val="142863"/>
                </a:solidFill>
                <a:latin typeface="Zurich Sans"/>
                <a:cs typeface="Zurich Sans"/>
              </a:rPr>
              <a:t>	-</a:t>
            </a:r>
            <a:r>
              <a:rPr sz="800" spc="-10">
                <a:solidFill>
                  <a:srgbClr val="142863"/>
                </a:solidFill>
                <a:latin typeface="Zurich Sans"/>
                <a:cs typeface="Zurich Sans"/>
              </a:rPr>
              <a:t>1.87%</a:t>
            </a:r>
            <a:r>
              <a:rPr sz="800">
                <a:solidFill>
                  <a:srgbClr val="142863"/>
                </a:solidFill>
                <a:latin typeface="Zurich Sans"/>
                <a:cs typeface="Zurich Sans"/>
              </a:rPr>
              <a:t>	</a:t>
            </a:r>
            <a:r>
              <a:rPr lang="en-GB" sz="800">
                <a:solidFill>
                  <a:srgbClr val="142863"/>
                </a:solidFill>
                <a:latin typeface="Zurich Sans"/>
                <a:cs typeface="Zurich Sans"/>
              </a:rPr>
              <a:t>    </a:t>
            </a:r>
            <a:r>
              <a:rPr sz="800" spc="-10">
                <a:solidFill>
                  <a:srgbClr val="142863"/>
                </a:solidFill>
                <a:latin typeface="Zurich Sans"/>
                <a:cs typeface="Zurich Sans"/>
              </a:rPr>
              <a:t>Volatility</a:t>
            </a:r>
            <a:r>
              <a:rPr sz="800">
                <a:solidFill>
                  <a:srgbClr val="142863"/>
                </a:solidFill>
                <a:latin typeface="Zurich Sans"/>
                <a:cs typeface="Zurich Sans"/>
              </a:rPr>
              <a:t>	</a:t>
            </a:r>
            <a:r>
              <a:rPr sz="800" spc="-20">
                <a:solidFill>
                  <a:srgbClr val="142863"/>
                </a:solidFill>
                <a:latin typeface="Zurich Sans"/>
                <a:cs typeface="Zurich Sans"/>
              </a:rPr>
              <a:t>2.09</a:t>
            </a:r>
            <a:r>
              <a:rPr sz="800">
                <a:solidFill>
                  <a:srgbClr val="142863"/>
                </a:solidFill>
                <a:latin typeface="Zurich Sans"/>
                <a:cs typeface="Zurich Sans"/>
              </a:rPr>
              <a:t>	</a:t>
            </a:r>
            <a:r>
              <a:rPr sz="800" spc="-20">
                <a:solidFill>
                  <a:srgbClr val="142863"/>
                </a:solidFill>
                <a:latin typeface="Zurich Sans"/>
                <a:cs typeface="Zurich Sans"/>
              </a:rPr>
              <a:t>3.75</a:t>
            </a:r>
            <a:r>
              <a:rPr sz="800">
                <a:solidFill>
                  <a:srgbClr val="142863"/>
                </a:solidFill>
                <a:latin typeface="Zurich Sans"/>
                <a:cs typeface="Zurich Sans"/>
              </a:rPr>
              <a:t>	</a:t>
            </a:r>
            <a:r>
              <a:rPr sz="800" spc="-20">
                <a:solidFill>
                  <a:srgbClr val="142863"/>
                </a:solidFill>
                <a:latin typeface="Zurich Sans"/>
                <a:cs typeface="Zurich Sans"/>
              </a:rPr>
              <a:t>4.61</a:t>
            </a:r>
            <a:endParaRPr sz="800">
              <a:latin typeface="Zurich Sans"/>
              <a:cs typeface="Zurich Sans"/>
            </a:endParaRPr>
          </a:p>
        </p:txBody>
      </p:sp>
      <p:sp>
        <p:nvSpPr>
          <p:cNvPr id="2" name="object 2">
            <a:extLst>
              <a:ext uri="{FF2B5EF4-FFF2-40B4-BE49-F238E27FC236}">
                <a16:creationId xmlns:a16="http://schemas.microsoft.com/office/drawing/2014/main" id="{3E50A258-847B-B20C-48E1-CBA1034D0F8B}"/>
              </a:ext>
            </a:extLst>
          </p:cNvPr>
          <p:cNvSpPr txBox="1"/>
          <p:nvPr/>
        </p:nvSpPr>
        <p:spPr>
          <a:xfrm>
            <a:off x="349250"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b="0">
                <a:solidFill>
                  <a:srgbClr val="142863"/>
                </a:solidFill>
                <a:latin typeface="Zurich Sans Light"/>
                <a:cs typeface="Zurich Sans Light"/>
              </a:rPr>
              <a:t>March</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5" name="object 5">
            <a:extLst>
              <a:ext uri="{FF2B5EF4-FFF2-40B4-BE49-F238E27FC236}">
                <a16:creationId xmlns:a16="http://schemas.microsoft.com/office/drawing/2014/main" id="{6ACB8066-2771-1829-2272-38710C008EFD}"/>
              </a:ext>
            </a:extLst>
          </p:cNvPr>
          <p:cNvSpPr txBox="1"/>
          <p:nvPr/>
        </p:nvSpPr>
        <p:spPr>
          <a:xfrm>
            <a:off x="302114" y="1546665"/>
            <a:ext cx="6941754" cy="761365"/>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004F9E"/>
                </a:solidFill>
                <a:latin typeface="Zurich Sans"/>
                <a:cs typeface="Zurich Sans"/>
              </a:rPr>
              <a:t>Fund</a:t>
            </a:r>
            <a:r>
              <a:rPr sz="1150" b="1" spc="-5" dirty="0">
                <a:solidFill>
                  <a:srgbClr val="004F9E"/>
                </a:solidFill>
                <a:latin typeface="Zurich Sans"/>
                <a:cs typeface="Zurich Sans"/>
              </a:rPr>
              <a:t> </a:t>
            </a:r>
            <a:r>
              <a:rPr sz="1150" b="1" spc="-10" dirty="0">
                <a:solidFill>
                  <a:srgbClr val="004F9E"/>
                </a:solidFill>
                <a:latin typeface="Zurich Sans"/>
                <a:cs typeface="Zurich Sans"/>
              </a:rPr>
              <a:t>Objective</a:t>
            </a:r>
            <a:endParaRPr sz="1150" dirty="0">
              <a:latin typeface="Zurich Sans"/>
              <a:cs typeface="Zurich Sans"/>
            </a:endParaRPr>
          </a:p>
          <a:p>
            <a:pPr marL="12700" marR="5080">
              <a:lnSpc>
                <a:spcPct val="100000"/>
              </a:lnSpc>
              <a:spcBef>
                <a:spcPts val="600"/>
              </a:spcBef>
            </a:pPr>
            <a:r>
              <a:rPr lang="en-GB" sz="800" b="0" dirty="0">
                <a:solidFill>
                  <a:srgbClr val="142863"/>
                </a:solidFill>
                <a:latin typeface="Zurich Sans Light"/>
                <a:cs typeface="Zurich Sans Light"/>
              </a:rPr>
              <a:t>T</a:t>
            </a:r>
            <a:r>
              <a:rPr sz="800" b="0" dirty="0">
                <a:solidFill>
                  <a:srgbClr val="142863"/>
                </a:solidFill>
                <a:latin typeface="Zurich Sans Light"/>
                <a:cs typeface="Zurich Sans Light"/>
              </a:rPr>
              <a:t>he Fidelity </a:t>
            </a:r>
            <a:r>
              <a:rPr lang="en-GB" sz="800" b="0" dirty="0">
                <a:solidFill>
                  <a:srgbClr val="142863"/>
                </a:solidFill>
                <a:latin typeface="Zurich Sans Light"/>
                <a:cs typeface="Zurich Sans Light"/>
              </a:rPr>
              <a:t>Emerging Market Debt </a:t>
            </a:r>
            <a:r>
              <a:rPr sz="800" b="0" dirty="0">
                <a:solidFill>
                  <a:srgbClr val="142863"/>
                </a:solidFill>
                <a:latin typeface="Zurich Sans Light"/>
                <a:cs typeface="Zurich Sans Light"/>
              </a:rPr>
              <a:t>fund (the underlying 'Fund') aims to increase the value of your investment over a period of 5 years or more. </a:t>
            </a:r>
            <a:r>
              <a:rPr sz="800" b="0" spc="-25" dirty="0">
                <a:solidFill>
                  <a:srgbClr val="142863"/>
                </a:solidFill>
                <a:latin typeface="Zurich Sans Light"/>
                <a:cs typeface="Zurich Sans Light"/>
              </a:rPr>
              <a:t>The</a:t>
            </a:r>
            <a:r>
              <a:rPr lang="en-GB" sz="800" spc="500" dirty="0">
                <a:solidFill>
                  <a:srgbClr val="142863"/>
                </a:solidFill>
                <a:latin typeface="Zurich Sans Light"/>
                <a:cs typeface="Zurich Sans Light"/>
              </a:rPr>
              <a:t> </a:t>
            </a:r>
            <a:r>
              <a:rPr sz="800" b="0" dirty="0">
                <a:solidFill>
                  <a:srgbClr val="142863"/>
                </a:solidFill>
                <a:latin typeface="Zurich Sans Light"/>
                <a:cs typeface="Zurich Sans Light"/>
              </a:rPr>
              <a:t>Fund</a:t>
            </a:r>
            <a:r>
              <a:rPr sz="800" b="0" spc="-10" dirty="0">
                <a:solidFill>
                  <a:srgbClr val="142863"/>
                </a:solidFill>
                <a:latin typeface="Zurich Sans Light"/>
                <a:cs typeface="Zurich Sans Light"/>
              </a:rPr>
              <a:t> </a:t>
            </a:r>
            <a:r>
              <a:rPr sz="800" b="0" dirty="0">
                <a:solidFill>
                  <a:srgbClr val="142863"/>
                </a:solidFill>
                <a:latin typeface="Zurich Sans Light"/>
                <a:cs typeface="Zurich Sans Light"/>
              </a:rPr>
              <a:t>will invest at least 70% in equities (and their related securities) of companies globally which could include countries considered to be </a:t>
            </a:r>
            <a:r>
              <a:rPr sz="800" b="0" spc="-10" dirty="0">
                <a:solidFill>
                  <a:srgbClr val="142863"/>
                </a:solidFill>
                <a:latin typeface="Zurich Sans Light"/>
                <a:cs typeface="Zurich Sans Light"/>
              </a:rPr>
              <a:t>emerging</a:t>
            </a:r>
            <a:r>
              <a:rPr lang="en-GB" sz="800" b="0" spc="-10" dirty="0">
                <a:solidFill>
                  <a:srgbClr val="142863"/>
                </a:solidFill>
                <a:latin typeface="Zurich Sans Light"/>
                <a:cs typeface="Zurich Sans Light"/>
              </a:rPr>
              <a:t> </a:t>
            </a:r>
            <a:r>
              <a:rPr sz="800" b="0" dirty="0">
                <a:solidFill>
                  <a:srgbClr val="142863"/>
                </a:solidFill>
                <a:latin typeface="Zurich Sans Light"/>
                <a:cs typeface="Zurich Sans Light"/>
              </a:rPr>
              <a:t>markets as determined by the Investment Manager at its sole discretion. The investment manager will focus on companies it believes to be </a:t>
            </a:r>
            <a:r>
              <a:rPr sz="800" b="0" spc="-10" dirty="0">
                <a:solidFill>
                  <a:srgbClr val="142863"/>
                </a:solidFill>
                <a:latin typeface="Zurich Sans Light"/>
                <a:cs typeface="Zurich Sans Light"/>
              </a:rPr>
              <a:t>undervalued</a:t>
            </a:r>
            <a:r>
              <a:rPr lang="en-GB" sz="800" b="0" spc="-10" dirty="0">
                <a:solidFill>
                  <a:srgbClr val="142863"/>
                </a:solidFill>
                <a:latin typeface="Zurich Sans Light"/>
                <a:cs typeface="Zurich Sans Light"/>
              </a:rPr>
              <a:t> </a:t>
            </a:r>
            <a:r>
              <a:rPr sz="800" b="0" dirty="0">
                <a:solidFill>
                  <a:srgbClr val="142863"/>
                </a:solidFill>
                <a:latin typeface="Zurich Sans Light"/>
                <a:cs typeface="Zurich Sans Light"/>
              </a:rPr>
              <a:t>and whose recovery potential is not </a:t>
            </a:r>
            <a:r>
              <a:rPr sz="800" b="0" dirty="0" err="1">
                <a:solidFill>
                  <a:srgbClr val="142863"/>
                </a:solidFill>
                <a:latin typeface="Zurich Sans Light"/>
                <a:cs typeface="Zurich Sans Light"/>
              </a:rPr>
              <a:t>recognised</a:t>
            </a:r>
            <a:r>
              <a:rPr sz="800" b="0" dirty="0">
                <a:solidFill>
                  <a:srgbClr val="142863"/>
                </a:solidFill>
                <a:latin typeface="Zurich Sans Light"/>
                <a:cs typeface="Zurich Sans Light"/>
              </a:rPr>
              <a:t> by the market. The Fund is actively </a:t>
            </a:r>
            <a:r>
              <a:rPr sz="800" b="0" spc="-10" dirty="0">
                <a:solidFill>
                  <a:srgbClr val="142863"/>
                </a:solidFill>
                <a:latin typeface="Zurich Sans Light"/>
                <a:cs typeface="Zurich Sans Light"/>
              </a:rPr>
              <a:t>managed.</a:t>
            </a:r>
            <a:endParaRPr sz="800" dirty="0">
              <a:latin typeface="Zurich Sans Light"/>
              <a:cs typeface="Zurich Sans Light"/>
            </a:endParaRPr>
          </a:p>
        </p:txBody>
      </p:sp>
      <p:sp>
        <p:nvSpPr>
          <p:cNvPr id="6" name="object 6">
            <a:extLst>
              <a:ext uri="{FF2B5EF4-FFF2-40B4-BE49-F238E27FC236}">
                <a16:creationId xmlns:a16="http://schemas.microsoft.com/office/drawing/2014/main" id="{14A123FA-345C-9862-3D79-23B8F97E6AA7}"/>
              </a:ext>
            </a:extLst>
          </p:cNvPr>
          <p:cNvSpPr txBox="1">
            <a:spLocks noGrp="1"/>
          </p:cNvSpPr>
          <p:nvPr>
            <p:ph type="title"/>
          </p:nvPr>
        </p:nvSpPr>
        <p:spPr>
          <a:xfrm>
            <a:off x="253319" y="1017447"/>
            <a:ext cx="5130815" cy="394980"/>
          </a:xfrm>
          <a:prstGeom prst="rect">
            <a:avLst/>
          </a:prstGeom>
        </p:spPr>
        <p:txBody>
          <a:bodyPr vert="horz" wrap="square" lIns="0" tIns="48260" rIns="0" bIns="0" rtlCol="0">
            <a:spAutoFit/>
          </a:bodyPr>
          <a:lstStyle/>
          <a:p>
            <a:pPr marL="12700" marR="5080">
              <a:lnSpc>
                <a:spcPts val="2650"/>
              </a:lnSpc>
              <a:spcBef>
                <a:spcPts val="380"/>
              </a:spcBef>
            </a:pPr>
            <a:r>
              <a:rPr lang="en-GB" dirty="0">
                <a:solidFill>
                  <a:srgbClr val="004F9E"/>
                </a:solidFill>
              </a:rPr>
              <a:t>Fidelity Emerging </a:t>
            </a:r>
            <a:r>
              <a:rPr lang="en-GB" spc="-10" dirty="0">
                <a:solidFill>
                  <a:srgbClr val="004F9E"/>
                </a:solidFill>
              </a:rPr>
              <a:t>Market </a:t>
            </a:r>
            <a:r>
              <a:rPr lang="en-GB" spc="-20" dirty="0">
                <a:solidFill>
                  <a:srgbClr val="004F9E"/>
                </a:solidFill>
              </a:rPr>
              <a:t>Debt</a:t>
            </a:r>
            <a:endParaRPr spc="-20" dirty="0">
              <a:solidFill>
                <a:srgbClr val="004F9E"/>
              </a:solidFill>
            </a:endParaRPr>
          </a:p>
        </p:txBody>
      </p:sp>
      <p:sp>
        <p:nvSpPr>
          <p:cNvPr id="8" name="object 8">
            <a:extLst>
              <a:ext uri="{FF2B5EF4-FFF2-40B4-BE49-F238E27FC236}">
                <a16:creationId xmlns:a16="http://schemas.microsoft.com/office/drawing/2014/main" id="{46E308CF-BCD5-8CE2-0123-5421C52007FF}"/>
              </a:ext>
            </a:extLst>
          </p:cNvPr>
          <p:cNvSpPr/>
          <p:nvPr/>
        </p:nvSpPr>
        <p:spPr>
          <a:xfrm>
            <a:off x="3073449" y="316181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0" name="object 10">
            <a:extLst>
              <a:ext uri="{FF2B5EF4-FFF2-40B4-BE49-F238E27FC236}">
                <a16:creationId xmlns:a16="http://schemas.microsoft.com/office/drawing/2014/main" id="{96583E00-0435-29CE-91CD-CD87F16AB7E3}"/>
              </a:ext>
            </a:extLst>
          </p:cNvPr>
          <p:cNvSpPr/>
          <p:nvPr/>
        </p:nvSpPr>
        <p:spPr>
          <a:xfrm>
            <a:off x="3059938" y="444613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1" name="object 11">
            <a:extLst>
              <a:ext uri="{FF2B5EF4-FFF2-40B4-BE49-F238E27FC236}">
                <a16:creationId xmlns:a16="http://schemas.microsoft.com/office/drawing/2014/main" id="{16212980-7D52-F7D4-6AD4-EA168A49D494}"/>
              </a:ext>
            </a:extLst>
          </p:cNvPr>
          <p:cNvSpPr/>
          <p:nvPr/>
        </p:nvSpPr>
        <p:spPr>
          <a:xfrm>
            <a:off x="3059938" y="4251445"/>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2" name="object 12">
            <a:extLst>
              <a:ext uri="{FF2B5EF4-FFF2-40B4-BE49-F238E27FC236}">
                <a16:creationId xmlns:a16="http://schemas.microsoft.com/office/drawing/2014/main" id="{DBD512A8-4A53-53A3-6972-66FA3261FB65}"/>
              </a:ext>
            </a:extLst>
          </p:cNvPr>
          <p:cNvSpPr/>
          <p:nvPr/>
        </p:nvSpPr>
        <p:spPr>
          <a:xfrm>
            <a:off x="3068954" y="4730869"/>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6" name="object 16">
            <a:extLst>
              <a:ext uri="{FF2B5EF4-FFF2-40B4-BE49-F238E27FC236}">
                <a16:creationId xmlns:a16="http://schemas.microsoft.com/office/drawing/2014/main" id="{A3D09396-1FB9-F385-4739-8788A333817C}"/>
              </a:ext>
            </a:extLst>
          </p:cNvPr>
          <p:cNvSpPr/>
          <p:nvPr/>
        </p:nvSpPr>
        <p:spPr>
          <a:xfrm>
            <a:off x="3059938" y="4918926"/>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7" name="object 17">
            <a:extLst>
              <a:ext uri="{FF2B5EF4-FFF2-40B4-BE49-F238E27FC236}">
                <a16:creationId xmlns:a16="http://schemas.microsoft.com/office/drawing/2014/main" id="{DC6A00E7-E72A-B5C4-37F4-72AF65785068}"/>
              </a:ext>
            </a:extLst>
          </p:cNvPr>
          <p:cNvSpPr/>
          <p:nvPr/>
        </p:nvSpPr>
        <p:spPr>
          <a:xfrm>
            <a:off x="3059938" y="5187950"/>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8" name="object 18">
            <a:extLst>
              <a:ext uri="{FF2B5EF4-FFF2-40B4-BE49-F238E27FC236}">
                <a16:creationId xmlns:a16="http://schemas.microsoft.com/office/drawing/2014/main" id="{B49AC3AE-794C-CDB5-CD97-D0919F8007AF}"/>
              </a:ext>
            </a:extLst>
          </p:cNvPr>
          <p:cNvSpPr txBox="1"/>
          <p:nvPr/>
        </p:nvSpPr>
        <p:spPr>
          <a:xfrm>
            <a:off x="3059938" y="4827985"/>
            <a:ext cx="2070100" cy="180000"/>
          </a:xfrm>
          <a:prstGeom prst="rect">
            <a:avLst/>
          </a:prstGeom>
          <a:solidFill>
            <a:srgbClr val="4890DA"/>
          </a:solidFill>
        </p:spPr>
        <p:txBody>
          <a:bodyPr vert="horz" wrap="square" lIns="36000" tIns="36000" rIns="36000" bIns="36000" rtlCol="0">
            <a:spAutoFit/>
          </a:bodyPr>
          <a:lstStyle/>
          <a:p>
            <a:pPr marL="35560" marR="60325">
              <a:lnSpc>
                <a:spcPct val="79200"/>
              </a:lnSpc>
              <a:spcBef>
                <a:spcPts val="350"/>
              </a:spcBef>
            </a:pPr>
            <a:r>
              <a:rPr sz="800" b="1">
                <a:solidFill>
                  <a:srgbClr val="FFFFFF"/>
                </a:solidFill>
                <a:latin typeface="Zurich Sans"/>
                <a:cs typeface="Zurich Sans"/>
              </a:rPr>
              <a:t>Annualised</a:t>
            </a:r>
            <a:r>
              <a:rPr sz="800" b="1" spc="-5">
                <a:solidFill>
                  <a:srgbClr val="FFFFFF"/>
                </a:solidFill>
                <a:latin typeface="Zurich Sans"/>
                <a:cs typeface="Zurich Sans"/>
              </a:rPr>
              <a:t> </a:t>
            </a:r>
            <a:r>
              <a:rPr sz="800" b="1">
                <a:solidFill>
                  <a:srgbClr val="FFFFFF"/>
                </a:solidFill>
                <a:latin typeface="Zurich Sans"/>
                <a:cs typeface="Zurich Sans"/>
              </a:rPr>
              <a:t>performance</a:t>
            </a:r>
            <a:r>
              <a:rPr sz="800" b="1" spc="-5">
                <a:solidFill>
                  <a:srgbClr val="FFFFFF"/>
                </a:solidFill>
                <a:latin typeface="Zurich Sans"/>
                <a:cs typeface="Zurich Sans"/>
              </a:rPr>
              <a:t> </a:t>
            </a:r>
            <a:endParaRPr sz="800">
              <a:latin typeface="Zurich Sans"/>
              <a:cs typeface="Zurich Sans"/>
            </a:endParaRPr>
          </a:p>
        </p:txBody>
      </p:sp>
      <p:sp>
        <p:nvSpPr>
          <p:cNvPr id="20" name="object 20">
            <a:extLst>
              <a:ext uri="{FF2B5EF4-FFF2-40B4-BE49-F238E27FC236}">
                <a16:creationId xmlns:a16="http://schemas.microsoft.com/office/drawing/2014/main" id="{15632B0F-059C-7A24-D02C-F6C369EFA14A}"/>
              </a:ext>
            </a:extLst>
          </p:cNvPr>
          <p:cNvSpPr/>
          <p:nvPr/>
        </p:nvSpPr>
        <p:spPr>
          <a:xfrm>
            <a:off x="5285160" y="5187950"/>
            <a:ext cx="1944000" cy="6350"/>
          </a:xfrm>
          <a:custGeom>
            <a:avLst/>
            <a:gdLst/>
            <a:ahLst/>
            <a:cxnLst/>
            <a:rect l="l" t="t" r="r" b="b"/>
            <a:pathLst>
              <a:path w="1998345" h="6350">
                <a:moveTo>
                  <a:pt x="0" y="0"/>
                </a:moveTo>
                <a:lnTo>
                  <a:pt x="1997964" y="0"/>
                </a:lnTo>
                <a:lnTo>
                  <a:pt x="1997964" y="6350"/>
                </a:lnTo>
                <a:lnTo>
                  <a:pt x="0" y="6350"/>
                </a:lnTo>
                <a:lnTo>
                  <a:pt x="0" y="0"/>
                </a:lnTo>
                <a:close/>
              </a:path>
            </a:pathLst>
          </a:custGeom>
          <a:solidFill>
            <a:srgbClr val="4890DA"/>
          </a:solidFill>
        </p:spPr>
        <p:txBody>
          <a:bodyPr wrap="square" lIns="0" tIns="0" rIns="0" bIns="0" rtlCol="0"/>
          <a:lstStyle/>
          <a:p>
            <a:endParaRPr/>
          </a:p>
        </p:txBody>
      </p:sp>
      <p:sp>
        <p:nvSpPr>
          <p:cNvPr id="21" name="object 21">
            <a:extLst>
              <a:ext uri="{FF2B5EF4-FFF2-40B4-BE49-F238E27FC236}">
                <a16:creationId xmlns:a16="http://schemas.microsoft.com/office/drawing/2014/main" id="{78077527-A936-9A62-3814-AC4E3185D8BB}"/>
              </a:ext>
            </a:extLst>
          </p:cNvPr>
          <p:cNvSpPr txBox="1"/>
          <p:nvPr/>
        </p:nvSpPr>
        <p:spPr>
          <a:xfrm>
            <a:off x="5246430" y="4820468"/>
            <a:ext cx="1998345" cy="169974"/>
          </a:xfrm>
          <a:prstGeom prst="rect">
            <a:avLst/>
          </a:prstGeom>
          <a:solidFill>
            <a:srgbClr val="4890DA"/>
          </a:solidFill>
        </p:spPr>
        <p:txBody>
          <a:bodyPr vert="horz" wrap="square" lIns="36000" tIns="36000" rIns="36000" bIns="36000" rtlCol="0">
            <a:spAutoFit/>
          </a:bodyPr>
          <a:lstStyle/>
          <a:p>
            <a:pPr marL="35560" marR="411480">
              <a:lnSpc>
                <a:spcPct val="79200"/>
              </a:lnSpc>
              <a:spcBef>
                <a:spcPts val="350"/>
              </a:spcBef>
            </a:pPr>
            <a:r>
              <a:rPr lang="en-GB" sz="800" b="1">
                <a:solidFill>
                  <a:srgbClr val="FFFFFF"/>
                </a:solidFill>
                <a:latin typeface="Zurich Sans" panose="02000500000000000000" pitchFamily="2" charset="0"/>
                <a:cs typeface="Zurich Sans"/>
              </a:rPr>
              <a:t>Volatility </a:t>
            </a:r>
            <a:r>
              <a:rPr lang="en-GB" sz="800" b="1" spc="-5">
                <a:solidFill>
                  <a:srgbClr val="FFFFFF"/>
                </a:solidFill>
                <a:latin typeface="Zurich Sans" panose="02000500000000000000" pitchFamily="2" charset="0"/>
                <a:cs typeface="Zurich Sans"/>
              </a:rPr>
              <a:t>(as at 28/02/25)</a:t>
            </a:r>
            <a:endParaRPr sz="800" b="1">
              <a:latin typeface="Zurich Sans" panose="02000500000000000000" pitchFamily="2" charset="0"/>
              <a:cs typeface="Zurich Sans"/>
            </a:endParaRPr>
          </a:p>
        </p:txBody>
      </p:sp>
      <p:sp>
        <p:nvSpPr>
          <p:cNvPr id="24" name="object 24">
            <a:extLst>
              <a:ext uri="{FF2B5EF4-FFF2-40B4-BE49-F238E27FC236}">
                <a16:creationId xmlns:a16="http://schemas.microsoft.com/office/drawing/2014/main" id="{9E052379-B08F-FC70-4027-31D38B6BEC76}"/>
              </a:ext>
            </a:extLst>
          </p:cNvPr>
          <p:cNvSpPr txBox="1"/>
          <p:nvPr/>
        </p:nvSpPr>
        <p:spPr>
          <a:xfrm>
            <a:off x="3059938" y="2805858"/>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sz="800" b="1">
                <a:solidFill>
                  <a:srgbClr val="FFFFFF"/>
                </a:solidFill>
                <a:latin typeface="Zurich Sans"/>
                <a:cs typeface="Zurich Sans"/>
              </a:rPr>
              <a:t>Cumulative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sp>
        <p:nvSpPr>
          <p:cNvPr id="25" name="object 25">
            <a:extLst>
              <a:ext uri="{FF2B5EF4-FFF2-40B4-BE49-F238E27FC236}">
                <a16:creationId xmlns:a16="http://schemas.microsoft.com/office/drawing/2014/main" id="{CF8B4673-A17F-11E0-9293-52246A95A428}"/>
              </a:ext>
            </a:extLst>
          </p:cNvPr>
          <p:cNvSpPr txBox="1"/>
          <p:nvPr/>
        </p:nvSpPr>
        <p:spPr>
          <a:xfrm>
            <a:off x="3059937" y="2976946"/>
            <a:ext cx="4211228" cy="381515"/>
          </a:xfrm>
          <a:prstGeom prst="rect">
            <a:avLst/>
          </a:prstGeom>
        </p:spPr>
        <p:txBody>
          <a:bodyPr vert="horz" wrap="square" lIns="0" tIns="70485" rIns="0" bIns="0" rtlCol="0" anchor="t">
            <a:spAutoFit/>
          </a:bodyPr>
          <a:lstStyle/>
          <a:p>
            <a:pPr marR="156845" algn="l">
              <a:spcBef>
                <a:spcPts val="555"/>
              </a:spcBef>
              <a:tabLst>
                <a:tab pos="789305" algn="l"/>
                <a:tab pos="1374775" algn="l"/>
                <a:tab pos="2091689" algn="l"/>
                <a:tab pos="2827655" algn="l"/>
              </a:tabLst>
            </a:pPr>
            <a:r>
              <a:rPr lang="en-US" sz="800">
                <a:solidFill>
                  <a:srgbClr val="142863"/>
                </a:solidFill>
                <a:latin typeface="Zurich Sans"/>
                <a:cs typeface="Zurich Sans"/>
              </a:rPr>
              <a:t>                          1 Month     3 Months      6</a:t>
            </a:r>
            <a:r>
              <a:rPr sz="800" spc="-10">
                <a:solidFill>
                  <a:srgbClr val="142863"/>
                </a:solidFill>
                <a:latin typeface="Zurich Sans"/>
                <a:cs typeface="Zurich Sans"/>
              </a:rPr>
              <a:t> Months</a:t>
            </a:r>
            <a:r>
              <a:rPr lang="en-GB" sz="800" spc="-10">
                <a:solidFill>
                  <a:srgbClr val="142863"/>
                </a:solidFill>
                <a:latin typeface="Zurich Sans"/>
                <a:cs typeface="Zurich Sans"/>
              </a:rPr>
              <a:t>       </a:t>
            </a:r>
            <a:r>
              <a:rPr sz="800">
                <a:solidFill>
                  <a:srgbClr val="142863"/>
                </a:solidFill>
                <a:latin typeface="Zurich Sans"/>
                <a:cs typeface="Zurich Sans"/>
              </a:rPr>
              <a:t>1 </a:t>
            </a:r>
            <a:r>
              <a:rPr sz="800" spc="-20">
                <a:solidFill>
                  <a:srgbClr val="142863"/>
                </a:solidFill>
                <a:latin typeface="Zurich Sans"/>
                <a:cs typeface="Zurich Sans"/>
              </a:rPr>
              <a:t>Year</a:t>
            </a:r>
            <a:r>
              <a:rPr lang="en-GB" sz="800" spc="-20">
                <a:solidFill>
                  <a:srgbClr val="142863"/>
                </a:solidFill>
                <a:latin typeface="Zurich Sans"/>
                <a:cs typeface="Zurich Sans"/>
              </a:rPr>
              <a:t>       </a:t>
            </a:r>
            <a:r>
              <a:rPr sz="800">
                <a:solidFill>
                  <a:srgbClr val="142863"/>
                </a:solidFill>
                <a:latin typeface="Zurich Sans"/>
                <a:cs typeface="Zurich Sans"/>
              </a:rPr>
              <a:t>3 </a:t>
            </a:r>
            <a:r>
              <a:rPr sz="800" spc="-10">
                <a:solidFill>
                  <a:srgbClr val="142863"/>
                </a:solidFill>
                <a:latin typeface="Zurich Sans"/>
                <a:cs typeface="Zurich Sans"/>
              </a:rPr>
              <a:t>Years</a:t>
            </a:r>
            <a:r>
              <a:rPr lang="en-GB" sz="800" spc="-10">
                <a:solidFill>
                  <a:srgbClr val="142863"/>
                </a:solidFill>
                <a:latin typeface="Zurich Sans"/>
                <a:cs typeface="Zurich Sans"/>
              </a:rPr>
              <a:t>       </a:t>
            </a:r>
            <a:r>
              <a:rPr sz="800">
                <a:solidFill>
                  <a:srgbClr val="142863"/>
                </a:solidFill>
                <a:latin typeface="Zurich Sans"/>
                <a:cs typeface="Zurich Sans"/>
              </a:rPr>
              <a:t>5</a:t>
            </a:r>
            <a:r>
              <a:rPr sz="800" spc="-10">
                <a:solidFill>
                  <a:srgbClr val="142863"/>
                </a:solidFill>
                <a:latin typeface="Zurich Sans"/>
                <a:cs typeface="Zurich Sans"/>
              </a:rPr>
              <a:t> Years</a:t>
            </a:r>
            <a:r>
              <a:rPr lang="en-GB" sz="800" spc="-10">
                <a:solidFill>
                  <a:srgbClr val="142863"/>
                </a:solidFill>
                <a:latin typeface="Zurich Sans"/>
                <a:cs typeface="Zurich Sans"/>
              </a:rPr>
              <a:t>       </a:t>
            </a:r>
            <a:r>
              <a:rPr sz="800">
                <a:solidFill>
                  <a:srgbClr val="142863"/>
                </a:solidFill>
                <a:latin typeface="Zurich Sans"/>
                <a:cs typeface="Zurich Sans"/>
              </a:rPr>
              <a:t>10</a:t>
            </a:r>
            <a:r>
              <a:rPr sz="800" spc="-10">
                <a:solidFill>
                  <a:srgbClr val="142863"/>
                </a:solidFill>
                <a:latin typeface="Zurich Sans"/>
                <a:cs typeface="Zurich Sans"/>
              </a:rPr>
              <a:t> Years</a:t>
            </a:r>
            <a:endParaRPr lang="en-GB" sz="800">
              <a:latin typeface="Zurich Sans"/>
              <a:cs typeface="Zurich Sans"/>
            </a:endParaRPr>
          </a:p>
          <a:p>
            <a:pPr marR="188595" algn="l">
              <a:spcBef>
                <a:spcPts val="455"/>
              </a:spcBef>
              <a:tabLst>
                <a:tab pos="838835" algn="l"/>
                <a:tab pos="1542415" algn="l"/>
                <a:tab pos="2146300" algn="l"/>
                <a:tab pos="2829560" algn="l"/>
                <a:tab pos="3620135" algn="l"/>
              </a:tabLst>
            </a:pPr>
            <a:r>
              <a:rPr lang="en-GB" sz="800">
                <a:solidFill>
                  <a:srgbClr val="142863"/>
                </a:solidFill>
                <a:latin typeface="Zurich Sans"/>
                <a:cs typeface="Zurich Sans"/>
              </a:rPr>
              <a:t>% </a:t>
            </a:r>
            <a:r>
              <a:rPr lang="en-GB" sz="800" spc="-10">
                <a:solidFill>
                  <a:srgbClr val="142863"/>
                </a:solidFill>
                <a:latin typeface="Zurich Sans"/>
                <a:cs typeface="Zurich Sans"/>
              </a:rPr>
              <a:t>Growth         1.95%          2.95%             3.95%               9.95%     </a:t>
            </a:r>
            <a:r>
              <a:rPr lang="en-GB" sz="800">
                <a:solidFill>
                  <a:srgbClr val="142863"/>
                </a:solidFill>
                <a:latin typeface="Zurich Sans"/>
                <a:cs typeface="Zurich Sans"/>
              </a:rPr>
              <a:t>-</a:t>
            </a:r>
            <a:r>
              <a:rPr lang="en-GB" sz="800" spc="-10">
                <a:solidFill>
                  <a:srgbClr val="142863"/>
                </a:solidFill>
                <a:latin typeface="Zurich Sans"/>
                <a:cs typeface="Zurich Sans"/>
              </a:rPr>
              <a:t>21.41%        </a:t>
            </a:r>
            <a:r>
              <a:rPr lang="en-GB" sz="800">
                <a:solidFill>
                  <a:srgbClr val="142863"/>
                </a:solidFill>
                <a:latin typeface="Zurich Sans"/>
                <a:cs typeface="Zurich Sans"/>
              </a:rPr>
              <a:t>-</a:t>
            </a:r>
            <a:r>
              <a:rPr lang="en-GB" sz="800" spc="-10">
                <a:solidFill>
                  <a:srgbClr val="142863"/>
                </a:solidFill>
                <a:latin typeface="Zurich Sans"/>
                <a:cs typeface="Zurich Sans"/>
              </a:rPr>
              <a:t>20.60%     </a:t>
            </a:r>
            <a:r>
              <a:rPr lang="en-GB" sz="800">
                <a:solidFill>
                  <a:srgbClr val="142863"/>
                </a:solidFill>
                <a:latin typeface="Zurich Sans"/>
                <a:cs typeface="Zurich Sans"/>
              </a:rPr>
              <a:t>-</a:t>
            </a:r>
            <a:r>
              <a:rPr lang="en-GB" sz="800" spc="-10">
                <a:solidFill>
                  <a:srgbClr val="142863"/>
                </a:solidFill>
                <a:latin typeface="Zurich Sans"/>
                <a:cs typeface="Zurich Sans"/>
              </a:rPr>
              <a:t>17.19%</a:t>
            </a:r>
            <a:endParaRPr lang="en-GB" sz="800">
              <a:latin typeface="Zurich Sans"/>
              <a:cs typeface="Zurich Sans"/>
            </a:endParaRPr>
          </a:p>
        </p:txBody>
      </p:sp>
      <p:sp>
        <p:nvSpPr>
          <p:cNvPr id="26" name="object 26">
            <a:extLst>
              <a:ext uri="{FF2B5EF4-FFF2-40B4-BE49-F238E27FC236}">
                <a16:creationId xmlns:a16="http://schemas.microsoft.com/office/drawing/2014/main" id="{F0BD4542-9B56-511E-8890-751014C0A5A6}"/>
              </a:ext>
            </a:extLst>
          </p:cNvPr>
          <p:cNvSpPr txBox="1"/>
          <p:nvPr/>
        </p:nvSpPr>
        <p:spPr>
          <a:xfrm>
            <a:off x="3680076" y="3998176"/>
            <a:ext cx="653415" cy="249554"/>
          </a:xfrm>
          <a:prstGeom prst="rect">
            <a:avLst/>
          </a:prstGeom>
        </p:spPr>
        <p:txBody>
          <a:bodyPr vert="horz" wrap="square" lIns="0" tIns="12700" rIns="0" bIns="0" rtlCol="0">
            <a:spAutoFit/>
          </a:bodyPr>
          <a:lstStyle/>
          <a:p>
            <a:pPr marL="12700" algn="l">
              <a:lnSpc>
                <a:spcPts val="880"/>
              </a:lnSpc>
              <a:spcBef>
                <a:spcPts val="100"/>
              </a:spcBef>
            </a:pPr>
            <a:r>
              <a:rPr sz="800">
                <a:solidFill>
                  <a:srgbClr val="142863"/>
                </a:solidFill>
                <a:latin typeface="Zurich Sans"/>
                <a:cs typeface="Zurich Sans"/>
              </a:rPr>
              <a:t>30/11/2023 </a:t>
            </a:r>
            <a:r>
              <a:rPr sz="800" spc="-25">
                <a:solidFill>
                  <a:srgbClr val="142863"/>
                </a:solidFill>
                <a:latin typeface="Zurich Sans"/>
                <a:cs typeface="Zurich Sans"/>
              </a:rPr>
              <a:t>to</a:t>
            </a:r>
            <a:endParaRPr lang="en-US" sz="800">
              <a:latin typeface="Zurich Sans"/>
              <a:cs typeface="Zurich Sans"/>
            </a:endParaRPr>
          </a:p>
          <a:p>
            <a:pPr marL="70485" algn="l">
              <a:lnSpc>
                <a:spcPts val="880"/>
              </a:lnSpc>
            </a:pPr>
            <a:r>
              <a:rPr lang="en-US" sz="800" spc="-10">
                <a:solidFill>
                  <a:srgbClr val="142863"/>
                </a:solidFill>
                <a:latin typeface="Zurich Sans"/>
                <a:cs typeface="Zurich Sans"/>
              </a:rPr>
              <a:t>30/11/2024</a:t>
            </a:r>
            <a:endParaRPr lang="en-US" sz="800">
              <a:latin typeface="Zurich Sans"/>
              <a:cs typeface="Zurich Sans"/>
            </a:endParaRPr>
          </a:p>
        </p:txBody>
      </p:sp>
      <p:sp>
        <p:nvSpPr>
          <p:cNvPr id="27" name="object 27">
            <a:extLst>
              <a:ext uri="{FF2B5EF4-FFF2-40B4-BE49-F238E27FC236}">
                <a16:creationId xmlns:a16="http://schemas.microsoft.com/office/drawing/2014/main" id="{39A51670-B943-FAFA-CB70-8AA0705EEE71}"/>
              </a:ext>
            </a:extLst>
          </p:cNvPr>
          <p:cNvSpPr txBox="1"/>
          <p:nvPr/>
        </p:nvSpPr>
        <p:spPr>
          <a:xfrm>
            <a:off x="4401309" y="3998176"/>
            <a:ext cx="65341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30/11/2022 </a:t>
            </a:r>
            <a:r>
              <a:rPr sz="800" spc="-25">
                <a:solidFill>
                  <a:srgbClr val="142863"/>
                </a:solidFill>
                <a:latin typeface="Zurich Sans"/>
                <a:cs typeface="Zurich Sans"/>
              </a:rPr>
              <a:t>to</a:t>
            </a:r>
            <a:endParaRPr sz="800">
              <a:latin typeface="Zurich Sans"/>
              <a:cs typeface="Zurich Sans"/>
            </a:endParaRPr>
          </a:p>
          <a:p>
            <a:pPr marL="69215">
              <a:lnSpc>
                <a:spcPts val="880"/>
              </a:lnSpc>
            </a:pPr>
            <a:r>
              <a:rPr sz="800" spc="-10">
                <a:solidFill>
                  <a:srgbClr val="142863"/>
                </a:solidFill>
                <a:latin typeface="Zurich Sans"/>
                <a:cs typeface="Zurich Sans"/>
              </a:rPr>
              <a:t>30/11/2023</a:t>
            </a:r>
            <a:endParaRPr sz="800">
              <a:latin typeface="Zurich Sans"/>
              <a:cs typeface="Zurich Sans"/>
            </a:endParaRPr>
          </a:p>
        </p:txBody>
      </p:sp>
      <p:sp>
        <p:nvSpPr>
          <p:cNvPr id="28" name="object 28">
            <a:extLst>
              <a:ext uri="{FF2B5EF4-FFF2-40B4-BE49-F238E27FC236}">
                <a16:creationId xmlns:a16="http://schemas.microsoft.com/office/drawing/2014/main" id="{EFC0717B-F582-A76C-A4B2-6E05B5B6CE34}"/>
              </a:ext>
            </a:extLst>
          </p:cNvPr>
          <p:cNvSpPr txBox="1"/>
          <p:nvPr/>
        </p:nvSpPr>
        <p:spPr>
          <a:xfrm>
            <a:off x="5130038" y="3998176"/>
            <a:ext cx="63055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30/11/2021 </a:t>
            </a:r>
            <a:r>
              <a:rPr sz="800" spc="-25">
                <a:solidFill>
                  <a:srgbClr val="142863"/>
                </a:solidFill>
                <a:latin typeface="Zurich Sans"/>
                <a:cs typeface="Zurich Sans"/>
              </a:rPr>
              <a:t>to</a:t>
            </a:r>
            <a:endParaRPr sz="800">
              <a:latin typeface="Zurich Sans"/>
              <a:cs typeface="Zurich Sans"/>
            </a:endParaRPr>
          </a:p>
          <a:p>
            <a:pPr marL="58419">
              <a:lnSpc>
                <a:spcPts val="880"/>
              </a:lnSpc>
            </a:pPr>
            <a:r>
              <a:rPr sz="800" spc="-10">
                <a:solidFill>
                  <a:srgbClr val="142863"/>
                </a:solidFill>
                <a:latin typeface="Zurich Sans"/>
                <a:cs typeface="Zurich Sans"/>
              </a:rPr>
              <a:t>30/11/2022</a:t>
            </a:r>
            <a:endParaRPr sz="800">
              <a:latin typeface="Zurich Sans"/>
              <a:cs typeface="Zurich Sans"/>
            </a:endParaRPr>
          </a:p>
        </p:txBody>
      </p:sp>
      <p:sp>
        <p:nvSpPr>
          <p:cNvPr id="29" name="object 29">
            <a:extLst>
              <a:ext uri="{FF2B5EF4-FFF2-40B4-BE49-F238E27FC236}">
                <a16:creationId xmlns:a16="http://schemas.microsoft.com/office/drawing/2014/main" id="{DCAD8BB0-96F9-5C7C-DB86-3C9D0A561B5B}"/>
              </a:ext>
            </a:extLst>
          </p:cNvPr>
          <p:cNvSpPr txBox="1"/>
          <p:nvPr/>
        </p:nvSpPr>
        <p:spPr>
          <a:xfrm>
            <a:off x="5803020" y="3998176"/>
            <a:ext cx="662305" cy="249554"/>
          </a:xfrm>
          <a:prstGeom prst="rect">
            <a:avLst/>
          </a:prstGeom>
        </p:spPr>
        <p:txBody>
          <a:bodyPr vert="horz" wrap="square" lIns="0" tIns="12700" rIns="0" bIns="0" rtlCol="0">
            <a:spAutoFit/>
          </a:bodyPr>
          <a:lstStyle/>
          <a:p>
            <a:pPr algn="ctr">
              <a:lnSpc>
                <a:spcPts val="880"/>
              </a:lnSpc>
              <a:spcBef>
                <a:spcPts val="100"/>
              </a:spcBef>
            </a:pPr>
            <a:r>
              <a:rPr sz="800">
                <a:solidFill>
                  <a:srgbClr val="142863"/>
                </a:solidFill>
                <a:latin typeface="Zurich Sans"/>
                <a:cs typeface="Zurich Sans"/>
              </a:rPr>
              <a:t>30/11/2020 </a:t>
            </a:r>
            <a:r>
              <a:rPr sz="800" spc="-25">
                <a:solidFill>
                  <a:srgbClr val="142863"/>
                </a:solidFill>
                <a:latin typeface="Zurich Sans"/>
                <a:cs typeface="Zurich Sans"/>
              </a:rPr>
              <a:t>to</a:t>
            </a:r>
            <a:endParaRPr sz="800">
              <a:latin typeface="Zurich Sans"/>
              <a:cs typeface="Zurich Sans"/>
            </a:endParaRPr>
          </a:p>
          <a:p>
            <a:pPr algn="ctr">
              <a:lnSpc>
                <a:spcPts val="880"/>
              </a:lnSpc>
            </a:pPr>
            <a:r>
              <a:rPr sz="800" spc="-10">
                <a:solidFill>
                  <a:srgbClr val="142863"/>
                </a:solidFill>
                <a:latin typeface="Zurich Sans"/>
                <a:cs typeface="Zurich Sans"/>
              </a:rPr>
              <a:t>30/11/2021</a:t>
            </a:r>
            <a:endParaRPr sz="800">
              <a:latin typeface="Zurich Sans"/>
              <a:cs typeface="Zurich Sans"/>
            </a:endParaRPr>
          </a:p>
        </p:txBody>
      </p:sp>
      <p:sp>
        <p:nvSpPr>
          <p:cNvPr id="30" name="object 30">
            <a:extLst>
              <a:ext uri="{FF2B5EF4-FFF2-40B4-BE49-F238E27FC236}">
                <a16:creationId xmlns:a16="http://schemas.microsoft.com/office/drawing/2014/main" id="{9C9B3A08-E399-9ADA-1298-679E913DB064}"/>
              </a:ext>
            </a:extLst>
          </p:cNvPr>
          <p:cNvSpPr txBox="1"/>
          <p:nvPr/>
        </p:nvSpPr>
        <p:spPr>
          <a:xfrm>
            <a:off x="6538731" y="3998176"/>
            <a:ext cx="63563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30/11/2019 </a:t>
            </a:r>
            <a:r>
              <a:rPr sz="800" spc="-25">
                <a:solidFill>
                  <a:srgbClr val="142863"/>
                </a:solidFill>
                <a:latin typeface="Zurich Sans"/>
                <a:cs typeface="Zurich Sans"/>
              </a:rPr>
              <a:t>to</a:t>
            </a:r>
            <a:endParaRPr sz="800">
              <a:latin typeface="Zurich Sans"/>
              <a:cs typeface="Zurich Sans"/>
            </a:endParaRPr>
          </a:p>
          <a:p>
            <a:pPr marL="56515">
              <a:lnSpc>
                <a:spcPts val="880"/>
              </a:lnSpc>
            </a:pPr>
            <a:r>
              <a:rPr sz="800" spc="-10">
                <a:solidFill>
                  <a:srgbClr val="142863"/>
                </a:solidFill>
                <a:latin typeface="Zurich Sans"/>
                <a:cs typeface="Zurich Sans"/>
              </a:rPr>
              <a:t>30/11/2020</a:t>
            </a:r>
            <a:endParaRPr sz="800">
              <a:latin typeface="Zurich Sans"/>
              <a:cs typeface="Zurich Sans"/>
            </a:endParaRPr>
          </a:p>
        </p:txBody>
      </p:sp>
      <p:sp>
        <p:nvSpPr>
          <p:cNvPr id="31" name="object 31">
            <a:extLst>
              <a:ext uri="{FF2B5EF4-FFF2-40B4-BE49-F238E27FC236}">
                <a16:creationId xmlns:a16="http://schemas.microsoft.com/office/drawing/2014/main" id="{B5F4364B-F307-3FFA-176E-68ACEF2A7BCE}"/>
              </a:ext>
            </a:extLst>
          </p:cNvPr>
          <p:cNvSpPr txBox="1"/>
          <p:nvPr/>
        </p:nvSpPr>
        <p:spPr>
          <a:xfrm>
            <a:off x="3047247" y="4279734"/>
            <a:ext cx="45656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 </a:t>
            </a:r>
            <a:r>
              <a:rPr sz="800" spc="-10">
                <a:solidFill>
                  <a:srgbClr val="142863"/>
                </a:solidFill>
                <a:latin typeface="Zurich Sans"/>
                <a:cs typeface="Zurich Sans"/>
              </a:rPr>
              <a:t>Growth</a:t>
            </a:r>
            <a:endParaRPr sz="800">
              <a:latin typeface="Zurich Sans"/>
              <a:cs typeface="Zurich Sans"/>
            </a:endParaRPr>
          </a:p>
        </p:txBody>
      </p:sp>
      <p:sp>
        <p:nvSpPr>
          <p:cNvPr id="32" name="object 32">
            <a:extLst>
              <a:ext uri="{FF2B5EF4-FFF2-40B4-BE49-F238E27FC236}">
                <a16:creationId xmlns:a16="http://schemas.microsoft.com/office/drawing/2014/main" id="{03DACF31-6012-6968-CD61-D9770C50426D}"/>
              </a:ext>
            </a:extLst>
          </p:cNvPr>
          <p:cNvSpPr txBox="1"/>
          <p:nvPr/>
        </p:nvSpPr>
        <p:spPr>
          <a:xfrm>
            <a:off x="3823725" y="4279734"/>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33" name="object 33">
            <a:extLst>
              <a:ext uri="{FF2B5EF4-FFF2-40B4-BE49-F238E27FC236}">
                <a16:creationId xmlns:a16="http://schemas.microsoft.com/office/drawing/2014/main" id="{C084516D-A986-1426-5986-1DDEBDC51B53}"/>
              </a:ext>
            </a:extLst>
          </p:cNvPr>
          <p:cNvSpPr txBox="1"/>
          <p:nvPr/>
        </p:nvSpPr>
        <p:spPr>
          <a:xfrm>
            <a:off x="4565027" y="4279734"/>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34" name="object 34">
            <a:extLst>
              <a:ext uri="{FF2B5EF4-FFF2-40B4-BE49-F238E27FC236}">
                <a16:creationId xmlns:a16="http://schemas.microsoft.com/office/drawing/2014/main" id="{F992171D-C65F-E590-6B95-27BAA18959FD}"/>
              </a:ext>
            </a:extLst>
          </p:cNvPr>
          <p:cNvSpPr txBox="1"/>
          <p:nvPr/>
        </p:nvSpPr>
        <p:spPr>
          <a:xfrm>
            <a:off x="5218947" y="4279734"/>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35" name="object 35">
            <a:extLst>
              <a:ext uri="{FF2B5EF4-FFF2-40B4-BE49-F238E27FC236}">
                <a16:creationId xmlns:a16="http://schemas.microsoft.com/office/drawing/2014/main" id="{CEF110B4-1A2D-D5B2-741B-C38CC5174031}"/>
              </a:ext>
            </a:extLst>
          </p:cNvPr>
          <p:cNvSpPr txBox="1"/>
          <p:nvPr/>
        </p:nvSpPr>
        <p:spPr>
          <a:xfrm>
            <a:off x="5977642" y="4279734"/>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36" name="object 36">
            <a:extLst>
              <a:ext uri="{FF2B5EF4-FFF2-40B4-BE49-F238E27FC236}">
                <a16:creationId xmlns:a16="http://schemas.microsoft.com/office/drawing/2014/main" id="{5863B68C-356D-313F-618C-40741E81BBAF}"/>
              </a:ext>
            </a:extLst>
          </p:cNvPr>
          <p:cNvSpPr txBox="1"/>
          <p:nvPr/>
        </p:nvSpPr>
        <p:spPr>
          <a:xfrm>
            <a:off x="6703066" y="4279734"/>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37" name="object 37">
            <a:extLst>
              <a:ext uri="{FF2B5EF4-FFF2-40B4-BE49-F238E27FC236}">
                <a16:creationId xmlns:a16="http://schemas.microsoft.com/office/drawing/2014/main" id="{4A3349A4-DCF4-D5AD-88A2-2931F35C87DB}"/>
              </a:ext>
            </a:extLst>
          </p:cNvPr>
          <p:cNvSpPr txBox="1"/>
          <p:nvPr/>
        </p:nvSpPr>
        <p:spPr>
          <a:xfrm>
            <a:off x="3047247" y="4459691"/>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54" name="object 54">
            <a:extLst>
              <a:ext uri="{FF2B5EF4-FFF2-40B4-BE49-F238E27FC236}">
                <a16:creationId xmlns:a16="http://schemas.microsoft.com/office/drawing/2014/main" id="{9DE0FBDB-C71B-51A4-76C9-5349C71B38A0}"/>
              </a:ext>
            </a:extLst>
          </p:cNvPr>
          <p:cNvSpPr txBox="1"/>
          <p:nvPr/>
        </p:nvSpPr>
        <p:spPr>
          <a:xfrm>
            <a:off x="3068954" y="5456900"/>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Fund performance vs sector </a:t>
            </a:r>
            <a:r>
              <a:rPr sz="800" b="1">
                <a:solidFill>
                  <a:srgbClr val="FFFFFF"/>
                </a:solidFill>
                <a:latin typeface="Zurich Sans"/>
                <a:cs typeface="Zurich Sans"/>
              </a:rPr>
              <a:t>(5</a:t>
            </a:r>
            <a:r>
              <a:rPr sz="800" b="1" spc="-5">
                <a:solidFill>
                  <a:srgbClr val="FFFFFF"/>
                </a:solidFill>
                <a:latin typeface="Zurich Sans"/>
                <a:cs typeface="Zurich Sans"/>
              </a:rPr>
              <a:t> </a:t>
            </a:r>
            <a:r>
              <a:rPr sz="800" b="1">
                <a:solidFill>
                  <a:srgbClr val="FFFFFF"/>
                </a:solidFill>
                <a:latin typeface="Zurich Sans"/>
                <a:cs typeface="Zurich Sans"/>
              </a:rPr>
              <a:t>years</a:t>
            </a:r>
            <a:r>
              <a:rPr lang="en-GB" sz="800" b="1">
                <a:solidFill>
                  <a:srgbClr val="FFFFFF"/>
                </a:solidFill>
                <a:latin typeface="Zurich Sans"/>
                <a:cs typeface="Zurich Sans"/>
              </a:rPr>
              <a:t>/since inception)</a:t>
            </a:r>
            <a:endParaRPr lang="en-GB" sz="800" b="1" spc="-10">
              <a:solidFill>
                <a:srgbClr val="FFFFFF"/>
              </a:solidFill>
              <a:latin typeface="Zurich Sans"/>
              <a:cs typeface="Zurich Sans"/>
            </a:endParaRPr>
          </a:p>
        </p:txBody>
      </p:sp>
      <p:grpSp>
        <p:nvGrpSpPr>
          <p:cNvPr id="60" name="object 60">
            <a:extLst>
              <a:ext uri="{FF2B5EF4-FFF2-40B4-BE49-F238E27FC236}">
                <a16:creationId xmlns:a16="http://schemas.microsoft.com/office/drawing/2014/main" id="{93E22CB6-AF62-A471-00AE-F621E60E5A36}"/>
              </a:ext>
            </a:extLst>
          </p:cNvPr>
          <p:cNvGrpSpPr/>
          <p:nvPr/>
        </p:nvGrpSpPr>
        <p:grpSpPr>
          <a:xfrm>
            <a:off x="3390462" y="5790361"/>
            <a:ext cx="3591560" cy="1219200"/>
            <a:chOff x="3517138" y="5908608"/>
            <a:chExt cx="3591560" cy="1219200"/>
          </a:xfrm>
        </p:grpSpPr>
        <p:sp>
          <p:nvSpPr>
            <p:cNvPr id="61" name="object 61">
              <a:extLst>
                <a:ext uri="{FF2B5EF4-FFF2-40B4-BE49-F238E27FC236}">
                  <a16:creationId xmlns:a16="http://schemas.microsoft.com/office/drawing/2014/main" id="{E6550E90-B980-55E2-E671-585C47093396}"/>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ln>
          </p:spPr>
          <p:txBody>
            <a:bodyPr wrap="square" lIns="0" tIns="0" rIns="0" bIns="0" rtlCol="0"/>
            <a:lstStyle/>
            <a:p>
              <a:endParaRPr/>
            </a:p>
          </p:txBody>
        </p:sp>
        <p:sp>
          <p:nvSpPr>
            <p:cNvPr id="62" name="object 62">
              <a:extLst>
                <a:ext uri="{FF2B5EF4-FFF2-40B4-BE49-F238E27FC236}">
                  <a16:creationId xmlns:a16="http://schemas.microsoft.com/office/drawing/2014/main" id="{A964EF1E-04CE-C454-FF13-07BEEC9A2482}"/>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3" name="object 63">
              <a:extLst>
                <a:ext uri="{FF2B5EF4-FFF2-40B4-BE49-F238E27FC236}">
                  <a16:creationId xmlns:a16="http://schemas.microsoft.com/office/drawing/2014/main" id="{3A966648-0935-AC5C-A6A6-E99A6AFB5361}"/>
                </a:ext>
              </a:extLst>
            </p:cNvPr>
            <p:cNvSpPr/>
            <p:nvPr/>
          </p:nvSpPr>
          <p:spPr>
            <a:xfrm>
              <a:off x="4445888"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4" name="object 64">
              <a:extLst>
                <a:ext uri="{FF2B5EF4-FFF2-40B4-BE49-F238E27FC236}">
                  <a16:creationId xmlns:a16="http://schemas.microsoft.com/office/drawing/2014/main" id="{BD524513-449C-EAD7-5D7E-8A70AC3A4980}"/>
                </a:ext>
              </a:extLst>
            </p:cNvPr>
            <p:cNvSpPr/>
            <p:nvPr/>
          </p:nvSpPr>
          <p:spPr>
            <a:xfrm>
              <a:off x="5341239"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5" name="object 65">
              <a:extLst>
                <a:ext uri="{FF2B5EF4-FFF2-40B4-BE49-F238E27FC236}">
                  <a16:creationId xmlns:a16="http://schemas.microsoft.com/office/drawing/2014/main" id="{42E85BF6-EE4B-46CB-0B29-51E2CE0B2095}"/>
                </a:ext>
              </a:extLst>
            </p:cNvPr>
            <p:cNvSpPr/>
            <p:nvPr/>
          </p:nvSpPr>
          <p:spPr>
            <a:xfrm>
              <a:off x="62461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6" name="object 66">
              <a:extLst>
                <a:ext uri="{FF2B5EF4-FFF2-40B4-BE49-F238E27FC236}">
                  <a16:creationId xmlns:a16="http://schemas.microsoft.com/office/drawing/2014/main" id="{DEE53C06-49FD-392E-E1FD-AED90A895AE0}"/>
                </a:ext>
              </a:extLst>
            </p:cNvPr>
            <p:cNvSpPr/>
            <p:nvPr/>
          </p:nvSpPr>
          <p:spPr>
            <a:xfrm>
              <a:off x="710336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7" name="object 67">
              <a:extLst>
                <a:ext uri="{FF2B5EF4-FFF2-40B4-BE49-F238E27FC236}">
                  <a16:creationId xmlns:a16="http://schemas.microsoft.com/office/drawing/2014/main" id="{8A38FADF-0516-8F84-057E-45736E1FC3A2}"/>
                </a:ext>
              </a:extLst>
            </p:cNvPr>
            <p:cNvSpPr/>
            <p:nvPr/>
          </p:nvSpPr>
          <p:spPr>
            <a:xfrm>
              <a:off x="3545713" y="688492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8" name="object 68">
              <a:extLst>
                <a:ext uri="{FF2B5EF4-FFF2-40B4-BE49-F238E27FC236}">
                  <a16:creationId xmlns:a16="http://schemas.microsoft.com/office/drawing/2014/main" id="{1C99FC71-EBC9-547C-CE66-8702312DD294}"/>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9" name="object 69">
              <a:extLst>
                <a:ext uri="{FF2B5EF4-FFF2-40B4-BE49-F238E27FC236}">
                  <a16:creationId xmlns:a16="http://schemas.microsoft.com/office/drawing/2014/main" id="{0A85E3E6-1C54-7A56-4205-60609FA8F3CF}"/>
                </a:ext>
              </a:extLst>
            </p:cNvPr>
            <p:cNvSpPr/>
            <p:nvPr/>
          </p:nvSpPr>
          <p:spPr>
            <a:xfrm>
              <a:off x="3545713" y="59133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70" name="object 70">
              <a:extLst>
                <a:ext uri="{FF2B5EF4-FFF2-40B4-BE49-F238E27FC236}">
                  <a16:creationId xmlns:a16="http://schemas.microsoft.com/office/drawing/2014/main" id="{B04C2179-8878-A348-9F13-CDA7EBD3EB9D}"/>
                </a:ext>
              </a:extLst>
            </p:cNvPr>
            <p:cNvSpPr/>
            <p:nvPr/>
          </p:nvSpPr>
          <p:spPr>
            <a:xfrm>
              <a:off x="35410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1" name="object 71">
              <a:extLst>
                <a:ext uri="{FF2B5EF4-FFF2-40B4-BE49-F238E27FC236}">
                  <a16:creationId xmlns:a16="http://schemas.microsoft.com/office/drawing/2014/main" id="{94839001-0F0E-6648-9FE6-F6A19E43103D}"/>
                </a:ext>
              </a:extLst>
            </p:cNvPr>
            <p:cNvSpPr/>
            <p:nvPr/>
          </p:nvSpPr>
          <p:spPr>
            <a:xfrm>
              <a:off x="4445888"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2" name="object 72">
              <a:extLst>
                <a:ext uri="{FF2B5EF4-FFF2-40B4-BE49-F238E27FC236}">
                  <a16:creationId xmlns:a16="http://schemas.microsoft.com/office/drawing/2014/main" id="{8416E20D-3944-BCAB-8250-1858D6D927B3}"/>
                </a:ext>
              </a:extLst>
            </p:cNvPr>
            <p:cNvSpPr/>
            <p:nvPr/>
          </p:nvSpPr>
          <p:spPr>
            <a:xfrm>
              <a:off x="5341239"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3" name="object 73">
              <a:extLst>
                <a:ext uri="{FF2B5EF4-FFF2-40B4-BE49-F238E27FC236}">
                  <a16:creationId xmlns:a16="http://schemas.microsoft.com/office/drawing/2014/main" id="{D227D110-66BA-DDB3-9F54-0633D836929F}"/>
                </a:ext>
              </a:extLst>
            </p:cNvPr>
            <p:cNvSpPr/>
            <p:nvPr/>
          </p:nvSpPr>
          <p:spPr>
            <a:xfrm>
              <a:off x="62461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4" name="object 74">
              <a:extLst>
                <a:ext uri="{FF2B5EF4-FFF2-40B4-BE49-F238E27FC236}">
                  <a16:creationId xmlns:a16="http://schemas.microsoft.com/office/drawing/2014/main" id="{1A1DF850-66C4-72E0-7504-916853BCB025}"/>
                </a:ext>
              </a:extLst>
            </p:cNvPr>
            <p:cNvSpPr/>
            <p:nvPr/>
          </p:nvSpPr>
          <p:spPr>
            <a:xfrm>
              <a:off x="710336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5" name="object 75">
              <a:extLst>
                <a:ext uri="{FF2B5EF4-FFF2-40B4-BE49-F238E27FC236}">
                  <a16:creationId xmlns:a16="http://schemas.microsoft.com/office/drawing/2014/main" id="{EF7FA1D5-A59E-73F3-27E5-D57243689924}"/>
                </a:ext>
              </a:extLst>
            </p:cNvPr>
            <p:cNvSpPr/>
            <p:nvPr/>
          </p:nvSpPr>
          <p:spPr>
            <a:xfrm>
              <a:off x="3545713" y="7103996"/>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404040"/>
              </a:solidFill>
            </a:ln>
          </p:spPr>
          <p:txBody>
            <a:bodyPr wrap="square" lIns="0" tIns="0" rIns="0" bIns="0" rtlCol="0"/>
            <a:lstStyle/>
            <a:p>
              <a:endParaRPr/>
            </a:p>
          </p:txBody>
        </p:sp>
        <p:sp>
          <p:nvSpPr>
            <p:cNvPr id="76" name="object 76">
              <a:extLst>
                <a:ext uri="{FF2B5EF4-FFF2-40B4-BE49-F238E27FC236}">
                  <a16:creationId xmlns:a16="http://schemas.microsoft.com/office/drawing/2014/main" id="{3541D2D9-98F5-56E0-CA19-BAE9246D5D53}"/>
                </a:ext>
              </a:extLst>
            </p:cNvPr>
            <p:cNvSpPr/>
            <p:nvPr/>
          </p:nvSpPr>
          <p:spPr>
            <a:xfrm>
              <a:off x="3517138" y="688492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7" name="object 77">
              <a:extLst>
                <a:ext uri="{FF2B5EF4-FFF2-40B4-BE49-F238E27FC236}">
                  <a16:creationId xmlns:a16="http://schemas.microsoft.com/office/drawing/2014/main" id="{07FEB31D-6B55-74E0-1CDE-5386B5BD7E27}"/>
                </a:ext>
              </a:extLst>
            </p:cNvPr>
            <p:cNvSpPr/>
            <p:nvPr/>
          </p:nvSpPr>
          <p:spPr>
            <a:xfrm>
              <a:off x="3517138" y="64086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8" name="object 78">
              <a:extLst>
                <a:ext uri="{FF2B5EF4-FFF2-40B4-BE49-F238E27FC236}">
                  <a16:creationId xmlns:a16="http://schemas.microsoft.com/office/drawing/2014/main" id="{95BA437B-C22C-787C-C8BB-83EEC491090C}"/>
                </a:ext>
              </a:extLst>
            </p:cNvPr>
            <p:cNvSpPr/>
            <p:nvPr/>
          </p:nvSpPr>
          <p:spPr>
            <a:xfrm>
              <a:off x="3517138" y="59133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9" name="object 79">
              <a:extLst>
                <a:ext uri="{FF2B5EF4-FFF2-40B4-BE49-F238E27FC236}">
                  <a16:creationId xmlns:a16="http://schemas.microsoft.com/office/drawing/2014/main" id="{0DCF587D-6D81-55C0-F217-BF3E73B22582}"/>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404040"/>
              </a:solidFill>
            </a:ln>
          </p:spPr>
          <p:txBody>
            <a:bodyPr wrap="square" lIns="0" tIns="0" rIns="0" bIns="0" rtlCol="0"/>
            <a:lstStyle/>
            <a:p>
              <a:endParaRPr/>
            </a:p>
          </p:txBody>
        </p:sp>
        <p:sp>
          <p:nvSpPr>
            <p:cNvPr id="80" name="object 80">
              <a:extLst>
                <a:ext uri="{FF2B5EF4-FFF2-40B4-BE49-F238E27FC236}">
                  <a16:creationId xmlns:a16="http://schemas.microsoft.com/office/drawing/2014/main" id="{56B9E942-8F57-08FB-C873-77FBF9078AC6}"/>
                </a:ext>
              </a:extLst>
            </p:cNvPr>
            <p:cNvSpPr/>
            <p:nvPr/>
          </p:nvSpPr>
          <p:spPr>
            <a:xfrm>
              <a:off x="3543808" y="6245349"/>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rgbClr val="22366E"/>
              </a:solidFill>
            </a:ln>
          </p:spPr>
          <p:txBody>
            <a:bodyPr wrap="square" lIns="0" tIns="0" rIns="0" bIns="0" rtlCol="0"/>
            <a:lstStyle/>
            <a:p>
              <a:endParaRPr/>
            </a:p>
          </p:txBody>
        </p:sp>
      </p:grpSp>
      <p:sp>
        <p:nvSpPr>
          <p:cNvPr id="81" name="object 81">
            <a:extLst>
              <a:ext uri="{FF2B5EF4-FFF2-40B4-BE49-F238E27FC236}">
                <a16:creationId xmlns:a16="http://schemas.microsoft.com/office/drawing/2014/main" id="{17D0BA88-AF72-8D29-3477-D2B55F858212}"/>
              </a:ext>
            </a:extLst>
          </p:cNvPr>
          <p:cNvSpPr txBox="1"/>
          <p:nvPr/>
        </p:nvSpPr>
        <p:spPr>
          <a:xfrm>
            <a:off x="3070373" y="6774559"/>
            <a:ext cx="4080283" cy="1439497"/>
          </a:xfrm>
          <a:prstGeom prst="rect">
            <a:avLst/>
          </a:prstGeom>
        </p:spPr>
        <p:txBody>
          <a:bodyPr vert="horz" wrap="square" lIns="0" tIns="15875" rIns="0" bIns="0" rtlCol="0">
            <a:spAutoFit/>
          </a:bodyPr>
          <a:lstStyle/>
          <a:p>
            <a:pPr marL="111125">
              <a:lnSpc>
                <a:spcPct val="100000"/>
              </a:lnSpc>
              <a:spcBef>
                <a:spcPts val="125"/>
              </a:spcBef>
            </a:pPr>
            <a:r>
              <a:rPr sz="800" dirty="0">
                <a:latin typeface="Arial"/>
                <a:cs typeface="Arial"/>
              </a:rPr>
              <a:t>-</a:t>
            </a:r>
            <a:r>
              <a:rPr sz="800" spc="-25" dirty="0">
                <a:latin typeface="Arial"/>
                <a:cs typeface="Arial"/>
              </a:rPr>
              <a:t>25%</a:t>
            </a:r>
            <a:endParaRPr sz="800" dirty="0">
              <a:latin typeface="Arial"/>
              <a:cs typeface="Arial"/>
            </a:endParaRPr>
          </a:p>
          <a:p>
            <a:pPr>
              <a:lnSpc>
                <a:spcPct val="100000"/>
              </a:lnSpc>
            </a:pPr>
            <a:endParaRPr sz="900" dirty="0">
              <a:latin typeface="Arial"/>
              <a:cs typeface="Arial"/>
            </a:endParaRPr>
          </a:p>
          <a:p>
            <a:pPr marL="331470">
              <a:lnSpc>
                <a:spcPct val="100000"/>
              </a:lnSpc>
              <a:spcBef>
                <a:spcPts val="715"/>
              </a:spcBef>
              <a:tabLst>
                <a:tab pos="1237615" algn="l"/>
                <a:tab pos="2144395" algn="l"/>
                <a:tab pos="3037840" algn="l"/>
                <a:tab pos="3717290" algn="l"/>
              </a:tabLst>
            </a:pPr>
            <a:r>
              <a:rPr sz="800" dirty="0">
                <a:latin typeface="Arial"/>
                <a:cs typeface="Arial"/>
              </a:rPr>
              <a:t>Dec</a:t>
            </a:r>
            <a:r>
              <a:rPr sz="800" spc="45" dirty="0">
                <a:latin typeface="Arial"/>
                <a:cs typeface="Arial"/>
              </a:rPr>
              <a:t> </a:t>
            </a:r>
            <a:r>
              <a:rPr sz="800" spc="-25" dirty="0">
                <a:latin typeface="Arial"/>
                <a:cs typeface="Arial"/>
              </a:rPr>
              <a:t>19</a:t>
            </a:r>
            <a:r>
              <a:rPr sz="800" dirty="0">
                <a:latin typeface="Arial"/>
                <a:cs typeface="Arial"/>
              </a:rPr>
              <a:t>	Mar</a:t>
            </a:r>
            <a:r>
              <a:rPr sz="800" spc="45" dirty="0">
                <a:latin typeface="Arial"/>
                <a:cs typeface="Arial"/>
              </a:rPr>
              <a:t> </a:t>
            </a:r>
            <a:r>
              <a:rPr sz="800" spc="-25" dirty="0">
                <a:latin typeface="Arial"/>
                <a:cs typeface="Arial"/>
              </a:rPr>
              <a:t>21</a:t>
            </a:r>
            <a:r>
              <a:rPr sz="800" dirty="0">
                <a:latin typeface="Arial"/>
                <a:cs typeface="Arial"/>
              </a:rPr>
              <a:t>	Jun</a:t>
            </a:r>
            <a:r>
              <a:rPr sz="800" spc="30" dirty="0">
                <a:latin typeface="Arial"/>
                <a:cs typeface="Arial"/>
              </a:rPr>
              <a:t> </a:t>
            </a:r>
            <a:r>
              <a:rPr sz="800" spc="-25" dirty="0">
                <a:latin typeface="Arial"/>
                <a:cs typeface="Arial"/>
              </a:rPr>
              <a:t>22</a:t>
            </a:r>
            <a:r>
              <a:rPr sz="800" dirty="0">
                <a:latin typeface="Arial"/>
                <a:cs typeface="Arial"/>
              </a:rPr>
              <a:t>	Sep</a:t>
            </a:r>
            <a:r>
              <a:rPr sz="800" spc="35" dirty="0">
                <a:latin typeface="Arial"/>
                <a:cs typeface="Arial"/>
              </a:rPr>
              <a:t> </a:t>
            </a:r>
            <a:r>
              <a:rPr sz="800" spc="-25" dirty="0">
                <a:latin typeface="Arial"/>
                <a:cs typeface="Arial"/>
              </a:rPr>
              <a:t>23</a:t>
            </a:r>
            <a:r>
              <a:rPr sz="800" dirty="0">
                <a:latin typeface="Arial"/>
                <a:cs typeface="Arial"/>
              </a:rPr>
              <a:t>	Dec</a:t>
            </a:r>
            <a:r>
              <a:rPr sz="800" spc="45" dirty="0">
                <a:latin typeface="Arial"/>
                <a:cs typeface="Arial"/>
              </a:rPr>
              <a:t> </a:t>
            </a:r>
            <a:r>
              <a:rPr sz="800" spc="-25" dirty="0">
                <a:latin typeface="Arial"/>
                <a:cs typeface="Arial"/>
              </a:rPr>
              <a:t>24</a:t>
            </a:r>
            <a:endParaRPr sz="800" dirty="0">
              <a:latin typeface="Arial"/>
              <a:cs typeface="Arial"/>
            </a:endParaRPr>
          </a:p>
          <a:p>
            <a:pPr marL="1791970">
              <a:lnSpc>
                <a:spcPct val="100000"/>
              </a:lnSpc>
              <a:spcBef>
                <a:spcPts val="155"/>
              </a:spcBef>
            </a:pPr>
            <a:r>
              <a:rPr lang="en-GB" sz="650" dirty="0">
                <a:solidFill>
                  <a:srgbClr val="999999"/>
                </a:solidFill>
                <a:latin typeface="Arial"/>
                <a:cs typeface="Arial"/>
              </a:rPr>
              <a:t>28</a:t>
            </a:r>
            <a:r>
              <a:rPr sz="650" dirty="0">
                <a:solidFill>
                  <a:srgbClr val="999999"/>
                </a:solidFill>
                <a:latin typeface="Arial"/>
                <a:cs typeface="Arial"/>
              </a:rPr>
              <a:t>/</a:t>
            </a:r>
            <a:r>
              <a:rPr lang="en-GB" sz="650" dirty="0">
                <a:solidFill>
                  <a:srgbClr val="999999"/>
                </a:solidFill>
                <a:latin typeface="Arial"/>
                <a:cs typeface="Arial"/>
              </a:rPr>
              <a:t>02</a:t>
            </a:r>
            <a:r>
              <a:rPr sz="650" dirty="0">
                <a:solidFill>
                  <a:srgbClr val="999999"/>
                </a:solidFill>
                <a:latin typeface="Arial"/>
                <a:cs typeface="Arial"/>
              </a:rPr>
              <a:t>/2019</a:t>
            </a:r>
            <a:r>
              <a:rPr sz="650" spc="35" dirty="0">
                <a:solidFill>
                  <a:srgbClr val="999999"/>
                </a:solidFill>
                <a:latin typeface="Arial"/>
                <a:cs typeface="Arial"/>
              </a:rPr>
              <a:t> </a:t>
            </a:r>
            <a:r>
              <a:rPr lang="en-GB" sz="650" dirty="0">
                <a:solidFill>
                  <a:srgbClr val="999999"/>
                </a:solidFill>
                <a:latin typeface="Arial"/>
                <a:cs typeface="Arial"/>
              </a:rPr>
              <a:t>–</a:t>
            </a:r>
            <a:r>
              <a:rPr sz="650" spc="40" dirty="0">
                <a:solidFill>
                  <a:srgbClr val="999999"/>
                </a:solidFill>
                <a:latin typeface="Arial"/>
                <a:cs typeface="Arial"/>
              </a:rPr>
              <a:t> </a:t>
            </a:r>
            <a:r>
              <a:rPr sz="650" dirty="0">
                <a:solidFill>
                  <a:srgbClr val="999999"/>
                </a:solidFill>
                <a:latin typeface="Arial"/>
                <a:cs typeface="Arial"/>
              </a:rPr>
              <a:t>2</a:t>
            </a:r>
            <a:r>
              <a:rPr lang="en-GB" sz="650" dirty="0">
                <a:solidFill>
                  <a:srgbClr val="999999"/>
                </a:solidFill>
                <a:latin typeface="Arial"/>
                <a:cs typeface="Arial"/>
              </a:rPr>
              <a:t>8/02</a:t>
            </a:r>
            <a:r>
              <a:rPr sz="650" dirty="0">
                <a:solidFill>
                  <a:srgbClr val="999999"/>
                </a:solidFill>
                <a:latin typeface="Arial"/>
                <a:cs typeface="Arial"/>
              </a:rPr>
              <a:t>/202</a:t>
            </a:r>
            <a:r>
              <a:rPr lang="en-GB" sz="650" dirty="0">
                <a:solidFill>
                  <a:srgbClr val="999999"/>
                </a:solidFill>
                <a:latin typeface="Arial"/>
                <a:cs typeface="Arial"/>
              </a:rPr>
              <a:t>5</a:t>
            </a:r>
            <a:r>
              <a:rPr sz="650" spc="35" dirty="0">
                <a:solidFill>
                  <a:srgbClr val="999999"/>
                </a:solidFill>
                <a:latin typeface="Arial"/>
                <a:cs typeface="Arial"/>
              </a:rPr>
              <a:t> </a:t>
            </a:r>
            <a:r>
              <a:rPr sz="650" dirty="0">
                <a:solidFill>
                  <a:srgbClr val="999999"/>
                </a:solidFill>
                <a:latin typeface="Arial"/>
                <a:cs typeface="Arial"/>
              </a:rPr>
              <a:t>Powered</a:t>
            </a:r>
            <a:r>
              <a:rPr sz="650" spc="40" dirty="0">
                <a:solidFill>
                  <a:srgbClr val="999999"/>
                </a:solidFill>
                <a:latin typeface="Arial"/>
                <a:cs typeface="Arial"/>
              </a:rPr>
              <a:t> </a:t>
            </a:r>
            <a:r>
              <a:rPr sz="650" dirty="0">
                <a:solidFill>
                  <a:srgbClr val="999999"/>
                </a:solidFill>
                <a:latin typeface="Arial"/>
                <a:cs typeface="Arial"/>
              </a:rPr>
              <a:t>by</a:t>
            </a:r>
            <a:r>
              <a:rPr sz="650" spc="35" dirty="0">
                <a:solidFill>
                  <a:srgbClr val="999999"/>
                </a:solidFill>
                <a:latin typeface="Arial"/>
                <a:cs typeface="Arial"/>
              </a:rPr>
              <a:t> </a:t>
            </a:r>
            <a:r>
              <a:rPr sz="650" dirty="0">
                <a:solidFill>
                  <a:srgbClr val="999999"/>
                </a:solidFill>
                <a:latin typeface="Arial"/>
                <a:cs typeface="Arial"/>
              </a:rPr>
              <a:t>data</a:t>
            </a:r>
            <a:r>
              <a:rPr sz="650" spc="40" dirty="0">
                <a:solidFill>
                  <a:srgbClr val="999999"/>
                </a:solidFill>
                <a:latin typeface="Arial"/>
                <a:cs typeface="Arial"/>
              </a:rPr>
              <a:t> </a:t>
            </a:r>
            <a:r>
              <a:rPr sz="650" dirty="0">
                <a:solidFill>
                  <a:srgbClr val="999999"/>
                </a:solidFill>
                <a:latin typeface="Arial"/>
                <a:cs typeface="Arial"/>
              </a:rPr>
              <a:t>from</a:t>
            </a:r>
            <a:r>
              <a:rPr sz="650" spc="35" dirty="0">
                <a:solidFill>
                  <a:srgbClr val="999999"/>
                </a:solidFill>
                <a:latin typeface="Arial"/>
                <a:cs typeface="Arial"/>
              </a:rPr>
              <a:t> </a:t>
            </a:r>
            <a:r>
              <a:rPr sz="650" dirty="0">
                <a:solidFill>
                  <a:srgbClr val="999999"/>
                </a:solidFill>
                <a:latin typeface="Arial"/>
                <a:cs typeface="Arial"/>
              </a:rPr>
              <a:t>FE</a:t>
            </a:r>
            <a:r>
              <a:rPr sz="650" spc="40" dirty="0">
                <a:solidFill>
                  <a:srgbClr val="999999"/>
                </a:solidFill>
                <a:latin typeface="Arial"/>
                <a:cs typeface="Arial"/>
              </a:rPr>
              <a:t> </a:t>
            </a:r>
            <a:r>
              <a:rPr sz="650" spc="-10" dirty="0" err="1">
                <a:solidFill>
                  <a:srgbClr val="999999"/>
                </a:solidFill>
                <a:latin typeface="Arial"/>
                <a:cs typeface="Arial"/>
              </a:rPr>
              <a:t>fundinfo</a:t>
            </a:r>
            <a:endParaRPr sz="650" dirty="0">
              <a:latin typeface="Arial"/>
              <a:cs typeface="Arial"/>
            </a:endParaRPr>
          </a:p>
          <a:p>
            <a:pPr marL="156210">
              <a:lnSpc>
                <a:spcPct val="100000"/>
              </a:lnSpc>
              <a:spcBef>
                <a:spcPts val="430"/>
              </a:spcBef>
            </a:pPr>
            <a:r>
              <a:rPr lang="en-GB" sz="800" dirty="0">
                <a:latin typeface="Zurich Sans Light"/>
                <a:cs typeface="Zurich Sans Light"/>
              </a:rPr>
              <a:t>Fidelity Emerging Market Debt	</a:t>
            </a:r>
          </a:p>
          <a:p>
            <a:pPr marL="156210">
              <a:lnSpc>
                <a:spcPct val="100000"/>
              </a:lnSpc>
              <a:spcBef>
                <a:spcPts val="430"/>
              </a:spcBef>
            </a:pPr>
            <a:r>
              <a:rPr lang="en-GB" sz="800" dirty="0">
                <a:latin typeface="Zurich Sans Light"/>
                <a:cs typeface="Zurich Sans Light"/>
              </a:rPr>
              <a:t>Sector	</a:t>
            </a:r>
            <a:endParaRPr sz="800" dirty="0">
              <a:latin typeface="Zurich Sans Light"/>
              <a:cs typeface="Zurich Sans Light"/>
            </a:endParaRPr>
          </a:p>
          <a:p>
            <a:pPr marL="12700" marR="33020">
              <a:lnSpc>
                <a:spcPts val="780"/>
              </a:lnSpc>
              <a:spcBef>
                <a:spcPts val="450"/>
              </a:spcBef>
            </a:pPr>
            <a:r>
              <a:rPr sz="750" b="0" dirty="0">
                <a:solidFill>
                  <a:srgbClr val="142863"/>
                </a:solidFill>
                <a:latin typeface="Zurich Sans Light"/>
                <a:cs typeface="Zurich Sans Light"/>
              </a:rPr>
              <a:t>Source:</a:t>
            </a:r>
            <a:r>
              <a:rPr sz="750" b="0" spc="85" dirty="0">
                <a:solidFill>
                  <a:srgbClr val="142863"/>
                </a:solidFill>
                <a:latin typeface="Zurich Sans Light"/>
                <a:cs typeface="Zurich Sans Light"/>
              </a:rPr>
              <a:t> </a:t>
            </a:r>
            <a:r>
              <a:rPr sz="750" b="0" dirty="0" err="1">
                <a:solidFill>
                  <a:srgbClr val="142863"/>
                </a:solidFill>
                <a:latin typeface="Zurich Sans Light"/>
                <a:cs typeface="Zurich Sans Light"/>
              </a:rPr>
              <a:t>FEfundinfo</a:t>
            </a:r>
            <a:r>
              <a:rPr sz="750" b="0" spc="90" dirty="0">
                <a:solidFill>
                  <a:srgbClr val="142863"/>
                </a:solidFill>
                <a:latin typeface="Zurich Sans Light"/>
                <a:cs typeface="Zurich Sans Light"/>
              </a:rPr>
              <a:t> </a:t>
            </a:r>
            <a:r>
              <a:rPr sz="750" b="0" dirty="0">
                <a:solidFill>
                  <a:srgbClr val="142863"/>
                </a:solidFill>
                <a:latin typeface="Zurich Sans Light"/>
                <a:cs typeface="Zurich Sans Light"/>
              </a:rPr>
              <a:t>as</a:t>
            </a:r>
            <a:r>
              <a:rPr sz="750" b="0" spc="90" dirty="0">
                <a:solidFill>
                  <a:srgbClr val="142863"/>
                </a:solidFill>
                <a:latin typeface="Zurich Sans Light"/>
                <a:cs typeface="Zurich Sans Light"/>
              </a:rPr>
              <a:t> </a:t>
            </a:r>
            <a:r>
              <a:rPr sz="750" b="0" dirty="0">
                <a:solidFill>
                  <a:srgbClr val="142863"/>
                </a:solidFill>
                <a:latin typeface="Zurich Sans Light"/>
                <a:cs typeface="Zurich Sans Light"/>
              </a:rPr>
              <a:t>at</a:t>
            </a:r>
            <a:r>
              <a:rPr sz="750" b="0" spc="90" dirty="0">
                <a:solidFill>
                  <a:srgbClr val="142863"/>
                </a:solidFill>
                <a:latin typeface="Zurich Sans Light"/>
                <a:cs typeface="Zurich Sans Light"/>
              </a:rPr>
              <a:t> </a:t>
            </a:r>
            <a:r>
              <a:rPr lang="en-GB" sz="750" spc="90" dirty="0">
                <a:solidFill>
                  <a:srgbClr val="142863"/>
                </a:solidFill>
                <a:latin typeface="Zurich Sans Light"/>
                <a:cs typeface="Zurich Sans Light"/>
              </a:rPr>
              <a:t>28</a:t>
            </a:r>
            <a:r>
              <a:rPr sz="750" b="0" dirty="0">
                <a:solidFill>
                  <a:srgbClr val="142863"/>
                </a:solidFill>
                <a:latin typeface="Zurich Sans Light"/>
                <a:cs typeface="Zurich Sans Light"/>
              </a:rPr>
              <a:t>/</a:t>
            </a:r>
            <a:r>
              <a:rPr lang="en-GB" sz="750" b="0" dirty="0">
                <a:solidFill>
                  <a:srgbClr val="142863"/>
                </a:solidFill>
                <a:latin typeface="Zurich Sans Light"/>
                <a:cs typeface="Zurich Sans Light"/>
              </a:rPr>
              <a:t>02</a:t>
            </a:r>
            <a:r>
              <a:rPr sz="750" b="0" dirty="0">
                <a:solidFill>
                  <a:srgbClr val="142863"/>
                </a:solidFill>
                <a:latin typeface="Zurich Sans Light"/>
                <a:cs typeface="Zurich Sans Light"/>
              </a:rPr>
              <a:t>/202</a:t>
            </a:r>
            <a:r>
              <a:rPr lang="en-GB" sz="750" b="0" dirty="0">
                <a:solidFill>
                  <a:srgbClr val="142863"/>
                </a:solidFill>
                <a:latin typeface="Zurich Sans Light"/>
                <a:cs typeface="Zurich Sans Light"/>
              </a:rPr>
              <a:t>5, bid to bid gross in USD. </a:t>
            </a:r>
            <a:br>
              <a:rPr lang="en-GB" sz="750" b="0" dirty="0">
                <a:solidFill>
                  <a:srgbClr val="142863"/>
                </a:solidFill>
                <a:latin typeface="Zurich Sans Light"/>
                <a:cs typeface="Zurich Sans Light"/>
              </a:rPr>
            </a:br>
            <a:br>
              <a:rPr lang="en-GB" sz="750" b="0" dirty="0">
                <a:solidFill>
                  <a:srgbClr val="142863"/>
                </a:solidFill>
                <a:latin typeface="Zurich Sans Light"/>
                <a:cs typeface="Zurich Sans Light"/>
              </a:rPr>
            </a:br>
            <a:r>
              <a:rPr lang="en-GB" sz="750" b="0" dirty="0">
                <a:solidFill>
                  <a:srgbClr val="142863"/>
                </a:solidFill>
                <a:latin typeface="Zurich Sans Light"/>
                <a:cs typeface="Zurich Sans Light"/>
              </a:rPr>
              <a:t>Sector returns are based on the FE sector category highlighted opposite.  They are provided for comparison purposes only. Past performance is not a guide to future performance</a:t>
            </a:r>
            <a:r>
              <a:rPr sz="750" b="0" spc="90" dirty="0">
                <a:solidFill>
                  <a:srgbClr val="142863"/>
                </a:solidFill>
                <a:latin typeface="Zurich Sans Light"/>
                <a:cs typeface="Zurich Sans Light"/>
              </a:rPr>
              <a:t> </a:t>
            </a:r>
            <a:endParaRPr lang="en-GB" sz="750" b="0" spc="90" dirty="0">
              <a:solidFill>
                <a:srgbClr val="142863"/>
              </a:solidFill>
              <a:latin typeface="Zurich Sans Light"/>
              <a:cs typeface="Zurich Sans Light"/>
            </a:endParaRPr>
          </a:p>
        </p:txBody>
      </p:sp>
      <p:sp>
        <p:nvSpPr>
          <p:cNvPr id="82" name="object 82">
            <a:extLst>
              <a:ext uri="{FF2B5EF4-FFF2-40B4-BE49-F238E27FC236}">
                <a16:creationId xmlns:a16="http://schemas.microsoft.com/office/drawing/2014/main" id="{34D4C37C-37B0-F5EA-B2D2-378DB468A951}"/>
              </a:ext>
            </a:extLst>
          </p:cNvPr>
          <p:cNvSpPr txBox="1"/>
          <p:nvPr/>
        </p:nvSpPr>
        <p:spPr>
          <a:xfrm>
            <a:off x="3214521" y="6227358"/>
            <a:ext cx="17716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0%</a:t>
            </a:r>
            <a:endParaRPr sz="800">
              <a:latin typeface="Arial"/>
              <a:cs typeface="Arial"/>
            </a:endParaRPr>
          </a:p>
        </p:txBody>
      </p:sp>
      <p:sp>
        <p:nvSpPr>
          <p:cNvPr id="83" name="object 83">
            <a:extLst>
              <a:ext uri="{FF2B5EF4-FFF2-40B4-BE49-F238E27FC236}">
                <a16:creationId xmlns:a16="http://schemas.microsoft.com/office/drawing/2014/main" id="{8EB5B378-D7C6-5E80-7636-6D7C1EED7620}"/>
              </a:ext>
            </a:extLst>
          </p:cNvPr>
          <p:cNvSpPr txBox="1"/>
          <p:nvPr/>
        </p:nvSpPr>
        <p:spPr>
          <a:xfrm>
            <a:off x="3128527" y="5748556"/>
            <a:ext cx="23558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25%</a:t>
            </a:r>
            <a:endParaRPr sz="800">
              <a:latin typeface="Arial"/>
              <a:cs typeface="Arial"/>
            </a:endParaRPr>
          </a:p>
        </p:txBody>
      </p:sp>
      <p:sp>
        <p:nvSpPr>
          <p:cNvPr id="3" name="object 34">
            <a:extLst>
              <a:ext uri="{FF2B5EF4-FFF2-40B4-BE49-F238E27FC236}">
                <a16:creationId xmlns:a16="http://schemas.microsoft.com/office/drawing/2014/main" id="{BE5A61ED-8E16-4618-FCE5-6C3566D7447D}"/>
              </a:ext>
            </a:extLst>
          </p:cNvPr>
          <p:cNvSpPr/>
          <p:nvPr/>
        </p:nvSpPr>
        <p:spPr>
          <a:xfrm>
            <a:off x="3090968" y="7620875"/>
            <a:ext cx="116128"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AAC7EA"/>
          </a:solidFill>
        </p:spPr>
        <p:txBody>
          <a:bodyPr wrap="square" lIns="0" tIns="0" rIns="0" bIns="0" rtlCol="0"/>
          <a:lstStyle/>
          <a:p>
            <a:endParaRPr/>
          </a:p>
        </p:txBody>
      </p:sp>
      <p:sp>
        <p:nvSpPr>
          <p:cNvPr id="7" name="object 30">
            <a:extLst>
              <a:ext uri="{FF2B5EF4-FFF2-40B4-BE49-F238E27FC236}">
                <a16:creationId xmlns:a16="http://schemas.microsoft.com/office/drawing/2014/main" id="{4C32464F-BE6E-9E89-4FD9-6C73A8AC6922}"/>
              </a:ext>
            </a:extLst>
          </p:cNvPr>
          <p:cNvSpPr/>
          <p:nvPr/>
        </p:nvSpPr>
        <p:spPr>
          <a:xfrm>
            <a:off x="3090968" y="7420320"/>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endParaRPr/>
          </a:p>
        </p:txBody>
      </p:sp>
      <p:sp>
        <p:nvSpPr>
          <p:cNvPr id="13" name="object 80">
            <a:extLst>
              <a:ext uri="{FF2B5EF4-FFF2-40B4-BE49-F238E27FC236}">
                <a16:creationId xmlns:a16="http://schemas.microsoft.com/office/drawing/2014/main" id="{D5DEABEA-C4E4-1F8D-EEE9-0C370332DF21}"/>
              </a:ext>
            </a:extLst>
          </p:cNvPr>
          <p:cNvSpPr/>
          <p:nvPr/>
        </p:nvSpPr>
        <p:spPr>
          <a:xfrm>
            <a:off x="3419037" y="6001942"/>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chemeClr val="tx2">
                <a:lumMod val="40000"/>
                <a:lumOff val="60000"/>
              </a:schemeClr>
            </a:solidFill>
          </a:ln>
        </p:spPr>
        <p:txBody>
          <a:bodyPr wrap="square" lIns="0" tIns="0" rIns="0" bIns="0" rtlCol="0"/>
          <a:lstStyle/>
          <a:p>
            <a:endParaRPr>
              <a:solidFill>
                <a:schemeClr val="accent5">
                  <a:lumMod val="40000"/>
                  <a:lumOff val="60000"/>
                </a:schemeClr>
              </a:solidFill>
            </a:endParaRPr>
          </a:p>
        </p:txBody>
      </p:sp>
      <p:sp>
        <p:nvSpPr>
          <p:cNvPr id="14" name="object 51">
            <a:extLst>
              <a:ext uri="{FF2B5EF4-FFF2-40B4-BE49-F238E27FC236}">
                <a16:creationId xmlns:a16="http://schemas.microsoft.com/office/drawing/2014/main" id="{60B81AB6-DEEA-2DCA-CFA6-33B607585297}"/>
              </a:ext>
            </a:extLst>
          </p:cNvPr>
          <p:cNvSpPr txBox="1"/>
          <p:nvPr/>
        </p:nvSpPr>
        <p:spPr>
          <a:xfrm>
            <a:off x="264951" y="8341374"/>
            <a:ext cx="6909415" cy="1868955"/>
          </a:xfrm>
          <a:prstGeom prst="rect">
            <a:avLst/>
          </a:prstGeom>
          <a:solidFill>
            <a:schemeClr val="accent1">
              <a:lumMod val="20000"/>
              <a:lumOff val="80000"/>
            </a:schemeClr>
          </a:solidFill>
        </p:spPr>
        <p:txBody>
          <a:bodyPr vert="horz" wrap="square" lIns="72000" tIns="72000" rIns="72000" bIns="72000" rtlCol="0">
            <a:spAutoFit/>
          </a:bodyPr>
          <a:lstStyle/>
          <a:p>
            <a:pPr marR="5080"/>
            <a:r>
              <a:rPr lang="en-GB" sz="800" b="0">
                <a:solidFill>
                  <a:schemeClr val="tx2"/>
                </a:solidFill>
                <a:latin typeface="Zurich Sans Light"/>
                <a:cs typeface="Zurich Sans Light"/>
              </a:rPr>
              <a:t>This factsheet is for informational purposes only and is not an investment offer. Potential investors should seek professional advice before making decisions. Information may change without notice and is sourced from reliable sources, but accuracy is not guaranteed. Zurich International Life Limited and its affiliates are not responsible for errors or omissions. Please consult a financial professional to determine suitability for your investments.</a:t>
            </a:r>
          </a:p>
          <a:p>
            <a:pPr marR="5080"/>
            <a:endParaRPr lang="en-GB" sz="800">
              <a:solidFill>
                <a:schemeClr val="tx2"/>
              </a:solidFill>
              <a:latin typeface="Zurich Sans Light"/>
              <a:cs typeface="Zurich Sans Light"/>
            </a:endParaRPr>
          </a:p>
          <a:p>
            <a:pPr marR="5080"/>
            <a:r>
              <a:rPr lang="en-GB" sz="800" b="0">
                <a:solidFill>
                  <a:schemeClr val="tx2"/>
                </a:solidFill>
                <a:latin typeface="Zurich Sans Light"/>
                <a:cs typeface="Zurich Sans Light"/>
              </a:rPr>
              <a:t>All funds carry certain risks, and it is important to consider these risks before making an investment decision. The value of investments and any income derived from them is not guaranteed; they can both fall and rise and may be eroded in real terms by the effects of inflation. </a:t>
            </a:r>
            <a:br>
              <a:rPr lang="en-GB" sz="800" b="0">
                <a:solidFill>
                  <a:schemeClr val="tx2"/>
                </a:solidFill>
                <a:latin typeface="Zurich Sans Light"/>
                <a:cs typeface="Zurich Sans Light"/>
              </a:rPr>
            </a:br>
            <a:br>
              <a:rPr lang="en-GB" sz="800" b="0">
                <a:solidFill>
                  <a:schemeClr val="tx2"/>
                </a:solidFill>
                <a:latin typeface="Zurich Sans Light"/>
                <a:cs typeface="Zurich Sans Light"/>
              </a:rPr>
            </a:br>
            <a:r>
              <a:rPr lang="en-GB" sz="800" b="0">
                <a:solidFill>
                  <a:schemeClr val="tx2"/>
                </a:solidFill>
                <a:latin typeface="Zurich Sans Light"/>
                <a:cs typeface="Zurich Sans Light"/>
              </a:rPr>
              <a:t>Key factors that may increase these risks include, but are not limited to:</a:t>
            </a:r>
            <a:br>
              <a:rPr lang="en-GB" sz="800" b="0">
                <a:solidFill>
                  <a:schemeClr val="tx2"/>
                </a:solidFill>
                <a:latin typeface="Zurich Sans Light"/>
                <a:cs typeface="Zurich Sans Light"/>
              </a:rPr>
            </a:br>
            <a:r>
              <a:rPr lang="en-GB" sz="800" b="0">
                <a:solidFill>
                  <a:schemeClr val="tx2"/>
                </a:solidFill>
                <a:latin typeface="Zurich Sans Light"/>
                <a:cs typeface="Zurich Sans Light"/>
              </a:rPr>
              <a:t>• The proportion of assets held overseas,</a:t>
            </a:r>
          </a:p>
          <a:p>
            <a:pPr marR="5080"/>
            <a:r>
              <a:rPr lang="en-GB" sz="800" b="0">
                <a:solidFill>
                  <a:schemeClr val="tx2"/>
                </a:solidFill>
                <a:latin typeface="Zurich Sans Light"/>
                <a:cs typeface="Zurich Sans Light"/>
              </a:rPr>
              <a:t>• Any concentration in specific geographic  areas or industry sectors,</a:t>
            </a:r>
          </a:p>
          <a:p>
            <a:pPr marR="5080"/>
            <a:r>
              <a:rPr lang="en-GB" sz="800" b="0">
                <a:solidFill>
                  <a:schemeClr val="tx2"/>
                </a:solidFill>
                <a:latin typeface="Zurich Sans Light"/>
                <a:cs typeface="Zurich Sans Light"/>
              </a:rPr>
              <a:t>• The amount invested in property or property-related shares,</a:t>
            </a:r>
          </a:p>
          <a:p>
            <a:pPr marR="5080"/>
            <a:r>
              <a:rPr lang="en-GB" sz="800" b="0">
                <a:solidFill>
                  <a:schemeClr val="tx2"/>
                </a:solidFill>
                <a:latin typeface="Zurich Sans Light"/>
                <a:cs typeface="Zurich Sans Light"/>
              </a:rPr>
              <a:t>• The use of derivatives and other financial instruments intended to generate outperformance,</a:t>
            </a:r>
          </a:p>
          <a:p>
            <a:pPr marR="5080"/>
            <a:r>
              <a:rPr lang="en-GB" sz="800" b="0">
                <a:solidFill>
                  <a:schemeClr val="tx2"/>
                </a:solidFill>
                <a:latin typeface="Zurich Sans Light"/>
                <a:cs typeface="Zurich Sans Light"/>
              </a:rPr>
              <a:t>• Additional charges that may reduce the number of units you hold.</a:t>
            </a:r>
          </a:p>
          <a:p>
            <a:pPr marR="5080"/>
            <a:endParaRPr sz="800">
              <a:solidFill>
                <a:schemeClr val="tx2"/>
              </a:solidFill>
              <a:latin typeface="Zurich Sans Light"/>
            </a:endParaRPr>
          </a:p>
        </p:txBody>
      </p:sp>
      <p:sp>
        <p:nvSpPr>
          <p:cNvPr id="40" name="object 24">
            <a:extLst>
              <a:ext uri="{FF2B5EF4-FFF2-40B4-BE49-F238E27FC236}">
                <a16:creationId xmlns:a16="http://schemas.microsoft.com/office/drawing/2014/main" id="{D78DD3F9-926D-2B18-4651-C5F29288286D}"/>
              </a:ext>
            </a:extLst>
          </p:cNvPr>
          <p:cNvSpPr txBox="1"/>
          <p:nvPr/>
        </p:nvSpPr>
        <p:spPr>
          <a:xfrm>
            <a:off x="3059937" y="3754245"/>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Discrete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pic>
        <p:nvPicPr>
          <p:cNvPr id="42" name="Graphic 41">
            <a:extLst>
              <a:ext uri="{FF2B5EF4-FFF2-40B4-BE49-F238E27FC236}">
                <a16:creationId xmlns:a16="http://schemas.microsoft.com/office/drawing/2014/main" id="{3E6ACC1B-EDE4-8606-AD64-3C2BA85638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037" y="182136"/>
            <a:ext cx="1976437" cy="767521"/>
          </a:xfrm>
          <a:prstGeom prst="rect">
            <a:avLst/>
          </a:prstGeom>
        </p:spPr>
      </p:pic>
      <p:sp>
        <p:nvSpPr>
          <p:cNvPr id="4" name="object 12">
            <a:extLst>
              <a:ext uri="{FF2B5EF4-FFF2-40B4-BE49-F238E27FC236}">
                <a16:creationId xmlns:a16="http://schemas.microsoft.com/office/drawing/2014/main" id="{5C0533BC-C863-9813-B46F-7101A0DCA95A}"/>
              </a:ext>
            </a:extLst>
          </p:cNvPr>
          <p:cNvSpPr/>
          <p:nvPr/>
        </p:nvSpPr>
        <p:spPr>
          <a:xfrm>
            <a:off x="3075145" y="339119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9" name="object 12">
            <a:extLst>
              <a:ext uri="{FF2B5EF4-FFF2-40B4-BE49-F238E27FC236}">
                <a16:creationId xmlns:a16="http://schemas.microsoft.com/office/drawing/2014/main" id="{C5C25333-9EDA-2960-66D5-A060508CFC65}"/>
              </a:ext>
            </a:extLst>
          </p:cNvPr>
          <p:cNvSpPr/>
          <p:nvPr/>
        </p:nvSpPr>
        <p:spPr>
          <a:xfrm>
            <a:off x="3070729" y="3674782"/>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5" name="object 32">
            <a:extLst>
              <a:ext uri="{FF2B5EF4-FFF2-40B4-BE49-F238E27FC236}">
                <a16:creationId xmlns:a16="http://schemas.microsoft.com/office/drawing/2014/main" id="{C99B43AD-2B7C-C2B2-498B-8B388082D185}"/>
              </a:ext>
            </a:extLst>
          </p:cNvPr>
          <p:cNvSpPr txBox="1"/>
          <p:nvPr/>
        </p:nvSpPr>
        <p:spPr>
          <a:xfrm>
            <a:off x="4168425" y="3417053"/>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19" name="object 33">
            <a:extLst>
              <a:ext uri="{FF2B5EF4-FFF2-40B4-BE49-F238E27FC236}">
                <a16:creationId xmlns:a16="http://schemas.microsoft.com/office/drawing/2014/main" id="{2BB27EF0-40DE-7F57-9951-8B5EFA550E50}"/>
              </a:ext>
            </a:extLst>
          </p:cNvPr>
          <p:cNvSpPr txBox="1"/>
          <p:nvPr/>
        </p:nvSpPr>
        <p:spPr>
          <a:xfrm>
            <a:off x="4757006" y="3417053"/>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3" name="object 34">
            <a:extLst>
              <a:ext uri="{FF2B5EF4-FFF2-40B4-BE49-F238E27FC236}">
                <a16:creationId xmlns:a16="http://schemas.microsoft.com/office/drawing/2014/main" id="{7963DAB2-2789-F9D4-9D3F-7813F1D362C2}"/>
              </a:ext>
            </a:extLst>
          </p:cNvPr>
          <p:cNvSpPr txBox="1"/>
          <p:nvPr/>
        </p:nvSpPr>
        <p:spPr>
          <a:xfrm>
            <a:off x="5297839" y="3417053"/>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4" name="object 35">
            <a:extLst>
              <a:ext uri="{FF2B5EF4-FFF2-40B4-BE49-F238E27FC236}">
                <a16:creationId xmlns:a16="http://schemas.microsoft.com/office/drawing/2014/main" id="{0B6734F0-31F8-C52C-3867-BA7509310FA8}"/>
              </a:ext>
            </a:extLst>
          </p:cNvPr>
          <p:cNvSpPr txBox="1"/>
          <p:nvPr/>
        </p:nvSpPr>
        <p:spPr>
          <a:xfrm>
            <a:off x="5770330" y="3417053"/>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45" name="object 36">
            <a:extLst>
              <a:ext uri="{FF2B5EF4-FFF2-40B4-BE49-F238E27FC236}">
                <a16:creationId xmlns:a16="http://schemas.microsoft.com/office/drawing/2014/main" id="{46DDC4D4-2EE9-E53C-260E-9040AE8FA19A}"/>
              </a:ext>
            </a:extLst>
          </p:cNvPr>
          <p:cNvSpPr txBox="1"/>
          <p:nvPr/>
        </p:nvSpPr>
        <p:spPr>
          <a:xfrm>
            <a:off x="6698612" y="3405831"/>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46" name="object 32">
            <a:extLst>
              <a:ext uri="{FF2B5EF4-FFF2-40B4-BE49-F238E27FC236}">
                <a16:creationId xmlns:a16="http://schemas.microsoft.com/office/drawing/2014/main" id="{00288C65-67B3-F735-C6B5-18948AB6DA0C}"/>
              </a:ext>
            </a:extLst>
          </p:cNvPr>
          <p:cNvSpPr txBox="1"/>
          <p:nvPr/>
        </p:nvSpPr>
        <p:spPr>
          <a:xfrm>
            <a:off x="3834465" y="4495720"/>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47" name="object 33">
            <a:extLst>
              <a:ext uri="{FF2B5EF4-FFF2-40B4-BE49-F238E27FC236}">
                <a16:creationId xmlns:a16="http://schemas.microsoft.com/office/drawing/2014/main" id="{97A6433D-8B84-7500-B7F0-8F8EAA2FD81C}"/>
              </a:ext>
            </a:extLst>
          </p:cNvPr>
          <p:cNvSpPr txBox="1"/>
          <p:nvPr/>
        </p:nvSpPr>
        <p:spPr>
          <a:xfrm>
            <a:off x="4575767" y="4495720"/>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8" name="object 34">
            <a:extLst>
              <a:ext uri="{FF2B5EF4-FFF2-40B4-BE49-F238E27FC236}">
                <a16:creationId xmlns:a16="http://schemas.microsoft.com/office/drawing/2014/main" id="{732C1D9B-F9ED-C9AA-89BA-B3CA60C8BD39}"/>
              </a:ext>
            </a:extLst>
          </p:cNvPr>
          <p:cNvSpPr txBox="1"/>
          <p:nvPr/>
        </p:nvSpPr>
        <p:spPr>
          <a:xfrm>
            <a:off x="5229687" y="4495720"/>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9" name="object 35">
            <a:extLst>
              <a:ext uri="{FF2B5EF4-FFF2-40B4-BE49-F238E27FC236}">
                <a16:creationId xmlns:a16="http://schemas.microsoft.com/office/drawing/2014/main" id="{A777E7D2-EC30-B269-9D15-BEE2D69234CA}"/>
              </a:ext>
            </a:extLst>
          </p:cNvPr>
          <p:cNvSpPr txBox="1"/>
          <p:nvPr/>
        </p:nvSpPr>
        <p:spPr>
          <a:xfrm>
            <a:off x="5988382" y="4495720"/>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50" name="object 36">
            <a:extLst>
              <a:ext uri="{FF2B5EF4-FFF2-40B4-BE49-F238E27FC236}">
                <a16:creationId xmlns:a16="http://schemas.microsoft.com/office/drawing/2014/main" id="{FFF69D1F-FDD2-ACF3-602A-7A575269EECA}"/>
              </a:ext>
            </a:extLst>
          </p:cNvPr>
          <p:cNvSpPr txBox="1"/>
          <p:nvPr/>
        </p:nvSpPr>
        <p:spPr>
          <a:xfrm>
            <a:off x="6713806" y="4495720"/>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51" name="object 37">
            <a:extLst>
              <a:ext uri="{FF2B5EF4-FFF2-40B4-BE49-F238E27FC236}">
                <a16:creationId xmlns:a16="http://schemas.microsoft.com/office/drawing/2014/main" id="{2B9458FD-83D6-8D63-69D6-AD2D18DCB00F}"/>
              </a:ext>
            </a:extLst>
          </p:cNvPr>
          <p:cNvSpPr txBox="1"/>
          <p:nvPr/>
        </p:nvSpPr>
        <p:spPr>
          <a:xfrm>
            <a:off x="3062719" y="3412483"/>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38" name="object 32">
            <a:extLst>
              <a:ext uri="{FF2B5EF4-FFF2-40B4-BE49-F238E27FC236}">
                <a16:creationId xmlns:a16="http://schemas.microsoft.com/office/drawing/2014/main" id="{F92A59A0-9B0E-BB2B-0444-9F816EF25358}"/>
              </a:ext>
            </a:extLst>
          </p:cNvPr>
          <p:cNvSpPr txBox="1"/>
          <p:nvPr/>
        </p:nvSpPr>
        <p:spPr>
          <a:xfrm>
            <a:off x="3702050" y="3417053"/>
            <a:ext cx="309880"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7</a:t>
            </a:r>
            <a:r>
              <a:rPr sz="800" spc="-20">
                <a:solidFill>
                  <a:srgbClr val="142863"/>
                </a:solidFill>
                <a:latin typeface="Zurich Sans"/>
                <a:cs typeface="Zurich Sans"/>
              </a:rPr>
              <a:t>.95%</a:t>
            </a:r>
            <a:endParaRPr sz="800">
              <a:latin typeface="Zurich Sans"/>
              <a:cs typeface="Zurich Sans"/>
            </a:endParaRPr>
          </a:p>
        </p:txBody>
      </p:sp>
      <p:sp>
        <p:nvSpPr>
          <p:cNvPr id="53" name="object 36">
            <a:extLst>
              <a:ext uri="{FF2B5EF4-FFF2-40B4-BE49-F238E27FC236}">
                <a16:creationId xmlns:a16="http://schemas.microsoft.com/office/drawing/2014/main" id="{62ED0A0D-F101-110A-B715-B2B46EA9C0FE}"/>
              </a:ext>
            </a:extLst>
          </p:cNvPr>
          <p:cNvSpPr txBox="1"/>
          <p:nvPr/>
        </p:nvSpPr>
        <p:spPr>
          <a:xfrm>
            <a:off x="6232237" y="3414734"/>
            <a:ext cx="358108"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1</a:t>
            </a:r>
            <a:r>
              <a:rPr sz="800" spc="-20">
                <a:solidFill>
                  <a:srgbClr val="142863"/>
                </a:solidFill>
                <a:latin typeface="Zurich Sans"/>
                <a:cs typeface="Zurich Sans"/>
              </a:rPr>
              <a:t>3.30%</a:t>
            </a:r>
            <a:endParaRPr sz="800">
              <a:latin typeface="Zurich Sans"/>
              <a:cs typeface="Zurich Sans"/>
            </a:endParaRPr>
          </a:p>
        </p:txBody>
      </p:sp>
      <p:graphicFrame>
        <p:nvGraphicFramePr>
          <p:cNvPr id="86" name="Table 85">
            <a:extLst>
              <a:ext uri="{FF2B5EF4-FFF2-40B4-BE49-F238E27FC236}">
                <a16:creationId xmlns:a16="http://schemas.microsoft.com/office/drawing/2014/main" id="{0CC43028-6618-55A6-78D2-85A86DE49FBB}"/>
              </a:ext>
            </a:extLst>
          </p:cNvPr>
          <p:cNvGraphicFramePr>
            <a:graphicFrameLocks noGrp="1"/>
          </p:cNvGraphicFramePr>
          <p:nvPr>
            <p:extLst>
              <p:ext uri="{D42A27DB-BD31-4B8C-83A1-F6EECF244321}">
                <p14:modId xmlns:p14="http://schemas.microsoft.com/office/powerpoint/2010/main" val="1758816713"/>
              </p:ext>
            </p:extLst>
          </p:nvPr>
        </p:nvGraphicFramePr>
        <p:xfrm>
          <a:off x="253319" y="2805706"/>
          <a:ext cx="2715251" cy="5375015"/>
        </p:xfrm>
        <a:graphic>
          <a:graphicData uri="http://schemas.openxmlformats.org/drawingml/2006/table">
            <a:tbl>
              <a:tblPr/>
              <a:tblGrid>
                <a:gridCol w="1592123">
                  <a:extLst>
                    <a:ext uri="{9D8B030D-6E8A-4147-A177-3AD203B41FA5}">
                      <a16:colId xmlns:a16="http://schemas.microsoft.com/office/drawing/2014/main" val="3010086377"/>
                    </a:ext>
                  </a:extLst>
                </a:gridCol>
                <a:gridCol w="1123128">
                  <a:extLst>
                    <a:ext uri="{9D8B030D-6E8A-4147-A177-3AD203B41FA5}">
                      <a16:colId xmlns:a16="http://schemas.microsoft.com/office/drawing/2014/main" val="2222851836"/>
                    </a:ext>
                  </a:extLst>
                </a:gridCol>
              </a:tblGrid>
              <a:tr h="265290">
                <a:tc>
                  <a:txBody>
                    <a:bodyPr/>
                    <a:lstStyle/>
                    <a:p>
                      <a:pPr algn="l" fontAlgn="b"/>
                      <a:r>
                        <a:rPr lang="en-US" sz="1100" b="1" i="0" u="none" strike="noStrike">
                          <a:solidFill>
                            <a:srgbClr val="2167AE"/>
                          </a:solidFill>
                          <a:effectLst/>
                          <a:latin typeface="Zurich Sans"/>
                        </a:rPr>
                        <a:t>Fund information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167AE"/>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5598163"/>
                  </a:ext>
                </a:extLst>
              </a:tr>
              <a:tr h="167021">
                <a:tc gridSpan="2">
                  <a:txBody>
                    <a:bodyPr/>
                    <a:lstStyle/>
                    <a:p>
                      <a:pPr algn="l" fontAlgn="b"/>
                      <a:r>
                        <a:rPr lang="en-US" sz="800" b="1" i="0" u="none" strike="noStrike">
                          <a:solidFill>
                            <a:srgbClr val="2167AE"/>
                          </a:solidFill>
                          <a:effectLst/>
                          <a:latin typeface="Zurich Sans"/>
                        </a:rPr>
                        <a:t>Fund Management Company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900" b="0" i="0" u="none" strike="noStrike">
                        <a:solidFill>
                          <a:srgbClr val="2167AE"/>
                        </a:solidFill>
                        <a:effectLst/>
                        <a:latin typeface="Zurich Sans" panose="02000500000000000000" pitchFamily="2" charset="0"/>
                      </a:endParaRPr>
                    </a:p>
                  </a:txBody>
                  <a:tcPr anchor="b">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21192752"/>
                  </a:ext>
                </a:extLst>
              </a:tr>
              <a:tr h="167021">
                <a:tc gridSpan="2">
                  <a:txBody>
                    <a:bodyPr/>
                    <a:lstStyle/>
                    <a:p>
                      <a:pPr algn="r" fontAlgn="ctr"/>
                      <a:r>
                        <a:rPr lang="en-US" sz="800" b="0" i="0" u="none" strike="noStrike">
                          <a:solidFill>
                            <a:srgbClr val="23366F"/>
                          </a:solidFill>
                          <a:effectLst/>
                          <a:latin typeface="Zurich Sans"/>
                        </a:rPr>
                        <a:t>Fidelity Investments</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nchor="ctr">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757054817"/>
                  </a:ext>
                </a:extLst>
              </a:tr>
              <a:tr h="167021">
                <a:tc>
                  <a:txBody>
                    <a:bodyPr/>
                    <a:lstStyle/>
                    <a:p>
                      <a:pPr algn="l" fontAlgn="b"/>
                      <a:r>
                        <a:rPr lang="en-US" sz="800" b="1" i="0" u="none" strike="noStrike">
                          <a:solidFill>
                            <a:srgbClr val="2167AE"/>
                          </a:solidFill>
                          <a:effectLst/>
                          <a:latin typeface="Zurich Sans"/>
                        </a:rPr>
                        <a:t>Zurich Fund Code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3DUSD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17312913"/>
                  </a:ext>
                </a:extLst>
              </a:tr>
              <a:tr h="167021">
                <a:tc>
                  <a:txBody>
                    <a:bodyPr/>
                    <a:lstStyle/>
                    <a:p>
                      <a:pPr algn="l" fontAlgn="b"/>
                      <a:r>
                        <a:rPr lang="en-US" sz="800" b="1" i="0" u="none" strike="noStrike">
                          <a:solidFill>
                            <a:srgbClr val="2167AE"/>
                          </a:solidFill>
                          <a:effectLst/>
                          <a:latin typeface="Zurich Sans"/>
                        </a:rPr>
                        <a:t>Underlying ISN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23366F"/>
                          </a:solidFill>
                          <a:effectLst/>
                          <a:latin typeface="Zurich Sans"/>
                        </a:rPr>
                        <a:t>GB00B4K1ZK5USD</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5109854"/>
                  </a:ext>
                </a:extLst>
              </a:tr>
              <a:tr h="167021">
                <a:tc>
                  <a:txBody>
                    <a:bodyPr/>
                    <a:lstStyle/>
                    <a:p>
                      <a:pPr algn="l" fontAlgn="b"/>
                      <a:r>
                        <a:rPr lang="en-US" sz="800" b="1" i="0" u="none" strike="noStrike" dirty="0">
                          <a:solidFill>
                            <a:srgbClr val="2167AE"/>
                          </a:solidFill>
                          <a:effectLst/>
                          <a:latin typeface="Zurich Sans"/>
                        </a:rPr>
                        <a:t>Zurich Fund Size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52.31m</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00913602"/>
                  </a:ext>
                </a:extLst>
              </a:tr>
              <a:tr h="167021">
                <a:tc>
                  <a:txBody>
                    <a:bodyPr/>
                    <a:lstStyle/>
                    <a:p>
                      <a:pPr algn="l" fontAlgn="b"/>
                      <a:r>
                        <a:rPr lang="en-US" sz="800" b="1" i="0" u="none" strike="noStrike">
                          <a:solidFill>
                            <a:srgbClr val="2167AE"/>
                          </a:solidFill>
                          <a:effectLst/>
                          <a:latin typeface="Zurich Sans"/>
                        </a:rPr>
                        <a:t>Launch Date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01/12/2011</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8480577"/>
                  </a:ext>
                </a:extLst>
              </a:tr>
              <a:tr h="167021">
                <a:tc>
                  <a:txBody>
                    <a:bodyPr/>
                    <a:lstStyle/>
                    <a:p>
                      <a:pPr algn="l" fontAlgn="b"/>
                      <a:r>
                        <a:rPr lang="en-US" sz="800" b="1" i="0" u="none" strike="noStrike">
                          <a:solidFill>
                            <a:srgbClr val="2167AE"/>
                          </a:solidFill>
                          <a:effectLst/>
                          <a:latin typeface="Zurich Sans"/>
                        </a:rPr>
                        <a:t>Unit price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1.54</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7280739"/>
                  </a:ext>
                </a:extLst>
              </a:tr>
              <a:tr h="167021">
                <a:tc>
                  <a:txBody>
                    <a:bodyPr/>
                    <a:lstStyle/>
                    <a:p>
                      <a:pPr algn="l" fontAlgn="b"/>
                      <a:r>
                        <a:rPr lang="en-US" sz="800" b="1" i="0" u="none" strike="noStrike">
                          <a:solidFill>
                            <a:srgbClr val="2167AE"/>
                          </a:solidFill>
                          <a:effectLst/>
                          <a:latin typeface="Zurich Sans"/>
                        </a:rPr>
                        <a:t>Currency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9607909"/>
                  </a:ext>
                </a:extLst>
              </a:tr>
              <a:tr h="167190">
                <a:tc gridSpan="2">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lang="en-US" sz="800" b="1" i="0" u="none" strike="noStrike">
                          <a:solidFill>
                            <a:srgbClr val="2167AE"/>
                          </a:solidFill>
                          <a:effectLst/>
                          <a:latin typeface="Zurich Sans"/>
                        </a:rPr>
                        <a:t>Sector                                  </a:t>
                      </a:r>
                      <a:r>
                        <a:rPr kumimoji="0" lang="en-US" sz="800" b="0" i="0" u="none" strike="noStrike" kern="0" cap="none" spc="0" normalizeH="0" baseline="0" noProof="0">
                          <a:ln>
                            <a:noFill/>
                          </a:ln>
                          <a:solidFill>
                            <a:srgbClr val="23366F"/>
                          </a:solidFill>
                          <a:effectLst/>
                          <a:uLnTx/>
                          <a:uFillTx/>
                          <a:latin typeface="Zurich Sans"/>
                          <a:ea typeface="+mn-ea"/>
                          <a:cs typeface="+mn-cs"/>
                        </a:rPr>
                        <a:t>Fixed Interest – Emerging Markets</a:t>
                      </a:r>
                      <a:endParaRPr lang="en-US"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1261536"/>
                  </a:ext>
                </a:extLst>
              </a:tr>
              <a:tr h="167021">
                <a:tc>
                  <a:txBody>
                    <a:bodyPr/>
                    <a:lstStyle/>
                    <a:p>
                      <a:pPr algn="l" fontAlgn="b"/>
                      <a:r>
                        <a:rPr lang="en-GB" sz="800" b="1" i="0" u="none" strike="noStrike" dirty="0">
                          <a:solidFill>
                            <a:srgbClr val="2167AE"/>
                          </a:solidFill>
                          <a:effectLst/>
                          <a:latin typeface="Zurich Sans"/>
                        </a:rPr>
                        <a:t>Zurich Fund Charge</a:t>
                      </a:r>
                      <a:endParaRPr lang="en-US" sz="800" b="1" i="0" u="none" strike="noStrike" dirty="0">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GB" sz="800" b="0" i="0" u="none" strike="noStrike" dirty="0">
                          <a:solidFill>
                            <a:srgbClr val="23366F"/>
                          </a:solidFill>
                          <a:effectLst/>
                          <a:latin typeface="Zurich Sans"/>
                        </a:rPr>
                        <a:t>0</a:t>
                      </a:r>
                      <a:endParaRPr lang="en-US" sz="800" b="0" i="0" u="none" strike="noStrike" dirty="0">
                        <a:solidFill>
                          <a:srgbClr val="23366F"/>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67909512"/>
                  </a:ext>
                </a:extLst>
              </a:tr>
              <a:tr h="167021">
                <a:tc>
                  <a:txBody>
                    <a:bodyPr/>
                    <a:lstStyle/>
                    <a:p>
                      <a:pPr algn="l" fontAlgn="b"/>
                      <a:r>
                        <a:rPr lang="en-US" sz="800" b="1" i="0" u="none" strike="noStrike" dirty="0">
                          <a:solidFill>
                            <a:srgbClr val="2167AE"/>
                          </a:solidFill>
                          <a:effectLst/>
                          <a:latin typeface="Zurich Sans"/>
                        </a:rPr>
                        <a:t>Annual Management Charge*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0.75%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48880082"/>
                  </a:ext>
                </a:extLst>
              </a:tr>
              <a:tr h="167021">
                <a:tc>
                  <a:txBody>
                    <a:bodyPr/>
                    <a:lstStyle/>
                    <a:p>
                      <a:pPr algn="l" fontAlgn="b"/>
                      <a:r>
                        <a:rPr lang="en-US" sz="800" b="1" i="0" u="none" strike="noStrike" dirty="0">
                          <a:solidFill>
                            <a:srgbClr val="2167AE"/>
                          </a:solidFill>
                          <a:effectLst/>
                          <a:latin typeface="Zurich Sans"/>
                        </a:rPr>
                        <a:t>Ongoing Charge Figure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0.85%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3992124"/>
                  </a:ext>
                </a:extLst>
              </a:tr>
              <a:tr h="167021">
                <a:tc gridSpan="2">
                  <a:txBody>
                    <a:bodyPr/>
                    <a:lstStyle/>
                    <a:p>
                      <a:pPr algn="l" fontAlgn="b"/>
                      <a:r>
                        <a:rPr lang="en-GB" sz="800" b="1" i="0" u="none" strike="noStrike">
                          <a:solidFill>
                            <a:srgbClr val="2167AE"/>
                          </a:solidFill>
                          <a:effectLst/>
                          <a:latin typeface="Zurich Sans"/>
                        </a:rPr>
                        <a:t>Underlying SFDR Product Type                                 </a:t>
                      </a:r>
                      <a:r>
                        <a:rPr lang="en-GB" sz="800" b="0" i="0" u="none" strike="noStrike">
                          <a:solidFill>
                            <a:srgbClr val="23366F"/>
                          </a:solidFill>
                          <a:effectLst/>
                          <a:latin typeface="Zurich Sans"/>
                        </a:rPr>
                        <a:t>Article 9 </a:t>
                      </a:r>
                      <a:endParaRPr lang="en-GB"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1676470885"/>
                  </a:ext>
                </a:extLst>
              </a:tr>
              <a:tr h="167021">
                <a:tc>
                  <a:txBody>
                    <a:bodyPr/>
                    <a:lstStyle/>
                    <a:p>
                      <a:pPr algn="l" fontAlgn="b"/>
                      <a:r>
                        <a:rPr lang="en-US" sz="800" b="1" i="0" u="none" strike="noStrike">
                          <a:solidFill>
                            <a:srgbClr val="2167AE"/>
                          </a:solidFill>
                          <a:effectLst/>
                          <a:latin typeface="Zurich Sans"/>
                        </a:rPr>
                        <a:t>FE Risk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25542"/>
                  </a:ext>
                </a:extLst>
              </a:tr>
              <a:tr h="295966">
                <a:tc>
                  <a:txBody>
                    <a:bodyPr/>
                    <a:lstStyle/>
                    <a:p>
                      <a:pPr algn="l" fontAlgn="b"/>
                      <a:r>
                        <a:rPr lang="en-US" sz="800" b="1" i="0" u="none" strike="noStrike">
                          <a:solidFill>
                            <a:srgbClr val="2167AE"/>
                          </a:solidFill>
                          <a:effectLst/>
                          <a:latin typeface="Zurich Sans"/>
                        </a:rPr>
                        <a:t>Morningstar </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Sustainability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4437999"/>
                  </a:ext>
                </a:extLst>
              </a:tr>
              <a:tr h="295966">
                <a:tc>
                  <a:txBody>
                    <a:bodyPr/>
                    <a:lstStyle/>
                    <a:p>
                      <a:pPr algn="l" fontAlgn="b"/>
                      <a:r>
                        <a:rPr lang="en-US" sz="800" b="1" i="0" u="none" strike="noStrike">
                          <a:solidFill>
                            <a:srgbClr val="2167AE"/>
                          </a:solidFill>
                          <a:effectLst/>
                          <a:latin typeface="Zurich Sans"/>
                        </a:rPr>
                        <a:t>Morningstar</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 Low Carbon Designation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1825811"/>
                  </a:ext>
                </a:extLst>
              </a:tr>
              <a:tr h="295966">
                <a:tc>
                  <a:txBody>
                    <a:bodyPr/>
                    <a:lstStyle/>
                    <a:p>
                      <a:pPr algn="l" fontAlgn="b"/>
                      <a:r>
                        <a:rPr lang="en-US" sz="800" b="1" i="0" u="none" strike="noStrike">
                          <a:solidFill>
                            <a:srgbClr val="2167AE"/>
                          </a:solidFill>
                          <a:effectLst/>
                          <a:latin typeface="Zurich Sans"/>
                        </a:rPr>
                        <a:t>Sustainability Corporate/Sovereign Score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dirty="0">
                          <a:solidFill>
                            <a:srgbClr val="FF0000"/>
                          </a:solidFill>
                          <a:effectLst/>
                          <a:latin typeface="Zurich Sans"/>
                        </a:rPr>
                        <a:t>tbc#</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070001"/>
                  </a:ext>
                </a:extLst>
              </a:tr>
              <a:tr h="733776">
                <a:tc gridSpan="2">
                  <a:txBody>
                    <a:bodyPr/>
                    <a:lstStyle/>
                    <a:p>
                      <a:pPr algn="l" fontAlgn="t"/>
                      <a:r>
                        <a:rPr lang="en-GB" sz="800" b="0" i="0" u="none" strike="noStrike">
                          <a:solidFill>
                            <a:srgbClr val="2167AE"/>
                          </a:solidFill>
                          <a:effectLst/>
                          <a:latin typeface="Zurich Sans"/>
                        </a:rPr>
                        <a:t>* This figure includes the charges and expenses that are deducted from the fund and are reflected in the unit price. Other charges which reduce the number of units you hold may apply.</a:t>
                      </a:r>
                    </a:p>
                  </a:txBody>
                  <a:tcPr marL="36000" marR="36000" marT="9144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3030321878"/>
                  </a:ext>
                </a:extLst>
              </a:tr>
              <a:tr h="1149588">
                <a:tc gridSpan="2">
                  <a:txBody>
                    <a:bodyPr/>
                    <a:lstStyle/>
                    <a:p>
                      <a:pPr marL="0" marR="0" lvl="0" indent="0" algn="l" defTabSz="914400" eaLnBrk="1" fontAlgn="t" latinLnBrk="0" hangingPunct="1">
                        <a:lnSpc>
                          <a:spcPct val="100000"/>
                        </a:lnSpc>
                        <a:spcBef>
                          <a:spcPts val="0"/>
                        </a:spcBef>
                        <a:spcAft>
                          <a:spcPts val="0"/>
                        </a:spcAft>
                        <a:buClrTx/>
                        <a:buSzTx/>
                        <a:buFontTx/>
                        <a:buNone/>
                        <a:tabLst/>
                        <a:defRPr/>
                      </a:pPr>
                      <a:r>
                        <a:rPr lang="en-GB" sz="800" b="0" i="0" u="none" strike="noStrike" dirty="0">
                          <a:solidFill>
                            <a:srgbClr val="2167AE"/>
                          </a:solidFill>
                          <a:effectLst/>
                          <a:latin typeface="Zurich Sans"/>
                        </a:rPr>
                        <a:t>Zurich is not a fund manager. Instead, Zurich offers access to notional units that mirror the underlying Fund. The name of the underlying Fund is replicated by Zurich, with the addition of the word "Zurich". Zurich does not set the investment strategy nor is it responsible for the asset manager’s adherence to it. Please find the Underlying Factsheet link. </a:t>
                      </a: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tcPr>
                </a:tc>
                <a:extLst>
                  <a:ext uri="{0D108BD9-81ED-4DB2-BD59-A6C34878D82A}">
                    <a16:rowId xmlns:a16="http://schemas.microsoft.com/office/drawing/2014/main" val="3583470978"/>
                  </a:ext>
                </a:extLst>
              </a:tr>
            </a:tbl>
          </a:graphicData>
        </a:graphic>
      </p:graphicFrame>
      <p:grpSp>
        <p:nvGrpSpPr>
          <p:cNvPr id="93" name="Group 92">
            <a:extLst>
              <a:ext uri="{FF2B5EF4-FFF2-40B4-BE49-F238E27FC236}">
                <a16:creationId xmlns:a16="http://schemas.microsoft.com/office/drawing/2014/main" id="{71477A63-E8DD-D2DA-ED1A-D91854D6A558}"/>
              </a:ext>
            </a:extLst>
          </p:cNvPr>
          <p:cNvGrpSpPr/>
          <p:nvPr/>
        </p:nvGrpSpPr>
        <p:grpSpPr>
          <a:xfrm>
            <a:off x="2321266" y="5503894"/>
            <a:ext cx="572167" cy="180000"/>
            <a:chOff x="2101251" y="7519667"/>
            <a:chExt cx="572167" cy="180000"/>
          </a:xfrm>
        </p:grpSpPr>
        <p:pic>
          <p:nvPicPr>
            <p:cNvPr id="87" name="Graphic 86" descr="Earth globe: Africa and Europe with solid fill">
              <a:extLst>
                <a:ext uri="{FF2B5EF4-FFF2-40B4-BE49-F238E27FC236}">
                  <a16:creationId xmlns:a16="http://schemas.microsoft.com/office/drawing/2014/main" id="{09194C56-FC5C-E342-748C-CF321D49B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01251" y="7519667"/>
              <a:ext cx="180000" cy="180000"/>
            </a:xfrm>
            <a:prstGeom prst="rect">
              <a:avLst/>
            </a:prstGeom>
          </p:spPr>
        </p:pic>
        <p:pic>
          <p:nvPicPr>
            <p:cNvPr id="91" name="Graphic 90" descr="Earth globe: Africa and Europe with solid fill">
              <a:extLst>
                <a:ext uri="{FF2B5EF4-FFF2-40B4-BE49-F238E27FC236}">
                  <a16:creationId xmlns:a16="http://schemas.microsoft.com/office/drawing/2014/main" id="{8723E331-10AF-C9F3-8B1F-3E8834C2F0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98221" y="7519667"/>
              <a:ext cx="180000" cy="180000"/>
            </a:xfrm>
            <a:prstGeom prst="rect">
              <a:avLst/>
            </a:prstGeom>
          </p:spPr>
        </p:pic>
        <p:pic>
          <p:nvPicPr>
            <p:cNvPr id="92" name="Graphic 91" descr="Earth globe: Africa and Europe with solid fill">
              <a:extLst>
                <a:ext uri="{FF2B5EF4-FFF2-40B4-BE49-F238E27FC236}">
                  <a16:creationId xmlns:a16="http://schemas.microsoft.com/office/drawing/2014/main" id="{6977A556-F8D0-4C3C-32BC-37871CF5E99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93418" y="7519667"/>
              <a:ext cx="180000" cy="180000"/>
            </a:xfrm>
            <a:prstGeom prst="rect">
              <a:avLst/>
            </a:prstGeom>
          </p:spPr>
        </p:pic>
      </p:grpSp>
      <p:grpSp>
        <p:nvGrpSpPr>
          <p:cNvPr id="90" name="Group 89">
            <a:extLst>
              <a:ext uri="{FF2B5EF4-FFF2-40B4-BE49-F238E27FC236}">
                <a16:creationId xmlns:a16="http://schemas.microsoft.com/office/drawing/2014/main" id="{A3D5DE3D-972D-E934-DA33-ADFCC0B64D20}"/>
              </a:ext>
            </a:extLst>
          </p:cNvPr>
          <p:cNvGrpSpPr/>
          <p:nvPr/>
        </p:nvGrpSpPr>
        <p:grpSpPr>
          <a:xfrm>
            <a:off x="2389981" y="5844547"/>
            <a:ext cx="475622" cy="144000"/>
            <a:chOff x="2118446" y="7818788"/>
            <a:chExt cx="475622" cy="144000"/>
          </a:xfrm>
          <a:solidFill>
            <a:srgbClr val="004F9E"/>
          </a:solidFill>
        </p:grpSpPr>
        <p:pic>
          <p:nvPicPr>
            <p:cNvPr id="85" name="Graphic 84" descr="Leaf with solid fill">
              <a:extLst>
                <a:ext uri="{FF2B5EF4-FFF2-40B4-BE49-F238E27FC236}">
                  <a16:creationId xmlns:a16="http://schemas.microsoft.com/office/drawing/2014/main" id="{37F25EE7-1A19-2E6C-9982-F9B5241A8B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18446" y="7818788"/>
              <a:ext cx="144000" cy="144000"/>
            </a:xfrm>
            <a:prstGeom prst="rect">
              <a:avLst/>
            </a:prstGeom>
          </p:spPr>
        </p:pic>
        <p:pic>
          <p:nvPicPr>
            <p:cNvPr id="88" name="Graphic 87" descr="Leaf with solid fill">
              <a:extLst>
                <a:ext uri="{FF2B5EF4-FFF2-40B4-BE49-F238E27FC236}">
                  <a16:creationId xmlns:a16="http://schemas.microsoft.com/office/drawing/2014/main" id="{B476BB90-25EF-C96F-13D3-337E7A9121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90245" y="7818788"/>
              <a:ext cx="144000" cy="144000"/>
            </a:xfrm>
            <a:prstGeom prst="rect">
              <a:avLst/>
            </a:prstGeom>
          </p:spPr>
        </p:pic>
        <p:pic>
          <p:nvPicPr>
            <p:cNvPr id="89" name="Graphic 88" descr="Leaf with solid fill">
              <a:extLst>
                <a:ext uri="{FF2B5EF4-FFF2-40B4-BE49-F238E27FC236}">
                  <a16:creationId xmlns:a16="http://schemas.microsoft.com/office/drawing/2014/main" id="{D66ED5ED-2DDD-02E6-BC4C-E19D4BC005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50068" y="7818788"/>
              <a:ext cx="144000" cy="144000"/>
            </a:xfrm>
            <a:prstGeom prst="rect">
              <a:avLst/>
            </a:prstGeom>
          </p:spPr>
        </p:pic>
      </p:grpSp>
      <p:sp>
        <p:nvSpPr>
          <p:cNvPr id="23" name="TextBox 22">
            <a:extLst>
              <a:ext uri="{FF2B5EF4-FFF2-40B4-BE49-F238E27FC236}">
                <a16:creationId xmlns:a16="http://schemas.microsoft.com/office/drawing/2014/main" id="{9EAAA8F4-D957-65FE-8194-9EE71D2C5AF2}"/>
              </a:ext>
            </a:extLst>
          </p:cNvPr>
          <p:cNvSpPr txBox="1"/>
          <p:nvPr/>
        </p:nvSpPr>
        <p:spPr>
          <a:xfrm>
            <a:off x="281738" y="10370415"/>
            <a:ext cx="6892628" cy="230832"/>
          </a:xfrm>
          <a:prstGeom prst="rect">
            <a:avLst/>
          </a:prstGeom>
          <a:solidFill>
            <a:schemeClr val="bg1">
              <a:lumMod val="95000"/>
            </a:schemeClr>
          </a:solidFill>
        </p:spPr>
        <p:txBody>
          <a:bodyPr wrap="square" rtlCol="0">
            <a:spAutoFit/>
          </a:bodyPr>
          <a:lstStyle/>
          <a:p>
            <a:r>
              <a:rPr lang="en-GB" sz="900">
                <a:solidFill>
                  <a:srgbClr val="004F9E"/>
                </a:solidFill>
                <a:latin typeface="Zurich Sans Light" panose="02000000000000000000" pitchFamily="2" charset="0"/>
              </a:rPr>
              <a:t>Glossary for some of terms used in this factsheet is available in our </a:t>
            </a:r>
            <a:r>
              <a:rPr lang="en-GB" sz="900" u="sng">
                <a:solidFill>
                  <a:srgbClr val="004F9E"/>
                </a:solidFill>
                <a:latin typeface="Zurich Sans Light" panose="02000000000000000000" pitchFamily="2" charset="0"/>
              </a:rPr>
              <a:t>Fund Centre guide </a:t>
            </a:r>
            <a:endParaRPr lang="en-US" sz="900" u="sng">
              <a:solidFill>
                <a:srgbClr val="004F9E"/>
              </a:solidFill>
              <a:latin typeface="Zurich Sans Light" panose="02000000000000000000" pitchFamily="2" charset="0"/>
            </a:endParaRPr>
          </a:p>
        </p:txBody>
      </p:sp>
    </p:spTree>
    <p:extLst>
      <p:ext uri="{BB962C8B-B14F-4D97-AF65-F5344CB8AC3E}">
        <p14:creationId xmlns:p14="http://schemas.microsoft.com/office/powerpoint/2010/main" val="1356776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B89D-5876-2AAA-AC5B-F08C75F5286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2250CC-67EE-68A7-72C3-8493CE31FFD0}"/>
              </a:ext>
            </a:extLst>
          </p:cNvPr>
          <p:cNvSpPr txBox="1"/>
          <p:nvPr/>
        </p:nvSpPr>
        <p:spPr>
          <a:xfrm>
            <a:off x="347345" y="372456"/>
            <a:ext cx="762635" cy="1359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GB" sz="800" b="0" i="0" u="none" strike="noStrike" kern="0" cap="none" spc="0" normalizeH="0" baseline="0" noProof="0">
                <a:ln>
                  <a:noFill/>
                </a:ln>
                <a:solidFill>
                  <a:srgbClr val="142764"/>
                </a:solidFill>
                <a:effectLst/>
                <a:uLnTx/>
                <a:uFillTx/>
                <a:latin typeface="Zurich Sans Light"/>
                <a:cs typeface="Zurich Sans Light"/>
              </a:rPr>
              <a:t>March</a:t>
            </a:r>
            <a:r>
              <a:rPr kumimoji="0" sz="800" b="0" i="0" u="none" strike="noStrike" kern="0" cap="none" spc="0" normalizeH="0" baseline="0" noProof="0">
                <a:ln>
                  <a:noFill/>
                </a:ln>
                <a:solidFill>
                  <a:srgbClr val="142764"/>
                </a:solidFill>
                <a:effectLst/>
                <a:uLnTx/>
                <a:uFillTx/>
                <a:latin typeface="Zurich Sans Light"/>
                <a:cs typeface="Zurich Sans Light"/>
              </a:rPr>
              <a:t> </a:t>
            </a:r>
            <a:r>
              <a:rPr kumimoji="0" sz="800" b="0" i="0" u="none" strike="noStrike" kern="0" cap="none" spc="-20" normalizeH="0" baseline="0" noProof="0">
                <a:ln>
                  <a:noFill/>
                </a:ln>
                <a:solidFill>
                  <a:srgbClr val="142764"/>
                </a:solidFill>
                <a:effectLst/>
                <a:uLnTx/>
                <a:uFillTx/>
                <a:latin typeface="Zurich Sans Light"/>
                <a:cs typeface="Zurich Sans Light"/>
              </a:rPr>
              <a:t>202</a:t>
            </a:r>
            <a:r>
              <a:rPr kumimoji="0" lang="en-GB" sz="800" b="0" i="0" u="none" strike="noStrike" kern="0" cap="none" spc="-20" normalizeH="0" baseline="0" noProof="0">
                <a:ln>
                  <a:noFill/>
                </a:ln>
                <a:solidFill>
                  <a:srgbClr val="142764"/>
                </a:solidFill>
                <a:effectLst/>
                <a:uLnTx/>
                <a:uFillTx/>
                <a:latin typeface="Zurich Sans Light"/>
                <a:cs typeface="Zurich Sans Light"/>
              </a:rPr>
              <a:t>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5" name="object 5">
            <a:extLst>
              <a:ext uri="{FF2B5EF4-FFF2-40B4-BE49-F238E27FC236}">
                <a16:creationId xmlns:a16="http://schemas.microsoft.com/office/drawing/2014/main" id="{EB05EA92-43ED-CE6A-D2FD-D6302B8879B1}"/>
              </a:ext>
            </a:extLst>
          </p:cNvPr>
          <p:cNvSpPr/>
          <p:nvPr/>
        </p:nvSpPr>
        <p:spPr>
          <a:xfrm>
            <a:off x="2515978" y="2586882"/>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AE43C73C-FE45-3994-2469-9BD967C5DCA2}"/>
              </a:ext>
            </a:extLst>
          </p:cNvPr>
          <p:cNvSpPr/>
          <p:nvPr/>
        </p:nvSpPr>
        <p:spPr>
          <a:xfrm>
            <a:off x="2463324" y="4899759"/>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a:extLst>
              <a:ext uri="{FF2B5EF4-FFF2-40B4-BE49-F238E27FC236}">
                <a16:creationId xmlns:a16="http://schemas.microsoft.com/office/drawing/2014/main" id="{8CE77B3E-DEE2-18BE-9A60-07F5BFE59C1E}"/>
              </a:ext>
            </a:extLst>
          </p:cNvPr>
          <p:cNvSpPr/>
          <p:nvPr/>
        </p:nvSpPr>
        <p:spPr>
          <a:xfrm>
            <a:off x="2460029" y="7021000"/>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9" name="object 9">
            <a:extLst>
              <a:ext uri="{FF2B5EF4-FFF2-40B4-BE49-F238E27FC236}">
                <a16:creationId xmlns:a16="http://schemas.microsoft.com/office/drawing/2014/main" id="{EC39587C-DC88-0EA1-B4A0-760247667623}"/>
              </a:ext>
            </a:extLst>
          </p:cNvPr>
          <p:cNvGraphicFramePr>
            <a:graphicFrameLocks noGrp="1"/>
          </p:cNvGraphicFramePr>
          <p:nvPr>
            <p:extLst>
              <p:ext uri="{D42A27DB-BD31-4B8C-83A1-F6EECF244321}">
                <p14:modId xmlns:p14="http://schemas.microsoft.com/office/powerpoint/2010/main" val="1882494597"/>
              </p:ext>
            </p:extLst>
          </p:nvPr>
        </p:nvGraphicFramePr>
        <p:xfrm>
          <a:off x="2471001" y="7675120"/>
          <a:ext cx="4140199" cy="1591309"/>
        </p:xfrm>
        <a:graphic>
          <a:graphicData uri="http://schemas.openxmlformats.org/drawingml/2006/table">
            <a:tbl>
              <a:tblPr firstRow="1" bandRow="1">
                <a:tableStyleId>{2D5ABB26-0587-4C30-8999-92F81FD0307C}</a:tableStyleId>
              </a:tblPr>
              <a:tblGrid>
                <a:gridCol w="3805554">
                  <a:extLst>
                    <a:ext uri="{9D8B030D-6E8A-4147-A177-3AD203B41FA5}">
                      <a16:colId xmlns:a16="http://schemas.microsoft.com/office/drawing/2014/main" val="20000"/>
                    </a:ext>
                  </a:extLst>
                </a:gridCol>
                <a:gridCol w="334645">
                  <a:extLst>
                    <a:ext uri="{9D8B030D-6E8A-4147-A177-3AD203B41FA5}">
                      <a16:colId xmlns:a16="http://schemas.microsoft.com/office/drawing/2014/main" val="20001"/>
                    </a:ext>
                  </a:extLst>
                </a:gridCol>
              </a:tblGrid>
              <a:tr h="386080">
                <a:tc>
                  <a:txBody>
                    <a:bodyPr/>
                    <a:lstStyle/>
                    <a:p>
                      <a:pPr marL="9525">
                        <a:lnSpc>
                          <a:spcPts val="869"/>
                        </a:lnSpc>
                      </a:pPr>
                      <a:r>
                        <a:rPr sz="800" b="0">
                          <a:solidFill>
                            <a:srgbClr val="142764"/>
                          </a:solidFill>
                          <a:latin typeface="Zurich Sans Light"/>
                          <a:cs typeface="Zurich Sans Light"/>
                        </a:rPr>
                        <a:t>FIDELITY INSTITUTIONAL LIQUIDITY FUND PLC - THE UNITED STATES </a:t>
                      </a:r>
                      <a:r>
                        <a:rPr sz="800" b="0" spc="-10">
                          <a:solidFill>
                            <a:srgbClr val="142764"/>
                          </a:solidFill>
                          <a:latin typeface="Zurich Sans Light"/>
                          <a:cs typeface="Zurich Sans Light"/>
                        </a:rPr>
                        <a:t>DOLLAR</a:t>
                      </a:r>
                      <a:endParaRPr sz="800">
                        <a:latin typeface="Zurich Sans Light"/>
                        <a:cs typeface="Zurich Sans Light"/>
                      </a:endParaRPr>
                    </a:p>
                    <a:p>
                      <a:pPr marL="9525">
                        <a:lnSpc>
                          <a:spcPts val="955"/>
                        </a:lnSpc>
                      </a:pPr>
                      <a:r>
                        <a:rPr sz="800" b="0" spc="-10">
                          <a:solidFill>
                            <a:srgbClr val="142764"/>
                          </a:solidFill>
                          <a:latin typeface="Zurich Sans Light"/>
                          <a:cs typeface="Zurich Sans Light"/>
                        </a:rPr>
                        <a:t>FUNDACC</a:t>
                      </a:r>
                      <a:endParaRPr sz="800">
                        <a:latin typeface="Zurich Sans Light"/>
                        <a:cs typeface="Zurich Sans Light"/>
                      </a:endParaRPr>
                    </a:p>
                    <a:p>
                      <a:pPr marL="9525">
                        <a:lnSpc>
                          <a:spcPct val="100000"/>
                        </a:lnSpc>
                        <a:spcBef>
                          <a:spcPts val="140"/>
                        </a:spcBef>
                      </a:pPr>
                      <a:r>
                        <a:rPr sz="800" b="0">
                          <a:solidFill>
                            <a:srgbClr val="142764"/>
                          </a:solidFill>
                          <a:latin typeface="Zurich Sans Light"/>
                          <a:cs typeface="Zurich Sans Light"/>
                        </a:rPr>
                        <a:t>SAUDI ARABIA KINGDOM OF 5.5% 10/25/2032 </a:t>
                      </a:r>
                      <a:r>
                        <a:rPr sz="800" b="0" spc="-20">
                          <a:solidFill>
                            <a:srgbClr val="142764"/>
                          </a:solidFill>
                          <a:latin typeface="Zurich Sans Light"/>
                          <a:cs typeface="Zurich Sans Light"/>
                        </a:rPr>
                        <a:t>REGS</a:t>
                      </a:r>
                      <a:endParaRPr sz="800">
                        <a:latin typeface="Zurich Sans Light"/>
                        <a:cs typeface="Zurich Sans Light"/>
                      </a:endParaRPr>
                    </a:p>
                  </a:txBody>
                  <a:tcPr marL="0" marR="0" marT="0" marB="0"/>
                </a:tc>
                <a:tc>
                  <a:txBody>
                    <a:bodyPr/>
                    <a:lstStyle/>
                    <a:p>
                      <a:pPr marL="40005">
                        <a:lnSpc>
                          <a:spcPct val="100000"/>
                        </a:lnSpc>
                        <a:spcBef>
                          <a:spcPts val="390"/>
                        </a:spcBef>
                      </a:pPr>
                      <a:r>
                        <a:rPr sz="800" b="0" spc="-20">
                          <a:solidFill>
                            <a:srgbClr val="142764"/>
                          </a:solidFill>
                          <a:latin typeface="Zurich Sans Light"/>
                          <a:cs typeface="Zurich Sans Light"/>
                        </a:rPr>
                        <a:t>9.50%</a:t>
                      </a:r>
                      <a:endParaRPr sz="800">
                        <a:latin typeface="Zurich Sans Light"/>
                        <a:cs typeface="Zurich Sans Light"/>
                      </a:endParaRPr>
                    </a:p>
                    <a:p>
                      <a:pPr marL="80010">
                        <a:lnSpc>
                          <a:spcPct val="100000"/>
                        </a:lnSpc>
                        <a:spcBef>
                          <a:spcPts val="615"/>
                        </a:spcBef>
                      </a:pPr>
                      <a:r>
                        <a:rPr sz="800" b="0" spc="-20">
                          <a:solidFill>
                            <a:srgbClr val="142764"/>
                          </a:solidFill>
                          <a:latin typeface="Zurich Sans Light"/>
                          <a:cs typeface="Zurich Sans Light"/>
                        </a:rPr>
                        <a:t>2.13%</a:t>
                      </a:r>
                      <a:endParaRPr sz="800">
                        <a:latin typeface="Zurich Sans Light"/>
                        <a:cs typeface="Zurich Sans Light"/>
                      </a:endParaRPr>
                    </a:p>
                  </a:txBody>
                  <a:tcPr marL="0" marR="0" marT="49530" marB="0"/>
                </a:tc>
                <a:extLst>
                  <a:ext uri="{0D108BD9-81ED-4DB2-BD59-A6C34878D82A}">
                    <a16:rowId xmlns:a16="http://schemas.microsoft.com/office/drawing/2014/main" val="10000"/>
                  </a:ext>
                </a:extLst>
              </a:tr>
              <a:tr h="139700">
                <a:tc>
                  <a:txBody>
                    <a:bodyPr/>
                    <a:lstStyle/>
                    <a:p>
                      <a:pPr marL="9525">
                        <a:lnSpc>
                          <a:spcPct val="100000"/>
                        </a:lnSpc>
                        <a:spcBef>
                          <a:spcPts val="20"/>
                        </a:spcBef>
                      </a:pPr>
                      <a:r>
                        <a:rPr sz="800" b="0">
                          <a:solidFill>
                            <a:srgbClr val="142764"/>
                          </a:solidFill>
                          <a:latin typeface="Zurich Sans Light"/>
                          <a:cs typeface="Zurich Sans Light"/>
                        </a:rPr>
                        <a:t>GACI FIRST INVESTMENT 4.875% 02/14/2035 </a:t>
                      </a:r>
                      <a:r>
                        <a:rPr sz="800" b="0" spc="-20">
                          <a:solidFill>
                            <a:srgbClr val="142764"/>
                          </a:solidFill>
                          <a:latin typeface="Zurich Sans Light"/>
                          <a:cs typeface="Zurich Sans Light"/>
                        </a:rPr>
                        <a:t>REGS</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1.88%</a:t>
                      </a:r>
                      <a:endParaRPr sz="800">
                        <a:latin typeface="Zurich Sans Light"/>
                        <a:cs typeface="Zurich Sans Light"/>
                      </a:endParaRPr>
                    </a:p>
                  </a:txBody>
                  <a:tcPr marL="0" marR="0" marT="2540" marB="0"/>
                </a:tc>
                <a:extLst>
                  <a:ext uri="{0D108BD9-81ED-4DB2-BD59-A6C34878D82A}">
                    <a16:rowId xmlns:a16="http://schemas.microsoft.com/office/drawing/2014/main" val="10001"/>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4.95% </a:t>
                      </a:r>
                      <a:r>
                        <a:rPr sz="800" b="0" spc="-10">
                          <a:solidFill>
                            <a:srgbClr val="142764"/>
                          </a:solidFill>
                          <a:latin typeface="Zurich Sans Light"/>
                          <a:cs typeface="Zurich Sans Light"/>
                        </a:rPr>
                        <a:t>01/05/2036</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1.65%</a:t>
                      </a:r>
                      <a:endParaRPr sz="800">
                        <a:latin typeface="Zurich Sans Light"/>
                        <a:cs typeface="Zurich Sans Light"/>
                      </a:endParaRPr>
                    </a:p>
                  </a:txBody>
                  <a:tcPr marL="0" marR="0" marT="2540" marB="0"/>
                </a:tc>
                <a:extLst>
                  <a:ext uri="{0D108BD9-81ED-4DB2-BD59-A6C34878D82A}">
                    <a16:rowId xmlns:a16="http://schemas.microsoft.com/office/drawing/2014/main" val="10002"/>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5.33% </a:t>
                      </a:r>
                      <a:r>
                        <a:rPr sz="800" b="0" spc="-10">
                          <a:solidFill>
                            <a:srgbClr val="142764"/>
                          </a:solidFill>
                          <a:latin typeface="Zurich Sans Light"/>
                          <a:cs typeface="Zurich Sans Light"/>
                        </a:rPr>
                        <a:t>01/05/2054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1.52%</a:t>
                      </a:r>
                      <a:endParaRPr sz="800">
                        <a:latin typeface="Zurich Sans Light"/>
                        <a:cs typeface="Zurich Sans Light"/>
                      </a:endParaRPr>
                    </a:p>
                  </a:txBody>
                  <a:tcPr marL="0" marR="0" marT="2540" marB="0"/>
                </a:tc>
                <a:extLst>
                  <a:ext uri="{0D108BD9-81ED-4DB2-BD59-A6C34878D82A}">
                    <a16:rowId xmlns:a16="http://schemas.microsoft.com/office/drawing/2014/main" val="10003"/>
                  </a:ext>
                </a:extLst>
              </a:tr>
              <a:tr h="139700">
                <a:tc>
                  <a:txBody>
                    <a:bodyPr/>
                    <a:lstStyle/>
                    <a:p>
                      <a:pPr marL="9525">
                        <a:lnSpc>
                          <a:spcPct val="100000"/>
                        </a:lnSpc>
                        <a:spcBef>
                          <a:spcPts val="20"/>
                        </a:spcBef>
                      </a:pPr>
                      <a:r>
                        <a:rPr sz="800" b="0">
                          <a:solidFill>
                            <a:srgbClr val="142764"/>
                          </a:solidFill>
                          <a:latin typeface="Zurich Sans Light"/>
                          <a:cs typeface="Zurich Sans Light"/>
                        </a:rPr>
                        <a:t>CHILE</a:t>
                      </a:r>
                      <a:r>
                        <a:rPr sz="800" b="0" spc="-10">
                          <a:solidFill>
                            <a:srgbClr val="142764"/>
                          </a:solidFill>
                          <a:latin typeface="Zurich Sans Light"/>
                          <a:cs typeface="Zurich Sans Light"/>
                        </a:rPr>
                        <a:t> </a:t>
                      </a:r>
                      <a:r>
                        <a:rPr sz="800" b="0">
                          <a:solidFill>
                            <a:srgbClr val="142764"/>
                          </a:solidFill>
                          <a:latin typeface="Zurich Sans Light"/>
                          <a:cs typeface="Zurich Sans Light"/>
                        </a:rPr>
                        <a:t>REPUBLIC OF 4.85% </a:t>
                      </a:r>
                      <a:r>
                        <a:rPr sz="800" b="0" spc="-10">
                          <a:solidFill>
                            <a:srgbClr val="142764"/>
                          </a:solidFill>
                          <a:latin typeface="Zurich Sans Light"/>
                          <a:cs typeface="Zurich Sans Light"/>
                        </a:rPr>
                        <a:t>01/22/2029</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1.47%</a:t>
                      </a:r>
                      <a:endParaRPr sz="800">
                        <a:latin typeface="Zurich Sans Light"/>
                        <a:cs typeface="Zurich Sans Light"/>
                      </a:endParaRPr>
                    </a:p>
                  </a:txBody>
                  <a:tcPr marL="0" marR="0" marT="2540" marB="0"/>
                </a:tc>
                <a:extLst>
                  <a:ext uri="{0D108BD9-81ED-4DB2-BD59-A6C34878D82A}">
                    <a16:rowId xmlns:a16="http://schemas.microsoft.com/office/drawing/2014/main" val="10004"/>
                  </a:ext>
                </a:extLst>
              </a:tr>
              <a:tr h="139700">
                <a:tc>
                  <a:txBody>
                    <a:bodyPr/>
                    <a:lstStyle/>
                    <a:p>
                      <a:pPr marL="9525">
                        <a:lnSpc>
                          <a:spcPct val="100000"/>
                        </a:lnSpc>
                        <a:spcBef>
                          <a:spcPts val="20"/>
                        </a:spcBef>
                      </a:pPr>
                      <a:r>
                        <a:rPr sz="800" b="0">
                          <a:solidFill>
                            <a:srgbClr val="142764"/>
                          </a:solidFill>
                          <a:latin typeface="Zurich Sans Light"/>
                          <a:cs typeface="Zurich Sans Light"/>
                        </a:rPr>
                        <a:t>PHILIPPINES REPUBLIC OF 4.75% </a:t>
                      </a:r>
                      <a:r>
                        <a:rPr sz="800" b="0" spc="-10">
                          <a:solidFill>
                            <a:srgbClr val="142764"/>
                          </a:solidFill>
                          <a:latin typeface="Zurich Sans Light"/>
                          <a:cs typeface="Zurich Sans Light"/>
                        </a:rPr>
                        <a:t>03/05/2035</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5"/>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4.75% </a:t>
                      </a:r>
                      <a:r>
                        <a:rPr sz="800" b="0" spc="-10">
                          <a:solidFill>
                            <a:srgbClr val="142764"/>
                          </a:solidFill>
                          <a:latin typeface="Zurich Sans Light"/>
                          <a:cs typeface="Zurich Sans Light"/>
                        </a:rPr>
                        <a:t>09/10/2034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6"/>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5.15% </a:t>
                      </a:r>
                      <a:r>
                        <a:rPr sz="800" b="0" spc="-10">
                          <a:solidFill>
                            <a:srgbClr val="142764"/>
                          </a:solidFill>
                          <a:latin typeface="Zurich Sans Light"/>
                          <a:cs typeface="Zurich Sans Light"/>
                        </a:rPr>
                        <a:t>09/10/2054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tc>
                <a:extLst>
                  <a:ext uri="{0D108BD9-81ED-4DB2-BD59-A6C34878D82A}">
                    <a16:rowId xmlns:a16="http://schemas.microsoft.com/office/drawing/2014/main" val="10007"/>
                  </a:ext>
                </a:extLst>
              </a:tr>
              <a:tr h="227329">
                <a:tc>
                  <a:txBody>
                    <a:bodyPr/>
                    <a:lstStyle/>
                    <a:p>
                      <a:pPr marL="9525">
                        <a:lnSpc>
                          <a:spcPct val="100000"/>
                        </a:lnSpc>
                        <a:spcBef>
                          <a:spcPts val="20"/>
                        </a:spcBef>
                      </a:pPr>
                      <a:r>
                        <a:rPr sz="800" b="0">
                          <a:solidFill>
                            <a:srgbClr val="142764"/>
                          </a:solidFill>
                          <a:latin typeface="Zurich Sans Light"/>
                          <a:cs typeface="Zurich Sans Light"/>
                        </a:rPr>
                        <a:t>PHILIPPINES REPUBLIC OF 5.175% </a:t>
                      </a:r>
                      <a:r>
                        <a:rPr sz="800" b="0" spc="-10">
                          <a:solidFill>
                            <a:srgbClr val="142764"/>
                          </a:solidFill>
                          <a:latin typeface="Zurich Sans Light"/>
                          <a:cs typeface="Zurich Sans Light"/>
                        </a:rPr>
                        <a:t>09/05/2049</a:t>
                      </a:r>
                      <a:endParaRPr sz="800">
                        <a:latin typeface="Zurich Sans Light"/>
                        <a:cs typeface="Zurich Sans Light"/>
                      </a:endParaRPr>
                    </a:p>
                  </a:txBody>
                  <a:tcPr marL="0" marR="0" marT="2540" marB="0">
                    <a:lnB w="38100">
                      <a:solidFill>
                        <a:srgbClr val="4890D9"/>
                      </a:solidFill>
                      <a:prstDash val="solid"/>
                    </a:lnB>
                  </a:tcPr>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lnB w="38100">
                      <a:solidFill>
                        <a:srgbClr val="4890D9"/>
                      </a:solidFill>
                      <a:prstDash val="solid"/>
                    </a:lnB>
                  </a:tcPr>
                </a:tc>
                <a:extLst>
                  <a:ext uri="{0D108BD9-81ED-4DB2-BD59-A6C34878D82A}">
                    <a16:rowId xmlns:a16="http://schemas.microsoft.com/office/drawing/2014/main" val="10008"/>
                  </a:ext>
                </a:extLst>
              </a:tr>
            </a:tbl>
          </a:graphicData>
        </a:graphic>
      </p:graphicFrame>
      <p:sp>
        <p:nvSpPr>
          <p:cNvPr id="10" name="object 10">
            <a:extLst>
              <a:ext uri="{FF2B5EF4-FFF2-40B4-BE49-F238E27FC236}">
                <a16:creationId xmlns:a16="http://schemas.microsoft.com/office/drawing/2014/main" id="{A05D3CBF-8E0A-EC5B-9FA9-FEE5EE84CEB5}"/>
              </a:ext>
            </a:extLst>
          </p:cNvPr>
          <p:cNvSpPr/>
          <p:nvPr/>
        </p:nvSpPr>
        <p:spPr>
          <a:xfrm>
            <a:off x="2480527" y="97604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a:extLst>
              <a:ext uri="{FF2B5EF4-FFF2-40B4-BE49-F238E27FC236}">
                <a16:creationId xmlns:a16="http://schemas.microsoft.com/office/drawing/2014/main" id="{4D54B3A5-52D1-9A3C-CBD0-9BB54AB48FD4}"/>
              </a:ext>
            </a:extLst>
          </p:cNvPr>
          <p:cNvSpPr/>
          <p:nvPr/>
        </p:nvSpPr>
        <p:spPr>
          <a:xfrm>
            <a:off x="2480527" y="110840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a:extLst>
              <a:ext uri="{FF2B5EF4-FFF2-40B4-BE49-F238E27FC236}">
                <a16:creationId xmlns:a16="http://schemas.microsoft.com/office/drawing/2014/main" id="{F00C651F-E666-8D39-7953-88F20216E7C4}"/>
              </a:ext>
            </a:extLst>
          </p:cNvPr>
          <p:cNvSpPr/>
          <p:nvPr/>
        </p:nvSpPr>
        <p:spPr>
          <a:xfrm>
            <a:off x="2480527" y="124076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a:extLst>
              <a:ext uri="{FF2B5EF4-FFF2-40B4-BE49-F238E27FC236}">
                <a16:creationId xmlns:a16="http://schemas.microsoft.com/office/drawing/2014/main" id="{F485F40E-93B0-F9E9-5DFF-D2592B12FAB5}"/>
              </a:ext>
            </a:extLst>
          </p:cNvPr>
          <p:cNvSpPr/>
          <p:nvPr/>
        </p:nvSpPr>
        <p:spPr>
          <a:xfrm>
            <a:off x="2480527" y="137311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a:extLst>
              <a:ext uri="{FF2B5EF4-FFF2-40B4-BE49-F238E27FC236}">
                <a16:creationId xmlns:a16="http://schemas.microsoft.com/office/drawing/2014/main" id="{312D4351-539D-64EE-2247-411479DF360E}"/>
              </a:ext>
            </a:extLst>
          </p:cNvPr>
          <p:cNvSpPr/>
          <p:nvPr/>
        </p:nvSpPr>
        <p:spPr>
          <a:xfrm>
            <a:off x="2480527" y="1505473"/>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a:extLst>
              <a:ext uri="{FF2B5EF4-FFF2-40B4-BE49-F238E27FC236}">
                <a16:creationId xmlns:a16="http://schemas.microsoft.com/office/drawing/2014/main" id="{15647E93-85D0-3378-6E5A-46F97D4AD92C}"/>
              </a:ext>
            </a:extLst>
          </p:cNvPr>
          <p:cNvSpPr/>
          <p:nvPr/>
        </p:nvSpPr>
        <p:spPr>
          <a:xfrm>
            <a:off x="2480527" y="163782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a:extLst>
              <a:ext uri="{FF2B5EF4-FFF2-40B4-BE49-F238E27FC236}">
                <a16:creationId xmlns:a16="http://schemas.microsoft.com/office/drawing/2014/main" id="{7A82FCBF-6369-807C-52B4-C8B5BFD5CC18}"/>
              </a:ext>
            </a:extLst>
          </p:cNvPr>
          <p:cNvSpPr/>
          <p:nvPr/>
        </p:nvSpPr>
        <p:spPr>
          <a:xfrm>
            <a:off x="2480527" y="177018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a:extLst>
              <a:ext uri="{FF2B5EF4-FFF2-40B4-BE49-F238E27FC236}">
                <a16:creationId xmlns:a16="http://schemas.microsoft.com/office/drawing/2014/main" id="{D218C4A7-5DD1-E185-062D-B17D783773F2}"/>
              </a:ext>
            </a:extLst>
          </p:cNvPr>
          <p:cNvSpPr/>
          <p:nvPr/>
        </p:nvSpPr>
        <p:spPr>
          <a:xfrm>
            <a:off x="2480527" y="190254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a:extLst>
              <a:ext uri="{FF2B5EF4-FFF2-40B4-BE49-F238E27FC236}">
                <a16:creationId xmlns:a16="http://schemas.microsoft.com/office/drawing/2014/main" id="{03D9EF99-8159-3B01-5551-4DCCEF95BF7A}"/>
              </a:ext>
            </a:extLst>
          </p:cNvPr>
          <p:cNvSpPr/>
          <p:nvPr/>
        </p:nvSpPr>
        <p:spPr>
          <a:xfrm>
            <a:off x="2480527" y="203489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a:extLst>
              <a:ext uri="{FF2B5EF4-FFF2-40B4-BE49-F238E27FC236}">
                <a16:creationId xmlns:a16="http://schemas.microsoft.com/office/drawing/2014/main" id="{BA6B7175-9B7C-3713-43F1-1906D1AD391C}"/>
              </a:ext>
            </a:extLst>
          </p:cNvPr>
          <p:cNvSpPr txBox="1"/>
          <p:nvPr/>
        </p:nvSpPr>
        <p:spPr>
          <a:xfrm>
            <a:off x="4873587" y="952518"/>
            <a:ext cx="32512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14.57%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0" name="object 20">
            <a:extLst>
              <a:ext uri="{FF2B5EF4-FFF2-40B4-BE49-F238E27FC236}">
                <a16:creationId xmlns:a16="http://schemas.microsoft.com/office/drawing/2014/main" id="{BA09D904-5727-79F6-6A38-324C229CA18C}"/>
              </a:ext>
            </a:extLst>
          </p:cNvPr>
          <p:cNvSpPr txBox="1"/>
          <p:nvPr/>
        </p:nvSpPr>
        <p:spPr>
          <a:xfrm>
            <a:off x="4865967" y="1109373"/>
            <a:ext cx="33274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12.94%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1" name="object 21">
            <a:extLst>
              <a:ext uri="{FF2B5EF4-FFF2-40B4-BE49-F238E27FC236}">
                <a16:creationId xmlns:a16="http://schemas.microsoft.com/office/drawing/2014/main" id="{007C03B6-DA16-F425-01CC-FCD8111E34B2}"/>
              </a:ext>
            </a:extLst>
          </p:cNvPr>
          <p:cNvSpPr txBox="1"/>
          <p:nvPr/>
        </p:nvSpPr>
        <p:spPr>
          <a:xfrm>
            <a:off x="4932642" y="1266228"/>
            <a:ext cx="26606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7.31%</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2" name="object 22">
            <a:extLst>
              <a:ext uri="{FF2B5EF4-FFF2-40B4-BE49-F238E27FC236}">
                <a16:creationId xmlns:a16="http://schemas.microsoft.com/office/drawing/2014/main" id="{079B9979-4C74-8269-A0F5-FA4AC6646A72}"/>
              </a:ext>
            </a:extLst>
          </p:cNvPr>
          <p:cNvSpPr txBox="1"/>
          <p:nvPr/>
        </p:nvSpPr>
        <p:spPr>
          <a:xfrm>
            <a:off x="4898352" y="1423083"/>
            <a:ext cx="30035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3" name="object 23">
            <a:extLst>
              <a:ext uri="{FF2B5EF4-FFF2-40B4-BE49-F238E27FC236}">
                <a16:creationId xmlns:a16="http://schemas.microsoft.com/office/drawing/2014/main" id="{9ACDAEDC-9048-3F37-F19A-CD0477213368}"/>
              </a:ext>
            </a:extLst>
          </p:cNvPr>
          <p:cNvSpPr txBox="1"/>
          <p:nvPr/>
        </p:nvSpPr>
        <p:spPr>
          <a:xfrm>
            <a:off x="4918037" y="1579938"/>
            <a:ext cx="28067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4" name="object 24">
            <a:extLst>
              <a:ext uri="{FF2B5EF4-FFF2-40B4-BE49-F238E27FC236}">
                <a16:creationId xmlns:a16="http://schemas.microsoft.com/office/drawing/2014/main" id="{B9A7A900-7E83-C73D-E0C5-DEA96B3D0662}"/>
              </a:ext>
            </a:extLst>
          </p:cNvPr>
          <p:cNvSpPr txBox="1"/>
          <p:nvPr/>
        </p:nvSpPr>
        <p:spPr>
          <a:xfrm>
            <a:off x="4904702" y="1736793"/>
            <a:ext cx="2940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4.78%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5" name="object 25">
            <a:extLst>
              <a:ext uri="{FF2B5EF4-FFF2-40B4-BE49-F238E27FC236}">
                <a16:creationId xmlns:a16="http://schemas.microsoft.com/office/drawing/2014/main" id="{7AFE616A-D97B-CF15-A4F8-6B948138ACCC}"/>
              </a:ext>
            </a:extLst>
          </p:cNvPr>
          <p:cNvSpPr txBox="1"/>
          <p:nvPr/>
        </p:nvSpPr>
        <p:spPr>
          <a:xfrm>
            <a:off x="4930102" y="1893648"/>
            <a:ext cx="2686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6" name="object 26">
            <a:extLst>
              <a:ext uri="{FF2B5EF4-FFF2-40B4-BE49-F238E27FC236}">
                <a16:creationId xmlns:a16="http://schemas.microsoft.com/office/drawing/2014/main" id="{67C63FA4-36E5-EC60-CE44-7BF8842397B0}"/>
              </a:ext>
            </a:extLst>
          </p:cNvPr>
          <p:cNvSpPr txBox="1"/>
          <p:nvPr/>
        </p:nvSpPr>
        <p:spPr>
          <a:xfrm>
            <a:off x="4897717" y="2050503"/>
            <a:ext cx="30099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4.04%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7" name="object 27">
            <a:extLst>
              <a:ext uri="{FF2B5EF4-FFF2-40B4-BE49-F238E27FC236}">
                <a16:creationId xmlns:a16="http://schemas.microsoft.com/office/drawing/2014/main" id="{96C6D7B7-E29E-2E42-C126-73DBFD20F7C0}"/>
              </a:ext>
            </a:extLst>
          </p:cNvPr>
          <p:cNvSpPr txBox="1"/>
          <p:nvPr/>
        </p:nvSpPr>
        <p:spPr>
          <a:xfrm>
            <a:off x="4841202" y="2207358"/>
            <a:ext cx="357505"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8" name="object 28">
            <a:extLst>
              <a:ext uri="{FF2B5EF4-FFF2-40B4-BE49-F238E27FC236}">
                <a16:creationId xmlns:a16="http://schemas.microsoft.com/office/drawing/2014/main" id="{A066A339-2EA4-FBAD-48EF-F280FED074B6}"/>
              </a:ext>
            </a:extLst>
          </p:cNvPr>
          <p:cNvSpPr txBox="1"/>
          <p:nvPr/>
        </p:nvSpPr>
        <p:spPr>
          <a:xfrm>
            <a:off x="2397892" y="636278"/>
            <a:ext cx="3144307" cy="1846339"/>
          </a:xfrm>
          <a:prstGeom prst="rect">
            <a:avLst/>
          </a:prstGeom>
        </p:spPr>
        <p:txBody>
          <a:bodyPr vert="horz" wrap="square" lIns="0" tIns="93345" rIns="0" bIns="0" rtlCol="0">
            <a:spAutoFit/>
          </a:bodyPr>
          <a:lstStyle/>
          <a:p>
            <a:pPr marL="12700" marR="0" lvl="0" indent="0" defTabSz="914400" eaLnBrk="1" fontAlgn="auto" latinLnBrk="0" hangingPunct="1">
              <a:lnSpc>
                <a:spcPct val="100000"/>
              </a:lnSpc>
              <a:spcBef>
                <a:spcPts val="735"/>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Asset</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5"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a:p>
            <a:pPr marL="270510" marR="575945" lvl="0" indent="0" defTabSz="914400" eaLnBrk="1" fontAlgn="auto" latinLnBrk="0" hangingPunct="1">
              <a:lnSpc>
                <a:spcPts val="1200"/>
              </a:lnSpc>
              <a:spcBef>
                <a:spcPts val="37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American </a:t>
            </a:r>
            <a:r>
              <a:rPr kumimoji="0" sz="800" b="0" i="0" u="none" strike="noStrike" kern="0" cap="none" spc="-10" normalizeH="0" baseline="0" noProof="0">
                <a:ln>
                  <a:noFill/>
                </a:ln>
                <a:solidFill>
                  <a:srgbClr val="142764"/>
                </a:solidFill>
                <a:effectLst/>
                <a:uLnTx/>
                <a:uFillTx/>
                <a:latin typeface="Zurich Sans Light"/>
                <a:cs typeface="Zurich Sans Light"/>
              </a:rPr>
              <a:t>Emerging</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African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GCC Government </a:t>
            </a:r>
            <a:r>
              <a:rPr kumimoji="0" sz="800" b="0" i="0" u="none" strike="noStrike" kern="0" cap="none" spc="-10" normalizeH="0" baseline="0" noProof="0">
                <a:ln>
                  <a:noFill/>
                </a:ln>
                <a:solidFill>
                  <a:srgbClr val="142764"/>
                </a:solidFill>
                <a:effectLst/>
                <a:uLnTx/>
                <a:uFillTx/>
                <a:latin typeface="Zurich Sans Light"/>
                <a:cs typeface="Zurich Sans Light"/>
              </a:rPr>
              <a:t>Fixed</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Indonesian </a:t>
            </a:r>
            <a:r>
              <a:rPr kumimoji="0" sz="800" b="0" i="0" u="none" strike="noStrike" kern="0" cap="none" spc="-10" normalizeH="0" baseline="0" noProof="0">
                <a:ln>
                  <a:noFill/>
                </a:ln>
                <a:solidFill>
                  <a:srgbClr val="142764"/>
                </a:solidFill>
                <a:effectLst/>
                <a:uLnTx/>
                <a:uFillTx/>
                <a:latin typeface="Zurich Sans Light"/>
                <a:cs typeface="Zurich Sans Light"/>
              </a:rPr>
              <a:t>Government</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Philippine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Chilean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Peruvian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South African </a:t>
            </a:r>
            <a:r>
              <a:rPr kumimoji="0" sz="800" b="0" i="0" u="none" strike="noStrike" kern="0" cap="none" spc="-10" normalizeH="0" baseline="0" noProof="0">
                <a:ln>
                  <a:noFill/>
                </a:ln>
                <a:solidFill>
                  <a:srgbClr val="142764"/>
                </a:solidFill>
                <a:effectLst/>
                <a:uLnTx/>
                <a:uFillTx/>
                <a:latin typeface="Zurich Sans Light"/>
                <a:cs typeface="Zurich Sans Light"/>
              </a:rPr>
              <a:t>Corporate</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270510" marR="575945" lvl="0" indent="0" defTabSz="914400" eaLnBrk="1" fontAlgn="auto" latinLnBrk="0" hangingPunct="1">
              <a:lnSpc>
                <a:spcPts val="1200"/>
              </a:lnSpc>
              <a:spcBef>
                <a:spcPts val="4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Middle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East &amp; </a:t>
            </a:r>
            <a:r>
              <a:rPr kumimoji="0" sz="800" b="0" i="0" u="none" strike="noStrike" kern="0" cap="none" spc="-10" normalizeH="0" baseline="0" noProof="0">
                <a:ln>
                  <a:noFill/>
                </a:ln>
                <a:solidFill>
                  <a:srgbClr val="142764"/>
                </a:solidFill>
                <a:effectLst/>
                <a:uLnTx/>
                <a:uFillTx/>
                <a:latin typeface="Zurich Sans Light"/>
                <a:cs typeface="Zurich Sans Light"/>
              </a:rPr>
              <a:t>African</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3" name="object 43">
            <a:extLst>
              <a:ext uri="{FF2B5EF4-FFF2-40B4-BE49-F238E27FC236}">
                <a16:creationId xmlns:a16="http://schemas.microsoft.com/office/drawing/2014/main" id="{27518619-8460-27C5-AD29-E7B2DBEECBDE}"/>
              </a:ext>
            </a:extLst>
          </p:cNvPr>
          <p:cNvSpPr txBox="1"/>
          <p:nvPr/>
        </p:nvSpPr>
        <p:spPr>
          <a:xfrm>
            <a:off x="2458301" y="7187965"/>
            <a:ext cx="4093845" cy="448841"/>
          </a:xfrm>
          <a:prstGeom prst="rect">
            <a:avLst/>
          </a:prstGeom>
        </p:spPr>
        <p:txBody>
          <a:bodyPr vert="horz" wrap="square" lIns="0" tIns="1778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Top</a:t>
            </a:r>
            <a:r>
              <a:rPr kumimoji="0" sz="1150" b="1" i="0" u="none" strike="noStrike" kern="0" cap="none" spc="-1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10</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Holdings</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28/02/2025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sp>
        <p:nvSpPr>
          <p:cNvPr id="45" name="object 45">
            <a:extLst>
              <a:ext uri="{FF2B5EF4-FFF2-40B4-BE49-F238E27FC236}">
                <a16:creationId xmlns:a16="http://schemas.microsoft.com/office/drawing/2014/main" id="{4E49E550-E016-9B29-AFA5-7F8D087FB56F}"/>
              </a:ext>
            </a:extLst>
          </p:cNvPr>
          <p:cNvSpPr/>
          <p:nvPr/>
        </p:nvSpPr>
        <p:spPr>
          <a:xfrm>
            <a:off x="243928" y="622300"/>
            <a:ext cx="1930812" cy="9262240"/>
          </a:xfrm>
          <a:custGeom>
            <a:avLst/>
            <a:gdLst/>
            <a:ahLst/>
            <a:cxnLst/>
            <a:rect l="l" t="t" r="r" b="b"/>
            <a:pathLst>
              <a:path w="2520315" h="8784590">
                <a:moveTo>
                  <a:pt x="2519934" y="0"/>
                </a:moveTo>
                <a:lnTo>
                  <a:pt x="0" y="0"/>
                </a:lnTo>
                <a:lnTo>
                  <a:pt x="0" y="8784082"/>
                </a:lnTo>
                <a:lnTo>
                  <a:pt x="2519934" y="8784082"/>
                </a:lnTo>
                <a:lnTo>
                  <a:pt x="2519934" y="0"/>
                </a:lnTo>
                <a:close/>
              </a:path>
            </a:pathLst>
          </a:custGeom>
          <a:solidFill>
            <a:srgbClr val="EDEBE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2">
            <a:extLst>
              <a:ext uri="{FF2B5EF4-FFF2-40B4-BE49-F238E27FC236}">
                <a16:creationId xmlns:a16="http://schemas.microsoft.com/office/drawing/2014/main" id="{1E2FEAEC-19B4-DB88-204E-DCA454AC95FD}"/>
              </a:ext>
            </a:extLst>
          </p:cNvPr>
          <p:cNvSpPr txBox="1"/>
          <p:nvPr/>
        </p:nvSpPr>
        <p:spPr>
          <a:xfrm>
            <a:off x="-238084" y="9311918"/>
            <a:ext cx="6658609" cy="759182"/>
          </a:xfrm>
          <a:prstGeom prst="rect">
            <a:avLst/>
          </a:prstGeom>
        </p:spPr>
        <p:txBody>
          <a:bodyPr vert="horz" wrap="square" lIns="0" tIns="12700" rIns="0" bIns="0" rtlCol="0">
            <a:spAutoFit/>
          </a:bodyPr>
          <a:lstStyle/>
          <a:p>
            <a:pPr marL="2712085" marR="508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Zurich sources its funds data from FEfundinfo. The date shown reflects the last </a:t>
            </a:r>
            <a:r>
              <a:rPr kumimoji="0" sz="800" b="0" i="0" u="none" strike="noStrike" kern="0" cap="none" spc="-10" normalizeH="0" baseline="0" noProof="0">
                <a:ln>
                  <a:noFill/>
                </a:ln>
                <a:solidFill>
                  <a:srgbClr val="142764"/>
                </a:solidFill>
                <a:effectLst/>
                <a:uLnTx/>
                <a:uFillTx/>
                <a:latin typeface="Zurich Sans Light"/>
                <a:cs typeface="Zurich Sans Light"/>
              </a:rPr>
              <a:t>available</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regional, sector and asset breakdown data provided by the fund's administrator </a:t>
            </a:r>
            <a:r>
              <a:rPr kumimoji="0" sz="800" b="0" i="0" u="none" strike="noStrike" kern="0" cap="none" spc="-25" normalizeH="0" baseline="0" noProof="0">
                <a:ln>
                  <a:noFill/>
                </a:ln>
                <a:solidFill>
                  <a:srgbClr val="142764"/>
                </a:solidFill>
                <a:effectLst/>
                <a:uLnTx/>
                <a:uFillTx/>
                <a:latin typeface="Zurich Sans Light"/>
                <a:cs typeface="Zurich Sans Light"/>
              </a:rPr>
              <a:t>to</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FEfundinfo. The timeliness of this data is affected by the speed and regularity of </a:t>
            </a:r>
            <a:r>
              <a:rPr kumimoji="0" sz="800" b="0" i="0" u="none" strike="noStrike" kern="0" cap="none" spc="-10" normalizeH="0" baseline="0" noProof="0">
                <a:ln>
                  <a:noFill/>
                </a:ln>
                <a:solidFill>
                  <a:srgbClr val="142764"/>
                </a:solidFill>
                <a:effectLst/>
                <a:uLnTx/>
                <a:uFillTx/>
                <a:latin typeface="Zurich Sans Light"/>
                <a:cs typeface="Zurich Sans Light"/>
              </a:rPr>
              <a:t>their</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publication by the fund </a:t>
            </a:r>
            <a:r>
              <a:rPr kumimoji="0" sz="800" b="0" i="0" u="none" strike="noStrike" kern="0" cap="none" spc="-10" normalizeH="0" baseline="0" noProof="0">
                <a:ln>
                  <a:noFill/>
                </a:ln>
                <a:solidFill>
                  <a:srgbClr val="142764"/>
                </a:solidFill>
                <a:effectLst/>
                <a:uLnTx/>
                <a:uFillTx/>
                <a:latin typeface="Zurich Sans Light"/>
                <a:cs typeface="Zurich Sans Light"/>
              </a:rPr>
              <a:t>administrator.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15"/>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p:txBody>
      </p:sp>
      <p:grpSp>
        <p:nvGrpSpPr>
          <p:cNvPr id="53" name="object 53">
            <a:extLst>
              <a:ext uri="{FF2B5EF4-FFF2-40B4-BE49-F238E27FC236}">
                <a16:creationId xmlns:a16="http://schemas.microsoft.com/office/drawing/2014/main" id="{341884BE-9EB1-DAAE-BB1D-7FAC2D9316AF}"/>
              </a:ext>
            </a:extLst>
          </p:cNvPr>
          <p:cNvGrpSpPr/>
          <p:nvPr/>
        </p:nvGrpSpPr>
        <p:grpSpPr>
          <a:xfrm>
            <a:off x="5332744" y="903198"/>
            <a:ext cx="1457546" cy="1457452"/>
            <a:chOff x="5639340" y="652650"/>
            <a:chExt cx="1457546" cy="1457452"/>
          </a:xfrm>
        </p:grpSpPr>
        <p:sp>
          <p:nvSpPr>
            <p:cNvPr id="54" name="object 54">
              <a:extLst>
                <a:ext uri="{FF2B5EF4-FFF2-40B4-BE49-F238E27FC236}">
                  <a16:creationId xmlns:a16="http://schemas.microsoft.com/office/drawing/2014/main" id="{2DB74837-1109-D963-3368-EA91A88FC22D}"/>
                </a:ext>
              </a:extLst>
            </p:cNvPr>
            <p:cNvSpPr/>
            <p:nvPr/>
          </p:nvSpPr>
          <p:spPr>
            <a:xfrm>
              <a:off x="6367779" y="652650"/>
              <a:ext cx="577850" cy="506730"/>
            </a:xfrm>
            <a:custGeom>
              <a:avLst/>
              <a:gdLst/>
              <a:ahLst/>
              <a:cxnLst/>
              <a:rect l="l" t="t" r="r" b="b"/>
              <a:pathLst>
                <a:path w="577850" h="506730">
                  <a:moveTo>
                    <a:pt x="0" y="0"/>
                  </a:moveTo>
                  <a:lnTo>
                    <a:pt x="0" y="364363"/>
                  </a:lnTo>
                  <a:lnTo>
                    <a:pt x="48008" y="367529"/>
                  </a:lnTo>
                  <a:lnTo>
                    <a:pt x="94676" y="376852"/>
                  </a:lnTo>
                  <a:lnTo>
                    <a:pt x="139459" y="392064"/>
                  </a:lnTo>
                  <a:lnTo>
                    <a:pt x="181809" y="412899"/>
                  </a:lnTo>
                  <a:lnTo>
                    <a:pt x="221179" y="439091"/>
                  </a:lnTo>
                  <a:lnTo>
                    <a:pt x="257025" y="470372"/>
                  </a:lnTo>
                  <a:lnTo>
                    <a:pt x="288798" y="506475"/>
                  </a:lnTo>
                  <a:lnTo>
                    <a:pt x="577596" y="284225"/>
                  </a:lnTo>
                  <a:lnTo>
                    <a:pt x="546884" y="246973"/>
                  </a:lnTo>
                  <a:lnTo>
                    <a:pt x="514003" y="212058"/>
                  </a:lnTo>
                  <a:lnTo>
                    <a:pt x="479090" y="179548"/>
                  </a:lnTo>
                  <a:lnTo>
                    <a:pt x="442282" y="149511"/>
                  </a:lnTo>
                  <a:lnTo>
                    <a:pt x="403714" y="122015"/>
                  </a:lnTo>
                  <a:lnTo>
                    <a:pt x="363525" y="97127"/>
                  </a:lnTo>
                  <a:lnTo>
                    <a:pt x="321849" y="74914"/>
                  </a:lnTo>
                  <a:lnTo>
                    <a:pt x="278825" y="55443"/>
                  </a:lnTo>
                  <a:lnTo>
                    <a:pt x="234588" y="38783"/>
                  </a:lnTo>
                  <a:lnTo>
                    <a:pt x="189275" y="25001"/>
                  </a:lnTo>
                  <a:lnTo>
                    <a:pt x="143024" y="14164"/>
                  </a:lnTo>
                  <a:lnTo>
                    <a:pt x="95969" y="6340"/>
                  </a:lnTo>
                  <a:lnTo>
                    <a:pt x="48249" y="1596"/>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5">
              <a:extLst>
                <a:ext uri="{FF2B5EF4-FFF2-40B4-BE49-F238E27FC236}">
                  <a16:creationId xmlns:a16="http://schemas.microsoft.com/office/drawing/2014/main" id="{51A2F201-C4D5-F5E5-B6A2-3D9CEB86F4F9}"/>
                </a:ext>
              </a:extLst>
            </p:cNvPr>
            <p:cNvSpPr/>
            <p:nvPr/>
          </p:nvSpPr>
          <p:spPr>
            <a:xfrm>
              <a:off x="6656831" y="937511"/>
              <a:ext cx="440055" cy="558165"/>
            </a:xfrm>
            <a:custGeom>
              <a:avLst/>
              <a:gdLst/>
              <a:ahLst/>
              <a:cxnLst/>
              <a:rect l="l" t="t" r="r" b="b"/>
              <a:pathLst>
                <a:path w="440054" h="558165">
                  <a:moveTo>
                    <a:pt x="288925" y="0"/>
                  </a:moveTo>
                  <a:lnTo>
                    <a:pt x="0" y="221869"/>
                  </a:lnTo>
                  <a:lnTo>
                    <a:pt x="27510" y="263191"/>
                  </a:lnTo>
                  <a:lnTo>
                    <a:pt x="48970" y="307467"/>
                  </a:lnTo>
                  <a:lnTo>
                    <a:pt x="64214" y="354028"/>
                  </a:lnTo>
                  <a:lnTo>
                    <a:pt x="73076" y="402209"/>
                  </a:lnTo>
                  <a:lnTo>
                    <a:pt x="75391" y="451342"/>
                  </a:lnTo>
                  <a:lnTo>
                    <a:pt x="70993" y="500761"/>
                  </a:lnTo>
                  <a:lnTo>
                    <a:pt x="430784" y="557784"/>
                  </a:lnTo>
                  <a:lnTo>
                    <a:pt x="436881" y="508323"/>
                  </a:lnTo>
                  <a:lnTo>
                    <a:pt x="439581" y="458858"/>
                  </a:lnTo>
                  <a:lnTo>
                    <a:pt x="438925" y="409551"/>
                  </a:lnTo>
                  <a:lnTo>
                    <a:pt x="434956" y="360567"/>
                  </a:lnTo>
                  <a:lnTo>
                    <a:pt x="427714" y="312069"/>
                  </a:lnTo>
                  <a:lnTo>
                    <a:pt x="417242" y="264223"/>
                  </a:lnTo>
                  <a:lnTo>
                    <a:pt x="403582" y="217192"/>
                  </a:lnTo>
                  <a:lnTo>
                    <a:pt x="386776" y="171139"/>
                  </a:lnTo>
                  <a:lnTo>
                    <a:pt x="366865" y="126230"/>
                  </a:lnTo>
                  <a:lnTo>
                    <a:pt x="343891" y="82627"/>
                  </a:lnTo>
                  <a:lnTo>
                    <a:pt x="317897" y="40496"/>
                  </a:lnTo>
                  <a:lnTo>
                    <a:pt x="28892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6">
              <a:extLst>
                <a:ext uri="{FF2B5EF4-FFF2-40B4-BE49-F238E27FC236}">
                  <a16:creationId xmlns:a16="http://schemas.microsoft.com/office/drawing/2014/main" id="{6DFB1BBA-D37A-B6DB-9888-068DDBDC0C8B}"/>
                </a:ext>
              </a:extLst>
            </p:cNvPr>
            <p:cNvSpPr/>
            <p:nvPr/>
          </p:nvSpPr>
          <p:spPr>
            <a:xfrm>
              <a:off x="6656831" y="937511"/>
              <a:ext cx="440055" cy="558165"/>
            </a:xfrm>
            <a:custGeom>
              <a:avLst/>
              <a:gdLst/>
              <a:ahLst/>
              <a:cxnLst/>
              <a:rect l="l" t="t" r="r" b="b"/>
              <a:pathLst>
                <a:path w="440054" h="558165">
                  <a:moveTo>
                    <a:pt x="288925" y="0"/>
                  </a:moveTo>
                  <a:lnTo>
                    <a:pt x="317897" y="40496"/>
                  </a:lnTo>
                  <a:lnTo>
                    <a:pt x="343891" y="82627"/>
                  </a:lnTo>
                  <a:lnTo>
                    <a:pt x="366865" y="126230"/>
                  </a:lnTo>
                  <a:lnTo>
                    <a:pt x="386776" y="171139"/>
                  </a:lnTo>
                  <a:lnTo>
                    <a:pt x="403582" y="217192"/>
                  </a:lnTo>
                  <a:lnTo>
                    <a:pt x="417242" y="264223"/>
                  </a:lnTo>
                  <a:lnTo>
                    <a:pt x="427714" y="312069"/>
                  </a:lnTo>
                  <a:lnTo>
                    <a:pt x="434956" y="360567"/>
                  </a:lnTo>
                  <a:lnTo>
                    <a:pt x="438925" y="409551"/>
                  </a:lnTo>
                  <a:lnTo>
                    <a:pt x="439581" y="458858"/>
                  </a:lnTo>
                  <a:lnTo>
                    <a:pt x="436881" y="508323"/>
                  </a:lnTo>
                  <a:lnTo>
                    <a:pt x="430784" y="557784"/>
                  </a:lnTo>
                  <a:lnTo>
                    <a:pt x="425162" y="556893"/>
                  </a:lnTo>
                  <a:lnTo>
                    <a:pt x="385810" y="550656"/>
                  </a:lnTo>
                  <a:lnTo>
                    <a:pt x="278997" y="533727"/>
                  </a:lnTo>
                  <a:lnTo>
                    <a:pt x="70993" y="500761"/>
                  </a:lnTo>
                  <a:lnTo>
                    <a:pt x="75391" y="451342"/>
                  </a:lnTo>
                  <a:lnTo>
                    <a:pt x="73076" y="402209"/>
                  </a:lnTo>
                  <a:lnTo>
                    <a:pt x="64214" y="354028"/>
                  </a:lnTo>
                  <a:lnTo>
                    <a:pt x="48970" y="307467"/>
                  </a:lnTo>
                  <a:lnTo>
                    <a:pt x="27510" y="263191"/>
                  </a:lnTo>
                  <a:lnTo>
                    <a:pt x="0" y="221869"/>
                  </a:lnTo>
                  <a:lnTo>
                    <a:pt x="288925"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a:extLst>
                <a:ext uri="{FF2B5EF4-FFF2-40B4-BE49-F238E27FC236}">
                  <a16:creationId xmlns:a16="http://schemas.microsoft.com/office/drawing/2014/main" id="{11D15646-5834-ED7A-09F8-A031C8EBDBA2}"/>
                </a:ext>
              </a:extLst>
            </p:cNvPr>
            <p:cNvSpPr/>
            <p:nvPr/>
          </p:nvSpPr>
          <p:spPr>
            <a:xfrm>
              <a:off x="6665340" y="1438653"/>
              <a:ext cx="422275" cy="363855"/>
            </a:xfrm>
            <a:custGeom>
              <a:avLst/>
              <a:gdLst/>
              <a:ahLst/>
              <a:cxnLst/>
              <a:rect l="l" t="t" r="r" b="b"/>
              <a:pathLst>
                <a:path w="422275" h="363855">
                  <a:moveTo>
                    <a:pt x="62356" y="0"/>
                  </a:moveTo>
                  <a:lnTo>
                    <a:pt x="53453" y="40772"/>
                  </a:lnTo>
                  <a:lnTo>
                    <a:pt x="39989" y="80152"/>
                  </a:lnTo>
                  <a:lnTo>
                    <a:pt x="22119" y="117746"/>
                  </a:lnTo>
                  <a:lnTo>
                    <a:pt x="0" y="153162"/>
                  </a:lnTo>
                  <a:lnTo>
                    <a:pt x="297306" y="363727"/>
                  </a:lnTo>
                  <a:lnTo>
                    <a:pt x="323616" y="323832"/>
                  </a:lnTo>
                  <a:lnTo>
                    <a:pt x="347205" y="282402"/>
                  </a:lnTo>
                  <a:lnTo>
                    <a:pt x="368009" y="239580"/>
                  </a:lnTo>
                  <a:lnTo>
                    <a:pt x="385968" y="195513"/>
                  </a:lnTo>
                  <a:lnTo>
                    <a:pt x="401019" y="150343"/>
                  </a:lnTo>
                  <a:lnTo>
                    <a:pt x="413099" y="104217"/>
                  </a:lnTo>
                  <a:lnTo>
                    <a:pt x="422148" y="57276"/>
                  </a:lnTo>
                  <a:lnTo>
                    <a:pt x="6235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8">
              <a:extLst>
                <a:ext uri="{FF2B5EF4-FFF2-40B4-BE49-F238E27FC236}">
                  <a16:creationId xmlns:a16="http://schemas.microsoft.com/office/drawing/2014/main" id="{5156A83E-5E2E-439F-7174-083A4713AEEC}"/>
                </a:ext>
              </a:extLst>
            </p:cNvPr>
            <p:cNvSpPr/>
            <p:nvPr/>
          </p:nvSpPr>
          <p:spPr>
            <a:xfrm>
              <a:off x="6665340" y="1438653"/>
              <a:ext cx="422275" cy="363855"/>
            </a:xfrm>
            <a:custGeom>
              <a:avLst/>
              <a:gdLst/>
              <a:ahLst/>
              <a:cxnLst/>
              <a:rect l="l" t="t" r="r" b="b"/>
              <a:pathLst>
                <a:path w="422275" h="363855">
                  <a:moveTo>
                    <a:pt x="422148" y="57276"/>
                  </a:moveTo>
                  <a:lnTo>
                    <a:pt x="413099" y="104217"/>
                  </a:lnTo>
                  <a:lnTo>
                    <a:pt x="401019" y="150343"/>
                  </a:lnTo>
                  <a:lnTo>
                    <a:pt x="385968" y="195513"/>
                  </a:lnTo>
                  <a:lnTo>
                    <a:pt x="368009" y="239580"/>
                  </a:lnTo>
                  <a:lnTo>
                    <a:pt x="347205" y="282402"/>
                  </a:lnTo>
                  <a:lnTo>
                    <a:pt x="323616" y="323832"/>
                  </a:lnTo>
                  <a:lnTo>
                    <a:pt x="297306" y="363727"/>
                  </a:lnTo>
                  <a:lnTo>
                    <a:pt x="292661" y="360437"/>
                  </a:lnTo>
                  <a:lnTo>
                    <a:pt x="260143" y="337407"/>
                  </a:lnTo>
                  <a:lnTo>
                    <a:pt x="171880" y="274895"/>
                  </a:lnTo>
                  <a:lnTo>
                    <a:pt x="0" y="153162"/>
                  </a:lnTo>
                  <a:lnTo>
                    <a:pt x="22119" y="117746"/>
                  </a:lnTo>
                  <a:lnTo>
                    <a:pt x="39989" y="80152"/>
                  </a:lnTo>
                  <a:lnTo>
                    <a:pt x="53453" y="40772"/>
                  </a:lnTo>
                  <a:lnTo>
                    <a:pt x="62356" y="0"/>
                  </a:lnTo>
                  <a:lnTo>
                    <a:pt x="422148" y="572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a:extLst>
                <a:ext uri="{FF2B5EF4-FFF2-40B4-BE49-F238E27FC236}">
                  <a16:creationId xmlns:a16="http://schemas.microsoft.com/office/drawing/2014/main" id="{59E78C4C-0362-7EFB-6E9E-134CD8AADF24}"/>
                </a:ext>
              </a:extLst>
            </p:cNvPr>
            <p:cNvSpPr/>
            <p:nvPr/>
          </p:nvSpPr>
          <p:spPr>
            <a:xfrm>
              <a:off x="6560819" y="1592069"/>
              <a:ext cx="401955" cy="407670"/>
            </a:xfrm>
            <a:custGeom>
              <a:avLst/>
              <a:gdLst/>
              <a:ahLst/>
              <a:cxnLst/>
              <a:rect l="l" t="t" r="r" b="b"/>
              <a:pathLst>
                <a:path w="401954" h="407669">
                  <a:moveTo>
                    <a:pt x="104266" y="0"/>
                  </a:moveTo>
                  <a:lnTo>
                    <a:pt x="81938" y="28380"/>
                  </a:lnTo>
                  <a:lnTo>
                    <a:pt x="56991" y="54355"/>
                  </a:lnTo>
                  <a:lnTo>
                    <a:pt x="29614" y="77759"/>
                  </a:lnTo>
                  <a:lnTo>
                    <a:pt x="0" y="98425"/>
                  </a:lnTo>
                  <a:lnTo>
                    <a:pt x="192785" y="407415"/>
                  </a:lnTo>
                  <a:lnTo>
                    <a:pt x="232804" y="380594"/>
                  </a:lnTo>
                  <a:lnTo>
                    <a:pt x="270872" y="351253"/>
                  </a:lnTo>
                  <a:lnTo>
                    <a:pt x="306879" y="319500"/>
                  </a:lnTo>
                  <a:lnTo>
                    <a:pt x="340717" y="285439"/>
                  </a:lnTo>
                  <a:lnTo>
                    <a:pt x="372276" y="249177"/>
                  </a:lnTo>
                  <a:lnTo>
                    <a:pt x="401447" y="210820"/>
                  </a:lnTo>
                  <a:lnTo>
                    <a:pt x="10426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a:extLst>
                <a:ext uri="{FF2B5EF4-FFF2-40B4-BE49-F238E27FC236}">
                  <a16:creationId xmlns:a16="http://schemas.microsoft.com/office/drawing/2014/main" id="{B18A5F8C-B45A-E194-397C-08642069C6C3}"/>
                </a:ext>
              </a:extLst>
            </p:cNvPr>
            <p:cNvSpPr/>
            <p:nvPr/>
          </p:nvSpPr>
          <p:spPr>
            <a:xfrm>
              <a:off x="6560819" y="1592069"/>
              <a:ext cx="401955" cy="407670"/>
            </a:xfrm>
            <a:custGeom>
              <a:avLst/>
              <a:gdLst/>
              <a:ahLst/>
              <a:cxnLst/>
              <a:rect l="l" t="t" r="r" b="b"/>
              <a:pathLst>
                <a:path w="401954" h="407669">
                  <a:moveTo>
                    <a:pt x="401447" y="210820"/>
                  </a:moveTo>
                  <a:lnTo>
                    <a:pt x="372276" y="249177"/>
                  </a:lnTo>
                  <a:lnTo>
                    <a:pt x="340717" y="285439"/>
                  </a:lnTo>
                  <a:lnTo>
                    <a:pt x="306879" y="319500"/>
                  </a:lnTo>
                  <a:lnTo>
                    <a:pt x="270872" y="351253"/>
                  </a:lnTo>
                  <a:lnTo>
                    <a:pt x="232804" y="380594"/>
                  </a:lnTo>
                  <a:lnTo>
                    <a:pt x="192785" y="407415"/>
                  </a:lnTo>
                  <a:lnTo>
                    <a:pt x="189773" y="402588"/>
                  </a:lnTo>
                  <a:lnTo>
                    <a:pt x="168687" y="368792"/>
                  </a:lnTo>
                  <a:lnTo>
                    <a:pt x="111454" y="277060"/>
                  </a:lnTo>
                  <a:lnTo>
                    <a:pt x="0" y="98425"/>
                  </a:lnTo>
                  <a:lnTo>
                    <a:pt x="29614" y="77759"/>
                  </a:lnTo>
                  <a:lnTo>
                    <a:pt x="56991" y="54355"/>
                  </a:lnTo>
                  <a:lnTo>
                    <a:pt x="81938" y="28380"/>
                  </a:lnTo>
                  <a:lnTo>
                    <a:pt x="104266" y="0"/>
                  </a:lnTo>
                  <a:lnTo>
                    <a:pt x="401447" y="21082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1">
              <a:extLst>
                <a:ext uri="{FF2B5EF4-FFF2-40B4-BE49-F238E27FC236}">
                  <a16:creationId xmlns:a16="http://schemas.microsoft.com/office/drawing/2014/main" id="{6A48E748-F019-FB3C-CFC6-FE5C7FAF73D8}"/>
                </a:ext>
              </a:extLst>
            </p:cNvPr>
            <p:cNvSpPr/>
            <p:nvPr/>
          </p:nvSpPr>
          <p:spPr>
            <a:xfrm>
              <a:off x="6429501" y="1690621"/>
              <a:ext cx="323850" cy="408940"/>
            </a:xfrm>
            <a:custGeom>
              <a:avLst/>
              <a:gdLst/>
              <a:ahLst/>
              <a:cxnLst/>
              <a:rect l="l" t="t" r="r" b="b"/>
              <a:pathLst>
                <a:path w="323850" h="408939">
                  <a:moveTo>
                    <a:pt x="130937" y="0"/>
                  </a:moveTo>
                  <a:lnTo>
                    <a:pt x="100137" y="17154"/>
                  </a:lnTo>
                  <a:lnTo>
                    <a:pt x="67897" y="31226"/>
                  </a:lnTo>
                  <a:lnTo>
                    <a:pt x="34442" y="42130"/>
                  </a:lnTo>
                  <a:lnTo>
                    <a:pt x="0" y="49783"/>
                  </a:lnTo>
                  <a:lnTo>
                    <a:pt x="61595" y="408939"/>
                  </a:lnTo>
                  <a:lnTo>
                    <a:pt x="107671" y="399464"/>
                  </a:lnTo>
                  <a:lnTo>
                    <a:pt x="152969" y="387072"/>
                  </a:lnTo>
                  <a:lnTo>
                    <a:pt x="197342" y="371808"/>
                  </a:lnTo>
                  <a:lnTo>
                    <a:pt x="240646" y="353718"/>
                  </a:lnTo>
                  <a:lnTo>
                    <a:pt x="282736" y="332848"/>
                  </a:lnTo>
                  <a:lnTo>
                    <a:pt x="323469" y="309245"/>
                  </a:lnTo>
                  <a:lnTo>
                    <a:pt x="130937"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2">
              <a:extLst>
                <a:ext uri="{FF2B5EF4-FFF2-40B4-BE49-F238E27FC236}">
                  <a16:creationId xmlns:a16="http://schemas.microsoft.com/office/drawing/2014/main" id="{E50B07DF-A9CB-D3BC-388C-BD7F24C76981}"/>
                </a:ext>
              </a:extLst>
            </p:cNvPr>
            <p:cNvSpPr/>
            <p:nvPr/>
          </p:nvSpPr>
          <p:spPr>
            <a:xfrm>
              <a:off x="6429501" y="1690621"/>
              <a:ext cx="323850" cy="408940"/>
            </a:xfrm>
            <a:custGeom>
              <a:avLst/>
              <a:gdLst/>
              <a:ahLst/>
              <a:cxnLst/>
              <a:rect l="l" t="t" r="r" b="b"/>
              <a:pathLst>
                <a:path w="323850" h="408939">
                  <a:moveTo>
                    <a:pt x="323469" y="309245"/>
                  </a:moveTo>
                  <a:lnTo>
                    <a:pt x="282736" y="332848"/>
                  </a:lnTo>
                  <a:lnTo>
                    <a:pt x="240646" y="353718"/>
                  </a:lnTo>
                  <a:lnTo>
                    <a:pt x="197342" y="371808"/>
                  </a:lnTo>
                  <a:lnTo>
                    <a:pt x="152969" y="387072"/>
                  </a:lnTo>
                  <a:lnTo>
                    <a:pt x="107671" y="399464"/>
                  </a:lnTo>
                  <a:lnTo>
                    <a:pt x="61595" y="408939"/>
                  </a:lnTo>
                  <a:lnTo>
                    <a:pt x="60632" y="403328"/>
                  </a:lnTo>
                  <a:lnTo>
                    <a:pt x="53895" y="364045"/>
                  </a:lnTo>
                  <a:lnTo>
                    <a:pt x="35609" y="257421"/>
                  </a:lnTo>
                  <a:lnTo>
                    <a:pt x="0" y="49783"/>
                  </a:lnTo>
                  <a:lnTo>
                    <a:pt x="34442" y="42130"/>
                  </a:lnTo>
                  <a:lnTo>
                    <a:pt x="67897" y="31226"/>
                  </a:lnTo>
                  <a:lnTo>
                    <a:pt x="100137" y="17154"/>
                  </a:lnTo>
                  <a:lnTo>
                    <a:pt x="130937" y="0"/>
                  </a:lnTo>
                  <a:lnTo>
                    <a:pt x="323469" y="30924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a:extLst>
                <a:ext uri="{FF2B5EF4-FFF2-40B4-BE49-F238E27FC236}">
                  <a16:creationId xmlns:a16="http://schemas.microsoft.com/office/drawing/2014/main" id="{786653B8-EFE1-BC4C-AE42-18E78CF6039F}"/>
                </a:ext>
              </a:extLst>
            </p:cNvPr>
            <p:cNvSpPr/>
            <p:nvPr/>
          </p:nvSpPr>
          <p:spPr>
            <a:xfrm>
              <a:off x="6272529" y="1740532"/>
              <a:ext cx="217804" cy="369570"/>
            </a:xfrm>
            <a:custGeom>
              <a:avLst/>
              <a:gdLst/>
              <a:ahLst/>
              <a:cxnLst/>
              <a:rect l="l" t="t" r="r" b="b"/>
              <a:pathLst>
                <a:path w="217804" h="369569">
                  <a:moveTo>
                    <a:pt x="156591" y="0"/>
                  </a:moveTo>
                  <a:lnTo>
                    <a:pt x="129512" y="3550"/>
                  </a:lnTo>
                  <a:lnTo>
                    <a:pt x="102266" y="5064"/>
                  </a:lnTo>
                  <a:lnTo>
                    <a:pt x="74973" y="4554"/>
                  </a:lnTo>
                  <a:lnTo>
                    <a:pt x="47752" y="2032"/>
                  </a:lnTo>
                  <a:lnTo>
                    <a:pt x="0" y="363220"/>
                  </a:lnTo>
                  <a:lnTo>
                    <a:pt x="54445" y="368317"/>
                  </a:lnTo>
                  <a:lnTo>
                    <a:pt x="109045" y="369331"/>
                  </a:lnTo>
                  <a:lnTo>
                    <a:pt x="163574" y="366273"/>
                  </a:lnTo>
                  <a:lnTo>
                    <a:pt x="217805" y="359156"/>
                  </a:lnTo>
                  <a:lnTo>
                    <a:pt x="156591"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a:extLst>
                <a:ext uri="{FF2B5EF4-FFF2-40B4-BE49-F238E27FC236}">
                  <a16:creationId xmlns:a16="http://schemas.microsoft.com/office/drawing/2014/main" id="{4141D945-85FE-8ED4-510B-666E59AA73B2}"/>
                </a:ext>
              </a:extLst>
            </p:cNvPr>
            <p:cNvSpPr/>
            <p:nvPr/>
          </p:nvSpPr>
          <p:spPr>
            <a:xfrm>
              <a:off x="6272529" y="1740532"/>
              <a:ext cx="217804" cy="369570"/>
            </a:xfrm>
            <a:custGeom>
              <a:avLst/>
              <a:gdLst/>
              <a:ahLst/>
              <a:cxnLst/>
              <a:rect l="l" t="t" r="r" b="b"/>
              <a:pathLst>
                <a:path w="217804" h="369569">
                  <a:moveTo>
                    <a:pt x="217805" y="359156"/>
                  </a:moveTo>
                  <a:lnTo>
                    <a:pt x="163574" y="366273"/>
                  </a:lnTo>
                  <a:lnTo>
                    <a:pt x="109045" y="369331"/>
                  </a:lnTo>
                  <a:lnTo>
                    <a:pt x="54445" y="368317"/>
                  </a:lnTo>
                  <a:lnTo>
                    <a:pt x="0" y="363220"/>
                  </a:lnTo>
                  <a:lnTo>
                    <a:pt x="746" y="357576"/>
                  </a:lnTo>
                  <a:lnTo>
                    <a:pt x="5968" y="318071"/>
                  </a:lnTo>
                  <a:lnTo>
                    <a:pt x="20145" y="210843"/>
                  </a:lnTo>
                  <a:lnTo>
                    <a:pt x="47752" y="2032"/>
                  </a:lnTo>
                  <a:lnTo>
                    <a:pt x="74973" y="4554"/>
                  </a:lnTo>
                  <a:lnTo>
                    <a:pt x="102266" y="5064"/>
                  </a:lnTo>
                  <a:lnTo>
                    <a:pt x="129512" y="3550"/>
                  </a:lnTo>
                  <a:lnTo>
                    <a:pt x="156591" y="0"/>
                  </a:lnTo>
                  <a:lnTo>
                    <a:pt x="217805" y="3591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5">
              <a:extLst>
                <a:ext uri="{FF2B5EF4-FFF2-40B4-BE49-F238E27FC236}">
                  <a16:creationId xmlns:a16="http://schemas.microsoft.com/office/drawing/2014/main" id="{B25E73E4-7FBD-3A53-94BB-FD25A52A3D84}"/>
                </a:ext>
              </a:extLst>
            </p:cNvPr>
            <p:cNvSpPr/>
            <p:nvPr/>
          </p:nvSpPr>
          <p:spPr>
            <a:xfrm>
              <a:off x="6090792" y="1718307"/>
              <a:ext cx="229235" cy="385445"/>
            </a:xfrm>
            <a:custGeom>
              <a:avLst/>
              <a:gdLst/>
              <a:ahLst/>
              <a:cxnLst/>
              <a:rect l="l" t="t" r="r" b="b"/>
              <a:pathLst>
                <a:path w="229235" h="385444">
                  <a:moveTo>
                    <a:pt x="138557" y="0"/>
                  </a:moveTo>
                  <a:lnTo>
                    <a:pt x="0" y="336931"/>
                  </a:lnTo>
                  <a:lnTo>
                    <a:pt x="44031" y="353403"/>
                  </a:lnTo>
                  <a:lnTo>
                    <a:pt x="88979" y="366982"/>
                  </a:lnTo>
                  <a:lnTo>
                    <a:pt x="134713" y="377632"/>
                  </a:lnTo>
                  <a:lnTo>
                    <a:pt x="181102" y="385318"/>
                  </a:lnTo>
                  <a:lnTo>
                    <a:pt x="229108" y="24129"/>
                  </a:lnTo>
                  <a:lnTo>
                    <a:pt x="205904" y="20323"/>
                  </a:lnTo>
                  <a:lnTo>
                    <a:pt x="183022" y="15017"/>
                  </a:lnTo>
                  <a:lnTo>
                    <a:pt x="160545" y="8235"/>
                  </a:lnTo>
                  <a:lnTo>
                    <a:pt x="138557"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6">
              <a:extLst>
                <a:ext uri="{FF2B5EF4-FFF2-40B4-BE49-F238E27FC236}">
                  <a16:creationId xmlns:a16="http://schemas.microsoft.com/office/drawing/2014/main" id="{8FC82370-A57F-E1F9-1304-F55071ED5B78}"/>
                </a:ext>
              </a:extLst>
            </p:cNvPr>
            <p:cNvSpPr/>
            <p:nvPr/>
          </p:nvSpPr>
          <p:spPr>
            <a:xfrm>
              <a:off x="6090792" y="1718307"/>
              <a:ext cx="229235" cy="385445"/>
            </a:xfrm>
            <a:custGeom>
              <a:avLst/>
              <a:gdLst/>
              <a:ahLst/>
              <a:cxnLst/>
              <a:rect l="l" t="t" r="r" b="b"/>
              <a:pathLst>
                <a:path w="229235" h="385444">
                  <a:moveTo>
                    <a:pt x="181102" y="385318"/>
                  </a:moveTo>
                  <a:lnTo>
                    <a:pt x="134713" y="377632"/>
                  </a:lnTo>
                  <a:lnTo>
                    <a:pt x="88979" y="366982"/>
                  </a:lnTo>
                  <a:lnTo>
                    <a:pt x="44031" y="353403"/>
                  </a:lnTo>
                  <a:lnTo>
                    <a:pt x="0" y="336931"/>
                  </a:lnTo>
                  <a:lnTo>
                    <a:pt x="2164" y="331666"/>
                  </a:lnTo>
                  <a:lnTo>
                    <a:pt x="17319" y="294814"/>
                  </a:lnTo>
                  <a:lnTo>
                    <a:pt x="58453" y="194788"/>
                  </a:lnTo>
                  <a:lnTo>
                    <a:pt x="138557" y="0"/>
                  </a:lnTo>
                  <a:lnTo>
                    <a:pt x="160545" y="8235"/>
                  </a:lnTo>
                  <a:lnTo>
                    <a:pt x="183022" y="15017"/>
                  </a:lnTo>
                  <a:lnTo>
                    <a:pt x="205904" y="20323"/>
                  </a:lnTo>
                  <a:lnTo>
                    <a:pt x="229108" y="24129"/>
                  </a:lnTo>
                  <a:lnTo>
                    <a:pt x="181102" y="38531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a:extLst>
                <a:ext uri="{FF2B5EF4-FFF2-40B4-BE49-F238E27FC236}">
                  <a16:creationId xmlns:a16="http://schemas.microsoft.com/office/drawing/2014/main" id="{EFDB157C-6B26-8FBC-61A2-E88750A98BA3}"/>
                </a:ext>
              </a:extLst>
            </p:cNvPr>
            <p:cNvSpPr/>
            <p:nvPr/>
          </p:nvSpPr>
          <p:spPr>
            <a:xfrm>
              <a:off x="5930899" y="1672841"/>
              <a:ext cx="298450" cy="382270"/>
            </a:xfrm>
            <a:custGeom>
              <a:avLst/>
              <a:gdLst/>
              <a:ahLst/>
              <a:cxnLst/>
              <a:rect l="l" t="t" r="r" b="b"/>
              <a:pathLst>
                <a:path w="298450" h="382269">
                  <a:moveTo>
                    <a:pt x="218439" y="0"/>
                  </a:moveTo>
                  <a:lnTo>
                    <a:pt x="0" y="291591"/>
                  </a:lnTo>
                  <a:lnTo>
                    <a:pt x="37580" y="317938"/>
                  </a:lnTo>
                  <a:lnTo>
                    <a:pt x="76707" y="341868"/>
                  </a:lnTo>
                  <a:lnTo>
                    <a:pt x="117264" y="363297"/>
                  </a:lnTo>
                  <a:lnTo>
                    <a:pt x="159130" y="382142"/>
                  </a:lnTo>
                  <a:lnTo>
                    <a:pt x="298069" y="45338"/>
                  </a:lnTo>
                  <a:lnTo>
                    <a:pt x="277143" y="35915"/>
                  </a:lnTo>
                  <a:lnTo>
                    <a:pt x="256873" y="25193"/>
                  </a:lnTo>
                  <a:lnTo>
                    <a:pt x="237293" y="13209"/>
                  </a:lnTo>
                  <a:lnTo>
                    <a:pt x="218439"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a:extLst>
                <a:ext uri="{FF2B5EF4-FFF2-40B4-BE49-F238E27FC236}">
                  <a16:creationId xmlns:a16="http://schemas.microsoft.com/office/drawing/2014/main" id="{98A330A3-6094-5E29-E7DA-1E937D9E29B9}"/>
                </a:ext>
              </a:extLst>
            </p:cNvPr>
            <p:cNvSpPr/>
            <p:nvPr/>
          </p:nvSpPr>
          <p:spPr>
            <a:xfrm>
              <a:off x="5930899" y="1672841"/>
              <a:ext cx="298450" cy="382270"/>
            </a:xfrm>
            <a:custGeom>
              <a:avLst/>
              <a:gdLst/>
              <a:ahLst/>
              <a:cxnLst/>
              <a:rect l="l" t="t" r="r" b="b"/>
              <a:pathLst>
                <a:path w="298450" h="382269">
                  <a:moveTo>
                    <a:pt x="159130" y="382142"/>
                  </a:moveTo>
                  <a:lnTo>
                    <a:pt x="117264" y="363297"/>
                  </a:lnTo>
                  <a:lnTo>
                    <a:pt x="76707" y="341868"/>
                  </a:lnTo>
                  <a:lnTo>
                    <a:pt x="37580" y="317938"/>
                  </a:lnTo>
                  <a:lnTo>
                    <a:pt x="0" y="291591"/>
                  </a:lnTo>
                  <a:lnTo>
                    <a:pt x="3413" y="287035"/>
                  </a:lnTo>
                  <a:lnTo>
                    <a:pt x="27305" y="255142"/>
                  </a:lnTo>
                  <a:lnTo>
                    <a:pt x="92154" y="168576"/>
                  </a:lnTo>
                  <a:lnTo>
                    <a:pt x="218439" y="0"/>
                  </a:lnTo>
                  <a:lnTo>
                    <a:pt x="237293" y="13209"/>
                  </a:lnTo>
                  <a:lnTo>
                    <a:pt x="256873" y="25193"/>
                  </a:lnTo>
                  <a:lnTo>
                    <a:pt x="277143" y="35915"/>
                  </a:lnTo>
                  <a:lnTo>
                    <a:pt x="298069" y="45338"/>
                  </a:lnTo>
                  <a:lnTo>
                    <a:pt x="159130" y="38214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a:extLst>
                <a:ext uri="{FF2B5EF4-FFF2-40B4-BE49-F238E27FC236}">
                  <a16:creationId xmlns:a16="http://schemas.microsoft.com/office/drawing/2014/main" id="{DE393560-2AA9-75FD-ECE5-AA1FC1C7B0DA}"/>
                </a:ext>
              </a:extLst>
            </p:cNvPr>
            <p:cNvSpPr/>
            <p:nvPr/>
          </p:nvSpPr>
          <p:spPr>
            <a:xfrm>
              <a:off x="5799708" y="1609468"/>
              <a:ext cx="349885" cy="354965"/>
            </a:xfrm>
            <a:custGeom>
              <a:avLst/>
              <a:gdLst/>
              <a:ahLst/>
              <a:cxnLst/>
              <a:rect l="l" t="t" r="r" b="b"/>
              <a:pathLst>
                <a:path w="349885" h="354964">
                  <a:moveTo>
                    <a:pt x="284099" y="0"/>
                  </a:moveTo>
                  <a:lnTo>
                    <a:pt x="0" y="228091"/>
                  </a:lnTo>
                  <a:lnTo>
                    <a:pt x="29650" y="262695"/>
                  </a:lnTo>
                  <a:lnTo>
                    <a:pt x="61372" y="295370"/>
                  </a:lnTo>
                  <a:lnTo>
                    <a:pt x="95047" y="325997"/>
                  </a:lnTo>
                  <a:lnTo>
                    <a:pt x="130555" y="354456"/>
                  </a:lnTo>
                  <a:lnTo>
                    <a:pt x="349376" y="63118"/>
                  </a:lnTo>
                  <a:lnTo>
                    <a:pt x="331622" y="48916"/>
                  </a:lnTo>
                  <a:lnTo>
                    <a:pt x="314785" y="33607"/>
                  </a:lnTo>
                  <a:lnTo>
                    <a:pt x="298924" y="17273"/>
                  </a:lnTo>
                  <a:lnTo>
                    <a:pt x="28409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70">
              <a:extLst>
                <a:ext uri="{FF2B5EF4-FFF2-40B4-BE49-F238E27FC236}">
                  <a16:creationId xmlns:a16="http://schemas.microsoft.com/office/drawing/2014/main" id="{4B31AAC8-C646-4B61-4ED3-7CC696CD1D40}"/>
                </a:ext>
              </a:extLst>
            </p:cNvPr>
            <p:cNvSpPr/>
            <p:nvPr/>
          </p:nvSpPr>
          <p:spPr>
            <a:xfrm>
              <a:off x="5799708" y="1609468"/>
              <a:ext cx="349885" cy="354965"/>
            </a:xfrm>
            <a:custGeom>
              <a:avLst/>
              <a:gdLst/>
              <a:ahLst/>
              <a:cxnLst/>
              <a:rect l="l" t="t" r="r" b="b"/>
              <a:pathLst>
                <a:path w="349885" h="354964">
                  <a:moveTo>
                    <a:pt x="130555" y="354456"/>
                  </a:moveTo>
                  <a:lnTo>
                    <a:pt x="95047" y="325997"/>
                  </a:lnTo>
                  <a:lnTo>
                    <a:pt x="61372" y="295370"/>
                  </a:lnTo>
                  <a:lnTo>
                    <a:pt x="29650" y="262695"/>
                  </a:lnTo>
                  <a:lnTo>
                    <a:pt x="0" y="228091"/>
                  </a:lnTo>
                  <a:lnTo>
                    <a:pt x="4439" y="224528"/>
                  </a:lnTo>
                  <a:lnTo>
                    <a:pt x="35512" y="199580"/>
                  </a:lnTo>
                  <a:lnTo>
                    <a:pt x="119854" y="131865"/>
                  </a:lnTo>
                  <a:lnTo>
                    <a:pt x="284099" y="0"/>
                  </a:lnTo>
                  <a:lnTo>
                    <a:pt x="298924" y="17273"/>
                  </a:lnTo>
                  <a:lnTo>
                    <a:pt x="314785" y="33607"/>
                  </a:lnTo>
                  <a:lnTo>
                    <a:pt x="331622" y="48916"/>
                  </a:lnTo>
                  <a:lnTo>
                    <a:pt x="349376" y="63118"/>
                  </a:lnTo>
                  <a:lnTo>
                    <a:pt x="130555" y="3544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1">
              <a:extLst>
                <a:ext uri="{FF2B5EF4-FFF2-40B4-BE49-F238E27FC236}">
                  <a16:creationId xmlns:a16="http://schemas.microsoft.com/office/drawing/2014/main" id="{A2F59F6C-283D-0CE6-1405-23B5980EEDB3}"/>
                </a:ext>
              </a:extLst>
            </p:cNvPr>
            <p:cNvSpPr/>
            <p:nvPr/>
          </p:nvSpPr>
          <p:spPr>
            <a:xfrm>
              <a:off x="5639340" y="652650"/>
              <a:ext cx="728345" cy="1184910"/>
            </a:xfrm>
            <a:custGeom>
              <a:avLst/>
              <a:gdLst/>
              <a:ahLst/>
              <a:cxnLst/>
              <a:rect l="l" t="t" r="r" b="b"/>
              <a:pathLst>
                <a:path w="728345" h="1184910">
                  <a:moveTo>
                    <a:pt x="727550" y="0"/>
                  </a:moveTo>
                  <a:lnTo>
                    <a:pt x="678414" y="1719"/>
                  </a:lnTo>
                  <a:lnTo>
                    <a:pt x="629931" y="6687"/>
                  </a:lnTo>
                  <a:lnTo>
                    <a:pt x="582233" y="14820"/>
                  </a:lnTo>
                  <a:lnTo>
                    <a:pt x="535453" y="26032"/>
                  </a:lnTo>
                  <a:lnTo>
                    <a:pt x="489726" y="40241"/>
                  </a:lnTo>
                  <a:lnTo>
                    <a:pt x="445183" y="57361"/>
                  </a:lnTo>
                  <a:lnTo>
                    <a:pt x="401958" y="77308"/>
                  </a:lnTo>
                  <a:lnTo>
                    <a:pt x="360184" y="99999"/>
                  </a:lnTo>
                  <a:lnTo>
                    <a:pt x="319994" y="125349"/>
                  </a:lnTo>
                  <a:lnTo>
                    <a:pt x="281521" y="153273"/>
                  </a:lnTo>
                  <a:lnTo>
                    <a:pt x="244898" y="183689"/>
                  </a:lnTo>
                  <a:lnTo>
                    <a:pt x="210259" y="216510"/>
                  </a:lnTo>
                  <a:lnTo>
                    <a:pt x="177736" y="251654"/>
                  </a:lnTo>
                  <a:lnTo>
                    <a:pt x="147462" y="289035"/>
                  </a:lnTo>
                  <a:lnTo>
                    <a:pt x="119571" y="328571"/>
                  </a:lnTo>
                  <a:lnTo>
                    <a:pt x="94195" y="370175"/>
                  </a:lnTo>
                  <a:lnTo>
                    <a:pt x="71468" y="413766"/>
                  </a:lnTo>
                  <a:lnTo>
                    <a:pt x="51720" y="458783"/>
                  </a:lnTo>
                  <a:lnTo>
                    <a:pt x="35182" y="504622"/>
                  </a:lnTo>
                  <a:lnTo>
                    <a:pt x="21835" y="551127"/>
                  </a:lnTo>
                  <a:lnTo>
                    <a:pt x="11661" y="598140"/>
                  </a:lnTo>
                  <a:lnTo>
                    <a:pt x="4642" y="645506"/>
                  </a:lnTo>
                  <a:lnTo>
                    <a:pt x="761" y="693067"/>
                  </a:lnTo>
                  <a:lnTo>
                    <a:pt x="0" y="740667"/>
                  </a:lnTo>
                  <a:lnTo>
                    <a:pt x="2339" y="788151"/>
                  </a:lnTo>
                  <a:lnTo>
                    <a:pt x="7762" y="835360"/>
                  </a:lnTo>
                  <a:lnTo>
                    <a:pt x="16250" y="882139"/>
                  </a:lnTo>
                  <a:lnTo>
                    <a:pt x="27786" y="928332"/>
                  </a:lnTo>
                  <a:lnTo>
                    <a:pt x="42351" y="973781"/>
                  </a:lnTo>
                  <a:lnTo>
                    <a:pt x="59927" y="1018331"/>
                  </a:lnTo>
                  <a:lnTo>
                    <a:pt x="80497" y="1061824"/>
                  </a:lnTo>
                  <a:lnTo>
                    <a:pt x="104042" y="1104104"/>
                  </a:lnTo>
                  <a:lnTo>
                    <a:pt x="130545" y="1145016"/>
                  </a:lnTo>
                  <a:lnTo>
                    <a:pt x="159987" y="1184402"/>
                  </a:lnTo>
                  <a:lnTo>
                    <a:pt x="444213" y="956564"/>
                  </a:lnTo>
                  <a:lnTo>
                    <a:pt x="414712" y="913790"/>
                  </a:lnTo>
                  <a:lnTo>
                    <a:pt x="391891" y="867979"/>
                  </a:lnTo>
                  <a:lnTo>
                    <a:pt x="375836" y="819879"/>
                  </a:lnTo>
                  <a:lnTo>
                    <a:pt x="366632" y="770239"/>
                  </a:lnTo>
                  <a:lnTo>
                    <a:pt x="364363" y="719806"/>
                  </a:lnTo>
                  <a:lnTo>
                    <a:pt x="369115" y="669331"/>
                  </a:lnTo>
                  <a:lnTo>
                    <a:pt x="380971" y="619561"/>
                  </a:lnTo>
                  <a:lnTo>
                    <a:pt x="400017" y="571246"/>
                  </a:lnTo>
                  <a:lnTo>
                    <a:pt x="425765" y="526117"/>
                  </a:lnTo>
                  <a:lnTo>
                    <a:pt x="457149" y="485681"/>
                  </a:lnTo>
                  <a:lnTo>
                    <a:pt x="493531" y="450344"/>
                  </a:lnTo>
                  <a:lnTo>
                    <a:pt x="534272" y="420512"/>
                  </a:lnTo>
                  <a:lnTo>
                    <a:pt x="578734" y="396592"/>
                  </a:lnTo>
                  <a:lnTo>
                    <a:pt x="626278" y="378989"/>
                  </a:lnTo>
                  <a:lnTo>
                    <a:pt x="676265" y="368111"/>
                  </a:lnTo>
                  <a:lnTo>
                    <a:pt x="728058" y="364363"/>
                  </a:lnTo>
                  <a:lnTo>
                    <a:pt x="727550"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2">
              <a:extLst>
                <a:ext uri="{FF2B5EF4-FFF2-40B4-BE49-F238E27FC236}">
                  <a16:creationId xmlns:a16="http://schemas.microsoft.com/office/drawing/2014/main" id="{99221FEF-C94D-F9FF-F1B0-CF07A7F8436D}"/>
                </a:ext>
              </a:extLst>
            </p:cNvPr>
            <p:cNvSpPr/>
            <p:nvPr/>
          </p:nvSpPr>
          <p:spPr>
            <a:xfrm>
              <a:off x="5639340" y="652650"/>
              <a:ext cx="728345" cy="1184910"/>
            </a:xfrm>
            <a:custGeom>
              <a:avLst/>
              <a:gdLst/>
              <a:ahLst/>
              <a:cxnLst/>
              <a:rect l="l" t="t" r="r" b="b"/>
              <a:pathLst>
                <a:path w="728345" h="1184910">
                  <a:moveTo>
                    <a:pt x="159987" y="1184402"/>
                  </a:moveTo>
                  <a:lnTo>
                    <a:pt x="130545" y="1145016"/>
                  </a:lnTo>
                  <a:lnTo>
                    <a:pt x="104042" y="1104104"/>
                  </a:lnTo>
                  <a:lnTo>
                    <a:pt x="80497" y="1061824"/>
                  </a:lnTo>
                  <a:lnTo>
                    <a:pt x="59927" y="1018331"/>
                  </a:lnTo>
                  <a:lnTo>
                    <a:pt x="42351" y="973781"/>
                  </a:lnTo>
                  <a:lnTo>
                    <a:pt x="27786" y="928332"/>
                  </a:lnTo>
                  <a:lnTo>
                    <a:pt x="16250" y="882139"/>
                  </a:lnTo>
                  <a:lnTo>
                    <a:pt x="7762" y="835360"/>
                  </a:lnTo>
                  <a:lnTo>
                    <a:pt x="2339" y="788151"/>
                  </a:lnTo>
                  <a:lnTo>
                    <a:pt x="0" y="740667"/>
                  </a:lnTo>
                  <a:lnTo>
                    <a:pt x="761" y="693067"/>
                  </a:lnTo>
                  <a:lnTo>
                    <a:pt x="4642" y="645506"/>
                  </a:lnTo>
                  <a:lnTo>
                    <a:pt x="11661" y="598140"/>
                  </a:lnTo>
                  <a:lnTo>
                    <a:pt x="21835" y="551127"/>
                  </a:lnTo>
                  <a:lnTo>
                    <a:pt x="35182" y="504622"/>
                  </a:lnTo>
                  <a:lnTo>
                    <a:pt x="51720" y="458783"/>
                  </a:lnTo>
                  <a:lnTo>
                    <a:pt x="71468" y="413766"/>
                  </a:lnTo>
                  <a:lnTo>
                    <a:pt x="94195" y="370175"/>
                  </a:lnTo>
                  <a:lnTo>
                    <a:pt x="119571" y="328571"/>
                  </a:lnTo>
                  <a:lnTo>
                    <a:pt x="147462" y="289035"/>
                  </a:lnTo>
                  <a:lnTo>
                    <a:pt x="177736" y="251654"/>
                  </a:lnTo>
                  <a:lnTo>
                    <a:pt x="210259" y="216510"/>
                  </a:lnTo>
                  <a:lnTo>
                    <a:pt x="244898" y="183689"/>
                  </a:lnTo>
                  <a:lnTo>
                    <a:pt x="281521" y="153273"/>
                  </a:lnTo>
                  <a:lnTo>
                    <a:pt x="319994" y="125349"/>
                  </a:lnTo>
                  <a:lnTo>
                    <a:pt x="360184" y="99999"/>
                  </a:lnTo>
                  <a:lnTo>
                    <a:pt x="401958" y="77308"/>
                  </a:lnTo>
                  <a:lnTo>
                    <a:pt x="445183" y="57361"/>
                  </a:lnTo>
                  <a:lnTo>
                    <a:pt x="489726" y="40241"/>
                  </a:lnTo>
                  <a:lnTo>
                    <a:pt x="535453" y="26032"/>
                  </a:lnTo>
                  <a:lnTo>
                    <a:pt x="582233" y="14820"/>
                  </a:lnTo>
                  <a:lnTo>
                    <a:pt x="629931" y="6687"/>
                  </a:lnTo>
                  <a:lnTo>
                    <a:pt x="678414" y="1719"/>
                  </a:lnTo>
                  <a:lnTo>
                    <a:pt x="727550" y="0"/>
                  </a:lnTo>
                  <a:lnTo>
                    <a:pt x="727558" y="5693"/>
                  </a:lnTo>
                  <a:lnTo>
                    <a:pt x="727614" y="45545"/>
                  </a:lnTo>
                  <a:lnTo>
                    <a:pt x="727765" y="153715"/>
                  </a:lnTo>
                  <a:lnTo>
                    <a:pt x="728058" y="364363"/>
                  </a:lnTo>
                  <a:lnTo>
                    <a:pt x="676265" y="368111"/>
                  </a:lnTo>
                  <a:lnTo>
                    <a:pt x="626278" y="378989"/>
                  </a:lnTo>
                  <a:lnTo>
                    <a:pt x="578734" y="396592"/>
                  </a:lnTo>
                  <a:lnTo>
                    <a:pt x="534272" y="420512"/>
                  </a:lnTo>
                  <a:lnTo>
                    <a:pt x="493531" y="450344"/>
                  </a:lnTo>
                  <a:lnTo>
                    <a:pt x="457149" y="485681"/>
                  </a:lnTo>
                  <a:lnTo>
                    <a:pt x="425765" y="526117"/>
                  </a:lnTo>
                  <a:lnTo>
                    <a:pt x="400017" y="571246"/>
                  </a:lnTo>
                  <a:lnTo>
                    <a:pt x="380971" y="619561"/>
                  </a:lnTo>
                  <a:lnTo>
                    <a:pt x="369115" y="669331"/>
                  </a:lnTo>
                  <a:lnTo>
                    <a:pt x="364363" y="719806"/>
                  </a:lnTo>
                  <a:lnTo>
                    <a:pt x="366632" y="770239"/>
                  </a:lnTo>
                  <a:lnTo>
                    <a:pt x="375836" y="819879"/>
                  </a:lnTo>
                  <a:lnTo>
                    <a:pt x="391891" y="867979"/>
                  </a:lnTo>
                  <a:lnTo>
                    <a:pt x="414712" y="913790"/>
                  </a:lnTo>
                  <a:lnTo>
                    <a:pt x="444213" y="956564"/>
                  </a:lnTo>
                  <a:lnTo>
                    <a:pt x="159987" y="118440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0" name="Group 49">
            <a:extLst>
              <a:ext uri="{FF2B5EF4-FFF2-40B4-BE49-F238E27FC236}">
                <a16:creationId xmlns:a16="http://schemas.microsoft.com/office/drawing/2014/main" id="{53D6CFF5-22CC-EE40-8D0D-2D1A7021C24D}"/>
              </a:ext>
            </a:extLst>
          </p:cNvPr>
          <p:cNvGrpSpPr>
            <a:grpSpLocks noChangeAspect="1"/>
          </p:cNvGrpSpPr>
          <p:nvPr/>
        </p:nvGrpSpPr>
        <p:grpSpPr>
          <a:xfrm>
            <a:off x="2467787" y="3134904"/>
            <a:ext cx="4058437" cy="1620001"/>
            <a:chOff x="3029324" y="3818512"/>
            <a:chExt cx="4067689" cy="1623698"/>
          </a:xfrm>
        </p:grpSpPr>
        <p:grpSp>
          <p:nvGrpSpPr>
            <p:cNvPr id="29" name="object 29">
              <a:extLst>
                <a:ext uri="{FF2B5EF4-FFF2-40B4-BE49-F238E27FC236}">
                  <a16:creationId xmlns:a16="http://schemas.microsoft.com/office/drawing/2014/main" id="{492E6736-6887-70AE-7AB4-E73E2F76DCD2}"/>
                </a:ext>
              </a:extLst>
            </p:cNvPr>
            <p:cNvGrpSpPr/>
            <p:nvPr/>
          </p:nvGrpSpPr>
          <p:grpSpPr>
            <a:xfrm>
              <a:off x="3069463" y="4063238"/>
              <a:ext cx="108585" cy="1365250"/>
              <a:chOff x="3069463" y="3537328"/>
              <a:chExt cx="108585" cy="1365250"/>
            </a:xfrm>
          </p:grpSpPr>
          <p:sp>
            <p:nvSpPr>
              <p:cNvPr id="30" name="object 30">
                <a:extLst>
                  <a:ext uri="{FF2B5EF4-FFF2-40B4-BE49-F238E27FC236}">
                    <a16:creationId xmlns:a16="http://schemas.microsoft.com/office/drawing/2014/main" id="{0FB65285-BC4D-E02F-0314-500894B457B9}"/>
                  </a:ext>
                </a:extLst>
              </p:cNvPr>
              <p:cNvSpPr/>
              <p:nvPr/>
            </p:nvSpPr>
            <p:spPr>
              <a:xfrm>
                <a:off x="3069463" y="35373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a:extLst>
                  <a:ext uri="{FF2B5EF4-FFF2-40B4-BE49-F238E27FC236}">
                    <a16:creationId xmlns:a16="http://schemas.microsoft.com/office/drawing/2014/main" id="{8B4268CD-E8D9-82A9-4B57-92EC1371D1F0}"/>
                  </a:ext>
                </a:extLst>
              </p:cNvPr>
              <p:cNvSpPr/>
              <p:nvPr/>
            </p:nvSpPr>
            <p:spPr>
              <a:xfrm>
                <a:off x="3069463" y="36770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a:extLst>
                  <a:ext uri="{FF2B5EF4-FFF2-40B4-BE49-F238E27FC236}">
                    <a16:creationId xmlns:a16="http://schemas.microsoft.com/office/drawing/2014/main" id="{2EAA2BDC-45E0-5FD6-7C84-86EF5E7F1C50}"/>
                  </a:ext>
                </a:extLst>
              </p:cNvPr>
              <p:cNvSpPr/>
              <p:nvPr/>
            </p:nvSpPr>
            <p:spPr>
              <a:xfrm>
                <a:off x="3069463" y="38167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a:extLst>
                  <a:ext uri="{FF2B5EF4-FFF2-40B4-BE49-F238E27FC236}">
                    <a16:creationId xmlns:a16="http://schemas.microsoft.com/office/drawing/2014/main" id="{A79A0234-9ADC-7DEC-A4A6-099FCF5FF5B2}"/>
                  </a:ext>
                </a:extLst>
              </p:cNvPr>
              <p:cNvSpPr/>
              <p:nvPr/>
            </p:nvSpPr>
            <p:spPr>
              <a:xfrm>
                <a:off x="3069463" y="39564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a:extLst>
                  <a:ext uri="{FF2B5EF4-FFF2-40B4-BE49-F238E27FC236}">
                    <a16:creationId xmlns:a16="http://schemas.microsoft.com/office/drawing/2014/main" id="{D91BFF72-D298-0DD0-8900-53341A223EA3}"/>
                  </a:ext>
                </a:extLst>
              </p:cNvPr>
              <p:cNvSpPr/>
              <p:nvPr/>
            </p:nvSpPr>
            <p:spPr>
              <a:xfrm>
                <a:off x="3069463" y="40961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a:extLst>
                  <a:ext uri="{FF2B5EF4-FFF2-40B4-BE49-F238E27FC236}">
                    <a16:creationId xmlns:a16="http://schemas.microsoft.com/office/drawing/2014/main" id="{52B554F4-17EF-D84D-056A-930FB96E848B}"/>
                  </a:ext>
                </a:extLst>
              </p:cNvPr>
              <p:cNvSpPr/>
              <p:nvPr/>
            </p:nvSpPr>
            <p:spPr>
              <a:xfrm>
                <a:off x="3069463" y="42358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6">
                <a:extLst>
                  <a:ext uri="{FF2B5EF4-FFF2-40B4-BE49-F238E27FC236}">
                    <a16:creationId xmlns:a16="http://schemas.microsoft.com/office/drawing/2014/main" id="{1854FB26-0AE9-D38D-52A6-82C39C2D1524}"/>
                  </a:ext>
                </a:extLst>
              </p:cNvPr>
              <p:cNvSpPr/>
              <p:nvPr/>
            </p:nvSpPr>
            <p:spPr>
              <a:xfrm>
                <a:off x="3069463" y="43755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7">
                <a:extLst>
                  <a:ext uri="{FF2B5EF4-FFF2-40B4-BE49-F238E27FC236}">
                    <a16:creationId xmlns:a16="http://schemas.microsoft.com/office/drawing/2014/main" id="{46AC32F1-C24F-683E-5DB9-156F4ED5AA5F}"/>
                  </a:ext>
                </a:extLst>
              </p:cNvPr>
              <p:cNvSpPr/>
              <p:nvPr/>
            </p:nvSpPr>
            <p:spPr>
              <a:xfrm>
                <a:off x="3069463" y="45152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a:extLst>
                  <a:ext uri="{FF2B5EF4-FFF2-40B4-BE49-F238E27FC236}">
                    <a16:creationId xmlns:a16="http://schemas.microsoft.com/office/drawing/2014/main" id="{DFF01E4F-0718-6FB9-5437-1D348BDDA838}"/>
                  </a:ext>
                </a:extLst>
              </p:cNvPr>
              <p:cNvSpPr/>
              <p:nvPr/>
            </p:nvSpPr>
            <p:spPr>
              <a:xfrm>
                <a:off x="3069463" y="46549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a:extLst>
                  <a:ext uri="{FF2B5EF4-FFF2-40B4-BE49-F238E27FC236}">
                    <a16:creationId xmlns:a16="http://schemas.microsoft.com/office/drawing/2014/main" id="{B9841A07-1E16-4135-697F-5F77388CF8CF}"/>
                  </a:ext>
                </a:extLst>
              </p:cNvPr>
              <p:cNvSpPr/>
              <p:nvPr/>
            </p:nvSpPr>
            <p:spPr>
              <a:xfrm>
                <a:off x="3069463" y="47946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0" name="object 40">
              <a:extLst>
                <a:ext uri="{FF2B5EF4-FFF2-40B4-BE49-F238E27FC236}">
                  <a16:creationId xmlns:a16="http://schemas.microsoft.com/office/drawing/2014/main" id="{8083A821-0587-FAFE-5D34-E4F3442C53D6}"/>
                </a:ext>
              </a:extLst>
            </p:cNvPr>
            <p:cNvSpPr txBox="1"/>
            <p:nvPr/>
          </p:nvSpPr>
          <p:spPr>
            <a:xfrm>
              <a:off x="3305175" y="4019810"/>
              <a:ext cx="977265" cy="1422400"/>
            </a:xfrm>
            <a:prstGeom prst="rect">
              <a:avLst/>
            </a:prstGeom>
          </p:spPr>
          <p:txBody>
            <a:bodyPr vert="horz" wrap="square" lIns="0" tIns="30480" rIns="0" bIns="0" rtlCol="0">
              <a:spAutoFit/>
            </a:bodyPr>
            <a:lstStyle/>
            <a:p>
              <a:pPr marL="12700" marR="0" lvl="0" indent="0"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25" normalizeH="0" baseline="0" noProof="0">
                  <a:ln>
                    <a:noFill/>
                  </a:ln>
                  <a:solidFill>
                    <a:srgbClr val="142764"/>
                  </a:solidFill>
                  <a:effectLst/>
                  <a:uLnTx/>
                  <a:uFillTx/>
                  <a:latin typeface="Zurich Sans Light"/>
                  <a:cs typeface="Zurich Sans Light"/>
                </a:rPr>
                <a:t>USA</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38354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Saudi </a:t>
              </a:r>
              <a:r>
                <a:rPr kumimoji="0" sz="800" b="0" i="0" u="none" strike="noStrike" kern="0" cap="none" spc="-10" normalizeH="0" baseline="0" noProof="0">
                  <a:ln>
                    <a:noFill/>
                  </a:ln>
                  <a:solidFill>
                    <a:srgbClr val="142764"/>
                  </a:solidFill>
                  <a:effectLst/>
                  <a:uLnTx/>
                  <a:uFillTx/>
                  <a:latin typeface="Zurich Sans Light"/>
                  <a:cs typeface="Zurich Sans Light"/>
                </a:rPr>
                <a:t>Arabia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Indonesia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Philippines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Chile</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74675"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Peru</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Turkey</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Uruguay</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08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United Arab </a:t>
              </a:r>
              <a:r>
                <a:rPr kumimoji="0" sz="800" b="0" i="0" u="none" strike="noStrike" kern="0" cap="none" spc="-10" normalizeH="0" baseline="0" noProof="0">
                  <a:ln>
                    <a:noFill/>
                  </a:ln>
                  <a:solidFill>
                    <a:srgbClr val="142764"/>
                  </a:solidFill>
                  <a:effectLst/>
                  <a:uLnTx/>
                  <a:uFillTx/>
                  <a:latin typeface="Zurich Sans Light"/>
                  <a:cs typeface="Zurich Sans Light"/>
                </a:rPr>
                <a:t>Emirates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1" name="object 41">
              <a:extLst>
                <a:ext uri="{FF2B5EF4-FFF2-40B4-BE49-F238E27FC236}">
                  <a16:creationId xmlns:a16="http://schemas.microsoft.com/office/drawing/2014/main" id="{02A8CE7B-D700-A277-CEF0-CA3A1F7235E8}"/>
                </a:ext>
              </a:extLst>
            </p:cNvPr>
            <p:cNvSpPr txBox="1"/>
            <p:nvPr/>
          </p:nvSpPr>
          <p:spPr>
            <a:xfrm>
              <a:off x="5096383" y="4019810"/>
              <a:ext cx="356235" cy="1422400"/>
            </a:xfrm>
            <a:prstGeom prst="rect">
              <a:avLst/>
            </a:prstGeom>
          </p:spPr>
          <p:txBody>
            <a:bodyPr vert="horz" wrap="square" lIns="0" tIns="30480" rIns="0" bIns="0" rtlCol="0">
              <a:spAutoFit/>
            </a:bodyPr>
            <a:lstStyle/>
            <a:p>
              <a:pPr marL="0" marR="5080" lvl="0" indent="0" algn="r"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10.30%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9.50%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4.97%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3.67%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3.55%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48.42%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2" name="object 42">
              <a:extLst>
                <a:ext uri="{FF2B5EF4-FFF2-40B4-BE49-F238E27FC236}">
                  <a16:creationId xmlns:a16="http://schemas.microsoft.com/office/drawing/2014/main" id="{271B637D-1DEF-DBF9-3B04-1F77C44C50F5}"/>
                </a:ext>
              </a:extLst>
            </p:cNvPr>
            <p:cNvSpPr txBox="1"/>
            <p:nvPr/>
          </p:nvSpPr>
          <p:spPr>
            <a:xfrm>
              <a:off x="3029324" y="3818512"/>
              <a:ext cx="2452370" cy="189796"/>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Geographic</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grpSp>
          <p:nvGrpSpPr>
            <p:cNvPr id="73" name="object 73">
              <a:extLst>
                <a:ext uri="{FF2B5EF4-FFF2-40B4-BE49-F238E27FC236}">
                  <a16:creationId xmlns:a16="http://schemas.microsoft.com/office/drawing/2014/main" id="{467ADAED-D386-637D-2379-9EFB0664C6E1}"/>
                </a:ext>
              </a:extLst>
            </p:cNvPr>
            <p:cNvGrpSpPr/>
            <p:nvPr/>
          </p:nvGrpSpPr>
          <p:grpSpPr>
            <a:xfrm>
              <a:off x="5639197" y="3967353"/>
              <a:ext cx="1457816" cy="1457706"/>
              <a:chOff x="5639197" y="3441443"/>
              <a:chExt cx="1457816" cy="1457706"/>
            </a:xfrm>
          </p:grpSpPr>
          <p:sp>
            <p:nvSpPr>
              <p:cNvPr id="74" name="object 74">
                <a:extLst>
                  <a:ext uri="{FF2B5EF4-FFF2-40B4-BE49-F238E27FC236}">
                    <a16:creationId xmlns:a16="http://schemas.microsoft.com/office/drawing/2014/main" id="{39300340-742F-E288-F61C-46B89C83D22B}"/>
                  </a:ext>
                </a:extLst>
              </p:cNvPr>
              <p:cNvSpPr/>
              <p:nvPr/>
            </p:nvSpPr>
            <p:spPr>
              <a:xfrm>
                <a:off x="6367779" y="3441443"/>
                <a:ext cx="435609" cy="436880"/>
              </a:xfrm>
              <a:custGeom>
                <a:avLst/>
                <a:gdLst/>
                <a:ahLst/>
                <a:cxnLst/>
                <a:rect l="l" t="t" r="r" b="b"/>
                <a:pathLst>
                  <a:path w="435609" h="436879">
                    <a:moveTo>
                      <a:pt x="0" y="0"/>
                    </a:moveTo>
                    <a:lnTo>
                      <a:pt x="0" y="364362"/>
                    </a:lnTo>
                    <a:lnTo>
                      <a:pt x="46742" y="367365"/>
                    </a:lnTo>
                    <a:lnTo>
                      <a:pt x="92423" y="376250"/>
                    </a:lnTo>
                    <a:lnTo>
                      <a:pt x="136501" y="390834"/>
                    </a:lnTo>
                    <a:lnTo>
                      <a:pt x="178433" y="410936"/>
                    </a:lnTo>
                    <a:lnTo>
                      <a:pt x="217677" y="436372"/>
                    </a:lnTo>
                    <a:lnTo>
                      <a:pt x="435228" y="144145"/>
                    </a:lnTo>
                    <a:lnTo>
                      <a:pt x="392315" y="114550"/>
                    </a:lnTo>
                    <a:lnTo>
                      <a:pt x="347603" y="88206"/>
                    </a:lnTo>
                    <a:lnTo>
                      <a:pt x="301281" y="65174"/>
                    </a:lnTo>
                    <a:lnTo>
                      <a:pt x="253535" y="45517"/>
                    </a:lnTo>
                    <a:lnTo>
                      <a:pt x="204553" y="29295"/>
                    </a:lnTo>
                    <a:lnTo>
                      <a:pt x="154521" y="16571"/>
                    </a:lnTo>
                    <a:lnTo>
                      <a:pt x="103627" y="7406"/>
                    </a:lnTo>
                    <a:lnTo>
                      <a:pt x="52057" y="1861"/>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5">
                <a:extLst>
                  <a:ext uri="{FF2B5EF4-FFF2-40B4-BE49-F238E27FC236}">
                    <a16:creationId xmlns:a16="http://schemas.microsoft.com/office/drawing/2014/main" id="{C1CE96DE-13D5-A3D9-23CF-EDD380635B59}"/>
                  </a:ext>
                </a:extLst>
              </p:cNvPr>
              <p:cNvSpPr/>
              <p:nvPr/>
            </p:nvSpPr>
            <p:spPr>
              <a:xfrm>
                <a:off x="6585711" y="3585969"/>
                <a:ext cx="469265" cy="462915"/>
              </a:xfrm>
              <a:custGeom>
                <a:avLst/>
                <a:gdLst/>
                <a:ahLst/>
                <a:cxnLst/>
                <a:rect l="l" t="t" r="r" b="b"/>
                <a:pathLst>
                  <a:path w="469265" h="462914">
                    <a:moveTo>
                      <a:pt x="217805" y="0"/>
                    </a:moveTo>
                    <a:lnTo>
                      <a:pt x="0" y="292100"/>
                    </a:lnTo>
                    <a:lnTo>
                      <a:pt x="40683" y="327394"/>
                    </a:lnTo>
                    <a:lnTo>
                      <a:pt x="75533" y="368046"/>
                    </a:lnTo>
                    <a:lnTo>
                      <a:pt x="104048" y="413365"/>
                    </a:lnTo>
                    <a:lnTo>
                      <a:pt x="125730" y="462660"/>
                    </a:lnTo>
                    <a:lnTo>
                      <a:pt x="469138" y="341122"/>
                    </a:lnTo>
                    <a:lnTo>
                      <a:pt x="451650" y="296443"/>
                    </a:lnTo>
                    <a:lnTo>
                      <a:pt x="431339" y="253168"/>
                    </a:lnTo>
                    <a:lnTo>
                      <a:pt x="408295" y="211422"/>
                    </a:lnTo>
                    <a:lnTo>
                      <a:pt x="382611" y="171328"/>
                    </a:lnTo>
                    <a:lnTo>
                      <a:pt x="354378" y="133010"/>
                    </a:lnTo>
                    <a:lnTo>
                      <a:pt x="323690" y="96595"/>
                    </a:lnTo>
                    <a:lnTo>
                      <a:pt x="290636" y="62205"/>
                    </a:lnTo>
                    <a:lnTo>
                      <a:pt x="255311" y="29965"/>
                    </a:lnTo>
                    <a:lnTo>
                      <a:pt x="21780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6">
                <a:extLst>
                  <a:ext uri="{FF2B5EF4-FFF2-40B4-BE49-F238E27FC236}">
                    <a16:creationId xmlns:a16="http://schemas.microsoft.com/office/drawing/2014/main" id="{2C36D10E-5273-1D20-51A9-76F411308E10}"/>
                  </a:ext>
                </a:extLst>
              </p:cNvPr>
              <p:cNvSpPr/>
              <p:nvPr/>
            </p:nvSpPr>
            <p:spPr>
              <a:xfrm>
                <a:off x="6585711" y="3585969"/>
                <a:ext cx="469265" cy="462915"/>
              </a:xfrm>
              <a:custGeom>
                <a:avLst/>
                <a:gdLst/>
                <a:ahLst/>
                <a:cxnLst/>
                <a:rect l="l" t="t" r="r" b="b"/>
                <a:pathLst>
                  <a:path w="469265" h="462914">
                    <a:moveTo>
                      <a:pt x="217805" y="0"/>
                    </a:moveTo>
                    <a:lnTo>
                      <a:pt x="255311" y="29965"/>
                    </a:lnTo>
                    <a:lnTo>
                      <a:pt x="290636" y="62205"/>
                    </a:lnTo>
                    <a:lnTo>
                      <a:pt x="323690" y="96595"/>
                    </a:lnTo>
                    <a:lnTo>
                      <a:pt x="354378" y="133010"/>
                    </a:lnTo>
                    <a:lnTo>
                      <a:pt x="382611" y="171328"/>
                    </a:lnTo>
                    <a:lnTo>
                      <a:pt x="408295" y="211422"/>
                    </a:lnTo>
                    <a:lnTo>
                      <a:pt x="431339" y="253168"/>
                    </a:lnTo>
                    <a:lnTo>
                      <a:pt x="451650" y="296443"/>
                    </a:lnTo>
                    <a:lnTo>
                      <a:pt x="469138" y="341122"/>
                    </a:lnTo>
                    <a:lnTo>
                      <a:pt x="463772" y="343021"/>
                    </a:lnTo>
                    <a:lnTo>
                      <a:pt x="426212" y="356314"/>
                    </a:lnTo>
                    <a:lnTo>
                      <a:pt x="324262" y="392396"/>
                    </a:lnTo>
                    <a:lnTo>
                      <a:pt x="125730" y="462660"/>
                    </a:lnTo>
                    <a:lnTo>
                      <a:pt x="104048" y="413365"/>
                    </a:lnTo>
                    <a:lnTo>
                      <a:pt x="75533" y="368046"/>
                    </a:lnTo>
                    <a:lnTo>
                      <a:pt x="40683" y="327394"/>
                    </a:lnTo>
                    <a:lnTo>
                      <a:pt x="0" y="292100"/>
                    </a:lnTo>
                    <a:lnTo>
                      <a:pt x="217805" y="0"/>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a:extLst>
                  <a:ext uri="{FF2B5EF4-FFF2-40B4-BE49-F238E27FC236}">
                    <a16:creationId xmlns:a16="http://schemas.microsoft.com/office/drawing/2014/main" id="{B3F8D89C-F2BE-FDDD-2CE1-BEA24724DA79}"/>
                  </a:ext>
                </a:extLst>
              </p:cNvPr>
              <p:cNvSpPr/>
              <p:nvPr/>
            </p:nvSpPr>
            <p:spPr>
              <a:xfrm>
                <a:off x="6711568" y="3927726"/>
                <a:ext cx="385445" cy="281305"/>
              </a:xfrm>
              <a:custGeom>
                <a:avLst/>
                <a:gdLst/>
                <a:ahLst/>
                <a:cxnLst/>
                <a:rect l="l" t="t" r="r" b="b"/>
                <a:pathLst>
                  <a:path w="385445" h="281304">
                    <a:moveTo>
                      <a:pt x="343534" y="0"/>
                    </a:moveTo>
                    <a:lnTo>
                      <a:pt x="0" y="121157"/>
                    </a:lnTo>
                    <a:lnTo>
                      <a:pt x="10209" y="155428"/>
                    </a:lnTo>
                    <a:lnTo>
                      <a:pt x="17002" y="190436"/>
                    </a:lnTo>
                    <a:lnTo>
                      <a:pt x="20341" y="225921"/>
                    </a:lnTo>
                    <a:lnTo>
                      <a:pt x="20192" y="261620"/>
                    </a:lnTo>
                    <a:lnTo>
                      <a:pt x="383921" y="280924"/>
                    </a:lnTo>
                    <a:lnTo>
                      <a:pt x="384898" y="233259"/>
                    </a:lnTo>
                    <a:lnTo>
                      <a:pt x="382763" y="185739"/>
                    </a:lnTo>
                    <a:lnTo>
                      <a:pt x="377539" y="138509"/>
                    </a:lnTo>
                    <a:lnTo>
                      <a:pt x="369245" y="91712"/>
                    </a:lnTo>
                    <a:lnTo>
                      <a:pt x="357903" y="45494"/>
                    </a:lnTo>
                    <a:lnTo>
                      <a:pt x="343534"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8">
                <a:extLst>
                  <a:ext uri="{FF2B5EF4-FFF2-40B4-BE49-F238E27FC236}">
                    <a16:creationId xmlns:a16="http://schemas.microsoft.com/office/drawing/2014/main" id="{B9635C32-7582-61ED-5143-B53163AF1953}"/>
                  </a:ext>
                </a:extLst>
              </p:cNvPr>
              <p:cNvSpPr/>
              <p:nvPr/>
            </p:nvSpPr>
            <p:spPr>
              <a:xfrm>
                <a:off x="6711568" y="3927726"/>
                <a:ext cx="385445" cy="281305"/>
              </a:xfrm>
              <a:custGeom>
                <a:avLst/>
                <a:gdLst/>
                <a:ahLst/>
                <a:cxnLst/>
                <a:rect l="l" t="t" r="r" b="b"/>
                <a:pathLst>
                  <a:path w="385445" h="281304">
                    <a:moveTo>
                      <a:pt x="343534" y="0"/>
                    </a:moveTo>
                    <a:lnTo>
                      <a:pt x="357903" y="45494"/>
                    </a:lnTo>
                    <a:lnTo>
                      <a:pt x="369245" y="91712"/>
                    </a:lnTo>
                    <a:lnTo>
                      <a:pt x="377539" y="138509"/>
                    </a:lnTo>
                    <a:lnTo>
                      <a:pt x="382763" y="185739"/>
                    </a:lnTo>
                    <a:lnTo>
                      <a:pt x="384898" y="233259"/>
                    </a:lnTo>
                    <a:lnTo>
                      <a:pt x="383921" y="280924"/>
                    </a:lnTo>
                    <a:lnTo>
                      <a:pt x="378237" y="280622"/>
                    </a:lnTo>
                    <a:lnTo>
                      <a:pt x="338454" y="278511"/>
                    </a:lnTo>
                    <a:lnTo>
                      <a:pt x="230473" y="272780"/>
                    </a:lnTo>
                    <a:lnTo>
                      <a:pt x="20192" y="261620"/>
                    </a:lnTo>
                    <a:lnTo>
                      <a:pt x="20341" y="225921"/>
                    </a:lnTo>
                    <a:lnTo>
                      <a:pt x="17002" y="190436"/>
                    </a:lnTo>
                    <a:lnTo>
                      <a:pt x="10209" y="155428"/>
                    </a:lnTo>
                    <a:lnTo>
                      <a:pt x="0" y="121157"/>
                    </a:lnTo>
                    <a:lnTo>
                      <a:pt x="343534"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9">
                <a:extLst>
                  <a:ext uri="{FF2B5EF4-FFF2-40B4-BE49-F238E27FC236}">
                    <a16:creationId xmlns:a16="http://schemas.microsoft.com/office/drawing/2014/main" id="{703A599A-0F43-89A3-34EB-2ADDDCF0551D}"/>
                  </a:ext>
                </a:extLst>
              </p:cNvPr>
              <p:cNvSpPr/>
              <p:nvPr/>
            </p:nvSpPr>
            <p:spPr>
              <a:xfrm>
                <a:off x="6697852" y="4189727"/>
                <a:ext cx="398145" cy="289560"/>
              </a:xfrm>
              <a:custGeom>
                <a:avLst/>
                <a:gdLst/>
                <a:ahLst/>
                <a:cxnLst/>
                <a:rect l="l" t="t" r="r" b="b"/>
                <a:pathLst>
                  <a:path w="398145" h="289560">
                    <a:moveTo>
                      <a:pt x="33908" y="0"/>
                    </a:moveTo>
                    <a:lnTo>
                      <a:pt x="30325" y="34843"/>
                    </a:lnTo>
                    <a:lnTo>
                      <a:pt x="23431" y="69103"/>
                    </a:lnTo>
                    <a:lnTo>
                      <a:pt x="13299" y="102530"/>
                    </a:lnTo>
                    <a:lnTo>
                      <a:pt x="0" y="134874"/>
                    </a:lnTo>
                    <a:lnTo>
                      <a:pt x="329946" y="289433"/>
                    </a:lnTo>
                    <a:lnTo>
                      <a:pt x="348365" y="246529"/>
                    </a:lnTo>
                    <a:lnTo>
                      <a:pt x="363977" y="202621"/>
                    </a:lnTo>
                    <a:lnTo>
                      <a:pt x="376745" y="157845"/>
                    </a:lnTo>
                    <a:lnTo>
                      <a:pt x="386635" y="112338"/>
                    </a:lnTo>
                    <a:lnTo>
                      <a:pt x="393610" y="66239"/>
                    </a:lnTo>
                    <a:lnTo>
                      <a:pt x="397637" y="19685"/>
                    </a:lnTo>
                    <a:lnTo>
                      <a:pt x="33908"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a:extLst>
                  <a:ext uri="{FF2B5EF4-FFF2-40B4-BE49-F238E27FC236}">
                    <a16:creationId xmlns:a16="http://schemas.microsoft.com/office/drawing/2014/main" id="{B1BA66A9-6FEC-704F-6311-502E775E6FE4}"/>
                  </a:ext>
                </a:extLst>
              </p:cNvPr>
              <p:cNvSpPr/>
              <p:nvPr/>
            </p:nvSpPr>
            <p:spPr>
              <a:xfrm>
                <a:off x="6697852" y="4189727"/>
                <a:ext cx="398145" cy="289560"/>
              </a:xfrm>
              <a:custGeom>
                <a:avLst/>
                <a:gdLst/>
                <a:ahLst/>
                <a:cxnLst/>
                <a:rect l="l" t="t" r="r" b="b"/>
                <a:pathLst>
                  <a:path w="398145" h="289560">
                    <a:moveTo>
                      <a:pt x="397637" y="19685"/>
                    </a:moveTo>
                    <a:lnTo>
                      <a:pt x="393610" y="66239"/>
                    </a:lnTo>
                    <a:lnTo>
                      <a:pt x="386635" y="112338"/>
                    </a:lnTo>
                    <a:lnTo>
                      <a:pt x="376745" y="157845"/>
                    </a:lnTo>
                    <a:lnTo>
                      <a:pt x="363977" y="202621"/>
                    </a:lnTo>
                    <a:lnTo>
                      <a:pt x="348365" y="246529"/>
                    </a:lnTo>
                    <a:lnTo>
                      <a:pt x="329946" y="289433"/>
                    </a:lnTo>
                    <a:lnTo>
                      <a:pt x="324790" y="287018"/>
                    </a:lnTo>
                    <a:lnTo>
                      <a:pt x="288702" y="270113"/>
                    </a:lnTo>
                    <a:lnTo>
                      <a:pt x="190750" y="224228"/>
                    </a:lnTo>
                    <a:lnTo>
                      <a:pt x="0" y="134874"/>
                    </a:lnTo>
                    <a:lnTo>
                      <a:pt x="13299" y="102530"/>
                    </a:lnTo>
                    <a:lnTo>
                      <a:pt x="23431" y="69103"/>
                    </a:lnTo>
                    <a:lnTo>
                      <a:pt x="30325" y="34843"/>
                    </a:lnTo>
                    <a:lnTo>
                      <a:pt x="33908" y="0"/>
                    </a:lnTo>
                    <a:lnTo>
                      <a:pt x="397637" y="1968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a:extLst>
                  <a:ext uri="{FF2B5EF4-FFF2-40B4-BE49-F238E27FC236}">
                    <a16:creationId xmlns:a16="http://schemas.microsoft.com/office/drawing/2014/main" id="{94D96DD9-2C38-5BB6-1B39-48134DF462A2}"/>
                  </a:ext>
                </a:extLst>
              </p:cNvPr>
              <p:cNvSpPr/>
              <p:nvPr/>
            </p:nvSpPr>
            <p:spPr>
              <a:xfrm>
                <a:off x="6635241" y="4324982"/>
                <a:ext cx="392430" cy="340360"/>
              </a:xfrm>
              <a:custGeom>
                <a:avLst/>
                <a:gdLst/>
                <a:ahLst/>
                <a:cxnLst/>
                <a:rect l="l" t="t" r="r" b="b"/>
                <a:pathLst>
                  <a:path w="392429" h="340360">
                    <a:moveTo>
                      <a:pt x="62483" y="0"/>
                    </a:moveTo>
                    <a:lnTo>
                      <a:pt x="49541" y="24915"/>
                    </a:lnTo>
                    <a:lnTo>
                      <a:pt x="34766" y="48736"/>
                    </a:lnTo>
                    <a:lnTo>
                      <a:pt x="18228" y="71366"/>
                    </a:lnTo>
                    <a:lnTo>
                      <a:pt x="0" y="92709"/>
                    </a:lnTo>
                    <a:lnTo>
                      <a:pt x="267334" y="340232"/>
                    </a:lnTo>
                    <a:lnTo>
                      <a:pt x="303861" y="297598"/>
                    </a:lnTo>
                    <a:lnTo>
                      <a:pt x="336946" y="252333"/>
                    </a:lnTo>
                    <a:lnTo>
                      <a:pt x="366436" y="204662"/>
                    </a:lnTo>
                    <a:lnTo>
                      <a:pt x="392175" y="154812"/>
                    </a:lnTo>
                    <a:lnTo>
                      <a:pt x="62483"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82">
                <a:extLst>
                  <a:ext uri="{FF2B5EF4-FFF2-40B4-BE49-F238E27FC236}">
                    <a16:creationId xmlns:a16="http://schemas.microsoft.com/office/drawing/2014/main" id="{8AB885DE-F113-18CB-8532-EAA2F08E7CB7}"/>
                  </a:ext>
                </a:extLst>
              </p:cNvPr>
              <p:cNvSpPr/>
              <p:nvPr/>
            </p:nvSpPr>
            <p:spPr>
              <a:xfrm>
                <a:off x="6635241" y="4324982"/>
                <a:ext cx="392430" cy="340360"/>
              </a:xfrm>
              <a:custGeom>
                <a:avLst/>
                <a:gdLst/>
                <a:ahLst/>
                <a:cxnLst/>
                <a:rect l="l" t="t" r="r" b="b"/>
                <a:pathLst>
                  <a:path w="392429" h="340360">
                    <a:moveTo>
                      <a:pt x="392175" y="154812"/>
                    </a:moveTo>
                    <a:lnTo>
                      <a:pt x="366436" y="204662"/>
                    </a:lnTo>
                    <a:lnTo>
                      <a:pt x="336946" y="252333"/>
                    </a:lnTo>
                    <a:lnTo>
                      <a:pt x="303861" y="297598"/>
                    </a:lnTo>
                    <a:lnTo>
                      <a:pt x="267334" y="340232"/>
                    </a:lnTo>
                    <a:lnTo>
                      <a:pt x="263157" y="336365"/>
                    </a:lnTo>
                    <a:lnTo>
                      <a:pt x="233918" y="309292"/>
                    </a:lnTo>
                    <a:lnTo>
                      <a:pt x="154553" y="235809"/>
                    </a:lnTo>
                    <a:lnTo>
                      <a:pt x="0" y="92709"/>
                    </a:lnTo>
                    <a:lnTo>
                      <a:pt x="18228" y="71366"/>
                    </a:lnTo>
                    <a:lnTo>
                      <a:pt x="34766" y="48736"/>
                    </a:lnTo>
                    <a:lnTo>
                      <a:pt x="49541" y="24915"/>
                    </a:lnTo>
                    <a:lnTo>
                      <a:pt x="62483" y="0"/>
                    </a:lnTo>
                    <a:lnTo>
                      <a:pt x="392175" y="15481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a:extLst>
                  <a:ext uri="{FF2B5EF4-FFF2-40B4-BE49-F238E27FC236}">
                    <a16:creationId xmlns:a16="http://schemas.microsoft.com/office/drawing/2014/main" id="{48697E05-CA20-AE21-BFFC-8C94CC0F4578}"/>
                  </a:ext>
                </a:extLst>
              </p:cNvPr>
              <p:cNvSpPr/>
              <p:nvPr/>
            </p:nvSpPr>
            <p:spPr>
              <a:xfrm>
                <a:off x="6563867" y="4417946"/>
                <a:ext cx="338455" cy="367030"/>
              </a:xfrm>
              <a:custGeom>
                <a:avLst/>
                <a:gdLst/>
                <a:ahLst/>
                <a:cxnLst/>
                <a:rect l="l" t="t" r="r" b="b"/>
                <a:pathLst>
                  <a:path w="338454" h="367029">
                    <a:moveTo>
                      <a:pt x="71120" y="0"/>
                    </a:moveTo>
                    <a:lnTo>
                      <a:pt x="54792" y="16517"/>
                    </a:lnTo>
                    <a:lnTo>
                      <a:pt x="37465" y="31940"/>
                    </a:lnTo>
                    <a:lnTo>
                      <a:pt x="19184" y="46220"/>
                    </a:lnTo>
                    <a:lnTo>
                      <a:pt x="0" y="59308"/>
                    </a:lnTo>
                    <a:lnTo>
                      <a:pt x="195960" y="366521"/>
                    </a:lnTo>
                    <a:lnTo>
                      <a:pt x="234277" y="340270"/>
                    </a:lnTo>
                    <a:lnTo>
                      <a:pt x="270843" y="311673"/>
                    </a:lnTo>
                    <a:lnTo>
                      <a:pt x="305528" y="280814"/>
                    </a:lnTo>
                    <a:lnTo>
                      <a:pt x="338200" y="247776"/>
                    </a:lnTo>
                    <a:lnTo>
                      <a:pt x="71120"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84">
                <a:extLst>
                  <a:ext uri="{FF2B5EF4-FFF2-40B4-BE49-F238E27FC236}">
                    <a16:creationId xmlns:a16="http://schemas.microsoft.com/office/drawing/2014/main" id="{82A0097A-9EE9-A23F-4112-A2AD7F689DDC}"/>
                  </a:ext>
                </a:extLst>
              </p:cNvPr>
              <p:cNvSpPr/>
              <p:nvPr/>
            </p:nvSpPr>
            <p:spPr>
              <a:xfrm>
                <a:off x="6563867" y="4417946"/>
                <a:ext cx="338455" cy="367030"/>
              </a:xfrm>
              <a:custGeom>
                <a:avLst/>
                <a:gdLst/>
                <a:ahLst/>
                <a:cxnLst/>
                <a:rect l="l" t="t" r="r" b="b"/>
                <a:pathLst>
                  <a:path w="338454" h="367029">
                    <a:moveTo>
                      <a:pt x="338200" y="247776"/>
                    </a:moveTo>
                    <a:lnTo>
                      <a:pt x="305528" y="280814"/>
                    </a:lnTo>
                    <a:lnTo>
                      <a:pt x="270843" y="311673"/>
                    </a:lnTo>
                    <a:lnTo>
                      <a:pt x="234277" y="340270"/>
                    </a:lnTo>
                    <a:lnTo>
                      <a:pt x="195960" y="366521"/>
                    </a:lnTo>
                    <a:lnTo>
                      <a:pt x="192899" y="361721"/>
                    </a:lnTo>
                    <a:lnTo>
                      <a:pt x="171465" y="328120"/>
                    </a:lnTo>
                    <a:lnTo>
                      <a:pt x="113289" y="236916"/>
                    </a:lnTo>
                    <a:lnTo>
                      <a:pt x="0" y="59308"/>
                    </a:lnTo>
                    <a:lnTo>
                      <a:pt x="19184" y="46220"/>
                    </a:lnTo>
                    <a:lnTo>
                      <a:pt x="37465" y="31940"/>
                    </a:lnTo>
                    <a:lnTo>
                      <a:pt x="54792" y="16517"/>
                    </a:lnTo>
                    <a:lnTo>
                      <a:pt x="71120" y="0"/>
                    </a:lnTo>
                    <a:lnTo>
                      <a:pt x="338200" y="2477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a:extLst>
                  <a:ext uri="{FF2B5EF4-FFF2-40B4-BE49-F238E27FC236}">
                    <a16:creationId xmlns:a16="http://schemas.microsoft.com/office/drawing/2014/main" id="{C2922B2D-EC1A-5515-745D-3CF6CF713EFC}"/>
                  </a:ext>
                </a:extLst>
              </p:cNvPr>
              <p:cNvSpPr/>
              <p:nvPr/>
            </p:nvSpPr>
            <p:spPr>
              <a:xfrm>
                <a:off x="6482841" y="4477509"/>
                <a:ext cx="276860" cy="384175"/>
              </a:xfrm>
              <a:custGeom>
                <a:avLst/>
                <a:gdLst/>
                <a:ahLst/>
                <a:cxnLst/>
                <a:rect l="l" t="t" r="r" b="b"/>
                <a:pathLst>
                  <a:path w="276859" h="384175">
                    <a:moveTo>
                      <a:pt x="80644" y="0"/>
                    </a:moveTo>
                    <a:lnTo>
                      <a:pt x="61418" y="11422"/>
                    </a:lnTo>
                    <a:lnTo>
                      <a:pt x="41513" y="21653"/>
                    </a:lnTo>
                    <a:lnTo>
                      <a:pt x="21012" y="30646"/>
                    </a:lnTo>
                    <a:lnTo>
                      <a:pt x="0" y="38353"/>
                    </a:lnTo>
                    <a:lnTo>
                      <a:pt x="114808" y="384048"/>
                    </a:lnTo>
                    <a:lnTo>
                      <a:pt x="156890" y="368651"/>
                    </a:lnTo>
                    <a:lnTo>
                      <a:pt x="197913" y="350694"/>
                    </a:lnTo>
                    <a:lnTo>
                      <a:pt x="237769" y="330237"/>
                    </a:lnTo>
                    <a:lnTo>
                      <a:pt x="276352" y="307339"/>
                    </a:lnTo>
                    <a:lnTo>
                      <a:pt x="80644"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a:extLst>
                  <a:ext uri="{FF2B5EF4-FFF2-40B4-BE49-F238E27FC236}">
                    <a16:creationId xmlns:a16="http://schemas.microsoft.com/office/drawing/2014/main" id="{82289B90-FBB8-FE26-A652-99A3FFECFAB3}"/>
                  </a:ext>
                </a:extLst>
              </p:cNvPr>
              <p:cNvSpPr/>
              <p:nvPr/>
            </p:nvSpPr>
            <p:spPr>
              <a:xfrm>
                <a:off x="6482841" y="4477509"/>
                <a:ext cx="276860" cy="384175"/>
              </a:xfrm>
              <a:custGeom>
                <a:avLst/>
                <a:gdLst/>
                <a:ahLst/>
                <a:cxnLst/>
                <a:rect l="l" t="t" r="r" b="b"/>
                <a:pathLst>
                  <a:path w="276859" h="384175">
                    <a:moveTo>
                      <a:pt x="276352" y="307339"/>
                    </a:moveTo>
                    <a:lnTo>
                      <a:pt x="237769" y="330237"/>
                    </a:lnTo>
                    <a:lnTo>
                      <a:pt x="197913" y="350694"/>
                    </a:lnTo>
                    <a:lnTo>
                      <a:pt x="156890" y="368651"/>
                    </a:lnTo>
                    <a:lnTo>
                      <a:pt x="114808" y="384048"/>
                    </a:lnTo>
                    <a:lnTo>
                      <a:pt x="113014" y="378646"/>
                    </a:lnTo>
                    <a:lnTo>
                      <a:pt x="100457" y="340836"/>
                    </a:lnTo>
                    <a:lnTo>
                      <a:pt x="66373" y="238208"/>
                    </a:lnTo>
                    <a:lnTo>
                      <a:pt x="0" y="38353"/>
                    </a:lnTo>
                    <a:lnTo>
                      <a:pt x="21012" y="30646"/>
                    </a:lnTo>
                    <a:lnTo>
                      <a:pt x="41513" y="21653"/>
                    </a:lnTo>
                    <a:lnTo>
                      <a:pt x="61418" y="11422"/>
                    </a:lnTo>
                    <a:lnTo>
                      <a:pt x="80644" y="0"/>
                    </a:lnTo>
                    <a:lnTo>
                      <a:pt x="276352" y="307339"/>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7">
                <a:extLst>
                  <a:ext uri="{FF2B5EF4-FFF2-40B4-BE49-F238E27FC236}">
                    <a16:creationId xmlns:a16="http://schemas.microsoft.com/office/drawing/2014/main" id="{8137077F-6823-73B9-B48D-A56504EF6ADF}"/>
                  </a:ext>
                </a:extLst>
              </p:cNvPr>
              <p:cNvSpPr/>
              <p:nvPr/>
            </p:nvSpPr>
            <p:spPr>
              <a:xfrm>
                <a:off x="6401688" y="4515990"/>
                <a:ext cx="195580" cy="379730"/>
              </a:xfrm>
              <a:custGeom>
                <a:avLst/>
                <a:gdLst/>
                <a:ahLst/>
                <a:cxnLst/>
                <a:rect l="l" t="t" r="r" b="b"/>
                <a:pathLst>
                  <a:path w="195579" h="379729">
                    <a:moveTo>
                      <a:pt x="80772" y="0"/>
                    </a:moveTo>
                    <a:lnTo>
                      <a:pt x="60971" y="5925"/>
                    </a:lnTo>
                    <a:lnTo>
                      <a:pt x="40862" y="10731"/>
                    </a:lnTo>
                    <a:lnTo>
                      <a:pt x="20514" y="14394"/>
                    </a:lnTo>
                    <a:lnTo>
                      <a:pt x="0" y="16890"/>
                    </a:lnTo>
                    <a:lnTo>
                      <a:pt x="33782" y="379602"/>
                    </a:lnTo>
                    <a:lnTo>
                      <a:pt x="74793" y="374628"/>
                    </a:lnTo>
                    <a:lnTo>
                      <a:pt x="115458" y="367331"/>
                    </a:lnTo>
                    <a:lnTo>
                      <a:pt x="155672" y="357725"/>
                    </a:lnTo>
                    <a:lnTo>
                      <a:pt x="195326" y="345821"/>
                    </a:lnTo>
                    <a:lnTo>
                      <a:pt x="80772"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8">
                <a:extLst>
                  <a:ext uri="{FF2B5EF4-FFF2-40B4-BE49-F238E27FC236}">
                    <a16:creationId xmlns:a16="http://schemas.microsoft.com/office/drawing/2014/main" id="{F6994134-6B78-5A2A-1343-FAAF36B09E2D}"/>
                  </a:ext>
                </a:extLst>
              </p:cNvPr>
              <p:cNvSpPr/>
              <p:nvPr/>
            </p:nvSpPr>
            <p:spPr>
              <a:xfrm>
                <a:off x="6401688" y="4515990"/>
                <a:ext cx="195580" cy="379730"/>
              </a:xfrm>
              <a:custGeom>
                <a:avLst/>
                <a:gdLst/>
                <a:ahLst/>
                <a:cxnLst/>
                <a:rect l="l" t="t" r="r" b="b"/>
                <a:pathLst>
                  <a:path w="195579" h="379729">
                    <a:moveTo>
                      <a:pt x="195326" y="345821"/>
                    </a:moveTo>
                    <a:lnTo>
                      <a:pt x="155672" y="357725"/>
                    </a:lnTo>
                    <a:lnTo>
                      <a:pt x="115458" y="367331"/>
                    </a:lnTo>
                    <a:lnTo>
                      <a:pt x="74793" y="374628"/>
                    </a:lnTo>
                    <a:lnTo>
                      <a:pt x="33782" y="379602"/>
                    </a:lnTo>
                    <a:lnTo>
                      <a:pt x="33254" y="373935"/>
                    </a:lnTo>
                    <a:lnTo>
                      <a:pt x="29559" y="334263"/>
                    </a:lnTo>
                    <a:lnTo>
                      <a:pt x="19530" y="226583"/>
                    </a:lnTo>
                    <a:lnTo>
                      <a:pt x="0" y="16890"/>
                    </a:lnTo>
                    <a:lnTo>
                      <a:pt x="20514" y="14394"/>
                    </a:lnTo>
                    <a:lnTo>
                      <a:pt x="40862" y="10731"/>
                    </a:lnTo>
                    <a:lnTo>
                      <a:pt x="60971" y="5925"/>
                    </a:lnTo>
                    <a:lnTo>
                      <a:pt x="80772" y="0"/>
                    </a:lnTo>
                    <a:lnTo>
                      <a:pt x="195326" y="345821"/>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a:extLst>
                  <a:ext uri="{FF2B5EF4-FFF2-40B4-BE49-F238E27FC236}">
                    <a16:creationId xmlns:a16="http://schemas.microsoft.com/office/drawing/2014/main" id="{7BA8D150-4F62-0715-D05F-17FF26F923AB}"/>
                  </a:ext>
                </a:extLst>
              </p:cNvPr>
              <p:cNvSpPr/>
              <p:nvPr/>
            </p:nvSpPr>
            <p:spPr>
              <a:xfrm>
                <a:off x="6274688" y="4531484"/>
                <a:ext cx="160020" cy="367665"/>
              </a:xfrm>
              <a:custGeom>
                <a:avLst/>
                <a:gdLst/>
                <a:ahLst/>
                <a:cxnLst/>
                <a:rect l="l" t="t" r="r" b="b"/>
                <a:pathLst>
                  <a:path w="160020" h="367664">
                    <a:moveTo>
                      <a:pt x="46609" y="0"/>
                    </a:moveTo>
                    <a:lnTo>
                      <a:pt x="0" y="361314"/>
                    </a:lnTo>
                    <a:lnTo>
                      <a:pt x="39915" y="365343"/>
                    </a:lnTo>
                    <a:lnTo>
                      <a:pt x="79962" y="367157"/>
                    </a:lnTo>
                    <a:lnTo>
                      <a:pt x="120032" y="366779"/>
                    </a:lnTo>
                    <a:lnTo>
                      <a:pt x="160020" y="364236"/>
                    </a:lnTo>
                    <a:lnTo>
                      <a:pt x="126619" y="1396"/>
                    </a:lnTo>
                    <a:lnTo>
                      <a:pt x="106598" y="2678"/>
                    </a:lnTo>
                    <a:lnTo>
                      <a:pt x="86566" y="2889"/>
                    </a:lnTo>
                    <a:lnTo>
                      <a:pt x="66557" y="2004"/>
                    </a:lnTo>
                    <a:lnTo>
                      <a:pt x="4660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90">
                <a:extLst>
                  <a:ext uri="{FF2B5EF4-FFF2-40B4-BE49-F238E27FC236}">
                    <a16:creationId xmlns:a16="http://schemas.microsoft.com/office/drawing/2014/main" id="{E4714050-74E4-0211-E30F-F7FB0D93FFB6}"/>
                  </a:ext>
                </a:extLst>
              </p:cNvPr>
              <p:cNvSpPr/>
              <p:nvPr/>
            </p:nvSpPr>
            <p:spPr>
              <a:xfrm>
                <a:off x="6274688" y="4531484"/>
                <a:ext cx="160020" cy="367665"/>
              </a:xfrm>
              <a:custGeom>
                <a:avLst/>
                <a:gdLst/>
                <a:ahLst/>
                <a:cxnLst/>
                <a:rect l="l" t="t" r="r" b="b"/>
                <a:pathLst>
                  <a:path w="160020" h="367664">
                    <a:moveTo>
                      <a:pt x="160020" y="364236"/>
                    </a:moveTo>
                    <a:lnTo>
                      <a:pt x="120032" y="366779"/>
                    </a:lnTo>
                    <a:lnTo>
                      <a:pt x="79962" y="367157"/>
                    </a:lnTo>
                    <a:lnTo>
                      <a:pt x="39915" y="365343"/>
                    </a:lnTo>
                    <a:lnTo>
                      <a:pt x="0" y="361314"/>
                    </a:lnTo>
                    <a:lnTo>
                      <a:pt x="728" y="355669"/>
                    </a:lnTo>
                    <a:lnTo>
                      <a:pt x="5826" y="316150"/>
                    </a:lnTo>
                    <a:lnTo>
                      <a:pt x="19663" y="208885"/>
                    </a:lnTo>
                    <a:lnTo>
                      <a:pt x="46609" y="0"/>
                    </a:lnTo>
                    <a:lnTo>
                      <a:pt x="66557" y="2004"/>
                    </a:lnTo>
                    <a:lnTo>
                      <a:pt x="86566" y="2889"/>
                    </a:lnTo>
                    <a:lnTo>
                      <a:pt x="106598" y="2678"/>
                    </a:lnTo>
                    <a:lnTo>
                      <a:pt x="126619" y="1396"/>
                    </a:lnTo>
                    <a:lnTo>
                      <a:pt x="160020" y="36423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91">
                <a:extLst>
                  <a:ext uri="{FF2B5EF4-FFF2-40B4-BE49-F238E27FC236}">
                    <a16:creationId xmlns:a16="http://schemas.microsoft.com/office/drawing/2014/main" id="{AF505058-9144-D6DF-3A87-ED1C79D8FF2C}"/>
                  </a:ext>
                </a:extLst>
              </p:cNvPr>
              <p:cNvSpPr/>
              <p:nvPr/>
            </p:nvSpPr>
            <p:spPr>
              <a:xfrm>
                <a:off x="5639197" y="3441443"/>
                <a:ext cx="728345" cy="1451610"/>
              </a:xfrm>
              <a:custGeom>
                <a:avLst/>
                <a:gdLst/>
                <a:ahLst/>
                <a:cxnLst/>
                <a:rect l="l" t="t" r="r" b="b"/>
                <a:pathLst>
                  <a:path w="728345" h="1451610">
                    <a:moveTo>
                      <a:pt x="727693" y="0"/>
                    </a:moveTo>
                    <a:lnTo>
                      <a:pt x="680064" y="1599"/>
                    </a:lnTo>
                    <a:lnTo>
                      <a:pt x="633222" y="6210"/>
                    </a:lnTo>
                    <a:lnTo>
                      <a:pt x="587267" y="13740"/>
                    </a:lnTo>
                    <a:lnTo>
                      <a:pt x="542297" y="24095"/>
                    </a:lnTo>
                    <a:lnTo>
                      <a:pt x="498411" y="37183"/>
                    </a:lnTo>
                    <a:lnTo>
                      <a:pt x="455706" y="52913"/>
                    </a:lnTo>
                    <a:lnTo>
                      <a:pt x="414282" y="71191"/>
                    </a:lnTo>
                    <a:lnTo>
                      <a:pt x="374238" y="91924"/>
                    </a:lnTo>
                    <a:lnTo>
                      <a:pt x="335671" y="115021"/>
                    </a:lnTo>
                    <a:lnTo>
                      <a:pt x="298680" y="140388"/>
                    </a:lnTo>
                    <a:lnTo>
                      <a:pt x="263364" y="167933"/>
                    </a:lnTo>
                    <a:lnTo>
                      <a:pt x="229821" y="197564"/>
                    </a:lnTo>
                    <a:lnTo>
                      <a:pt x="198150" y="229188"/>
                    </a:lnTo>
                    <a:lnTo>
                      <a:pt x="168450" y="262712"/>
                    </a:lnTo>
                    <a:lnTo>
                      <a:pt x="140819" y="298044"/>
                    </a:lnTo>
                    <a:lnTo>
                      <a:pt x="115355" y="335091"/>
                    </a:lnTo>
                    <a:lnTo>
                      <a:pt x="92158" y="373762"/>
                    </a:lnTo>
                    <a:lnTo>
                      <a:pt x="71325" y="413962"/>
                    </a:lnTo>
                    <a:lnTo>
                      <a:pt x="52956" y="455600"/>
                    </a:lnTo>
                    <a:lnTo>
                      <a:pt x="37148" y="498583"/>
                    </a:lnTo>
                    <a:lnTo>
                      <a:pt x="24001" y="542819"/>
                    </a:lnTo>
                    <a:lnTo>
                      <a:pt x="13612" y="588215"/>
                    </a:lnTo>
                    <a:lnTo>
                      <a:pt x="6081" y="634678"/>
                    </a:lnTo>
                    <a:lnTo>
                      <a:pt x="1507" y="682116"/>
                    </a:lnTo>
                    <a:lnTo>
                      <a:pt x="0" y="729751"/>
                    </a:lnTo>
                    <a:lnTo>
                      <a:pt x="1548" y="776796"/>
                    </a:lnTo>
                    <a:lnTo>
                      <a:pt x="6067" y="823147"/>
                    </a:lnTo>
                    <a:lnTo>
                      <a:pt x="13470" y="868698"/>
                    </a:lnTo>
                    <a:lnTo>
                      <a:pt x="23671" y="913347"/>
                    </a:lnTo>
                    <a:lnTo>
                      <a:pt x="36585" y="956988"/>
                    </a:lnTo>
                    <a:lnTo>
                      <a:pt x="52124" y="999517"/>
                    </a:lnTo>
                    <a:lnTo>
                      <a:pt x="70204" y="1040830"/>
                    </a:lnTo>
                    <a:lnTo>
                      <a:pt x="90739" y="1080823"/>
                    </a:lnTo>
                    <a:lnTo>
                      <a:pt x="113642" y="1119390"/>
                    </a:lnTo>
                    <a:lnTo>
                      <a:pt x="138828" y="1156427"/>
                    </a:lnTo>
                    <a:lnTo>
                      <a:pt x="166210" y="1191831"/>
                    </a:lnTo>
                    <a:lnTo>
                      <a:pt x="195703" y="1225496"/>
                    </a:lnTo>
                    <a:lnTo>
                      <a:pt x="227221" y="1257319"/>
                    </a:lnTo>
                    <a:lnTo>
                      <a:pt x="260677" y="1287195"/>
                    </a:lnTo>
                    <a:lnTo>
                      <a:pt x="295987" y="1315019"/>
                    </a:lnTo>
                    <a:lnTo>
                      <a:pt x="333063" y="1340687"/>
                    </a:lnTo>
                    <a:lnTo>
                      <a:pt x="371821" y="1364095"/>
                    </a:lnTo>
                    <a:lnTo>
                      <a:pt x="412174" y="1385138"/>
                    </a:lnTo>
                    <a:lnTo>
                      <a:pt x="454035" y="1403712"/>
                    </a:lnTo>
                    <a:lnTo>
                      <a:pt x="497320" y="1419712"/>
                    </a:lnTo>
                    <a:lnTo>
                      <a:pt x="541943" y="1433035"/>
                    </a:lnTo>
                    <a:lnTo>
                      <a:pt x="587817" y="1443575"/>
                    </a:lnTo>
                    <a:lnTo>
                      <a:pt x="634856" y="1451228"/>
                    </a:lnTo>
                    <a:lnTo>
                      <a:pt x="681719" y="1089914"/>
                    </a:lnTo>
                    <a:lnTo>
                      <a:pt x="635265" y="1080831"/>
                    </a:lnTo>
                    <a:lnTo>
                      <a:pt x="591318" y="1066182"/>
                    </a:lnTo>
                    <a:lnTo>
                      <a:pt x="550220" y="1046382"/>
                    </a:lnTo>
                    <a:lnTo>
                      <a:pt x="512315" y="1021851"/>
                    </a:lnTo>
                    <a:lnTo>
                      <a:pt x="477944" y="993005"/>
                    </a:lnTo>
                    <a:lnTo>
                      <a:pt x="447451" y="960262"/>
                    </a:lnTo>
                    <a:lnTo>
                      <a:pt x="421178" y="924040"/>
                    </a:lnTo>
                    <a:lnTo>
                      <a:pt x="399468" y="884757"/>
                    </a:lnTo>
                    <a:lnTo>
                      <a:pt x="382663" y="842829"/>
                    </a:lnTo>
                    <a:lnTo>
                      <a:pt x="371107" y="798675"/>
                    </a:lnTo>
                    <a:lnTo>
                      <a:pt x="365141" y="752712"/>
                    </a:lnTo>
                    <a:lnTo>
                      <a:pt x="365108" y="705357"/>
                    </a:lnTo>
                    <a:lnTo>
                      <a:pt x="371173" y="658421"/>
                    </a:lnTo>
                    <a:lnTo>
                      <a:pt x="382946" y="613618"/>
                    </a:lnTo>
                    <a:lnTo>
                      <a:pt x="400035" y="571317"/>
                    </a:lnTo>
                    <a:lnTo>
                      <a:pt x="422046" y="531890"/>
                    </a:lnTo>
                    <a:lnTo>
                      <a:pt x="448587" y="495706"/>
                    </a:lnTo>
                    <a:lnTo>
                      <a:pt x="479265" y="463137"/>
                    </a:lnTo>
                    <a:lnTo>
                      <a:pt x="513686" y="434552"/>
                    </a:lnTo>
                    <a:lnTo>
                      <a:pt x="551459" y="410322"/>
                    </a:lnTo>
                    <a:lnTo>
                      <a:pt x="592190" y="390818"/>
                    </a:lnTo>
                    <a:lnTo>
                      <a:pt x="635485" y="376410"/>
                    </a:lnTo>
                    <a:lnTo>
                      <a:pt x="680953" y="367468"/>
                    </a:lnTo>
                    <a:lnTo>
                      <a:pt x="728201" y="364362"/>
                    </a:lnTo>
                    <a:lnTo>
                      <a:pt x="727693"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a:extLst>
                  <a:ext uri="{FF2B5EF4-FFF2-40B4-BE49-F238E27FC236}">
                    <a16:creationId xmlns:a16="http://schemas.microsoft.com/office/drawing/2014/main" id="{58532A04-6C0C-9A4B-FDDD-941BF4020A26}"/>
                  </a:ext>
                </a:extLst>
              </p:cNvPr>
              <p:cNvSpPr/>
              <p:nvPr/>
            </p:nvSpPr>
            <p:spPr>
              <a:xfrm>
                <a:off x="5639197" y="3441443"/>
                <a:ext cx="728345" cy="1451610"/>
              </a:xfrm>
              <a:custGeom>
                <a:avLst/>
                <a:gdLst/>
                <a:ahLst/>
                <a:cxnLst/>
                <a:rect l="l" t="t" r="r" b="b"/>
                <a:pathLst>
                  <a:path w="728345" h="1451610">
                    <a:moveTo>
                      <a:pt x="634856" y="1451228"/>
                    </a:moveTo>
                    <a:lnTo>
                      <a:pt x="587817" y="1443575"/>
                    </a:lnTo>
                    <a:lnTo>
                      <a:pt x="541943" y="1433035"/>
                    </a:lnTo>
                    <a:lnTo>
                      <a:pt x="497320" y="1419712"/>
                    </a:lnTo>
                    <a:lnTo>
                      <a:pt x="454035" y="1403712"/>
                    </a:lnTo>
                    <a:lnTo>
                      <a:pt x="412174" y="1385138"/>
                    </a:lnTo>
                    <a:lnTo>
                      <a:pt x="371821" y="1364095"/>
                    </a:lnTo>
                    <a:lnTo>
                      <a:pt x="333063" y="1340687"/>
                    </a:lnTo>
                    <a:lnTo>
                      <a:pt x="295987" y="1315019"/>
                    </a:lnTo>
                    <a:lnTo>
                      <a:pt x="260677" y="1287195"/>
                    </a:lnTo>
                    <a:lnTo>
                      <a:pt x="227221" y="1257319"/>
                    </a:lnTo>
                    <a:lnTo>
                      <a:pt x="195703" y="1225496"/>
                    </a:lnTo>
                    <a:lnTo>
                      <a:pt x="166210" y="1191831"/>
                    </a:lnTo>
                    <a:lnTo>
                      <a:pt x="138828" y="1156427"/>
                    </a:lnTo>
                    <a:lnTo>
                      <a:pt x="113642" y="1119390"/>
                    </a:lnTo>
                    <a:lnTo>
                      <a:pt x="90739" y="1080823"/>
                    </a:lnTo>
                    <a:lnTo>
                      <a:pt x="70204" y="1040830"/>
                    </a:lnTo>
                    <a:lnTo>
                      <a:pt x="52124" y="999517"/>
                    </a:lnTo>
                    <a:lnTo>
                      <a:pt x="36585" y="956988"/>
                    </a:lnTo>
                    <a:lnTo>
                      <a:pt x="23671" y="913347"/>
                    </a:lnTo>
                    <a:lnTo>
                      <a:pt x="13470" y="868698"/>
                    </a:lnTo>
                    <a:lnTo>
                      <a:pt x="6067" y="823147"/>
                    </a:lnTo>
                    <a:lnTo>
                      <a:pt x="1548" y="776796"/>
                    </a:lnTo>
                    <a:lnTo>
                      <a:pt x="0" y="729751"/>
                    </a:lnTo>
                    <a:lnTo>
                      <a:pt x="1507" y="682116"/>
                    </a:lnTo>
                    <a:lnTo>
                      <a:pt x="6081" y="634678"/>
                    </a:lnTo>
                    <a:lnTo>
                      <a:pt x="13612" y="588215"/>
                    </a:lnTo>
                    <a:lnTo>
                      <a:pt x="24001" y="542819"/>
                    </a:lnTo>
                    <a:lnTo>
                      <a:pt x="37148" y="498583"/>
                    </a:lnTo>
                    <a:lnTo>
                      <a:pt x="52956" y="455600"/>
                    </a:lnTo>
                    <a:lnTo>
                      <a:pt x="71325" y="413962"/>
                    </a:lnTo>
                    <a:lnTo>
                      <a:pt x="92158" y="373762"/>
                    </a:lnTo>
                    <a:lnTo>
                      <a:pt x="115355" y="335091"/>
                    </a:lnTo>
                    <a:lnTo>
                      <a:pt x="140819" y="298044"/>
                    </a:lnTo>
                    <a:lnTo>
                      <a:pt x="168450" y="262712"/>
                    </a:lnTo>
                    <a:lnTo>
                      <a:pt x="198150" y="229188"/>
                    </a:lnTo>
                    <a:lnTo>
                      <a:pt x="229821" y="197564"/>
                    </a:lnTo>
                    <a:lnTo>
                      <a:pt x="263364" y="167933"/>
                    </a:lnTo>
                    <a:lnTo>
                      <a:pt x="298680" y="140388"/>
                    </a:lnTo>
                    <a:lnTo>
                      <a:pt x="335671" y="115021"/>
                    </a:lnTo>
                    <a:lnTo>
                      <a:pt x="374238" y="91924"/>
                    </a:lnTo>
                    <a:lnTo>
                      <a:pt x="414282" y="71191"/>
                    </a:lnTo>
                    <a:lnTo>
                      <a:pt x="455706" y="52913"/>
                    </a:lnTo>
                    <a:lnTo>
                      <a:pt x="498411" y="37183"/>
                    </a:lnTo>
                    <a:lnTo>
                      <a:pt x="542297" y="24095"/>
                    </a:lnTo>
                    <a:lnTo>
                      <a:pt x="587267" y="13740"/>
                    </a:lnTo>
                    <a:lnTo>
                      <a:pt x="633222" y="6210"/>
                    </a:lnTo>
                    <a:lnTo>
                      <a:pt x="680064" y="1599"/>
                    </a:lnTo>
                    <a:lnTo>
                      <a:pt x="727693" y="0"/>
                    </a:lnTo>
                    <a:lnTo>
                      <a:pt x="727701" y="5693"/>
                    </a:lnTo>
                    <a:lnTo>
                      <a:pt x="727756" y="45545"/>
                    </a:lnTo>
                    <a:lnTo>
                      <a:pt x="727907" y="153715"/>
                    </a:lnTo>
                    <a:lnTo>
                      <a:pt x="728201" y="364362"/>
                    </a:lnTo>
                    <a:lnTo>
                      <a:pt x="680953" y="367468"/>
                    </a:lnTo>
                    <a:lnTo>
                      <a:pt x="635485" y="376410"/>
                    </a:lnTo>
                    <a:lnTo>
                      <a:pt x="592190" y="390818"/>
                    </a:lnTo>
                    <a:lnTo>
                      <a:pt x="551459" y="410322"/>
                    </a:lnTo>
                    <a:lnTo>
                      <a:pt x="513686" y="434552"/>
                    </a:lnTo>
                    <a:lnTo>
                      <a:pt x="479265" y="463137"/>
                    </a:lnTo>
                    <a:lnTo>
                      <a:pt x="448587" y="495706"/>
                    </a:lnTo>
                    <a:lnTo>
                      <a:pt x="422046" y="531890"/>
                    </a:lnTo>
                    <a:lnTo>
                      <a:pt x="400035" y="571317"/>
                    </a:lnTo>
                    <a:lnTo>
                      <a:pt x="382946" y="613618"/>
                    </a:lnTo>
                    <a:lnTo>
                      <a:pt x="371173" y="658421"/>
                    </a:lnTo>
                    <a:lnTo>
                      <a:pt x="365108" y="705357"/>
                    </a:lnTo>
                    <a:lnTo>
                      <a:pt x="365141" y="752712"/>
                    </a:lnTo>
                    <a:lnTo>
                      <a:pt x="371107" y="798675"/>
                    </a:lnTo>
                    <a:lnTo>
                      <a:pt x="382663" y="842829"/>
                    </a:lnTo>
                    <a:lnTo>
                      <a:pt x="399468" y="884757"/>
                    </a:lnTo>
                    <a:lnTo>
                      <a:pt x="421178" y="924040"/>
                    </a:lnTo>
                    <a:lnTo>
                      <a:pt x="447451" y="960262"/>
                    </a:lnTo>
                    <a:lnTo>
                      <a:pt x="477944" y="993005"/>
                    </a:lnTo>
                    <a:lnTo>
                      <a:pt x="512315" y="1021851"/>
                    </a:lnTo>
                    <a:lnTo>
                      <a:pt x="550220" y="1046382"/>
                    </a:lnTo>
                    <a:lnTo>
                      <a:pt x="591318" y="1066182"/>
                    </a:lnTo>
                    <a:lnTo>
                      <a:pt x="635265" y="1080831"/>
                    </a:lnTo>
                    <a:lnTo>
                      <a:pt x="681719" y="1089914"/>
                    </a:lnTo>
                    <a:lnTo>
                      <a:pt x="634856" y="145122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sp>
        <p:nvSpPr>
          <p:cNvPr id="46" name="object 43">
            <a:extLst>
              <a:ext uri="{FF2B5EF4-FFF2-40B4-BE49-F238E27FC236}">
                <a16:creationId xmlns:a16="http://schemas.microsoft.com/office/drawing/2014/main" id="{4D4599E0-45D3-D529-FD3E-0C75EFA0404C}"/>
              </a:ext>
            </a:extLst>
          </p:cNvPr>
          <p:cNvSpPr txBox="1"/>
          <p:nvPr/>
        </p:nvSpPr>
        <p:spPr>
          <a:xfrm>
            <a:off x="2458300" y="7052750"/>
            <a:ext cx="4093845" cy="265778"/>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Sector data is sourced from </a:t>
            </a:r>
            <a:r>
              <a:rPr kumimoji="0" sz="800" b="0" i="0" u="none" strike="noStrike" kern="0" cap="none" spc="0" normalizeH="0" baseline="0" noProof="0" err="1">
                <a:ln>
                  <a:noFill/>
                </a:ln>
                <a:solidFill>
                  <a:srgbClr val="142764"/>
                </a:solidFill>
                <a:effectLst/>
                <a:uLnTx/>
                <a:uFillTx/>
                <a:latin typeface="Zurich Sans Light"/>
                <a:cs typeface="Zurich Sans Light"/>
              </a:rPr>
              <a:t>FEfundinfo</a:t>
            </a:r>
            <a:r>
              <a:rPr kumimoji="0" sz="800" b="0" i="0" u="none" strike="noStrike" kern="0" cap="none" spc="0" normalizeH="0" baseline="0" noProof="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pic>
        <p:nvPicPr>
          <p:cNvPr id="49" name="Picture 48">
            <a:extLst>
              <a:ext uri="{FF2B5EF4-FFF2-40B4-BE49-F238E27FC236}">
                <a16:creationId xmlns:a16="http://schemas.microsoft.com/office/drawing/2014/main" id="{ECE71859-03CA-6121-8068-DBA9D766758C}"/>
              </a:ext>
            </a:extLst>
          </p:cNvPr>
          <p:cNvPicPr>
            <a:picLocks noChangeAspect="1"/>
          </p:cNvPicPr>
          <p:nvPr/>
        </p:nvPicPr>
        <p:blipFill>
          <a:blip r:embed="rId2"/>
          <a:stretch>
            <a:fillRect/>
          </a:stretch>
        </p:blipFill>
        <p:spPr>
          <a:xfrm>
            <a:off x="2467778" y="5295402"/>
            <a:ext cx="4098296" cy="1660801"/>
          </a:xfrm>
          <a:prstGeom prst="rect">
            <a:avLst/>
          </a:prstGeom>
        </p:spPr>
      </p:pic>
      <p:sp>
        <p:nvSpPr>
          <p:cNvPr id="51" name="object 6">
            <a:extLst>
              <a:ext uri="{FF2B5EF4-FFF2-40B4-BE49-F238E27FC236}">
                <a16:creationId xmlns:a16="http://schemas.microsoft.com/office/drawing/2014/main" id="{0EE9FF5A-3DA9-6A19-977F-45C1071F4A15}"/>
              </a:ext>
            </a:extLst>
          </p:cNvPr>
          <p:cNvSpPr/>
          <p:nvPr/>
        </p:nvSpPr>
        <p:spPr>
          <a:xfrm>
            <a:off x="2478891" y="2347086"/>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27">
            <a:extLst>
              <a:ext uri="{FF2B5EF4-FFF2-40B4-BE49-F238E27FC236}">
                <a16:creationId xmlns:a16="http://schemas.microsoft.com/office/drawing/2014/main" id="{E971F29D-7C50-E602-858E-546B585399B5}"/>
              </a:ext>
            </a:extLst>
          </p:cNvPr>
          <p:cNvSpPr txBox="1"/>
          <p:nvPr/>
        </p:nvSpPr>
        <p:spPr>
          <a:xfrm>
            <a:off x="4776433" y="2352190"/>
            <a:ext cx="422274"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a:t>
            </a:r>
            <a:r>
              <a:rPr kumimoji="0" lang="en-GB" sz="800" b="0" i="0" u="none" strike="noStrike" kern="0" cap="none" spc="-10" normalizeH="0" baseline="0" noProof="0">
                <a:ln>
                  <a:noFill/>
                </a:ln>
                <a:solidFill>
                  <a:srgbClr val="142764"/>
                </a:solidFill>
                <a:effectLst/>
                <a:uLnTx/>
                <a:uFillTx/>
                <a:latin typeface="Zurich Sans Light"/>
                <a:cs typeface="Zurich Sans Light"/>
              </a:rPr>
              <a:t>5.76</a:t>
            </a:r>
            <a:r>
              <a:rPr kumimoji="0" sz="800" b="0" i="0" u="none" strike="noStrike" kern="0" cap="none" spc="-10" normalizeH="0" baseline="0" noProof="0">
                <a:ln>
                  <a:noFill/>
                </a:ln>
                <a:solidFill>
                  <a:srgbClr val="142764"/>
                </a:solidFill>
                <a:effectLst/>
                <a:uLnTx/>
                <a:uFillTx/>
                <a:latin typeface="Zurich Sans Light"/>
                <a:cs typeface="Zurich Sans Light"/>
              </a:rPr>
              <a: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6" name="object 43">
            <a:extLst>
              <a:ext uri="{FF2B5EF4-FFF2-40B4-BE49-F238E27FC236}">
                <a16:creationId xmlns:a16="http://schemas.microsoft.com/office/drawing/2014/main" id="{72B21DFB-FCAD-64C9-0872-E025F6834385}"/>
              </a:ext>
            </a:extLst>
          </p:cNvPr>
          <p:cNvSpPr txBox="1"/>
          <p:nvPr/>
        </p:nvSpPr>
        <p:spPr>
          <a:xfrm>
            <a:off x="2467778" y="4934803"/>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dirty="0">
                <a:solidFill>
                  <a:srgbClr val="142764"/>
                </a:solidFill>
                <a:latin typeface="Zurich Sans Light"/>
                <a:cs typeface="Zurich Sans Light"/>
              </a:rPr>
              <a:t>Geographic</a:t>
            </a:r>
            <a:r>
              <a:rPr kumimoji="0" sz="800" b="0" i="0" u="none" strike="noStrike" kern="0" cap="none" spc="0" normalizeH="0" baseline="0" noProof="0" dirty="0">
                <a:ln>
                  <a:noFill/>
                </a:ln>
                <a:solidFill>
                  <a:srgbClr val="142764"/>
                </a:solidFill>
                <a:effectLst/>
                <a:uLnTx/>
                <a:uFillTx/>
                <a:latin typeface="Zurich Sans Light"/>
                <a:cs typeface="Zurich Sans Light"/>
              </a:rPr>
              <a:t> data is sourced from FE</a:t>
            </a:r>
            <a:r>
              <a:rPr lang="en-GB" sz="800" dirty="0">
                <a:solidFill>
                  <a:srgbClr val="142764"/>
                </a:solidFill>
                <a:latin typeface="Zurich Sans Light"/>
                <a:cs typeface="Zurich Sans Light"/>
              </a:rPr>
              <a:t>f</a:t>
            </a:r>
            <a:r>
              <a:rPr kumimoji="0" sz="800" b="0" i="0" u="none" strike="noStrike" kern="0" cap="none" spc="0" normalizeH="0" baseline="0" noProof="0" dirty="0" err="1">
                <a:ln>
                  <a:noFill/>
                </a:ln>
                <a:solidFill>
                  <a:srgbClr val="142764"/>
                </a:solidFill>
                <a:effectLst/>
                <a:uLnTx/>
                <a:uFillTx/>
                <a:latin typeface="Zurich Sans Light"/>
                <a:cs typeface="Zurich Sans Light"/>
              </a:rPr>
              <a:t>undinfo</a:t>
            </a:r>
            <a:r>
              <a:rPr kumimoji="0" sz="800" b="0" i="0" u="none" strike="noStrike" kern="0" cap="none" spc="0" normalizeH="0" baseline="0" noProof="0" dirty="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dirty="0">
                <a:ln>
                  <a:noFill/>
                </a:ln>
                <a:solidFill>
                  <a:srgbClr val="142764"/>
                </a:solidFill>
                <a:effectLst/>
                <a:uLnTx/>
                <a:uFillTx/>
                <a:latin typeface="Zurich Sans Light"/>
                <a:cs typeface="Zurich Sans Light"/>
              </a:rPr>
              <a:t>from</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the</a:t>
            </a:r>
            <a:r>
              <a:rPr kumimoji="0"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dirty="0">
                <a:ln>
                  <a:noFill/>
                </a:ln>
                <a:solidFill>
                  <a:srgbClr val="142764"/>
                </a:solidFill>
                <a:effectLst/>
                <a:uLnTx/>
                <a:uFillTx/>
                <a:latin typeface="Zurich Sans Light"/>
                <a:cs typeface="Zurich Sans Light"/>
              </a:rPr>
              <a:t>manager(s).</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dirty="0">
              <a:ln>
                <a:noFill/>
              </a:ln>
              <a:solidFill>
                <a:sysClr val="windowText" lastClr="000000"/>
              </a:solidFill>
              <a:effectLst/>
              <a:uLnTx/>
              <a:uFillTx/>
              <a:latin typeface="Zurich Sans Light"/>
              <a:cs typeface="Zurich Sans Light"/>
            </a:endParaRPr>
          </a:p>
        </p:txBody>
      </p:sp>
      <p:sp>
        <p:nvSpPr>
          <p:cNvPr id="97" name="object 43">
            <a:extLst>
              <a:ext uri="{FF2B5EF4-FFF2-40B4-BE49-F238E27FC236}">
                <a16:creationId xmlns:a16="http://schemas.microsoft.com/office/drawing/2014/main" id="{189E3D0B-5E10-137D-9738-85FCA29CCDE2}"/>
              </a:ext>
            </a:extLst>
          </p:cNvPr>
          <p:cNvSpPr txBox="1"/>
          <p:nvPr/>
        </p:nvSpPr>
        <p:spPr>
          <a:xfrm>
            <a:off x="2476036" y="2631144"/>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dirty="0">
                <a:solidFill>
                  <a:srgbClr val="142764"/>
                </a:solidFill>
                <a:latin typeface="Zurich Sans Light"/>
                <a:cs typeface="Zurich Sans Light"/>
              </a:rPr>
              <a:t>Asset</a:t>
            </a:r>
            <a:r>
              <a:rPr kumimoji="0" sz="800" b="0" i="0" u="none" strike="noStrike" kern="0" cap="none" spc="0" normalizeH="0" baseline="0" noProof="0" dirty="0">
                <a:ln>
                  <a:noFill/>
                </a:ln>
                <a:solidFill>
                  <a:srgbClr val="142764"/>
                </a:solidFill>
                <a:effectLst/>
                <a:uLnTx/>
                <a:uFillTx/>
                <a:latin typeface="Zurich Sans Light"/>
                <a:cs typeface="Zurich Sans Light"/>
              </a:rPr>
              <a:t> data is sourced from FE</a:t>
            </a:r>
            <a:r>
              <a:rPr kumimoji="0" lang="en-GB" sz="800" b="0" i="0" u="none" strike="noStrike" kern="0" cap="none" spc="0" normalizeH="0" baseline="0" noProof="0" dirty="0">
                <a:ln>
                  <a:noFill/>
                </a:ln>
                <a:solidFill>
                  <a:srgbClr val="142764"/>
                </a:solidFill>
                <a:effectLst/>
                <a:uLnTx/>
                <a:uFillTx/>
                <a:latin typeface="Zurich Sans Light"/>
                <a:cs typeface="Zurich Sans Light"/>
              </a:rPr>
              <a:t> F</a:t>
            </a:r>
            <a:r>
              <a:rPr kumimoji="0" sz="800" b="0" i="0" u="none" strike="noStrike" kern="0" cap="none" spc="0" normalizeH="0" baseline="0" noProof="0" dirty="0" err="1">
                <a:ln>
                  <a:noFill/>
                </a:ln>
                <a:solidFill>
                  <a:srgbClr val="142764"/>
                </a:solidFill>
                <a:effectLst/>
                <a:uLnTx/>
                <a:uFillTx/>
                <a:latin typeface="Zurich Sans Light"/>
                <a:cs typeface="Zurich Sans Light"/>
              </a:rPr>
              <a:t>undinfo</a:t>
            </a:r>
            <a:r>
              <a:rPr kumimoji="0" sz="800" b="0" i="0" u="none" strike="noStrike" kern="0" cap="none" spc="0" normalizeH="0" baseline="0" noProof="0" dirty="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dirty="0">
                <a:ln>
                  <a:noFill/>
                </a:ln>
                <a:solidFill>
                  <a:srgbClr val="142764"/>
                </a:solidFill>
                <a:effectLst/>
                <a:uLnTx/>
                <a:uFillTx/>
                <a:latin typeface="Zurich Sans Light"/>
                <a:cs typeface="Zurich Sans Light"/>
              </a:rPr>
              <a:t>from</a:t>
            </a:r>
            <a:r>
              <a:rPr kumimoji="0" lang="en-GB" sz="800" b="0" i="0" u="none" strike="noStrike" kern="0" cap="none" spc="-2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the</a:t>
            </a:r>
            <a:r>
              <a:rPr kumimoji="0" sz="800" b="0" i="0" u="none" strike="noStrike" kern="0" cap="none" spc="-10" normalizeH="0" baseline="0" noProof="0" dirty="0">
                <a:ln>
                  <a:noFill/>
                </a:ln>
                <a:solidFill>
                  <a:srgbClr val="142764"/>
                </a:solidFill>
                <a:effectLst/>
                <a:uLnTx/>
                <a:uFillTx/>
                <a:latin typeface="Zurich Sans Light"/>
                <a:cs typeface="Zurich Sans Light"/>
              </a:rPr>
              <a:t> </a:t>
            </a:r>
            <a:r>
              <a:rPr kumimoji="0" sz="800" b="0" i="0" u="none" strike="noStrike" kern="0" cap="none" spc="0" normalizeH="0" baseline="0" noProof="0" dirty="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dirty="0">
                <a:ln>
                  <a:noFill/>
                </a:ln>
                <a:solidFill>
                  <a:srgbClr val="142764"/>
                </a:solidFill>
                <a:effectLst/>
                <a:uLnTx/>
                <a:uFillTx/>
                <a:latin typeface="Zurich Sans Light"/>
                <a:cs typeface="Zurich Sans Light"/>
              </a:rPr>
              <a:t>manager(s).</a:t>
            </a:r>
            <a:endParaRPr kumimoji="0" sz="8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dirty="0">
              <a:ln>
                <a:noFill/>
              </a:ln>
              <a:solidFill>
                <a:sysClr val="windowText" lastClr="000000"/>
              </a:solidFill>
              <a:effectLst/>
              <a:uLnTx/>
              <a:uFillTx/>
              <a:latin typeface="Zurich Sans Light"/>
              <a:cs typeface="Zurich Sans Light"/>
            </a:endParaRPr>
          </a:p>
        </p:txBody>
      </p:sp>
    </p:spTree>
    <p:extLst>
      <p:ext uri="{BB962C8B-B14F-4D97-AF65-F5344CB8AC3E}">
        <p14:creationId xmlns:p14="http://schemas.microsoft.com/office/powerpoint/2010/main" val="258721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FDB6070-57DD-F201-6538-8A13E67041F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CE0F1C3-4D9C-5707-58BC-7C1B95D9E257}"/>
              </a:ext>
            </a:extLst>
          </p:cNvPr>
          <p:cNvSpPr/>
          <p:nvPr/>
        </p:nvSpPr>
        <p:spPr>
          <a:xfrm>
            <a:off x="310320" y="597199"/>
            <a:ext cx="6657335" cy="403195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00A7BC6D-68F1-9DCB-7A9E-8A0B4B4283A4}"/>
              </a:ext>
            </a:extLst>
          </p:cNvPr>
          <p:cNvSpPr txBox="1"/>
          <p:nvPr/>
        </p:nvSpPr>
        <p:spPr>
          <a:xfrm>
            <a:off x="347345"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a:solidFill>
                  <a:srgbClr val="142863"/>
                </a:solidFill>
                <a:latin typeface="Zurich Sans Light"/>
                <a:cs typeface="Zurich Sans Light"/>
              </a:rPr>
              <a:t>March </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12" name="object 3">
            <a:extLst>
              <a:ext uri="{FF2B5EF4-FFF2-40B4-BE49-F238E27FC236}">
                <a16:creationId xmlns:a16="http://schemas.microsoft.com/office/drawing/2014/main" id="{ABA3CDBF-C53A-CA08-ED6A-25635AFD35B3}"/>
              </a:ext>
            </a:extLst>
          </p:cNvPr>
          <p:cNvSpPr txBox="1"/>
          <p:nvPr/>
        </p:nvSpPr>
        <p:spPr>
          <a:xfrm>
            <a:off x="310968" y="7582730"/>
            <a:ext cx="6657335" cy="1308692"/>
          </a:xfrm>
          <a:prstGeom prst="rect">
            <a:avLst/>
          </a:prstGeom>
        </p:spPr>
        <p:txBody>
          <a:bodyPr vert="horz" wrap="square" lIns="0" tIns="51435" rIns="0" bIns="0" rtlCol="0">
            <a:spAutoFit/>
          </a:bodyPr>
          <a:lstStyle/>
          <a:p>
            <a:pPr marL="12700" algn="just">
              <a:spcBef>
                <a:spcPts val="405"/>
              </a:spcBef>
            </a:pPr>
            <a:r>
              <a:rPr sz="800" b="1" spc="-10">
                <a:solidFill>
                  <a:srgbClr val="002060"/>
                </a:solidFill>
                <a:latin typeface="Zurich Sans Light" panose="02000000000000000000" pitchFamily="2" charset="0"/>
                <a:cs typeface="Zurich Sans Medium"/>
              </a:rPr>
              <a:t>Important</a:t>
            </a:r>
            <a:r>
              <a:rPr sz="800" b="1" spc="20">
                <a:solidFill>
                  <a:srgbClr val="002060"/>
                </a:solidFill>
                <a:latin typeface="Zurich Sans Light" panose="02000000000000000000" pitchFamily="2" charset="0"/>
                <a:cs typeface="Zurich Sans Medium"/>
              </a:rPr>
              <a:t> </a:t>
            </a:r>
            <a:r>
              <a:rPr sz="800" b="1" spc="-10">
                <a:solidFill>
                  <a:srgbClr val="002060"/>
                </a:solidFill>
                <a:latin typeface="Zurich Sans Light" panose="02000000000000000000" pitchFamily="2" charset="0"/>
                <a:cs typeface="Zurich Sans Medium"/>
              </a:rPr>
              <a:t>information</a:t>
            </a:r>
            <a:endParaRPr sz="800">
              <a:solidFill>
                <a:srgbClr val="002060"/>
              </a:solidFill>
              <a:latin typeface="Zurich Sans Light" panose="02000000000000000000" pitchFamily="2" charset="0"/>
              <a:cs typeface="Zurich Sans Medium"/>
            </a:endParaRPr>
          </a:p>
          <a:p>
            <a:pPr marL="12700" algn="just">
              <a:spcBef>
                <a:spcPts val="240"/>
              </a:spcBef>
            </a:pPr>
            <a:r>
              <a:rPr lang="en-GB" sz="800">
                <a:solidFill>
                  <a:srgbClr val="002060"/>
                </a:solidFill>
                <a:latin typeface="Zurich Sans Light"/>
                <a:cs typeface="Zurich Sans Light"/>
              </a:rPr>
              <a:t>Zurich Integrated Benefits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 a business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name of 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 Life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Limited.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under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Act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2008</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is  </a:t>
            </a:r>
            <a:r>
              <a:rPr lang="en-GB" sz="800">
                <a:solidFill>
                  <a:srgbClr val="002060"/>
                </a:solidFill>
                <a:latin typeface="Zurich Sans Light"/>
                <a:cs typeface="Zurich Sans Light"/>
              </a:rPr>
              <a:t>regulated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Financial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Services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Authority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ensures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company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sound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professional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management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provision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been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made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planholders.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companies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Man’s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Assurance</a:t>
            </a:r>
            <a:r>
              <a:rPr lang="en-GB" sz="800" spc="500">
                <a:solidFill>
                  <a:srgbClr val="002060"/>
                </a:solidFill>
                <a:latin typeface="Zurich Sans Light"/>
                <a:cs typeface="Zurich Sans Light"/>
              </a:rPr>
              <a:t> </a:t>
            </a:r>
            <a:r>
              <a:rPr lang="en-GB" sz="800">
                <a:solidFill>
                  <a:srgbClr val="002060"/>
                </a:solidFill>
                <a:latin typeface="Zurich Sans Light"/>
                <a:cs typeface="Zurich Sans Light"/>
              </a:rPr>
              <a:t>(Compensation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Policyholders) Regulations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1991, ensure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 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event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 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company </a:t>
            </a:r>
            <a:r>
              <a:rPr lang="en-GB" sz="800">
                <a:solidFill>
                  <a:srgbClr val="002060"/>
                </a:solidFill>
                <a:latin typeface="Zurich Sans Light"/>
                <a:cs typeface="Zurich Sans Light"/>
              </a:rPr>
              <a:t>being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unable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meet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liabilities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up</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90%</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liability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protected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will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be</a:t>
            </a:r>
            <a:r>
              <a:rPr lang="en-GB" sz="800" spc="15">
                <a:solidFill>
                  <a:srgbClr val="002060"/>
                </a:solidFill>
                <a:latin typeface="Zurich Sans Light"/>
                <a:cs typeface="Zurich Sans Light"/>
              </a:rPr>
              <a:t> </a:t>
            </a:r>
            <a:r>
              <a:rPr lang="en-GB" sz="800" spc="-20">
                <a:solidFill>
                  <a:srgbClr val="002060"/>
                </a:solidFill>
                <a:latin typeface="Zurich Sans Light"/>
                <a:cs typeface="Zurich Sans Light"/>
              </a:rPr>
              <a:t>met.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protection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only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applies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solvency</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Zurich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does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extend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value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assets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held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within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unit-linked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funds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your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products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sale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the </a:t>
            </a:r>
            <a:r>
              <a:rPr lang="en-GB" sz="800">
                <a:solidFill>
                  <a:srgbClr val="002060"/>
                </a:solidFill>
                <a:latin typeface="Zurich Sans Light"/>
                <a:cs typeface="Zurich Sans Light"/>
              </a:rPr>
              <a:t>United</a:t>
            </a:r>
            <a:r>
              <a:rPr lang="en-GB" sz="800" spc="-10">
                <a:solidFill>
                  <a:srgbClr val="002060"/>
                </a:solidFill>
                <a:latin typeface="Zurich Sans Light"/>
                <a:cs typeface="Zurich Sans Light"/>
              </a:rPr>
              <a:t> States. </a:t>
            </a:r>
            <a:r>
              <a:rPr lang="en-GB" sz="800">
                <a:solidFill>
                  <a:srgbClr val="002060"/>
                </a:solidFill>
                <a:latin typeface="Zurich Sans Light"/>
                <a:cs typeface="Zurich Sans Light"/>
              </a:rPr>
              <a:t>Materials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are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intended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invest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do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constitute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solicitation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buy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securities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country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jurisdiction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unlawful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make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such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solicitation.</a:t>
            </a:r>
            <a:endParaRPr lang="en-GB" sz="800">
              <a:latin typeface="Zurich Sans Light"/>
              <a:cs typeface="Zurich Sans Light"/>
            </a:endParaRPr>
          </a:p>
        </p:txBody>
      </p:sp>
      <p:sp>
        <p:nvSpPr>
          <p:cNvPr id="13" name="object 4">
            <a:extLst>
              <a:ext uri="{FF2B5EF4-FFF2-40B4-BE49-F238E27FC236}">
                <a16:creationId xmlns:a16="http://schemas.microsoft.com/office/drawing/2014/main" id="{4B4C329E-F0DF-4061-E298-378BB97AB979}"/>
              </a:ext>
            </a:extLst>
          </p:cNvPr>
          <p:cNvSpPr txBox="1"/>
          <p:nvPr/>
        </p:nvSpPr>
        <p:spPr>
          <a:xfrm>
            <a:off x="310968" y="9903559"/>
            <a:ext cx="5442132" cy="589905"/>
          </a:xfrm>
          <a:prstGeom prst="rect">
            <a:avLst/>
          </a:prstGeom>
        </p:spPr>
        <p:txBody>
          <a:bodyPr vert="horz" wrap="square" lIns="0" tIns="12700" rIns="0" bIns="0" rtlCol="0">
            <a:spAutoFit/>
          </a:bodyPr>
          <a:lstStyle/>
          <a:p>
            <a:pPr marL="12700" marR="305435">
              <a:lnSpc>
                <a:spcPct val="100000"/>
              </a:lnSpc>
              <a:spcBef>
                <a:spcPts val="100"/>
              </a:spcBef>
            </a:pP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International</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a:solidFill>
                  <a:srgbClr val="09296D"/>
                </a:solidFill>
                <a:latin typeface="Zurich Sans Light"/>
                <a:cs typeface="Zurich Sans Light"/>
              </a:rPr>
              <a:t>(a</a:t>
            </a:r>
            <a:r>
              <a:rPr sz="750" b="0" spc="5">
                <a:solidFill>
                  <a:srgbClr val="09296D"/>
                </a:solidFill>
                <a:latin typeface="Zurich Sans Light"/>
                <a:cs typeface="Zurich Sans Light"/>
              </a:rPr>
              <a:t> </a:t>
            </a:r>
            <a:r>
              <a:rPr sz="750" b="0">
                <a:solidFill>
                  <a:srgbClr val="09296D"/>
                </a:solidFill>
                <a:latin typeface="Zurich Sans Light"/>
                <a:cs typeface="Zurich Sans Light"/>
              </a:rPr>
              <a:t>company</a:t>
            </a:r>
            <a:r>
              <a:rPr sz="750" b="0" spc="5">
                <a:solidFill>
                  <a:srgbClr val="09296D"/>
                </a:solidFill>
                <a:latin typeface="Zurich Sans Light"/>
                <a:cs typeface="Zurich Sans Light"/>
              </a:rPr>
              <a:t> </a:t>
            </a:r>
            <a:r>
              <a:rPr sz="750" b="0">
                <a:solidFill>
                  <a:srgbClr val="09296D"/>
                </a:solidFill>
                <a:latin typeface="Zurich Sans Light"/>
                <a:cs typeface="Zurich Sans Light"/>
              </a:rPr>
              <a:t>incorporated</a:t>
            </a:r>
            <a:r>
              <a:rPr sz="750" b="0" spc="10">
                <a:solidFill>
                  <a:srgbClr val="09296D"/>
                </a:solidFill>
                <a:latin typeface="Zurich Sans Light"/>
                <a:cs typeface="Zurich Sans Light"/>
              </a:rPr>
              <a:t> </a:t>
            </a:r>
            <a:r>
              <a:rPr sz="750" b="0">
                <a:solidFill>
                  <a:srgbClr val="09296D"/>
                </a:solidFill>
                <a:latin typeface="Zurich Sans Light"/>
                <a:cs typeface="Zurich Sans Light"/>
              </a:rPr>
              <a:t>in</a:t>
            </a:r>
            <a:r>
              <a:rPr sz="750" b="0" spc="5">
                <a:solidFill>
                  <a:srgbClr val="09296D"/>
                </a:solidFill>
                <a:latin typeface="Zurich Sans Light"/>
                <a:cs typeface="Zurich Sans Light"/>
              </a:rPr>
              <a:t> </a:t>
            </a:r>
            <a:r>
              <a:rPr sz="750" b="0">
                <a:solidFill>
                  <a:srgbClr val="09296D"/>
                </a:solidFill>
                <a:latin typeface="Zurich Sans Light"/>
                <a:cs typeface="Zurich Sans Light"/>
              </a:rPr>
              <a:t>the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with</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liability)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provides</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10">
                <a:solidFill>
                  <a:srgbClr val="09296D"/>
                </a:solidFill>
                <a:latin typeface="Zurich Sans Light"/>
                <a:cs typeface="Zurich Sans Light"/>
              </a:rPr>
              <a:t> </a:t>
            </a:r>
            <a:r>
              <a:rPr sz="750" b="0">
                <a:solidFill>
                  <a:srgbClr val="09296D"/>
                </a:solidFill>
                <a:latin typeface="Zurich Sans Light"/>
                <a:cs typeface="Zurich Sans Light"/>
              </a:rPr>
              <a:t>assurance,</a:t>
            </a:r>
            <a:r>
              <a:rPr sz="750" b="0" spc="10">
                <a:solidFill>
                  <a:srgbClr val="09296D"/>
                </a:solidFill>
                <a:latin typeface="Zurich Sans Light"/>
                <a:cs typeface="Zurich Sans Light"/>
              </a:rPr>
              <a:t> </a:t>
            </a:r>
            <a:r>
              <a:rPr sz="750" b="0">
                <a:solidFill>
                  <a:srgbClr val="09296D"/>
                </a:solidFill>
                <a:latin typeface="Zurich Sans Light"/>
                <a:cs typeface="Zurich Sans Light"/>
              </a:rPr>
              <a:t>investment</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10">
                <a:solidFill>
                  <a:srgbClr val="09296D"/>
                </a:solidFill>
                <a:latin typeface="Zurich Sans Light"/>
                <a:cs typeface="Zurich Sans Light"/>
              </a:rPr>
              <a:t> </a:t>
            </a:r>
            <a:r>
              <a:rPr sz="750" b="0">
                <a:solidFill>
                  <a:srgbClr val="09296D"/>
                </a:solidFill>
                <a:latin typeface="Zurich Sans Light"/>
                <a:cs typeface="Zurich Sans Light"/>
              </a:rPr>
              <a:t>protection</a:t>
            </a:r>
            <a:r>
              <a:rPr sz="750" b="0" spc="10">
                <a:solidFill>
                  <a:srgbClr val="09296D"/>
                </a:solidFill>
                <a:latin typeface="Zurich Sans Light"/>
                <a:cs typeface="Zurich Sans Light"/>
              </a:rPr>
              <a:t> </a:t>
            </a:r>
            <a:r>
              <a:rPr sz="750" b="0">
                <a:solidFill>
                  <a:srgbClr val="09296D"/>
                </a:solidFill>
                <a:latin typeface="Zurich Sans Light"/>
                <a:cs typeface="Zurich Sans Light"/>
              </a:rPr>
              <a:t>products</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5">
                <a:solidFill>
                  <a:srgbClr val="09296D"/>
                </a:solidFill>
                <a:latin typeface="Zurich Sans Light"/>
                <a:cs typeface="Zurich Sans Light"/>
              </a:rPr>
              <a:t> </a:t>
            </a:r>
            <a:r>
              <a:rPr sz="750" b="0">
                <a:solidFill>
                  <a:srgbClr val="09296D"/>
                </a:solidFill>
                <a:latin typeface="Zurich Sans Light"/>
                <a:cs typeface="Zurich Sans Light"/>
              </a:rPr>
              <a:t>is</a:t>
            </a:r>
            <a:r>
              <a:rPr sz="750" b="0" spc="10">
                <a:solidFill>
                  <a:srgbClr val="09296D"/>
                </a:solidFill>
                <a:latin typeface="Zurich Sans Light"/>
                <a:cs typeface="Zurich Sans Light"/>
              </a:rPr>
              <a:t> </a:t>
            </a:r>
            <a:r>
              <a:rPr sz="750" b="0" err="1">
                <a:solidFill>
                  <a:srgbClr val="09296D"/>
                </a:solidFill>
                <a:latin typeface="Zurich Sans Light"/>
                <a:cs typeface="Zurich Sans Light"/>
              </a:rPr>
              <a:t>authorised</a:t>
            </a:r>
            <a:r>
              <a:rPr sz="750" b="0" spc="10">
                <a:solidFill>
                  <a:srgbClr val="09296D"/>
                </a:solidFill>
                <a:latin typeface="Zurich Sans Light"/>
                <a:cs typeface="Zurich Sans Light"/>
              </a:rPr>
              <a:t> </a:t>
            </a:r>
            <a:r>
              <a:rPr sz="750" b="0">
                <a:solidFill>
                  <a:srgbClr val="09296D"/>
                </a:solidFill>
                <a:latin typeface="Zurich Sans Light"/>
                <a:cs typeface="Zurich Sans Light"/>
              </a:rPr>
              <a:t>by</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spc="-25">
                <a:solidFill>
                  <a:srgbClr val="09296D"/>
                </a:solidFill>
                <a:latin typeface="Zurich Sans Light"/>
                <a:cs typeface="Zurich Sans Light"/>
              </a:rPr>
              <a:t>Man</a:t>
            </a:r>
            <a:r>
              <a:rPr lang="en-GB" sz="750" b="0" spc="-25">
                <a:solidFill>
                  <a:srgbClr val="09296D"/>
                </a:solidFill>
                <a:latin typeface="Zurich Sans Light"/>
                <a:cs typeface="Zurich Sans Light"/>
              </a:rPr>
              <a:t> </a:t>
            </a:r>
            <a:r>
              <a:rPr sz="750" b="0">
                <a:solidFill>
                  <a:srgbClr val="09296D"/>
                </a:solidFill>
                <a:latin typeface="Zurich Sans Light"/>
                <a:cs typeface="Zurich Sans Light"/>
              </a:rPr>
              <a:t>Financial</a:t>
            </a:r>
            <a:r>
              <a:rPr sz="750" b="0" spc="10">
                <a:solidFill>
                  <a:srgbClr val="09296D"/>
                </a:solidFill>
                <a:latin typeface="Zurich Sans Light"/>
                <a:cs typeface="Zurich Sans Light"/>
              </a:rPr>
              <a:t> </a:t>
            </a:r>
            <a:r>
              <a:rPr sz="750" b="0">
                <a:solidFill>
                  <a:srgbClr val="09296D"/>
                </a:solidFill>
                <a:latin typeface="Zurich Sans Light"/>
                <a:cs typeface="Zurich Sans Light"/>
              </a:rPr>
              <a:t>Services</a:t>
            </a:r>
            <a:r>
              <a:rPr sz="750" b="0" spc="20">
                <a:solidFill>
                  <a:srgbClr val="09296D"/>
                </a:solidFill>
                <a:latin typeface="Zurich Sans Light"/>
                <a:cs typeface="Zurich Sans Light"/>
              </a:rPr>
              <a:t> </a:t>
            </a:r>
            <a:r>
              <a:rPr sz="750" b="0" spc="-10">
                <a:solidFill>
                  <a:srgbClr val="09296D"/>
                </a:solidFill>
                <a:latin typeface="Zurich Sans Light"/>
                <a:cs typeface="Zurich Sans Light"/>
              </a:rPr>
              <a:t>Authority.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 in</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10">
                <a:solidFill>
                  <a:srgbClr val="09296D"/>
                </a:solidFill>
                <a:latin typeface="Zurich Sans Light"/>
                <a:cs typeface="Zurich Sans Light"/>
              </a:rPr>
              <a:t> </a:t>
            </a:r>
            <a:r>
              <a:rPr sz="750" b="0">
                <a:solidFill>
                  <a:srgbClr val="09296D"/>
                </a:solidFill>
                <a:latin typeface="Zurich Sans Light"/>
                <a:cs typeface="Zurich Sans Light"/>
              </a:rPr>
              <a:t>number</a:t>
            </a:r>
            <a:r>
              <a:rPr sz="750" b="0" spc="15">
                <a:solidFill>
                  <a:srgbClr val="09296D"/>
                </a:solidFill>
                <a:latin typeface="Zurich Sans Light"/>
                <a:cs typeface="Zurich Sans Light"/>
              </a:rPr>
              <a:t> </a:t>
            </a:r>
            <a:r>
              <a:rPr sz="750" b="0" spc="-10">
                <a:solidFill>
                  <a:srgbClr val="09296D"/>
                </a:solidFill>
                <a:latin typeface="Zurich Sans Light"/>
                <a:cs typeface="Zurich Sans Light"/>
              </a:rPr>
              <a:t>020126C.</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a:t>
            </a:r>
            <a:r>
              <a:rPr sz="750" b="0" spc="5">
                <a:solidFill>
                  <a:srgbClr val="09296D"/>
                </a:solidFill>
                <a:latin typeface="Zurich Sans Light"/>
                <a:cs typeface="Zurich Sans Light"/>
              </a:rPr>
              <a:t> </a:t>
            </a:r>
            <a:r>
              <a:rPr sz="750" b="0">
                <a:solidFill>
                  <a:srgbClr val="09296D"/>
                </a:solidFill>
                <a:latin typeface="Zurich Sans Light"/>
                <a:cs typeface="Zurich Sans Light"/>
              </a:rPr>
              <a:t>office:</a:t>
            </a:r>
            <a:r>
              <a:rPr sz="750" b="0" spc="5">
                <a:solidFill>
                  <a:srgbClr val="09296D"/>
                </a:solidFill>
                <a:latin typeface="Zurich Sans Light"/>
                <a:cs typeface="Zurich Sans Light"/>
              </a:rPr>
              <a:t> </a:t>
            </a: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House,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Business</a:t>
            </a:r>
            <a:r>
              <a:rPr sz="750" b="0" spc="5">
                <a:solidFill>
                  <a:srgbClr val="09296D"/>
                </a:solidFill>
                <a:latin typeface="Zurich Sans Light"/>
                <a:cs typeface="Zurich Sans Light"/>
              </a:rPr>
              <a:t> </a:t>
            </a:r>
            <a:r>
              <a:rPr sz="750" b="0">
                <a:solidFill>
                  <a:srgbClr val="09296D"/>
                </a:solidFill>
                <a:latin typeface="Zurich Sans Light"/>
                <a:cs typeface="Zurich Sans Light"/>
              </a:rPr>
              <a:t>Park,</a:t>
            </a:r>
            <a:r>
              <a:rPr sz="750" b="0" spc="5">
                <a:solidFill>
                  <a:srgbClr val="09296D"/>
                </a:solidFill>
                <a:latin typeface="Zurich Sans Light"/>
                <a:cs typeface="Zurich Sans Light"/>
              </a:rPr>
              <a:t> </a:t>
            </a:r>
            <a:r>
              <a:rPr sz="750" b="0">
                <a:solidFill>
                  <a:srgbClr val="09296D"/>
                </a:solidFill>
                <a:latin typeface="Zurich Sans Light"/>
                <a:cs typeface="Zurich Sans Light"/>
              </a:rPr>
              <a:t>Douglas,</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5">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IM2</a:t>
            </a:r>
            <a:r>
              <a:rPr sz="750" b="0" spc="5">
                <a:solidFill>
                  <a:srgbClr val="09296D"/>
                </a:solidFill>
                <a:latin typeface="Zurich Sans Light"/>
                <a:cs typeface="Zurich Sans Light"/>
              </a:rPr>
              <a:t> </a:t>
            </a:r>
            <a:r>
              <a:rPr sz="750" b="0">
                <a:solidFill>
                  <a:srgbClr val="09296D"/>
                </a:solidFill>
                <a:latin typeface="Zurich Sans Light"/>
                <a:cs typeface="Zurich Sans Light"/>
              </a:rPr>
              <a:t>2QZ,</a:t>
            </a:r>
            <a:r>
              <a:rPr sz="750" b="0" spc="5">
                <a:solidFill>
                  <a:srgbClr val="09296D"/>
                </a:solidFill>
                <a:latin typeface="Zurich Sans Light"/>
                <a:cs typeface="Zurich Sans Light"/>
              </a:rPr>
              <a:t> </a:t>
            </a:r>
            <a:r>
              <a:rPr sz="750" b="0">
                <a:solidFill>
                  <a:srgbClr val="09296D"/>
                </a:solidFill>
                <a:latin typeface="Zurich Sans Light"/>
                <a:cs typeface="Zurich Sans Light"/>
              </a:rPr>
              <a:t>British</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Isles.</a:t>
            </a:r>
            <a:r>
              <a:rPr lang="en-GB" sz="750" b="0" spc="-10">
                <a:solidFill>
                  <a:srgbClr val="09296D"/>
                </a:solidFill>
                <a:latin typeface="Zurich Sans Light"/>
                <a:cs typeface="Zurich Sans Light"/>
              </a:rPr>
              <a:t> </a:t>
            </a:r>
            <a:r>
              <a:rPr sz="750" b="0" spc="-10">
                <a:solidFill>
                  <a:srgbClr val="09296D"/>
                </a:solidFill>
                <a:latin typeface="Zurich Sans Light"/>
                <a:cs typeface="Zurich Sans Light"/>
              </a:rPr>
              <a:t>Telephone</a:t>
            </a:r>
            <a:r>
              <a:rPr sz="750" b="0" spc="10">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662266</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Telefax</a:t>
            </a:r>
            <a:r>
              <a:rPr sz="750" b="0" spc="15">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662038</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www.zurichinternational.com</a:t>
            </a:r>
            <a:endParaRPr sz="750">
              <a:latin typeface="Zurich Sans Light"/>
              <a:cs typeface="Zurich Sans Light"/>
            </a:endParaRPr>
          </a:p>
          <a:p>
            <a:pPr>
              <a:lnSpc>
                <a:spcPct val="100000"/>
              </a:lnSpc>
              <a:spcBef>
                <a:spcPts val="30"/>
              </a:spcBef>
            </a:pPr>
            <a:endParaRPr sz="750">
              <a:latin typeface="Zurich Sans Light"/>
              <a:cs typeface="Zurich Sans Light"/>
            </a:endParaRPr>
          </a:p>
        </p:txBody>
      </p:sp>
      <p:sp>
        <p:nvSpPr>
          <p:cNvPr id="14" name="TextBox 13">
            <a:extLst>
              <a:ext uri="{FF2B5EF4-FFF2-40B4-BE49-F238E27FC236}">
                <a16:creationId xmlns:a16="http://schemas.microsoft.com/office/drawing/2014/main" id="{F3330643-F656-94F6-1E65-C53DEA25F7E8}"/>
              </a:ext>
            </a:extLst>
          </p:cNvPr>
          <p:cNvSpPr txBox="1"/>
          <p:nvPr/>
        </p:nvSpPr>
        <p:spPr>
          <a:xfrm>
            <a:off x="310968" y="8980229"/>
            <a:ext cx="6727003" cy="923330"/>
          </a:xfrm>
          <a:prstGeom prst="rect">
            <a:avLst/>
          </a:prstGeom>
          <a:noFill/>
        </p:spPr>
        <p:txBody>
          <a:bodyPr wrap="square" lIns="0" tIns="0" rIns="0" bIns="0" rtlCol="0">
            <a:spAutoFit/>
          </a:bodyPr>
          <a:lstStyle/>
          <a:p>
            <a:pPr algn="l"/>
            <a:r>
              <a:rPr lang="en-GB" sz="750">
                <a:solidFill>
                  <a:srgbClr val="002060"/>
                </a:solidFill>
                <a:latin typeface="Zurich Sans Light" panose="02000000000000000000" pitchFamily="2" charset="0"/>
              </a:rPr>
              <a:t>Zurich International Life Limited, Bahrain Branch, which is registered in Bahrain under Commercial Registration No. 17444 and is licensed as an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Overseas Insurance Firm – Life Insurance by the Central Bank of Bahrain. Branch offices: 27th Floor, </a:t>
            </a:r>
            <a:r>
              <a:rPr lang="en-GB" sz="750" err="1">
                <a:solidFill>
                  <a:srgbClr val="002060"/>
                </a:solidFill>
                <a:latin typeface="Zurich Sans Light" panose="02000000000000000000" pitchFamily="2" charset="0"/>
              </a:rPr>
              <a:t>Almoayyed</a:t>
            </a:r>
            <a:r>
              <a:rPr lang="en-GB" sz="750">
                <a:solidFill>
                  <a:srgbClr val="002060"/>
                </a:solidFill>
                <a:latin typeface="Zurich Sans Light" panose="02000000000000000000" pitchFamily="2" charset="0"/>
              </a:rPr>
              <a:t> Tower, </a:t>
            </a:r>
            <a:r>
              <a:rPr lang="en-GB" sz="750" err="1">
                <a:solidFill>
                  <a:srgbClr val="002060"/>
                </a:solidFill>
                <a:latin typeface="Zurich Sans Light" panose="02000000000000000000" pitchFamily="2" charset="0"/>
              </a:rPr>
              <a:t>Seef</a:t>
            </a:r>
            <a:r>
              <a:rPr lang="en-GB" sz="750">
                <a:solidFill>
                  <a:srgbClr val="002060"/>
                </a:solidFill>
                <a:latin typeface="Zurich Sans Light" panose="02000000000000000000" pitchFamily="2" charset="0"/>
              </a:rPr>
              <a:t> District, Kingdom of Bahrain. Telephone +973 1756 3322 </a:t>
            </a:r>
          </a:p>
          <a:p>
            <a:pPr algn="l"/>
            <a:r>
              <a:rPr lang="en-GB" sz="750">
                <a:solidFill>
                  <a:srgbClr val="002060"/>
                </a:solidFill>
                <a:latin typeface="Zurich Sans Light" panose="02000000000000000000" pitchFamily="2" charset="0"/>
              </a:rPr>
              <a:t>Zurich International Life Limited, Qatar Branch, which is authorised by the Qatar Financial Centre Regulatory Authority. Branch offices: Office No. 404, 4th Floor, Qatar Financial Centre Tower, West Bay, Doha, Qatar. Telephone: +974 4428 6322 </a:t>
            </a:r>
          </a:p>
          <a:p>
            <a:pPr algn="l"/>
            <a:r>
              <a:rPr lang="en-GB" sz="750">
                <a:solidFill>
                  <a:srgbClr val="002060"/>
                </a:solidFill>
                <a:latin typeface="Zurich Sans Light" panose="02000000000000000000" pitchFamily="2" charset="0"/>
              </a:rPr>
              <a:t>Zurich International Life Limited, UAE Branch, which is registered (Registration No. 63) under UAE Federal Law Number 6 of 2007, and its activities in the UAE governed by such law. Registered offices at Unit 601, Building 6, 6th Floor, Emaar Square, Dubai. (PO Box 50389 Dubai)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Telephone: +971 4 425 2300 www.zurich.ae</a:t>
            </a:r>
          </a:p>
        </p:txBody>
      </p:sp>
      <p:pic>
        <p:nvPicPr>
          <p:cNvPr id="15" name="Graphic 14">
            <a:extLst>
              <a:ext uri="{FF2B5EF4-FFF2-40B4-BE49-F238E27FC236}">
                <a16:creationId xmlns:a16="http://schemas.microsoft.com/office/drawing/2014/main" id="{A4FC751D-12B2-CA46-BDF6-22B1A1CBD0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696" y="9814750"/>
            <a:ext cx="1976437" cy="767521"/>
          </a:xfrm>
          <a:prstGeom prst="rect">
            <a:avLst/>
          </a:prstGeom>
        </p:spPr>
      </p:pic>
      <p:sp>
        <p:nvSpPr>
          <p:cNvPr id="2" name="object 5">
            <a:extLst>
              <a:ext uri="{FF2B5EF4-FFF2-40B4-BE49-F238E27FC236}">
                <a16:creationId xmlns:a16="http://schemas.microsoft.com/office/drawing/2014/main" id="{8F20C037-9461-D926-4036-0007D05A2D99}"/>
              </a:ext>
            </a:extLst>
          </p:cNvPr>
          <p:cNvSpPr txBox="1"/>
          <p:nvPr/>
        </p:nvSpPr>
        <p:spPr>
          <a:xfrm>
            <a:off x="588198" y="867815"/>
            <a:ext cx="6101581" cy="1104790"/>
          </a:xfrm>
          <a:prstGeom prst="rect">
            <a:avLst/>
          </a:prstGeom>
          <a:noFill/>
        </p:spPr>
        <p:txBody>
          <a:bodyPr vert="horz" wrap="square" lIns="0" tIns="29845" rIns="0" bIns="0" rtlCol="0">
            <a:spAutoFit/>
          </a:bodyPr>
          <a:lstStyle/>
          <a:p>
            <a:pPr marL="12700">
              <a:lnSpc>
                <a:spcPct val="100000"/>
              </a:lnSpc>
              <a:spcBef>
                <a:spcPts val="235"/>
              </a:spcBef>
            </a:pPr>
            <a:r>
              <a:rPr sz="1150" b="1">
                <a:solidFill>
                  <a:srgbClr val="004F9E"/>
                </a:solidFill>
                <a:latin typeface="Zurich Sans"/>
                <a:cs typeface="Zurich Sans"/>
              </a:rPr>
              <a:t>Additional</a:t>
            </a:r>
            <a:r>
              <a:rPr sz="1150" b="1" spc="-5">
                <a:solidFill>
                  <a:srgbClr val="004F9E"/>
                </a:solidFill>
                <a:latin typeface="Zurich Sans"/>
                <a:cs typeface="Zurich Sans"/>
              </a:rPr>
              <a:t> </a:t>
            </a:r>
            <a:r>
              <a:rPr sz="1150" b="1" spc="-10">
                <a:solidFill>
                  <a:srgbClr val="004F9E"/>
                </a:solidFill>
                <a:latin typeface="Zurich Sans"/>
                <a:cs typeface="Zurich Sans"/>
              </a:rPr>
              <a:t>Information</a:t>
            </a:r>
            <a:endParaRPr sz="1150">
              <a:latin typeface="Zurich Sans"/>
              <a:cs typeface="Zurich Sans"/>
            </a:endParaRPr>
          </a:p>
          <a:p>
            <a:pPr marL="12700" marR="5080">
              <a:lnSpc>
                <a:spcPts val="950"/>
              </a:lnSpc>
              <a:spcBef>
                <a:spcPts val="35"/>
              </a:spcBef>
            </a:pPr>
            <a:r>
              <a:rPr lang="en-GB" sz="900">
                <a:solidFill>
                  <a:srgbClr val="142863"/>
                </a:solidFill>
                <a:latin typeface="Zurich Sans Light"/>
              </a:rPr>
              <a:t>The fund invests in a range of global shares, with an emphasis on European markets. The regional bias was somewhat unhelpful over the quarter as European shares underperformed those in other regions, most notably the US. Political uncertainties in France and Germany and the release of subdued economic indicators eroded sentiment. We used the weakness as an opportunity to top up the fund’s exposure to European shares and to benefit from any improved performance in 2025. These purchases were funded by selling some of the fund’s shareholdings in Asia, Japan, and the US. The latter performed particularly well, following Donald Trump’s victory in November’s election and amid suggestions that his ‘America first’ policies could help support profitability among US-listed firms.. </a:t>
            </a:r>
          </a:p>
        </p:txBody>
      </p:sp>
      <p:sp>
        <p:nvSpPr>
          <p:cNvPr id="4" name="object 5">
            <a:extLst>
              <a:ext uri="{FF2B5EF4-FFF2-40B4-BE49-F238E27FC236}">
                <a16:creationId xmlns:a16="http://schemas.microsoft.com/office/drawing/2014/main" id="{68D87422-772D-51C1-8273-17E94779B150}"/>
              </a:ext>
            </a:extLst>
          </p:cNvPr>
          <p:cNvSpPr txBox="1"/>
          <p:nvPr/>
        </p:nvSpPr>
        <p:spPr>
          <a:xfrm>
            <a:off x="588197" y="2508890"/>
            <a:ext cx="6101580" cy="1745991"/>
          </a:xfrm>
          <a:prstGeom prst="rect">
            <a:avLst/>
          </a:prstGeom>
          <a:noFill/>
        </p:spPr>
        <p:txBody>
          <a:bodyPr vert="horz" wrap="square" lIns="0" tIns="29845" rIns="0" bIns="0" rtlCol="0">
            <a:spAutoFit/>
          </a:bodyPr>
          <a:lstStyle/>
          <a:p>
            <a:pPr marL="12700">
              <a:lnSpc>
                <a:spcPct val="100000"/>
              </a:lnSpc>
              <a:spcBef>
                <a:spcPts val="235"/>
              </a:spcBef>
            </a:pPr>
            <a:r>
              <a:rPr lang="en-GB" sz="1150" b="1">
                <a:solidFill>
                  <a:srgbClr val="004F9E"/>
                </a:solidFill>
                <a:latin typeface="Zurich Sans"/>
                <a:cs typeface="Zurich Sans"/>
              </a:rPr>
              <a:t>Commentary</a:t>
            </a:r>
            <a:endParaRPr lang="en-GB" sz="1150">
              <a:latin typeface="Zurich Sans"/>
              <a:cs typeface="Zurich Sans"/>
            </a:endParaRPr>
          </a:p>
          <a:p>
            <a:pPr marL="12700" marR="5080">
              <a:lnSpc>
                <a:spcPts val="950"/>
              </a:lnSpc>
              <a:spcBef>
                <a:spcPts val="35"/>
              </a:spcBef>
            </a:pPr>
            <a:r>
              <a:rPr lang="en-GB" sz="900">
                <a:solidFill>
                  <a:srgbClr val="142863"/>
                </a:solidFill>
                <a:latin typeface="Zurich Sans Light"/>
              </a:rPr>
              <a:t>Market Commentary as at 31 December 2024: Both Equities and Bonds detracted from performance over the quarter, as most of the major asset classes posted negative returns. Within Bonds, performance was broadly negative across the fixed income spectrum, with US Treasuries and Emerging Market bonds being the key detractors to performance. US Treasuries came under pressure as markets mulled over the potential implications of a second Trump presidency. For Emerging Market assets, dollar strength proved to be a significant headwind, particularly for local currency denominated bonds. Within Equities, allocations to the broad US market, Financials and US Small-Cap stocks contributed positively to performance, given that</a:t>
            </a:r>
          </a:p>
          <a:p>
            <a:pPr marL="12700" marR="5080">
              <a:lnSpc>
                <a:spcPts val="950"/>
              </a:lnSpc>
              <a:spcBef>
                <a:spcPts val="35"/>
              </a:spcBef>
            </a:pPr>
            <a:r>
              <a:rPr lang="en-GB" sz="900">
                <a:solidFill>
                  <a:srgbClr val="142863"/>
                </a:solidFill>
                <a:latin typeface="Zurich Sans Light"/>
              </a:rPr>
              <a:t>these were amongst the few parts of the market that managed to end in positive territory over the quarter. The broad US market benefitted from the continued participation of Large-Cap Growth stocks in the AI rally, whilst Financials and Small-Cap stocks firmed on the back of expectations that they would be key beneficiaries of a second Trump presidency. On the other hand, Emerging Market equities came under pressure, particularly Korean and Chinese equities.</a:t>
            </a:r>
          </a:p>
        </p:txBody>
      </p:sp>
    </p:spTree>
    <p:extLst>
      <p:ext uri="{BB962C8B-B14F-4D97-AF65-F5344CB8AC3E}">
        <p14:creationId xmlns:p14="http://schemas.microsoft.com/office/powerpoint/2010/main" val="2464168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3723B-3E19-BBB5-A2C6-AE81CBD56458}"/>
              </a:ext>
            </a:extLst>
          </p:cNvPr>
          <p:cNvSpPr>
            <a:spLocks noGrp="1"/>
          </p:cNvSpPr>
          <p:nvPr>
            <p:ph type="ctrTitle"/>
          </p:nvPr>
        </p:nvSpPr>
        <p:spPr>
          <a:xfrm>
            <a:off x="567213" y="3314954"/>
            <a:ext cx="6428422" cy="1107996"/>
          </a:xfrm>
        </p:spPr>
        <p:txBody>
          <a:bodyPr/>
          <a:lstStyle/>
          <a:p>
            <a:r>
              <a:rPr lang="en-GB"/>
              <a:t>Option 1 – includes glossary but additional info and commentary are in the column which may not be easy to read</a:t>
            </a:r>
            <a:endParaRPr lang="en-US"/>
          </a:p>
        </p:txBody>
      </p:sp>
    </p:spTree>
    <p:extLst>
      <p:ext uri="{BB962C8B-B14F-4D97-AF65-F5344CB8AC3E}">
        <p14:creationId xmlns:p14="http://schemas.microsoft.com/office/powerpoint/2010/main" val="2918520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22"/>
          <p:cNvSpPr txBox="1"/>
          <p:nvPr/>
        </p:nvSpPr>
        <p:spPr>
          <a:xfrm>
            <a:off x="3059937" y="4973992"/>
            <a:ext cx="4183242" cy="385445"/>
          </a:xfrm>
          <a:prstGeom prst="rect">
            <a:avLst/>
          </a:prstGeom>
        </p:spPr>
        <p:txBody>
          <a:bodyPr vert="horz" wrap="square" lIns="0" tIns="70485" rIns="0" bIns="0" rtlCol="0">
            <a:spAutoFit/>
          </a:bodyPr>
          <a:lstStyle/>
          <a:p>
            <a:pPr marL="643890">
              <a:lnSpc>
                <a:spcPct val="100000"/>
              </a:lnSpc>
              <a:spcBef>
                <a:spcPts val="555"/>
              </a:spcBef>
              <a:tabLst>
                <a:tab pos="1134745" algn="l"/>
                <a:tab pos="1633855" algn="l"/>
                <a:tab pos="2786380" algn="l"/>
                <a:tab pos="3216910" algn="l"/>
                <a:tab pos="3736975" algn="l"/>
              </a:tabLst>
            </a:pPr>
            <a:r>
              <a:rPr sz="800">
                <a:solidFill>
                  <a:srgbClr val="142863"/>
                </a:solidFill>
                <a:latin typeface="Zurich Sans"/>
                <a:cs typeface="Zurich Sans"/>
              </a:rPr>
              <a:t>3 </a:t>
            </a:r>
            <a:r>
              <a:rPr sz="800" spc="-10">
                <a:solidFill>
                  <a:srgbClr val="142863"/>
                </a:solidFill>
                <a:latin typeface="Zurich Sans"/>
                <a:cs typeface="Zurich Sans"/>
              </a:rPr>
              <a:t>Years</a:t>
            </a:r>
            <a:r>
              <a:rPr sz="800">
                <a:solidFill>
                  <a:srgbClr val="142863"/>
                </a:solidFill>
                <a:latin typeface="Zurich Sans"/>
                <a:cs typeface="Zurich Sans"/>
              </a:rPr>
              <a:t>	5</a:t>
            </a:r>
            <a:r>
              <a:rPr sz="800" spc="-10">
                <a:solidFill>
                  <a:srgbClr val="142863"/>
                </a:solidFill>
                <a:latin typeface="Zurich Sans"/>
                <a:cs typeface="Zurich Sans"/>
              </a:rPr>
              <a:t> Years</a:t>
            </a:r>
            <a:r>
              <a:rPr sz="800">
                <a:solidFill>
                  <a:srgbClr val="142863"/>
                </a:solidFill>
                <a:latin typeface="Zurich Sans"/>
                <a:cs typeface="Zurich Sans"/>
              </a:rPr>
              <a:t>	10</a:t>
            </a:r>
            <a:r>
              <a:rPr sz="800" spc="-10">
                <a:solidFill>
                  <a:srgbClr val="142863"/>
                </a:solidFill>
                <a:latin typeface="Zurich Sans"/>
                <a:cs typeface="Zurich Sans"/>
              </a:rPr>
              <a:t> Years</a:t>
            </a:r>
            <a:r>
              <a:rPr sz="800">
                <a:solidFill>
                  <a:srgbClr val="142863"/>
                </a:solidFill>
                <a:latin typeface="Zurich Sans"/>
                <a:cs typeface="Zurich Sans"/>
              </a:rPr>
              <a:t>	1</a:t>
            </a:r>
            <a:r>
              <a:rPr sz="800" spc="-10">
                <a:solidFill>
                  <a:srgbClr val="142863"/>
                </a:solidFill>
                <a:latin typeface="Zurich Sans"/>
                <a:cs typeface="Zurich Sans"/>
              </a:rPr>
              <a:t> </a:t>
            </a:r>
            <a:r>
              <a:rPr sz="800" spc="-20">
                <a:solidFill>
                  <a:srgbClr val="142863"/>
                </a:solidFill>
                <a:latin typeface="Zurich Sans"/>
                <a:cs typeface="Zurich Sans"/>
              </a:rPr>
              <a:t>Year</a:t>
            </a:r>
            <a:r>
              <a:rPr sz="800">
                <a:solidFill>
                  <a:srgbClr val="142863"/>
                </a:solidFill>
                <a:latin typeface="Zurich Sans"/>
                <a:cs typeface="Zurich Sans"/>
              </a:rPr>
              <a:t>	3</a:t>
            </a:r>
            <a:r>
              <a:rPr sz="800" spc="-10">
                <a:solidFill>
                  <a:srgbClr val="142863"/>
                </a:solidFill>
                <a:latin typeface="Zurich Sans"/>
                <a:cs typeface="Zurich Sans"/>
              </a:rPr>
              <a:t> Years</a:t>
            </a:r>
            <a:r>
              <a:rPr sz="800">
                <a:solidFill>
                  <a:srgbClr val="142863"/>
                </a:solidFill>
                <a:latin typeface="Zurich Sans"/>
                <a:cs typeface="Zurich Sans"/>
              </a:rPr>
              <a:t>	5 </a:t>
            </a:r>
            <a:r>
              <a:rPr sz="800" spc="-10">
                <a:solidFill>
                  <a:srgbClr val="142863"/>
                </a:solidFill>
                <a:latin typeface="Zurich Sans"/>
                <a:cs typeface="Zurich Sans"/>
              </a:rPr>
              <a:t>Years</a:t>
            </a:r>
            <a:endParaRPr sz="800">
              <a:latin typeface="Zurich Sans"/>
              <a:cs typeface="Zurich Sans"/>
            </a:endParaRPr>
          </a:p>
          <a:p>
            <a:pPr marL="12700">
              <a:lnSpc>
                <a:spcPct val="100000"/>
              </a:lnSpc>
              <a:spcBef>
                <a:spcPts val="455"/>
              </a:spcBef>
              <a:tabLst>
                <a:tab pos="665480" algn="l"/>
                <a:tab pos="1163320" algn="l"/>
                <a:tab pos="1683385" algn="l"/>
                <a:tab pos="2154555" algn="l"/>
                <a:tab pos="2815590" algn="l"/>
                <a:tab pos="3291840" algn="l"/>
                <a:tab pos="3820160" algn="l"/>
              </a:tabLst>
            </a:pPr>
            <a:r>
              <a:rPr sz="800">
                <a:solidFill>
                  <a:srgbClr val="142863"/>
                </a:solidFill>
                <a:latin typeface="Zurich Sans"/>
                <a:cs typeface="Zurich Sans"/>
              </a:rPr>
              <a:t>% </a:t>
            </a:r>
            <a:r>
              <a:rPr sz="800" spc="-10">
                <a:solidFill>
                  <a:srgbClr val="142863"/>
                </a:solidFill>
                <a:latin typeface="Zurich Sans"/>
                <a:cs typeface="Zurich Sans"/>
              </a:rPr>
              <a:t>Growth</a:t>
            </a:r>
            <a:r>
              <a:rPr sz="800">
                <a:solidFill>
                  <a:srgbClr val="142863"/>
                </a:solidFill>
                <a:latin typeface="Zurich Sans"/>
                <a:cs typeface="Zurich Sans"/>
              </a:rPr>
              <a:t>	-</a:t>
            </a:r>
            <a:r>
              <a:rPr sz="800" spc="-20">
                <a:solidFill>
                  <a:srgbClr val="142863"/>
                </a:solidFill>
                <a:latin typeface="Zurich Sans"/>
                <a:cs typeface="Zurich Sans"/>
              </a:rPr>
              <a:t>7.72%</a:t>
            </a:r>
            <a:r>
              <a:rPr sz="800">
                <a:solidFill>
                  <a:srgbClr val="142863"/>
                </a:solidFill>
                <a:latin typeface="Zurich Sans"/>
                <a:cs typeface="Zurich Sans"/>
              </a:rPr>
              <a:t>	-</a:t>
            </a:r>
            <a:r>
              <a:rPr sz="800" spc="-10">
                <a:solidFill>
                  <a:srgbClr val="142863"/>
                </a:solidFill>
                <a:latin typeface="Zurich Sans"/>
                <a:cs typeface="Zurich Sans"/>
              </a:rPr>
              <a:t>4.51%</a:t>
            </a:r>
            <a:r>
              <a:rPr sz="800">
                <a:solidFill>
                  <a:srgbClr val="142863"/>
                </a:solidFill>
                <a:latin typeface="Zurich Sans"/>
                <a:cs typeface="Zurich Sans"/>
              </a:rPr>
              <a:t>	-</a:t>
            </a:r>
            <a:r>
              <a:rPr sz="800" spc="-10">
                <a:solidFill>
                  <a:srgbClr val="142863"/>
                </a:solidFill>
                <a:latin typeface="Zurich Sans"/>
                <a:cs typeface="Zurich Sans"/>
              </a:rPr>
              <a:t>1.87%</a:t>
            </a:r>
            <a:r>
              <a:rPr sz="800">
                <a:solidFill>
                  <a:srgbClr val="142863"/>
                </a:solidFill>
                <a:latin typeface="Zurich Sans"/>
                <a:cs typeface="Zurich Sans"/>
              </a:rPr>
              <a:t>	</a:t>
            </a:r>
            <a:r>
              <a:rPr lang="en-GB" sz="800">
                <a:solidFill>
                  <a:srgbClr val="142863"/>
                </a:solidFill>
                <a:latin typeface="Zurich Sans"/>
                <a:cs typeface="Zurich Sans"/>
              </a:rPr>
              <a:t>    </a:t>
            </a:r>
            <a:r>
              <a:rPr sz="800" spc="-10">
                <a:solidFill>
                  <a:srgbClr val="142863"/>
                </a:solidFill>
                <a:latin typeface="Zurich Sans"/>
                <a:cs typeface="Zurich Sans"/>
              </a:rPr>
              <a:t>Volatility</a:t>
            </a:r>
            <a:r>
              <a:rPr sz="800">
                <a:solidFill>
                  <a:srgbClr val="142863"/>
                </a:solidFill>
                <a:latin typeface="Zurich Sans"/>
                <a:cs typeface="Zurich Sans"/>
              </a:rPr>
              <a:t>	</a:t>
            </a:r>
            <a:r>
              <a:rPr sz="800" spc="-20">
                <a:solidFill>
                  <a:srgbClr val="142863"/>
                </a:solidFill>
                <a:latin typeface="Zurich Sans"/>
                <a:cs typeface="Zurich Sans"/>
              </a:rPr>
              <a:t>2.09</a:t>
            </a:r>
            <a:r>
              <a:rPr sz="800">
                <a:solidFill>
                  <a:srgbClr val="142863"/>
                </a:solidFill>
                <a:latin typeface="Zurich Sans"/>
                <a:cs typeface="Zurich Sans"/>
              </a:rPr>
              <a:t>	</a:t>
            </a:r>
            <a:r>
              <a:rPr sz="800" spc="-20">
                <a:solidFill>
                  <a:srgbClr val="142863"/>
                </a:solidFill>
                <a:latin typeface="Zurich Sans"/>
                <a:cs typeface="Zurich Sans"/>
              </a:rPr>
              <a:t>3.75</a:t>
            </a:r>
            <a:r>
              <a:rPr sz="800">
                <a:solidFill>
                  <a:srgbClr val="142863"/>
                </a:solidFill>
                <a:latin typeface="Zurich Sans"/>
                <a:cs typeface="Zurich Sans"/>
              </a:rPr>
              <a:t>	</a:t>
            </a:r>
            <a:r>
              <a:rPr sz="800" spc="-20">
                <a:solidFill>
                  <a:srgbClr val="142863"/>
                </a:solidFill>
                <a:latin typeface="Zurich Sans"/>
                <a:cs typeface="Zurich Sans"/>
              </a:rPr>
              <a:t>4.61</a:t>
            </a:r>
            <a:endParaRPr sz="800">
              <a:latin typeface="Zurich Sans"/>
              <a:cs typeface="Zurich Sans"/>
            </a:endParaRPr>
          </a:p>
        </p:txBody>
      </p:sp>
      <p:sp>
        <p:nvSpPr>
          <p:cNvPr id="2" name="object 2"/>
          <p:cNvSpPr txBox="1"/>
          <p:nvPr/>
        </p:nvSpPr>
        <p:spPr>
          <a:xfrm>
            <a:off x="349250"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b="0">
                <a:solidFill>
                  <a:srgbClr val="142863"/>
                </a:solidFill>
                <a:latin typeface="Zurich Sans Light"/>
                <a:cs typeface="Zurich Sans Light"/>
              </a:rPr>
              <a:t>March</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5" name="object 5"/>
          <p:cNvSpPr txBox="1"/>
          <p:nvPr/>
        </p:nvSpPr>
        <p:spPr>
          <a:xfrm>
            <a:off x="302114" y="1546665"/>
            <a:ext cx="6941754" cy="761365"/>
          </a:xfrm>
          <a:prstGeom prst="rect">
            <a:avLst/>
          </a:prstGeom>
        </p:spPr>
        <p:txBody>
          <a:bodyPr vert="horz" wrap="square" lIns="0" tIns="12700" rIns="0" bIns="0" rtlCol="0">
            <a:spAutoFit/>
          </a:bodyPr>
          <a:lstStyle/>
          <a:p>
            <a:pPr marL="12700">
              <a:lnSpc>
                <a:spcPct val="100000"/>
              </a:lnSpc>
              <a:spcBef>
                <a:spcPts val="100"/>
              </a:spcBef>
            </a:pPr>
            <a:r>
              <a:rPr sz="1150" b="1">
                <a:solidFill>
                  <a:srgbClr val="004F9E"/>
                </a:solidFill>
                <a:latin typeface="Zurich Sans"/>
                <a:cs typeface="Zurich Sans"/>
              </a:rPr>
              <a:t>Fund</a:t>
            </a:r>
            <a:r>
              <a:rPr sz="1150" b="1" spc="-5">
                <a:solidFill>
                  <a:srgbClr val="004F9E"/>
                </a:solidFill>
                <a:latin typeface="Zurich Sans"/>
                <a:cs typeface="Zurich Sans"/>
              </a:rPr>
              <a:t> </a:t>
            </a:r>
            <a:r>
              <a:rPr sz="1150" b="1" spc="-10">
                <a:solidFill>
                  <a:srgbClr val="004F9E"/>
                </a:solidFill>
                <a:latin typeface="Zurich Sans"/>
                <a:cs typeface="Zurich Sans"/>
              </a:rPr>
              <a:t>Objective</a:t>
            </a:r>
            <a:endParaRPr sz="1150">
              <a:latin typeface="Zurich Sans"/>
              <a:cs typeface="Zurich Sans"/>
            </a:endParaRPr>
          </a:p>
          <a:p>
            <a:pPr marL="12700" marR="5080">
              <a:lnSpc>
                <a:spcPct val="100000"/>
              </a:lnSpc>
              <a:spcBef>
                <a:spcPts val="600"/>
              </a:spcBef>
            </a:pPr>
            <a:r>
              <a:rPr lang="en-GB" sz="800" b="0">
                <a:solidFill>
                  <a:srgbClr val="142863"/>
                </a:solidFill>
                <a:latin typeface="Zurich Sans Light"/>
                <a:cs typeface="Zurich Sans Light"/>
              </a:rPr>
              <a:t>T</a:t>
            </a:r>
            <a:r>
              <a:rPr sz="800" b="0">
                <a:solidFill>
                  <a:srgbClr val="142863"/>
                </a:solidFill>
                <a:latin typeface="Zurich Sans Light"/>
                <a:cs typeface="Zurich Sans Light"/>
              </a:rPr>
              <a:t>he Fidelity </a:t>
            </a:r>
            <a:r>
              <a:rPr lang="en-GB" sz="800" b="0">
                <a:solidFill>
                  <a:srgbClr val="142863"/>
                </a:solidFill>
                <a:latin typeface="Zurich Sans Light"/>
                <a:cs typeface="Zurich Sans Light"/>
              </a:rPr>
              <a:t>Emerging Market Debt </a:t>
            </a:r>
            <a:r>
              <a:rPr sz="800" b="0">
                <a:solidFill>
                  <a:srgbClr val="142863"/>
                </a:solidFill>
                <a:latin typeface="Zurich Sans Light"/>
                <a:cs typeface="Zurich Sans Light"/>
              </a:rPr>
              <a:t>fund (the underlying 'Fund') aims to increase the value of your investment over a period of 5 years or more. </a:t>
            </a:r>
            <a:r>
              <a:rPr sz="800" b="0" spc="-25">
                <a:solidFill>
                  <a:srgbClr val="142863"/>
                </a:solidFill>
                <a:latin typeface="Zurich Sans Light"/>
                <a:cs typeface="Zurich Sans Light"/>
              </a:rPr>
              <a:t>The</a:t>
            </a:r>
            <a:r>
              <a:rPr lang="en-GB" sz="800" spc="500">
                <a:solidFill>
                  <a:srgbClr val="142863"/>
                </a:solidFill>
                <a:latin typeface="Zurich Sans Light"/>
                <a:cs typeface="Zurich Sans Light"/>
              </a:rPr>
              <a:t> </a:t>
            </a:r>
            <a:r>
              <a:rPr sz="800" b="0">
                <a:solidFill>
                  <a:srgbClr val="142863"/>
                </a:solidFill>
                <a:latin typeface="Zurich Sans Light"/>
                <a:cs typeface="Zurich Sans Light"/>
              </a:rPr>
              <a:t>Fund</a:t>
            </a:r>
            <a:r>
              <a:rPr sz="800" b="0" spc="-10">
                <a:solidFill>
                  <a:srgbClr val="142863"/>
                </a:solidFill>
                <a:latin typeface="Zurich Sans Light"/>
                <a:cs typeface="Zurich Sans Light"/>
              </a:rPr>
              <a:t> </a:t>
            </a:r>
            <a:r>
              <a:rPr sz="800" b="0">
                <a:solidFill>
                  <a:srgbClr val="142863"/>
                </a:solidFill>
                <a:latin typeface="Zurich Sans Light"/>
                <a:cs typeface="Zurich Sans Light"/>
              </a:rPr>
              <a:t>will invest at least 70% in equities (and their related securities) of companies globally which could include countries considered to be </a:t>
            </a:r>
            <a:r>
              <a:rPr sz="800" b="0" spc="-10">
                <a:solidFill>
                  <a:srgbClr val="142863"/>
                </a:solidFill>
                <a:latin typeface="Zurich Sans Light"/>
                <a:cs typeface="Zurich Sans Light"/>
              </a:rPr>
              <a:t>emerging</a:t>
            </a:r>
            <a:r>
              <a:rPr lang="en-GB" sz="800" b="0" spc="-10">
                <a:solidFill>
                  <a:srgbClr val="142863"/>
                </a:solidFill>
                <a:latin typeface="Zurich Sans Light"/>
                <a:cs typeface="Zurich Sans Light"/>
              </a:rPr>
              <a:t> </a:t>
            </a:r>
            <a:r>
              <a:rPr sz="800" b="0">
                <a:solidFill>
                  <a:srgbClr val="142863"/>
                </a:solidFill>
                <a:latin typeface="Zurich Sans Light"/>
                <a:cs typeface="Zurich Sans Light"/>
              </a:rPr>
              <a:t>markets as determined by the Investment Manager at its sole discretion. The investment manager will focus on companies it believes to be </a:t>
            </a:r>
            <a:r>
              <a:rPr sz="800" b="0" spc="-10">
                <a:solidFill>
                  <a:srgbClr val="142863"/>
                </a:solidFill>
                <a:latin typeface="Zurich Sans Light"/>
                <a:cs typeface="Zurich Sans Light"/>
              </a:rPr>
              <a:t>undervalued</a:t>
            </a:r>
            <a:r>
              <a:rPr lang="en-GB" sz="800" b="0" spc="-10">
                <a:solidFill>
                  <a:srgbClr val="142863"/>
                </a:solidFill>
                <a:latin typeface="Zurich Sans Light"/>
                <a:cs typeface="Zurich Sans Light"/>
              </a:rPr>
              <a:t> </a:t>
            </a:r>
            <a:r>
              <a:rPr sz="800" b="0">
                <a:solidFill>
                  <a:srgbClr val="142863"/>
                </a:solidFill>
                <a:latin typeface="Zurich Sans Light"/>
                <a:cs typeface="Zurich Sans Light"/>
              </a:rPr>
              <a:t>and whose recovery potential is not </a:t>
            </a:r>
            <a:r>
              <a:rPr sz="800" b="0" err="1">
                <a:solidFill>
                  <a:srgbClr val="142863"/>
                </a:solidFill>
                <a:latin typeface="Zurich Sans Light"/>
                <a:cs typeface="Zurich Sans Light"/>
              </a:rPr>
              <a:t>recognised</a:t>
            </a:r>
            <a:r>
              <a:rPr sz="800" b="0">
                <a:solidFill>
                  <a:srgbClr val="142863"/>
                </a:solidFill>
                <a:latin typeface="Zurich Sans Light"/>
                <a:cs typeface="Zurich Sans Light"/>
              </a:rPr>
              <a:t> by the market. The Fund is actively </a:t>
            </a:r>
            <a:r>
              <a:rPr sz="800" b="0" spc="-10">
                <a:solidFill>
                  <a:srgbClr val="142863"/>
                </a:solidFill>
                <a:latin typeface="Zurich Sans Light"/>
                <a:cs typeface="Zurich Sans Light"/>
              </a:rPr>
              <a:t>managed.</a:t>
            </a:r>
            <a:endParaRPr sz="800">
              <a:latin typeface="Zurich Sans Light"/>
              <a:cs typeface="Zurich Sans Light"/>
            </a:endParaRPr>
          </a:p>
        </p:txBody>
      </p:sp>
      <p:sp>
        <p:nvSpPr>
          <p:cNvPr id="6" name="object 6"/>
          <p:cNvSpPr txBox="1">
            <a:spLocks noGrp="1"/>
          </p:cNvSpPr>
          <p:nvPr>
            <p:ph type="title"/>
          </p:nvPr>
        </p:nvSpPr>
        <p:spPr>
          <a:xfrm>
            <a:off x="281738" y="1002662"/>
            <a:ext cx="5130815" cy="394980"/>
          </a:xfrm>
          <a:prstGeom prst="rect">
            <a:avLst/>
          </a:prstGeom>
        </p:spPr>
        <p:txBody>
          <a:bodyPr vert="horz" wrap="square" lIns="0" tIns="48260" rIns="0" bIns="0" rtlCol="0">
            <a:spAutoFit/>
          </a:bodyPr>
          <a:lstStyle/>
          <a:p>
            <a:pPr marL="12700" marR="5080">
              <a:lnSpc>
                <a:spcPts val="2650"/>
              </a:lnSpc>
              <a:spcBef>
                <a:spcPts val="380"/>
              </a:spcBef>
            </a:pPr>
            <a:r>
              <a:rPr lang="en-GB">
                <a:solidFill>
                  <a:srgbClr val="004F9E"/>
                </a:solidFill>
              </a:rPr>
              <a:t>Fidelity Emerging </a:t>
            </a:r>
            <a:r>
              <a:rPr lang="en-GB" spc="-10">
                <a:solidFill>
                  <a:srgbClr val="004F9E"/>
                </a:solidFill>
              </a:rPr>
              <a:t>Market </a:t>
            </a:r>
            <a:r>
              <a:rPr lang="en-GB" spc="-20">
                <a:solidFill>
                  <a:srgbClr val="004F9E"/>
                </a:solidFill>
              </a:rPr>
              <a:t>Debt</a:t>
            </a:r>
            <a:endParaRPr spc="-20">
              <a:solidFill>
                <a:srgbClr val="004F9E"/>
              </a:solidFill>
            </a:endParaRPr>
          </a:p>
        </p:txBody>
      </p:sp>
      <p:sp>
        <p:nvSpPr>
          <p:cNvPr id="8" name="object 8"/>
          <p:cNvSpPr/>
          <p:nvPr/>
        </p:nvSpPr>
        <p:spPr>
          <a:xfrm>
            <a:off x="3073449" y="316181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0" name="object 10"/>
          <p:cNvSpPr/>
          <p:nvPr/>
        </p:nvSpPr>
        <p:spPr>
          <a:xfrm>
            <a:off x="3059938" y="444613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1" name="object 11"/>
          <p:cNvSpPr/>
          <p:nvPr/>
        </p:nvSpPr>
        <p:spPr>
          <a:xfrm>
            <a:off x="3059938" y="4251445"/>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2" name="object 12"/>
          <p:cNvSpPr/>
          <p:nvPr/>
        </p:nvSpPr>
        <p:spPr>
          <a:xfrm>
            <a:off x="3068954" y="4730869"/>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6" name="object 16"/>
          <p:cNvSpPr/>
          <p:nvPr/>
        </p:nvSpPr>
        <p:spPr>
          <a:xfrm>
            <a:off x="3059938" y="4918926"/>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7" name="object 17"/>
          <p:cNvSpPr/>
          <p:nvPr/>
        </p:nvSpPr>
        <p:spPr>
          <a:xfrm>
            <a:off x="3059938" y="5187950"/>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8" name="object 18"/>
          <p:cNvSpPr txBox="1"/>
          <p:nvPr/>
        </p:nvSpPr>
        <p:spPr>
          <a:xfrm>
            <a:off x="3059938" y="4827985"/>
            <a:ext cx="2070100" cy="180000"/>
          </a:xfrm>
          <a:prstGeom prst="rect">
            <a:avLst/>
          </a:prstGeom>
          <a:solidFill>
            <a:srgbClr val="4890DA"/>
          </a:solidFill>
        </p:spPr>
        <p:txBody>
          <a:bodyPr vert="horz" wrap="square" lIns="36000" tIns="36000" rIns="36000" bIns="36000" rtlCol="0">
            <a:spAutoFit/>
          </a:bodyPr>
          <a:lstStyle/>
          <a:p>
            <a:pPr marL="35560" marR="60325">
              <a:lnSpc>
                <a:spcPct val="79200"/>
              </a:lnSpc>
              <a:spcBef>
                <a:spcPts val="350"/>
              </a:spcBef>
            </a:pPr>
            <a:r>
              <a:rPr sz="800" b="1">
                <a:solidFill>
                  <a:srgbClr val="FFFFFF"/>
                </a:solidFill>
                <a:latin typeface="Zurich Sans"/>
                <a:cs typeface="Zurich Sans"/>
              </a:rPr>
              <a:t>Annualised</a:t>
            </a:r>
            <a:r>
              <a:rPr sz="800" b="1" spc="-5">
                <a:solidFill>
                  <a:srgbClr val="FFFFFF"/>
                </a:solidFill>
                <a:latin typeface="Zurich Sans"/>
                <a:cs typeface="Zurich Sans"/>
              </a:rPr>
              <a:t> </a:t>
            </a:r>
            <a:r>
              <a:rPr sz="800" b="1">
                <a:solidFill>
                  <a:srgbClr val="FFFFFF"/>
                </a:solidFill>
                <a:latin typeface="Zurich Sans"/>
                <a:cs typeface="Zurich Sans"/>
              </a:rPr>
              <a:t>performance</a:t>
            </a:r>
            <a:r>
              <a:rPr sz="800" b="1" spc="-5">
                <a:solidFill>
                  <a:srgbClr val="FFFFFF"/>
                </a:solidFill>
                <a:latin typeface="Zurich Sans"/>
                <a:cs typeface="Zurich Sans"/>
              </a:rPr>
              <a:t> </a:t>
            </a:r>
            <a:endParaRPr sz="800">
              <a:latin typeface="Zurich Sans"/>
              <a:cs typeface="Zurich Sans"/>
            </a:endParaRPr>
          </a:p>
        </p:txBody>
      </p:sp>
      <p:sp>
        <p:nvSpPr>
          <p:cNvPr id="20" name="object 20"/>
          <p:cNvSpPr/>
          <p:nvPr/>
        </p:nvSpPr>
        <p:spPr>
          <a:xfrm>
            <a:off x="5285160" y="5187950"/>
            <a:ext cx="1944000" cy="6350"/>
          </a:xfrm>
          <a:custGeom>
            <a:avLst/>
            <a:gdLst/>
            <a:ahLst/>
            <a:cxnLst/>
            <a:rect l="l" t="t" r="r" b="b"/>
            <a:pathLst>
              <a:path w="1998345" h="6350">
                <a:moveTo>
                  <a:pt x="0" y="0"/>
                </a:moveTo>
                <a:lnTo>
                  <a:pt x="1997964" y="0"/>
                </a:lnTo>
                <a:lnTo>
                  <a:pt x="1997964" y="6350"/>
                </a:lnTo>
                <a:lnTo>
                  <a:pt x="0" y="6350"/>
                </a:lnTo>
                <a:lnTo>
                  <a:pt x="0" y="0"/>
                </a:lnTo>
                <a:close/>
              </a:path>
            </a:pathLst>
          </a:custGeom>
          <a:solidFill>
            <a:srgbClr val="4890DA"/>
          </a:solidFill>
        </p:spPr>
        <p:txBody>
          <a:bodyPr wrap="square" lIns="0" tIns="0" rIns="0" bIns="0" rtlCol="0"/>
          <a:lstStyle/>
          <a:p>
            <a:endParaRPr/>
          </a:p>
        </p:txBody>
      </p:sp>
      <p:sp>
        <p:nvSpPr>
          <p:cNvPr id="21" name="object 21"/>
          <p:cNvSpPr txBox="1"/>
          <p:nvPr/>
        </p:nvSpPr>
        <p:spPr>
          <a:xfrm>
            <a:off x="5246430" y="4820468"/>
            <a:ext cx="1998345" cy="169974"/>
          </a:xfrm>
          <a:prstGeom prst="rect">
            <a:avLst/>
          </a:prstGeom>
          <a:solidFill>
            <a:srgbClr val="4890DA"/>
          </a:solidFill>
        </p:spPr>
        <p:txBody>
          <a:bodyPr vert="horz" wrap="square" lIns="36000" tIns="36000" rIns="36000" bIns="36000" rtlCol="0">
            <a:spAutoFit/>
          </a:bodyPr>
          <a:lstStyle/>
          <a:p>
            <a:pPr marL="35560" marR="411480">
              <a:lnSpc>
                <a:spcPct val="79200"/>
              </a:lnSpc>
              <a:spcBef>
                <a:spcPts val="350"/>
              </a:spcBef>
            </a:pPr>
            <a:r>
              <a:rPr lang="en-GB" sz="800" b="1">
                <a:solidFill>
                  <a:srgbClr val="FFFFFF"/>
                </a:solidFill>
                <a:latin typeface="Zurich Sans" panose="02000500000000000000" pitchFamily="2" charset="0"/>
                <a:cs typeface="Zurich Sans"/>
              </a:rPr>
              <a:t>Volatility </a:t>
            </a:r>
            <a:r>
              <a:rPr lang="en-GB" sz="800" b="1" spc="-5">
                <a:solidFill>
                  <a:srgbClr val="FFFFFF"/>
                </a:solidFill>
                <a:latin typeface="Zurich Sans" panose="02000500000000000000" pitchFamily="2" charset="0"/>
                <a:cs typeface="Zurich Sans"/>
              </a:rPr>
              <a:t>(as at 28/02/25)</a:t>
            </a:r>
            <a:endParaRPr sz="800" b="1">
              <a:latin typeface="Zurich Sans" panose="02000500000000000000" pitchFamily="2" charset="0"/>
              <a:cs typeface="Zurich Sans"/>
            </a:endParaRPr>
          </a:p>
        </p:txBody>
      </p:sp>
      <p:sp>
        <p:nvSpPr>
          <p:cNvPr id="24" name="object 24"/>
          <p:cNvSpPr txBox="1"/>
          <p:nvPr/>
        </p:nvSpPr>
        <p:spPr>
          <a:xfrm>
            <a:off x="3059938" y="2805858"/>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sz="800" b="1">
                <a:solidFill>
                  <a:srgbClr val="FFFFFF"/>
                </a:solidFill>
                <a:latin typeface="Zurich Sans"/>
                <a:cs typeface="Zurich Sans"/>
              </a:rPr>
              <a:t>Cumulative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sp>
        <p:nvSpPr>
          <p:cNvPr id="25" name="object 25"/>
          <p:cNvSpPr txBox="1"/>
          <p:nvPr/>
        </p:nvSpPr>
        <p:spPr>
          <a:xfrm>
            <a:off x="3059937" y="2976946"/>
            <a:ext cx="4211228" cy="381515"/>
          </a:xfrm>
          <a:prstGeom prst="rect">
            <a:avLst/>
          </a:prstGeom>
        </p:spPr>
        <p:txBody>
          <a:bodyPr vert="horz" wrap="square" lIns="0" tIns="70485" rIns="0" bIns="0" rtlCol="0" anchor="t">
            <a:spAutoFit/>
          </a:bodyPr>
          <a:lstStyle/>
          <a:p>
            <a:pPr marR="156845" algn="l">
              <a:spcBef>
                <a:spcPts val="555"/>
              </a:spcBef>
              <a:tabLst>
                <a:tab pos="789305" algn="l"/>
                <a:tab pos="1374775" algn="l"/>
                <a:tab pos="2091689" algn="l"/>
                <a:tab pos="2827655" algn="l"/>
              </a:tabLst>
            </a:pPr>
            <a:r>
              <a:rPr lang="en-US" sz="800">
                <a:solidFill>
                  <a:srgbClr val="142863"/>
                </a:solidFill>
                <a:latin typeface="Zurich Sans"/>
                <a:cs typeface="Zurich Sans"/>
              </a:rPr>
              <a:t>                          1 Month     3 Months      6</a:t>
            </a:r>
            <a:r>
              <a:rPr sz="800" spc="-10">
                <a:solidFill>
                  <a:srgbClr val="142863"/>
                </a:solidFill>
                <a:latin typeface="Zurich Sans"/>
                <a:cs typeface="Zurich Sans"/>
              </a:rPr>
              <a:t> Months</a:t>
            </a:r>
            <a:r>
              <a:rPr lang="en-GB" sz="800" spc="-10">
                <a:solidFill>
                  <a:srgbClr val="142863"/>
                </a:solidFill>
                <a:latin typeface="Zurich Sans"/>
                <a:cs typeface="Zurich Sans"/>
              </a:rPr>
              <a:t>       </a:t>
            </a:r>
            <a:r>
              <a:rPr sz="800">
                <a:solidFill>
                  <a:srgbClr val="142863"/>
                </a:solidFill>
                <a:latin typeface="Zurich Sans"/>
                <a:cs typeface="Zurich Sans"/>
              </a:rPr>
              <a:t>1 </a:t>
            </a:r>
            <a:r>
              <a:rPr sz="800" spc="-20">
                <a:solidFill>
                  <a:srgbClr val="142863"/>
                </a:solidFill>
                <a:latin typeface="Zurich Sans"/>
                <a:cs typeface="Zurich Sans"/>
              </a:rPr>
              <a:t>Year</a:t>
            </a:r>
            <a:r>
              <a:rPr lang="en-GB" sz="800" spc="-20">
                <a:solidFill>
                  <a:srgbClr val="142863"/>
                </a:solidFill>
                <a:latin typeface="Zurich Sans"/>
                <a:cs typeface="Zurich Sans"/>
              </a:rPr>
              <a:t>       </a:t>
            </a:r>
            <a:r>
              <a:rPr sz="800">
                <a:solidFill>
                  <a:srgbClr val="142863"/>
                </a:solidFill>
                <a:latin typeface="Zurich Sans"/>
                <a:cs typeface="Zurich Sans"/>
              </a:rPr>
              <a:t>3 </a:t>
            </a:r>
            <a:r>
              <a:rPr sz="800" spc="-10">
                <a:solidFill>
                  <a:srgbClr val="142863"/>
                </a:solidFill>
                <a:latin typeface="Zurich Sans"/>
                <a:cs typeface="Zurich Sans"/>
              </a:rPr>
              <a:t>Years</a:t>
            </a:r>
            <a:r>
              <a:rPr lang="en-GB" sz="800" spc="-10">
                <a:solidFill>
                  <a:srgbClr val="142863"/>
                </a:solidFill>
                <a:latin typeface="Zurich Sans"/>
                <a:cs typeface="Zurich Sans"/>
              </a:rPr>
              <a:t>       </a:t>
            </a:r>
            <a:r>
              <a:rPr sz="800">
                <a:solidFill>
                  <a:srgbClr val="142863"/>
                </a:solidFill>
                <a:latin typeface="Zurich Sans"/>
                <a:cs typeface="Zurich Sans"/>
              </a:rPr>
              <a:t>5</a:t>
            </a:r>
            <a:r>
              <a:rPr sz="800" spc="-10">
                <a:solidFill>
                  <a:srgbClr val="142863"/>
                </a:solidFill>
                <a:latin typeface="Zurich Sans"/>
                <a:cs typeface="Zurich Sans"/>
              </a:rPr>
              <a:t> Years</a:t>
            </a:r>
            <a:r>
              <a:rPr lang="en-GB" sz="800" spc="-10">
                <a:solidFill>
                  <a:srgbClr val="142863"/>
                </a:solidFill>
                <a:latin typeface="Zurich Sans"/>
                <a:cs typeface="Zurich Sans"/>
              </a:rPr>
              <a:t>       </a:t>
            </a:r>
            <a:r>
              <a:rPr sz="800">
                <a:solidFill>
                  <a:srgbClr val="142863"/>
                </a:solidFill>
                <a:latin typeface="Zurich Sans"/>
                <a:cs typeface="Zurich Sans"/>
              </a:rPr>
              <a:t>10</a:t>
            </a:r>
            <a:r>
              <a:rPr sz="800" spc="-10">
                <a:solidFill>
                  <a:srgbClr val="142863"/>
                </a:solidFill>
                <a:latin typeface="Zurich Sans"/>
                <a:cs typeface="Zurich Sans"/>
              </a:rPr>
              <a:t> Years</a:t>
            </a:r>
            <a:endParaRPr lang="en-GB" sz="800">
              <a:latin typeface="Zurich Sans"/>
              <a:cs typeface="Zurich Sans"/>
            </a:endParaRPr>
          </a:p>
          <a:p>
            <a:pPr marR="188595" algn="l">
              <a:spcBef>
                <a:spcPts val="455"/>
              </a:spcBef>
              <a:tabLst>
                <a:tab pos="838835" algn="l"/>
                <a:tab pos="1542415" algn="l"/>
                <a:tab pos="2146300" algn="l"/>
                <a:tab pos="2829560" algn="l"/>
                <a:tab pos="3620135" algn="l"/>
              </a:tabLst>
            </a:pPr>
            <a:r>
              <a:rPr lang="en-GB" sz="800">
                <a:solidFill>
                  <a:srgbClr val="142863"/>
                </a:solidFill>
                <a:latin typeface="Zurich Sans"/>
                <a:cs typeface="Zurich Sans"/>
              </a:rPr>
              <a:t>% </a:t>
            </a:r>
            <a:r>
              <a:rPr lang="en-GB" sz="800" spc="-10">
                <a:solidFill>
                  <a:srgbClr val="142863"/>
                </a:solidFill>
                <a:latin typeface="Zurich Sans"/>
                <a:cs typeface="Zurich Sans"/>
              </a:rPr>
              <a:t>Growth         1.95%          2.95%             3.95%               9.95%     </a:t>
            </a:r>
            <a:r>
              <a:rPr lang="en-GB" sz="800">
                <a:solidFill>
                  <a:srgbClr val="142863"/>
                </a:solidFill>
                <a:latin typeface="Zurich Sans"/>
                <a:cs typeface="Zurich Sans"/>
              </a:rPr>
              <a:t>-</a:t>
            </a:r>
            <a:r>
              <a:rPr lang="en-GB" sz="800" spc="-10">
                <a:solidFill>
                  <a:srgbClr val="142863"/>
                </a:solidFill>
                <a:latin typeface="Zurich Sans"/>
                <a:cs typeface="Zurich Sans"/>
              </a:rPr>
              <a:t>21.41%        </a:t>
            </a:r>
            <a:r>
              <a:rPr lang="en-GB" sz="800">
                <a:solidFill>
                  <a:srgbClr val="142863"/>
                </a:solidFill>
                <a:latin typeface="Zurich Sans"/>
                <a:cs typeface="Zurich Sans"/>
              </a:rPr>
              <a:t>-</a:t>
            </a:r>
            <a:r>
              <a:rPr lang="en-GB" sz="800" spc="-10">
                <a:solidFill>
                  <a:srgbClr val="142863"/>
                </a:solidFill>
                <a:latin typeface="Zurich Sans"/>
                <a:cs typeface="Zurich Sans"/>
              </a:rPr>
              <a:t>20.60%     </a:t>
            </a:r>
            <a:r>
              <a:rPr lang="en-GB" sz="800">
                <a:solidFill>
                  <a:srgbClr val="142863"/>
                </a:solidFill>
                <a:latin typeface="Zurich Sans"/>
                <a:cs typeface="Zurich Sans"/>
              </a:rPr>
              <a:t>-</a:t>
            </a:r>
            <a:r>
              <a:rPr lang="en-GB" sz="800" spc="-10">
                <a:solidFill>
                  <a:srgbClr val="142863"/>
                </a:solidFill>
                <a:latin typeface="Zurich Sans"/>
                <a:cs typeface="Zurich Sans"/>
              </a:rPr>
              <a:t>17.19%</a:t>
            </a:r>
            <a:endParaRPr lang="en-GB" sz="800">
              <a:latin typeface="Zurich Sans"/>
              <a:cs typeface="Zurich Sans"/>
            </a:endParaRPr>
          </a:p>
        </p:txBody>
      </p:sp>
      <p:sp>
        <p:nvSpPr>
          <p:cNvPr id="26" name="object 26"/>
          <p:cNvSpPr txBox="1"/>
          <p:nvPr/>
        </p:nvSpPr>
        <p:spPr>
          <a:xfrm>
            <a:off x="3680076" y="3998176"/>
            <a:ext cx="653415" cy="249554"/>
          </a:xfrm>
          <a:prstGeom prst="rect">
            <a:avLst/>
          </a:prstGeom>
        </p:spPr>
        <p:txBody>
          <a:bodyPr vert="horz" wrap="square" lIns="0" tIns="12700" rIns="0" bIns="0" rtlCol="0">
            <a:spAutoFit/>
          </a:bodyPr>
          <a:lstStyle/>
          <a:p>
            <a:pPr marL="12700" algn="l">
              <a:lnSpc>
                <a:spcPts val="880"/>
              </a:lnSpc>
              <a:spcBef>
                <a:spcPts val="100"/>
              </a:spcBef>
            </a:pPr>
            <a:r>
              <a:rPr sz="800">
                <a:solidFill>
                  <a:srgbClr val="142863"/>
                </a:solidFill>
                <a:latin typeface="Zurich Sans"/>
                <a:cs typeface="Zurich Sans"/>
              </a:rPr>
              <a:t>30/11/2023 </a:t>
            </a:r>
            <a:r>
              <a:rPr sz="800" spc="-25">
                <a:solidFill>
                  <a:srgbClr val="142863"/>
                </a:solidFill>
                <a:latin typeface="Zurich Sans"/>
                <a:cs typeface="Zurich Sans"/>
              </a:rPr>
              <a:t>to</a:t>
            </a:r>
            <a:endParaRPr lang="en-US" sz="800">
              <a:latin typeface="Zurich Sans"/>
              <a:cs typeface="Zurich Sans"/>
            </a:endParaRPr>
          </a:p>
          <a:p>
            <a:pPr marL="70485" algn="l">
              <a:lnSpc>
                <a:spcPts val="880"/>
              </a:lnSpc>
            </a:pPr>
            <a:r>
              <a:rPr lang="en-US" sz="800" spc="-10">
                <a:solidFill>
                  <a:srgbClr val="142863"/>
                </a:solidFill>
                <a:latin typeface="Zurich Sans"/>
                <a:cs typeface="Zurich Sans"/>
              </a:rPr>
              <a:t>30/11/2024</a:t>
            </a:r>
            <a:endParaRPr lang="en-US" sz="800">
              <a:latin typeface="Zurich Sans"/>
              <a:cs typeface="Zurich Sans"/>
            </a:endParaRPr>
          </a:p>
        </p:txBody>
      </p:sp>
      <p:sp>
        <p:nvSpPr>
          <p:cNvPr id="27" name="object 27"/>
          <p:cNvSpPr txBox="1"/>
          <p:nvPr/>
        </p:nvSpPr>
        <p:spPr>
          <a:xfrm>
            <a:off x="4401309" y="3998176"/>
            <a:ext cx="65341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30/11/2022 </a:t>
            </a:r>
            <a:r>
              <a:rPr sz="800" spc="-25">
                <a:solidFill>
                  <a:srgbClr val="142863"/>
                </a:solidFill>
                <a:latin typeface="Zurich Sans"/>
                <a:cs typeface="Zurich Sans"/>
              </a:rPr>
              <a:t>to</a:t>
            </a:r>
            <a:endParaRPr sz="800">
              <a:latin typeface="Zurich Sans"/>
              <a:cs typeface="Zurich Sans"/>
            </a:endParaRPr>
          </a:p>
          <a:p>
            <a:pPr marL="69215">
              <a:lnSpc>
                <a:spcPts val="880"/>
              </a:lnSpc>
            </a:pPr>
            <a:r>
              <a:rPr sz="800" spc="-10">
                <a:solidFill>
                  <a:srgbClr val="142863"/>
                </a:solidFill>
                <a:latin typeface="Zurich Sans"/>
                <a:cs typeface="Zurich Sans"/>
              </a:rPr>
              <a:t>30/11/2023</a:t>
            </a:r>
            <a:endParaRPr sz="800">
              <a:latin typeface="Zurich Sans"/>
              <a:cs typeface="Zurich Sans"/>
            </a:endParaRPr>
          </a:p>
        </p:txBody>
      </p:sp>
      <p:sp>
        <p:nvSpPr>
          <p:cNvPr id="28" name="object 28"/>
          <p:cNvSpPr txBox="1"/>
          <p:nvPr/>
        </p:nvSpPr>
        <p:spPr>
          <a:xfrm>
            <a:off x="5130038" y="3998176"/>
            <a:ext cx="63055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30/11/2021 </a:t>
            </a:r>
            <a:r>
              <a:rPr sz="800" spc="-25">
                <a:solidFill>
                  <a:srgbClr val="142863"/>
                </a:solidFill>
                <a:latin typeface="Zurich Sans"/>
                <a:cs typeface="Zurich Sans"/>
              </a:rPr>
              <a:t>to</a:t>
            </a:r>
            <a:endParaRPr sz="800">
              <a:latin typeface="Zurich Sans"/>
              <a:cs typeface="Zurich Sans"/>
            </a:endParaRPr>
          </a:p>
          <a:p>
            <a:pPr marL="58419">
              <a:lnSpc>
                <a:spcPts val="880"/>
              </a:lnSpc>
            </a:pPr>
            <a:r>
              <a:rPr sz="800" spc="-10">
                <a:solidFill>
                  <a:srgbClr val="142863"/>
                </a:solidFill>
                <a:latin typeface="Zurich Sans"/>
                <a:cs typeface="Zurich Sans"/>
              </a:rPr>
              <a:t>30/11/2022</a:t>
            </a:r>
            <a:endParaRPr sz="800">
              <a:latin typeface="Zurich Sans"/>
              <a:cs typeface="Zurich Sans"/>
            </a:endParaRPr>
          </a:p>
        </p:txBody>
      </p:sp>
      <p:sp>
        <p:nvSpPr>
          <p:cNvPr id="29" name="object 29"/>
          <p:cNvSpPr txBox="1"/>
          <p:nvPr/>
        </p:nvSpPr>
        <p:spPr>
          <a:xfrm>
            <a:off x="5803020" y="3998176"/>
            <a:ext cx="662305" cy="249554"/>
          </a:xfrm>
          <a:prstGeom prst="rect">
            <a:avLst/>
          </a:prstGeom>
        </p:spPr>
        <p:txBody>
          <a:bodyPr vert="horz" wrap="square" lIns="0" tIns="12700" rIns="0" bIns="0" rtlCol="0">
            <a:spAutoFit/>
          </a:bodyPr>
          <a:lstStyle/>
          <a:p>
            <a:pPr algn="ctr">
              <a:lnSpc>
                <a:spcPts val="880"/>
              </a:lnSpc>
              <a:spcBef>
                <a:spcPts val="100"/>
              </a:spcBef>
            </a:pPr>
            <a:r>
              <a:rPr sz="800">
                <a:solidFill>
                  <a:srgbClr val="142863"/>
                </a:solidFill>
                <a:latin typeface="Zurich Sans"/>
                <a:cs typeface="Zurich Sans"/>
              </a:rPr>
              <a:t>30/11/2020 </a:t>
            </a:r>
            <a:r>
              <a:rPr sz="800" spc="-25">
                <a:solidFill>
                  <a:srgbClr val="142863"/>
                </a:solidFill>
                <a:latin typeface="Zurich Sans"/>
                <a:cs typeface="Zurich Sans"/>
              </a:rPr>
              <a:t>to</a:t>
            </a:r>
            <a:endParaRPr sz="800">
              <a:latin typeface="Zurich Sans"/>
              <a:cs typeface="Zurich Sans"/>
            </a:endParaRPr>
          </a:p>
          <a:p>
            <a:pPr algn="ctr">
              <a:lnSpc>
                <a:spcPts val="880"/>
              </a:lnSpc>
            </a:pPr>
            <a:r>
              <a:rPr sz="800" spc="-10">
                <a:solidFill>
                  <a:srgbClr val="142863"/>
                </a:solidFill>
                <a:latin typeface="Zurich Sans"/>
                <a:cs typeface="Zurich Sans"/>
              </a:rPr>
              <a:t>30/11/2021</a:t>
            </a:r>
            <a:endParaRPr sz="800">
              <a:latin typeface="Zurich Sans"/>
              <a:cs typeface="Zurich Sans"/>
            </a:endParaRPr>
          </a:p>
        </p:txBody>
      </p:sp>
      <p:sp>
        <p:nvSpPr>
          <p:cNvPr id="30" name="object 30"/>
          <p:cNvSpPr txBox="1"/>
          <p:nvPr/>
        </p:nvSpPr>
        <p:spPr>
          <a:xfrm>
            <a:off x="6538731" y="3998176"/>
            <a:ext cx="63563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30/11/2019 </a:t>
            </a:r>
            <a:r>
              <a:rPr sz="800" spc="-25">
                <a:solidFill>
                  <a:srgbClr val="142863"/>
                </a:solidFill>
                <a:latin typeface="Zurich Sans"/>
                <a:cs typeface="Zurich Sans"/>
              </a:rPr>
              <a:t>to</a:t>
            </a:r>
            <a:endParaRPr sz="800">
              <a:latin typeface="Zurich Sans"/>
              <a:cs typeface="Zurich Sans"/>
            </a:endParaRPr>
          </a:p>
          <a:p>
            <a:pPr marL="56515">
              <a:lnSpc>
                <a:spcPts val="880"/>
              </a:lnSpc>
            </a:pPr>
            <a:r>
              <a:rPr sz="800" spc="-10">
                <a:solidFill>
                  <a:srgbClr val="142863"/>
                </a:solidFill>
                <a:latin typeface="Zurich Sans"/>
                <a:cs typeface="Zurich Sans"/>
              </a:rPr>
              <a:t>30/11/2020</a:t>
            </a:r>
            <a:endParaRPr sz="800">
              <a:latin typeface="Zurich Sans"/>
              <a:cs typeface="Zurich Sans"/>
            </a:endParaRPr>
          </a:p>
        </p:txBody>
      </p:sp>
      <p:sp>
        <p:nvSpPr>
          <p:cNvPr id="31" name="object 31"/>
          <p:cNvSpPr txBox="1"/>
          <p:nvPr/>
        </p:nvSpPr>
        <p:spPr>
          <a:xfrm>
            <a:off x="3047247" y="4279734"/>
            <a:ext cx="45656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 </a:t>
            </a:r>
            <a:r>
              <a:rPr sz="800" spc="-10">
                <a:solidFill>
                  <a:srgbClr val="142863"/>
                </a:solidFill>
                <a:latin typeface="Zurich Sans"/>
                <a:cs typeface="Zurich Sans"/>
              </a:rPr>
              <a:t>Growth</a:t>
            </a:r>
            <a:endParaRPr sz="800">
              <a:latin typeface="Zurich Sans"/>
              <a:cs typeface="Zurich Sans"/>
            </a:endParaRPr>
          </a:p>
        </p:txBody>
      </p:sp>
      <p:sp>
        <p:nvSpPr>
          <p:cNvPr id="32" name="object 32"/>
          <p:cNvSpPr txBox="1"/>
          <p:nvPr/>
        </p:nvSpPr>
        <p:spPr>
          <a:xfrm>
            <a:off x="3823725" y="4279734"/>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33" name="object 33"/>
          <p:cNvSpPr txBox="1"/>
          <p:nvPr/>
        </p:nvSpPr>
        <p:spPr>
          <a:xfrm>
            <a:off x="4565027" y="4279734"/>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34" name="object 34"/>
          <p:cNvSpPr txBox="1"/>
          <p:nvPr/>
        </p:nvSpPr>
        <p:spPr>
          <a:xfrm>
            <a:off x="5218947" y="4279734"/>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35" name="object 35"/>
          <p:cNvSpPr txBox="1"/>
          <p:nvPr/>
        </p:nvSpPr>
        <p:spPr>
          <a:xfrm>
            <a:off x="5977642" y="4279734"/>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36" name="object 36"/>
          <p:cNvSpPr txBox="1"/>
          <p:nvPr/>
        </p:nvSpPr>
        <p:spPr>
          <a:xfrm>
            <a:off x="6703066" y="4279734"/>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37" name="object 37"/>
          <p:cNvSpPr txBox="1"/>
          <p:nvPr/>
        </p:nvSpPr>
        <p:spPr>
          <a:xfrm>
            <a:off x="3047247" y="4459691"/>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54" name="object 54"/>
          <p:cNvSpPr txBox="1"/>
          <p:nvPr/>
        </p:nvSpPr>
        <p:spPr>
          <a:xfrm>
            <a:off x="3068954" y="5456900"/>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Fund performance vs sector </a:t>
            </a:r>
            <a:r>
              <a:rPr sz="800" b="1">
                <a:solidFill>
                  <a:srgbClr val="FFFFFF"/>
                </a:solidFill>
                <a:latin typeface="Zurich Sans"/>
                <a:cs typeface="Zurich Sans"/>
              </a:rPr>
              <a:t>(5</a:t>
            </a:r>
            <a:r>
              <a:rPr sz="800" b="1" spc="-5">
                <a:solidFill>
                  <a:srgbClr val="FFFFFF"/>
                </a:solidFill>
                <a:latin typeface="Zurich Sans"/>
                <a:cs typeface="Zurich Sans"/>
              </a:rPr>
              <a:t> </a:t>
            </a:r>
            <a:r>
              <a:rPr sz="800" b="1">
                <a:solidFill>
                  <a:srgbClr val="FFFFFF"/>
                </a:solidFill>
                <a:latin typeface="Zurich Sans"/>
                <a:cs typeface="Zurich Sans"/>
              </a:rPr>
              <a:t>years</a:t>
            </a:r>
            <a:r>
              <a:rPr lang="en-GB" sz="800" b="1">
                <a:solidFill>
                  <a:srgbClr val="FFFFFF"/>
                </a:solidFill>
                <a:latin typeface="Zurich Sans"/>
                <a:cs typeface="Zurich Sans"/>
              </a:rPr>
              <a:t>/since inception)</a:t>
            </a:r>
            <a:endParaRPr lang="en-GB" sz="800" b="1" spc="-10">
              <a:solidFill>
                <a:srgbClr val="FFFFFF"/>
              </a:solidFill>
              <a:latin typeface="Zurich Sans"/>
              <a:cs typeface="Zurich Sans"/>
            </a:endParaRPr>
          </a:p>
        </p:txBody>
      </p:sp>
      <p:grpSp>
        <p:nvGrpSpPr>
          <p:cNvPr id="60" name="object 60"/>
          <p:cNvGrpSpPr/>
          <p:nvPr/>
        </p:nvGrpSpPr>
        <p:grpSpPr>
          <a:xfrm>
            <a:off x="3390462" y="5790361"/>
            <a:ext cx="3591560" cy="1219200"/>
            <a:chOff x="3517138" y="5908608"/>
            <a:chExt cx="3591560" cy="1219200"/>
          </a:xfrm>
        </p:grpSpPr>
        <p:sp>
          <p:nvSpPr>
            <p:cNvPr id="61" name="object 61"/>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ln>
          </p:spPr>
          <p:txBody>
            <a:bodyPr wrap="square" lIns="0" tIns="0" rIns="0" bIns="0" rtlCol="0"/>
            <a:lstStyle/>
            <a:p>
              <a:endParaRPr/>
            </a:p>
          </p:txBody>
        </p:sp>
        <p:sp>
          <p:nvSpPr>
            <p:cNvPr id="62" name="object 62"/>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3" name="object 63"/>
            <p:cNvSpPr/>
            <p:nvPr/>
          </p:nvSpPr>
          <p:spPr>
            <a:xfrm>
              <a:off x="4445888"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4" name="object 64"/>
            <p:cNvSpPr/>
            <p:nvPr/>
          </p:nvSpPr>
          <p:spPr>
            <a:xfrm>
              <a:off x="5341239"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5" name="object 65"/>
            <p:cNvSpPr/>
            <p:nvPr/>
          </p:nvSpPr>
          <p:spPr>
            <a:xfrm>
              <a:off x="62461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6" name="object 66"/>
            <p:cNvSpPr/>
            <p:nvPr/>
          </p:nvSpPr>
          <p:spPr>
            <a:xfrm>
              <a:off x="710336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7" name="object 67"/>
            <p:cNvSpPr/>
            <p:nvPr/>
          </p:nvSpPr>
          <p:spPr>
            <a:xfrm>
              <a:off x="3545713" y="688492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8" name="object 68"/>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9" name="object 69"/>
            <p:cNvSpPr/>
            <p:nvPr/>
          </p:nvSpPr>
          <p:spPr>
            <a:xfrm>
              <a:off x="3545713" y="59133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70" name="object 70"/>
            <p:cNvSpPr/>
            <p:nvPr/>
          </p:nvSpPr>
          <p:spPr>
            <a:xfrm>
              <a:off x="35410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1" name="object 71"/>
            <p:cNvSpPr/>
            <p:nvPr/>
          </p:nvSpPr>
          <p:spPr>
            <a:xfrm>
              <a:off x="4445888"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2" name="object 72"/>
            <p:cNvSpPr/>
            <p:nvPr/>
          </p:nvSpPr>
          <p:spPr>
            <a:xfrm>
              <a:off x="5341239"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3" name="object 73"/>
            <p:cNvSpPr/>
            <p:nvPr/>
          </p:nvSpPr>
          <p:spPr>
            <a:xfrm>
              <a:off x="62461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4" name="object 74"/>
            <p:cNvSpPr/>
            <p:nvPr/>
          </p:nvSpPr>
          <p:spPr>
            <a:xfrm>
              <a:off x="710336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5" name="object 75"/>
            <p:cNvSpPr/>
            <p:nvPr/>
          </p:nvSpPr>
          <p:spPr>
            <a:xfrm>
              <a:off x="3545713" y="7103996"/>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404040"/>
              </a:solidFill>
            </a:ln>
          </p:spPr>
          <p:txBody>
            <a:bodyPr wrap="square" lIns="0" tIns="0" rIns="0" bIns="0" rtlCol="0"/>
            <a:lstStyle/>
            <a:p>
              <a:endParaRPr/>
            </a:p>
          </p:txBody>
        </p:sp>
        <p:sp>
          <p:nvSpPr>
            <p:cNvPr id="76" name="object 76"/>
            <p:cNvSpPr/>
            <p:nvPr/>
          </p:nvSpPr>
          <p:spPr>
            <a:xfrm>
              <a:off x="3517138" y="688492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7" name="object 77"/>
            <p:cNvSpPr/>
            <p:nvPr/>
          </p:nvSpPr>
          <p:spPr>
            <a:xfrm>
              <a:off x="3517138" y="64086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8" name="object 78"/>
            <p:cNvSpPr/>
            <p:nvPr/>
          </p:nvSpPr>
          <p:spPr>
            <a:xfrm>
              <a:off x="3517138" y="59133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9" name="object 79"/>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404040"/>
              </a:solidFill>
            </a:ln>
          </p:spPr>
          <p:txBody>
            <a:bodyPr wrap="square" lIns="0" tIns="0" rIns="0" bIns="0" rtlCol="0"/>
            <a:lstStyle/>
            <a:p>
              <a:endParaRPr/>
            </a:p>
          </p:txBody>
        </p:sp>
        <p:sp>
          <p:nvSpPr>
            <p:cNvPr id="80" name="object 80"/>
            <p:cNvSpPr/>
            <p:nvPr/>
          </p:nvSpPr>
          <p:spPr>
            <a:xfrm>
              <a:off x="3543808" y="6245349"/>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rgbClr val="22366E"/>
              </a:solidFill>
            </a:ln>
          </p:spPr>
          <p:txBody>
            <a:bodyPr wrap="square" lIns="0" tIns="0" rIns="0" bIns="0" rtlCol="0"/>
            <a:lstStyle/>
            <a:p>
              <a:endParaRPr/>
            </a:p>
          </p:txBody>
        </p:sp>
      </p:grpSp>
      <p:sp>
        <p:nvSpPr>
          <p:cNvPr id="81" name="object 81"/>
          <p:cNvSpPr txBox="1"/>
          <p:nvPr/>
        </p:nvSpPr>
        <p:spPr>
          <a:xfrm>
            <a:off x="3083546" y="6779388"/>
            <a:ext cx="4080283" cy="1234312"/>
          </a:xfrm>
          <a:prstGeom prst="rect">
            <a:avLst/>
          </a:prstGeom>
        </p:spPr>
        <p:txBody>
          <a:bodyPr vert="horz" wrap="square" lIns="0" tIns="15875" rIns="0" bIns="0" rtlCol="0">
            <a:spAutoFit/>
          </a:bodyPr>
          <a:lstStyle/>
          <a:p>
            <a:pPr marL="111125">
              <a:lnSpc>
                <a:spcPct val="100000"/>
              </a:lnSpc>
              <a:spcBef>
                <a:spcPts val="125"/>
              </a:spcBef>
            </a:pPr>
            <a:r>
              <a:rPr sz="800">
                <a:latin typeface="Arial"/>
                <a:cs typeface="Arial"/>
              </a:rPr>
              <a:t>-</a:t>
            </a:r>
            <a:r>
              <a:rPr sz="800" spc="-25">
                <a:latin typeface="Arial"/>
                <a:cs typeface="Arial"/>
              </a:rPr>
              <a:t>25%</a:t>
            </a:r>
            <a:endParaRPr sz="800">
              <a:latin typeface="Arial"/>
              <a:cs typeface="Arial"/>
            </a:endParaRPr>
          </a:p>
          <a:p>
            <a:pPr>
              <a:lnSpc>
                <a:spcPct val="100000"/>
              </a:lnSpc>
            </a:pPr>
            <a:endParaRPr sz="900">
              <a:latin typeface="Arial"/>
              <a:cs typeface="Arial"/>
            </a:endParaRPr>
          </a:p>
          <a:p>
            <a:pPr marL="331470">
              <a:lnSpc>
                <a:spcPct val="100000"/>
              </a:lnSpc>
              <a:spcBef>
                <a:spcPts val="715"/>
              </a:spcBef>
              <a:tabLst>
                <a:tab pos="1237615" algn="l"/>
                <a:tab pos="2144395" algn="l"/>
                <a:tab pos="3037840" algn="l"/>
                <a:tab pos="3717290" algn="l"/>
              </a:tabLst>
            </a:pPr>
            <a:r>
              <a:rPr sz="800">
                <a:latin typeface="Arial"/>
                <a:cs typeface="Arial"/>
              </a:rPr>
              <a:t>Dec</a:t>
            </a:r>
            <a:r>
              <a:rPr sz="800" spc="45">
                <a:latin typeface="Arial"/>
                <a:cs typeface="Arial"/>
              </a:rPr>
              <a:t> </a:t>
            </a:r>
            <a:r>
              <a:rPr sz="800" spc="-25">
                <a:latin typeface="Arial"/>
                <a:cs typeface="Arial"/>
              </a:rPr>
              <a:t>19</a:t>
            </a:r>
            <a:r>
              <a:rPr sz="800">
                <a:latin typeface="Arial"/>
                <a:cs typeface="Arial"/>
              </a:rPr>
              <a:t>	Mar</a:t>
            </a:r>
            <a:r>
              <a:rPr sz="800" spc="45">
                <a:latin typeface="Arial"/>
                <a:cs typeface="Arial"/>
              </a:rPr>
              <a:t> </a:t>
            </a:r>
            <a:r>
              <a:rPr sz="800" spc="-25">
                <a:latin typeface="Arial"/>
                <a:cs typeface="Arial"/>
              </a:rPr>
              <a:t>21</a:t>
            </a:r>
            <a:r>
              <a:rPr sz="800">
                <a:latin typeface="Arial"/>
                <a:cs typeface="Arial"/>
              </a:rPr>
              <a:t>	Jun</a:t>
            </a:r>
            <a:r>
              <a:rPr sz="800" spc="30">
                <a:latin typeface="Arial"/>
                <a:cs typeface="Arial"/>
              </a:rPr>
              <a:t> </a:t>
            </a:r>
            <a:r>
              <a:rPr sz="800" spc="-25">
                <a:latin typeface="Arial"/>
                <a:cs typeface="Arial"/>
              </a:rPr>
              <a:t>22</a:t>
            </a:r>
            <a:r>
              <a:rPr sz="800">
                <a:latin typeface="Arial"/>
                <a:cs typeface="Arial"/>
              </a:rPr>
              <a:t>	Sep</a:t>
            </a:r>
            <a:r>
              <a:rPr sz="800" spc="35">
                <a:latin typeface="Arial"/>
                <a:cs typeface="Arial"/>
              </a:rPr>
              <a:t> </a:t>
            </a:r>
            <a:r>
              <a:rPr sz="800" spc="-25">
                <a:latin typeface="Arial"/>
                <a:cs typeface="Arial"/>
              </a:rPr>
              <a:t>23</a:t>
            </a:r>
            <a:r>
              <a:rPr sz="800">
                <a:latin typeface="Arial"/>
                <a:cs typeface="Arial"/>
              </a:rPr>
              <a:t>	Dec</a:t>
            </a:r>
            <a:r>
              <a:rPr sz="800" spc="45">
                <a:latin typeface="Arial"/>
                <a:cs typeface="Arial"/>
              </a:rPr>
              <a:t> </a:t>
            </a:r>
            <a:r>
              <a:rPr sz="800" spc="-25">
                <a:latin typeface="Arial"/>
                <a:cs typeface="Arial"/>
              </a:rPr>
              <a:t>24</a:t>
            </a:r>
            <a:endParaRPr sz="800">
              <a:latin typeface="Arial"/>
              <a:cs typeface="Arial"/>
            </a:endParaRPr>
          </a:p>
          <a:p>
            <a:pPr marL="1791970">
              <a:lnSpc>
                <a:spcPct val="100000"/>
              </a:lnSpc>
              <a:spcBef>
                <a:spcPts val="155"/>
              </a:spcBef>
            </a:pPr>
            <a:r>
              <a:rPr lang="en-GB" sz="650">
                <a:solidFill>
                  <a:srgbClr val="999999"/>
                </a:solidFill>
                <a:latin typeface="Arial"/>
                <a:cs typeface="Arial"/>
              </a:rPr>
              <a:t>28</a:t>
            </a:r>
            <a:r>
              <a:rPr sz="650">
                <a:solidFill>
                  <a:srgbClr val="999999"/>
                </a:solidFill>
                <a:latin typeface="Arial"/>
                <a:cs typeface="Arial"/>
              </a:rPr>
              <a:t>/</a:t>
            </a:r>
            <a:r>
              <a:rPr lang="en-GB" sz="650">
                <a:solidFill>
                  <a:srgbClr val="999999"/>
                </a:solidFill>
                <a:latin typeface="Arial"/>
                <a:cs typeface="Arial"/>
              </a:rPr>
              <a:t>02</a:t>
            </a:r>
            <a:r>
              <a:rPr sz="650">
                <a:solidFill>
                  <a:srgbClr val="999999"/>
                </a:solidFill>
                <a:latin typeface="Arial"/>
                <a:cs typeface="Arial"/>
              </a:rPr>
              <a:t>/2019</a:t>
            </a:r>
            <a:r>
              <a:rPr sz="650" spc="35">
                <a:solidFill>
                  <a:srgbClr val="999999"/>
                </a:solidFill>
                <a:latin typeface="Arial"/>
                <a:cs typeface="Arial"/>
              </a:rPr>
              <a:t> </a:t>
            </a:r>
            <a:r>
              <a:rPr lang="en-GB" sz="650">
                <a:solidFill>
                  <a:srgbClr val="999999"/>
                </a:solidFill>
                <a:latin typeface="Arial"/>
                <a:cs typeface="Arial"/>
              </a:rPr>
              <a:t>–</a:t>
            </a:r>
            <a:r>
              <a:rPr sz="650" spc="40">
                <a:solidFill>
                  <a:srgbClr val="999999"/>
                </a:solidFill>
                <a:latin typeface="Arial"/>
                <a:cs typeface="Arial"/>
              </a:rPr>
              <a:t> </a:t>
            </a:r>
            <a:r>
              <a:rPr sz="650">
                <a:solidFill>
                  <a:srgbClr val="999999"/>
                </a:solidFill>
                <a:latin typeface="Arial"/>
                <a:cs typeface="Arial"/>
              </a:rPr>
              <a:t>2</a:t>
            </a:r>
            <a:r>
              <a:rPr lang="en-GB" sz="650">
                <a:solidFill>
                  <a:srgbClr val="999999"/>
                </a:solidFill>
                <a:latin typeface="Arial"/>
                <a:cs typeface="Arial"/>
              </a:rPr>
              <a:t>8/02</a:t>
            </a:r>
            <a:r>
              <a:rPr sz="650">
                <a:solidFill>
                  <a:srgbClr val="999999"/>
                </a:solidFill>
                <a:latin typeface="Arial"/>
                <a:cs typeface="Arial"/>
              </a:rPr>
              <a:t>/202</a:t>
            </a:r>
            <a:r>
              <a:rPr lang="en-GB" sz="650">
                <a:solidFill>
                  <a:srgbClr val="999999"/>
                </a:solidFill>
                <a:latin typeface="Arial"/>
                <a:cs typeface="Arial"/>
              </a:rPr>
              <a:t>5</a:t>
            </a:r>
            <a:r>
              <a:rPr sz="650" spc="35">
                <a:solidFill>
                  <a:srgbClr val="999999"/>
                </a:solidFill>
                <a:latin typeface="Arial"/>
                <a:cs typeface="Arial"/>
              </a:rPr>
              <a:t> </a:t>
            </a:r>
            <a:r>
              <a:rPr sz="650">
                <a:solidFill>
                  <a:srgbClr val="999999"/>
                </a:solidFill>
                <a:latin typeface="Arial"/>
                <a:cs typeface="Arial"/>
              </a:rPr>
              <a:t>Powered</a:t>
            </a:r>
            <a:r>
              <a:rPr sz="650" spc="40">
                <a:solidFill>
                  <a:srgbClr val="999999"/>
                </a:solidFill>
                <a:latin typeface="Arial"/>
                <a:cs typeface="Arial"/>
              </a:rPr>
              <a:t> </a:t>
            </a:r>
            <a:r>
              <a:rPr sz="650">
                <a:solidFill>
                  <a:srgbClr val="999999"/>
                </a:solidFill>
                <a:latin typeface="Arial"/>
                <a:cs typeface="Arial"/>
              </a:rPr>
              <a:t>by</a:t>
            </a:r>
            <a:r>
              <a:rPr sz="650" spc="35">
                <a:solidFill>
                  <a:srgbClr val="999999"/>
                </a:solidFill>
                <a:latin typeface="Arial"/>
                <a:cs typeface="Arial"/>
              </a:rPr>
              <a:t> </a:t>
            </a:r>
            <a:r>
              <a:rPr sz="650">
                <a:solidFill>
                  <a:srgbClr val="999999"/>
                </a:solidFill>
                <a:latin typeface="Arial"/>
                <a:cs typeface="Arial"/>
              </a:rPr>
              <a:t>data</a:t>
            </a:r>
            <a:r>
              <a:rPr sz="650" spc="40">
                <a:solidFill>
                  <a:srgbClr val="999999"/>
                </a:solidFill>
                <a:latin typeface="Arial"/>
                <a:cs typeface="Arial"/>
              </a:rPr>
              <a:t> </a:t>
            </a:r>
            <a:r>
              <a:rPr sz="650">
                <a:solidFill>
                  <a:srgbClr val="999999"/>
                </a:solidFill>
                <a:latin typeface="Arial"/>
                <a:cs typeface="Arial"/>
              </a:rPr>
              <a:t>from</a:t>
            </a:r>
            <a:r>
              <a:rPr sz="650" spc="35">
                <a:solidFill>
                  <a:srgbClr val="999999"/>
                </a:solidFill>
                <a:latin typeface="Arial"/>
                <a:cs typeface="Arial"/>
              </a:rPr>
              <a:t> </a:t>
            </a:r>
            <a:r>
              <a:rPr sz="650">
                <a:solidFill>
                  <a:srgbClr val="999999"/>
                </a:solidFill>
                <a:latin typeface="Arial"/>
                <a:cs typeface="Arial"/>
              </a:rPr>
              <a:t>FE</a:t>
            </a:r>
            <a:r>
              <a:rPr sz="650" spc="40">
                <a:solidFill>
                  <a:srgbClr val="999999"/>
                </a:solidFill>
                <a:latin typeface="Arial"/>
                <a:cs typeface="Arial"/>
              </a:rPr>
              <a:t> </a:t>
            </a:r>
            <a:r>
              <a:rPr sz="650" spc="-10">
                <a:solidFill>
                  <a:srgbClr val="999999"/>
                </a:solidFill>
                <a:latin typeface="Arial"/>
                <a:cs typeface="Arial"/>
              </a:rPr>
              <a:t>fundinfo</a:t>
            </a:r>
            <a:endParaRPr sz="650">
              <a:latin typeface="Arial"/>
              <a:cs typeface="Arial"/>
            </a:endParaRPr>
          </a:p>
          <a:p>
            <a:pPr marL="156210">
              <a:lnSpc>
                <a:spcPct val="100000"/>
              </a:lnSpc>
              <a:spcBef>
                <a:spcPts val="430"/>
              </a:spcBef>
            </a:pPr>
            <a:r>
              <a:rPr lang="en-GB" sz="800">
                <a:latin typeface="Zurich Sans Light"/>
                <a:cs typeface="Zurich Sans Light"/>
              </a:rPr>
              <a:t>Fidelity Emerging Market Debt	</a:t>
            </a:r>
          </a:p>
          <a:p>
            <a:pPr marL="156210">
              <a:lnSpc>
                <a:spcPct val="100000"/>
              </a:lnSpc>
              <a:spcBef>
                <a:spcPts val="430"/>
              </a:spcBef>
            </a:pPr>
            <a:r>
              <a:rPr lang="en-GB" sz="800">
                <a:latin typeface="Zurich Sans Light"/>
                <a:cs typeface="Zurich Sans Light"/>
              </a:rPr>
              <a:t>Sector	</a:t>
            </a:r>
            <a:endParaRPr sz="800">
              <a:latin typeface="Zurich Sans Light"/>
              <a:cs typeface="Zurich Sans Light"/>
            </a:endParaRPr>
          </a:p>
          <a:p>
            <a:pPr marL="12700" marR="33020">
              <a:lnSpc>
                <a:spcPts val="780"/>
              </a:lnSpc>
              <a:spcBef>
                <a:spcPts val="450"/>
              </a:spcBef>
            </a:pPr>
            <a:r>
              <a:rPr sz="750" b="0">
                <a:solidFill>
                  <a:srgbClr val="142863"/>
                </a:solidFill>
                <a:latin typeface="Zurich Sans Light"/>
                <a:cs typeface="Zurich Sans Light"/>
              </a:rPr>
              <a:t>Source:</a:t>
            </a:r>
            <a:r>
              <a:rPr sz="750" b="0" spc="85">
                <a:solidFill>
                  <a:srgbClr val="142863"/>
                </a:solidFill>
                <a:latin typeface="Zurich Sans Light"/>
                <a:cs typeface="Zurich Sans Light"/>
              </a:rPr>
              <a:t> </a:t>
            </a:r>
            <a:r>
              <a:rPr sz="750" b="0">
                <a:solidFill>
                  <a:srgbClr val="142863"/>
                </a:solidFill>
                <a:latin typeface="Zurich Sans Light"/>
                <a:cs typeface="Zurich Sans Light"/>
              </a:rPr>
              <a:t>FEfundinfo</a:t>
            </a:r>
            <a:r>
              <a:rPr sz="750" b="0" spc="90">
                <a:solidFill>
                  <a:srgbClr val="142863"/>
                </a:solidFill>
                <a:latin typeface="Zurich Sans Light"/>
                <a:cs typeface="Zurich Sans Light"/>
              </a:rPr>
              <a:t> </a:t>
            </a:r>
            <a:r>
              <a:rPr sz="750" b="0">
                <a:solidFill>
                  <a:srgbClr val="142863"/>
                </a:solidFill>
                <a:latin typeface="Zurich Sans Light"/>
                <a:cs typeface="Zurich Sans Light"/>
              </a:rPr>
              <a:t>as</a:t>
            </a:r>
            <a:r>
              <a:rPr sz="750" b="0" spc="90">
                <a:solidFill>
                  <a:srgbClr val="142863"/>
                </a:solidFill>
                <a:latin typeface="Zurich Sans Light"/>
                <a:cs typeface="Zurich Sans Light"/>
              </a:rPr>
              <a:t> </a:t>
            </a:r>
            <a:r>
              <a:rPr sz="750" b="0">
                <a:solidFill>
                  <a:srgbClr val="142863"/>
                </a:solidFill>
                <a:latin typeface="Zurich Sans Light"/>
                <a:cs typeface="Zurich Sans Light"/>
              </a:rPr>
              <a:t>at</a:t>
            </a:r>
            <a:r>
              <a:rPr sz="750" b="0" spc="90">
                <a:solidFill>
                  <a:srgbClr val="142863"/>
                </a:solidFill>
                <a:latin typeface="Zurich Sans Light"/>
                <a:cs typeface="Zurich Sans Light"/>
              </a:rPr>
              <a:t> </a:t>
            </a:r>
            <a:r>
              <a:rPr lang="en-GB" sz="750" spc="90">
                <a:solidFill>
                  <a:srgbClr val="142863"/>
                </a:solidFill>
                <a:latin typeface="Zurich Sans Light"/>
                <a:cs typeface="Zurich Sans Light"/>
              </a:rPr>
              <a:t>28</a:t>
            </a:r>
            <a:r>
              <a:rPr sz="750" b="0">
                <a:solidFill>
                  <a:srgbClr val="142863"/>
                </a:solidFill>
                <a:latin typeface="Zurich Sans Light"/>
                <a:cs typeface="Zurich Sans Light"/>
              </a:rPr>
              <a:t>/</a:t>
            </a:r>
            <a:r>
              <a:rPr lang="en-GB" sz="750" b="0">
                <a:solidFill>
                  <a:srgbClr val="142863"/>
                </a:solidFill>
                <a:latin typeface="Zurich Sans Light"/>
                <a:cs typeface="Zurich Sans Light"/>
              </a:rPr>
              <a:t>02</a:t>
            </a:r>
            <a:r>
              <a:rPr sz="750" b="0">
                <a:solidFill>
                  <a:srgbClr val="142863"/>
                </a:solidFill>
                <a:latin typeface="Zurich Sans Light"/>
                <a:cs typeface="Zurich Sans Light"/>
              </a:rPr>
              <a:t>/202</a:t>
            </a:r>
            <a:r>
              <a:rPr lang="en-GB" sz="750" b="0">
                <a:solidFill>
                  <a:srgbClr val="142863"/>
                </a:solidFill>
                <a:latin typeface="Zurich Sans Light"/>
                <a:cs typeface="Zurich Sans Light"/>
              </a:rPr>
              <a:t>5, bid to bid gross in USD. Past performance is not a guide to future performance</a:t>
            </a:r>
            <a:r>
              <a:rPr sz="750" b="0" spc="90">
                <a:solidFill>
                  <a:srgbClr val="142863"/>
                </a:solidFill>
                <a:latin typeface="Zurich Sans Light"/>
                <a:cs typeface="Zurich Sans Light"/>
              </a:rPr>
              <a:t> </a:t>
            </a:r>
            <a:endParaRPr lang="en-GB" sz="750" b="0" spc="90">
              <a:solidFill>
                <a:srgbClr val="142863"/>
              </a:solidFill>
              <a:latin typeface="Zurich Sans Light"/>
              <a:cs typeface="Zurich Sans Light"/>
            </a:endParaRPr>
          </a:p>
        </p:txBody>
      </p:sp>
      <p:sp>
        <p:nvSpPr>
          <p:cNvPr id="82" name="object 82"/>
          <p:cNvSpPr txBox="1"/>
          <p:nvPr/>
        </p:nvSpPr>
        <p:spPr>
          <a:xfrm>
            <a:off x="3214521" y="6227358"/>
            <a:ext cx="17716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0%</a:t>
            </a:r>
            <a:endParaRPr sz="800">
              <a:latin typeface="Arial"/>
              <a:cs typeface="Arial"/>
            </a:endParaRPr>
          </a:p>
        </p:txBody>
      </p:sp>
      <p:sp>
        <p:nvSpPr>
          <p:cNvPr id="83" name="object 83"/>
          <p:cNvSpPr txBox="1"/>
          <p:nvPr/>
        </p:nvSpPr>
        <p:spPr>
          <a:xfrm>
            <a:off x="3128527" y="5748556"/>
            <a:ext cx="23558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25%</a:t>
            </a:r>
            <a:endParaRPr sz="800">
              <a:latin typeface="Arial"/>
              <a:cs typeface="Arial"/>
            </a:endParaRPr>
          </a:p>
        </p:txBody>
      </p:sp>
      <p:sp>
        <p:nvSpPr>
          <p:cNvPr id="3" name="object 34">
            <a:extLst>
              <a:ext uri="{FF2B5EF4-FFF2-40B4-BE49-F238E27FC236}">
                <a16:creationId xmlns:a16="http://schemas.microsoft.com/office/drawing/2014/main" id="{CA1240CE-E491-0B7C-389B-8113C59DA332}"/>
              </a:ext>
            </a:extLst>
          </p:cNvPr>
          <p:cNvSpPr/>
          <p:nvPr/>
        </p:nvSpPr>
        <p:spPr>
          <a:xfrm>
            <a:off x="3090968" y="7620875"/>
            <a:ext cx="116128"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endParaRPr/>
          </a:p>
        </p:txBody>
      </p:sp>
      <p:sp>
        <p:nvSpPr>
          <p:cNvPr id="7" name="object 30">
            <a:extLst>
              <a:ext uri="{FF2B5EF4-FFF2-40B4-BE49-F238E27FC236}">
                <a16:creationId xmlns:a16="http://schemas.microsoft.com/office/drawing/2014/main" id="{8876AC04-94C8-1907-3842-5AD0A412EFC5}"/>
              </a:ext>
            </a:extLst>
          </p:cNvPr>
          <p:cNvSpPr/>
          <p:nvPr/>
        </p:nvSpPr>
        <p:spPr>
          <a:xfrm>
            <a:off x="3090968" y="7420320"/>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endParaRPr/>
          </a:p>
        </p:txBody>
      </p:sp>
      <p:sp>
        <p:nvSpPr>
          <p:cNvPr id="13" name="object 80">
            <a:extLst>
              <a:ext uri="{FF2B5EF4-FFF2-40B4-BE49-F238E27FC236}">
                <a16:creationId xmlns:a16="http://schemas.microsoft.com/office/drawing/2014/main" id="{F1871DA1-43C4-61C6-F318-95E372D227F5}"/>
              </a:ext>
            </a:extLst>
          </p:cNvPr>
          <p:cNvSpPr/>
          <p:nvPr/>
        </p:nvSpPr>
        <p:spPr>
          <a:xfrm>
            <a:off x="3419037" y="6001942"/>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chemeClr val="tx2">
                <a:lumMod val="40000"/>
                <a:lumOff val="60000"/>
              </a:schemeClr>
            </a:solidFill>
          </a:ln>
        </p:spPr>
        <p:txBody>
          <a:bodyPr wrap="square" lIns="0" tIns="0" rIns="0" bIns="0" rtlCol="0"/>
          <a:lstStyle/>
          <a:p>
            <a:endParaRPr>
              <a:solidFill>
                <a:schemeClr val="accent5">
                  <a:lumMod val="40000"/>
                  <a:lumOff val="60000"/>
                </a:schemeClr>
              </a:solidFill>
            </a:endParaRPr>
          </a:p>
        </p:txBody>
      </p:sp>
      <p:sp>
        <p:nvSpPr>
          <p:cNvPr id="14" name="object 51">
            <a:extLst>
              <a:ext uri="{FF2B5EF4-FFF2-40B4-BE49-F238E27FC236}">
                <a16:creationId xmlns:a16="http://schemas.microsoft.com/office/drawing/2014/main" id="{7CD971D4-6BD9-4E7A-5A09-D73E976EAA4F}"/>
              </a:ext>
            </a:extLst>
          </p:cNvPr>
          <p:cNvSpPr txBox="1"/>
          <p:nvPr/>
        </p:nvSpPr>
        <p:spPr>
          <a:xfrm>
            <a:off x="290722" y="8546395"/>
            <a:ext cx="6909415" cy="1868955"/>
          </a:xfrm>
          <a:prstGeom prst="rect">
            <a:avLst/>
          </a:prstGeom>
          <a:solidFill>
            <a:schemeClr val="accent1">
              <a:lumMod val="20000"/>
              <a:lumOff val="80000"/>
            </a:schemeClr>
          </a:solidFill>
        </p:spPr>
        <p:txBody>
          <a:bodyPr vert="horz" wrap="square" lIns="72000" tIns="72000" rIns="72000" bIns="72000" rtlCol="0">
            <a:spAutoFit/>
          </a:bodyPr>
          <a:lstStyle/>
          <a:p>
            <a:pPr marR="5080"/>
            <a:r>
              <a:rPr lang="en-GB" sz="800" b="0">
                <a:solidFill>
                  <a:schemeClr val="tx2"/>
                </a:solidFill>
                <a:latin typeface="Zurich Sans Light"/>
                <a:cs typeface="Zurich Sans Light"/>
              </a:rPr>
              <a:t>This factsheet is for informational purposes only and is not an investment offer. Potential investors should seek professional advice before making decisions. Information may change without notice and is sourced from reliable sources, but accuracy is not guaranteed. Zurich International Life Limited and its affiliates are not responsible for errors or omissions. Please consult a financial professional to determine suitability for your investments.</a:t>
            </a:r>
          </a:p>
          <a:p>
            <a:pPr marR="5080"/>
            <a:endParaRPr lang="en-GB" sz="800">
              <a:solidFill>
                <a:schemeClr val="tx2"/>
              </a:solidFill>
              <a:latin typeface="Zurich Sans Light"/>
              <a:cs typeface="Zurich Sans Light"/>
            </a:endParaRPr>
          </a:p>
          <a:p>
            <a:pPr marR="5080"/>
            <a:r>
              <a:rPr lang="en-GB" sz="800" b="0">
                <a:solidFill>
                  <a:schemeClr val="tx2"/>
                </a:solidFill>
                <a:latin typeface="Zurich Sans Light"/>
                <a:cs typeface="Zurich Sans Light"/>
              </a:rPr>
              <a:t>All funds carry certain risks, and it is important to consider these risks before making an investment decision. The value of investments and any income derived from them is not guaranteed; they can both fall and rise and may be eroded in real terms by the effects of inflation. </a:t>
            </a:r>
            <a:br>
              <a:rPr lang="en-GB" sz="800" b="0">
                <a:solidFill>
                  <a:schemeClr val="tx2"/>
                </a:solidFill>
                <a:latin typeface="Zurich Sans Light"/>
                <a:cs typeface="Zurich Sans Light"/>
              </a:rPr>
            </a:br>
            <a:br>
              <a:rPr lang="en-GB" sz="800" b="0">
                <a:solidFill>
                  <a:schemeClr val="tx2"/>
                </a:solidFill>
                <a:latin typeface="Zurich Sans Light"/>
                <a:cs typeface="Zurich Sans Light"/>
              </a:rPr>
            </a:br>
            <a:r>
              <a:rPr lang="en-GB" sz="800" b="0">
                <a:solidFill>
                  <a:schemeClr val="tx2"/>
                </a:solidFill>
                <a:latin typeface="Zurich Sans Light"/>
                <a:cs typeface="Zurich Sans Light"/>
              </a:rPr>
              <a:t>Key factors that may increase these risks include, but are not limited to:</a:t>
            </a:r>
            <a:br>
              <a:rPr lang="en-GB" sz="800" b="0">
                <a:solidFill>
                  <a:schemeClr val="tx2"/>
                </a:solidFill>
                <a:latin typeface="Zurich Sans Light"/>
                <a:cs typeface="Zurich Sans Light"/>
              </a:rPr>
            </a:br>
            <a:r>
              <a:rPr lang="en-GB" sz="800" b="0">
                <a:solidFill>
                  <a:schemeClr val="tx2"/>
                </a:solidFill>
                <a:latin typeface="Zurich Sans Light"/>
                <a:cs typeface="Zurich Sans Light"/>
              </a:rPr>
              <a:t>• The proportion of assets held overseas,</a:t>
            </a:r>
          </a:p>
          <a:p>
            <a:pPr marR="5080"/>
            <a:r>
              <a:rPr lang="en-GB" sz="800" b="0">
                <a:solidFill>
                  <a:schemeClr val="tx2"/>
                </a:solidFill>
                <a:latin typeface="Zurich Sans Light"/>
                <a:cs typeface="Zurich Sans Light"/>
              </a:rPr>
              <a:t>• Any concentration in specific geographic  areas or industry sectors,</a:t>
            </a:r>
          </a:p>
          <a:p>
            <a:pPr marR="5080"/>
            <a:r>
              <a:rPr lang="en-GB" sz="800" b="0">
                <a:solidFill>
                  <a:schemeClr val="tx2"/>
                </a:solidFill>
                <a:latin typeface="Zurich Sans Light"/>
                <a:cs typeface="Zurich Sans Light"/>
              </a:rPr>
              <a:t>• The amount invested in property or property-related shares,</a:t>
            </a:r>
          </a:p>
          <a:p>
            <a:pPr marR="5080"/>
            <a:r>
              <a:rPr lang="en-GB" sz="800" b="0">
                <a:solidFill>
                  <a:schemeClr val="tx2"/>
                </a:solidFill>
                <a:latin typeface="Zurich Sans Light"/>
                <a:cs typeface="Zurich Sans Light"/>
              </a:rPr>
              <a:t>• The use of derivatives and other financial instruments intended to generate outperformance,</a:t>
            </a:r>
          </a:p>
          <a:p>
            <a:pPr marR="5080"/>
            <a:r>
              <a:rPr lang="en-GB" sz="800" b="0">
                <a:solidFill>
                  <a:schemeClr val="tx2"/>
                </a:solidFill>
                <a:latin typeface="Zurich Sans Light"/>
                <a:cs typeface="Zurich Sans Light"/>
              </a:rPr>
              <a:t>• Additional charges that may reduce the number of units you hold.</a:t>
            </a:r>
          </a:p>
          <a:p>
            <a:pPr marR="5080"/>
            <a:endParaRPr sz="800">
              <a:solidFill>
                <a:schemeClr val="tx2"/>
              </a:solidFill>
              <a:latin typeface="Zurich Sans Light"/>
            </a:endParaRPr>
          </a:p>
        </p:txBody>
      </p:sp>
      <p:sp>
        <p:nvSpPr>
          <p:cNvPr id="40" name="object 24">
            <a:extLst>
              <a:ext uri="{FF2B5EF4-FFF2-40B4-BE49-F238E27FC236}">
                <a16:creationId xmlns:a16="http://schemas.microsoft.com/office/drawing/2014/main" id="{41261EA0-385F-F33D-1882-8C3842E79A59}"/>
              </a:ext>
            </a:extLst>
          </p:cNvPr>
          <p:cNvSpPr txBox="1"/>
          <p:nvPr/>
        </p:nvSpPr>
        <p:spPr>
          <a:xfrm>
            <a:off x="3059937" y="3754245"/>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Discrete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pic>
        <p:nvPicPr>
          <p:cNvPr id="42" name="Graphic 41">
            <a:extLst>
              <a:ext uri="{FF2B5EF4-FFF2-40B4-BE49-F238E27FC236}">
                <a16:creationId xmlns:a16="http://schemas.microsoft.com/office/drawing/2014/main" id="{3CD417C1-C28C-914F-39FA-97A6DF1534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0037" y="182136"/>
            <a:ext cx="1976437" cy="767521"/>
          </a:xfrm>
          <a:prstGeom prst="rect">
            <a:avLst/>
          </a:prstGeom>
        </p:spPr>
      </p:pic>
      <p:sp>
        <p:nvSpPr>
          <p:cNvPr id="4" name="object 12">
            <a:extLst>
              <a:ext uri="{FF2B5EF4-FFF2-40B4-BE49-F238E27FC236}">
                <a16:creationId xmlns:a16="http://schemas.microsoft.com/office/drawing/2014/main" id="{33CD4D43-C060-7DF7-F940-53E43C41FD66}"/>
              </a:ext>
            </a:extLst>
          </p:cNvPr>
          <p:cNvSpPr/>
          <p:nvPr/>
        </p:nvSpPr>
        <p:spPr>
          <a:xfrm>
            <a:off x="3075145" y="339119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9" name="object 12">
            <a:extLst>
              <a:ext uri="{FF2B5EF4-FFF2-40B4-BE49-F238E27FC236}">
                <a16:creationId xmlns:a16="http://schemas.microsoft.com/office/drawing/2014/main" id="{FCC652D6-15A9-FBCC-589F-9B9E0A428AF0}"/>
              </a:ext>
            </a:extLst>
          </p:cNvPr>
          <p:cNvSpPr/>
          <p:nvPr/>
        </p:nvSpPr>
        <p:spPr>
          <a:xfrm>
            <a:off x="3070729" y="3674782"/>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5" name="object 32">
            <a:extLst>
              <a:ext uri="{FF2B5EF4-FFF2-40B4-BE49-F238E27FC236}">
                <a16:creationId xmlns:a16="http://schemas.microsoft.com/office/drawing/2014/main" id="{BFDCD4D9-031B-ED7A-FB49-3F226D966E41}"/>
              </a:ext>
            </a:extLst>
          </p:cNvPr>
          <p:cNvSpPr txBox="1"/>
          <p:nvPr/>
        </p:nvSpPr>
        <p:spPr>
          <a:xfrm>
            <a:off x="4168425" y="3417053"/>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19" name="object 33">
            <a:extLst>
              <a:ext uri="{FF2B5EF4-FFF2-40B4-BE49-F238E27FC236}">
                <a16:creationId xmlns:a16="http://schemas.microsoft.com/office/drawing/2014/main" id="{32181C21-138C-EDC5-9DEF-A62F6FE3F84A}"/>
              </a:ext>
            </a:extLst>
          </p:cNvPr>
          <p:cNvSpPr txBox="1"/>
          <p:nvPr/>
        </p:nvSpPr>
        <p:spPr>
          <a:xfrm>
            <a:off x="4757006" y="3417053"/>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3" name="object 34">
            <a:extLst>
              <a:ext uri="{FF2B5EF4-FFF2-40B4-BE49-F238E27FC236}">
                <a16:creationId xmlns:a16="http://schemas.microsoft.com/office/drawing/2014/main" id="{839420D9-0D24-2C8B-FBE7-B65298BD6773}"/>
              </a:ext>
            </a:extLst>
          </p:cNvPr>
          <p:cNvSpPr txBox="1"/>
          <p:nvPr/>
        </p:nvSpPr>
        <p:spPr>
          <a:xfrm>
            <a:off x="5297839" y="3417053"/>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4" name="object 35">
            <a:extLst>
              <a:ext uri="{FF2B5EF4-FFF2-40B4-BE49-F238E27FC236}">
                <a16:creationId xmlns:a16="http://schemas.microsoft.com/office/drawing/2014/main" id="{78D9A9DD-F564-9748-4F2C-0BCA3470ACB1}"/>
              </a:ext>
            </a:extLst>
          </p:cNvPr>
          <p:cNvSpPr txBox="1"/>
          <p:nvPr/>
        </p:nvSpPr>
        <p:spPr>
          <a:xfrm>
            <a:off x="5770330" y="3417053"/>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45" name="object 36">
            <a:extLst>
              <a:ext uri="{FF2B5EF4-FFF2-40B4-BE49-F238E27FC236}">
                <a16:creationId xmlns:a16="http://schemas.microsoft.com/office/drawing/2014/main" id="{40F34051-D519-D939-8C92-3CA4FA6FF500}"/>
              </a:ext>
            </a:extLst>
          </p:cNvPr>
          <p:cNvSpPr txBox="1"/>
          <p:nvPr/>
        </p:nvSpPr>
        <p:spPr>
          <a:xfrm>
            <a:off x="6698612" y="3405831"/>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46" name="object 32">
            <a:extLst>
              <a:ext uri="{FF2B5EF4-FFF2-40B4-BE49-F238E27FC236}">
                <a16:creationId xmlns:a16="http://schemas.microsoft.com/office/drawing/2014/main" id="{C30F8B6F-22F5-91C6-B814-94EA8E73A147}"/>
              </a:ext>
            </a:extLst>
          </p:cNvPr>
          <p:cNvSpPr txBox="1"/>
          <p:nvPr/>
        </p:nvSpPr>
        <p:spPr>
          <a:xfrm>
            <a:off x="3834465" y="4495720"/>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47" name="object 33">
            <a:extLst>
              <a:ext uri="{FF2B5EF4-FFF2-40B4-BE49-F238E27FC236}">
                <a16:creationId xmlns:a16="http://schemas.microsoft.com/office/drawing/2014/main" id="{F0E058B1-5DE2-FACF-DE99-867224B88B25}"/>
              </a:ext>
            </a:extLst>
          </p:cNvPr>
          <p:cNvSpPr txBox="1"/>
          <p:nvPr/>
        </p:nvSpPr>
        <p:spPr>
          <a:xfrm>
            <a:off x="4575767" y="4495720"/>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8" name="object 34">
            <a:extLst>
              <a:ext uri="{FF2B5EF4-FFF2-40B4-BE49-F238E27FC236}">
                <a16:creationId xmlns:a16="http://schemas.microsoft.com/office/drawing/2014/main" id="{DF8BF24F-139E-E33F-3695-83A7276D2866}"/>
              </a:ext>
            </a:extLst>
          </p:cNvPr>
          <p:cNvSpPr txBox="1"/>
          <p:nvPr/>
        </p:nvSpPr>
        <p:spPr>
          <a:xfrm>
            <a:off x="5229687" y="4495720"/>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9" name="object 35">
            <a:extLst>
              <a:ext uri="{FF2B5EF4-FFF2-40B4-BE49-F238E27FC236}">
                <a16:creationId xmlns:a16="http://schemas.microsoft.com/office/drawing/2014/main" id="{F3EA32B6-9521-68A9-58B0-B240E96EB1B8}"/>
              </a:ext>
            </a:extLst>
          </p:cNvPr>
          <p:cNvSpPr txBox="1"/>
          <p:nvPr/>
        </p:nvSpPr>
        <p:spPr>
          <a:xfrm>
            <a:off x="5988382" y="4495720"/>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50" name="object 36">
            <a:extLst>
              <a:ext uri="{FF2B5EF4-FFF2-40B4-BE49-F238E27FC236}">
                <a16:creationId xmlns:a16="http://schemas.microsoft.com/office/drawing/2014/main" id="{C747814C-5849-C6AE-23C8-C574621EE57C}"/>
              </a:ext>
            </a:extLst>
          </p:cNvPr>
          <p:cNvSpPr txBox="1"/>
          <p:nvPr/>
        </p:nvSpPr>
        <p:spPr>
          <a:xfrm>
            <a:off x="6713806" y="4495720"/>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51" name="object 37">
            <a:extLst>
              <a:ext uri="{FF2B5EF4-FFF2-40B4-BE49-F238E27FC236}">
                <a16:creationId xmlns:a16="http://schemas.microsoft.com/office/drawing/2014/main" id="{C5D12AC8-9D23-7A5A-6C7B-F97FF63C77DD}"/>
              </a:ext>
            </a:extLst>
          </p:cNvPr>
          <p:cNvSpPr txBox="1"/>
          <p:nvPr/>
        </p:nvSpPr>
        <p:spPr>
          <a:xfrm>
            <a:off x="3062719" y="3412483"/>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38" name="object 32">
            <a:extLst>
              <a:ext uri="{FF2B5EF4-FFF2-40B4-BE49-F238E27FC236}">
                <a16:creationId xmlns:a16="http://schemas.microsoft.com/office/drawing/2014/main" id="{869A1DBA-3CCA-260F-AD6C-27D2F926F34D}"/>
              </a:ext>
            </a:extLst>
          </p:cNvPr>
          <p:cNvSpPr txBox="1"/>
          <p:nvPr/>
        </p:nvSpPr>
        <p:spPr>
          <a:xfrm>
            <a:off x="3702050" y="3417053"/>
            <a:ext cx="309880"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7</a:t>
            </a:r>
            <a:r>
              <a:rPr sz="800" spc="-20">
                <a:solidFill>
                  <a:srgbClr val="142863"/>
                </a:solidFill>
                <a:latin typeface="Zurich Sans"/>
                <a:cs typeface="Zurich Sans"/>
              </a:rPr>
              <a:t>.95%</a:t>
            </a:r>
            <a:endParaRPr sz="800">
              <a:latin typeface="Zurich Sans"/>
              <a:cs typeface="Zurich Sans"/>
            </a:endParaRPr>
          </a:p>
        </p:txBody>
      </p:sp>
      <p:sp>
        <p:nvSpPr>
          <p:cNvPr id="53" name="object 36">
            <a:extLst>
              <a:ext uri="{FF2B5EF4-FFF2-40B4-BE49-F238E27FC236}">
                <a16:creationId xmlns:a16="http://schemas.microsoft.com/office/drawing/2014/main" id="{5D72CDDE-B62B-CCB3-2FEB-EB4A39392031}"/>
              </a:ext>
            </a:extLst>
          </p:cNvPr>
          <p:cNvSpPr txBox="1"/>
          <p:nvPr/>
        </p:nvSpPr>
        <p:spPr>
          <a:xfrm>
            <a:off x="6232237" y="3414734"/>
            <a:ext cx="358108"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1</a:t>
            </a:r>
            <a:r>
              <a:rPr sz="800" spc="-20">
                <a:solidFill>
                  <a:srgbClr val="142863"/>
                </a:solidFill>
                <a:latin typeface="Zurich Sans"/>
                <a:cs typeface="Zurich Sans"/>
              </a:rPr>
              <a:t>3.30%</a:t>
            </a:r>
            <a:endParaRPr sz="800">
              <a:latin typeface="Zurich Sans"/>
              <a:cs typeface="Zurich Sans"/>
            </a:endParaRPr>
          </a:p>
        </p:txBody>
      </p:sp>
      <p:graphicFrame>
        <p:nvGraphicFramePr>
          <p:cNvPr id="86" name="Table 85">
            <a:extLst>
              <a:ext uri="{FF2B5EF4-FFF2-40B4-BE49-F238E27FC236}">
                <a16:creationId xmlns:a16="http://schemas.microsoft.com/office/drawing/2014/main" id="{3F8A61C2-5FC4-EA35-BFEA-4DC3B7E94B53}"/>
              </a:ext>
            </a:extLst>
          </p:cNvPr>
          <p:cNvGraphicFramePr>
            <a:graphicFrameLocks noGrp="1"/>
          </p:cNvGraphicFramePr>
          <p:nvPr/>
        </p:nvGraphicFramePr>
        <p:xfrm>
          <a:off x="224389" y="2805708"/>
          <a:ext cx="2715251" cy="5207994"/>
        </p:xfrm>
        <a:graphic>
          <a:graphicData uri="http://schemas.openxmlformats.org/drawingml/2006/table">
            <a:tbl>
              <a:tblPr/>
              <a:tblGrid>
                <a:gridCol w="1592123">
                  <a:extLst>
                    <a:ext uri="{9D8B030D-6E8A-4147-A177-3AD203B41FA5}">
                      <a16:colId xmlns:a16="http://schemas.microsoft.com/office/drawing/2014/main" val="3010086377"/>
                    </a:ext>
                  </a:extLst>
                </a:gridCol>
                <a:gridCol w="1123128">
                  <a:extLst>
                    <a:ext uri="{9D8B030D-6E8A-4147-A177-3AD203B41FA5}">
                      <a16:colId xmlns:a16="http://schemas.microsoft.com/office/drawing/2014/main" val="2222851836"/>
                    </a:ext>
                  </a:extLst>
                </a:gridCol>
              </a:tblGrid>
              <a:tr h="265290">
                <a:tc>
                  <a:txBody>
                    <a:bodyPr/>
                    <a:lstStyle/>
                    <a:p>
                      <a:pPr algn="l" fontAlgn="b"/>
                      <a:r>
                        <a:rPr lang="en-US" sz="1100" b="1" i="0" u="none" strike="noStrike">
                          <a:solidFill>
                            <a:srgbClr val="2167AE"/>
                          </a:solidFill>
                          <a:effectLst/>
                          <a:latin typeface="Zurich Sans"/>
                        </a:rPr>
                        <a:t>Fund information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167AE"/>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5598163"/>
                  </a:ext>
                </a:extLst>
              </a:tr>
              <a:tr h="167021">
                <a:tc gridSpan="2">
                  <a:txBody>
                    <a:bodyPr/>
                    <a:lstStyle/>
                    <a:p>
                      <a:pPr algn="l" fontAlgn="b"/>
                      <a:r>
                        <a:rPr lang="en-US" sz="800" b="1" i="0" u="none" strike="noStrike">
                          <a:solidFill>
                            <a:srgbClr val="2167AE"/>
                          </a:solidFill>
                          <a:effectLst/>
                          <a:latin typeface="Zurich Sans"/>
                        </a:rPr>
                        <a:t>Fund Management Company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900" b="0" i="0" u="none" strike="noStrike">
                        <a:solidFill>
                          <a:srgbClr val="2167AE"/>
                        </a:solidFill>
                        <a:effectLst/>
                        <a:latin typeface="Zurich Sans" panose="02000500000000000000" pitchFamily="2" charset="0"/>
                      </a:endParaRPr>
                    </a:p>
                  </a:txBody>
                  <a:tcPr anchor="b">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21192752"/>
                  </a:ext>
                </a:extLst>
              </a:tr>
              <a:tr h="167021">
                <a:tc gridSpan="2">
                  <a:txBody>
                    <a:bodyPr/>
                    <a:lstStyle/>
                    <a:p>
                      <a:pPr algn="r" fontAlgn="ctr"/>
                      <a:r>
                        <a:rPr lang="en-US" sz="800" b="0" i="0" u="none" strike="noStrike">
                          <a:solidFill>
                            <a:srgbClr val="23366F"/>
                          </a:solidFill>
                          <a:effectLst/>
                          <a:latin typeface="Zurich Sans"/>
                        </a:rPr>
                        <a:t>Fidelity Investments</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nchor="ctr">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757054817"/>
                  </a:ext>
                </a:extLst>
              </a:tr>
              <a:tr h="167021">
                <a:tc>
                  <a:txBody>
                    <a:bodyPr/>
                    <a:lstStyle/>
                    <a:p>
                      <a:pPr algn="l" fontAlgn="b"/>
                      <a:r>
                        <a:rPr lang="en-US" sz="800" b="1" i="0" u="none" strike="noStrike">
                          <a:solidFill>
                            <a:srgbClr val="2167AE"/>
                          </a:solidFill>
                          <a:effectLst/>
                          <a:latin typeface="Zurich Sans"/>
                        </a:rPr>
                        <a:t>Zurich Fund Code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3DUSD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17312913"/>
                  </a:ext>
                </a:extLst>
              </a:tr>
              <a:tr h="167021">
                <a:tc>
                  <a:txBody>
                    <a:bodyPr/>
                    <a:lstStyle/>
                    <a:p>
                      <a:pPr algn="l" fontAlgn="b"/>
                      <a:r>
                        <a:rPr lang="en-US" sz="800" b="1" i="0" u="none" strike="noStrike">
                          <a:solidFill>
                            <a:srgbClr val="2167AE"/>
                          </a:solidFill>
                          <a:effectLst/>
                          <a:latin typeface="Zurich Sans"/>
                        </a:rPr>
                        <a:t>Underlying ISN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23366F"/>
                          </a:solidFill>
                          <a:effectLst/>
                          <a:latin typeface="Zurich Sans"/>
                        </a:rPr>
                        <a:t>GB00B4K1ZK5USD</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5109854"/>
                  </a:ext>
                </a:extLst>
              </a:tr>
              <a:tr h="167021">
                <a:tc>
                  <a:txBody>
                    <a:bodyPr/>
                    <a:lstStyle/>
                    <a:p>
                      <a:pPr algn="l" fontAlgn="b"/>
                      <a:r>
                        <a:rPr lang="en-US" sz="800" b="1" i="0" u="none" strike="noStrike">
                          <a:solidFill>
                            <a:srgbClr val="2167AE"/>
                          </a:solidFill>
                          <a:effectLst/>
                          <a:latin typeface="Zurich Sans"/>
                        </a:rPr>
                        <a:t>Zurich Fund Size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52.31m</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00913602"/>
                  </a:ext>
                </a:extLst>
              </a:tr>
              <a:tr h="167021">
                <a:tc>
                  <a:txBody>
                    <a:bodyPr/>
                    <a:lstStyle/>
                    <a:p>
                      <a:pPr algn="l" fontAlgn="b"/>
                      <a:r>
                        <a:rPr lang="en-US" sz="800" b="1" i="0" u="none" strike="noStrike">
                          <a:solidFill>
                            <a:srgbClr val="2167AE"/>
                          </a:solidFill>
                          <a:effectLst/>
                          <a:latin typeface="Zurich Sans"/>
                        </a:rPr>
                        <a:t>Launch Date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01/12/2011</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8480577"/>
                  </a:ext>
                </a:extLst>
              </a:tr>
              <a:tr h="167021">
                <a:tc>
                  <a:txBody>
                    <a:bodyPr/>
                    <a:lstStyle/>
                    <a:p>
                      <a:pPr algn="l" fontAlgn="b"/>
                      <a:r>
                        <a:rPr lang="en-US" sz="800" b="1" i="0" u="none" strike="noStrike">
                          <a:solidFill>
                            <a:srgbClr val="2167AE"/>
                          </a:solidFill>
                          <a:effectLst/>
                          <a:latin typeface="Zurich Sans"/>
                        </a:rPr>
                        <a:t>Unit price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1.54</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7280739"/>
                  </a:ext>
                </a:extLst>
              </a:tr>
              <a:tr h="167021">
                <a:tc>
                  <a:txBody>
                    <a:bodyPr/>
                    <a:lstStyle/>
                    <a:p>
                      <a:pPr algn="l" fontAlgn="b"/>
                      <a:r>
                        <a:rPr lang="en-US" sz="800" b="1" i="0" u="none" strike="noStrike">
                          <a:solidFill>
                            <a:srgbClr val="2167AE"/>
                          </a:solidFill>
                          <a:effectLst/>
                          <a:latin typeface="Zurich Sans"/>
                        </a:rPr>
                        <a:t>Currency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9607909"/>
                  </a:ext>
                </a:extLst>
              </a:tr>
              <a:tr h="167190">
                <a:tc gridSpan="2">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lang="en-US" sz="800" b="1" i="0" u="none" strike="noStrike">
                          <a:solidFill>
                            <a:srgbClr val="2167AE"/>
                          </a:solidFill>
                          <a:effectLst/>
                          <a:latin typeface="Zurich Sans"/>
                        </a:rPr>
                        <a:t>Sector                                  </a:t>
                      </a:r>
                      <a:r>
                        <a:rPr kumimoji="0" lang="en-US" sz="800" b="0" i="0" u="none" strike="noStrike" kern="0" cap="none" spc="0" normalizeH="0" baseline="0" noProof="0">
                          <a:ln>
                            <a:noFill/>
                          </a:ln>
                          <a:solidFill>
                            <a:srgbClr val="23366F"/>
                          </a:solidFill>
                          <a:effectLst/>
                          <a:uLnTx/>
                          <a:uFillTx/>
                          <a:latin typeface="Zurich Sans"/>
                          <a:ea typeface="+mn-ea"/>
                          <a:cs typeface="+mn-cs"/>
                        </a:rPr>
                        <a:t>Fixed Interest – Emerging Markets</a:t>
                      </a:r>
                      <a:endParaRPr lang="en-US"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1261536"/>
                  </a:ext>
                </a:extLst>
              </a:tr>
              <a:tr h="167021">
                <a:tc>
                  <a:txBody>
                    <a:bodyPr/>
                    <a:lstStyle/>
                    <a:p>
                      <a:pPr algn="l" fontAlgn="b"/>
                      <a:r>
                        <a:rPr lang="en-US" sz="800" b="1" i="0" u="none" strike="noStrike">
                          <a:solidFill>
                            <a:srgbClr val="2167AE"/>
                          </a:solidFill>
                          <a:effectLst/>
                          <a:latin typeface="Zurich Sans"/>
                        </a:rPr>
                        <a:t>Annual Management Charge*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0.75%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48880082"/>
                  </a:ext>
                </a:extLst>
              </a:tr>
              <a:tr h="167021">
                <a:tc>
                  <a:txBody>
                    <a:bodyPr/>
                    <a:lstStyle/>
                    <a:p>
                      <a:pPr algn="l" fontAlgn="b"/>
                      <a:r>
                        <a:rPr lang="en-US" sz="800" b="1" i="0" u="none" strike="noStrike">
                          <a:solidFill>
                            <a:srgbClr val="2167AE"/>
                          </a:solidFill>
                          <a:effectLst/>
                          <a:latin typeface="Zurich Sans"/>
                        </a:rPr>
                        <a:t>Ongoing Charge Figure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0.85%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3992124"/>
                  </a:ext>
                </a:extLst>
              </a:tr>
              <a:tr h="167021">
                <a:tc gridSpan="2">
                  <a:txBody>
                    <a:bodyPr/>
                    <a:lstStyle/>
                    <a:p>
                      <a:pPr algn="l" fontAlgn="b"/>
                      <a:r>
                        <a:rPr lang="en-GB" sz="800" b="1" i="0" u="none" strike="noStrike">
                          <a:solidFill>
                            <a:srgbClr val="2167AE"/>
                          </a:solidFill>
                          <a:effectLst/>
                          <a:latin typeface="Zurich Sans"/>
                        </a:rPr>
                        <a:t>Underlying SFDR Product Type                                 </a:t>
                      </a:r>
                      <a:r>
                        <a:rPr lang="en-GB" sz="800" b="0" i="0" u="none" strike="noStrike">
                          <a:solidFill>
                            <a:srgbClr val="23366F"/>
                          </a:solidFill>
                          <a:effectLst/>
                          <a:latin typeface="Zurich Sans"/>
                        </a:rPr>
                        <a:t>Article 9 </a:t>
                      </a:r>
                      <a:endParaRPr lang="en-GB"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1676470885"/>
                  </a:ext>
                </a:extLst>
              </a:tr>
              <a:tr h="167021">
                <a:tc>
                  <a:txBody>
                    <a:bodyPr/>
                    <a:lstStyle/>
                    <a:p>
                      <a:pPr algn="l" fontAlgn="b"/>
                      <a:r>
                        <a:rPr lang="en-US" sz="800" b="1" i="0" u="none" strike="noStrike">
                          <a:solidFill>
                            <a:srgbClr val="2167AE"/>
                          </a:solidFill>
                          <a:effectLst/>
                          <a:latin typeface="Zurich Sans"/>
                        </a:rPr>
                        <a:t>FE Risk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25542"/>
                  </a:ext>
                </a:extLst>
              </a:tr>
              <a:tr h="295966">
                <a:tc>
                  <a:txBody>
                    <a:bodyPr/>
                    <a:lstStyle/>
                    <a:p>
                      <a:pPr algn="l" fontAlgn="b"/>
                      <a:r>
                        <a:rPr lang="en-US" sz="800" b="1" i="0" u="none" strike="noStrike">
                          <a:solidFill>
                            <a:srgbClr val="2167AE"/>
                          </a:solidFill>
                          <a:effectLst/>
                          <a:latin typeface="Zurich Sans"/>
                        </a:rPr>
                        <a:t>Morningstar </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Sustainability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4437999"/>
                  </a:ext>
                </a:extLst>
              </a:tr>
              <a:tr h="295966">
                <a:tc>
                  <a:txBody>
                    <a:bodyPr/>
                    <a:lstStyle/>
                    <a:p>
                      <a:pPr algn="l" fontAlgn="b"/>
                      <a:r>
                        <a:rPr lang="en-US" sz="800" b="1" i="0" u="none" strike="noStrike">
                          <a:solidFill>
                            <a:srgbClr val="2167AE"/>
                          </a:solidFill>
                          <a:effectLst/>
                          <a:latin typeface="Zurich Sans"/>
                        </a:rPr>
                        <a:t>Morningstar</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 Low Carbon Designation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1825811"/>
                  </a:ext>
                </a:extLst>
              </a:tr>
              <a:tr h="295966">
                <a:tc>
                  <a:txBody>
                    <a:bodyPr/>
                    <a:lstStyle/>
                    <a:p>
                      <a:pPr algn="l" fontAlgn="b"/>
                      <a:r>
                        <a:rPr lang="en-US" sz="800" b="1" i="0" u="none" strike="noStrike">
                          <a:solidFill>
                            <a:srgbClr val="2167AE"/>
                          </a:solidFill>
                          <a:effectLst/>
                          <a:latin typeface="Zurich Sans"/>
                        </a:rPr>
                        <a:t>Sustainability Corporate/Sovereign Score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FF0000"/>
                          </a:solidFill>
                          <a:effectLst/>
                          <a:latin typeface="Zurich Sans"/>
                        </a:rPr>
                        <a:t>tbc#</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070001"/>
                  </a:ext>
                </a:extLst>
              </a:tr>
              <a:tr h="733776">
                <a:tc gridSpan="2">
                  <a:txBody>
                    <a:bodyPr/>
                    <a:lstStyle/>
                    <a:p>
                      <a:pPr algn="l" fontAlgn="t"/>
                      <a:r>
                        <a:rPr lang="en-GB" sz="800" b="0" i="0" u="none" strike="noStrike">
                          <a:solidFill>
                            <a:srgbClr val="2167AE"/>
                          </a:solidFill>
                          <a:effectLst/>
                          <a:latin typeface="Zurich Sans"/>
                        </a:rPr>
                        <a:t>* This figure includes the charges and expenses that are deducted from the fund and are reflected in the unit price. Other charges which reduce the number of units you hold may apply.</a:t>
                      </a:r>
                    </a:p>
                  </a:txBody>
                  <a:tcPr marL="36000" marR="36000" marT="9144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3030321878"/>
                  </a:ext>
                </a:extLst>
              </a:tr>
              <a:tr h="1149588">
                <a:tc gridSpan="2">
                  <a:txBody>
                    <a:bodyPr/>
                    <a:lstStyle/>
                    <a:p>
                      <a:pPr marL="0" marR="0" lvl="0" indent="0" algn="l" defTabSz="914400" eaLnBrk="1" fontAlgn="t" latinLnBrk="0" hangingPunct="1">
                        <a:lnSpc>
                          <a:spcPct val="100000"/>
                        </a:lnSpc>
                        <a:spcBef>
                          <a:spcPts val="0"/>
                        </a:spcBef>
                        <a:spcAft>
                          <a:spcPts val="0"/>
                        </a:spcAft>
                        <a:buClrTx/>
                        <a:buSzTx/>
                        <a:buFontTx/>
                        <a:buNone/>
                        <a:tabLst/>
                        <a:defRPr/>
                      </a:pPr>
                      <a:r>
                        <a:rPr lang="en-GB" sz="800" b="0" i="0" u="none" strike="noStrike">
                          <a:solidFill>
                            <a:srgbClr val="2167AE"/>
                          </a:solidFill>
                          <a:effectLst/>
                          <a:latin typeface="Zurich Sans"/>
                        </a:rPr>
                        <a:t>Zurich is not a fund manager. Instead, Zurich offers access to notional units that mirror the underlying Fund. The name of the underlying Fund is replicated by Zurich, with the addition of the word "Zurich". Zurich does not set the investment strategy nor is it responsible for the asset manager’s adherence to it. Please find the Underlying Factsheet link. </a:t>
                      </a: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tcPr>
                </a:tc>
                <a:extLst>
                  <a:ext uri="{0D108BD9-81ED-4DB2-BD59-A6C34878D82A}">
                    <a16:rowId xmlns:a16="http://schemas.microsoft.com/office/drawing/2014/main" val="3583470978"/>
                  </a:ext>
                </a:extLst>
              </a:tr>
            </a:tbl>
          </a:graphicData>
        </a:graphic>
      </p:graphicFrame>
      <p:grpSp>
        <p:nvGrpSpPr>
          <p:cNvPr id="93" name="Group 92">
            <a:extLst>
              <a:ext uri="{FF2B5EF4-FFF2-40B4-BE49-F238E27FC236}">
                <a16:creationId xmlns:a16="http://schemas.microsoft.com/office/drawing/2014/main" id="{D1345249-F7E6-8948-C030-652B835E1724}"/>
              </a:ext>
            </a:extLst>
          </p:cNvPr>
          <p:cNvGrpSpPr/>
          <p:nvPr/>
        </p:nvGrpSpPr>
        <p:grpSpPr>
          <a:xfrm>
            <a:off x="2334309" y="5238871"/>
            <a:ext cx="572167" cy="180000"/>
            <a:chOff x="2101251" y="7519667"/>
            <a:chExt cx="572167" cy="180000"/>
          </a:xfrm>
        </p:grpSpPr>
        <p:pic>
          <p:nvPicPr>
            <p:cNvPr id="87" name="Graphic 86" descr="Earth globe: Africa and Europe with solid fill">
              <a:extLst>
                <a:ext uri="{FF2B5EF4-FFF2-40B4-BE49-F238E27FC236}">
                  <a16:creationId xmlns:a16="http://schemas.microsoft.com/office/drawing/2014/main" id="{47A34642-3437-87C1-8BB3-974185C4217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01251" y="7519667"/>
              <a:ext cx="180000" cy="180000"/>
            </a:xfrm>
            <a:prstGeom prst="rect">
              <a:avLst/>
            </a:prstGeom>
          </p:spPr>
        </p:pic>
        <p:pic>
          <p:nvPicPr>
            <p:cNvPr id="91" name="Graphic 90" descr="Earth globe: Africa and Europe with solid fill">
              <a:extLst>
                <a:ext uri="{FF2B5EF4-FFF2-40B4-BE49-F238E27FC236}">
                  <a16:creationId xmlns:a16="http://schemas.microsoft.com/office/drawing/2014/main" id="{DDD1BAA1-C6BF-C968-B125-9C07E819D3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98221" y="7519667"/>
              <a:ext cx="180000" cy="180000"/>
            </a:xfrm>
            <a:prstGeom prst="rect">
              <a:avLst/>
            </a:prstGeom>
          </p:spPr>
        </p:pic>
        <p:pic>
          <p:nvPicPr>
            <p:cNvPr id="92" name="Graphic 91" descr="Earth globe: Africa and Europe with solid fill">
              <a:extLst>
                <a:ext uri="{FF2B5EF4-FFF2-40B4-BE49-F238E27FC236}">
                  <a16:creationId xmlns:a16="http://schemas.microsoft.com/office/drawing/2014/main" id="{BC982B74-45E6-775E-7330-DB27BFB6A0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93418" y="7519667"/>
              <a:ext cx="180000" cy="180000"/>
            </a:xfrm>
            <a:prstGeom prst="rect">
              <a:avLst/>
            </a:prstGeom>
          </p:spPr>
        </p:pic>
      </p:grpSp>
      <p:grpSp>
        <p:nvGrpSpPr>
          <p:cNvPr id="90" name="Group 89">
            <a:extLst>
              <a:ext uri="{FF2B5EF4-FFF2-40B4-BE49-F238E27FC236}">
                <a16:creationId xmlns:a16="http://schemas.microsoft.com/office/drawing/2014/main" id="{B39D8417-F10D-4941-A274-E2E30B04A8BF}"/>
              </a:ext>
            </a:extLst>
          </p:cNvPr>
          <p:cNvGrpSpPr/>
          <p:nvPr/>
        </p:nvGrpSpPr>
        <p:grpSpPr>
          <a:xfrm>
            <a:off x="2383468" y="5550052"/>
            <a:ext cx="475622" cy="144000"/>
            <a:chOff x="2118446" y="7818788"/>
            <a:chExt cx="475622" cy="144000"/>
          </a:xfrm>
          <a:solidFill>
            <a:srgbClr val="004F9E"/>
          </a:solidFill>
        </p:grpSpPr>
        <p:pic>
          <p:nvPicPr>
            <p:cNvPr id="85" name="Graphic 84" descr="Leaf with solid fill">
              <a:extLst>
                <a:ext uri="{FF2B5EF4-FFF2-40B4-BE49-F238E27FC236}">
                  <a16:creationId xmlns:a16="http://schemas.microsoft.com/office/drawing/2014/main" id="{9F9CE7CA-7A0C-9952-9914-3F3594D3AD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18446" y="7818788"/>
              <a:ext cx="144000" cy="144000"/>
            </a:xfrm>
            <a:prstGeom prst="rect">
              <a:avLst/>
            </a:prstGeom>
          </p:spPr>
        </p:pic>
        <p:pic>
          <p:nvPicPr>
            <p:cNvPr id="88" name="Graphic 87" descr="Leaf with solid fill">
              <a:extLst>
                <a:ext uri="{FF2B5EF4-FFF2-40B4-BE49-F238E27FC236}">
                  <a16:creationId xmlns:a16="http://schemas.microsoft.com/office/drawing/2014/main" id="{EBF46E87-9E9F-69FD-943B-E6E463CE35A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90245" y="7818788"/>
              <a:ext cx="144000" cy="144000"/>
            </a:xfrm>
            <a:prstGeom prst="rect">
              <a:avLst/>
            </a:prstGeom>
          </p:spPr>
        </p:pic>
        <p:pic>
          <p:nvPicPr>
            <p:cNvPr id="89" name="Graphic 88" descr="Leaf with solid fill">
              <a:extLst>
                <a:ext uri="{FF2B5EF4-FFF2-40B4-BE49-F238E27FC236}">
                  <a16:creationId xmlns:a16="http://schemas.microsoft.com/office/drawing/2014/main" id="{705A8976-1B68-B4B1-6B01-38EA2641596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0068" y="7818788"/>
              <a:ext cx="144000" cy="144000"/>
            </a:xfrm>
            <a:prstGeom prst="rect">
              <a:avLst/>
            </a:prstGeom>
          </p:spPr>
        </p:pic>
      </p:grpSp>
    </p:spTree>
    <p:extLst>
      <p:ext uri="{BB962C8B-B14F-4D97-AF65-F5344CB8AC3E}">
        <p14:creationId xmlns:p14="http://schemas.microsoft.com/office/powerpoint/2010/main" val="233640419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47345" y="372456"/>
            <a:ext cx="762635" cy="1359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GB" sz="800" b="0" i="0" u="none" strike="noStrike" kern="0" cap="none" spc="0" normalizeH="0" baseline="0" noProof="0">
                <a:ln>
                  <a:noFill/>
                </a:ln>
                <a:solidFill>
                  <a:srgbClr val="142764"/>
                </a:solidFill>
                <a:effectLst/>
                <a:uLnTx/>
                <a:uFillTx/>
                <a:latin typeface="Zurich Sans Light"/>
                <a:cs typeface="Zurich Sans Light"/>
              </a:rPr>
              <a:t>March</a:t>
            </a:r>
            <a:r>
              <a:rPr kumimoji="0" sz="800" b="0" i="0" u="none" strike="noStrike" kern="0" cap="none" spc="0" normalizeH="0" baseline="0" noProof="0">
                <a:ln>
                  <a:noFill/>
                </a:ln>
                <a:solidFill>
                  <a:srgbClr val="142764"/>
                </a:solidFill>
                <a:effectLst/>
                <a:uLnTx/>
                <a:uFillTx/>
                <a:latin typeface="Zurich Sans Light"/>
                <a:cs typeface="Zurich Sans Light"/>
              </a:rPr>
              <a:t> </a:t>
            </a:r>
            <a:r>
              <a:rPr kumimoji="0" sz="800" b="0" i="0" u="none" strike="noStrike" kern="0" cap="none" spc="-20" normalizeH="0" baseline="0" noProof="0">
                <a:ln>
                  <a:noFill/>
                </a:ln>
                <a:solidFill>
                  <a:srgbClr val="142764"/>
                </a:solidFill>
                <a:effectLst/>
                <a:uLnTx/>
                <a:uFillTx/>
                <a:latin typeface="Zurich Sans Light"/>
                <a:cs typeface="Zurich Sans Light"/>
              </a:rPr>
              <a:t>202</a:t>
            </a:r>
            <a:r>
              <a:rPr kumimoji="0" lang="en-GB" sz="800" b="0" i="0" u="none" strike="noStrike" kern="0" cap="none" spc="-20" normalizeH="0" baseline="0" noProof="0">
                <a:ln>
                  <a:noFill/>
                </a:ln>
                <a:solidFill>
                  <a:srgbClr val="142764"/>
                </a:solidFill>
                <a:effectLst/>
                <a:uLnTx/>
                <a:uFillTx/>
                <a:latin typeface="Zurich Sans Light"/>
                <a:cs typeface="Zurich Sans Light"/>
              </a:rPr>
              <a:t>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5" name="object 5"/>
          <p:cNvSpPr/>
          <p:nvPr/>
        </p:nvSpPr>
        <p:spPr>
          <a:xfrm>
            <a:off x="3104914" y="2638180"/>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3052260" y="4951057"/>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3048965" y="7072298"/>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9" name="object 9"/>
          <p:cNvGraphicFramePr>
            <a:graphicFrameLocks noGrp="1"/>
          </p:cNvGraphicFramePr>
          <p:nvPr/>
        </p:nvGraphicFramePr>
        <p:xfrm>
          <a:off x="3059937" y="7726418"/>
          <a:ext cx="4140199" cy="1591309"/>
        </p:xfrm>
        <a:graphic>
          <a:graphicData uri="http://schemas.openxmlformats.org/drawingml/2006/table">
            <a:tbl>
              <a:tblPr firstRow="1" bandRow="1">
                <a:tableStyleId>{2D5ABB26-0587-4C30-8999-92F81FD0307C}</a:tableStyleId>
              </a:tblPr>
              <a:tblGrid>
                <a:gridCol w="3805554">
                  <a:extLst>
                    <a:ext uri="{9D8B030D-6E8A-4147-A177-3AD203B41FA5}">
                      <a16:colId xmlns:a16="http://schemas.microsoft.com/office/drawing/2014/main" val="20000"/>
                    </a:ext>
                  </a:extLst>
                </a:gridCol>
                <a:gridCol w="334645">
                  <a:extLst>
                    <a:ext uri="{9D8B030D-6E8A-4147-A177-3AD203B41FA5}">
                      <a16:colId xmlns:a16="http://schemas.microsoft.com/office/drawing/2014/main" val="20001"/>
                    </a:ext>
                  </a:extLst>
                </a:gridCol>
              </a:tblGrid>
              <a:tr h="386080">
                <a:tc>
                  <a:txBody>
                    <a:bodyPr/>
                    <a:lstStyle/>
                    <a:p>
                      <a:pPr marL="9525">
                        <a:lnSpc>
                          <a:spcPts val="869"/>
                        </a:lnSpc>
                      </a:pPr>
                      <a:r>
                        <a:rPr sz="800" b="0">
                          <a:solidFill>
                            <a:srgbClr val="142764"/>
                          </a:solidFill>
                          <a:latin typeface="Zurich Sans Light"/>
                          <a:cs typeface="Zurich Sans Light"/>
                        </a:rPr>
                        <a:t>FIDELITY INSTITUTIONAL LIQUIDITY FUND PLC - THE UNITED STATES </a:t>
                      </a:r>
                      <a:r>
                        <a:rPr sz="800" b="0" spc="-10">
                          <a:solidFill>
                            <a:srgbClr val="142764"/>
                          </a:solidFill>
                          <a:latin typeface="Zurich Sans Light"/>
                          <a:cs typeface="Zurich Sans Light"/>
                        </a:rPr>
                        <a:t>DOLLAR</a:t>
                      </a:r>
                      <a:endParaRPr sz="800">
                        <a:latin typeface="Zurich Sans Light"/>
                        <a:cs typeface="Zurich Sans Light"/>
                      </a:endParaRPr>
                    </a:p>
                    <a:p>
                      <a:pPr marL="9525">
                        <a:lnSpc>
                          <a:spcPts val="955"/>
                        </a:lnSpc>
                      </a:pPr>
                      <a:r>
                        <a:rPr sz="800" b="0" spc="-10">
                          <a:solidFill>
                            <a:srgbClr val="142764"/>
                          </a:solidFill>
                          <a:latin typeface="Zurich Sans Light"/>
                          <a:cs typeface="Zurich Sans Light"/>
                        </a:rPr>
                        <a:t>FUNDACC</a:t>
                      </a:r>
                      <a:endParaRPr sz="800">
                        <a:latin typeface="Zurich Sans Light"/>
                        <a:cs typeface="Zurich Sans Light"/>
                      </a:endParaRPr>
                    </a:p>
                    <a:p>
                      <a:pPr marL="9525">
                        <a:lnSpc>
                          <a:spcPct val="100000"/>
                        </a:lnSpc>
                        <a:spcBef>
                          <a:spcPts val="140"/>
                        </a:spcBef>
                      </a:pPr>
                      <a:r>
                        <a:rPr sz="800" b="0">
                          <a:solidFill>
                            <a:srgbClr val="142764"/>
                          </a:solidFill>
                          <a:latin typeface="Zurich Sans Light"/>
                          <a:cs typeface="Zurich Sans Light"/>
                        </a:rPr>
                        <a:t>SAUDI ARABIA KINGDOM OF 5.5% 10/25/2032 </a:t>
                      </a:r>
                      <a:r>
                        <a:rPr sz="800" b="0" spc="-20">
                          <a:solidFill>
                            <a:srgbClr val="142764"/>
                          </a:solidFill>
                          <a:latin typeface="Zurich Sans Light"/>
                          <a:cs typeface="Zurich Sans Light"/>
                        </a:rPr>
                        <a:t>REGS</a:t>
                      </a:r>
                      <a:endParaRPr sz="800">
                        <a:latin typeface="Zurich Sans Light"/>
                        <a:cs typeface="Zurich Sans Light"/>
                      </a:endParaRPr>
                    </a:p>
                  </a:txBody>
                  <a:tcPr marL="0" marR="0" marT="0" marB="0"/>
                </a:tc>
                <a:tc>
                  <a:txBody>
                    <a:bodyPr/>
                    <a:lstStyle/>
                    <a:p>
                      <a:pPr marL="40005">
                        <a:lnSpc>
                          <a:spcPct val="100000"/>
                        </a:lnSpc>
                        <a:spcBef>
                          <a:spcPts val="390"/>
                        </a:spcBef>
                      </a:pPr>
                      <a:r>
                        <a:rPr sz="800" b="0" spc="-20">
                          <a:solidFill>
                            <a:srgbClr val="142764"/>
                          </a:solidFill>
                          <a:latin typeface="Zurich Sans Light"/>
                          <a:cs typeface="Zurich Sans Light"/>
                        </a:rPr>
                        <a:t>9.50%</a:t>
                      </a:r>
                      <a:endParaRPr sz="800">
                        <a:latin typeface="Zurich Sans Light"/>
                        <a:cs typeface="Zurich Sans Light"/>
                      </a:endParaRPr>
                    </a:p>
                    <a:p>
                      <a:pPr marL="80010">
                        <a:lnSpc>
                          <a:spcPct val="100000"/>
                        </a:lnSpc>
                        <a:spcBef>
                          <a:spcPts val="615"/>
                        </a:spcBef>
                      </a:pPr>
                      <a:r>
                        <a:rPr sz="800" b="0" spc="-20">
                          <a:solidFill>
                            <a:srgbClr val="142764"/>
                          </a:solidFill>
                          <a:latin typeface="Zurich Sans Light"/>
                          <a:cs typeface="Zurich Sans Light"/>
                        </a:rPr>
                        <a:t>2.13%</a:t>
                      </a:r>
                      <a:endParaRPr sz="800">
                        <a:latin typeface="Zurich Sans Light"/>
                        <a:cs typeface="Zurich Sans Light"/>
                      </a:endParaRPr>
                    </a:p>
                  </a:txBody>
                  <a:tcPr marL="0" marR="0" marT="49530" marB="0"/>
                </a:tc>
                <a:extLst>
                  <a:ext uri="{0D108BD9-81ED-4DB2-BD59-A6C34878D82A}">
                    <a16:rowId xmlns:a16="http://schemas.microsoft.com/office/drawing/2014/main" val="10000"/>
                  </a:ext>
                </a:extLst>
              </a:tr>
              <a:tr h="139700">
                <a:tc>
                  <a:txBody>
                    <a:bodyPr/>
                    <a:lstStyle/>
                    <a:p>
                      <a:pPr marL="9525">
                        <a:lnSpc>
                          <a:spcPct val="100000"/>
                        </a:lnSpc>
                        <a:spcBef>
                          <a:spcPts val="20"/>
                        </a:spcBef>
                      </a:pPr>
                      <a:r>
                        <a:rPr sz="800" b="0">
                          <a:solidFill>
                            <a:srgbClr val="142764"/>
                          </a:solidFill>
                          <a:latin typeface="Zurich Sans Light"/>
                          <a:cs typeface="Zurich Sans Light"/>
                        </a:rPr>
                        <a:t>GACI FIRST INVESTMENT 4.875% 02/14/2035 </a:t>
                      </a:r>
                      <a:r>
                        <a:rPr sz="800" b="0" spc="-20">
                          <a:solidFill>
                            <a:srgbClr val="142764"/>
                          </a:solidFill>
                          <a:latin typeface="Zurich Sans Light"/>
                          <a:cs typeface="Zurich Sans Light"/>
                        </a:rPr>
                        <a:t>REGS</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1.88%</a:t>
                      </a:r>
                      <a:endParaRPr sz="800">
                        <a:latin typeface="Zurich Sans Light"/>
                        <a:cs typeface="Zurich Sans Light"/>
                      </a:endParaRPr>
                    </a:p>
                  </a:txBody>
                  <a:tcPr marL="0" marR="0" marT="2540" marB="0"/>
                </a:tc>
                <a:extLst>
                  <a:ext uri="{0D108BD9-81ED-4DB2-BD59-A6C34878D82A}">
                    <a16:rowId xmlns:a16="http://schemas.microsoft.com/office/drawing/2014/main" val="10001"/>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4.95% </a:t>
                      </a:r>
                      <a:r>
                        <a:rPr sz="800" b="0" spc="-10">
                          <a:solidFill>
                            <a:srgbClr val="142764"/>
                          </a:solidFill>
                          <a:latin typeface="Zurich Sans Light"/>
                          <a:cs typeface="Zurich Sans Light"/>
                        </a:rPr>
                        <a:t>01/05/2036</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1.65%</a:t>
                      </a:r>
                      <a:endParaRPr sz="800">
                        <a:latin typeface="Zurich Sans Light"/>
                        <a:cs typeface="Zurich Sans Light"/>
                      </a:endParaRPr>
                    </a:p>
                  </a:txBody>
                  <a:tcPr marL="0" marR="0" marT="2540" marB="0"/>
                </a:tc>
                <a:extLst>
                  <a:ext uri="{0D108BD9-81ED-4DB2-BD59-A6C34878D82A}">
                    <a16:rowId xmlns:a16="http://schemas.microsoft.com/office/drawing/2014/main" val="10002"/>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5.33% </a:t>
                      </a:r>
                      <a:r>
                        <a:rPr sz="800" b="0" spc="-10">
                          <a:solidFill>
                            <a:srgbClr val="142764"/>
                          </a:solidFill>
                          <a:latin typeface="Zurich Sans Light"/>
                          <a:cs typeface="Zurich Sans Light"/>
                        </a:rPr>
                        <a:t>01/05/2054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1.52%</a:t>
                      </a:r>
                      <a:endParaRPr sz="800">
                        <a:latin typeface="Zurich Sans Light"/>
                        <a:cs typeface="Zurich Sans Light"/>
                      </a:endParaRPr>
                    </a:p>
                  </a:txBody>
                  <a:tcPr marL="0" marR="0" marT="2540" marB="0"/>
                </a:tc>
                <a:extLst>
                  <a:ext uri="{0D108BD9-81ED-4DB2-BD59-A6C34878D82A}">
                    <a16:rowId xmlns:a16="http://schemas.microsoft.com/office/drawing/2014/main" val="10003"/>
                  </a:ext>
                </a:extLst>
              </a:tr>
              <a:tr h="139700">
                <a:tc>
                  <a:txBody>
                    <a:bodyPr/>
                    <a:lstStyle/>
                    <a:p>
                      <a:pPr marL="9525">
                        <a:lnSpc>
                          <a:spcPct val="100000"/>
                        </a:lnSpc>
                        <a:spcBef>
                          <a:spcPts val="20"/>
                        </a:spcBef>
                      </a:pPr>
                      <a:r>
                        <a:rPr sz="800" b="0">
                          <a:solidFill>
                            <a:srgbClr val="142764"/>
                          </a:solidFill>
                          <a:latin typeface="Zurich Sans Light"/>
                          <a:cs typeface="Zurich Sans Light"/>
                        </a:rPr>
                        <a:t>CHILE</a:t>
                      </a:r>
                      <a:r>
                        <a:rPr sz="800" b="0" spc="-10">
                          <a:solidFill>
                            <a:srgbClr val="142764"/>
                          </a:solidFill>
                          <a:latin typeface="Zurich Sans Light"/>
                          <a:cs typeface="Zurich Sans Light"/>
                        </a:rPr>
                        <a:t> </a:t>
                      </a:r>
                      <a:r>
                        <a:rPr sz="800" b="0">
                          <a:solidFill>
                            <a:srgbClr val="142764"/>
                          </a:solidFill>
                          <a:latin typeface="Zurich Sans Light"/>
                          <a:cs typeface="Zurich Sans Light"/>
                        </a:rPr>
                        <a:t>REPUBLIC OF 4.85% </a:t>
                      </a:r>
                      <a:r>
                        <a:rPr sz="800" b="0" spc="-10">
                          <a:solidFill>
                            <a:srgbClr val="142764"/>
                          </a:solidFill>
                          <a:latin typeface="Zurich Sans Light"/>
                          <a:cs typeface="Zurich Sans Light"/>
                        </a:rPr>
                        <a:t>01/22/2029</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1.47%</a:t>
                      </a:r>
                      <a:endParaRPr sz="800">
                        <a:latin typeface="Zurich Sans Light"/>
                        <a:cs typeface="Zurich Sans Light"/>
                      </a:endParaRPr>
                    </a:p>
                  </a:txBody>
                  <a:tcPr marL="0" marR="0" marT="2540" marB="0"/>
                </a:tc>
                <a:extLst>
                  <a:ext uri="{0D108BD9-81ED-4DB2-BD59-A6C34878D82A}">
                    <a16:rowId xmlns:a16="http://schemas.microsoft.com/office/drawing/2014/main" val="10004"/>
                  </a:ext>
                </a:extLst>
              </a:tr>
              <a:tr h="139700">
                <a:tc>
                  <a:txBody>
                    <a:bodyPr/>
                    <a:lstStyle/>
                    <a:p>
                      <a:pPr marL="9525">
                        <a:lnSpc>
                          <a:spcPct val="100000"/>
                        </a:lnSpc>
                        <a:spcBef>
                          <a:spcPts val="20"/>
                        </a:spcBef>
                      </a:pPr>
                      <a:r>
                        <a:rPr sz="800" b="0">
                          <a:solidFill>
                            <a:srgbClr val="142764"/>
                          </a:solidFill>
                          <a:latin typeface="Zurich Sans Light"/>
                          <a:cs typeface="Zurich Sans Light"/>
                        </a:rPr>
                        <a:t>PHILIPPINES REPUBLIC OF 4.75% </a:t>
                      </a:r>
                      <a:r>
                        <a:rPr sz="800" b="0" spc="-10">
                          <a:solidFill>
                            <a:srgbClr val="142764"/>
                          </a:solidFill>
                          <a:latin typeface="Zurich Sans Light"/>
                          <a:cs typeface="Zurich Sans Light"/>
                        </a:rPr>
                        <a:t>03/05/2035</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5"/>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4.75% </a:t>
                      </a:r>
                      <a:r>
                        <a:rPr sz="800" b="0" spc="-10">
                          <a:solidFill>
                            <a:srgbClr val="142764"/>
                          </a:solidFill>
                          <a:latin typeface="Zurich Sans Light"/>
                          <a:cs typeface="Zurich Sans Light"/>
                        </a:rPr>
                        <a:t>09/10/2034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6"/>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5.15% </a:t>
                      </a:r>
                      <a:r>
                        <a:rPr sz="800" b="0" spc="-10">
                          <a:solidFill>
                            <a:srgbClr val="142764"/>
                          </a:solidFill>
                          <a:latin typeface="Zurich Sans Light"/>
                          <a:cs typeface="Zurich Sans Light"/>
                        </a:rPr>
                        <a:t>09/10/2054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tc>
                <a:extLst>
                  <a:ext uri="{0D108BD9-81ED-4DB2-BD59-A6C34878D82A}">
                    <a16:rowId xmlns:a16="http://schemas.microsoft.com/office/drawing/2014/main" val="10007"/>
                  </a:ext>
                </a:extLst>
              </a:tr>
              <a:tr h="227329">
                <a:tc>
                  <a:txBody>
                    <a:bodyPr/>
                    <a:lstStyle/>
                    <a:p>
                      <a:pPr marL="9525">
                        <a:lnSpc>
                          <a:spcPct val="100000"/>
                        </a:lnSpc>
                        <a:spcBef>
                          <a:spcPts val="20"/>
                        </a:spcBef>
                      </a:pPr>
                      <a:r>
                        <a:rPr sz="800" b="0">
                          <a:solidFill>
                            <a:srgbClr val="142764"/>
                          </a:solidFill>
                          <a:latin typeface="Zurich Sans Light"/>
                          <a:cs typeface="Zurich Sans Light"/>
                        </a:rPr>
                        <a:t>PHILIPPINES REPUBLIC OF 5.175% </a:t>
                      </a:r>
                      <a:r>
                        <a:rPr sz="800" b="0" spc="-10">
                          <a:solidFill>
                            <a:srgbClr val="142764"/>
                          </a:solidFill>
                          <a:latin typeface="Zurich Sans Light"/>
                          <a:cs typeface="Zurich Sans Light"/>
                        </a:rPr>
                        <a:t>09/05/2049</a:t>
                      </a:r>
                      <a:endParaRPr sz="800">
                        <a:latin typeface="Zurich Sans Light"/>
                        <a:cs typeface="Zurich Sans Light"/>
                      </a:endParaRPr>
                    </a:p>
                  </a:txBody>
                  <a:tcPr marL="0" marR="0" marT="2540" marB="0">
                    <a:lnB w="38100">
                      <a:solidFill>
                        <a:srgbClr val="4890D9"/>
                      </a:solidFill>
                      <a:prstDash val="solid"/>
                    </a:lnB>
                  </a:tcPr>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lnB w="38100">
                      <a:solidFill>
                        <a:srgbClr val="4890D9"/>
                      </a:solidFill>
                      <a:prstDash val="solid"/>
                    </a:lnB>
                  </a:tcPr>
                </a:tc>
                <a:extLst>
                  <a:ext uri="{0D108BD9-81ED-4DB2-BD59-A6C34878D82A}">
                    <a16:rowId xmlns:a16="http://schemas.microsoft.com/office/drawing/2014/main" val="10008"/>
                  </a:ext>
                </a:extLst>
              </a:tr>
            </a:tbl>
          </a:graphicData>
        </a:graphic>
      </p:graphicFrame>
      <p:sp>
        <p:nvSpPr>
          <p:cNvPr id="10" name="object 10"/>
          <p:cNvSpPr/>
          <p:nvPr/>
        </p:nvSpPr>
        <p:spPr>
          <a:xfrm>
            <a:off x="3069463" y="102734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3069463" y="1159703"/>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3069463" y="129205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3069463" y="142441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3069463" y="155677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p:nvPr/>
        </p:nvSpPr>
        <p:spPr>
          <a:xfrm>
            <a:off x="3069463" y="168912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p:cNvSpPr/>
          <p:nvPr/>
        </p:nvSpPr>
        <p:spPr>
          <a:xfrm>
            <a:off x="3069463" y="1821483"/>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p:nvPr/>
        </p:nvSpPr>
        <p:spPr>
          <a:xfrm>
            <a:off x="3069463" y="195383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p:cNvSpPr/>
          <p:nvPr/>
        </p:nvSpPr>
        <p:spPr>
          <a:xfrm>
            <a:off x="3069463" y="208619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p:cNvSpPr txBox="1"/>
          <p:nvPr/>
        </p:nvSpPr>
        <p:spPr>
          <a:xfrm>
            <a:off x="5462523" y="1003816"/>
            <a:ext cx="32512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14.57%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0" name="object 20"/>
          <p:cNvSpPr txBox="1"/>
          <p:nvPr/>
        </p:nvSpPr>
        <p:spPr>
          <a:xfrm>
            <a:off x="5454903" y="1160671"/>
            <a:ext cx="33274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12.94%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1" name="object 21"/>
          <p:cNvSpPr txBox="1"/>
          <p:nvPr/>
        </p:nvSpPr>
        <p:spPr>
          <a:xfrm>
            <a:off x="5521578" y="1317526"/>
            <a:ext cx="26606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7.31%</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2" name="object 22"/>
          <p:cNvSpPr txBox="1"/>
          <p:nvPr/>
        </p:nvSpPr>
        <p:spPr>
          <a:xfrm>
            <a:off x="5487288" y="1474381"/>
            <a:ext cx="30035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3" name="object 23"/>
          <p:cNvSpPr txBox="1"/>
          <p:nvPr/>
        </p:nvSpPr>
        <p:spPr>
          <a:xfrm>
            <a:off x="5506973" y="1631236"/>
            <a:ext cx="28067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4" name="object 24"/>
          <p:cNvSpPr txBox="1"/>
          <p:nvPr/>
        </p:nvSpPr>
        <p:spPr>
          <a:xfrm>
            <a:off x="5493638" y="1788091"/>
            <a:ext cx="2940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4.78%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5" name="object 25"/>
          <p:cNvSpPr txBox="1"/>
          <p:nvPr/>
        </p:nvSpPr>
        <p:spPr>
          <a:xfrm>
            <a:off x="5519038" y="1944946"/>
            <a:ext cx="2686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6" name="object 26"/>
          <p:cNvSpPr txBox="1"/>
          <p:nvPr/>
        </p:nvSpPr>
        <p:spPr>
          <a:xfrm>
            <a:off x="5486653" y="2101801"/>
            <a:ext cx="30099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4.04%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7" name="object 27"/>
          <p:cNvSpPr txBox="1"/>
          <p:nvPr/>
        </p:nvSpPr>
        <p:spPr>
          <a:xfrm>
            <a:off x="5430138" y="2258656"/>
            <a:ext cx="357505"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8" name="object 28"/>
          <p:cNvSpPr txBox="1"/>
          <p:nvPr/>
        </p:nvSpPr>
        <p:spPr>
          <a:xfrm>
            <a:off x="2986828" y="687576"/>
            <a:ext cx="3144307" cy="1846339"/>
          </a:xfrm>
          <a:prstGeom prst="rect">
            <a:avLst/>
          </a:prstGeom>
        </p:spPr>
        <p:txBody>
          <a:bodyPr vert="horz" wrap="square" lIns="0" tIns="93345" rIns="0" bIns="0" rtlCol="0">
            <a:spAutoFit/>
          </a:bodyPr>
          <a:lstStyle/>
          <a:p>
            <a:pPr marL="12700" marR="0" lvl="0" indent="0" defTabSz="914400" eaLnBrk="1" fontAlgn="auto" latinLnBrk="0" hangingPunct="1">
              <a:lnSpc>
                <a:spcPct val="100000"/>
              </a:lnSpc>
              <a:spcBef>
                <a:spcPts val="735"/>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Asset</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5"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a:p>
            <a:pPr marL="270510" marR="575945" lvl="0" indent="0" defTabSz="914400" eaLnBrk="1" fontAlgn="auto" latinLnBrk="0" hangingPunct="1">
              <a:lnSpc>
                <a:spcPts val="1200"/>
              </a:lnSpc>
              <a:spcBef>
                <a:spcPts val="37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American </a:t>
            </a:r>
            <a:r>
              <a:rPr kumimoji="0" sz="800" b="0" i="0" u="none" strike="noStrike" kern="0" cap="none" spc="-10" normalizeH="0" baseline="0" noProof="0">
                <a:ln>
                  <a:noFill/>
                </a:ln>
                <a:solidFill>
                  <a:srgbClr val="142764"/>
                </a:solidFill>
                <a:effectLst/>
                <a:uLnTx/>
                <a:uFillTx/>
                <a:latin typeface="Zurich Sans Light"/>
                <a:cs typeface="Zurich Sans Light"/>
              </a:rPr>
              <a:t>Emerging</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African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GCC Government </a:t>
            </a:r>
            <a:r>
              <a:rPr kumimoji="0" sz="800" b="0" i="0" u="none" strike="noStrike" kern="0" cap="none" spc="-10" normalizeH="0" baseline="0" noProof="0">
                <a:ln>
                  <a:noFill/>
                </a:ln>
                <a:solidFill>
                  <a:srgbClr val="142764"/>
                </a:solidFill>
                <a:effectLst/>
                <a:uLnTx/>
                <a:uFillTx/>
                <a:latin typeface="Zurich Sans Light"/>
                <a:cs typeface="Zurich Sans Light"/>
              </a:rPr>
              <a:t>Fixed</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Indonesian </a:t>
            </a:r>
            <a:r>
              <a:rPr kumimoji="0" sz="800" b="0" i="0" u="none" strike="noStrike" kern="0" cap="none" spc="-10" normalizeH="0" baseline="0" noProof="0">
                <a:ln>
                  <a:noFill/>
                </a:ln>
                <a:solidFill>
                  <a:srgbClr val="142764"/>
                </a:solidFill>
                <a:effectLst/>
                <a:uLnTx/>
                <a:uFillTx/>
                <a:latin typeface="Zurich Sans Light"/>
                <a:cs typeface="Zurich Sans Light"/>
              </a:rPr>
              <a:t>Government</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Philippine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Chilean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Peruvian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South African </a:t>
            </a:r>
            <a:r>
              <a:rPr kumimoji="0" sz="800" b="0" i="0" u="none" strike="noStrike" kern="0" cap="none" spc="-10" normalizeH="0" baseline="0" noProof="0">
                <a:ln>
                  <a:noFill/>
                </a:ln>
                <a:solidFill>
                  <a:srgbClr val="142764"/>
                </a:solidFill>
                <a:effectLst/>
                <a:uLnTx/>
                <a:uFillTx/>
                <a:latin typeface="Zurich Sans Light"/>
                <a:cs typeface="Zurich Sans Light"/>
              </a:rPr>
              <a:t>Corporate</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270510" marR="575945" lvl="0" indent="0" defTabSz="914400" eaLnBrk="1" fontAlgn="auto" latinLnBrk="0" hangingPunct="1">
              <a:lnSpc>
                <a:spcPts val="1200"/>
              </a:lnSpc>
              <a:spcBef>
                <a:spcPts val="4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Middle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East &amp; </a:t>
            </a:r>
            <a:r>
              <a:rPr kumimoji="0" sz="800" b="0" i="0" u="none" strike="noStrike" kern="0" cap="none" spc="-10" normalizeH="0" baseline="0" noProof="0">
                <a:ln>
                  <a:noFill/>
                </a:ln>
                <a:solidFill>
                  <a:srgbClr val="142764"/>
                </a:solidFill>
                <a:effectLst/>
                <a:uLnTx/>
                <a:uFillTx/>
                <a:latin typeface="Zurich Sans Light"/>
                <a:cs typeface="Zurich Sans Light"/>
              </a:rPr>
              <a:t>African</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3" name="object 43"/>
          <p:cNvSpPr txBox="1"/>
          <p:nvPr/>
        </p:nvSpPr>
        <p:spPr>
          <a:xfrm>
            <a:off x="3047237" y="7239263"/>
            <a:ext cx="4093845" cy="448841"/>
          </a:xfrm>
          <a:prstGeom prst="rect">
            <a:avLst/>
          </a:prstGeom>
        </p:spPr>
        <p:txBody>
          <a:bodyPr vert="horz" wrap="square" lIns="0" tIns="1778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Top</a:t>
            </a:r>
            <a:r>
              <a:rPr kumimoji="0" sz="1150" b="1" i="0" u="none" strike="noStrike" kern="0" cap="none" spc="-1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10</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Holdings</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28/02/2025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sp>
        <p:nvSpPr>
          <p:cNvPr id="45" name="object 45"/>
          <p:cNvSpPr/>
          <p:nvPr/>
        </p:nvSpPr>
        <p:spPr>
          <a:xfrm>
            <a:off x="243927" y="622300"/>
            <a:ext cx="2600895" cy="9262240"/>
          </a:xfrm>
          <a:custGeom>
            <a:avLst/>
            <a:gdLst/>
            <a:ahLst/>
            <a:cxnLst/>
            <a:rect l="l" t="t" r="r" b="b"/>
            <a:pathLst>
              <a:path w="2520315" h="8784590">
                <a:moveTo>
                  <a:pt x="2519934" y="0"/>
                </a:moveTo>
                <a:lnTo>
                  <a:pt x="0" y="0"/>
                </a:lnTo>
                <a:lnTo>
                  <a:pt x="0" y="8784082"/>
                </a:lnTo>
                <a:lnTo>
                  <a:pt x="2519934" y="8784082"/>
                </a:lnTo>
                <a:lnTo>
                  <a:pt x="2519934" y="0"/>
                </a:lnTo>
                <a:close/>
              </a:path>
            </a:pathLst>
          </a:custGeom>
          <a:solidFill>
            <a:srgbClr val="EDEBE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2"/>
          <p:cNvSpPr txBox="1"/>
          <p:nvPr/>
        </p:nvSpPr>
        <p:spPr>
          <a:xfrm>
            <a:off x="350852" y="9363216"/>
            <a:ext cx="6658609" cy="759182"/>
          </a:xfrm>
          <a:prstGeom prst="rect">
            <a:avLst/>
          </a:prstGeom>
        </p:spPr>
        <p:txBody>
          <a:bodyPr vert="horz" wrap="square" lIns="0" tIns="12700" rIns="0" bIns="0" rtlCol="0">
            <a:spAutoFit/>
          </a:bodyPr>
          <a:lstStyle/>
          <a:p>
            <a:pPr marL="2712085" marR="508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Zurich sources its funds data from FEfundinfo. The date shown reflects the last </a:t>
            </a:r>
            <a:r>
              <a:rPr kumimoji="0" sz="800" b="0" i="0" u="none" strike="noStrike" kern="0" cap="none" spc="-10" normalizeH="0" baseline="0" noProof="0">
                <a:ln>
                  <a:noFill/>
                </a:ln>
                <a:solidFill>
                  <a:srgbClr val="142764"/>
                </a:solidFill>
                <a:effectLst/>
                <a:uLnTx/>
                <a:uFillTx/>
                <a:latin typeface="Zurich Sans Light"/>
                <a:cs typeface="Zurich Sans Light"/>
              </a:rPr>
              <a:t>available</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regional, sector and asset breakdown data provided by the fund's administrator </a:t>
            </a:r>
            <a:r>
              <a:rPr kumimoji="0" sz="800" b="0" i="0" u="none" strike="noStrike" kern="0" cap="none" spc="-25" normalizeH="0" baseline="0" noProof="0">
                <a:ln>
                  <a:noFill/>
                </a:ln>
                <a:solidFill>
                  <a:srgbClr val="142764"/>
                </a:solidFill>
                <a:effectLst/>
                <a:uLnTx/>
                <a:uFillTx/>
                <a:latin typeface="Zurich Sans Light"/>
                <a:cs typeface="Zurich Sans Light"/>
              </a:rPr>
              <a:t>to</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FEfundinfo. The timeliness of this data is affected by the speed and regularity of </a:t>
            </a:r>
            <a:r>
              <a:rPr kumimoji="0" sz="800" b="0" i="0" u="none" strike="noStrike" kern="0" cap="none" spc="-10" normalizeH="0" baseline="0" noProof="0">
                <a:ln>
                  <a:noFill/>
                </a:ln>
                <a:solidFill>
                  <a:srgbClr val="142764"/>
                </a:solidFill>
                <a:effectLst/>
                <a:uLnTx/>
                <a:uFillTx/>
                <a:latin typeface="Zurich Sans Light"/>
                <a:cs typeface="Zurich Sans Light"/>
              </a:rPr>
              <a:t>their</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publication by the fund </a:t>
            </a:r>
            <a:r>
              <a:rPr kumimoji="0" sz="800" b="0" i="0" u="none" strike="noStrike" kern="0" cap="none" spc="-10" normalizeH="0" baseline="0" noProof="0">
                <a:ln>
                  <a:noFill/>
                </a:ln>
                <a:solidFill>
                  <a:srgbClr val="142764"/>
                </a:solidFill>
                <a:effectLst/>
                <a:uLnTx/>
                <a:uFillTx/>
                <a:latin typeface="Zurich Sans Light"/>
                <a:cs typeface="Zurich Sans Light"/>
              </a:rPr>
              <a:t>administrator.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15"/>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p:txBody>
      </p:sp>
      <p:grpSp>
        <p:nvGrpSpPr>
          <p:cNvPr id="53" name="object 53"/>
          <p:cNvGrpSpPr/>
          <p:nvPr/>
        </p:nvGrpSpPr>
        <p:grpSpPr>
          <a:xfrm>
            <a:off x="5916917" y="949733"/>
            <a:ext cx="1466850" cy="1466850"/>
            <a:chOff x="5634577" y="647887"/>
            <a:chExt cx="1466850" cy="1466850"/>
          </a:xfrm>
        </p:grpSpPr>
        <p:sp>
          <p:nvSpPr>
            <p:cNvPr id="54" name="object 54"/>
            <p:cNvSpPr/>
            <p:nvPr/>
          </p:nvSpPr>
          <p:spPr>
            <a:xfrm>
              <a:off x="6367779" y="652650"/>
              <a:ext cx="577850" cy="506730"/>
            </a:xfrm>
            <a:custGeom>
              <a:avLst/>
              <a:gdLst/>
              <a:ahLst/>
              <a:cxnLst/>
              <a:rect l="l" t="t" r="r" b="b"/>
              <a:pathLst>
                <a:path w="577850" h="506730">
                  <a:moveTo>
                    <a:pt x="0" y="0"/>
                  </a:moveTo>
                  <a:lnTo>
                    <a:pt x="0" y="364363"/>
                  </a:lnTo>
                  <a:lnTo>
                    <a:pt x="48008" y="367529"/>
                  </a:lnTo>
                  <a:lnTo>
                    <a:pt x="94676" y="376852"/>
                  </a:lnTo>
                  <a:lnTo>
                    <a:pt x="139459" y="392064"/>
                  </a:lnTo>
                  <a:lnTo>
                    <a:pt x="181809" y="412899"/>
                  </a:lnTo>
                  <a:lnTo>
                    <a:pt x="221179" y="439091"/>
                  </a:lnTo>
                  <a:lnTo>
                    <a:pt x="257025" y="470372"/>
                  </a:lnTo>
                  <a:lnTo>
                    <a:pt x="288798" y="506475"/>
                  </a:lnTo>
                  <a:lnTo>
                    <a:pt x="577596" y="284225"/>
                  </a:lnTo>
                  <a:lnTo>
                    <a:pt x="546884" y="246973"/>
                  </a:lnTo>
                  <a:lnTo>
                    <a:pt x="514003" y="212058"/>
                  </a:lnTo>
                  <a:lnTo>
                    <a:pt x="479090" y="179548"/>
                  </a:lnTo>
                  <a:lnTo>
                    <a:pt x="442282" y="149511"/>
                  </a:lnTo>
                  <a:lnTo>
                    <a:pt x="403714" y="122015"/>
                  </a:lnTo>
                  <a:lnTo>
                    <a:pt x="363525" y="97127"/>
                  </a:lnTo>
                  <a:lnTo>
                    <a:pt x="321849" y="74914"/>
                  </a:lnTo>
                  <a:lnTo>
                    <a:pt x="278825" y="55443"/>
                  </a:lnTo>
                  <a:lnTo>
                    <a:pt x="234588" y="38783"/>
                  </a:lnTo>
                  <a:lnTo>
                    <a:pt x="189275" y="25001"/>
                  </a:lnTo>
                  <a:lnTo>
                    <a:pt x="143024" y="14164"/>
                  </a:lnTo>
                  <a:lnTo>
                    <a:pt x="95969" y="6340"/>
                  </a:lnTo>
                  <a:lnTo>
                    <a:pt x="48249" y="1596"/>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5"/>
            <p:cNvSpPr/>
            <p:nvPr/>
          </p:nvSpPr>
          <p:spPr>
            <a:xfrm>
              <a:off x="6656831" y="937511"/>
              <a:ext cx="440055" cy="558165"/>
            </a:xfrm>
            <a:custGeom>
              <a:avLst/>
              <a:gdLst/>
              <a:ahLst/>
              <a:cxnLst/>
              <a:rect l="l" t="t" r="r" b="b"/>
              <a:pathLst>
                <a:path w="440054" h="558165">
                  <a:moveTo>
                    <a:pt x="288925" y="0"/>
                  </a:moveTo>
                  <a:lnTo>
                    <a:pt x="0" y="221869"/>
                  </a:lnTo>
                  <a:lnTo>
                    <a:pt x="27510" y="263191"/>
                  </a:lnTo>
                  <a:lnTo>
                    <a:pt x="48970" y="307467"/>
                  </a:lnTo>
                  <a:lnTo>
                    <a:pt x="64214" y="354028"/>
                  </a:lnTo>
                  <a:lnTo>
                    <a:pt x="73076" y="402209"/>
                  </a:lnTo>
                  <a:lnTo>
                    <a:pt x="75391" y="451342"/>
                  </a:lnTo>
                  <a:lnTo>
                    <a:pt x="70993" y="500761"/>
                  </a:lnTo>
                  <a:lnTo>
                    <a:pt x="430784" y="557784"/>
                  </a:lnTo>
                  <a:lnTo>
                    <a:pt x="436881" y="508323"/>
                  </a:lnTo>
                  <a:lnTo>
                    <a:pt x="439581" y="458858"/>
                  </a:lnTo>
                  <a:lnTo>
                    <a:pt x="438925" y="409551"/>
                  </a:lnTo>
                  <a:lnTo>
                    <a:pt x="434956" y="360567"/>
                  </a:lnTo>
                  <a:lnTo>
                    <a:pt x="427714" y="312069"/>
                  </a:lnTo>
                  <a:lnTo>
                    <a:pt x="417242" y="264223"/>
                  </a:lnTo>
                  <a:lnTo>
                    <a:pt x="403582" y="217192"/>
                  </a:lnTo>
                  <a:lnTo>
                    <a:pt x="386776" y="171139"/>
                  </a:lnTo>
                  <a:lnTo>
                    <a:pt x="366865" y="126230"/>
                  </a:lnTo>
                  <a:lnTo>
                    <a:pt x="343891" y="82627"/>
                  </a:lnTo>
                  <a:lnTo>
                    <a:pt x="317897" y="40496"/>
                  </a:lnTo>
                  <a:lnTo>
                    <a:pt x="28892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6"/>
            <p:cNvSpPr/>
            <p:nvPr/>
          </p:nvSpPr>
          <p:spPr>
            <a:xfrm>
              <a:off x="6656831" y="937511"/>
              <a:ext cx="440055" cy="558165"/>
            </a:xfrm>
            <a:custGeom>
              <a:avLst/>
              <a:gdLst/>
              <a:ahLst/>
              <a:cxnLst/>
              <a:rect l="l" t="t" r="r" b="b"/>
              <a:pathLst>
                <a:path w="440054" h="558165">
                  <a:moveTo>
                    <a:pt x="288925" y="0"/>
                  </a:moveTo>
                  <a:lnTo>
                    <a:pt x="317897" y="40496"/>
                  </a:lnTo>
                  <a:lnTo>
                    <a:pt x="343891" y="82627"/>
                  </a:lnTo>
                  <a:lnTo>
                    <a:pt x="366865" y="126230"/>
                  </a:lnTo>
                  <a:lnTo>
                    <a:pt x="386776" y="171139"/>
                  </a:lnTo>
                  <a:lnTo>
                    <a:pt x="403582" y="217192"/>
                  </a:lnTo>
                  <a:lnTo>
                    <a:pt x="417242" y="264223"/>
                  </a:lnTo>
                  <a:lnTo>
                    <a:pt x="427714" y="312069"/>
                  </a:lnTo>
                  <a:lnTo>
                    <a:pt x="434956" y="360567"/>
                  </a:lnTo>
                  <a:lnTo>
                    <a:pt x="438925" y="409551"/>
                  </a:lnTo>
                  <a:lnTo>
                    <a:pt x="439581" y="458858"/>
                  </a:lnTo>
                  <a:lnTo>
                    <a:pt x="436881" y="508323"/>
                  </a:lnTo>
                  <a:lnTo>
                    <a:pt x="430784" y="557784"/>
                  </a:lnTo>
                  <a:lnTo>
                    <a:pt x="425162" y="556893"/>
                  </a:lnTo>
                  <a:lnTo>
                    <a:pt x="385810" y="550656"/>
                  </a:lnTo>
                  <a:lnTo>
                    <a:pt x="278997" y="533727"/>
                  </a:lnTo>
                  <a:lnTo>
                    <a:pt x="70993" y="500761"/>
                  </a:lnTo>
                  <a:lnTo>
                    <a:pt x="75391" y="451342"/>
                  </a:lnTo>
                  <a:lnTo>
                    <a:pt x="73076" y="402209"/>
                  </a:lnTo>
                  <a:lnTo>
                    <a:pt x="64214" y="354028"/>
                  </a:lnTo>
                  <a:lnTo>
                    <a:pt x="48970" y="307467"/>
                  </a:lnTo>
                  <a:lnTo>
                    <a:pt x="27510" y="263191"/>
                  </a:lnTo>
                  <a:lnTo>
                    <a:pt x="0" y="221869"/>
                  </a:lnTo>
                  <a:lnTo>
                    <a:pt x="288925"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p:cNvSpPr/>
            <p:nvPr/>
          </p:nvSpPr>
          <p:spPr>
            <a:xfrm>
              <a:off x="6665340" y="1438653"/>
              <a:ext cx="422275" cy="363855"/>
            </a:xfrm>
            <a:custGeom>
              <a:avLst/>
              <a:gdLst/>
              <a:ahLst/>
              <a:cxnLst/>
              <a:rect l="l" t="t" r="r" b="b"/>
              <a:pathLst>
                <a:path w="422275" h="363855">
                  <a:moveTo>
                    <a:pt x="62356" y="0"/>
                  </a:moveTo>
                  <a:lnTo>
                    <a:pt x="53453" y="40772"/>
                  </a:lnTo>
                  <a:lnTo>
                    <a:pt x="39989" y="80152"/>
                  </a:lnTo>
                  <a:lnTo>
                    <a:pt x="22119" y="117746"/>
                  </a:lnTo>
                  <a:lnTo>
                    <a:pt x="0" y="153162"/>
                  </a:lnTo>
                  <a:lnTo>
                    <a:pt x="297306" y="363727"/>
                  </a:lnTo>
                  <a:lnTo>
                    <a:pt x="323616" y="323832"/>
                  </a:lnTo>
                  <a:lnTo>
                    <a:pt x="347205" y="282402"/>
                  </a:lnTo>
                  <a:lnTo>
                    <a:pt x="368009" y="239580"/>
                  </a:lnTo>
                  <a:lnTo>
                    <a:pt x="385968" y="195513"/>
                  </a:lnTo>
                  <a:lnTo>
                    <a:pt x="401019" y="150343"/>
                  </a:lnTo>
                  <a:lnTo>
                    <a:pt x="413099" y="104217"/>
                  </a:lnTo>
                  <a:lnTo>
                    <a:pt x="422148" y="57276"/>
                  </a:lnTo>
                  <a:lnTo>
                    <a:pt x="6235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8"/>
            <p:cNvSpPr/>
            <p:nvPr/>
          </p:nvSpPr>
          <p:spPr>
            <a:xfrm>
              <a:off x="6665340" y="1438653"/>
              <a:ext cx="422275" cy="363855"/>
            </a:xfrm>
            <a:custGeom>
              <a:avLst/>
              <a:gdLst/>
              <a:ahLst/>
              <a:cxnLst/>
              <a:rect l="l" t="t" r="r" b="b"/>
              <a:pathLst>
                <a:path w="422275" h="363855">
                  <a:moveTo>
                    <a:pt x="422148" y="57276"/>
                  </a:moveTo>
                  <a:lnTo>
                    <a:pt x="413099" y="104217"/>
                  </a:lnTo>
                  <a:lnTo>
                    <a:pt x="401019" y="150343"/>
                  </a:lnTo>
                  <a:lnTo>
                    <a:pt x="385968" y="195513"/>
                  </a:lnTo>
                  <a:lnTo>
                    <a:pt x="368009" y="239580"/>
                  </a:lnTo>
                  <a:lnTo>
                    <a:pt x="347205" y="282402"/>
                  </a:lnTo>
                  <a:lnTo>
                    <a:pt x="323616" y="323832"/>
                  </a:lnTo>
                  <a:lnTo>
                    <a:pt x="297306" y="363727"/>
                  </a:lnTo>
                  <a:lnTo>
                    <a:pt x="292661" y="360437"/>
                  </a:lnTo>
                  <a:lnTo>
                    <a:pt x="260143" y="337407"/>
                  </a:lnTo>
                  <a:lnTo>
                    <a:pt x="171880" y="274895"/>
                  </a:lnTo>
                  <a:lnTo>
                    <a:pt x="0" y="153162"/>
                  </a:lnTo>
                  <a:lnTo>
                    <a:pt x="22119" y="117746"/>
                  </a:lnTo>
                  <a:lnTo>
                    <a:pt x="39989" y="80152"/>
                  </a:lnTo>
                  <a:lnTo>
                    <a:pt x="53453" y="40772"/>
                  </a:lnTo>
                  <a:lnTo>
                    <a:pt x="62356" y="0"/>
                  </a:lnTo>
                  <a:lnTo>
                    <a:pt x="422148" y="572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p:cNvSpPr/>
            <p:nvPr/>
          </p:nvSpPr>
          <p:spPr>
            <a:xfrm>
              <a:off x="6560819" y="1592069"/>
              <a:ext cx="401955" cy="407670"/>
            </a:xfrm>
            <a:custGeom>
              <a:avLst/>
              <a:gdLst/>
              <a:ahLst/>
              <a:cxnLst/>
              <a:rect l="l" t="t" r="r" b="b"/>
              <a:pathLst>
                <a:path w="401954" h="407669">
                  <a:moveTo>
                    <a:pt x="104266" y="0"/>
                  </a:moveTo>
                  <a:lnTo>
                    <a:pt x="81938" y="28380"/>
                  </a:lnTo>
                  <a:lnTo>
                    <a:pt x="56991" y="54355"/>
                  </a:lnTo>
                  <a:lnTo>
                    <a:pt x="29614" y="77759"/>
                  </a:lnTo>
                  <a:lnTo>
                    <a:pt x="0" y="98425"/>
                  </a:lnTo>
                  <a:lnTo>
                    <a:pt x="192785" y="407415"/>
                  </a:lnTo>
                  <a:lnTo>
                    <a:pt x="232804" y="380594"/>
                  </a:lnTo>
                  <a:lnTo>
                    <a:pt x="270872" y="351253"/>
                  </a:lnTo>
                  <a:lnTo>
                    <a:pt x="306879" y="319500"/>
                  </a:lnTo>
                  <a:lnTo>
                    <a:pt x="340717" y="285439"/>
                  </a:lnTo>
                  <a:lnTo>
                    <a:pt x="372276" y="249177"/>
                  </a:lnTo>
                  <a:lnTo>
                    <a:pt x="401447" y="210820"/>
                  </a:lnTo>
                  <a:lnTo>
                    <a:pt x="10426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p:cNvSpPr/>
            <p:nvPr/>
          </p:nvSpPr>
          <p:spPr>
            <a:xfrm>
              <a:off x="6560819" y="1592069"/>
              <a:ext cx="401955" cy="407670"/>
            </a:xfrm>
            <a:custGeom>
              <a:avLst/>
              <a:gdLst/>
              <a:ahLst/>
              <a:cxnLst/>
              <a:rect l="l" t="t" r="r" b="b"/>
              <a:pathLst>
                <a:path w="401954" h="407669">
                  <a:moveTo>
                    <a:pt x="401447" y="210820"/>
                  </a:moveTo>
                  <a:lnTo>
                    <a:pt x="372276" y="249177"/>
                  </a:lnTo>
                  <a:lnTo>
                    <a:pt x="340717" y="285439"/>
                  </a:lnTo>
                  <a:lnTo>
                    <a:pt x="306879" y="319500"/>
                  </a:lnTo>
                  <a:lnTo>
                    <a:pt x="270872" y="351253"/>
                  </a:lnTo>
                  <a:lnTo>
                    <a:pt x="232804" y="380594"/>
                  </a:lnTo>
                  <a:lnTo>
                    <a:pt x="192785" y="407415"/>
                  </a:lnTo>
                  <a:lnTo>
                    <a:pt x="189773" y="402588"/>
                  </a:lnTo>
                  <a:lnTo>
                    <a:pt x="168687" y="368792"/>
                  </a:lnTo>
                  <a:lnTo>
                    <a:pt x="111454" y="277060"/>
                  </a:lnTo>
                  <a:lnTo>
                    <a:pt x="0" y="98425"/>
                  </a:lnTo>
                  <a:lnTo>
                    <a:pt x="29614" y="77759"/>
                  </a:lnTo>
                  <a:lnTo>
                    <a:pt x="56991" y="54355"/>
                  </a:lnTo>
                  <a:lnTo>
                    <a:pt x="81938" y="28380"/>
                  </a:lnTo>
                  <a:lnTo>
                    <a:pt x="104266" y="0"/>
                  </a:lnTo>
                  <a:lnTo>
                    <a:pt x="401447" y="21082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1"/>
            <p:cNvSpPr/>
            <p:nvPr/>
          </p:nvSpPr>
          <p:spPr>
            <a:xfrm>
              <a:off x="6429501" y="1690621"/>
              <a:ext cx="323850" cy="408940"/>
            </a:xfrm>
            <a:custGeom>
              <a:avLst/>
              <a:gdLst/>
              <a:ahLst/>
              <a:cxnLst/>
              <a:rect l="l" t="t" r="r" b="b"/>
              <a:pathLst>
                <a:path w="323850" h="408939">
                  <a:moveTo>
                    <a:pt x="130937" y="0"/>
                  </a:moveTo>
                  <a:lnTo>
                    <a:pt x="100137" y="17154"/>
                  </a:lnTo>
                  <a:lnTo>
                    <a:pt x="67897" y="31226"/>
                  </a:lnTo>
                  <a:lnTo>
                    <a:pt x="34442" y="42130"/>
                  </a:lnTo>
                  <a:lnTo>
                    <a:pt x="0" y="49783"/>
                  </a:lnTo>
                  <a:lnTo>
                    <a:pt x="61595" y="408939"/>
                  </a:lnTo>
                  <a:lnTo>
                    <a:pt x="107671" y="399464"/>
                  </a:lnTo>
                  <a:lnTo>
                    <a:pt x="152969" y="387072"/>
                  </a:lnTo>
                  <a:lnTo>
                    <a:pt x="197342" y="371808"/>
                  </a:lnTo>
                  <a:lnTo>
                    <a:pt x="240646" y="353718"/>
                  </a:lnTo>
                  <a:lnTo>
                    <a:pt x="282736" y="332848"/>
                  </a:lnTo>
                  <a:lnTo>
                    <a:pt x="323469" y="309245"/>
                  </a:lnTo>
                  <a:lnTo>
                    <a:pt x="130937"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2"/>
            <p:cNvSpPr/>
            <p:nvPr/>
          </p:nvSpPr>
          <p:spPr>
            <a:xfrm>
              <a:off x="6429501" y="1690621"/>
              <a:ext cx="323850" cy="408940"/>
            </a:xfrm>
            <a:custGeom>
              <a:avLst/>
              <a:gdLst/>
              <a:ahLst/>
              <a:cxnLst/>
              <a:rect l="l" t="t" r="r" b="b"/>
              <a:pathLst>
                <a:path w="323850" h="408939">
                  <a:moveTo>
                    <a:pt x="323469" y="309245"/>
                  </a:moveTo>
                  <a:lnTo>
                    <a:pt x="282736" y="332848"/>
                  </a:lnTo>
                  <a:lnTo>
                    <a:pt x="240646" y="353718"/>
                  </a:lnTo>
                  <a:lnTo>
                    <a:pt x="197342" y="371808"/>
                  </a:lnTo>
                  <a:lnTo>
                    <a:pt x="152969" y="387072"/>
                  </a:lnTo>
                  <a:lnTo>
                    <a:pt x="107671" y="399464"/>
                  </a:lnTo>
                  <a:lnTo>
                    <a:pt x="61595" y="408939"/>
                  </a:lnTo>
                  <a:lnTo>
                    <a:pt x="60632" y="403328"/>
                  </a:lnTo>
                  <a:lnTo>
                    <a:pt x="53895" y="364045"/>
                  </a:lnTo>
                  <a:lnTo>
                    <a:pt x="35609" y="257421"/>
                  </a:lnTo>
                  <a:lnTo>
                    <a:pt x="0" y="49783"/>
                  </a:lnTo>
                  <a:lnTo>
                    <a:pt x="34442" y="42130"/>
                  </a:lnTo>
                  <a:lnTo>
                    <a:pt x="67897" y="31226"/>
                  </a:lnTo>
                  <a:lnTo>
                    <a:pt x="100137" y="17154"/>
                  </a:lnTo>
                  <a:lnTo>
                    <a:pt x="130937" y="0"/>
                  </a:lnTo>
                  <a:lnTo>
                    <a:pt x="323469" y="30924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p:cNvSpPr/>
            <p:nvPr/>
          </p:nvSpPr>
          <p:spPr>
            <a:xfrm>
              <a:off x="6272529" y="1740532"/>
              <a:ext cx="217804" cy="369570"/>
            </a:xfrm>
            <a:custGeom>
              <a:avLst/>
              <a:gdLst/>
              <a:ahLst/>
              <a:cxnLst/>
              <a:rect l="l" t="t" r="r" b="b"/>
              <a:pathLst>
                <a:path w="217804" h="369569">
                  <a:moveTo>
                    <a:pt x="156591" y="0"/>
                  </a:moveTo>
                  <a:lnTo>
                    <a:pt x="129512" y="3550"/>
                  </a:lnTo>
                  <a:lnTo>
                    <a:pt x="102266" y="5064"/>
                  </a:lnTo>
                  <a:lnTo>
                    <a:pt x="74973" y="4554"/>
                  </a:lnTo>
                  <a:lnTo>
                    <a:pt x="47752" y="2032"/>
                  </a:lnTo>
                  <a:lnTo>
                    <a:pt x="0" y="363220"/>
                  </a:lnTo>
                  <a:lnTo>
                    <a:pt x="54445" y="368317"/>
                  </a:lnTo>
                  <a:lnTo>
                    <a:pt x="109045" y="369331"/>
                  </a:lnTo>
                  <a:lnTo>
                    <a:pt x="163574" y="366273"/>
                  </a:lnTo>
                  <a:lnTo>
                    <a:pt x="217805" y="359156"/>
                  </a:lnTo>
                  <a:lnTo>
                    <a:pt x="156591"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p:cNvSpPr/>
            <p:nvPr/>
          </p:nvSpPr>
          <p:spPr>
            <a:xfrm>
              <a:off x="6272529" y="1740532"/>
              <a:ext cx="217804" cy="369570"/>
            </a:xfrm>
            <a:custGeom>
              <a:avLst/>
              <a:gdLst/>
              <a:ahLst/>
              <a:cxnLst/>
              <a:rect l="l" t="t" r="r" b="b"/>
              <a:pathLst>
                <a:path w="217804" h="369569">
                  <a:moveTo>
                    <a:pt x="217805" y="359156"/>
                  </a:moveTo>
                  <a:lnTo>
                    <a:pt x="163574" y="366273"/>
                  </a:lnTo>
                  <a:lnTo>
                    <a:pt x="109045" y="369331"/>
                  </a:lnTo>
                  <a:lnTo>
                    <a:pt x="54445" y="368317"/>
                  </a:lnTo>
                  <a:lnTo>
                    <a:pt x="0" y="363220"/>
                  </a:lnTo>
                  <a:lnTo>
                    <a:pt x="746" y="357576"/>
                  </a:lnTo>
                  <a:lnTo>
                    <a:pt x="5968" y="318071"/>
                  </a:lnTo>
                  <a:lnTo>
                    <a:pt x="20145" y="210843"/>
                  </a:lnTo>
                  <a:lnTo>
                    <a:pt x="47752" y="2032"/>
                  </a:lnTo>
                  <a:lnTo>
                    <a:pt x="74973" y="4554"/>
                  </a:lnTo>
                  <a:lnTo>
                    <a:pt x="102266" y="5064"/>
                  </a:lnTo>
                  <a:lnTo>
                    <a:pt x="129512" y="3550"/>
                  </a:lnTo>
                  <a:lnTo>
                    <a:pt x="156591" y="0"/>
                  </a:lnTo>
                  <a:lnTo>
                    <a:pt x="217805" y="3591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5"/>
            <p:cNvSpPr/>
            <p:nvPr/>
          </p:nvSpPr>
          <p:spPr>
            <a:xfrm>
              <a:off x="6090792" y="1718307"/>
              <a:ext cx="229235" cy="385445"/>
            </a:xfrm>
            <a:custGeom>
              <a:avLst/>
              <a:gdLst/>
              <a:ahLst/>
              <a:cxnLst/>
              <a:rect l="l" t="t" r="r" b="b"/>
              <a:pathLst>
                <a:path w="229235" h="385444">
                  <a:moveTo>
                    <a:pt x="138557" y="0"/>
                  </a:moveTo>
                  <a:lnTo>
                    <a:pt x="0" y="336931"/>
                  </a:lnTo>
                  <a:lnTo>
                    <a:pt x="44031" y="353403"/>
                  </a:lnTo>
                  <a:lnTo>
                    <a:pt x="88979" y="366982"/>
                  </a:lnTo>
                  <a:lnTo>
                    <a:pt x="134713" y="377632"/>
                  </a:lnTo>
                  <a:lnTo>
                    <a:pt x="181102" y="385318"/>
                  </a:lnTo>
                  <a:lnTo>
                    <a:pt x="229108" y="24129"/>
                  </a:lnTo>
                  <a:lnTo>
                    <a:pt x="205904" y="20323"/>
                  </a:lnTo>
                  <a:lnTo>
                    <a:pt x="183022" y="15017"/>
                  </a:lnTo>
                  <a:lnTo>
                    <a:pt x="160545" y="8235"/>
                  </a:lnTo>
                  <a:lnTo>
                    <a:pt x="138557"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6"/>
            <p:cNvSpPr/>
            <p:nvPr/>
          </p:nvSpPr>
          <p:spPr>
            <a:xfrm>
              <a:off x="6090792" y="1718307"/>
              <a:ext cx="229235" cy="385445"/>
            </a:xfrm>
            <a:custGeom>
              <a:avLst/>
              <a:gdLst/>
              <a:ahLst/>
              <a:cxnLst/>
              <a:rect l="l" t="t" r="r" b="b"/>
              <a:pathLst>
                <a:path w="229235" h="385444">
                  <a:moveTo>
                    <a:pt x="181102" y="385318"/>
                  </a:moveTo>
                  <a:lnTo>
                    <a:pt x="134713" y="377632"/>
                  </a:lnTo>
                  <a:lnTo>
                    <a:pt x="88979" y="366982"/>
                  </a:lnTo>
                  <a:lnTo>
                    <a:pt x="44031" y="353403"/>
                  </a:lnTo>
                  <a:lnTo>
                    <a:pt x="0" y="336931"/>
                  </a:lnTo>
                  <a:lnTo>
                    <a:pt x="2164" y="331666"/>
                  </a:lnTo>
                  <a:lnTo>
                    <a:pt x="17319" y="294814"/>
                  </a:lnTo>
                  <a:lnTo>
                    <a:pt x="58453" y="194788"/>
                  </a:lnTo>
                  <a:lnTo>
                    <a:pt x="138557" y="0"/>
                  </a:lnTo>
                  <a:lnTo>
                    <a:pt x="160545" y="8235"/>
                  </a:lnTo>
                  <a:lnTo>
                    <a:pt x="183022" y="15017"/>
                  </a:lnTo>
                  <a:lnTo>
                    <a:pt x="205904" y="20323"/>
                  </a:lnTo>
                  <a:lnTo>
                    <a:pt x="229108" y="24129"/>
                  </a:lnTo>
                  <a:lnTo>
                    <a:pt x="181102" y="38531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p:cNvSpPr/>
            <p:nvPr/>
          </p:nvSpPr>
          <p:spPr>
            <a:xfrm>
              <a:off x="5930899" y="1672841"/>
              <a:ext cx="298450" cy="382270"/>
            </a:xfrm>
            <a:custGeom>
              <a:avLst/>
              <a:gdLst/>
              <a:ahLst/>
              <a:cxnLst/>
              <a:rect l="l" t="t" r="r" b="b"/>
              <a:pathLst>
                <a:path w="298450" h="382269">
                  <a:moveTo>
                    <a:pt x="218439" y="0"/>
                  </a:moveTo>
                  <a:lnTo>
                    <a:pt x="0" y="291591"/>
                  </a:lnTo>
                  <a:lnTo>
                    <a:pt x="37580" y="317938"/>
                  </a:lnTo>
                  <a:lnTo>
                    <a:pt x="76707" y="341868"/>
                  </a:lnTo>
                  <a:lnTo>
                    <a:pt x="117264" y="363297"/>
                  </a:lnTo>
                  <a:lnTo>
                    <a:pt x="159130" y="382142"/>
                  </a:lnTo>
                  <a:lnTo>
                    <a:pt x="298069" y="45338"/>
                  </a:lnTo>
                  <a:lnTo>
                    <a:pt x="277143" y="35915"/>
                  </a:lnTo>
                  <a:lnTo>
                    <a:pt x="256873" y="25193"/>
                  </a:lnTo>
                  <a:lnTo>
                    <a:pt x="237293" y="13209"/>
                  </a:lnTo>
                  <a:lnTo>
                    <a:pt x="218439"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p:cNvSpPr/>
            <p:nvPr/>
          </p:nvSpPr>
          <p:spPr>
            <a:xfrm>
              <a:off x="5930899" y="1672841"/>
              <a:ext cx="298450" cy="382270"/>
            </a:xfrm>
            <a:custGeom>
              <a:avLst/>
              <a:gdLst/>
              <a:ahLst/>
              <a:cxnLst/>
              <a:rect l="l" t="t" r="r" b="b"/>
              <a:pathLst>
                <a:path w="298450" h="382269">
                  <a:moveTo>
                    <a:pt x="159130" y="382142"/>
                  </a:moveTo>
                  <a:lnTo>
                    <a:pt x="117264" y="363297"/>
                  </a:lnTo>
                  <a:lnTo>
                    <a:pt x="76707" y="341868"/>
                  </a:lnTo>
                  <a:lnTo>
                    <a:pt x="37580" y="317938"/>
                  </a:lnTo>
                  <a:lnTo>
                    <a:pt x="0" y="291591"/>
                  </a:lnTo>
                  <a:lnTo>
                    <a:pt x="3413" y="287035"/>
                  </a:lnTo>
                  <a:lnTo>
                    <a:pt x="27305" y="255142"/>
                  </a:lnTo>
                  <a:lnTo>
                    <a:pt x="92154" y="168576"/>
                  </a:lnTo>
                  <a:lnTo>
                    <a:pt x="218439" y="0"/>
                  </a:lnTo>
                  <a:lnTo>
                    <a:pt x="237293" y="13209"/>
                  </a:lnTo>
                  <a:lnTo>
                    <a:pt x="256873" y="25193"/>
                  </a:lnTo>
                  <a:lnTo>
                    <a:pt x="277143" y="35915"/>
                  </a:lnTo>
                  <a:lnTo>
                    <a:pt x="298069" y="45338"/>
                  </a:lnTo>
                  <a:lnTo>
                    <a:pt x="159130" y="38214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p:cNvSpPr/>
            <p:nvPr/>
          </p:nvSpPr>
          <p:spPr>
            <a:xfrm>
              <a:off x="5799708" y="1609468"/>
              <a:ext cx="349885" cy="354965"/>
            </a:xfrm>
            <a:custGeom>
              <a:avLst/>
              <a:gdLst/>
              <a:ahLst/>
              <a:cxnLst/>
              <a:rect l="l" t="t" r="r" b="b"/>
              <a:pathLst>
                <a:path w="349885" h="354964">
                  <a:moveTo>
                    <a:pt x="284099" y="0"/>
                  </a:moveTo>
                  <a:lnTo>
                    <a:pt x="0" y="228091"/>
                  </a:lnTo>
                  <a:lnTo>
                    <a:pt x="29650" y="262695"/>
                  </a:lnTo>
                  <a:lnTo>
                    <a:pt x="61372" y="295370"/>
                  </a:lnTo>
                  <a:lnTo>
                    <a:pt x="95047" y="325997"/>
                  </a:lnTo>
                  <a:lnTo>
                    <a:pt x="130555" y="354456"/>
                  </a:lnTo>
                  <a:lnTo>
                    <a:pt x="349376" y="63118"/>
                  </a:lnTo>
                  <a:lnTo>
                    <a:pt x="331622" y="48916"/>
                  </a:lnTo>
                  <a:lnTo>
                    <a:pt x="314785" y="33607"/>
                  </a:lnTo>
                  <a:lnTo>
                    <a:pt x="298924" y="17273"/>
                  </a:lnTo>
                  <a:lnTo>
                    <a:pt x="28409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70"/>
            <p:cNvSpPr/>
            <p:nvPr/>
          </p:nvSpPr>
          <p:spPr>
            <a:xfrm>
              <a:off x="5799708" y="1609468"/>
              <a:ext cx="349885" cy="354965"/>
            </a:xfrm>
            <a:custGeom>
              <a:avLst/>
              <a:gdLst/>
              <a:ahLst/>
              <a:cxnLst/>
              <a:rect l="l" t="t" r="r" b="b"/>
              <a:pathLst>
                <a:path w="349885" h="354964">
                  <a:moveTo>
                    <a:pt x="130555" y="354456"/>
                  </a:moveTo>
                  <a:lnTo>
                    <a:pt x="95047" y="325997"/>
                  </a:lnTo>
                  <a:lnTo>
                    <a:pt x="61372" y="295370"/>
                  </a:lnTo>
                  <a:lnTo>
                    <a:pt x="29650" y="262695"/>
                  </a:lnTo>
                  <a:lnTo>
                    <a:pt x="0" y="228091"/>
                  </a:lnTo>
                  <a:lnTo>
                    <a:pt x="4439" y="224528"/>
                  </a:lnTo>
                  <a:lnTo>
                    <a:pt x="35512" y="199580"/>
                  </a:lnTo>
                  <a:lnTo>
                    <a:pt x="119854" y="131865"/>
                  </a:lnTo>
                  <a:lnTo>
                    <a:pt x="284099" y="0"/>
                  </a:lnTo>
                  <a:lnTo>
                    <a:pt x="298924" y="17273"/>
                  </a:lnTo>
                  <a:lnTo>
                    <a:pt x="314785" y="33607"/>
                  </a:lnTo>
                  <a:lnTo>
                    <a:pt x="331622" y="48916"/>
                  </a:lnTo>
                  <a:lnTo>
                    <a:pt x="349376" y="63118"/>
                  </a:lnTo>
                  <a:lnTo>
                    <a:pt x="130555" y="3544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1"/>
            <p:cNvSpPr/>
            <p:nvPr/>
          </p:nvSpPr>
          <p:spPr>
            <a:xfrm>
              <a:off x="5639340" y="652650"/>
              <a:ext cx="728345" cy="1184910"/>
            </a:xfrm>
            <a:custGeom>
              <a:avLst/>
              <a:gdLst/>
              <a:ahLst/>
              <a:cxnLst/>
              <a:rect l="l" t="t" r="r" b="b"/>
              <a:pathLst>
                <a:path w="728345" h="1184910">
                  <a:moveTo>
                    <a:pt x="727550" y="0"/>
                  </a:moveTo>
                  <a:lnTo>
                    <a:pt x="678414" y="1719"/>
                  </a:lnTo>
                  <a:lnTo>
                    <a:pt x="629931" y="6687"/>
                  </a:lnTo>
                  <a:lnTo>
                    <a:pt x="582233" y="14820"/>
                  </a:lnTo>
                  <a:lnTo>
                    <a:pt x="535453" y="26032"/>
                  </a:lnTo>
                  <a:lnTo>
                    <a:pt x="489726" y="40241"/>
                  </a:lnTo>
                  <a:lnTo>
                    <a:pt x="445183" y="57361"/>
                  </a:lnTo>
                  <a:lnTo>
                    <a:pt x="401958" y="77308"/>
                  </a:lnTo>
                  <a:lnTo>
                    <a:pt x="360184" y="99999"/>
                  </a:lnTo>
                  <a:lnTo>
                    <a:pt x="319994" y="125349"/>
                  </a:lnTo>
                  <a:lnTo>
                    <a:pt x="281521" y="153273"/>
                  </a:lnTo>
                  <a:lnTo>
                    <a:pt x="244898" y="183689"/>
                  </a:lnTo>
                  <a:lnTo>
                    <a:pt x="210259" y="216510"/>
                  </a:lnTo>
                  <a:lnTo>
                    <a:pt x="177736" y="251654"/>
                  </a:lnTo>
                  <a:lnTo>
                    <a:pt x="147462" y="289035"/>
                  </a:lnTo>
                  <a:lnTo>
                    <a:pt x="119571" y="328571"/>
                  </a:lnTo>
                  <a:lnTo>
                    <a:pt x="94195" y="370175"/>
                  </a:lnTo>
                  <a:lnTo>
                    <a:pt x="71468" y="413766"/>
                  </a:lnTo>
                  <a:lnTo>
                    <a:pt x="51720" y="458783"/>
                  </a:lnTo>
                  <a:lnTo>
                    <a:pt x="35182" y="504622"/>
                  </a:lnTo>
                  <a:lnTo>
                    <a:pt x="21835" y="551127"/>
                  </a:lnTo>
                  <a:lnTo>
                    <a:pt x="11661" y="598140"/>
                  </a:lnTo>
                  <a:lnTo>
                    <a:pt x="4642" y="645506"/>
                  </a:lnTo>
                  <a:lnTo>
                    <a:pt x="761" y="693067"/>
                  </a:lnTo>
                  <a:lnTo>
                    <a:pt x="0" y="740667"/>
                  </a:lnTo>
                  <a:lnTo>
                    <a:pt x="2339" y="788151"/>
                  </a:lnTo>
                  <a:lnTo>
                    <a:pt x="7762" y="835360"/>
                  </a:lnTo>
                  <a:lnTo>
                    <a:pt x="16250" y="882139"/>
                  </a:lnTo>
                  <a:lnTo>
                    <a:pt x="27786" y="928332"/>
                  </a:lnTo>
                  <a:lnTo>
                    <a:pt x="42351" y="973781"/>
                  </a:lnTo>
                  <a:lnTo>
                    <a:pt x="59927" y="1018331"/>
                  </a:lnTo>
                  <a:lnTo>
                    <a:pt x="80497" y="1061824"/>
                  </a:lnTo>
                  <a:lnTo>
                    <a:pt x="104042" y="1104104"/>
                  </a:lnTo>
                  <a:lnTo>
                    <a:pt x="130545" y="1145016"/>
                  </a:lnTo>
                  <a:lnTo>
                    <a:pt x="159987" y="1184402"/>
                  </a:lnTo>
                  <a:lnTo>
                    <a:pt x="444213" y="956564"/>
                  </a:lnTo>
                  <a:lnTo>
                    <a:pt x="414712" y="913790"/>
                  </a:lnTo>
                  <a:lnTo>
                    <a:pt x="391891" y="867979"/>
                  </a:lnTo>
                  <a:lnTo>
                    <a:pt x="375836" y="819879"/>
                  </a:lnTo>
                  <a:lnTo>
                    <a:pt x="366632" y="770239"/>
                  </a:lnTo>
                  <a:lnTo>
                    <a:pt x="364363" y="719806"/>
                  </a:lnTo>
                  <a:lnTo>
                    <a:pt x="369115" y="669331"/>
                  </a:lnTo>
                  <a:lnTo>
                    <a:pt x="380971" y="619561"/>
                  </a:lnTo>
                  <a:lnTo>
                    <a:pt x="400017" y="571246"/>
                  </a:lnTo>
                  <a:lnTo>
                    <a:pt x="425765" y="526117"/>
                  </a:lnTo>
                  <a:lnTo>
                    <a:pt x="457149" y="485681"/>
                  </a:lnTo>
                  <a:lnTo>
                    <a:pt x="493531" y="450344"/>
                  </a:lnTo>
                  <a:lnTo>
                    <a:pt x="534272" y="420512"/>
                  </a:lnTo>
                  <a:lnTo>
                    <a:pt x="578734" y="396592"/>
                  </a:lnTo>
                  <a:lnTo>
                    <a:pt x="626278" y="378989"/>
                  </a:lnTo>
                  <a:lnTo>
                    <a:pt x="676265" y="368111"/>
                  </a:lnTo>
                  <a:lnTo>
                    <a:pt x="728058" y="364363"/>
                  </a:lnTo>
                  <a:lnTo>
                    <a:pt x="727550"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2"/>
            <p:cNvSpPr/>
            <p:nvPr/>
          </p:nvSpPr>
          <p:spPr>
            <a:xfrm>
              <a:off x="5639340" y="652650"/>
              <a:ext cx="728345" cy="1184910"/>
            </a:xfrm>
            <a:custGeom>
              <a:avLst/>
              <a:gdLst/>
              <a:ahLst/>
              <a:cxnLst/>
              <a:rect l="l" t="t" r="r" b="b"/>
              <a:pathLst>
                <a:path w="728345" h="1184910">
                  <a:moveTo>
                    <a:pt x="159987" y="1184402"/>
                  </a:moveTo>
                  <a:lnTo>
                    <a:pt x="130545" y="1145016"/>
                  </a:lnTo>
                  <a:lnTo>
                    <a:pt x="104042" y="1104104"/>
                  </a:lnTo>
                  <a:lnTo>
                    <a:pt x="80497" y="1061824"/>
                  </a:lnTo>
                  <a:lnTo>
                    <a:pt x="59927" y="1018331"/>
                  </a:lnTo>
                  <a:lnTo>
                    <a:pt x="42351" y="973781"/>
                  </a:lnTo>
                  <a:lnTo>
                    <a:pt x="27786" y="928332"/>
                  </a:lnTo>
                  <a:lnTo>
                    <a:pt x="16250" y="882139"/>
                  </a:lnTo>
                  <a:lnTo>
                    <a:pt x="7762" y="835360"/>
                  </a:lnTo>
                  <a:lnTo>
                    <a:pt x="2339" y="788151"/>
                  </a:lnTo>
                  <a:lnTo>
                    <a:pt x="0" y="740667"/>
                  </a:lnTo>
                  <a:lnTo>
                    <a:pt x="761" y="693067"/>
                  </a:lnTo>
                  <a:lnTo>
                    <a:pt x="4642" y="645506"/>
                  </a:lnTo>
                  <a:lnTo>
                    <a:pt x="11661" y="598140"/>
                  </a:lnTo>
                  <a:lnTo>
                    <a:pt x="21835" y="551127"/>
                  </a:lnTo>
                  <a:lnTo>
                    <a:pt x="35182" y="504622"/>
                  </a:lnTo>
                  <a:lnTo>
                    <a:pt x="51720" y="458783"/>
                  </a:lnTo>
                  <a:lnTo>
                    <a:pt x="71468" y="413766"/>
                  </a:lnTo>
                  <a:lnTo>
                    <a:pt x="94195" y="370175"/>
                  </a:lnTo>
                  <a:lnTo>
                    <a:pt x="119571" y="328571"/>
                  </a:lnTo>
                  <a:lnTo>
                    <a:pt x="147462" y="289035"/>
                  </a:lnTo>
                  <a:lnTo>
                    <a:pt x="177736" y="251654"/>
                  </a:lnTo>
                  <a:lnTo>
                    <a:pt x="210259" y="216510"/>
                  </a:lnTo>
                  <a:lnTo>
                    <a:pt x="244898" y="183689"/>
                  </a:lnTo>
                  <a:lnTo>
                    <a:pt x="281521" y="153273"/>
                  </a:lnTo>
                  <a:lnTo>
                    <a:pt x="319994" y="125349"/>
                  </a:lnTo>
                  <a:lnTo>
                    <a:pt x="360184" y="99999"/>
                  </a:lnTo>
                  <a:lnTo>
                    <a:pt x="401958" y="77308"/>
                  </a:lnTo>
                  <a:lnTo>
                    <a:pt x="445183" y="57361"/>
                  </a:lnTo>
                  <a:lnTo>
                    <a:pt x="489726" y="40241"/>
                  </a:lnTo>
                  <a:lnTo>
                    <a:pt x="535453" y="26032"/>
                  </a:lnTo>
                  <a:lnTo>
                    <a:pt x="582233" y="14820"/>
                  </a:lnTo>
                  <a:lnTo>
                    <a:pt x="629931" y="6687"/>
                  </a:lnTo>
                  <a:lnTo>
                    <a:pt x="678414" y="1719"/>
                  </a:lnTo>
                  <a:lnTo>
                    <a:pt x="727550" y="0"/>
                  </a:lnTo>
                  <a:lnTo>
                    <a:pt x="727558" y="5693"/>
                  </a:lnTo>
                  <a:lnTo>
                    <a:pt x="727614" y="45545"/>
                  </a:lnTo>
                  <a:lnTo>
                    <a:pt x="727765" y="153715"/>
                  </a:lnTo>
                  <a:lnTo>
                    <a:pt x="728058" y="364363"/>
                  </a:lnTo>
                  <a:lnTo>
                    <a:pt x="676265" y="368111"/>
                  </a:lnTo>
                  <a:lnTo>
                    <a:pt x="626278" y="378989"/>
                  </a:lnTo>
                  <a:lnTo>
                    <a:pt x="578734" y="396592"/>
                  </a:lnTo>
                  <a:lnTo>
                    <a:pt x="534272" y="420512"/>
                  </a:lnTo>
                  <a:lnTo>
                    <a:pt x="493531" y="450344"/>
                  </a:lnTo>
                  <a:lnTo>
                    <a:pt x="457149" y="485681"/>
                  </a:lnTo>
                  <a:lnTo>
                    <a:pt x="425765" y="526117"/>
                  </a:lnTo>
                  <a:lnTo>
                    <a:pt x="400017" y="571246"/>
                  </a:lnTo>
                  <a:lnTo>
                    <a:pt x="380971" y="619561"/>
                  </a:lnTo>
                  <a:lnTo>
                    <a:pt x="369115" y="669331"/>
                  </a:lnTo>
                  <a:lnTo>
                    <a:pt x="364363" y="719806"/>
                  </a:lnTo>
                  <a:lnTo>
                    <a:pt x="366632" y="770239"/>
                  </a:lnTo>
                  <a:lnTo>
                    <a:pt x="375836" y="819879"/>
                  </a:lnTo>
                  <a:lnTo>
                    <a:pt x="391891" y="867979"/>
                  </a:lnTo>
                  <a:lnTo>
                    <a:pt x="414712" y="913790"/>
                  </a:lnTo>
                  <a:lnTo>
                    <a:pt x="444213" y="956564"/>
                  </a:lnTo>
                  <a:lnTo>
                    <a:pt x="159987" y="118440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0" name="Group 49">
            <a:extLst>
              <a:ext uri="{FF2B5EF4-FFF2-40B4-BE49-F238E27FC236}">
                <a16:creationId xmlns:a16="http://schemas.microsoft.com/office/drawing/2014/main" id="{EF264124-6EE6-D006-2D94-EED7F2F3AC78}"/>
              </a:ext>
            </a:extLst>
          </p:cNvPr>
          <p:cNvGrpSpPr>
            <a:grpSpLocks noChangeAspect="1"/>
          </p:cNvGrpSpPr>
          <p:nvPr/>
        </p:nvGrpSpPr>
        <p:grpSpPr>
          <a:xfrm>
            <a:off x="3056714" y="3186201"/>
            <a:ext cx="4062687" cy="1620000"/>
            <a:chOff x="3029324" y="3818512"/>
            <a:chExt cx="4071961" cy="1623698"/>
          </a:xfrm>
        </p:grpSpPr>
        <p:grpSp>
          <p:nvGrpSpPr>
            <p:cNvPr id="29" name="object 29"/>
            <p:cNvGrpSpPr/>
            <p:nvPr/>
          </p:nvGrpSpPr>
          <p:grpSpPr>
            <a:xfrm>
              <a:off x="3069463" y="4063238"/>
              <a:ext cx="108585" cy="1365250"/>
              <a:chOff x="3069463" y="3537328"/>
              <a:chExt cx="108585" cy="1365250"/>
            </a:xfrm>
          </p:grpSpPr>
          <p:sp>
            <p:nvSpPr>
              <p:cNvPr id="30" name="object 30"/>
              <p:cNvSpPr/>
              <p:nvPr/>
            </p:nvSpPr>
            <p:spPr>
              <a:xfrm>
                <a:off x="3069463" y="35373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p:cNvSpPr/>
              <p:nvPr/>
            </p:nvSpPr>
            <p:spPr>
              <a:xfrm>
                <a:off x="3069463" y="36770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p:cNvSpPr/>
              <p:nvPr/>
            </p:nvSpPr>
            <p:spPr>
              <a:xfrm>
                <a:off x="3069463" y="38167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p:nvPr/>
            </p:nvSpPr>
            <p:spPr>
              <a:xfrm>
                <a:off x="3069463" y="39564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p:cNvSpPr/>
              <p:nvPr/>
            </p:nvSpPr>
            <p:spPr>
              <a:xfrm>
                <a:off x="3069463" y="40961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p:cNvSpPr/>
              <p:nvPr/>
            </p:nvSpPr>
            <p:spPr>
              <a:xfrm>
                <a:off x="3069463" y="42358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6"/>
              <p:cNvSpPr/>
              <p:nvPr/>
            </p:nvSpPr>
            <p:spPr>
              <a:xfrm>
                <a:off x="3069463" y="43755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7"/>
              <p:cNvSpPr/>
              <p:nvPr/>
            </p:nvSpPr>
            <p:spPr>
              <a:xfrm>
                <a:off x="3069463" y="45152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p:cNvSpPr/>
              <p:nvPr/>
            </p:nvSpPr>
            <p:spPr>
              <a:xfrm>
                <a:off x="3069463" y="46549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p:cNvSpPr/>
              <p:nvPr/>
            </p:nvSpPr>
            <p:spPr>
              <a:xfrm>
                <a:off x="3069463" y="47946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0" name="object 40"/>
            <p:cNvSpPr txBox="1"/>
            <p:nvPr/>
          </p:nvSpPr>
          <p:spPr>
            <a:xfrm>
              <a:off x="3305175" y="4019810"/>
              <a:ext cx="977265" cy="1422400"/>
            </a:xfrm>
            <a:prstGeom prst="rect">
              <a:avLst/>
            </a:prstGeom>
          </p:spPr>
          <p:txBody>
            <a:bodyPr vert="horz" wrap="square" lIns="0" tIns="30480" rIns="0" bIns="0" rtlCol="0">
              <a:spAutoFit/>
            </a:bodyPr>
            <a:lstStyle/>
            <a:p>
              <a:pPr marL="12700" marR="0" lvl="0" indent="0"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25" normalizeH="0" baseline="0" noProof="0">
                  <a:ln>
                    <a:noFill/>
                  </a:ln>
                  <a:solidFill>
                    <a:srgbClr val="142764"/>
                  </a:solidFill>
                  <a:effectLst/>
                  <a:uLnTx/>
                  <a:uFillTx/>
                  <a:latin typeface="Zurich Sans Light"/>
                  <a:cs typeface="Zurich Sans Light"/>
                </a:rPr>
                <a:t>USA</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38354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Saudi </a:t>
              </a:r>
              <a:r>
                <a:rPr kumimoji="0" sz="800" b="0" i="0" u="none" strike="noStrike" kern="0" cap="none" spc="-10" normalizeH="0" baseline="0" noProof="0">
                  <a:ln>
                    <a:noFill/>
                  </a:ln>
                  <a:solidFill>
                    <a:srgbClr val="142764"/>
                  </a:solidFill>
                  <a:effectLst/>
                  <a:uLnTx/>
                  <a:uFillTx/>
                  <a:latin typeface="Zurich Sans Light"/>
                  <a:cs typeface="Zurich Sans Light"/>
                </a:rPr>
                <a:t>Arabia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Indonesia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Philippines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Chile</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74675"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Peru</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Turkey</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Uruguay</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08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United Arab </a:t>
              </a:r>
              <a:r>
                <a:rPr kumimoji="0" sz="800" b="0" i="0" u="none" strike="noStrike" kern="0" cap="none" spc="-10" normalizeH="0" baseline="0" noProof="0">
                  <a:ln>
                    <a:noFill/>
                  </a:ln>
                  <a:solidFill>
                    <a:srgbClr val="142764"/>
                  </a:solidFill>
                  <a:effectLst/>
                  <a:uLnTx/>
                  <a:uFillTx/>
                  <a:latin typeface="Zurich Sans Light"/>
                  <a:cs typeface="Zurich Sans Light"/>
                </a:rPr>
                <a:t>Emirates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1" name="object 41"/>
            <p:cNvSpPr txBox="1"/>
            <p:nvPr/>
          </p:nvSpPr>
          <p:spPr>
            <a:xfrm>
              <a:off x="5096383" y="4019810"/>
              <a:ext cx="356235" cy="1422400"/>
            </a:xfrm>
            <a:prstGeom prst="rect">
              <a:avLst/>
            </a:prstGeom>
          </p:spPr>
          <p:txBody>
            <a:bodyPr vert="horz" wrap="square" lIns="0" tIns="30480" rIns="0" bIns="0" rtlCol="0">
              <a:spAutoFit/>
            </a:bodyPr>
            <a:lstStyle/>
            <a:p>
              <a:pPr marL="0" marR="5080" lvl="0" indent="0" algn="r"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10.30%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9.50%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4.97%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3.67%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3.55%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48.42%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2" name="object 42"/>
            <p:cNvSpPr txBox="1"/>
            <p:nvPr/>
          </p:nvSpPr>
          <p:spPr>
            <a:xfrm>
              <a:off x="3029324" y="3818512"/>
              <a:ext cx="2452370" cy="189796"/>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Geographic</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grpSp>
          <p:nvGrpSpPr>
            <p:cNvPr id="73" name="object 73"/>
            <p:cNvGrpSpPr/>
            <p:nvPr/>
          </p:nvGrpSpPr>
          <p:grpSpPr>
            <a:xfrm>
              <a:off x="5634435" y="3962590"/>
              <a:ext cx="1466850" cy="1466850"/>
              <a:chOff x="5634435" y="3436680"/>
              <a:chExt cx="1466850" cy="1466850"/>
            </a:xfrm>
          </p:grpSpPr>
          <p:sp>
            <p:nvSpPr>
              <p:cNvPr id="74" name="object 74"/>
              <p:cNvSpPr/>
              <p:nvPr/>
            </p:nvSpPr>
            <p:spPr>
              <a:xfrm>
                <a:off x="6367779" y="3441443"/>
                <a:ext cx="435609" cy="436880"/>
              </a:xfrm>
              <a:custGeom>
                <a:avLst/>
                <a:gdLst/>
                <a:ahLst/>
                <a:cxnLst/>
                <a:rect l="l" t="t" r="r" b="b"/>
                <a:pathLst>
                  <a:path w="435609" h="436879">
                    <a:moveTo>
                      <a:pt x="0" y="0"/>
                    </a:moveTo>
                    <a:lnTo>
                      <a:pt x="0" y="364362"/>
                    </a:lnTo>
                    <a:lnTo>
                      <a:pt x="46742" y="367365"/>
                    </a:lnTo>
                    <a:lnTo>
                      <a:pt x="92423" y="376250"/>
                    </a:lnTo>
                    <a:lnTo>
                      <a:pt x="136501" y="390834"/>
                    </a:lnTo>
                    <a:lnTo>
                      <a:pt x="178433" y="410936"/>
                    </a:lnTo>
                    <a:lnTo>
                      <a:pt x="217677" y="436372"/>
                    </a:lnTo>
                    <a:lnTo>
                      <a:pt x="435228" y="144145"/>
                    </a:lnTo>
                    <a:lnTo>
                      <a:pt x="392315" y="114550"/>
                    </a:lnTo>
                    <a:lnTo>
                      <a:pt x="347603" y="88206"/>
                    </a:lnTo>
                    <a:lnTo>
                      <a:pt x="301281" y="65174"/>
                    </a:lnTo>
                    <a:lnTo>
                      <a:pt x="253535" y="45517"/>
                    </a:lnTo>
                    <a:lnTo>
                      <a:pt x="204553" y="29295"/>
                    </a:lnTo>
                    <a:lnTo>
                      <a:pt x="154521" y="16571"/>
                    </a:lnTo>
                    <a:lnTo>
                      <a:pt x="103627" y="7406"/>
                    </a:lnTo>
                    <a:lnTo>
                      <a:pt x="52057" y="1861"/>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5"/>
              <p:cNvSpPr/>
              <p:nvPr/>
            </p:nvSpPr>
            <p:spPr>
              <a:xfrm>
                <a:off x="6585711" y="3585969"/>
                <a:ext cx="469265" cy="462915"/>
              </a:xfrm>
              <a:custGeom>
                <a:avLst/>
                <a:gdLst/>
                <a:ahLst/>
                <a:cxnLst/>
                <a:rect l="l" t="t" r="r" b="b"/>
                <a:pathLst>
                  <a:path w="469265" h="462914">
                    <a:moveTo>
                      <a:pt x="217805" y="0"/>
                    </a:moveTo>
                    <a:lnTo>
                      <a:pt x="0" y="292100"/>
                    </a:lnTo>
                    <a:lnTo>
                      <a:pt x="40683" y="327394"/>
                    </a:lnTo>
                    <a:lnTo>
                      <a:pt x="75533" y="368046"/>
                    </a:lnTo>
                    <a:lnTo>
                      <a:pt x="104048" y="413365"/>
                    </a:lnTo>
                    <a:lnTo>
                      <a:pt x="125730" y="462660"/>
                    </a:lnTo>
                    <a:lnTo>
                      <a:pt x="469138" y="341122"/>
                    </a:lnTo>
                    <a:lnTo>
                      <a:pt x="451650" y="296443"/>
                    </a:lnTo>
                    <a:lnTo>
                      <a:pt x="431339" y="253168"/>
                    </a:lnTo>
                    <a:lnTo>
                      <a:pt x="408295" y="211422"/>
                    </a:lnTo>
                    <a:lnTo>
                      <a:pt x="382611" y="171328"/>
                    </a:lnTo>
                    <a:lnTo>
                      <a:pt x="354378" y="133010"/>
                    </a:lnTo>
                    <a:lnTo>
                      <a:pt x="323690" y="96595"/>
                    </a:lnTo>
                    <a:lnTo>
                      <a:pt x="290636" y="62205"/>
                    </a:lnTo>
                    <a:lnTo>
                      <a:pt x="255311" y="29965"/>
                    </a:lnTo>
                    <a:lnTo>
                      <a:pt x="21780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6"/>
              <p:cNvSpPr/>
              <p:nvPr/>
            </p:nvSpPr>
            <p:spPr>
              <a:xfrm>
                <a:off x="6585711" y="3585969"/>
                <a:ext cx="469265" cy="462915"/>
              </a:xfrm>
              <a:custGeom>
                <a:avLst/>
                <a:gdLst/>
                <a:ahLst/>
                <a:cxnLst/>
                <a:rect l="l" t="t" r="r" b="b"/>
                <a:pathLst>
                  <a:path w="469265" h="462914">
                    <a:moveTo>
                      <a:pt x="217805" y="0"/>
                    </a:moveTo>
                    <a:lnTo>
                      <a:pt x="255311" y="29965"/>
                    </a:lnTo>
                    <a:lnTo>
                      <a:pt x="290636" y="62205"/>
                    </a:lnTo>
                    <a:lnTo>
                      <a:pt x="323690" y="96595"/>
                    </a:lnTo>
                    <a:lnTo>
                      <a:pt x="354378" y="133010"/>
                    </a:lnTo>
                    <a:lnTo>
                      <a:pt x="382611" y="171328"/>
                    </a:lnTo>
                    <a:lnTo>
                      <a:pt x="408295" y="211422"/>
                    </a:lnTo>
                    <a:lnTo>
                      <a:pt x="431339" y="253168"/>
                    </a:lnTo>
                    <a:lnTo>
                      <a:pt x="451650" y="296443"/>
                    </a:lnTo>
                    <a:lnTo>
                      <a:pt x="469138" y="341122"/>
                    </a:lnTo>
                    <a:lnTo>
                      <a:pt x="463772" y="343021"/>
                    </a:lnTo>
                    <a:lnTo>
                      <a:pt x="426212" y="356314"/>
                    </a:lnTo>
                    <a:lnTo>
                      <a:pt x="324262" y="392396"/>
                    </a:lnTo>
                    <a:lnTo>
                      <a:pt x="125730" y="462660"/>
                    </a:lnTo>
                    <a:lnTo>
                      <a:pt x="104048" y="413365"/>
                    </a:lnTo>
                    <a:lnTo>
                      <a:pt x="75533" y="368046"/>
                    </a:lnTo>
                    <a:lnTo>
                      <a:pt x="40683" y="327394"/>
                    </a:lnTo>
                    <a:lnTo>
                      <a:pt x="0" y="292100"/>
                    </a:lnTo>
                    <a:lnTo>
                      <a:pt x="217805" y="0"/>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p:cNvSpPr/>
              <p:nvPr/>
            </p:nvSpPr>
            <p:spPr>
              <a:xfrm>
                <a:off x="6711568" y="3927726"/>
                <a:ext cx="385445" cy="281305"/>
              </a:xfrm>
              <a:custGeom>
                <a:avLst/>
                <a:gdLst/>
                <a:ahLst/>
                <a:cxnLst/>
                <a:rect l="l" t="t" r="r" b="b"/>
                <a:pathLst>
                  <a:path w="385445" h="281304">
                    <a:moveTo>
                      <a:pt x="343534" y="0"/>
                    </a:moveTo>
                    <a:lnTo>
                      <a:pt x="0" y="121157"/>
                    </a:lnTo>
                    <a:lnTo>
                      <a:pt x="10209" y="155428"/>
                    </a:lnTo>
                    <a:lnTo>
                      <a:pt x="17002" y="190436"/>
                    </a:lnTo>
                    <a:lnTo>
                      <a:pt x="20341" y="225921"/>
                    </a:lnTo>
                    <a:lnTo>
                      <a:pt x="20192" y="261620"/>
                    </a:lnTo>
                    <a:lnTo>
                      <a:pt x="383921" y="280924"/>
                    </a:lnTo>
                    <a:lnTo>
                      <a:pt x="384898" y="233259"/>
                    </a:lnTo>
                    <a:lnTo>
                      <a:pt x="382763" y="185739"/>
                    </a:lnTo>
                    <a:lnTo>
                      <a:pt x="377539" y="138509"/>
                    </a:lnTo>
                    <a:lnTo>
                      <a:pt x="369245" y="91712"/>
                    </a:lnTo>
                    <a:lnTo>
                      <a:pt x="357903" y="45494"/>
                    </a:lnTo>
                    <a:lnTo>
                      <a:pt x="343534"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8"/>
              <p:cNvSpPr/>
              <p:nvPr/>
            </p:nvSpPr>
            <p:spPr>
              <a:xfrm>
                <a:off x="6711568" y="3927726"/>
                <a:ext cx="385445" cy="281305"/>
              </a:xfrm>
              <a:custGeom>
                <a:avLst/>
                <a:gdLst/>
                <a:ahLst/>
                <a:cxnLst/>
                <a:rect l="l" t="t" r="r" b="b"/>
                <a:pathLst>
                  <a:path w="385445" h="281304">
                    <a:moveTo>
                      <a:pt x="343534" y="0"/>
                    </a:moveTo>
                    <a:lnTo>
                      <a:pt x="357903" y="45494"/>
                    </a:lnTo>
                    <a:lnTo>
                      <a:pt x="369245" y="91712"/>
                    </a:lnTo>
                    <a:lnTo>
                      <a:pt x="377539" y="138509"/>
                    </a:lnTo>
                    <a:lnTo>
                      <a:pt x="382763" y="185739"/>
                    </a:lnTo>
                    <a:lnTo>
                      <a:pt x="384898" y="233259"/>
                    </a:lnTo>
                    <a:lnTo>
                      <a:pt x="383921" y="280924"/>
                    </a:lnTo>
                    <a:lnTo>
                      <a:pt x="378237" y="280622"/>
                    </a:lnTo>
                    <a:lnTo>
                      <a:pt x="338454" y="278511"/>
                    </a:lnTo>
                    <a:lnTo>
                      <a:pt x="230473" y="272780"/>
                    </a:lnTo>
                    <a:lnTo>
                      <a:pt x="20192" y="261620"/>
                    </a:lnTo>
                    <a:lnTo>
                      <a:pt x="20341" y="225921"/>
                    </a:lnTo>
                    <a:lnTo>
                      <a:pt x="17002" y="190436"/>
                    </a:lnTo>
                    <a:lnTo>
                      <a:pt x="10209" y="155428"/>
                    </a:lnTo>
                    <a:lnTo>
                      <a:pt x="0" y="121157"/>
                    </a:lnTo>
                    <a:lnTo>
                      <a:pt x="343534"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9"/>
              <p:cNvSpPr/>
              <p:nvPr/>
            </p:nvSpPr>
            <p:spPr>
              <a:xfrm>
                <a:off x="6697852" y="4189727"/>
                <a:ext cx="398145" cy="289560"/>
              </a:xfrm>
              <a:custGeom>
                <a:avLst/>
                <a:gdLst/>
                <a:ahLst/>
                <a:cxnLst/>
                <a:rect l="l" t="t" r="r" b="b"/>
                <a:pathLst>
                  <a:path w="398145" h="289560">
                    <a:moveTo>
                      <a:pt x="33908" y="0"/>
                    </a:moveTo>
                    <a:lnTo>
                      <a:pt x="30325" y="34843"/>
                    </a:lnTo>
                    <a:lnTo>
                      <a:pt x="23431" y="69103"/>
                    </a:lnTo>
                    <a:lnTo>
                      <a:pt x="13299" y="102530"/>
                    </a:lnTo>
                    <a:lnTo>
                      <a:pt x="0" y="134874"/>
                    </a:lnTo>
                    <a:lnTo>
                      <a:pt x="329946" y="289433"/>
                    </a:lnTo>
                    <a:lnTo>
                      <a:pt x="348365" y="246529"/>
                    </a:lnTo>
                    <a:lnTo>
                      <a:pt x="363977" y="202621"/>
                    </a:lnTo>
                    <a:lnTo>
                      <a:pt x="376745" y="157845"/>
                    </a:lnTo>
                    <a:lnTo>
                      <a:pt x="386635" y="112338"/>
                    </a:lnTo>
                    <a:lnTo>
                      <a:pt x="393610" y="66239"/>
                    </a:lnTo>
                    <a:lnTo>
                      <a:pt x="397637" y="19685"/>
                    </a:lnTo>
                    <a:lnTo>
                      <a:pt x="33908"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p:cNvSpPr/>
              <p:nvPr/>
            </p:nvSpPr>
            <p:spPr>
              <a:xfrm>
                <a:off x="6697852" y="4189727"/>
                <a:ext cx="398145" cy="289560"/>
              </a:xfrm>
              <a:custGeom>
                <a:avLst/>
                <a:gdLst/>
                <a:ahLst/>
                <a:cxnLst/>
                <a:rect l="l" t="t" r="r" b="b"/>
                <a:pathLst>
                  <a:path w="398145" h="289560">
                    <a:moveTo>
                      <a:pt x="397637" y="19685"/>
                    </a:moveTo>
                    <a:lnTo>
                      <a:pt x="393610" y="66239"/>
                    </a:lnTo>
                    <a:lnTo>
                      <a:pt x="386635" y="112338"/>
                    </a:lnTo>
                    <a:lnTo>
                      <a:pt x="376745" y="157845"/>
                    </a:lnTo>
                    <a:lnTo>
                      <a:pt x="363977" y="202621"/>
                    </a:lnTo>
                    <a:lnTo>
                      <a:pt x="348365" y="246529"/>
                    </a:lnTo>
                    <a:lnTo>
                      <a:pt x="329946" y="289433"/>
                    </a:lnTo>
                    <a:lnTo>
                      <a:pt x="324790" y="287018"/>
                    </a:lnTo>
                    <a:lnTo>
                      <a:pt x="288702" y="270113"/>
                    </a:lnTo>
                    <a:lnTo>
                      <a:pt x="190750" y="224228"/>
                    </a:lnTo>
                    <a:lnTo>
                      <a:pt x="0" y="134874"/>
                    </a:lnTo>
                    <a:lnTo>
                      <a:pt x="13299" y="102530"/>
                    </a:lnTo>
                    <a:lnTo>
                      <a:pt x="23431" y="69103"/>
                    </a:lnTo>
                    <a:lnTo>
                      <a:pt x="30325" y="34843"/>
                    </a:lnTo>
                    <a:lnTo>
                      <a:pt x="33908" y="0"/>
                    </a:lnTo>
                    <a:lnTo>
                      <a:pt x="397637" y="1968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p:cNvSpPr/>
              <p:nvPr/>
            </p:nvSpPr>
            <p:spPr>
              <a:xfrm>
                <a:off x="6635241" y="4324982"/>
                <a:ext cx="392430" cy="340360"/>
              </a:xfrm>
              <a:custGeom>
                <a:avLst/>
                <a:gdLst/>
                <a:ahLst/>
                <a:cxnLst/>
                <a:rect l="l" t="t" r="r" b="b"/>
                <a:pathLst>
                  <a:path w="392429" h="340360">
                    <a:moveTo>
                      <a:pt x="62483" y="0"/>
                    </a:moveTo>
                    <a:lnTo>
                      <a:pt x="49541" y="24915"/>
                    </a:lnTo>
                    <a:lnTo>
                      <a:pt x="34766" y="48736"/>
                    </a:lnTo>
                    <a:lnTo>
                      <a:pt x="18228" y="71366"/>
                    </a:lnTo>
                    <a:lnTo>
                      <a:pt x="0" y="92709"/>
                    </a:lnTo>
                    <a:lnTo>
                      <a:pt x="267334" y="340232"/>
                    </a:lnTo>
                    <a:lnTo>
                      <a:pt x="303861" y="297598"/>
                    </a:lnTo>
                    <a:lnTo>
                      <a:pt x="336946" y="252333"/>
                    </a:lnTo>
                    <a:lnTo>
                      <a:pt x="366436" y="204662"/>
                    </a:lnTo>
                    <a:lnTo>
                      <a:pt x="392175" y="154812"/>
                    </a:lnTo>
                    <a:lnTo>
                      <a:pt x="62483"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82"/>
              <p:cNvSpPr/>
              <p:nvPr/>
            </p:nvSpPr>
            <p:spPr>
              <a:xfrm>
                <a:off x="6635241" y="4324982"/>
                <a:ext cx="392430" cy="340360"/>
              </a:xfrm>
              <a:custGeom>
                <a:avLst/>
                <a:gdLst/>
                <a:ahLst/>
                <a:cxnLst/>
                <a:rect l="l" t="t" r="r" b="b"/>
                <a:pathLst>
                  <a:path w="392429" h="340360">
                    <a:moveTo>
                      <a:pt x="392175" y="154812"/>
                    </a:moveTo>
                    <a:lnTo>
                      <a:pt x="366436" y="204662"/>
                    </a:lnTo>
                    <a:lnTo>
                      <a:pt x="336946" y="252333"/>
                    </a:lnTo>
                    <a:lnTo>
                      <a:pt x="303861" y="297598"/>
                    </a:lnTo>
                    <a:lnTo>
                      <a:pt x="267334" y="340232"/>
                    </a:lnTo>
                    <a:lnTo>
                      <a:pt x="263157" y="336365"/>
                    </a:lnTo>
                    <a:lnTo>
                      <a:pt x="233918" y="309292"/>
                    </a:lnTo>
                    <a:lnTo>
                      <a:pt x="154553" y="235809"/>
                    </a:lnTo>
                    <a:lnTo>
                      <a:pt x="0" y="92709"/>
                    </a:lnTo>
                    <a:lnTo>
                      <a:pt x="18228" y="71366"/>
                    </a:lnTo>
                    <a:lnTo>
                      <a:pt x="34766" y="48736"/>
                    </a:lnTo>
                    <a:lnTo>
                      <a:pt x="49541" y="24915"/>
                    </a:lnTo>
                    <a:lnTo>
                      <a:pt x="62483" y="0"/>
                    </a:lnTo>
                    <a:lnTo>
                      <a:pt x="392175" y="15481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p:cNvSpPr/>
              <p:nvPr/>
            </p:nvSpPr>
            <p:spPr>
              <a:xfrm>
                <a:off x="6563867" y="4417946"/>
                <a:ext cx="338455" cy="367030"/>
              </a:xfrm>
              <a:custGeom>
                <a:avLst/>
                <a:gdLst/>
                <a:ahLst/>
                <a:cxnLst/>
                <a:rect l="l" t="t" r="r" b="b"/>
                <a:pathLst>
                  <a:path w="338454" h="367029">
                    <a:moveTo>
                      <a:pt x="71120" y="0"/>
                    </a:moveTo>
                    <a:lnTo>
                      <a:pt x="54792" y="16517"/>
                    </a:lnTo>
                    <a:lnTo>
                      <a:pt x="37465" y="31940"/>
                    </a:lnTo>
                    <a:lnTo>
                      <a:pt x="19184" y="46220"/>
                    </a:lnTo>
                    <a:lnTo>
                      <a:pt x="0" y="59308"/>
                    </a:lnTo>
                    <a:lnTo>
                      <a:pt x="195960" y="366521"/>
                    </a:lnTo>
                    <a:lnTo>
                      <a:pt x="234277" y="340270"/>
                    </a:lnTo>
                    <a:lnTo>
                      <a:pt x="270843" y="311673"/>
                    </a:lnTo>
                    <a:lnTo>
                      <a:pt x="305528" y="280814"/>
                    </a:lnTo>
                    <a:lnTo>
                      <a:pt x="338200" y="247776"/>
                    </a:lnTo>
                    <a:lnTo>
                      <a:pt x="71120"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84"/>
              <p:cNvSpPr/>
              <p:nvPr/>
            </p:nvSpPr>
            <p:spPr>
              <a:xfrm>
                <a:off x="6563867" y="4417946"/>
                <a:ext cx="338455" cy="367030"/>
              </a:xfrm>
              <a:custGeom>
                <a:avLst/>
                <a:gdLst/>
                <a:ahLst/>
                <a:cxnLst/>
                <a:rect l="l" t="t" r="r" b="b"/>
                <a:pathLst>
                  <a:path w="338454" h="367029">
                    <a:moveTo>
                      <a:pt x="338200" y="247776"/>
                    </a:moveTo>
                    <a:lnTo>
                      <a:pt x="305528" y="280814"/>
                    </a:lnTo>
                    <a:lnTo>
                      <a:pt x="270843" y="311673"/>
                    </a:lnTo>
                    <a:lnTo>
                      <a:pt x="234277" y="340270"/>
                    </a:lnTo>
                    <a:lnTo>
                      <a:pt x="195960" y="366521"/>
                    </a:lnTo>
                    <a:lnTo>
                      <a:pt x="192899" y="361721"/>
                    </a:lnTo>
                    <a:lnTo>
                      <a:pt x="171465" y="328120"/>
                    </a:lnTo>
                    <a:lnTo>
                      <a:pt x="113289" y="236916"/>
                    </a:lnTo>
                    <a:lnTo>
                      <a:pt x="0" y="59308"/>
                    </a:lnTo>
                    <a:lnTo>
                      <a:pt x="19184" y="46220"/>
                    </a:lnTo>
                    <a:lnTo>
                      <a:pt x="37465" y="31940"/>
                    </a:lnTo>
                    <a:lnTo>
                      <a:pt x="54792" y="16517"/>
                    </a:lnTo>
                    <a:lnTo>
                      <a:pt x="71120" y="0"/>
                    </a:lnTo>
                    <a:lnTo>
                      <a:pt x="338200" y="2477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p:cNvSpPr/>
              <p:nvPr/>
            </p:nvSpPr>
            <p:spPr>
              <a:xfrm>
                <a:off x="6482841" y="4477509"/>
                <a:ext cx="276860" cy="384175"/>
              </a:xfrm>
              <a:custGeom>
                <a:avLst/>
                <a:gdLst/>
                <a:ahLst/>
                <a:cxnLst/>
                <a:rect l="l" t="t" r="r" b="b"/>
                <a:pathLst>
                  <a:path w="276859" h="384175">
                    <a:moveTo>
                      <a:pt x="80644" y="0"/>
                    </a:moveTo>
                    <a:lnTo>
                      <a:pt x="61418" y="11422"/>
                    </a:lnTo>
                    <a:lnTo>
                      <a:pt x="41513" y="21653"/>
                    </a:lnTo>
                    <a:lnTo>
                      <a:pt x="21012" y="30646"/>
                    </a:lnTo>
                    <a:lnTo>
                      <a:pt x="0" y="38353"/>
                    </a:lnTo>
                    <a:lnTo>
                      <a:pt x="114808" y="384048"/>
                    </a:lnTo>
                    <a:lnTo>
                      <a:pt x="156890" y="368651"/>
                    </a:lnTo>
                    <a:lnTo>
                      <a:pt x="197913" y="350694"/>
                    </a:lnTo>
                    <a:lnTo>
                      <a:pt x="237769" y="330237"/>
                    </a:lnTo>
                    <a:lnTo>
                      <a:pt x="276352" y="307339"/>
                    </a:lnTo>
                    <a:lnTo>
                      <a:pt x="80644"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p:cNvSpPr/>
              <p:nvPr/>
            </p:nvSpPr>
            <p:spPr>
              <a:xfrm>
                <a:off x="6482841" y="4477509"/>
                <a:ext cx="276860" cy="384175"/>
              </a:xfrm>
              <a:custGeom>
                <a:avLst/>
                <a:gdLst/>
                <a:ahLst/>
                <a:cxnLst/>
                <a:rect l="l" t="t" r="r" b="b"/>
                <a:pathLst>
                  <a:path w="276859" h="384175">
                    <a:moveTo>
                      <a:pt x="276352" y="307339"/>
                    </a:moveTo>
                    <a:lnTo>
                      <a:pt x="237769" y="330237"/>
                    </a:lnTo>
                    <a:lnTo>
                      <a:pt x="197913" y="350694"/>
                    </a:lnTo>
                    <a:lnTo>
                      <a:pt x="156890" y="368651"/>
                    </a:lnTo>
                    <a:lnTo>
                      <a:pt x="114808" y="384048"/>
                    </a:lnTo>
                    <a:lnTo>
                      <a:pt x="113014" y="378646"/>
                    </a:lnTo>
                    <a:lnTo>
                      <a:pt x="100457" y="340836"/>
                    </a:lnTo>
                    <a:lnTo>
                      <a:pt x="66373" y="238208"/>
                    </a:lnTo>
                    <a:lnTo>
                      <a:pt x="0" y="38353"/>
                    </a:lnTo>
                    <a:lnTo>
                      <a:pt x="21012" y="30646"/>
                    </a:lnTo>
                    <a:lnTo>
                      <a:pt x="41513" y="21653"/>
                    </a:lnTo>
                    <a:lnTo>
                      <a:pt x="61418" y="11422"/>
                    </a:lnTo>
                    <a:lnTo>
                      <a:pt x="80644" y="0"/>
                    </a:lnTo>
                    <a:lnTo>
                      <a:pt x="276352" y="307339"/>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7"/>
              <p:cNvSpPr/>
              <p:nvPr/>
            </p:nvSpPr>
            <p:spPr>
              <a:xfrm>
                <a:off x="6401688" y="4515990"/>
                <a:ext cx="195580" cy="379730"/>
              </a:xfrm>
              <a:custGeom>
                <a:avLst/>
                <a:gdLst/>
                <a:ahLst/>
                <a:cxnLst/>
                <a:rect l="l" t="t" r="r" b="b"/>
                <a:pathLst>
                  <a:path w="195579" h="379729">
                    <a:moveTo>
                      <a:pt x="80772" y="0"/>
                    </a:moveTo>
                    <a:lnTo>
                      <a:pt x="60971" y="5925"/>
                    </a:lnTo>
                    <a:lnTo>
                      <a:pt x="40862" y="10731"/>
                    </a:lnTo>
                    <a:lnTo>
                      <a:pt x="20514" y="14394"/>
                    </a:lnTo>
                    <a:lnTo>
                      <a:pt x="0" y="16890"/>
                    </a:lnTo>
                    <a:lnTo>
                      <a:pt x="33782" y="379602"/>
                    </a:lnTo>
                    <a:lnTo>
                      <a:pt x="74793" y="374628"/>
                    </a:lnTo>
                    <a:lnTo>
                      <a:pt x="115458" y="367331"/>
                    </a:lnTo>
                    <a:lnTo>
                      <a:pt x="155672" y="357725"/>
                    </a:lnTo>
                    <a:lnTo>
                      <a:pt x="195326" y="345821"/>
                    </a:lnTo>
                    <a:lnTo>
                      <a:pt x="80772"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8"/>
              <p:cNvSpPr/>
              <p:nvPr/>
            </p:nvSpPr>
            <p:spPr>
              <a:xfrm>
                <a:off x="6401688" y="4515990"/>
                <a:ext cx="195580" cy="379730"/>
              </a:xfrm>
              <a:custGeom>
                <a:avLst/>
                <a:gdLst/>
                <a:ahLst/>
                <a:cxnLst/>
                <a:rect l="l" t="t" r="r" b="b"/>
                <a:pathLst>
                  <a:path w="195579" h="379729">
                    <a:moveTo>
                      <a:pt x="195326" y="345821"/>
                    </a:moveTo>
                    <a:lnTo>
                      <a:pt x="155672" y="357725"/>
                    </a:lnTo>
                    <a:lnTo>
                      <a:pt x="115458" y="367331"/>
                    </a:lnTo>
                    <a:lnTo>
                      <a:pt x="74793" y="374628"/>
                    </a:lnTo>
                    <a:lnTo>
                      <a:pt x="33782" y="379602"/>
                    </a:lnTo>
                    <a:lnTo>
                      <a:pt x="33254" y="373935"/>
                    </a:lnTo>
                    <a:lnTo>
                      <a:pt x="29559" y="334263"/>
                    </a:lnTo>
                    <a:lnTo>
                      <a:pt x="19530" y="226583"/>
                    </a:lnTo>
                    <a:lnTo>
                      <a:pt x="0" y="16890"/>
                    </a:lnTo>
                    <a:lnTo>
                      <a:pt x="20514" y="14394"/>
                    </a:lnTo>
                    <a:lnTo>
                      <a:pt x="40862" y="10731"/>
                    </a:lnTo>
                    <a:lnTo>
                      <a:pt x="60971" y="5925"/>
                    </a:lnTo>
                    <a:lnTo>
                      <a:pt x="80772" y="0"/>
                    </a:lnTo>
                    <a:lnTo>
                      <a:pt x="195326" y="345821"/>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p:cNvSpPr/>
              <p:nvPr/>
            </p:nvSpPr>
            <p:spPr>
              <a:xfrm>
                <a:off x="6274688" y="4531484"/>
                <a:ext cx="160020" cy="367665"/>
              </a:xfrm>
              <a:custGeom>
                <a:avLst/>
                <a:gdLst/>
                <a:ahLst/>
                <a:cxnLst/>
                <a:rect l="l" t="t" r="r" b="b"/>
                <a:pathLst>
                  <a:path w="160020" h="367664">
                    <a:moveTo>
                      <a:pt x="46609" y="0"/>
                    </a:moveTo>
                    <a:lnTo>
                      <a:pt x="0" y="361314"/>
                    </a:lnTo>
                    <a:lnTo>
                      <a:pt x="39915" y="365343"/>
                    </a:lnTo>
                    <a:lnTo>
                      <a:pt x="79962" y="367157"/>
                    </a:lnTo>
                    <a:lnTo>
                      <a:pt x="120032" y="366779"/>
                    </a:lnTo>
                    <a:lnTo>
                      <a:pt x="160020" y="364236"/>
                    </a:lnTo>
                    <a:lnTo>
                      <a:pt x="126619" y="1396"/>
                    </a:lnTo>
                    <a:lnTo>
                      <a:pt x="106598" y="2678"/>
                    </a:lnTo>
                    <a:lnTo>
                      <a:pt x="86566" y="2889"/>
                    </a:lnTo>
                    <a:lnTo>
                      <a:pt x="66557" y="2004"/>
                    </a:lnTo>
                    <a:lnTo>
                      <a:pt x="4660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90"/>
              <p:cNvSpPr/>
              <p:nvPr/>
            </p:nvSpPr>
            <p:spPr>
              <a:xfrm>
                <a:off x="6274688" y="4531484"/>
                <a:ext cx="160020" cy="367665"/>
              </a:xfrm>
              <a:custGeom>
                <a:avLst/>
                <a:gdLst/>
                <a:ahLst/>
                <a:cxnLst/>
                <a:rect l="l" t="t" r="r" b="b"/>
                <a:pathLst>
                  <a:path w="160020" h="367664">
                    <a:moveTo>
                      <a:pt x="160020" y="364236"/>
                    </a:moveTo>
                    <a:lnTo>
                      <a:pt x="120032" y="366779"/>
                    </a:lnTo>
                    <a:lnTo>
                      <a:pt x="79962" y="367157"/>
                    </a:lnTo>
                    <a:lnTo>
                      <a:pt x="39915" y="365343"/>
                    </a:lnTo>
                    <a:lnTo>
                      <a:pt x="0" y="361314"/>
                    </a:lnTo>
                    <a:lnTo>
                      <a:pt x="728" y="355669"/>
                    </a:lnTo>
                    <a:lnTo>
                      <a:pt x="5826" y="316150"/>
                    </a:lnTo>
                    <a:lnTo>
                      <a:pt x="19663" y="208885"/>
                    </a:lnTo>
                    <a:lnTo>
                      <a:pt x="46609" y="0"/>
                    </a:lnTo>
                    <a:lnTo>
                      <a:pt x="66557" y="2004"/>
                    </a:lnTo>
                    <a:lnTo>
                      <a:pt x="86566" y="2889"/>
                    </a:lnTo>
                    <a:lnTo>
                      <a:pt x="106598" y="2678"/>
                    </a:lnTo>
                    <a:lnTo>
                      <a:pt x="126619" y="1396"/>
                    </a:lnTo>
                    <a:lnTo>
                      <a:pt x="160020" y="36423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91"/>
              <p:cNvSpPr/>
              <p:nvPr/>
            </p:nvSpPr>
            <p:spPr>
              <a:xfrm>
                <a:off x="5639197" y="3441443"/>
                <a:ext cx="728345" cy="1451610"/>
              </a:xfrm>
              <a:custGeom>
                <a:avLst/>
                <a:gdLst/>
                <a:ahLst/>
                <a:cxnLst/>
                <a:rect l="l" t="t" r="r" b="b"/>
                <a:pathLst>
                  <a:path w="728345" h="1451610">
                    <a:moveTo>
                      <a:pt x="727693" y="0"/>
                    </a:moveTo>
                    <a:lnTo>
                      <a:pt x="680064" y="1599"/>
                    </a:lnTo>
                    <a:lnTo>
                      <a:pt x="633222" y="6210"/>
                    </a:lnTo>
                    <a:lnTo>
                      <a:pt x="587267" y="13740"/>
                    </a:lnTo>
                    <a:lnTo>
                      <a:pt x="542297" y="24095"/>
                    </a:lnTo>
                    <a:lnTo>
                      <a:pt x="498411" y="37183"/>
                    </a:lnTo>
                    <a:lnTo>
                      <a:pt x="455706" y="52913"/>
                    </a:lnTo>
                    <a:lnTo>
                      <a:pt x="414282" y="71191"/>
                    </a:lnTo>
                    <a:lnTo>
                      <a:pt x="374238" y="91924"/>
                    </a:lnTo>
                    <a:lnTo>
                      <a:pt x="335671" y="115021"/>
                    </a:lnTo>
                    <a:lnTo>
                      <a:pt x="298680" y="140388"/>
                    </a:lnTo>
                    <a:lnTo>
                      <a:pt x="263364" y="167933"/>
                    </a:lnTo>
                    <a:lnTo>
                      <a:pt x="229821" y="197564"/>
                    </a:lnTo>
                    <a:lnTo>
                      <a:pt x="198150" y="229188"/>
                    </a:lnTo>
                    <a:lnTo>
                      <a:pt x="168450" y="262712"/>
                    </a:lnTo>
                    <a:lnTo>
                      <a:pt x="140819" y="298044"/>
                    </a:lnTo>
                    <a:lnTo>
                      <a:pt x="115355" y="335091"/>
                    </a:lnTo>
                    <a:lnTo>
                      <a:pt x="92158" y="373762"/>
                    </a:lnTo>
                    <a:lnTo>
                      <a:pt x="71325" y="413962"/>
                    </a:lnTo>
                    <a:lnTo>
                      <a:pt x="52956" y="455600"/>
                    </a:lnTo>
                    <a:lnTo>
                      <a:pt x="37148" y="498583"/>
                    </a:lnTo>
                    <a:lnTo>
                      <a:pt x="24001" y="542819"/>
                    </a:lnTo>
                    <a:lnTo>
                      <a:pt x="13612" y="588215"/>
                    </a:lnTo>
                    <a:lnTo>
                      <a:pt x="6081" y="634678"/>
                    </a:lnTo>
                    <a:lnTo>
                      <a:pt x="1507" y="682116"/>
                    </a:lnTo>
                    <a:lnTo>
                      <a:pt x="0" y="729751"/>
                    </a:lnTo>
                    <a:lnTo>
                      <a:pt x="1548" y="776796"/>
                    </a:lnTo>
                    <a:lnTo>
                      <a:pt x="6067" y="823147"/>
                    </a:lnTo>
                    <a:lnTo>
                      <a:pt x="13470" y="868698"/>
                    </a:lnTo>
                    <a:lnTo>
                      <a:pt x="23671" y="913347"/>
                    </a:lnTo>
                    <a:lnTo>
                      <a:pt x="36585" y="956988"/>
                    </a:lnTo>
                    <a:lnTo>
                      <a:pt x="52124" y="999517"/>
                    </a:lnTo>
                    <a:lnTo>
                      <a:pt x="70204" y="1040830"/>
                    </a:lnTo>
                    <a:lnTo>
                      <a:pt x="90739" y="1080823"/>
                    </a:lnTo>
                    <a:lnTo>
                      <a:pt x="113642" y="1119390"/>
                    </a:lnTo>
                    <a:lnTo>
                      <a:pt x="138828" y="1156427"/>
                    </a:lnTo>
                    <a:lnTo>
                      <a:pt x="166210" y="1191831"/>
                    </a:lnTo>
                    <a:lnTo>
                      <a:pt x="195703" y="1225496"/>
                    </a:lnTo>
                    <a:lnTo>
                      <a:pt x="227221" y="1257319"/>
                    </a:lnTo>
                    <a:lnTo>
                      <a:pt x="260677" y="1287195"/>
                    </a:lnTo>
                    <a:lnTo>
                      <a:pt x="295987" y="1315019"/>
                    </a:lnTo>
                    <a:lnTo>
                      <a:pt x="333063" y="1340687"/>
                    </a:lnTo>
                    <a:lnTo>
                      <a:pt x="371821" y="1364095"/>
                    </a:lnTo>
                    <a:lnTo>
                      <a:pt x="412174" y="1385138"/>
                    </a:lnTo>
                    <a:lnTo>
                      <a:pt x="454035" y="1403712"/>
                    </a:lnTo>
                    <a:lnTo>
                      <a:pt x="497320" y="1419712"/>
                    </a:lnTo>
                    <a:lnTo>
                      <a:pt x="541943" y="1433035"/>
                    </a:lnTo>
                    <a:lnTo>
                      <a:pt x="587817" y="1443575"/>
                    </a:lnTo>
                    <a:lnTo>
                      <a:pt x="634856" y="1451228"/>
                    </a:lnTo>
                    <a:lnTo>
                      <a:pt x="681719" y="1089914"/>
                    </a:lnTo>
                    <a:lnTo>
                      <a:pt x="635265" y="1080831"/>
                    </a:lnTo>
                    <a:lnTo>
                      <a:pt x="591318" y="1066182"/>
                    </a:lnTo>
                    <a:lnTo>
                      <a:pt x="550220" y="1046382"/>
                    </a:lnTo>
                    <a:lnTo>
                      <a:pt x="512315" y="1021851"/>
                    </a:lnTo>
                    <a:lnTo>
                      <a:pt x="477944" y="993005"/>
                    </a:lnTo>
                    <a:lnTo>
                      <a:pt x="447451" y="960262"/>
                    </a:lnTo>
                    <a:lnTo>
                      <a:pt x="421178" y="924040"/>
                    </a:lnTo>
                    <a:lnTo>
                      <a:pt x="399468" y="884757"/>
                    </a:lnTo>
                    <a:lnTo>
                      <a:pt x="382663" y="842829"/>
                    </a:lnTo>
                    <a:lnTo>
                      <a:pt x="371107" y="798675"/>
                    </a:lnTo>
                    <a:lnTo>
                      <a:pt x="365141" y="752712"/>
                    </a:lnTo>
                    <a:lnTo>
                      <a:pt x="365108" y="705357"/>
                    </a:lnTo>
                    <a:lnTo>
                      <a:pt x="371173" y="658421"/>
                    </a:lnTo>
                    <a:lnTo>
                      <a:pt x="382946" y="613618"/>
                    </a:lnTo>
                    <a:lnTo>
                      <a:pt x="400035" y="571317"/>
                    </a:lnTo>
                    <a:lnTo>
                      <a:pt x="422046" y="531890"/>
                    </a:lnTo>
                    <a:lnTo>
                      <a:pt x="448587" y="495706"/>
                    </a:lnTo>
                    <a:lnTo>
                      <a:pt x="479265" y="463137"/>
                    </a:lnTo>
                    <a:lnTo>
                      <a:pt x="513686" y="434552"/>
                    </a:lnTo>
                    <a:lnTo>
                      <a:pt x="551459" y="410322"/>
                    </a:lnTo>
                    <a:lnTo>
                      <a:pt x="592190" y="390818"/>
                    </a:lnTo>
                    <a:lnTo>
                      <a:pt x="635485" y="376410"/>
                    </a:lnTo>
                    <a:lnTo>
                      <a:pt x="680953" y="367468"/>
                    </a:lnTo>
                    <a:lnTo>
                      <a:pt x="728201" y="364362"/>
                    </a:lnTo>
                    <a:lnTo>
                      <a:pt x="727693"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p:cNvSpPr/>
              <p:nvPr/>
            </p:nvSpPr>
            <p:spPr>
              <a:xfrm>
                <a:off x="5639197" y="3441443"/>
                <a:ext cx="728345" cy="1451610"/>
              </a:xfrm>
              <a:custGeom>
                <a:avLst/>
                <a:gdLst/>
                <a:ahLst/>
                <a:cxnLst/>
                <a:rect l="l" t="t" r="r" b="b"/>
                <a:pathLst>
                  <a:path w="728345" h="1451610">
                    <a:moveTo>
                      <a:pt x="634856" y="1451228"/>
                    </a:moveTo>
                    <a:lnTo>
                      <a:pt x="587817" y="1443575"/>
                    </a:lnTo>
                    <a:lnTo>
                      <a:pt x="541943" y="1433035"/>
                    </a:lnTo>
                    <a:lnTo>
                      <a:pt x="497320" y="1419712"/>
                    </a:lnTo>
                    <a:lnTo>
                      <a:pt x="454035" y="1403712"/>
                    </a:lnTo>
                    <a:lnTo>
                      <a:pt x="412174" y="1385138"/>
                    </a:lnTo>
                    <a:lnTo>
                      <a:pt x="371821" y="1364095"/>
                    </a:lnTo>
                    <a:lnTo>
                      <a:pt x="333063" y="1340687"/>
                    </a:lnTo>
                    <a:lnTo>
                      <a:pt x="295987" y="1315019"/>
                    </a:lnTo>
                    <a:lnTo>
                      <a:pt x="260677" y="1287195"/>
                    </a:lnTo>
                    <a:lnTo>
                      <a:pt x="227221" y="1257319"/>
                    </a:lnTo>
                    <a:lnTo>
                      <a:pt x="195703" y="1225496"/>
                    </a:lnTo>
                    <a:lnTo>
                      <a:pt x="166210" y="1191831"/>
                    </a:lnTo>
                    <a:lnTo>
                      <a:pt x="138828" y="1156427"/>
                    </a:lnTo>
                    <a:lnTo>
                      <a:pt x="113642" y="1119390"/>
                    </a:lnTo>
                    <a:lnTo>
                      <a:pt x="90739" y="1080823"/>
                    </a:lnTo>
                    <a:lnTo>
                      <a:pt x="70204" y="1040830"/>
                    </a:lnTo>
                    <a:lnTo>
                      <a:pt x="52124" y="999517"/>
                    </a:lnTo>
                    <a:lnTo>
                      <a:pt x="36585" y="956988"/>
                    </a:lnTo>
                    <a:lnTo>
                      <a:pt x="23671" y="913347"/>
                    </a:lnTo>
                    <a:lnTo>
                      <a:pt x="13470" y="868698"/>
                    </a:lnTo>
                    <a:lnTo>
                      <a:pt x="6067" y="823147"/>
                    </a:lnTo>
                    <a:lnTo>
                      <a:pt x="1548" y="776796"/>
                    </a:lnTo>
                    <a:lnTo>
                      <a:pt x="0" y="729751"/>
                    </a:lnTo>
                    <a:lnTo>
                      <a:pt x="1507" y="682116"/>
                    </a:lnTo>
                    <a:lnTo>
                      <a:pt x="6081" y="634678"/>
                    </a:lnTo>
                    <a:lnTo>
                      <a:pt x="13612" y="588215"/>
                    </a:lnTo>
                    <a:lnTo>
                      <a:pt x="24001" y="542819"/>
                    </a:lnTo>
                    <a:lnTo>
                      <a:pt x="37148" y="498583"/>
                    </a:lnTo>
                    <a:lnTo>
                      <a:pt x="52956" y="455600"/>
                    </a:lnTo>
                    <a:lnTo>
                      <a:pt x="71325" y="413962"/>
                    </a:lnTo>
                    <a:lnTo>
                      <a:pt x="92158" y="373762"/>
                    </a:lnTo>
                    <a:lnTo>
                      <a:pt x="115355" y="335091"/>
                    </a:lnTo>
                    <a:lnTo>
                      <a:pt x="140819" y="298044"/>
                    </a:lnTo>
                    <a:lnTo>
                      <a:pt x="168450" y="262712"/>
                    </a:lnTo>
                    <a:lnTo>
                      <a:pt x="198150" y="229188"/>
                    </a:lnTo>
                    <a:lnTo>
                      <a:pt x="229821" y="197564"/>
                    </a:lnTo>
                    <a:lnTo>
                      <a:pt x="263364" y="167933"/>
                    </a:lnTo>
                    <a:lnTo>
                      <a:pt x="298680" y="140388"/>
                    </a:lnTo>
                    <a:lnTo>
                      <a:pt x="335671" y="115021"/>
                    </a:lnTo>
                    <a:lnTo>
                      <a:pt x="374238" y="91924"/>
                    </a:lnTo>
                    <a:lnTo>
                      <a:pt x="414282" y="71191"/>
                    </a:lnTo>
                    <a:lnTo>
                      <a:pt x="455706" y="52913"/>
                    </a:lnTo>
                    <a:lnTo>
                      <a:pt x="498411" y="37183"/>
                    </a:lnTo>
                    <a:lnTo>
                      <a:pt x="542297" y="24095"/>
                    </a:lnTo>
                    <a:lnTo>
                      <a:pt x="587267" y="13740"/>
                    </a:lnTo>
                    <a:lnTo>
                      <a:pt x="633222" y="6210"/>
                    </a:lnTo>
                    <a:lnTo>
                      <a:pt x="680064" y="1599"/>
                    </a:lnTo>
                    <a:lnTo>
                      <a:pt x="727693" y="0"/>
                    </a:lnTo>
                    <a:lnTo>
                      <a:pt x="727701" y="5693"/>
                    </a:lnTo>
                    <a:lnTo>
                      <a:pt x="727756" y="45545"/>
                    </a:lnTo>
                    <a:lnTo>
                      <a:pt x="727907" y="153715"/>
                    </a:lnTo>
                    <a:lnTo>
                      <a:pt x="728201" y="364362"/>
                    </a:lnTo>
                    <a:lnTo>
                      <a:pt x="680953" y="367468"/>
                    </a:lnTo>
                    <a:lnTo>
                      <a:pt x="635485" y="376410"/>
                    </a:lnTo>
                    <a:lnTo>
                      <a:pt x="592190" y="390818"/>
                    </a:lnTo>
                    <a:lnTo>
                      <a:pt x="551459" y="410322"/>
                    </a:lnTo>
                    <a:lnTo>
                      <a:pt x="513686" y="434552"/>
                    </a:lnTo>
                    <a:lnTo>
                      <a:pt x="479265" y="463137"/>
                    </a:lnTo>
                    <a:lnTo>
                      <a:pt x="448587" y="495706"/>
                    </a:lnTo>
                    <a:lnTo>
                      <a:pt x="422046" y="531890"/>
                    </a:lnTo>
                    <a:lnTo>
                      <a:pt x="400035" y="571317"/>
                    </a:lnTo>
                    <a:lnTo>
                      <a:pt x="382946" y="613618"/>
                    </a:lnTo>
                    <a:lnTo>
                      <a:pt x="371173" y="658421"/>
                    </a:lnTo>
                    <a:lnTo>
                      <a:pt x="365108" y="705357"/>
                    </a:lnTo>
                    <a:lnTo>
                      <a:pt x="365141" y="752712"/>
                    </a:lnTo>
                    <a:lnTo>
                      <a:pt x="371107" y="798675"/>
                    </a:lnTo>
                    <a:lnTo>
                      <a:pt x="382663" y="842829"/>
                    </a:lnTo>
                    <a:lnTo>
                      <a:pt x="399468" y="884757"/>
                    </a:lnTo>
                    <a:lnTo>
                      <a:pt x="421178" y="924040"/>
                    </a:lnTo>
                    <a:lnTo>
                      <a:pt x="447451" y="960262"/>
                    </a:lnTo>
                    <a:lnTo>
                      <a:pt x="477944" y="993005"/>
                    </a:lnTo>
                    <a:lnTo>
                      <a:pt x="512315" y="1021851"/>
                    </a:lnTo>
                    <a:lnTo>
                      <a:pt x="550220" y="1046382"/>
                    </a:lnTo>
                    <a:lnTo>
                      <a:pt x="591318" y="1066182"/>
                    </a:lnTo>
                    <a:lnTo>
                      <a:pt x="635265" y="1080831"/>
                    </a:lnTo>
                    <a:lnTo>
                      <a:pt x="681719" y="1089914"/>
                    </a:lnTo>
                    <a:lnTo>
                      <a:pt x="634856" y="145122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sp>
        <p:nvSpPr>
          <p:cNvPr id="2" name="object 5">
            <a:extLst>
              <a:ext uri="{FF2B5EF4-FFF2-40B4-BE49-F238E27FC236}">
                <a16:creationId xmlns:a16="http://schemas.microsoft.com/office/drawing/2014/main" id="{7E711F5A-BDBC-398B-83DF-625D0396CFB6}"/>
              </a:ext>
            </a:extLst>
          </p:cNvPr>
          <p:cNvSpPr txBox="1"/>
          <p:nvPr/>
        </p:nvSpPr>
        <p:spPr>
          <a:xfrm>
            <a:off x="300247" y="808860"/>
            <a:ext cx="2488253" cy="2378536"/>
          </a:xfrm>
          <a:prstGeom prst="rect">
            <a:avLst/>
          </a:prstGeom>
          <a:noFill/>
        </p:spPr>
        <p:txBody>
          <a:bodyPr vert="horz" wrap="square" lIns="0" tIns="29845" rIns="0" bIns="0" rtlCol="0">
            <a:spAutoFit/>
          </a:bodyPr>
          <a:lstStyle/>
          <a:p>
            <a:pPr marL="12700">
              <a:lnSpc>
                <a:spcPct val="100000"/>
              </a:lnSpc>
              <a:spcBef>
                <a:spcPts val="235"/>
              </a:spcBef>
            </a:pPr>
            <a:r>
              <a:rPr sz="1150" b="1">
                <a:solidFill>
                  <a:srgbClr val="004F9E"/>
                </a:solidFill>
                <a:latin typeface="Zurich Sans"/>
                <a:cs typeface="Zurich Sans"/>
              </a:rPr>
              <a:t>Additional</a:t>
            </a:r>
            <a:r>
              <a:rPr sz="1150" b="1" spc="-5">
                <a:solidFill>
                  <a:srgbClr val="004F9E"/>
                </a:solidFill>
                <a:latin typeface="Zurich Sans"/>
                <a:cs typeface="Zurich Sans"/>
              </a:rPr>
              <a:t> </a:t>
            </a:r>
            <a:r>
              <a:rPr sz="1150" b="1" spc="-10">
                <a:solidFill>
                  <a:srgbClr val="004F9E"/>
                </a:solidFill>
                <a:latin typeface="Zurich Sans"/>
                <a:cs typeface="Zurich Sans"/>
              </a:rPr>
              <a:t>Information</a:t>
            </a:r>
            <a:endParaRPr sz="1150">
              <a:latin typeface="Zurich Sans"/>
              <a:cs typeface="Zurich Sans"/>
            </a:endParaRPr>
          </a:p>
          <a:p>
            <a:pPr marL="12700" marR="5080">
              <a:lnSpc>
                <a:spcPts val="950"/>
              </a:lnSpc>
              <a:spcBef>
                <a:spcPts val="35"/>
              </a:spcBef>
            </a:pPr>
            <a:r>
              <a:rPr lang="en-GB" sz="800">
                <a:solidFill>
                  <a:srgbClr val="142863"/>
                </a:solidFill>
                <a:latin typeface="Zurich Sans Light"/>
              </a:rPr>
              <a:t>The fund invests in a range of global shares, with an emphasis on European markets. The regional</a:t>
            </a:r>
          </a:p>
          <a:p>
            <a:pPr marL="12700" marR="5080">
              <a:lnSpc>
                <a:spcPts val="950"/>
              </a:lnSpc>
              <a:spcBef>
                <a:spcPts val="35"/>
              </a:spcBef>
            </a:pPr>
            <a:r>
              <a:rPr lang="en-GB" sz="800">
                <a:solidFill>
                  <a:srgbClr val="142863"/>
                </a:solidFill>
                <a:latin typeface="Zurich Sans Light"/>
              </a:rPr>
              <a:t>bias was somewhat unhelpful over the quarter as European shares underperformed those in other</a:t>
            </a:r>
          </a:p>
          <a:p>
            <a:pPr marL="12700" marR="5080">
              <a:lnSpc>
                <a:spcPts val="950"/>
              </a:lnSpc>
              <a:spcBef>
                <a:spcPts val="35"/>
              </a:spcBef>
            </a:pPr>
            <a:r>
              <a:rPr lang="en-GB" sz="800">
                <a:solidFill>
                  <a:srgbClr val="142863"/>
                </a:solidFill>
                <a:latin typeface="Zurich Sans Light"/>
              </a:rPr>
              <a:t>regions, most notably the US. Political uncertainties in France and Germany and the release of</a:t>
            </a:r>
          </a:p>
          <a:p>
            <a:pPr marL="12700" marR="5080">
              <a:lnSpc>
                <a:spcPts val="950"/>
              </a:lnSpc>
              <a:spcBef>
                <a:spcPts val="35"/>
              </a:spcBef>
            </a:pPr>
            <a:r>
              <a:rPr lang="en-GB" sz="800">
                <a:solidFill>
                  <a:srgbClr val="142863"/>
                </a:solidFill>
                <a:latin typeface="Zurich Sans Light"/>
              </a:rPr>
              <a:t>subdued economic indicators eroded sentiment. We used the weakness as an opportunity to top up</a:t>
            </a:r>
          </a:p>
          <a:p>
            <a:pPr marL="12700" marR="5080">
              <a:lnSpc>
                <a:spcPts val="950"/>
              </a:lnSpc>
              <a:spcBef>
                <a:spcPts val="35"/>
              </a:spcBef>
            </a:pPr>
            <a:r>
              <a:rPr lang="en-GB" sz="800">
                <a:solidFill>
                  <a:srgbClr val="142863"/>
                </a:solidFill>
                <a:latin typeface="Zurich Sans Light"/>
              </a:rPr>
              <a:t>the fund’s exposure to European shares and to benefit from any improved performance in 2025.</a:t>
            </a:r>
          </a:p>
          <a:p>
            <a:pPr marL="12700" marR="5080">
              <a:lnSpc>
                <a:spcPts val="950"/>
              </a:lnSpc>
              <a:spcBef>
                <a:spcPts val="35"/>
              </a:spcBef>
            </a:pPr>
            <a:r>
              <a:rPr lang="en-GB" sz="800">
                <a:solidFill>
                  <a:srgbClr val="142863"/>
                </a:solidFill>
                <a:latin typeface="Zurich Sans Light"/>
              </a:rPr>
              <a:t>These purchases were funded by selling some of the fund’s shareholdings in Asia, Japan, and the</a:t>
            </a:r>
          </a:p>
          <a:p>
            <a:pPr marL="12700" marR="5080">
              <a:lnSpc>
                <a:spcPts val="950"/>
              </a:lnSpc>
              <a:spcBef>
                <a:spcPts val="35"/>
              </a:spcBef>
            </a:pPr>
            <a:r>
              <a:rPr lang="en-GB" sz="800">
                <a:solidFill>
                  <a:srgbClr val="142863"/>
                </a:solidFill>
                <a:latin typeface="Zurich Sans Light"/>
              </a:rPr>
              <a:t>US. The latter performed particularly well, following Donald Trump’s victory in November’s election</a:t>
            </a:r>
          </a:p>
          <a:p>
            <a:pPr marL="12700" marR="5080">
              <a:lnSpc>
                <a:spcPts val="950"/>
              </a:lnSpc>
              <a:spcBef>
                <a:spcPts val="35"/>
              </a:spcBef>
            </a:pPr>
            <a:r>
              <a:rPr lang="en-GB" sz="800">
                <a:solidFill>
                  <a:srgbClr val="142863"/>
                </a:solidFill>
                <a:latin typeface="Zurich Sans Light"/>
              </a:rPr>
              <a:t>and amid suggestions that his ‘America first’ policies could help support profitability among US-listed</a:t>
            </a:r>
          </a:p>
          <a:p>
            <a:pPr marL="12700" marR="5080">
              <a:lnSpc>
                <a:spcPts val="950"/>
              </a:lnSpc>
              <a:spcBef>
                <a:spcPts val="35"/>
              </a:spcBef>
            </a:pPr>
            <a:r>
              <a:rPr lang="en-GB" sz="800">
                <a:solidFill>
                  <a:srgbClr val="142863"/>
                </a:solidFill>
                <a:latin typeface="Zurich Sans Light"/>
              </a:rPr>
              <a:t>firms.. </a:t>
            </a:r>
          </a:p>
        </p:txBody>
      </p:sp>
      <p:sp>
        <p:nvSpPr>
          <p:cNvPr id="44" name="object 5">
            <a:extLst>
              <a:ext uri="{FF2B5EF4-FFF2-40B4-BE49-F238E27FC236}">
                <a16:creationId xmlns:a16="http://schemas.microsoft.com/office/drawing/2014/main" id="{C4DD7100-DA49-39B7-E1F1-9E48C8F6590B}"/>
              </a:ext>
            </a:extLst>
          </p:cNvPr>
          <p:cNvSpPr txBox="1"/>
          <p:nvPr/>
        </p:nvSpPr>
        <p:spPr>
          <a:xfrm>
            <a:off x="300246" y="4982807"/>
            <a:ext cx="2488253" cy="3147978"/>
          </a:xfrm>
          <a:prstGeom prst="rect">
            <a:avLst/>
          </a:prstGeom>
          <a:noFill/>
        </p:spPr>
        <p:txBody>
          <a:bodyPr vert="horz" wrap="square" lIns="0" tIns="29845" rIns="0" bIns="0" rtlCol="0">
            <a:spAutoFit/>
          </a:bodyPr>
          <a:lstStyle/>
          <a:p>
            <a:pPr marL="12700">
              <a:lnSpc>
                <a:spcPct val="100000"/>
              </a:lnSpc>
              <a:spcBef>
                <a:spcPts val="235"/>
              </a:spcBef>
            </a:pPr>
            <a:r>
              <a:rPr lang="en-GB" sz="1150" b="1">
                <a:solidFill>
                  <a:srgbClr val="004F9E"/>
                </a:solidFill>
                <a:latin typeface="Zurich Sans"/>
                <a:cs typeface="Zurich Sans"/>
              </a:rPr>
              <a:t>Commentary</a:t>
            </a:r>
            <a:endParaRPr lang="en-GB" sz="1150">
              <a:latin typeface="Zurich Sans"/>
              <a:cs typeface="Zurich Sans"/>
            </a:endParaRPr>
          </a:p>
          <a:p>
            <a:pPr marL="12700" marR="5080">
              <a:lnSpc>
                <a:spcPts val="950"/>
              </a:lnSpc>
              <a:spcBef>
                <a:spcPts val="35"/>
              </a:spcBef>
            </a:pPr>
            <a:r>
              <a:rPr lang="en-GB" sz="800">
                <a:solidFill>
                  <a:srgbClr val="142863"/>
                </a:solidFill>
                <a:latin typeface="Zurich Sans Light"/>
              </a:rPr>
              <a:t>Market Commentary as at 31 December 2024: Both Equities and Bonds detracted from performance over the quarter, as most of the major asset classes posted negative returns. Within Bonds, performance was broadly negative across the fixed income spectrum, with US Treasuries and Emerging Market bonds being the key detractors to performance. US Treasuries came under pressure as markets mulled over the potential implications of a second Trump presidency. For Emerging Market assets, dollar strength proved to be a significant headwind, particularly for local currency denominated bonds. Within Equities, allocations to the broad US market, Financials and US Small-Cap stocks contributed positively to performance, given that</a:t>
            </a:r>
          </a:p>
          <a:p>
            <a:pPr marL="12700" marR="5080">
              <a:lnSpc>
                <a:spcPts val="950"/>
              </a:lnSpc>
              <a:spcBef>
                <a:spcPts val="35"/>
              </a:spcBef>
            </a:pPr>
            <a:r>
              <a:rPr lang="en-GB" sz="800">
                <a:solidFill>
                  <a:srgbClr val="142863"/>
                </a:solidFill>
                <a:latin typeface="Zurich Sans Light"/>
              </a:rPr>
              <a:t>these were amongst the few parts of the market that managed to end in positive territory over the quarter. The broad US market benefitted from the continued participation of Large-Cap Growth stocks in the AI rally, whilst Financials and Small-Cap stocks firmed on the back of expectations that they would be key beneficiaries of a second Trump presidency. On the other hand, Emerging Market equities came under pressure, particularly Korean and Chinese equities.</a:t>
            </a:r>
          </a:p>
        </p:txBody>
      </p:sp>
      <p:sp>
        <p:nvSpPr>
          <p:cNvPr id="46" name="object 43">
            <a:extLst>
              <a:ext uri="{FF2B5EF4-FFF2-40B4-BE49-F238E27FC236}">
                <a16:creationId xmlns:a16="http://schemas.microsoft.com/office/drawing/2014/main" id="{413C6C8E-92BC-0D54-F801-04F51D75E99D}"/>
              </a:ext>
            </a:extLst>
          </p:cNvPr>
          <p:cNvSpPr txBox="1"/>
          <p:nvPr/>
        </p:nvSpPr>
        <p:spPr>
          <a:xfrm>
            <a:off x="3047236" y="7104048"/>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Sector data is sourced from </a:t>
            </a:r>
            <a:r>
              <a:rPr kumimoji="0" sz="800" b="0" i="0" u="none" strike="noStrike" kern="0" cap="none" spc="0" normalizeH="0" baseline="0" noProof="0" err="1">
                <a:ln>
                  <a:noFill/>
                </a:ln>
                <a:solidFill>
                  <a:srgbClr val="142764"/>
                </a:solidFill>
                <a:effectLst/>
                <a:uLnTx/>
                <a:uFillTx/>
                <a:latin typeface="Zurich Sans Light"/>
                <a:cs typeface="Zurich Sans Light"/>
              </a:rPr>
              <a:t>FEfundinfo</a:t>
            </a:r>
            <a:r>
              <a:rPr kumimoji="0" sz="800" b="0" i="0" u="none" strike="noStrike" kern="0" cap="none" spc="0" normalizeH="0" baseline="0" noProof="0">
                <a:ln>
                  <a:noFill/>
                </a:ln>
                <a:solidFill>
                  <a:srgbClr val="142764"/>
                </a:solidFill>
                <a:effectLst/>
                <a:uLnTx/>
                <a:uFillTx/>
                <a:latin typeface="Zurich Sans Light"/>
                <a:cs typeface="Zurich Sans Light"/>
              </a:rPr>
              <a:t>,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pic>
        <p:nvPicPr>
          <p:cNvPr id="49" name="Picture 48">
            <a:extLst>
              <a:ext uri="{FF2B5EF4-FFF2-40B4-BE49-F238E27FC236}">
                <a16:creationId xmlns:a16="http://schemas.microsoft.com/office/drawing/2014/main" id="{0655C067-EC38-2A53-5448-0A5651F78D5A}"/>
              </a:ext>
            </a:extLst>
          </p:cNvPr>
          <p:cNvPicPr>
            <a:picLocks noChangeAspect="1"/>
          </p:cNvPicPr>
          <p:nvPr/>
        </p:nvPicPr>
        <p:blipFill>
          <a:blip r:embed="rId3"/>
          <a:stretch>
            <a:fillRect/>
          </a:stretch>
        </p:blipFill>
        <p:spPr>
          <a:xfrm>
            <a:off x="3056714" y="5346700"/>
            <a:ext cx="4098296" cy="1660801"/>
          </a:xfrm>
          <a:prstGeom prst="rect">
            <a:avLst/>
          </a:prstGeom>
        </p:spPr>
      </p:pic>
      <p:sp>
        <p:nvSpPr>
          <p:cNvPr id="51" name="object 6">
            <a:extLst>
              <a:ext uri="{FF2B5EF4-FFF2-40B4-BE49-F238E27FC236}">
                <a16:creationId xmlns:a16="http://schemas.microsoft.com/office/drawing/2014/main" id="{71273BBA-9F8E-5AB4-5B33-DCC66E6732F5}"/>
              </a:ext>
            </a:extLst>
          </p:cNvPr>
          <p:cNvSpPr/>
          <p:nvPr/>
        </p:nvSpPr>
        <p:spPr>
          <a:xfrm>
            <a:off x="3067827" y="2398384"/>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27">
            <a:extLst>
              <a:ext uri="{FF2B5EF4-FFF2-40B4-BE49-F238E27FC236}">
                <a16:creationId xmlns:a16="http://schemas.microsoft.com/office/drawing/2014/main" id="{90CE335B-FC70-BDBB-B86D-1C8C1EA64FCE}"/>
              </a:ext>
            </a:extLst>
          </p:cNvPr>
          <p:cNvSpPr txBox="1"/>
          <p:nvPr/>
        </p:nvSpPr>
        <p:spPr>
          <a:xfrm>
            <a:off x="5365369" y="2403488"/>
            <a:ext cx="422274"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a:t>
            </a:r>
            <a:r>
              <a:rPr kumimoji="0" lang="en-GB" sz="800" b="0" i="0" u="none" strike="noStrike" kern="0" cap="none" spc="-10" normalizeH="0" baseline="0" noProof="0">
                <a:ln>
                  <a:noFill/>
                </a:ln>
                <a:solidFill>
                  <a:srgbClr val="142764"/>
                </a:solidFill>
                <a:effectLst/>
                <a:uLnTx/>
                <a:uFillTx/>
                <a:latin typeface="Zurich Sans Light"/>
                <a:cs typeface="Zurich Sans Light"/>
              </a:rPr>
              <a:t>5.76</a:t>
            </a:r>
            <a:r>
              <a:rPr kumimoji="0" sz="800" b="0" i="0" u="none" strike="noStrike" kern="0" cap="none" spc="-10" normalizeH="0" baseline="0" noProof="0">
                <a:ln>
                  <a:noFill/>
                </a:ln>
                <a:solidFill>
                  <a:srgbClr val="142764"/>
                </a:solidFill>
                <a:effectLst/>
                <a:uLnTx/>
                <a:uFillTx/>
                <a:latin typeface="Zurich Sans Light"/>
                <a:cs typeface="Zurich Sans Light"/>
              </a:rPr>
              <a: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6" name="object 43">
            <a:extLst>
              <a:ext uri="{FF2B5EF4-FFF2-40B4-BE49-F238E27FC236}">
                <a16:creationId xmlns:a16="http://schemas.microsoft.com/office/drawing/2014/main" id="{125773FE-433A-E8A9-FA5E-F9727BD5C865}"/>
              </a:ext>
            </a:extLst>
          </p:cNvPr>
          <p:cNvSpPr txBox="1"/>
          <p:nvPr/>
        </p:nvSpPr>
        <p:spPr>
          <a:xfrm>
            <a:off x="3056714" y="4986101"/>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a:solidFill>
                  <a:srgbClr val="142764"/>
                </a:solidFill>
                <a:latin typeface="Zurich Sans Light"/>
                <a:cs typeface="Zurich Sans Light"/>
              </a:rPr>
              <a:t>Geographic</a:t>
            </a:r>
            <a:r>
              <a:rPr kumimoji="0" sz="800" b="0" i="0" u="none" strike="noStrike" kern="0" cap="none" spc="0" normalizeH="0" baseline="0" noProof="0">
                <a:ln>
                  <a:noFill/>
                </a:ln>
                <a:solidFill>
                  <a:srgbClr val="142764"/>
                </a:solidFill>
                <a:effectLst/>
                <a:uLnTx/>
                <a:uFillTx/>
                <a:latin typeface="Zurich Sans Light"/>
                <a:cs typeface="Zurich Sans Light"/>
              </a:rPr>
              <a:t> data is sourced from FEfundinfo,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7" name="object 43">
            <a:extLst>
              <a:ext uri="{FF2B5EF4-FFF2-40B4-BE49-F238E27FC236}">
                <a16:creationId xmlns:a16="http://schemas.microsoft.com/office/drawing/2014/main" id="{DA9D3AB7-21B9-45FD-D9BF-085A0C6C7040}"/>
              </a:ext>
            </a:extLst>
          </p:cNvPr>
          <p:cNvSpPr txBox="1"/>
          <p:nvPr/>
        </p:nvSpPr>
        <p:spPr>
          <a:xfrm>
            <a:off x="3064972" y="2682442"/>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a:solidFill>
                  <a:srgbClr val="142764"/>
                </a:solidFill>
                <a:latin typeface="Zurich Sans Light"/>
                <a:cs typeface="Zurich Sans Light"/>
              </a:rPr>
              <a:t>Asset</a:t>
            </a:r>
            <a:r>
              <a:rPr kumimoji="0" sz="800" b="0" i="0" u="none" strike="noStrike" kern="0" cap="none" spc="0" normalizeH="0" baseline="0" noProof="0">
                <a:ln>
                  <a:noFill/>
                </a:ln>
                <a:solidFill>
                  <a:srgbClr val="142764"/>
                </a:solidFill>
                <a:effectLst/>
                <a:uLnTx/>
                <a:uFillTx/>
                <a:latin typeface="Zurich Sans Light"/>
                <a:cs typeface="Zurich Sans Light"/>
              </a:rPr>
              <a:t> data is sourced from FEfundinfo,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spTree>
    <p:extLst>
      <p:ext uri="{BB962C8B-B14F-4D97-AF65-F5344CB8AC3E}">
        <p14:creationId xmlns:p14="http://schemas.microsoft.com/office/powerpoint/2010/main" val="82448771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47345"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a:solidFill>
                  <a:srgbClr val="142863"/>
                </a:solidFill>
                <a:latin typeface="Zurich Sans Light"/>
                <a:cs typeface="Zurich Sans Light"/>
              </a:rPr>
              <a:t>March </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7" name="object 7"/>
          <p:cNvSpPr txBox="1"/>
          <p:nvPr/>
        </p:nvSpPr>
        <p:spPr>
          <a:xfrm>
            <a:off x="310968" y="705986"/>
            <a:ext cx="6840000" cy="3426259"/>
          </a:xfrm>
          <a:prstGeom prst="rect">
            <a:avLst/>
          </a:prstGeom>
          <a:noFill/>
        </p:spPr>
        <p:txBody>
          <a:bodyPr vert="horz" wrap="square" lIns="0" tIns="635" rIns="0" bIns="0" rtlCol="0">
            <a:spAutoFit/>
          </a:bodyPr>
          <a:lstStyle/>
          <a:p>
            <a:pPr marL="71755">
              <a:lnSpc>
                <a:spcPct val="100000"/>
              </a:lnSpc>
            </a:pPr>
            <a:r>
              <a:rPr sz="1150" b="1">
                <a:solidFill>
                  <a:srgbClr val="004F9E"/>
                </a:solidFill>
                <a:latin typeface="Zurich Sans"/>
                <a:cs typeface="Zurich Sans"/>
              </a:rPr>
              <a:t>Glossary</a:t>
            </a:r>
            <a:r>
              <a:rPr sz="1150" b="1" spc="-5">
                <a:solidFill>
                  <a:srgbClr val="004F9E"/>
                </a:solidFill>
                <a:latin typeface="Zurich Sans"/>
                <a:cs typeface="Zurich Sans"/>
              </a:rPr>
              <a:t> </a:t>
            </a:r>
            <a:r>
              <a:rPr sz="1150" b="1">
                <a:solidFill>
                  <a:srgbClr val="004F9E"/>
                </a:solidFill>
                <a:latin typeface="Zurich Sans"/>
                <a:cs typeface="Zurich Sans"/>
              </a:rPr>
              <a:t>of</a:t>
            </a:r>
            <a:r>
              <a:rPr sz="1150" b="1" spc="-5">
                <a:solidFill>
                  <a:srgbClr val="004F9E"/>
                </a:solidFill>
                <a:latin typeface="Zurich Sans"/>
                <a:cs typeface="Zurich Sans"/>
              </a:rPr>
              <a:t> </a:t>
            </a:r>
            <a:r>
              <a:rPr sz="1150" b="1" spc="-20">
                <a:solidFill>
                  <a:srgbClr val="004F9E"/>
                </a:solidFill>
                <a:latin typeface="Zurich Sans"/>
                <a:cs typeface="Zurich Sans"/>
              </a:rPr>
              <a:t>Terms</a:t>
            </a:r>
            <a:endParaRPr sz="1150">
              <a:latin typeface="Zurich Sans"/>
              <a:cs typeface="Zurich Sans"/>
            </a:endParaRPr>
          </a:p>
          <a:p>
            <a:pPr marL="71755">
              <a:lnSpc>
                <a:spcPts val="955"/>
              </a:lnSpc>
              <a:spcBef>
                <a:spcPts val="370"/>
              </a:spcBef>
            </a:pPr>
            <a:r>
              <a:rPr lang="en-GB" sz="800" b="1">
                <a:solidFill>
                  <a:srgbClr val="142863"/>
                </a:solidFill>
                <a:latin typeface="Zurich Sans"/>
                <a:cs typeface="Zurich Sans"/>
              </a:rPr>
              <a:t>Annual Management Charge </a:t>
            </a:r>
            <a:r>
              <a:rPr lang="en-GB" sz="800" b="0">
                <a:solidFill>
                  <a:srgbClr val="142863"/>
                </a:solidFill>
                <a:latin typeface="Zurich Sans Light"/>
                <a:cs typeface="Zurich Sans Light"/>
              </a:rPr>
              <a:t>This figure is the fee the fund manager charges for managing the fund as is deducted from the fund's assets and reflected in the unit price.</a:t>
            </a:r>
            <a:endParaRPr lang="en-GB" sz="800" b="1">
              <a:solidFill>
                <a:srgbClr val="142863"/>
              </a:solidFill>
              <a:latin typeface="Zurich Sans"/>
              <a:cs typeface="Zurich Sans"/>
            </a:endParaRPr>
          </a:p>
          <a:p>
            <a:pPr marL="71755">
              <a:lnSpc>
                <a:spcPts val="955"/>
              </a:lnSpc>
            </a:pPr>
            <a:r>
              <a:rPr lang="en-GB" sz="800" b="1">
                <a:solidFill>
                  <a:srgbClr val="142863"/>
                </a:solidFill>
                <a:latin typeface="Zurich Sans"/>
                <a:cs typeface="Zurich Sans"/>
              </a:rPr>
              <a:t>Ongoing Charges Figure </a:t>
            </a:r>
            <a:r>
              <a:rPr lang="en-GB" sz="800" b="0">
                <a:solidFill>
                  <a:srgbClr val="142863"/>
                </a:solidFill>
                <a:latin typeface="Zurich Sans Light"/>
                <a:cs typeface="Zurich Sans Light"/>
              </a:rPr>
              <a:t>This figure is a measure of the total costs involved with running the fund. It includes the Annual Management Charge as well as other operational costs that may not be immediately apparent.</a:t>
            </a:r>
            <a:endParaRPr lang="en-GB" sz="800" b="1">
              <a:solidFill>
                <a:srgbClr val="142863"/>
              </a:solidFill>
              <a:latin typeface="Zurich Sans"/>
              <a:cs typeface="Zurich Sans"/>
            </a:endParaRPr>
          </a:p>
          <a:p>
            <a:pPr marL="71755">
              <a:lnSpc>
                <a:spcPts val="955"/>
              </a:lnSpc>
              <a:spcBef>
                <a:spcPts val="5"/>
              </a:spcBef>
            </a:pPr>
            <a:r>
              <a:rPr lang="en-GB" sz="800" b="1">
                <a:solidFill>
                  <a:srgbClr val="142863"/>
                </a:solidFill>
                <a:latin typeface="Zurich Sans"/>
                <a:cs typeface="Zurich Sans"/>
              </a:rPr>
              <a:t>Cumulative Performance </a:t>
            </a:r>
            <a:r>
              <a:rPr lang="en-GB" sz="800" b="0">
                <a:solidFill>
                  <a:srgbClr val="142863"/>
                </a:solidFill>
                <a:latin typeface="Zurich Sans Light"/>
                <a:cs typeface="Zurich Sans Light"/>
              </a:rPr>
              <a:t>Cumulative Performance shows the total growth of the fund over a specified period of time, expressed as a percentage of the value at the start of the period.  It takes into account all gains, losses, income and capital appreciation or depreciation.</a:t>
            </a:r>
            <a:endParaRPr lang="en-GB" sz="800" b="1">
              <a:solidFill>
                <a:srgbClr val="142863"/>
              </a:solidFill>
              <a:latin typeface="Zurich Sans"/>
              <a:cs typeface="Zurich Sans"/>
            </a:endParaRPr>
          </a:p>
          <a:p>
            <a:pPr marL="71755">
              <a:lnSpc>
                <a:spcPts val="955"/>
              </a:lnSpc>
            </a:pPr>
            <a:r>
              <a:rPr lang="en-GB" sz="800" b="1">
                <a:solidFill>
                  <a:srgbClr val="142863"/>
                </a:solidFill>
                <a:latin typeface="Zurich Sans"/>
                <a:cs typeface="Zurich Sans"/>
              </a:rPr>
              <a:t>Discrete Performance  </a:t>
            </a:r>
            <a:r>
              <a:rPr lang="en-GB" sz="800" b="0">
                <a:solidFill>
                  <a:srgbClr val="142863"/>
                </a:solidFill>
                <a:latin typeface="Zurich Sans Light"/>
                <a:cs typeface="Zurich Sans Light"/>
              </a:rPr>
              <a:t>Discrete Performance refers to the measurement of an investment’s return over specific, non-overlapping time periods.</a:t>
            </a:r>
            <a:endParaRPr lang="en-GB" sz="800" b="1" spc="-10">
              <a:solidFill>
                <a:srgbClr val="142863"/>
              </a:solidFill>
              <a:latin typeface="Zurich Sans"/>
              <a:cs typeface="Zurich Sans"/>
            </a:endParaRPr>
          </a:p>
          <a:p>
            <a:pPr marL="71755">
              <a:lnSpc>
                <a:spcPts val="955"/>
              </a:lnSpc>
            </a:pPr>
            <a:r>
              <a:rPr lang="en-GB" sz="800" b="1" spc="-10">
                <a:solidFill>
                  <a:srgbClr val="142863"/>
                </a:solidFill>
                <a:latin typeface="Zurich Sans"/>
                <a:cs typeface="Zurich Sans"/>
              </a:rPr>
              <a:t>Annualised Performance  </a:t>
            </a:r>
            <a:r>
              <a:rPr lang="en-GB" sz="800" b="0">
                <a:solidFill>
                  <a:srgbClr val="142863"/>
                </a:solidFill>
                <a:latin typeface="Zurich Sans Light"/>
                <a:cs typeface="Zurich Sans Light"/>
              </a:rPr>
              <a:t>Annualised Performance is a measure of the average annual growth of the fund over 3, 5 and 10 year periods, taking into account the effects of compounding. </a:t>
            </a:r>
            <a:endParaRPr lang="en-GB" sz="800" b="1" spc="-10">
              <a:solidFill>
                <a:srgbClr val="142863"/>
              </a:solidFill>
              <a:latin typeface="Zurich Sans"/>
              <a:cs typeface="Zurich Sans"/>
            </a:endParaRPr>
          </a:p>
          <a:p>
            <a:pPr marL="71755">
              <a:lnSpc>
                <a:spcPts val="955"/>
              </a:lnSpc>
            </a:pPr>
            <a:r>
              <a:rPr lang="en-GB" sz="800" b="1" spc="-10">
                <a:solidFill>
                  <a:srgbClr val="142863"/>
                </a:solidFill>
                <a:latin typeface="Zurich Sans"/>
                <a:cs typeface="Zurich Sans"/>
              </a:rPr>
              <a:t>Volatility </a:t>
            </a:r>
            <a:r>
              <a:rPr lang="en-GB" sz="800" b="0" err="1">
                <a:solidFill>
                  <a:srgbClr val="142863"/>
                </a:solidFill>
                <a:latin typeface="Zurich Sans Light"/>
                <a:cs typeface="Zurich Sans Light"/>
              </a:rPr>
              <a:t>Volatility</a:t>
            </a:r>
            <a:r>
              <a:rPr lang="en-GB" sz="800" b="0">
                <a:solidFill>
                  <a:srgbClr val="142863"/>
                </a:solidFill>
                <a:latin typeface="Zurich Sans Light"/>
                <a:cs typeface="Zurich Sans Light"/>
              </a:rPr>
              <a:t> measures how much a fund’s returns vary from its average return over a given time; the higher the number, the more volatile the fund price has been over this period . The volatility figure shown represents the average monthly volatility for the fund over the last three years.</a:t>
            </a:r>
            <a:endParaRPr lang="en-GB" sz="800" spc="-10">
              <a:solidFill>
                <a:srgbClr val="142863"/>
              </a:solidFill>
              <a:latin typeface="Zurich Sans Light"/>
              <a:cs typeface="Zurich Sans Light"/>
            </a:endParaRPr>
          </a:p>
          <a:p>
            <a:pPr marL="71755">
              <a:lnSpc>
                <a:spcPts val="955"/>
              </a:lnSpc>
            </a:pPr>
            <a:r>
              <a:rPr lang="en-GB" sz="800" b="1" spc="-10">
                <a:solidFill>
                  <a:srgbClr val="142863"/>
                </a:solidFill>
                <a:latin typeface="Zurich Sans"/>
                <a:cs typeface="Zurich Sans"/>
              </a:rPr>
              <a:t>FE Risk Rating </a:t>
            </a:r>
            <a:r>
              <a:rPr lang="en-GB" sz="800" b="0">
                <a:solidFill>
                  <a:srgbClr val="142863"/>
                </a:solidFill>
                <a:latin typeface="Zurich Sans Light"/>
                <a:cs typeface="Zurich Sans Light"/>
              </a:rPr>
              <a:t>Developed by </a:t>
            </a:r>
            <a:r>
              <a:rPr lang="en-GB" sz="800" b="0" err="1">
                <a:solidFill>
                  <a:srgbClr val="142863"/>
                </a:solidFill>
                <a:latin typeface="Zurich Sans Light"/>
                <a:cs typeface="Zurich Sans Light"/>
              </a:rPr>
              <a:t>FEFundInfo</a:t>
            </a:r>
            <a:r>
              <a:rPr lang="en-GB" sz="800" b="0">
                <a:solidFill>
                  <a:srgbClr val="142863"/>
                </a:solidFill>
                <a:latin typeface="Zurich Sans Light"/>
                <a:cs typeface="Zurich Sans Light"/>
              </a:rPr>
              <a:t>, the FE Risk Rating helps investors understand the relative risk of a fund compared to others and make more informed decisions based on their risk tolerance and investment objectives. The ratings range from 1(low) to 5 (high).</a:t>
            </a:r>
            <a:endParaRPr lang="en-GB" sz="800" b="1" spc="-10">
              <a:solidFill>
                <a:srgbClr val="142863"/>
              </a:solidFill>
              <a:latin typeface="Zurich Sans"/>
              <a:cs typeface="Zurich Sans"/>
            </a:endParaRPr>
          </a:p>
          <a:p>
            <a:pPr marL="71755">
              <a:lnSpc>
                <a:spcPts val="955"/>
              </a:lnSpc>
            </a:pPr>
            <a:r>
              <a:rPr lang="en-GB" sz="800" b="1" spc="-10">
                <a:solidFill>
                  <a:srgbClr val="142863"/>
                </a:solidFill>
                <a:latin typeface="Zurich Sans"/>
                <a:cs typeface="Zurich Sans"/>
              </a:rPr>
              <a:t>SFDR Product Type </a:t>
            </a:r>
            <a:r>
              <a:rPr lang="en-GB" sz="800" b="0">
                <a:solidFill>
                  <a:srgbClr val="142863"/>
                </a:solidFill>
                <a:latin typeface="Zurich Sans Light"/>
                <a:cs typeface="Zurich Sans Light"/>
              </a:rPr>
              <a:t>There are three main SFDR Product Types, each with specific disclosure requirements:</a:t>
            </a:r>
          </a:p>
          <a:p>
            <a:pPr marL="71755" marR="108585">
              <a:lnSpc>
                <a:spcPts val="950"/>
              </a:lnSpc>
              <a:spcBef>
                <a:spcPts val="35"/>
              </a:spcBef>
            </a:pPr>
            <a:r>
              <a:rPr lang="en-GB" sz="800" b="0">
                <a:solidFill>
                  <a:srgbClr val="142863"/>
                </a:solidFill>
                <a:latin typeface="Zurich Sans Light"/>
                <a:cs typeface="Zurich Sans Light"/>
              </a:rPr>
              <a:t>Article 6 (no ESG-related focus or sustainability claims),</a:t>
            </a:r>
          </a:p>
          <a:p>
            <a:pPr marL="71755" marR="108585">
              <a:lnSpc>
                <a:spcPts val="950"/>
              </a:lnSpc>
              <a:spcBef>
                <a:spcPts val="35"/>
              </a:spcBef>
            </a:pPr>
            <a:r>
              <a:rPr lang="en-GB" sz="800" b="0">
                <a:solidFill>
                  <a:srgbClr val="142863"/>
                </a:solidFill>
                <a:latin typeface="Zurich Sans Light"/>
                <a:cs typeface="Zurich Sans Light"/>
              </a:rPr>
              <a:t>Article 8 (promote environmental and/or social characteristics but do not exclusively target sustainable investments),</a:t>
            </a:r>
          </a:p>
          <a:p>
            <a:pPr marL="71755" marR="108585">
              <a:lnSpc>
                <a:spcPts val="950"/>
              </a:lnSpc>
              <a:spcBef>
                <a:spcPts val="35"/>
              </a:spcBef>
            </a:pPr>
            <a:r>
              <a:rPr lang="en-GB" sz="800" b="0">
                <a:solidFill>
                  <a:srgbClr val="142863"/>
                </a:solidFill>
                <a:latin typeface="Zurich Sans Light"/>
                <a:cs typeface="Zurich Sans Light"/>
              </a:rPr>
              <a:t>Article 9 (specifically target sustainable investments</a:t>
            </a:r>
            <a:endParaRPr lang="en-GB" sz="800" spc="-10">
              <a:solidFill>
                <a:srgbClr val="142863"/>
              </a:solidFill>
              <a:latin typeface="Zurich Sans Light"/>
              <a:cs typeface="Zurich Sans Light"/>
            </a:endParaRPr>
          </a:p>
          <a:p>
            <a:pPr marL="71755">
              <a:lnSpc>
                <a:spcPts val="955"/>
              </a:lnSpc>
              <a:spcBef>
                <a:spcPts val="5"/>
              </a:spcBef>
            </a:pPr>
            <a:r>
              <a:rPr sz="800" b="1">
                <a:solidFill>
                  <a:srgbClr val="142863"/>
                </a:solidFill>
                <a:latin typeface="Zurich Sans"/>
                <a:cs typeface="Zurich Sans"/>
              </a:rPr>
              <a:t>Asset </a:t>
            </a:r>
            <a:r>
              <a:rPr sz="800" b="1" spc="-10">
                <a:solidFill>
                  <a:srgbClr val="142863"/>
                </a:solidFill>
                <a:latin typeface="Zurich Sans"/>
                <a:cs typeface="Zurich Sans"/>
              </a:rPr>
              <a:t>Classes</a:t>
            </a:r>
            <a:r>
              <a:rPr lang="en-GB" sz="800" b="1" spc="-10">
                <a:solidFill>
                  <a:srgbClr val="142863"/>
                </a:solidFill>
                <a:latin typeface="Zurich Sans"/>
                <a:cs typeface="Zurich Sans"/>
              </a:rPr>
              <a:t>  </a:t>
            </a:r>
            <a:r>
              <a:rPr lang="en-GB" sz="800" b="0">
                <a:solidFill>
                  <a:srgbClr val="142863"/>
                </a:solidFill>
                <a:latin typeface="Zurich Sans Light"/>
                <a:cs typeface="Zurich Sans Light"/>
              </a:rPr>
              <a:t>Asset classes are categories of investments that exhibit similar characteristics and behave similarly in the marketplace.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The primary assets classes include:</a:t>
            </a:r>
          </a:p>
          <a:p>
            <a:pPr marL="71755" lvl="2" indent="-576000">
              <a:lnSpc>
                <a:spcPts val="950"/>
              </a:lnSpc>
              <a:tabLst>
                <a:tab pos="155575" algn="l"/>
              </a:tabLst>
            </a:pPr>
            <a:r>
              <a:rPr lang="en-GB" sz="800" b="0">
                <a:solidFill>
                  <a:srgbClr val="142863"/>
                </a:solidFill>
                <a:latin typeface="Zurich Sans Light"/>
                <a:cs typeface="Zurich Sans Light"/>
              </a:rPr>
              <a:t>– Equities which are individual company shares.  </a:t>
            </a:r>
          </a:p>
          <a:p>
            <a:pPr marL="71755" lvl="2" indent="-576000">
              <a:lnSpc>
                <a:spcPts val="950"/>
              </a:lnSpc>
              <a:tabLst>
                <a:tab pos="155575" algn="l"/>
              </a:tabLst>
            </a:pPr>
            <a:r>
              <a:rPr lang="en-GB" sz="800" b="0">
                <a:solidFill>
                  <a:srgbClr val="142863"/>
                </a:solidFill>
                <a:latin typeface="Zurich Sans Light"/>
                <a:cs typeface="Zurich Sans Light"/>
              </a:rPr>
              <a:t>– Bonds which are debt instruments and include loans to governments and companies. </a:t>
            </a:r>
          </a:p>
          <a:p>
            <a:pPr marL="71755" lvl="2" indent="-576000">
              <a:lnSpc>
                <a:spcPts val="950"/>
              </a:lnSpc>
              <a:tabLst>
                <a:tab pos="155575" algn="l"/>
              </a:tabLst>
            </a:pPr>
            <a:r>
              <a:rPr lang="en-GB" sz="800" b="0">
                <a:solidFill>
                  <a:srgbClr val="142863"/>
                </a:solidFill>
                <a:latin typeface="Zurich Sans Light"/>
                <a:cs typeface="Zurich Sans Light"/>
              </a:rPr>
              <a:t>– Commercial property which includes physical properties such as offices and commercial buildings,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or shares in companies investing in commercial property. </a:t>
            </a:r>
          </a:p>
          <a:p>
            <a:pPr marL="71755" lvl="2" indent="-576000">
              <a:lnSpc>
                <a:spcPts val="950"/>
              </a:lnSpc>
              <a:tabLst>
                <a:tab pos="155575" algn="l"/>
              </a:tabLst>
            </a:pPr>
            <a:r>
              <a:rPr lang="en-GB" sz="800" b="0">
                <a:solidFill>
                  <a:srgbClr val="142863"/>
                </a:solidFill>
                <a:latin typeface="Zurich Sans Light"/>
                <a:cs typeface="Zurich Sans Light"/>
              </a:rPr>
              <a:t>– Money market assets which are a category of fixed income securities that are short term in nature.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They include deposits and money market instruments.</a:t>
            </a:r>
          </a:p>
        </p:txBody>
      </p:sp>
      <p:sp>
        <p:nvSpPr>
          <p:cNvPr id="12" name="object 3">
            <a:extLst>
              <a:ext uri="{FF2B5EF4-FFF2-40B4-BE49-F238E27FC236}">
                <a16:creationId xmlns:a16="http://schemas.microsoft.com/office/drawing/2014/main" id="{DDFF7E8B-F49D-6EE2-6B68-338B02FA5BF5}"/>
              </a:ext>
            </a:extLst>
          </p:cNvPr>
          <p:cNvSpPr txBox="1"/>
          <p:nvPr/>
        </p:nvSpPr>
        <p:spPr>
          <a:xfrm>
            <a:off x="310968" y="7582730"/>
            <a:ext cx="6657335" cy="1308692"/>
          </a:xfrm>
          <a:prstGeom prst="rect">
            <a:avLst/>
          </a:prstGeom>
        </p:spPr>
        <p:txBody>
          <a:bodyPr vert="horz" wrap="square" lIns="0" tIns="51435" rIns="0" bIns="0" rtlCol="0">
            <a:spAutoFit/>
          </a:bodyPr>
          <a:lstStyle/>
          <a:p>
            <a:pPr marL="12700" algn="just">
              <a:spcBef>
                <a:spcPts val="405"/>
              </a:spcBef>
            </a:pPr>
            <a:r>
              <a:rPr sz="800" b="1" spc="-10">
                <a:solidFill>
                  <a:srgbClr val="002060"/>
                </a:solidFill>
                <a:latin typeface="Zurich Sans Light" panose="02000000000000000000" pitchFamily="2" charset="0"/>
                <a:cs typeface="Zurich Sans Medium"/>
              </a:rPr>
              <a:t>Important</a:t>
            </a:r>
            <a:r>
              <a:rPr sz="800" b="1" spc="20">
                <a:solidFill>
                  <a:srgbClr val="002060"/>
                </a:solidFill>
                <a:latin typeface="Zurich Sans Light" panose="02000000000000000000" pitchFamily="2" charset="0"/>
                <a:cs typeface="Zurich Sans Medium"/>
              </a:rPr>
              <a:t> </a:t>
            </a:r>
            <a:r>
              <a:rPr sz="800" b="1" spc="-10">
                <a:solidFill>
                  <a:srgbClr val="002060"/>
                </a:solidFill>
                <a:latin typeface="Zurich Sans Light" panose="02000000000000000000" pitchFamily="2" charset="0"/>
                <a:cs typeface="Zurich Sans Medium"/>
              </a:rPr>
              <a:t>information</a:t>
            </a:r>
            <a:endParaRPr sz="800">
              <a:solidFill>
                <a:srgbClr val="002060"/>
              </a:solidFill>
              <a:latin typeface="Zurich Sans Light" panose="02000000000000000000" pitchFamily="2" charset="0"/>
              <a:cs typeface="Zurich Sans Medium"/>
            </a:endParaRPr>
          </a:p>
          <a:p>
            <a:pPr marL="12700" algn="just">
              <a:spcBef>
                <a:spcPts val="240"/>
              </a:spcBef>
            </a:pPr>
            <a:r>
              <a:rPr lang="en-GB" sz="800">
                <a:solidFill>
                  <a:srgbClr val="002060"/>
                </a:solidFill>
                <a:latin typeface="Zurich Sans Light"/>
                <a:cs typeface="Zurich Sans Light"/>
              </a:rPr>
              <a:t>Zurich Integrated Benefits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 a business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name of 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 Life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Limited.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under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Act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2008</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is  </a:t>
            </a:r>
            <a:r>
              <a:rPr lang="en-GB" sz="800">
                <a:solidFill>
                  <a:srgbClr val="002060"/>
                </a:solidFill>
                <a:latin typeface="Zurich Sans Light"/>
                <a:cs typeface="Zurich Sans Light"/>
              </a:rPr>
              <a:t>regulated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Financial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Services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Authority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ensures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company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sound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professional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management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provision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been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made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planholders.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companies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Man’s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Assurance</a:t>
            </a:r>
            <a:r>
              <a:rPr lang="en-GB" sz="800" spc="500">
                <a:solidFill>
                  <a:srgbClr val="002060"/>
                </a:solidFill>
                <a:latin typeface="Zurich Sans Light"/>
                <a:cs typeface="Zurich Sans Light"/>
              </a:rPr>
              <a:t> </a:t>
            </a:r>
            <a:r>
              <a:rPr lang="en-GB" sz="800">
                <a:solidFill>
                  <a:srgbClr val="002060"/>
                </a:solidFill>
                <a:latin typeface="Zurich Sans Light"/>
                <a:cs typeface="Zurich Sans Light"/>
              </a:rPr>
              <a:t>(Compensation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Policyholders) Regulations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1991, ensure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 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event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 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company </a:t>
            </a:r>
            <a:r>
              <a:rPr lang="en-GB" sz="800">
                <a:solidFill>
                  <a:srgbClr val="002060"/>
                </a:solidFill>
                <a:latin typeface="Zurich Sans Light"/>
                <a:cs typeface="Zurich Sans Light"/>
              </a:rPr>
              <a:t>being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unable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meet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liabilities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up</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90%</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liability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protected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will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be</a:t>
            </a:r>
            <a:r>
              <a:rPr lang="en-GB" sz="800" spc="15">
                <a:solidFill>
                  <a:srgbClr val="002060"/>
                </a:solidFill>
                <a:latin typeface="Zurich Sans Light"/>
                <a:cs typeface="Zurich Sans Light"/>
              </a:rPr>
              <a:t> </a:t>
            </a:r>
            <a:r>
              <a:rPr lang="en-GB" sz="800" spc="-20">
                <a:solidFill>
                  <a:srgbClr val="002060"/>
                </a:solidFill>
                <a:latin typeface="Zurich Sans Light"/>
                <a:cs typeface="Zurich Sans Light"/>
              </a:rPr>
              <a:t>met.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protection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only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applies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solvency</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Zurich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does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extend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value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assets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held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within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unit-linked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funds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your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products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sale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the </a:t>
            </a:r>
            <a:r>
              <a:rPr lang="en-GB" sz="800">
                <a:solidFill>
                  <a:srgbClr val="002060"/>
                </a:solidFill>
                <a:latin typeface="Zurich Sans Light"/>
                <a:cs typeface="Zurich Sans Light"/>
              </a:rPr>
              <a:t>United</a:t>
            </a:r>
            <a:r>
              <a:rPr lang="en-GB" sz="800" spc="-10">
                <a:solidFill>
                  <a:srgbClr val="002060"/>
                </a:solidFill>
                <a:latin typeface="Zurich Sans Light"/>
                <a:cs typeface="Zurich Sans Light"/>
              </a:rPr>
              <a:t> States. </a:t>
            </a:r>
            <a:r>
              <a:rPr lang="en-GB" sz="800">
                <a:solidFill>
                  <a:srgbClr val="002060"/>
                </a:solidFill>
                <a:latin typeface="Zurich Sans Light"/>
                <a:cs typeface="Zurich Sans Light"/>
              </a:rPr>
              <a:t>Materials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are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intended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invest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do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constitute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solicitation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buy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securities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country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jurisdiction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unlawful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make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such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solicitation.</a:t>
            </a:r>
            <a:endParaRPr lang="en-GB" sz="800">
              <a:latin typeface="Zurich Sans Light"/>
              <a:cs typeface="Zurich Sans Light"/>
            </a:endParaRPr>
          </a:p>
        </p:txBody>
      </p:sp>
      <p:sp>
        <p:nvSpPr>
          <p:cNvPr id="13" name="object 4">
            <a:extLst>
              <a:ext uri="{FF2B5EF4-FFF2-40B4-BE49-F238E27FC236}">
                <a16:creationId xmlns:a16="http://schemas.microsoft.com/office/drawing/2014/main" id="{043C725A-0E51-2566-B5E6-1B307DA3E539}"/>
              </a:ext>
            </a:extLst>
          </p:cNvPr>
          <p:cNvSpPr txBox="1"/>
          <p:nvPr/>
        </p:nvSpPr>
        <p:spPr>
          <a:xfrm>
            <a:off x="310968" y="9903559"/>
            <a:ext cx="5442132" cy="589905"/>
          </a:xfrm>
          <a:prstGeom prst="rect">
            <a:avLst/>
          </a:prstGeom>
        </p:spPr>
        <p:txBody>
          <a:bodyPr vert="horz" wrap="square" lIns="0" tIns="12700" rIns="0" bIns="0" rtlCol="0">
            <a:spAutoFit/>
          </a:bodyPr>
          <a:lstStyle/>
          <a:p>
            <a:pPr marL="12700" marR="305435">
              <a:lnSpc>
                <a:spcPct val="100000"/>
              </a:lnSpc>
              <a:spcBef>
                <a:spcPts val="100"/>
              </a:spcBef>
            </a:pP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International</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a:solidFill>
                  <a:srgbClr val="09296D"/>
                </a:solidFill>
                <a:latin typeface="Zurich Sans Light"/>
                <a:cs typeface="Zurich Sans Light"/>
              </a:rPr>
              <a:t>(a</a:t>
            </a:r>
            <a:r>
              <a:rPr sz="750" b="0" spc="5">
                <a:solidFill>
                  <a:srgbClr val="09296D"/>
                </a:solidFill>
                <a:latin typeface="Zurich Sans Light"/>
                <a:cs typeface="Zurich Sans Light"/>
              </a:rPr>
              <a:t> </a:t>
            </a:r>
            <a:r>
              <a:rPr sz="750" b="0">
                <a:solidFill>
                  <a:srgbClr val="09296D"/>
                </a:solidFill>
                <a:latin typeface="Zurich Sans Light"/>
                <a:cs typeface="Zurich Sans Light"/>
              </a:rPr>
              <a:t>company</a:t>
            </a:r>
            <a:r>
              <a:rPr sz="750" b="0" spc="5">
                <a:solidFill>
                  <a:srgbClr val="09296D"/>
                </a:solidFill>
                <a:latin typeface="Zurich Sans Light"/>
                <a:cs typeface="Zurich Sans Light"/>
              </a:rPr>
              <a:t> </a:t>
            </a:r>
            <a:r>
              <a:rPr sz="750" b="0">
                <a:solidFill>
                  <a:srgbClr val="09296D"/>
                </a:solidFill>
                <a:latin typeface="Zurich Sans Light"/>
                <a:cs typeface="Zurich Sans Light"/>
              </a:rPr>
              <a:t>incorporated</a:t>
            </a:r>
            <a:r>
              <a:rPr sz="750" b="0" spc="10">
                <a:solidFill>
                  <a:srgbClr val="09296D"/>
                </a:solidFill>
                <a:latin typeface="Zurich Sans Light"/>
                <a:cs typeface="Zurich Sans Light"/>
              </a:rPr>
              <a:t> </a:t>
            </a:r>
            <a:r>
              <a:rPr sz="750" b="0">
                <a:solidFill>
                  <a:srgbClr val="09296D"/>
                </a:solidFill>
                <a:latin typeface="Zurich Sans Light"/>
                <a:cs typeface="Zurich Sans Light"/>
              </a:rPr>
              <a:t>in</a:t>
            </a:r>
            <a:r>
              <a:rPr sz="750" b="0" spc="5">
                <a:solidFill>
                  <a:srgbClr val="09296D"/>
                </a:solidFill>
                <a:latin typeface="Zurich Sans Light"/>
                <a:cs typeface="Zurich Sans Light"/>
              </a:rPr>
              <a:t> </a:t>
            </a:r>
            <a:r>
              <a:rPr sz="750" b="0">
                <a:solidFill>
                  <a:srgbClr val="09296D"/>
                </a:solidFill>
                <a:latin typeface="Zurich Sans Light"/>
                <a:cs typeface="Zurich Sans Light"/>
              </a:rPr>
              <a:t>the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with</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liability)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provides</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10">
                <a:solidFill>
                  <a:srgbClr val="09296D"/>
                </a:solidFill>
                <a:latin typeface="Zurich Sans Light"/>
                <a:cs typeface="Zurich Sans Light"/>
              </a:rPr>
              <a:t> </a:t>
            </a:r>
            <a:r>
              <a:rPr sz="750" b="0">
                <a:solidFill>
                  <a:srgbClr val="09296D"/>
                </a:solidFill>
                <a:latin typeface="Zurich Sans Light"/>
                <a:cs typeface="Zurich Sans Light"/>
              </a:rPr>
              <a:t>assurance,</a:t>
            </a:r>
            <a:r>
              <a:rPr sz="750" b="0" spc="10">
                <a:solidFill>
                  <a:srgbClr val="09296D"/>
                </a:solidFill>
                <a:latin typeface="Zurich Sans Light"/>
                <a:cs typeface="Zurich Sans Light"/>
              </a:rPr>
              <a:t> </a:t>
            </a:r>
            <a:r>
              <a:rPr sz="750" b="0">
                <a:solidFill>
                  <a:srgbClr val="09296D"/>
                </a:solidFill>
                <a:latin typeface="Zurich Sans Light"/>
                <a:cs typeface="Zurich Sans Light"/>
              </a:rPr>
              <a:t>investment</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10">
                <a:solidFill>
                  <a:srgbClr val="09296D"/>
                </a:solidFill>
                <a:latin typeface="Zurich Sans Light"/>
                <a:cs typeface="Zurich Sans Light"/>
              </a:rPr>
              <a:t> </a:t>
            </a:r>
            <a:r>
              <a:rPr sz="750" b="0">
                <a:solidFill>
                  <a:srgbClr val="09296D"/>
                </a:solidFill>
                <a:latin typeface="Zurich Sans Light"/>
                <a:cs typeface="Zurich Sans Light"/>
              </a:rPr>
              <a:t>protection</a:t>
            </a:r>
            <a:r>
              <a:rPr sz="750" b="0" spc="10">
                <a:solidFill>
                  <a:srgbClr val="09296D"/>
                </a:solidFill>
                <a:latin typeface="Zurich Sans Light"/>
                <a:cs typeface="Zurich Sans Light"/>
              </a:rPr>
              <a:t> </a:t>
            </a:r>
            <a:r>
              <a:rPr sz="750" b="0">
                <a:solidFill>
                  <a:srgbClr val="09296D"/>
                </a:solidFill>
                <a:latin typeface="Zurich Sans Light"/>
                <a:cs typeface="Zurich Sans Light"/>
              </a:rPr>
              <a:t>products</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5">
                <a:solidFill>
                  <a:srgbClr val="09296D"/>
                </a:solidFill>
                <a:latin typeface="Zurich Sans Light"/>
                <a:cs typeface="Zurich Sans Light"/>
              </a:rPr>
              <a:t> </a:t>
            </a:r>
            <a:r>
              <a:rPr sz="750" b="0">
                <a:solidFill>
                  <a:srgbClr val="09296D"/>
                </a:solidFill>
                <a:latin typeface="Zurich Sans Light"/>
                <a:cs typeface="Zurich Sans Light"/>
              </a:rPr>
              <a:t>is</a:t>
            </a:r>
            <a:r>
              <a:rPr sz="750" b="0" spc="10">
                <a:solidFill>
                  <a:srgbClr val="09296D"/>
                </a:solidFill>
                <a:latin typeface="Zurich Sans Light"/>
                <a:cs typeface="Zurich Sans Light"/>
              </a:rPr>
              <a:t> </a:t>
            </a:r>
            <a:r>
              <a:rPr sz="750" b="0" err="1">
                <a:solidFill>
                  <a:srgbClr val="09296D"/>
                </a:solidFill>
                <a:latin typeface="Zurich Sans Light"/>
                <a:cs typeface="Zurich Sans Light"/>
              </a:rPr>
              <a:t>authorised</a:t>
            </a:r>
            <a:r>
              <a:rPr sz="750" b="0" spc="10">
                <a:solidFill>
                  <a:srgbClr val="09296D"/>
                </a:solidFill>
                <a:latin typeface="Zurich Sans Light"/>
                <a:cs typeface="Zurich Sans Light"/>
              </a:rPr>
              <a:t> </a:t>
            </a:r>
            <a:r>
              <a:rPr sz="750" b="0">
                <a:solidFill>
                  <a:srgbClr val="09296D"/>
                </a:solidFill>
                <a:latin typeface="Zurich Sans Light"/>
                <a:cs typeface="Zurich Sans Light"/>
              </a:rPr>
              <a:t>by</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spc="-25">
                <a:solidFill>
                  <a:srgbClr val="09296D"/>
                </a:solidFill>
                <a:latin typeface="Zurich Sans Light"/>
                <a:cs typeface="Zurich Sans Light"/>
              </a:rPr>
              <a:t>Man</a:t>
            </a:r>
            <a:r>
              <a:rPr lang="en-GB" sz="750" b="0" spc="-25">
                <a:solidFill>
                  <a:srgbClr val="09296D"/>
                </a:solidFill>
                <a:latin typeface="Zurich Sans Light"/>
                <a:cs typeface="Zurich Sans Light"/>
              </a:rPr>
              <a:t> </a:t>
            </a:r>
            <a:r>
              <a:rPr sz="750" b="0">
                <a:solidFill>
                  <a:srgbClr val="09296D"/>
                </a:solidFill>
                <a:latin typeface="Zurich Sans Light"/>
                <a:cs typeface="Zurich Sans Light"/>
              </a:rPr>
              <a:t>Financial</a:t>
            </a:r>
            <a:r>
              <a:rPr sz="750" b="0" spc="10">
                <a:solidFill>
                  <a:srgbClr val="09296D"/>
                </a:solidFill>
                <a:latin typeface="Zurich Sans Light"/>
                <a:cs typeface="Zurich Sans Light"/>
              </a:rPr>
              <a:t> </a:t>
            </a:r>
            <a:r>
              <a:rPr sz="750" b="0">
                <a:solidFill>
                  <a:srgbClr val="09296D"/>
                </a:solidFill>
                <a:latin typeface="Zurich Sans Light"/>
                <a:cs typeface="Zurich Sans Light"/>
              </a:rPr>
              <a:t>Services</a:t>
            </a:r>
            <a:r>
              <a:rPr sz="750" b="0" spc="20">
                <a:solidFill>
                  <a:srgbClr val="09296D"/>
                </a:solidFill>
                <a:latin typeface="Zurich Sans Light"/>
                <a:cs typeface="Zurich Sans Light"/>
              </a:rPr>
              <a:t> </a:t>
            </a:r>
            <a:r>
              <a:rPr sz="750" b="0" spc="-10">
                <a:solidFill>
                  <a:srgbClr val="09296D"/>
                </a:solidFill>
                <a:latin typeface="Zurich Sans Light"/>
                <a:cs typeface="Zurich Sans Light"/>
              </a:rPr>
              <a:t>Authority.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 in</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10">
                <a:solidFill>
                  <a:srgbClr val="09296D"/>
                </a:solidFill>
                <a:latin typeface="Zurich Sans Light"/>
                <a:cs typeface="Zurich Sans Light"/>
              </a:rPr>
              <a:t> </a:t>
            </a:r>
            <a:r>
              <a:rPr sz="750" b="0">
                <a:solidFill>
                  <a:srgbClr val="09296D"/>
                </a:solidFill>
                <a:latin typeface="Zurich Sans Light"/>
                <a:cs typeface="Zurich Sans Light"/>
              </a:rPr>
              <a:t>number</a:t>
            </a:r>
            <a:r>
              <a:rPr sz="750" b="0" spc="15">
                <a:solidFill>
                  <a:srgbClr val="09296D"/>
                </a:solidFill>
                <a:latin typeface="Zurich Sans Light"/>
                <a:cs typeface="Zurich Sans Light"/>
              </a:rPr>
              <a:t> </a:t>
            </a:r>
            <a:r>
              <a:rPr sz="750" b="0" spc="-10">
                <a:solidFill>
                  <a:srgbClr val="09296D"/>
                </a:solidFill>
                <a:latin typeface="Zurich Sans Light"/>
                <a:cs typeface="Zurich Sans Light"/>
              </a:rPr>
              <a:t>020126C.</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a:t>
            </a:r>
            <a:r>
              <a:rPr sz="750" b="0" spc="5">
                <a:solidFill>
                  <a:srgbClr val="09296D"/>
                </a:solidFill>
                <a:latin typeface="Zurich Sans Light"/>
                <a:cs typeface="Zurich Sans Light"/>
              </a:rPr>
              <a:t> </a:t>
            </a:r>
            <a:r>
              <a:rPr sz="750" b="0">
                <a:solidFill>
                  <a:srgbClr val="09296D"/>
                </a:solidFill>
                <a:latin typeface="Zurich Sans Light"/>
                <a:cs typeface="Zurich Sans Light"/>
              </a:rPr>
              <a:t>office:</a:t>
            </a:r>
            <a:r>
              <a:rPr sz="750" b="0" spc="5">
                <a:solidFill>
                  <a:srgbClr val="09296D"/>
                </a:solidFill>
                <a:latin typeface="Zurich Sans Light"/>
                <a:cs typeface="Zurich Sans Light"/>
              </a:rPr>
              <a:t> </a:t>
            </a: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House,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Business</a:t>
            </a:r>
            <a:r>
              <a:rPr sz="750" b="0" spc="5">
                <a:solidFill>
                  <a:srgbClr val="09296D"/>
                </a:solidFill>
                <a:latin typeface="Zurich Sans Light"/>
                <a:cs typeface="Zurich Sans Light"/>
              </a:rPr>
              <a:t> </a:t>
            </a:r>
            <a:r>
              <a:rPr sz="750" b="0">
                <a:solidFill>
                  <a:srgbClr val="09296D"/>
                </a:solidFill>
                <a:latin typeface="Zurich Sans Light"/>
                <a:cs typeface="Zurich Sans Light"/>
              </a:rPr>
              <a:t>Park,</a:t>
            </a:r>
            <a:r>
              <a:rPr sz="750" b="0" spc="5">
                <a:solidFill>
                  <a:srgbClr val="09296D"/>
                </a:solidFill>
                <a:latin typeface="Zurich Sans Light"/>
                <a:cs typeface="Zurich Sans Light"/>
              </a:rPr>
              <a:t> </a:t>
            </a:r>
            <a:r>
              <a:rPr sz="750" b="0">
                <a:solidFill>
                  <a:srgbClr val="09296D"/>
                </a:solidFill>
                <a:latin typeface="Zurich Sans Light"/>
                <a:cs typeface="Zurich Sans Light"/>
              </a:rPr>
              <a:t>Douglas,</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5">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IM2</a:t>
            </a:r>
            <a:r>
              <a:rPr sz="750" b="0" spc="5">
                <a:solidFill>
                  <a:srgbClr val="09296D"/>
                </a:solidFill>
                <a:latin typeface="Zurich Sans Light"/>
                <a:cs typeface="Zurich Sans Light"/>
              </a:rPr>
              <a:t> </a:t>
            </a:r>
            <a:r>
              <a:rPr sz="750" b="0">
                <a:solidFill>
                  <a:srgbClr val="09296D"/>
                </a:solidFill>
                <a:latin typeface="Zurich Sans Light"/>
                <a:cs typeface="Zurich Sans Light"/>
              </a:rPr>
              <a:t>2QZ,</a:t>
            </a:r>
            <a:r>
              <a:rPr sz="750" b="0" spc="5">
                <a:solidFill>
                  <a:srgbClr val="09296D"/>
                </a:solidFill>
                <a:latin typeface="Zurich Sans Light"/>
                <a:cs typeface="Zurich Sans Light"/>
              </a:rPr>
              <a:t> </a:t>
            </a:r>
            <a:r>
              <a:rPr sz="750" b="0">
                <a:solidFill>
                  <a:srgbClr val="09296D"/>
                </a:solidFill>
                <a:latin typeface="Zurich Sans Light"/>
                <a:cs typeface="Zurich Sans Light"/>
              </a:rPr>
              <a:t>British</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Isles.</a:t>
            </a:r>
            <a:r>
              <a:rPr lang="en-GB" sz="750" b="0" spc="-10">
                <a:solidFill>
                  <a:srgbClr val="09296D"/>
                </a:solidFill>
                <a:latin typeface="Zurich Sans Light"/>
                <a:cs typeface="Zurich Sans Light"/>
              </a:rPr>
              <a:t> </a:t>
            </a:r>
            <a:r>
              <a:rPr sz="750" b="0" spc="-10">
                <a:solidFill>
                  <a:srgbClr val="09296D"/>
                </a:solidFill>
                <a:latin typeface="Zurich Sans Light"/>
                <a:cs typeface="Zurich Sans Light"/>
              </a:rPr>
              <a:t>Telephone</a:t>
            </a:r>
            <a:r>
              <a:rPr sz="750" b="0" spc="10">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662266</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Telefax</a:t>
            </a:r>
            <a:r>
              <a:rPr sz="750" b="0" spc="15">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662038</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www.zurichinternational.com</a:t>
            </a:r>
            <a:endParaRPr sz="750">
              <a:latin typeface="Zurich Sans Light"/>
              <a:cs typeface="Zurich Sans Light"/>
            </a:endParaRPr>
          </a:p>
          <a:p>
            <a:pPr>
              <a:lnSpc>
                <a:spcPct val="100000"/>
              </a:lnSpc>
              <a:spcBef>
                <a:spcPts val="30"/>
              </a:spcBef>
            </a:pPr>
            <a:endParaRPr sz="750">
              <a:latin typeface="Zurich Sans Light"/>
              <a:cs typeface="Zurich Sans Light"/>
            </a:endParaRPr>
          </a:p>
        </p:txBody>
      </p:sp>
      <p:sp>
        <p:nvSpPr>
          <p:cNvPr id="14" name="TextBox 13">
            <a:extLst>
              <a:ext uri="{FF2B5EF4-FFF2-40B4-BE49-F238E27FC236}">
                <a16:creationId xmlns:a16="http://schemas.microsoft.com/office/drawing/2014/main" id="{37BC6F26-880B-8FF4-384B-803EA4A8E2E1}"/>
              </a:ext>
            </a:extLst>
          </p:cNvPr>
          <p:cNvSpPr txBox="1"/>
          <p:nvPr/>
        </p:nvSpPr>
        <p:spPr>
          <a:xfrm>
            <a:off x="310968" y="8980229"/>
            <a:ext cx="6727003" cy="923330"/>
          </a:xfrm>
          <a:prstGeom prst="rect">
            <a:avLst/>
          </a:prstGeom>
          <a:noFill/>
        </p:spPr>
        <p:txBody>
          <a:bodyPr wrap="square" lIns="0" tIns="0" rIns="0" bIns="0" rtlCol="0">
            <a:spAutoFit/>
          </a:bodyPr>
          <a:lstStyle/>
          <a:p>
            <a:pPr algn="l"/>
            <a:r>
              <a:rPr lang="en-GB" sz="750">
                <a:solidFill>
                  <a:srgbClr val="002060"/>
                </a:solidFill>
                <a:latin typeface="Zurich Sans Light" panose="02000000000000000000" pitchFamily="2" charset="0"/>
              </a:rPr>
              <a:t>Zurich International Life Limited, Bahrain Branch, which is registered in Bahrain under Commercial Registration No. 17444 and is licensed as an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Overseas Insurance Firm – Life Insurance by the Central Bank of Bahrain. Branch offices: 27th Floor, </a:t>
            </a:r>
            <a:r>
              <a:rPr lang="en-GB" sz="750" err="1">
                <a:solidFill>
                  <a:srgbClr val="002060"/>
                </a:solidFill>
                <a:latin typeface="Zurich Sans Light" panose="02000000000000000000" pitchFamily="2" charset="0"/>
              </a:rPr>
              <a:t>Almoayyed</a:t>
            </a:r>
            <a:r>
              <a:rPr lang="en-GB" sz="750">
                <a:solidFill>
                  <a:srgbClr val="002060"/>
                </a:solidFill>
                <a:latin typeface="Zurich Sans Light" panose="02000000000000000000" pitchFamily="2" charset="0"/>
              </a:rPr>
              <a:t> Tower, </a:t>
            </a:r>
            <a:r>
              <a:rPr lang="en-GB" sz="750" err="1">
                <a:solidFill>
                  <a:srgbClr val="002060"/>
                </a:solidFill>
                <a:latin typeface="Zurich Sans Light" panose="02000000000000000000" pitchFamily="2" charset="0"/>
              </a:rPr>
              <a:t>Seef</a:t>
            </a:r>
            <a:r>
              <a:rPr lang="en-GB" sz="750">
                <a:solidFill>
                  <a:srgbClr val="002060"/>
                </a:solidFill>
                <a:latin typeface="Zurich Sans Light" panose="02000000000000000000" pitchFamily="2" charset="0"/>
              </a:rPr>
              <a:t> District, Kingdom of Bahrain. Telephone +973 1756 3322 </a:t>
            </a:r>
          </a:p>
          <a:p>
            <a:pPr algn="l"/>
            <a:r>
              <a:rPr lang="en-GB" sz="750">
                <a:solidFill>
                  <a:srgbClr val="002060"/>
                </a:solidFill>
                <a:latin typeface="Zurich Sans Light" panose="02000000000000000000" pitchFamily="2" charset="0"/>
              </a:rPr>
              <a:t>Zurich International Life Limited, Qatar Branch, which is authorised by the Qatar Financial Centre Regulatory Authority. Branch offices: Office No. 404, 4th Floor, Qatar Financial Centre Tower, West Bay, Doha, Qatar. Telephone: +974 4428 6322 </a:t>
            </a:r>
          </a:p>
          <a:p>
            <a:pPr algn="l"/>
            <a:r>
              <a:rPr lang="en-GB" sz="750">
                <a:solidFill>
                  <a:srgbClr val="002060"/>
                </a:solidFill>
                <a:latin typeface="Zurich Sans Light" panose="02000000000000000000" pitchFamily="2" charset="0"/>
              </a:rPr>
              <a:t>Zurich International Life Limited, UAE Branch, which is registered (Registration No. 63) under UAE Federal Law Number 6 of 2007, and its activities in the UAE governed by such law. Registered offices at Unit 601, Building 6, 6th Floor, Emaar Square, Dubai. (PO Box 50389 Dubai)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Telephone: +971 4 425 2300 www.zurich.ae</a:t>
            </a:r>
          </a:p>
        </p:txBody>
      </p:sp>
      <p:pic>
        <p:nvPicPr>
          <p:cNvPr id="15" name="Graphic 14">
            <a:extLst>
              <a:ext uri="{FF2B5EF4-FFF2-40B4-BE49-F238E27FC236}">
                <a16:creationId xmlns:a16="http://schemas.microsoft.com/office/drawing/2014/main" id="{A91A7A7E-476D-FA74-556A-05EA012E19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696" y="9814750"/>
            <a:ext cx="1976437" cy="767521"/>
          </a:xfrm>
          <a:prstGeom prst="rect">
            <a:avLst/>
          </a:prstGeom>
        </p:spPr>
      </p:pic>
    </p:spTree>
    <p:extLst>
      <p:ext uri="{BB962C8B-B14F-4D97-AF65-F5344CB8AC3E}">
        <p14:creationId xmlns:p14="http://schemas.microsoft.com/office/powerpoint/2010/main" val="2067222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B3AC5-8F61-99D3-F6E9-4332EA9A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70FCF-6593-1849-4DBE-E95AD6829F27}"/>
              </a:ext>
            </a:extLst>
          </p:cNvPr>
          <p:cNvSpPr>
            <a:spLocks noGrp="1"/>
          </p:cNvSpPr>
          <p:nvPr>
            <p:ph type="ctrTitle"/>
          </p:nvPr>
        </p:nvSpPr>
        <p:spPr>
          <a:xfrm>
            <a:off x="567213" y="3314954"/>
            <a:ext cx="6428422" cy="369332"/>
          </a:xfrm>
        </p:spPr>
        <p:txBody>
          <a:bodyPr/>
          <a:lstStyle/>
          <a:p>
            <a:r>
              <a:rPr lang="en-GB"/>
              <a:t>Option 3 – glossary in the </a:t>
            </a:r>
            <a:r>
              <a:rPr lang="en-GB" err="1"/>
              <a:t>lhs</a:t>
            </a:r>
            <a:r>
              <a:rPr lang="en-GB"/>
              <a:t> column</a:t>
            </a:r>
            <a:endParaRPr lang="en-US"/>
          </a:p>
        </p:txBody>
      </p:sp>
    </p:spTree>
    <p:extLst>
      <p:ext uri="{BB962C8B-B14F-4D97-AF65-F5344CB8AC3E}">
        <p14:creationId xmlns:p14="http://schemas.microsoft.com/office/powerpoint/2010/main" val="49212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4E35-C9FA-B44A-288D-CD5A939752FE}"/>
            </a:ext>
          </a:extLst>
        </p:cNvPr>
        <p:cNvGrpSpPr/>
        <p:nvPr/>
      </p:nvGrpSpPr>
      <p:grpSpPr>
        <a:xfrm>
          <a:off x="0" y="0"/>
          <a:ext cx="0" cy="0"/>
          <a:chOff x="0" y="0"/>
          <a:chExt cx="0" cy="0"/>
        </a:xfrm>
      </p:grpSpPr>
      <p:sp>
        <p:nvSpPr>
          <p:cNvPr id="22" name="object 22">
            <a:extLst>
              <a:ext uri="{FF2B5EF4-FFF2-40B4-BE49-F238E27FC236}">
                <a16:creationId xmlns:a16="http://schemas.microsoft.com/office/drawing/2014/main" id="{35690E1F-D1BF-4DF7-FB2D-9FB7A0A596A4}"/>
              </a:ext>
            </a:extLst>
          </p:cNvPr>
          <p:cNvSpPr txBox="1"/>
          <p:nvPr/>
        </p:nvSpPr>
        <p:spPr>
          <a:xfrm>
            <a:off x="3059937" y="4973992"/>
            <a:ext cx="4183242" cy="385445"/>
          </a:xfrm>
          <a:prstGeom prst="rect">
            <a:avLst/>
          </a:prstGeom>
        </p:spPr>
        <p:txBody>
          <a:bodyPr vert="horz" wrap="square" lIns="0" tIns="70485" rIns="0" bIns="0" rtlCol="0">
            <a:spAutoFit/>
          </a:bodyPr>
          <a:lstStyle/>
          <a:p>
            <a:pPr marL="643890">
              <a:lnSpc>
                <a:spcPct val="100000"/>
              </a:lnSpc>
              <a:spcBef>
                <a:spcPts val="555"/>
              </a:spcBef>
              <a:tabLst>
                <a:tab pos="1134745" algn="l"/>
                <a:tab pos="1633855" algn="l"/>
                <a:tab pos="2786380" algn="l"/>
                <a:tab pos="3216910" algn="l"/>
                <a:tab pos="3736975" algn="l"/>
              </a:tabLst>
            </a:pPr>
            <a:r>
              <a:rPr sz="800">
                <a:solidFill>
                  <a:srgbClr val="142863"/>
                </a:solidFill>
                <a:latin typeface="Zurich Sans"/>
                <a:cs typeface="Zurich Sans"/>
              </a:rPr>
              <a:t>3 </a:t>
            </a:r>
            <a:r>
              <a:rPr sz="800" spc="-10">
                <a:solidFill>
                  <a:srgbClr val="142863"/>
                </a:solidFill>
                <a:latin typeface="Zurich Sans"/>
                <a:cs typeface="Zurich Sans"/>
              </a:rPr>
              <a:t>Years</a:t>
            </a:r>
            <a:r>
              <a:rPr sz="800">
                <a:solidFill>
                  <a:srgbClr val="142863"/>
                </a:solidFill>
                <a:latin typeface="Zurich Sans"/>
                <a:cs typeface="Zurich Sans"/>
              </a:rPr>
              <a:t>	5</a:t>
            </a:r>
            <a:r>
              <a:rPr sz="800" spc="-10">
                <a:solidFill>
                  <a:srgbClr val="142863"/>
                </a:solidFill>
                <a:latin typeface="Zurich Sans"/>
                <a:cs typeface="Zurich Sans"/>
              </a:rPr>
              <a:t> Years</a:t>
            </a:r>
            <a:r>
              <a:rPr sz="800">
                <a:solidFill>
                  <a:srgbClr val="142863"/>
                </a:solidFill>
                <a:latin typeface="Zurich Sans"/>
                <a:cs typeface="Zurich Sans"/>
              </a:rPr>
              <a:t>	10</a:t>
            </a:r>
            <a:r>
              <a:rPr sz="800" spc="-10">
                <a:solidFill>
                  <a:srgbClr val="142863"/>
                </a:solidFill>
                <a:latin typeface="Zurich Sans"/>
                <a:cs typeface="Zurich Sans"/>
              </a:rPr>
              <a:t> Years</a:t>
            </a:r>
            <a:r>
              <a:rPr sz="800">
                <a:solidFill>
                  <a:srgbClr val="142863"/>
                </a:solidFill>
                <a:latin typeface="Zurich Sans"/>
                <a:cs typeface="Zurich Sans"/>
              </a:rPr>
              <a:t>	1</a:t>
            </a:r>
            <a:r>
              <a:rPr sz="800" spc="-10">
                <a:solidFill>
                  <a:srgbClr val="142863"/>
                </a:solidFill>
                <a:latin typeface="Zurich Sans"/>
                <a:cs typeface="Zurich Sans"/>
              </a:rPr>
              <a:t> </a:t>
            </a:r>
            <a:r>
              <a:rPr sz="800" spc="-20">
                <a:solidFill>
                  <a:srgbClr val="142863"/>
                </a:solidFill>
                <a:latin typeface="Zurich Sans"/>
                <a:cs typeface="Zurich Sans"/>
              </a:rPr>
              <a:t>Year</a:t>
            </a:r>
            <a:r>
              <a:rPr sz="800">
                <a:solidFill>
                  <a:srgbClr val="142863"/>
                </a:solidFill>
                <a:latin typeface="Zurich Sans"/>
                <a:cs typeface="Zurich Sans"/>
              </a:rPr>
              <a:t>	3</a:t>
            </a:r>
            <a:r>
              <a:rPr sz="800" spc="-10">
                <a:solidFill>
                  <a:srgbClr val="142863"/>
                </a:solidFill>
                <a:latin typeface="Zurich Sans"/>
                <a:cs typeface="Zurich Sans"/>
              </a:rPr>
              <a:t> Years</a:t>
            </a:r>
            <a:r>
              <a:rPr sz="800">
                <a:solidFill>
                  <a:srgbClr val="142863"/>
                </a:solidFill>
                <a:latin typeface="Zurich Sans"/>
                <a:cs typeface="Zurich Sans"/>
              </a:rPr>
              <a:t>	5 </a:t>
            </a:r>
            <a:r>
              <a:rPr sz="800" spc="-10">
                <a:solidFill>
                  <a:srgbClr val="142863"/>
                </a:solidFill>
                <a:latin typeface="Zurich Sans"/>
                <a:cs typeface="Zurich Sans"/>
              </a:rPr>
              <a:t>Years</a:t>
            </a:r>
            <a:endParaRPr sz="800">
              <a:latin typeface="Zurich Sans"/>
              <a:cs typeface="Zurich Sans"/>
            </a:endParaRPr>
          </a:p>
          <a:p>
            <a:pPr marL="12700">
              <a:lnSpc>
                <a:spcPct val="100000"/>
              </a:lnSpc>
              <a:spcBef>
                <a:spcPts val="455"/>
              </a:spcBef>
              <a:tabLst>
                <a:tab pos="665480" algn="l"/>
                <a:tab pos="1163320" algn="l"/>
                <a:tab pos="1683385" algn="l"/>
                <a:tab pos="2154555" algn="l"/>
                <a:tab pos="2815590" algn="l"/>
                <a:tab pos="3291840" algn="l"/>
                <a:tab pos="3820160" algn="l"/>
              </a:tabLst>
            </a:pPr>
            <a:r>
              <a:rPr sz="800">
                <a:solidFill>
                  <a:srgbClr val="142863"/>
                </a:solidFill>
                <a:latin typeface="Zurich Sans"/>
                <a:cs typeface="Zurich Sans"/>
              </a:rPr>
              <a:t>% </a:t>
            </a:r>
            <a:r>
              <a:rPr sz="800" spc="-10">
                <a:solidFill>
                  <a:srgbClr val="142863"/>
                </a:solidFill>
                <a:latin typeface="Zurich Sans"/>
                <a:cs typeface="Zurich Sans"/>
              </a:rPr>
              <a:t>Growth</a:t>
            </a:r>
            <a:r>
              <a:rPr sz="800">
                <a:solidFill>
                  <a:srgbClr val="142863"/>
                </a:solidFill>
                <a:latin typeface="Zurich Sans"/>
                <a:cs typeface="Zurich Sans"/>
              </a:rPr>
              <a:t>	-</a:t>
            </a:r>
            <a:r>
              <a:rPr sz="800" spc="-20">
                <a:solidFill>
                  <a:srgbClr val="142863"/>
                </a:solidFill>
                <a:latin typeface="Zurich Sans"/>
                <a:cs typeface="Zurich Sans"/>
              </a:rPr>
              <a:t>7.72%</a:t>
            </a:r>
            <a:r>
              <a:rPr sz="800">
                <a:solidFill>
                  <a:srgbClr val="142863"/>
                </a:solidFill>
                <a:latin typeface="Zurich Sans"/>
                <a:cs typeface="Zurich Sans"/>
              </a:rPr>
              <a:t>	-</a:t>
            </a:r>
            <a:r>
              <a:rPr sz="800" spc="-10">
                <a:solidFill>
                  <a:srgbClr val="142863"/>
                </a:solidFill>
                <a:latin typeface="Zurich Sans"/>
                <a:cs typeface="Zurich Sans"/>
              </a:rPr>
              <a:t>4.51%</a:t>
            </a:r>
            <a:r>
              <a:rPr sz="800">
                <a:solidFill>
                  <a:srgbClr val="142863"/>
                </a:solidFill>
                <a:latin typeface="Zurich Sans"/>
                <a:cs typeface="Zurich Sans"/>
              </a:rPr>
              <a:t>	-</a:t>
            </a:r>
            <a:r>
              <a:rPr sz="800" spc="-10">
                <a:solidFill>
                  <a:srgbClr val="142863"/>
                </a:solidFill>
                <a:latin typeface="Zurich Sans"/>
                <a:cs typeface="Zurich Sans"/>
              </a:rPr>
              <a:t>1.87%</a:t>
            </a:r>
            <a:r>
              <a:rPr sz="800">
                <a:solidFill>
                  <a:srgbClr val="142863"/>
                </a:solidFill>
                <a:latin typeface="Zurich Sans"/>
                <a:cs typeface="Zurich Sans"/>
              </a:rPr>
              <a:t>	</a:t>
            </a:r>
            <a:r>
              <a:rPr lang="en-GB" sz="800">
                <a:solidFill>
                  <a:srgbClr val="142863"/>
                </a:solidFill>
                <a:latin typeface="Zurich Sans"/>
                <a:cs typeface="Zurich Sans"/>
              </a:rPr>
              <a:t>    </a:t>
            </a:r>
            <a:r>
              <a:rPr sz="800" spc="-10">
                <a:solidFill>
                  <a:srgbClr val="142863"/>
                </a:solidFill>
                <a:latin typeface="Zurich Sans"/>
                <a:cs typeface="Zurich Sans"/>
              </a:rPr>
              <a:t>Volatility</a:t>
            </a:r>
            <a:r>
              <a:rPr sz="800">
                <a:solidFill>
                  <a:srgbClr val="142863"/>
                </a:solidFill>
                <a:latin typeface="Zurich Sans"/>
                <a:cs typeface="Zurich Sans"/>
              </a:rPr>
              <a:t>	</a:t>
            </a:r>
            <a:r>
              <a:rPr sz="800" spc="-20">
                <a:solidFill>
                  <a:srgbClr val="142863"/>
                </a:solidFill>
                <a:latin typeface="Zurich Sans"/>
                <a:cs typeface="Zurich Sans"/>
              </a:rPr>
              <a:t>2.09</a:t>
            </a:r>
            <a:r>
              <a:rPr sz="800">
                <a:solidFill>
                  <a:srgbClr val="142863"/>
                </a:solidFill>
                <a:latin typeface="Zurich Sans"/>
                <a:cs typeface="Zurich Sans"/>
              </a:rPr>
              <a:t>	</a:t>
            </a:r>
            <a:r>
              <a:rPr sz="800" spc="-20">
                <a:solidFill>
                  <a:srgbClr val="142863"/>
                </a:solidFill>
                <a:latin typeface="Zurich Sans"/>
                <a:cs typeface="Zurich Sans"/>
              </a:rPr>
              <a:t>3.75</a:t>
            </a:r>
            <a:r>
              <a:rPr sz="800">
                <a:solidFill>
                  <a:srgbClr val="142863"/>
                </a:solidFill>
                <a:latin typeface="Zurich Sans"/>
                <a:cs typeface="Zurich Sans"/>
              </a:rPr>
              <a:t>	</a:t>
            </a:r>
            <a:r>
              <a:rPr sz="800" spc="-20">
                <a:solidFill>
                  <a:srgbClr val="142863"/>
                </a:solidFill>
                <a:latin typeface="Zurich Sans"/>
                <a:cs typeface="Zurich Sans"/>
              </a:rPr>
              <a:t>4.61</a:t>
            </a:r>
            <a:endParaRPr sz="800">
              <a:latin typeface="Zurich Sans"/>
              <a:cs typeface="Zurich Sans"/>
            </a:endParaRPr>
          </a:p>
        </p:txBody>
      </p:sp>
      <p:sp>
        <p:nvSpPr>
          <p:cNvPr id="2" name="object 2">
            <a:extLst>
              <a:ext uri="{FF2B5EF4-FFF2-40B4-BE49-F238E27FC236}">
                <a16:creationId xmlns:a16="http://schemas.microsoft.com/office/drawing/2014/main" id="{68E5D167-3ADE-52BA-6814-8D3128034D97}"/>
              </a:ext>
            </a:extLst>
          </p:cNvPr>
          <p:cNvSpPr txBox="1"/>
          <p:nvPr/>
        </p:nvSpPr>
        <p:spPr>
          <a:xfrm>
            <a:off x="349250"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b="0">
                <a:solidFill>
                  <a:srgbClr val="142863"/>
                </a:solidFill>
                <a:latin typeface="Zurich Sans Light"/>
                <a:cs typeface="Zurich Sans Light"/>
              </a:rPr>
              <a:t>March</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5" name="object 5">
            <a:extLst>
              <a:ext uri="{FF2B5EF4-FFF2-40B4-BE49-F238E27FC236}">
                <a16:creationId xmlns:a16="http://schemas.microsoft.com/office/drawing/2014/main" id="{9E9692BC-F373-3564-C67B-ABD064BCA5CD}"/>
              </a:ext>
            </a:extLst>
          </p:cNvPr>
          <p:cNvSpPr txBox="1"/>
          <p:nvPr/>
        </p:nvSpPr>
        <p:spPr>
          <a:xfrm>
            <a:off x="302114" y="1546665"/>
            <a:ext cx="6941754" cy="761365"/>
          </a:xfrm>
          <a:prstGeom prst="rect">
            <a:avLst/>
          </a:prstGeom>
        </p:spPr>
        <p:txBody>
          <a:bodyPr vert="horz" wrap="square" lIns="0" tIns="12700" rIns="0" bIns="0" rtlCol="0">
            <a:spAutoFit/>
          </a:bodyPr>
          <a:lstStyle/>
          <a:p>
            <a:pPr marL="12700">
              <a:lnSpc>
                <a:spcPct val="100000"/>
              </a:lnSpc>
              <a:spcBef>
                <a:spcPts val="100"/>
              </a:spcBef>
            </a:pPr>
            <a:r>
              <a:rPr sz="1150" b="1">
                <a:solidFill>
                  <a:srgbClr val="004F9E"/>
                </a:solidFill>
                <a:latin typeface="Zurich Sans"/>
                <a:cs typeface="Zurich Sans"/>
              </a:rPr>
              <a:t>Fund</a:t>
            </a:r>
            <a:r>
              <a:rPr sz="1150" b="1" spc="-5">
                <a:solidFill>
                  <a:srgbClr val="004F9E"/>
                </a:solidFill>
                <a:latin typeface="Zurich Sans"/>
                <a:cs typeface="Zurich Sans"/>
              </a:rPr>
              <a:t> </a:t>
            </a:r>
            <a:r>
              <a:rPr sz="1150" b="1" spc="-10">
                <a:solidFill>
                  <a:srgbClr val="004F9E"/>
                </a:solidFill>
                <a:latin typeface="Zurich Sans"/>
                <a:cs typeface="Zurich Sans"/>
              </a:rPr>
              <a:t>Objective</a:t>
            </a:r>
            <a:endParaRPr sz="1150">
              <a:latin typeface="Zurich Sans"/>
              <a:cs typeface="Zurich Sans"/>
            </a:endParaRPr>
          </a:p>
          <a:p>
            <a:pPr marL="12700" marR="5080">
              <a:lnSpc>
                <a:spcPct val="100000"/>
              </a:lnSpc>
              <a:spcBef>
                <a:spcPts val="600"/>
              </a:spcBef>
            </a:pPr>
            <a:r>
              <a:rPr lang="en-GB" sz="800" b="0">
                <a:solidFill>
                  <a:srgbClr val="142863"/>
                </a:solidFill>
                <a:latin typeface="Zurich Sans Light"/>
                <a:cs typeface="Zurich Sans Light"/>
              </a:rPr>
              <a:t>T</a:t>
            </a:r>
            <a:r>
              <a:rPr sz="800" b="0">
                <a:solidFill>
                  <a:srgbClr val="142863"/>
                </a:solidFill>
                <a:latin typeface="Zurich Sans Light"/>
                <a:cs typeface="Zurich Sans Light"/>
              </a:rPr>
              <a:t>he Fidelity </a:t>
            </a:r>
            <a:r>
              <a:rPr lang="en-GB" sz="800" b="0">
                <a:solidFill>
                  <a:srgbClr val="142863"/>
                </a:solidFill>
                <a:latin typeface="Zurich Sans Light"/>
                <a:cs typeface="Zurich Sans Light"/>
              </a:rPr>
              <a:t>Emerging Market Debt </a:t>
            </a:r>
            <a:r>
              <a:rPr sz="800" b="0">
                <a:solidFill>
                  <a:srgbClr val="142863"/>
                </a:solidFill>
                <a:latin typeface="Zurich Sans Light"/>
                <a:cs typeface="Zurich Sans Light"/>
              </a:rPr>
              <a:t>fund (the underlying 'Fund') aims to increase the value of your investment over a period of 5 years or more. </a:t>
            </a:r>
            <a:r>
              <a:rPr sz="800" b="0" spc="-25">
                <a:solidFill>
                  <a:srgbClr val="142863"/>
                </a:solidFill>
                <a:latin typeface="Zurich Sans Light"/>
                <a:cs typeface="Zurich Sans Light"/>
              </a:rPr>
              <a:t>The</a:t>
            </a:r>
            <a:r>
              <a:rPr lang="en-GB" sz="800" spc="500">
                <a:solidFill>
                  <a:srgbClr val="142863"/>
                </a:solidFill>
                <a:latin typeface="Zurich Sans Light"/>
                <a:cs typeface="Zurich Sans Light"/>
              </a:rPr>
              <a:t> </a:t>
            </a:r>
            <a:r>
              <a:rPr sz="800" b="0">
                <a:solidFill>
                  <a:srgbClr val="142863"/>
                </a:solidFill>
                <a:latin typeface="Zurich Sans Light"/>
                <a:cs typeface="Zurich Sans Light"/>
              </a:rPr>
              <a:t>Fund</a:t>
            </a:r>
            <a:r>
              <a:rPr sz="800" b="0" spc="-10">
                <a:solidFill>
                  <a:srgbClr val="142863"/>
                </a:solidFill>
                <a:latin typeface="Zurich Sans Light"/>
                <a:cs typeface="Zurich Sans Light"/>
              </a:rPr>
              <a:t> </a:t>
            </a:r>
            <a:r>
              <a:rPr sz="800" b="0">
                <a:solidFill>
                  <a:srgbClr val="142863"/>
                </a:solidFill>
                <a:latin typeface="Zurich Sans Light"/>
                <a:cs typeface="Zurich Sans Light"/>
              </a:rPr>
              <a:t>will invest at least 70% in equities (and their related securities) of companies globally which could include countries considered to be </a:t>
            </a:r>
            <a:r>
              <a:rPr sz="800" b="0" spc="-10">
                <a:solidFill>
                  <a:srgbClr val="142863"/>
                </a:solidFill>
                <a:latin typeface="Zurich Sans Light"/>
                <a:cs typeface="Zurich Sans Light"/>
              </a:rPr>
              <a:t>emerging</a:t>
            </a:r>
            <a:r>
              <a:rPr lang="en-GB" sz="800" b="0" spc="-10">
                <a:solidFill>
                  <a:srgbClr val="142863"/>
                </a:solidFill>
                <a:latin typeface="Zurich Sans Light"/>
                <a:cs typeface="Zurich Sans Light"/>
              </a:rPr>
              <a:t> </a:t>
            </a:r>
            <a:r>
              <a:rPr sz="800" b="0">
                <a:solidFill>
                  <a:srgbClr val="142863"/>
                </a:solidFill>
                <a:latin typeface="Zurich Sans Light"/>
                <a:cs typeface="Zurich Sans Light"/>
              </a:rPr>
              <a:t>markets as determined by the Investment Manager at its sole discretion. The investment manager will focus on companies it believes to be </a:t>
            </a:r>
            <a:r>
              <a:rPr sz="800" b="0" spc="-10">
                <a:solidFill>
                  <a:srgbClr val="142863"/>
                </a:solidFill>
                <a:latin typeface="Zurich Sans Light"/>
                <a:cs typeface="Zurich Sans Light"/>
              </a:rPr>
              <a:t>undervalued</a:t>
            </a:r>
            <a:r>
              <a:rPr lang="en-GB" sz="800" b="0" spc="-10">
                <a:solidFill>
                  <a:srgbClr val="142863"/>
                </a:solidFill>
                <a:latin typeface="Zurich Sans Light"/>
                <a:cs typeface="Zurich Sans Light"/>
              </a:rPr>
              <a:t> </a:t>
            </a:r>
            <a:r>
              <a:rPr sz="800" b="0">
                <a:solidFill>
                  <a:srgbClr val="142863"/>
                </a:solidFill>
                <a:latin typeface="Zurich Sans Light"/>
                <a:cs typeface="Zurich Sans Light"/>
              </a:rPr>
              <a:t>and whose recovery potential is not </a:t>
            </a:r>
            <a:r>
              <a:rPr sz="800" b="0" err="1">
                <a:solidFill>
                  <a:srgbClr val="142863"/>
                </a:solidFill>
                <a:latin typeface="Zurich Sans Light"/>
                <a:cs typeface="Zurich Sans Light"/>
              </a:rPr>
              <a:t>recognised</a:t>
            </a:r>
            <a:r>
              <a:rPr sz="800" b="0">
                <a:solidFill>
                  <a:srgbClr val="142863"/>
                </a:solidFill>
                <a:latin typeface="Zurich Sans Light"/>
                <a:cs typeface="Zurich Sans Light"/>
              </a:rPr>
              <a:t> by the market. The Fund is actively </a:t>
            </a:r>
            <a:r>
              <a:rPr sz="800" b="0" spc="-10">
                <a:solidFill>
                  <a:srgbClr val="142863"/>
                </a:solidFill>
                <a:latin typeface="Zurich Sans Light"/>
                <a:cs typeface="Zurich Sans Light"/>
              </a:rPr>
              <a:t>managed.</a:t>
            </a:r>
            <a:endParaRPr sz="800">
              <a:latin typeface="Zurich Sans Light"/>
              <a:cs typeface="Zurich Sans Light"/>
            </a:endParaRPr>
          </a:p>
        </p:txBody>
      </p:sp>
      <p:sp>
        <p:nvSpPr>
          <p:cNvPr id="6" name="object 6">
            <a:extLst>
              <a:ext uri="{FF2B5EF4-FFF2-40B4-BE49-F238E27FC236}">
                <a16:creationId xmlns:a16="http://schemas.microsoft.com/office/drawing/2014/main" id="{62901782-4907-1FC4-233E-2C6D32A20E55}"/>
              </a:ext>
            </a:extLst>
          </p:cNvPr>
          <p:cNvSpPr txBox="1">
            <a:spLocks noGrp="1"/>
          </p:cNvSpPr>
          <p:nvPr>
            <p:ph type="title"/>
          </p:nvPr>
        </p:nvSpPr>
        <p:spPr>
          <a:xfrm>
            <a:off x="281738" y="1002662"/>
            <a:ext cx="5130815" cy="394980"/>
          </a:xfrm>
          <a:prstGeom prst="rect">
            <a:avLst/>
          </a:prstGeom>
        </p:spPr>
        <p:txBody>
          <a:bodyPr vert="horz" wrap="square" lIns="0" tIns="48260" rIns="0" bIns="0" rtlCol="0">
            <a:spAutoFit/>
          </a:bodyPr>
          <a:lstStyle/>
          <a:p>
            <a:pPr marL="12700" marR="5080">
              <a:lnSpc>
                <a:spcPts val="2650"/>
              </a:lnSpc>
              <a:spcBef>
                <a:spcPts val="380"/>
              </a:spcBef>
            </a:pPr>
            <a:r>
              <a:rPr lang="en-GB">
                <a:solidFill>
                  <a:srgbClr val="004F9E"/>
                </a:solidFill>
              </a:rPr>
              <a:t>Fidelity Emerging </a:t>
            </a:r>
            <a:r>
              <a:rPr lang="en-GB" spc="-10">
                <a:solidFill>
                  <a:srgbClr val="004F9E"/>
                </a:solidFill>
              </a:rPr>
              <a:t>Market </a:t>
            </a:r>
            <a:r>
              <a:rPr lang="en-GB" spc="-20">
                <a:solidFill>
                  <a:srgbClr val="004F9E"/>
                </a:solidFill>
              </a:rPr>
              <a:t>Debt</a:t>
            </a:r>
            <a:endParaRPr spc="-20">
              <a:solidFill>
                <a:srgbClr val="004F9E"/>
              </a:solidFill>
            </a:endParaRPr>
          </a:p>
        </p:txBody>
      </p:sp>
      <p:sp>
        <p:nvSpPr>
          <p:cNvPr id="8" name="object 8">
            <a:extLst>
              <a:ext uri="{FF2B5EF4-FFF2-40B4-BE49-F238E27FC236}">
                <a16:creationId xmlns:a16="http://schemas.microsoft.com/office/drawing/2014/main" id="{FD4FD682-A1C4-141C-E351-113184DA092E}"/>
              </a:ext>
            </a:extLst>
          </p:cNvPr>
          <p:cNvSpPr/>
          <p:nvPr/>
        </p:nvSpPr>
        <p:spPr>
          <a:xfrm>
            <a:off x="3073449" y="316181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0" name="object 10">
            <a:extLst>
              <a:ext uri="{FF2B5EF4-FFF2-40B4-BE49-F238E27FC236}">
                <a16:creationId xmlns:a16="http://schemas.microsoft.com/office/drawing/2014/main" id="{DB00E7BA-94B4-D6E1-0716-AA78A74F656D}"/>
              </a:ext>
            </a:extLst>
          </p:cNvPr>
          <p:cNvSpPr/>
          <p:nvPr/>
        </p:nvSpPr>
        <p:spPr>
          <a:xfrm>
            <a:off x="3059938" y="444613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1" name="object 11">
            <a:extLst>
              <a:ext uri="{FF2B5EF4-FFF2-40B4-BE49-F238E27FC236}">
                <a16:creationId xmlns:a16="http://schemas.microsoft.com/office/drawing/2014/main" id="{2377357F-4918-9499-8692-A1567B592BCC}"/>
              </a:ext>
            </a:extLst>
          </p:cNvPr>
          <p:cNvSpPr/>
          <p:nvPr/>
        </p:nvSpPr>
        <p:spPr>
          <a:xfrm>
            <a:off x="3059938" y="4251445"/>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2" name="object 12">
            <a:extLst>
              <a:ext uri="{FF2B5EF4-FFF2-40B4-BE49-F238E27FC236}">
                <a16:creationId xmlns:a16="http://schemas.microsoft.com/office/drawing/2014/main" id="{92DE4953-11A3-0BA1-74EE-38ECC1E12106}"/>
              </a:ext>
            </a:extLst>
          </p:cNvPr>
          <p:cNvSpPr/>
          <p:nvPr/>
        </p:nvSpPr>
        <p:spPr>
          <a:xfrm>
            <a:off x="3068954" y="4730869"/>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6" name="object 16">
            <a:extLst>
              <a:ext uri="{FF2B5EF4-FFF2-40B4-BE49-F238E27FC236}">
                <a16:creationId xmlns:a16="http://schemas.microsoft.com/office/drawing/2014/main" id="{AABB7573-0D9E-70B2-56BC-473C1EE0C85A}"/>
              </a:ext>
            </a:extLst>
          </p:cNvPr>
          <p:cNvSpPr/>
          <p:nvPr/>
        </p:nvSpPr>
        <p:spPr>
          <a:xfrm>
            <a:off x="3059938" y="4918926"/>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7" name="object 17">
            <a:extLst>
              <a:ext uri="{FF2B5EF4-FFF2-40B4-BE49-F238E27FC236}">
                <a16:creationId xmlns:a16="http://schemas.microsoft.com/office/drawing/2014/main" id="{6AB47A14-F67D-C64A-9AEC-3B949E9B8161}"/>
              </a:ext>
            </a:extLst>
          </p:cNvPr>
          <p:cNvSpPr/>
          <p:nvPr/>
        </p:nvSpPr>
        <p:spPr>
          <a:xfrm>
            <a:off x="3059938" y="5187950"/>
            <a:ext cx="2070100" cy="6350"/>
          </a:xfrm>
          <a:custGeom>
            <a:avLst/>
            <a:gdLst/>
            <a:ahLst/>
            <a:cxnLst/>
            <a:rect l="l" t="t" r="r" b="b"/>
            <a:pathLst>
              <a:path w="2070100" h="6350">
                <a:moveTo>
                  <a:pt x="0" y="0"/>
                </a:moveTo>
                <a:lnTo>
                  <a:pt x="2070100" y="0"/>
                </a:lnTo>
                <a:lnTo>
                  <a:pt x="2070100" y="6350"/>
                </a:lnTo>
                <a:lnTo>
                  <a:pt x="0" y="6350"/>
                </a:lnTo>
                <a:lnTo>
                  <a:pt x="0" y="0"/>
                </a:lnTo>
                <a:close/>
              </a:path>
            </a:pathLst>
          </a:custGeom>
          <a:solidFill>
            <a:srgbClr val="4890DA"/>
          </a:solidFill>
        </p:spPr>
        <p:txBody>
          <a:bodyPr wrap="square" lIns="0" tIns="0" rIns="0" bIns="0" rtlCol="0"/>
          <a:lstStyle/>
          <a:p>
            <a:endParaRPr/>
          </a:p>
        </p:txBody>
      </p:sp>
      <p:sp>
        <p:nvSpPr>
          <p:cNvPr id="18" name="object 18">
            <a:extLst>
              <a:ext uri="{FF2B5EF4-FFF2-40B4-BE49-F238E27FC236}">
                <a16:creationId xmlns:a16="http://schemas.microsoft.com/office/drawing/2014/main" id="{E9FD5D2D-B033-5AA3-D5C9-0D8A80C2A1E9}"/>
              </a:ext>
            </a:extLst>
          </p:cNvPr>
          <p:cNvSpPr txBox="1"/>
          <p:nvPr/>
        </p:nvSpPr>
        <p:spPr>
          <a:xfrm>
            <a:off x="3059938" y="4827985"/>
            <a:ext cx="2070100" cy="180000"/>
          </a:xfrm>
          <a:prstGeom prst="rect">
            <a:avLst/>
          </a:prstGeom>
          <a:solidFill>
            <a:srgbClr val="4890DA"/>
          </a:solidFill>
        </p:spPr>
        <p:txBody>
          <a:bodyPr vert="horz" wrap="square" lIns="36000" tIns="36000" rIns="36000" bIns="36000" rtlCol="0">
            <a:spAutoFit/>
          </a:bodyPr>
          <a:lstStyle/>
          <a:p>
            <a:pPr marL="35560" marR="60325">
              <a:lnSpc>
                <a:spcPct val="79200"/>
              </a:lnSpc>
              <a:spcBef>
                <a:spcPts val="350"/>
              </a:spcBef>
            </a:pPr>
            <a:r>
              <a:rPr sz="800" b="1">
                <a:solidFill>
                  <a:srgbClr val="FFFFFF"/>
                </a:solidFill>
                <a:latin typeface="Zurich Sans"/>
                <a:cs typeface="Zurich Sans"/>
              </a:rPr>
              <a:t>Annualised</a:t>
            </a:r>
            <a:r>
              <a:rPr sz="800" b="1" spc="-5">
                <a:solidFill>
                  <a:srgbClr val="FFFFFF"/>
                </a:solidFill>
                <a:latin typeface="Zurich Sans"/>
                <a:cs typeface="Zurich Sans"/>
              </a:rPr>
              <a:t> </a:t>
            </a:r>
            <a:r>
              <a:rPr sz="800" b="1">
                <a:solidFill>
                  <a:srgbClr val="FFFFFF"/>
                </a:solidFill>
                <a:latin typeface="Zurich Sans"/>
                <a:cs typeface="Zurich Sans"/>
              </a:rPr>
              <a:t>performance</a:t>
            </a:r>
            <a:r>
              <a:rPr sz="800" b="1" spc="-5">
                <a:solidFill>
                  <a:srgbClr val="FFFFFF"/>
                </a:solidFill>
                <a:latin typeface="Zurich Sans"/>
                <a:cs typeface="Zurich Sans"/>
              </a:rPr>
              <a:t> </a:t>
            </a:r>
            <a:endParaRPr sz="800">
              <a:latin typeface="Zurich Sans"/>
              <a:cs typeface="Zurich Sans"/>
            </a:endParaRPr>
          </a:p>
        </p:txBody>
      </p:sp>
      <p:sp>
        <p:nvSpPr>
          <p:cNvPr id="20" name="object 20">
            <a:extLst>
              <a:ext uri="{FF2B5EF4-FFF2-40B4-BE49-F238E27FC236}">
                <a16:creationId xmlns:a16="http://schemas.microsoft.com/office/drawing/2014/main" id="{363BEDFF-DFA7-B9FC-E3A4-B9EFD11EB475}"/>
              </a:ext>
            </a:extLst>
          </p:cNvPr>
          <p:cNvSpPr/>
          <p:nvPr/>
        </p:nvSpPr>
        <p:spPr>
          <a:xfrm>
            <a:off x="5285160" y="5187950"/>
            <a:ext cx="1944000" cy="6350"/>
          </a:xfrm>
          <a:custGeom>
            <a:avLst/>
            <a:gdLst/>
            <a:ahLst/>
            <a:cxnLst/>
            <a:rect l="l" t="t" r="r" b="b"/>
            <a:pathLst>
              <a:path w="1998345" h="6350">
                <a:moveTo>
                  <a:pt x="0" y="0"/>
                </a:moveTo>
                <a:lnTo>
                  <a:pt x="1997964" y="0"/>
                </a:lnTo>
                <a:lnTo>
                  <a:pt x="1997964" y="6350"/>
                </a:lnTo>
                <a:lnTo>
                  <a:pt x="0" y="6350"/>
                </a:lnTo>
                <a:lnTo>
                  <a:pt x="0" y="0"/>
                </a:lnTo>
                <a:close/>
              </a:path>
            </a:pathLst>
          </a:custGeom>
          <a:solidFill>
            <a:srgbClr val="4890DA"/>
          </a:solidFill>
        </p:spPr>
        <p:txBody>
          <a:bodyPr wrap="square" lIns="0" tIns="0" rIns="0" bIns="0" rtlCol="0"/>
          <a:lstStyle/>
          <a:p>
            <a:endParaRPr/>
          </a:p>
        </p:txBody>
      </p:sp>
      <p:sp>
        <p:nvSpPr>
          <p:cNvPr id="21" name="object 21">
            <a:extLst>
              <a:ext uri="{FF2B5EF4-FFF2-40B4-BE49-F238E27FC236}">
                <a16:creationId xmlns:a16="http://schemas.microsoft.com/office/drawing/2014/main" id="{87351597-7CBE-4F4C-A9F2-EA989573EE2E}"/>
              </a:ext>
            </a:extLst>
          </p:cNvPr>
          <p:cNvSpPr txBox="1"/>
          <p:nvPr/>
        </p:nvSpPr>
        <p:spPr>
          <a:xfrm>
            <a:off x="5246430" y="4820468"/>
            <a:ext cx="1998345" cy="169974"/>
          </a:xfrm>
          <a:prstGeom prst="rect">
            <a:avLst/>
          </a:prstGeom>
          <a:solidFill>
            <a:srgbClr val="4890DA"/>
          </a:solidFill>
        </p:spPr>
        <p:txBody>
          <a:bodyPr vert="horz" wrap="square" lIns="36000" tIns="36000" rIns="36000" bIns="36000" rtlCol="0">
            <a:spAutoFit/>
          </a:bodyPr>
          <a:lstStyle/>
          <a:p>
            <a:pPr marL="35560" marR="411480">
              <a:lnSpc>
                <a:spcPct val="79200"/>
              </a:lnSpc>
              <a:spcBef>
                <a:spcPts val="350"/>
              </a:spcBef>
            </a:pPr>
            <a:r>
              <a:rPr lang="en-GB" sz="800" b="1">
                <a:solidFill>
                  <a:srgbClr val="FFFFFF"/>
                </a:solidFill>
                <a:latin typeface="Zurich Sans" panose="02000500000000000000" pitchFamily="2" charset="0"/>
                <a:cs typeface="Zurich Sans"/>
              </a:rPr>
              <a:t>Volatility </a:t>
            </a:r>
            <a:r>
              <a:rPr lang="en-GB" sz="800" b="1" spc="-5">
                <a:solidFill>
                  <a:srgbClr val="FFFFFF"/>
                </a:solidFill>
                <a:latin typeface="Zurich Sans" panose="02000500000000000000" pitchFamily="2" charset="0"/>
                <a:cs typeface="Zurich Sans"/>
              </a:rPr>
              <a:t>(as at 28/02/25)</a:t>
            </a:r>
            <a:endParaRPr sz="800" b="1">
              <a:latin typeface="Zurich Sans" panose="02000500000000000000" pitchFamily="2" charset="0"/>
              <a:cs typeface="Zurich Sans"/>
            </a:endParaRPr>
          </a:p>
        </p:txBody>
      </p:sp>
      <p:sp>
        <p:nvSpPr>
          <p:cNvPr id="24" name="object 24">
            <a:extLst>
              <a:ext uri="{FF2B5EF4-FFF2-40B4-BE49-F238E27FC236}">
                <a16:creationId xmlns:a16="http://schemas.microsoft.com/office/drawing/2014/main" id="{6192CA2E-36F5-974F-B996-A4566F424136}"/>
              </a:ext>
            </a:extLst>
          </p:cNvPr>
          <p:cNvSpPr txBox="1"/>
          <p:nvPr/>
        </p:nvSpPr>
        <p:spPr>
          <a:xfrm>
            <a:off x="3059938" y="2805858"/>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sz="800" b="1">
                <a:solidFill>
                  <a:srgbClr val="FFFFFF"/>
                </a:solidFill>
                <a:latin typeface="Zurich Sans"/>
                <a:cs typeface="Zurich Sans"/>
              </a:rPr>
              <a:t>Cumulative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sp>
        <p:nvSpPr>
          <p:cNvPr id="25" name="object 25">
            <a:extLst>
              <a:ext uri="{FF2B5EF4-FFF2-40B4-BE49-F238E27FC236}">
                <a16:creationId xmlns:a16="http://schemas.microsoft.com/office/drawing/2014/main" id="{63CABF9D-5D2C-7141-3F51-B8AD2AA0301D}"/>
              </a:ext>
            </a:extLst>
          </p:cNvPr>
          <p:cNvSpPr txBox="1"/>
          <p:nvPr/>
        </p:nvSpPr>
        <p:spPr>
          <a:xfrm>
            <a:off x="3059937" y="2976946"/>
            <a:ext cx="4211228" cy="381515"/>
          </a:xfrm>
          <a:prstGeom prst="rect">
            <a:avLst/>
          </a:prstGeom>
        </p:spPr>
        <p:txBody>
          <a:bodyPr vert="horz" wrap="square" lIns="0" tIns="70485" rIns="0" bIns="0" rtlCol="0" anchor="t">
            <a:spAutoFit/>
          </a:bodyPr>
          <a:lstStyle/>
          <a:p>
            <a:pPr marR="156845" algn="l">
              <a:spcBef>
                <a:spcPts val="555"/>
              </a:spcBef>
              <a:tabLst>
                <a:tab pos="789305" algn="l"/>
                <a:tab pos="1374775" algn="l"/>
                <a:tab pos="2091689" algn="l"/>
                <a:tab pos="2827655" algn="l"/>
              </a:tabLst>
            </a:pPr>
            <a:r>
              <a:rPr lang="en-US" sz="800">
                <a:solidFill>
                  <a:srgbClr val="142863"/>
                </a:solidFill>
                <a:latin typeface="Zurich Sans"/>
                <a:cs typeface="Zurich Sans"/>
              </a:rPr>
              <a:t>                          1 Month     3 Months      6</a:t>
            </a:r>
            <a:r>
              <a:rPr sz="800" spc="-10">
                <a:solidFill>
                  <a:srgbClr val="142863"/>
                </a:solidFill>
                <a:latin typeface="Zurich Sans"/>
                <a:cs typeface="Zurich Sans"/>
              </a:rPr>
              <a:t> Months</a:t>
            </a:r>
            <a:r>
              <a:rPr lang="en-GB" sz="800" spc="-10">
                <a:solidFill>
                  <a:srgbClr val="142863"/>
                </a:solidFill>
                <a:latin typeface="Zurich Sans"/>
                <a:cs typeface="Zurich Sans"/>
              </a:rPr>
              <a:t>       </a:t>
            </a:r>
            <a:r>
              <a:rPr sz="800">
                <a:solidFill>
                  <a:srgbClr val="142863"/>
                </a:solidFill>
                <a:latin typeface="Zurich Sans"/>
                <a:cs typeface="Zurich Sans"/>
              </a:rPr>
              <a:t>1 </a:t>
            </a:r>
            <a:r>
              <a:rPr sz="800" spc="-20">
                <a:solidFill>
                  <a:srgbClr val="142863"/>
                </a:solidFill>
                <a:latin typeface="Zurich Sans"/>
                <a:cs typeface="Zurich Sans"/>
              </a:rPr>
              <a:t>Year</a:t>
            </a:r>
            <a:r>
              <a:rPr lang="en-GB" sz="800" spc="-20">
                <a:solidFill>
                  <a:srgbClr val="142863"/>
                </a:solidFill>
                <a:latin typeface="Zurich Sans"/>
                <a:cs typeface="Zurich Sans"/>
              </a:rPr>
              <a:t>       </a:t>
            </a:r>
            <a:r>
              <a:rPr sz="800">
                <a:solidFill>
                  <a:srgbClr val="142863"/>
                </a:solidFill>
                <a:latin typeface="Zurich Sans"/>
                <a:cs typeface="Zurich Sans"/>
              </a:rPr>
              <a:t>3 </a:t>
            </a:r>
            <a:r>
              <a:rPr sz="800" spc="-10">
                <a:solidFill>
                  <a:srgbClr val="142863"/>
                </a:solidFill>
                <a:latin typeface="Zurich Sans"/>
                <a:cs typeface="Zurich Sans"/>
              </a:rPr>
              <a:t>Years</a:t>
            </a:r>
            <a:r>
              <a:rPr lang="en-GB" sz="800" spc="-10">
                <a:solidFill>
                  <a:srgbClr val="142863"/>
                </a:solidFill>
                <a:latin typeface="Zurich Sans"/>
                <a:cs typeface="Zurich Sans"/>
              </a:rPr>
              <a:t>       </a:t>
            </a:r>
            <a:r>
              <a:rPr sz="800">
                <a:solidFill>
                  <a:srgbClr val="142863"/>
                </a:solidFill>
                <a:latin typeface="Zurich Sans"/>
                <a:cs typeface="Zurich Sans"/>
              </a:rPr>
              <a:t>5</a:t>
            </a:r>
            <a:r>
              <a:rPr sz="800" spc="-10">
                <a:solidFill>
                  <a:srgbClr val="142863"/>
                </a:solidFill>
                <a:latin typeface="Zurich Sans"/>
                <a:cs typeface="Zurich Sans"/>
              </a:rPr>
              <a:t> Years</a:t>
            </a:r>
            <a:r>
              <a:rPr lang="en-GB" sz="800" spc="-10">
                <a:solidFill>
                  <a:srgbClr val="142863"/>
                </a:solidFill>
                <a:latin typeface="Zurich Sans"/>
                <a:cs typeface="Zurich Sans"/>
              </a:rPr>
              <a:t>       </a:t>
            </a:r>
            <a:r>
              <a:rPr sz="800">
                <a:solidFill>
                  <a:srgbClr val="142863"/>
                </a:solidFill>
                <a:latin typeface="Zurich Sans"/>
                <a:cs typeface="Zurich Sans"/>
              </a:rPr>
              <a:t>10</a:t>
            </a:r>
            <a:r>
              <a:rPr sz="800" spc="-10">
                <a:solidFill>
                  <a:srgbClr val="142863"/>
                </a:solidFill>
                <a:latin typeface="Zurich Sans"/>
                <a:cs typeface="Zurich Sans"/>
              </a:rPr>
              <a:t> Years</a:t>
            </a:r>
            <a:endParaRPr lang="en-GB" sz="800">
              <a:latin typeface="Zurich Sans"/>
              <a:cs typeface="Zurich Sans"/>
            </a:endParaRPr>
          </a:p>
          <a:p>
            <a:pPr marR="188595" algn="l">
              <a:spcBef>
                <a:spcPts val="455"/>
              </a:spcBef>
              <a:tabLst>
                <a:tab pos="838835" algn="l"/>
                <a:tab pos="1542415" algn="l"/>
                <a:tab pos="2146300" algn="l"/>
                <a:tab pos="2829560" algn="l"/>
                <a:tab pos="3620135" algn="l"/>
              </a:tabLst>
            </a:pPr>
            <a:r>
              <a:rPr lang="en-GB" sz="800">
                <a:solidFill>
                  <a:srgbClr val="142863"/>
                </a:solidFill>
                <a:latin typeface="Zurich Sans"/>
                <a:cs typeface="Zurich Sans"/>
              </a:rPr>
              <a:t>% </a:t>
            </a:r>
            <a:r>
              <a:rPr lang="en-GB" sz="800" spc="-10">
                <a:solidFill>
                  <a:srgbClr val="142863"/>
                </a:solidFill>
                <a:latin typeface="Zurich Sans"/>
                <a:cs typeface="Zurich Sans"/>
              </a:rPr>
              <a:t>Growth         1.95%          2.95%             3.95%               9.95%     </a:t>
            </a:r>
            <a:r>
              <a:rPr lang="en-GB" sz="800">
                <a:solidFill>
                  <a:srgbClr val="142863"/>
                </a:solidFill>
                <a:latin typeface="Zurich Sans"/>
                <a:cs typeface="Zurich Sans"/>
              </a:rPr>
              <a:t>-</a:t>
            </a:r>
            <a:r>
              <a:rPr lang="en-GB" sz="800" spc="-10">
                <a:solidFill>
                  <a:srgbClr val="142863"/>
                </a:solidFill>
                <a:latin typeface="Zurich Sans"/>
                <a:cs typeface="Zurich Sans"/>
              </a:rPr>
              <a:t>21.41%        </a:t>
            </a:r>
            <a:r>
              <a:rPr lang="en-GB" sz="800">
                <a:solidFill>
                  <a:srgbClr val="142863"/>
                </a:solidFill>
                <a:latin typeface="Zurich Sans"/>
                <a:cs typeface="Zurich Sans"/>
              </a:rPr>
              <a:t>-</a:t>
            </a:r>
            <a:r>
              <a:rPr lang="en-GB" sz="800" spc="-10">
                <a:solidFill>
                  <a:srgbClr val="142863"/>
                </a:solidFill>
                <a:latin typeface="Zurich Sans"/>
                <a:cs typeface="Zurich Sans"/>
              </a:rPr>
              <a:t>20.60%     </a:t>
            </a:r>
            <a:r>
              <a:rPr lang="en-GB" sz="800">
                <a:solidFill>
                  <a:srgbClr val="142863"/>
                </a:solidFill>
                <a:latin typeface="Zurich Sans"/>
                <a:cs typeface="Zurich Sans"/>
              </a:rPr>
              <a:t>-</a:t>
            </a:r>
            <a:r>
              <a:rPr lang="en-GB" sz="800" spc="-10">
                <a:solidFill>
                  <a:srgbClr val="142863"/>
                </a:solidFill>
                <a:latin typeface="Zurich Sans"/>
                <a:cs typeface="Zurich Sans"/>
              </a:rPr>
              <a:t>17.19%</a:t>
            </a:r>
            <a:endParaRPr lang="en-GB" sz="800">
              <a:latin typeface="Zurich Sans"/>
              <a:cs typeface="Zurich Sans"/>
            </a:endParaRPr>
          </a:p>
        </p:txBody>
      </p:sp>
      <p:sp>
        <p:nvSpPr>
          <p:cNvPr id="26" name="object 26">
            <a:extLst>
              <a:ext uri="{FF2B5EF4-FFF2-40B4-BE49-F238E27FC236}">
                <a16:creationId xmlns:a16="http://schemas.microsoft.com/office/drawing/2014/main" id="{3C55DF3A-2F31-9879-7FB3-0494582804C0}"/>
              </a:ext>
            </a:extLst>
          </p:cNvPr>
          <p:cNvSpPr txBox="1"/>
          <p:nvPr/>
        </p:nvSpPr>
        <p:spPr>
          <a:xfrm>
            <a:off x="3680076" y="3998176"/>
            <a:ext cx="653415" cy="249554"/>
          </a:xfrm>
          <a:prstGeom prst="rect">
            <a:avLst/>
          </a:prstGeom>
        </p:spPr>
        <p:txBody>
          <a:bodyPr vert="horz" wrap="square" lIns="0" tIns="12700" rIns="0" bIns="0" rtlCol="0">
            <a:spAutoFit/>
          </a:bodyPr>
          <a:lstStyle/>
          <a:p>
            <a:pPr marL="12700" algn="l">
              <a:lnSpc>
                <a:spcPts val="880"/>
              </a:lnSpc>
              <a:spcBef>
                <a:spcPts val="100"/>
              </a:spcBef>
            </a:pPr>
            <a:r>
              <a:rPr sz="800">
                <a:solidFill>
                  <a:srgbClr val="142863"/>
                </a:solidFill>
                <a:latin typeface="Zurich Sans"/>
                <a:cs typeface="Zurich Sans"/>
              </a:rPr>
              <a:t>30/11/2023 </a:t>
            </a:r>
            <a:r>
              <a:rPr sz="800" spc="-25">
                <a:solidFill>
                  <a:srgbClr val="142863"/>
                </a:solidFill>
                <a:latin typeface="Zurich Sans"/>
                <a:cs typeface="Zurich Sans"/>
              </a:rPr>
              <a:t>to</a:t>
            </a:r>
            <a:endParaRPr lang="en-US" sz="800">
              <a:latin typeface="Zurich Sans"/>
              <a:cs typeface="Zurich Sans"/>
            </a:endParaRPr>
          </a:p>
          <a:p>
            <a:pPr marL="70485" algn="l">
              <a:lnSpc>
                <a:spcPts val="880"/>
              </a:lnSpc>
            </a:pPr>
            <a:r>
              <a:rPr lang="en-US" sz="800" spc="-10">
                <a:solidFill>
                  <a:srgbClr val="142863"/>
                </a:solidFill>
                <a:latin typeface="Zurich Sans"/>
                <a:cs typeface="Zurich Sans"/>
              </a:rPr>
              <a:t>30/11/2024</a:t>
            </a:r>
            <a:endParaRPr lang="en-US" sz="800">
              <a:latin typeface="Zurich Sans"/>
              <a:cs typeface="Zurich Sans"/>
            </a:endParaRPr>
          </a:p>
        </p:txBody>
      </p:sp>
      <p:sp>
        <p:nvSpPr>
          <p:cNvPr id="27" name="object 27">
            <a:extLst>
              <a:ext uri="{FF2B5EF4-FFF2-40B4-BE49-F238E27FC236}">
                <a16:creationId xmlns:a16="http://schemas.microsoft.com/office/drawing/2014/main" id="{4E8E7C27-4B39-2475-C8A8-82835AF52C1B}"/>
              </a:ext>
            </a:extLst>
          </p:cNvPr>
          <p:cNvSpPr txBox="1"/>
          <p:nvPr/>
        </p:nvSpPr>
        <p:spPr>
          <a:xfrm>
            <a:off x="4401309" y="3998176"/>
            <a:ext cx="65341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30/11/2022 </a:t>
            </a:r>
            <a:r>
              <a:rPr sz="800" spc="-25">
                <a:solidFill>
                  <a:srgbClr val="142863"/>
                </a:solidFill>
                <a:latin typeface="Zurich Sans"/>
                <a:cs typeface="Zurich Sans"/>
              </a:rPr>
              <a:t>to</a:t>
            </a:r>
            <a:endParaRPr sz="800">
              <a:latin typeface="Zurich Sans"/>
              <a:cs typeface="Zurich Sans"/>
            </a:endParaRPr>
          </a:p>
          <a:p>
            <a:pPr marL="69215">
              <a:lnSpc>
                <a:spcPts val="880"/>
              </a:lnSpc>
            </a:pPr>
            <a:r>
              <a:rPr sz="800" spc="-10">
                <a:solidFill>
                  <a:srgbClr val="142863"/>
                </a:solidFill>
                <a:latin typeface="Zurich Sans"/>
                <a:cs typeface="Zurich Sans"/>
              </a:rPr>
              <a:t>30/11/2023</a:t>
            </a:r>
            <a:endParaRPr sz="800">
              <a:latin typeface="Zurich Sans"/>
              <a:cs typeface="Zurich Sans"/>
            </a:endParaRPr>
          </a:p>
        </p:txBody>
      </p:sp>
      <p:sp>
        <p:nvSpPr>
          <p:cNvPr id="28" name="object 28">
            <a:extLst>
              <a:ext uri="{FF2B5EF4-FFF2-40B4-BE49-F238E27FC236}">
                <a16:creationId xmlns:a16="http://schemas.microsoft.com/office/drawing/2014/main" id="{670E6BC1-341A-1A56-6FBD-EC2ECCC75EC9}"/>
              </a:ext>
            </a:extLst>
          </p:cNvPr>
          <p:cNvSpPr txBox="1"/>
          <p:nvPr/>
        </p:nvSpPr>
        <p:spPr>
          <a:xfrm>
            <a:off x="5130038" y="3998176"/>
            <a:ext cx="63055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30/11/2021 </a:t>
            </a:r>
            <a:r>
              <a:rPr sz="800" spc="-25">
                <a:solidFill>
                  <a:srgbClr val="142863"/>
                </a:solidFill>
                <a:latin typeface="Zurich Sans"/>
                <a:cs typeface="Zurich Sans"/>
              </a:rPr>
              <a:t>to</a:t>
            </a:r>
            <a:endParaRPr sz="800">
              <a:latin typeface="Zurich Sans"/>
              <a:cs typeface="Zurich Sans"/>
            </a:endParaRPr>
          </a:p>
          <a:p>
            <a:pPr marL="58419">
              <a:lnSpc>
                <a:spcPts val="880"/>
              </a:lnSpc>
            </a:pPr>
            <a:r>
              <a:rPr sz="800" spc="-10">
                <a:solidFill>
                  <a:srgbClr val="142863"/>
                </a:solidFill>
                <a:latin typeface="Zurich Sans"/>
                <a:cs typeface="Zurich Sans"/>
              </a:rPr>
              <a:t>30/11/2022</a:t>
            </a:r>
            <a:endParaRPr sz="800">
              <a:latin typeface="Zurich Sans"/>
              <a:cs typeface="Zurich Sans"/>
            </a:endParaRPr>
          </a:p>
        </p:txBody>
      </p:sp>
      <p:sp>
        <p:nvSpPr>
          <p:cNvPr id="29" name="object 29">
            <a:extLst>
              <a:ext uri="{FF2B5EF4-FFF2-40B4-BE49-F238E27FC236}">
                <a16:creationId xmlns:a16="http://schemas.microsoft.com/office/drawing/2014/main" id="{A3CA54C4-0AA3-8F75-AC67-7333DF56A040}"/>
              </a:ext>
            </a:extLst>
          </p:cNvPr>
          <p:cNvSpPr txBox="1"/>
          <p:nvPr/>
        </p:nvSpPr>
        <p:spPr>
          <a:xfrm>
            <a:off x="5803020" y="3998176"/>
            <a:ext cx="662305" cy="249554"/>
          </a:xfrm>
          <a:prstGeom prst="rect">
            <a:avLst/>
          </a:prstGeom>
        </p:spPr>
        <p:txBody>
          <a:bodyPr vert="horz" wrap="square" lIns="0" tIns="12700" rIns="0" bIns="0" rtlCol="0">
            <a:spAutoFit/>
          </a:bodyPr>
          <a:lstStyle/>
          <a:p>
            <a:pPr algn="ctr">
              <a:lnSpc>
                <a:spcPts val="880"/>
              </a:lnSpc>
              <a:spcBef>
                <a:spcPts val="100"/>
              </a:spcBef>
            </a:pPr>
            <a:r>
              <a:rPr sz="800">
                <a:solidFill>
                  <a:srgbClr val="142863"/>
                </a:solidFill>
                <a:latin typeface="Zurich Sans"/>
                <a:cs typeface="Zurich Sans"/>
              </a:rPr>
              <a:t>30/11/2020 </a:t>
            </a:r>
            <a:r>
              <a:rPr sz="800" spc="-25">
                <a:solidFill>
                  <a:srgbClr val="142863"/>
                </a:solidFill>
                <a:latin typeface="Zurich Sans"/>
                <a:cs typeface="Zurich Sans"/>
              </a:rPr>
              <a:t>to</a:t>
            </a:r>
            <a:endParaRPr sz="800">
              <a:latin typeface="Zurich Sans"/>
              <a:cs typeface="Zurich Sans"/>
            </a:endParaRPr>
          </a:p>
          <a:p>
            <a:pPr algn="ctr">
              <a:lnSpc>
                <a:spcPts val="880"/>
              </a:lnSpc>
            </a:pPr>
            <a:r>
              <a:rPr sz="800" spc="-10">
                <a:solidFill>
                  <a:srgbClr val="142863"/>
                </a:solidFill>
                <a:latin typeface="Zurich Sans"/>
                <a:cs typeface="Zurich Sans"/>
              </a:rPr>
              <a:t>30/11/2021</a:t>
            </a:r>
            <a:endParaRPr sz="800">
              <a:latin typeface="Zurich Sans"/>
              <a:cs typeface="Zurich Sans"/>
            </a:endParaRPr>
          </a:p>
        </p:txBody>
      </p:sp>
      <p:sp>
        <p:nvSpPr>
          <p:cNvPr id="30" name="object 30">
            <a:extLst>
              <a:ext uri="{FF2B5EF4-FFF2-40B4-BE49-F238E27FC236}">
                <a16:creationId xmlns:a16="http://schemas.microsoft.com/office/drawing/2014/main" id="{A63C391E-D5A0-80E3-292C-A2E9774FC9A1}"/>
              </a:ext>
            </a:extLst>
          </p:cNvPr>
          <p:cNvSpPr txBox="1"/>
          <p:nvPr/>
        </p:nvSpPr>
        <p:spPr>
          <a:xfrm>
            <a:off x="6538731" y="3998176"/>
            <a:ext cx="635635" cy="249554"/>
          </a:xfrm>
          <a:prstGeom prst="rect">
            <a:avLst/>
          </a:prstGeom>
        </p:spPr>
        <p:txBody>
          <a:bodyPr vert="horz" wrap="square" lIns="0" tIns="12700" rIns="0" bIns="0" rtlCol="0">
            <a:spAutoFit/>
          </a:bodyPr>
          <a:lstStyle/>
          <a:p>
            <a:pPr marL="12700">
              <a:lnSpc>
                <a:spcPts val="880"/>
              </a:lnSpc>
              <a:spcBef>
                <a:spcPts val="100"/>
              </a:spcBef>
            </a:pPr>
            <a:r>
              <a:rPr sz="800">
                <a:solidFill>
                  <a:srgbClr val="142863"/>
                </a:solidFill>
                <a:latin typeface="Zurich Sans"/>
                <a:cs typeface="Zurich Sans"/>
              </a:rPr>
              <a:t>30/11/2019 </a:t>
            </a:r>
            <a:r>
              <a:rPr sz="800" spc="-25">
                <a:solidFill>
                  <a:srgbClr val="142863"/>
                </a:solidFill>
                <a:latin typeface="Zurich Sans"/>
                <a:cs typeface="Zurich Sans"/>
              </a:rPr>
              <a:t>to</a:t>
            </a:r>
            <a:endParaRPr sz="800">
              <a:latin typeface="Zurich Sans"/>
              <a:cs typeface="Zurich Sans"/>
            </a:endParaRPr>
          </a:p>
          <a:p>
            <a:pPr marL="56515">
              <a:lnSpc>
                <a:spcPts val="880"/>
              </a:lnSpc>
            </a:pPr>
            <a:r>
              <a:rPr sz="800" spc="-10">
                <a:solidFill>
                  <a:srgbClr val="142863"/>
                </a:solidFill>
                <a:latin typeface="Zurich Sans"/>
                <a:cs typeface="Zurich Sans"/>
              </a:rPr>
              <a:t>30/11/2020</a:t>
            </a:r>
            <a:endParaRPr sz="800">
              <a:latin typeface="Zurich Sans"/>
              <a:cs typeface="Zurich Sans"/>
            </a:endParaRPr>
          </a:p>
        </p:txBody>
      </p:sp>
      <p:sp>
        <p:nvSpPr>
          <p:cNvPr id="31" name="object 31">
            <a:extLst>
              <a:ext uri="{FF2B5EF4-FFF2-40B4-BE49-F238E27FC236}">
                <a16:creationId xmlns:a16="http://schemas.microsoft.com/office/drawing/2014/main" id="{5BD60264-676D-8CEE-6E34-0C5BD96A195B}"/>
              </a:ext>
            </a:extLst>
          </p:cNvPr>
          <p:cNvSpPr txBox="1"/>
          <p:nvPr/>
        </p:nvSpPr>
        <p:spPr>
          <a:xfrm>
            <a:off x="3047247" y="4279734"/>
            <a:ext cx="45656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 </a:t>
            </a:r>
            <a:r>
              <a:rPr sz="800" spc="-10">
                <a:solidFill>
                  <a:srgbClr val="142863"/>
                </a:solidFill>
                <a:latin typeface="Zurich Sans"/>
                <a:cs typeface="Zurich Sans"/>
              </a:rPr>
              <a:t>Growth</a:t>
            </a:r>
            <a:endParaRPr sz="800">
              <a:latin typeface="Zurich Sans"/>
              <a:cs typeface="Zurich Sans"/>
            </a:endParaRPr>
          </a:p>
        </p:txBody>
      </p:sp>
      <p:sp>
        <p:nvSpPr>
          <p:cNvPr id="32" name="object 32">
            <a:extLst>
              <a:ext uri="{FF2B5EF4-FFF2-40B4-BE49-F238E27FC236}">
                <a16:creationId xmlns:a16="http://schemas.microsoft.com/office/drawing/2014/main" id="{3DE94DB2-8686-7A43-D854-FC27F6A4A1E3}"/>
              </a:ext>
            </a:extLst>
          </p:cNvPr>
          <p:cNvSpPr txBox="1"/>
          <p:nvPr/>
        </p:nvSpPr>
        <p:spPr>
          <a:xfrm>
            <a:off x="3823725" y="4279734"/>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33" name="object 33">
            <a:extLst>
              <a:ext uri="{FF2B5EF4-FFF2-40B4-BE49-F238E27FC236}">
                <a16:creationId xmlns:a16="http://schemas.microsoft.com/office/drawing/2014/main" id="{87114653-9F83-CB70-4447-02796F72F8D6}"/>
              </a:ext>
            </a:extLst>
          </p:cNvPr>
          <p:cNvSpPr txBox="1"/>
          <p:nvPr/>
        </p:nvSpPr>
        <p:spPr>
          <a:xfrm>
            <a:off x="4565027" y="4279734"/>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34" name="object 34">
            <a:extLst>
              <a:ext uri="{FF2B5EF4-FFF2-40B4-BE49-F238E27FC236}">
                <a16:creationId xmlns:a16="http://schemas.microsoft.com/office/drawing/2014/main" id="{027725F5-0E02-FA5E-1686-571ACD7500F1}"/>
              </a:ext>
            </a:extLst>
          </p:cNvPr>
          <p:cNvSpPr txBox="1"/>
          <p:nvPr/>
        </p:nvSpPr>
        <p:spPr>
          <a:xfrm>
            <a:off x="5218947" y="4279734"/>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35" name="object 35">
            <a:extLst>
              <a:ext uri="{FF2B5EF4-FFF2-40B4-BE49-F238E27FC236}">
                <a16:creationId xmlns:a16="http://schemas.microsoft.com/office/drawing/2014/main" id="{4A818742-EB8E-11D1-54C8-077D7A18DF43}"/>
              </a:ext>
            </a:extLst>
          </p:cNvPr>
          <p:cNvSpPr txBox="1"/>
          <p:nvPr/>
        </p:nvSpPr>
        <p:spPr>
          <a:xfrm>
            <a:off x="5977642" y="4279734"/>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36" name="object 36">
            <a:extLst>
              <a:ext uri="{FF2B5EF4-FFF2-40B4-BE49-F238E27FC236}">
                <a16:creationId xmlns:a16="http://schemas.microsoft.com/office/drawing/2014/main" id="{18E33251-6CF0-E9BB-D681-0DD18FB79299}"/>
              </a:ext>
            </a:extLst>
          </p:cNvPr>
          <p:cNvSpPr txBox="1"/>
          <p:nvPr/>
        </p:nvSpPr>
        <p:spPr>
          <a:xfrm>
            <a:off x="6703066" y="4279734"/>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37" name="object 37">
            <a:extLst>
              <a:ext uri="{FF2B5EF4-FFF2-40B4-BE49-F238E27FC236}">
                <a16:creationId xmlns:a16="http://schemas.microsoft.com/office/drawing/2014/main" id="{87EDC0F4-D6C1-4522-3377-5C0476C763C2}"/>
              </a:ext>
            </a:extLst>
          </p:cNvPr>
          <p:cNvSpPr txBox="1"/>
          <p:nvPr/>
        </p:nvSpPr>
        <p:spPr>
          <a:xfrm>
            <a:off x="3047247" y="4459691"/>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54" name="object 54">
            <a:extLst>
              <a:ext uri="{FF2B5EF4-FFF2-40B4-BE49-F238E27FC236}">
                <a16:creationId xmlns:a16="http://schemas.microsoft.com/office/drawing/2014/main" id="{4FE19E87-A62A-A0A8-44FD-65FC69320349}"/>
              </a:ext>
            </a:extLst>
          </p:cNvPr>
          <p:cNvSpPr txBox="1"/>
          <p:nvPr/>
        </p:nvSpPr>
        <p:spPr>
          <a:xfrm>
            <a:off x="3068954" y="5456900"/>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Fund performance vs sector </a:t>
            </a:r>
            <a:r>
              <a:rPr sz="800" b="1">
                <a:solidFill>
                  <a:srgbClr val="FFFFFF"/>
                </a:solidFill>
                <a:latin typeface="Zurich Sans"/>
                <a:cs typeface="Zurich Sans"/>
              </a:rPr>
              <a:t>(5</a:t>
            </a:r>
            <a:r>
              <a:rPr sz="800" b="1" spc="-5">
                <a:solidFill>
                  <a:srgbClr val="FFFFFF"/>
                </a:solidFill>
                <a:latin typeface="Zurich Sans"/>
                <a:cs typeface="Zurich Sans"/>
              </a:rPr>
              <a:t> </a:t>
            </a:r>
            <a:r>
              <a:rPr sz="800" b="1">
                <a:solidFill>
                  <a:srgbClr val="FFFFFF"/>
                </a:solidFill>
                <a:latin typeface="Zurich Sans"/>
                <a:cs typeface="Zurich Sans"/>
              </a:rPr>
              <a:t>years</a:t>
            </a:r>
            <a:r>
              <a:rPr lang="en-GB" sz="800" b="1">
                <a:solidFill>
                  <a:srgbClr val="FFFFFF"/>
                </a:solidFill>
                <a:latin typeface="Zurich Sans"/>
                <a:cs typeface="Zurich Sans"/>
              </a:rPr>
              <a:t>/since inception)</a:t>
            </a:r>
            <a:endParaRPr lang="en-GB" sz="800" b="1" spc="-10">
              <a:solidFill>
                <a:srgbClr val="FFFFFF"/>
              </a:solidFill>
              <a:latin typeface="Zurich Sans"/>
              <a:cs typeface="Zurich Sans"/>
            </a:endParaRPr>
          </a:p>
        </p:txBody>
      </p:sp>
      <p:grpSp>
        <p:nvGrpSpPr>
          <p:cNvPr id="60" name="object 60">
            <a:extLst>
              <a:ext uri="{FF2B5EF4-FFF2-40B4-BE49-F238E27FC236}">
                <a16:creationId xmlns:a16="http://schemas.microsoft.com/office/drawing/2014/main" id="{5CE1735A-4995-5184-C93E-BF5CE13F3880}"/>
              </a:ext>
            </a:extLst>
          </p:cNvPr>
          <p:cNvGrpSpPr/>
          <p:nvPr/>
        </p:nvGrpSpPr>
        <p:grpSpPr>
          <a:xfrm>
            <a:off x="3390462" y="5790361"/>
            <a:ext cx="3591560" cy="1219200"/>
            <a:chOff x="3517138" y="5908608"/>
            <a:chExt cx="3591560" cy="1219200"/>
          </a:xfrm>
        </p:grpSpPr>
        <p:sp>
          <p:nvSpPr>
            <p:cNvPr id="61" name="object 61">
              <a:extLst>
                <a:ext uri="{FF2B5EF4-FFF2-40B4-BE49-F238E27FC236}">
                  <a16:creationId xmlns:a16="http://schemas.microsoft.com/office/drawing/2014/main" id="{F6F39B32-BE46-5A19-FD80-3C931BA562E8}"/>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ln>
          </p:spPr>
          <p:txBody>
            <a:bodyPr wrap="square" lIns="0" tIns="0" rIns="0" bIns="0" rtlCol="0"/>
            <a:lstStyle/>
            <a:p>
              <a:endParaRPr/>
            </a:p>
          </p:txBody>
        </p:sp>
        <p:sp>
          <p:nvSpPr>
            <p:cNvPr id="62" name="object 62">
              <a:extLst>
                <a:ext uri="{FF2B5EF4-FFF2-40B4-BE49-F238E27FC236}">
                  <a16:creationId xmlns:a16="http://schemas.microsoft.com/office/drawing/2014/main" id="{1C34F53A-1256-3377-BF9E-92E13AB2FF60}"/>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3" name="object 63">
              <a:extLst>
                <a:ext uri="{FF2B5EF4-FFF2-40B4-BE49-F238E27FC236}">
                  <a16:creationId xmlns:a16="http://schemas.microsoft.com/office/drawing/2014/main" id="{968F7AB5-B836-D7B3-5B1F-A87EC554E3A5}"/>
                </a:ext>
              </a:extLst>
            </p:cNvPr>
            <p:cNvSpPr/>
            <p:nvPr/>
          </p:nvSpPr>
          <p:spPr>
            <a:xfrm>
              <a:off x="4445888"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4" name="object 64">
              <a:extLst>
                <a:ext uri="{FF2B5EF4-FFF2-40B4-BE49-F238E27FC236}">
                  <a16:creationId xmlns:a16="http://schemas.microsoft.com/office/drawing/2014/main" id="{5853D587-2832-4746-D0DA-A10D6BE5BD1E}"/>
                </a:ext>
              </a:extLst>
            </p:cNvPr>
            <p:cNvSpPr/>
            <p:nvPr/>
          </p:nvSpPr>
          <p:spPr>
            <a:xfrm>
              <a:off x="5341239"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5" name="object 65">
              <a:extLst>
                <a:ext uri="{FF2B5EF4-FFF2-40B4-BE49-F238E27FC236}">
                  <a16:creationId xmlns:a16="http://schemas.microsoft.com/office/drawing/2014/main" id="{E47BA0A7-B2FE-797A-D638-41CAB93423D7}"/>
                </a:ext>
              </a:extLst>
            </p:cNvPr>
            <p:cNvSpPr/>
            <p:nvPr/>
          </p:nvSpPr>
          <p:spPr>
            <a:xfrm>
              <a:off x="62461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6" name="object 66">
              <a:extLst>
                <a:ext uri="{FF2B5EF4-FFF2-40B4-BE49-F238E27FC236}">
                  <a16:creationId xmlns:a16="http://schemas.microsoft.com/office/drawing/2014/main" id="{74533238-844A-E1C4-1F9D-9CD6268C25F6}"/>
                </a:ext>
              </a:extLst>
            </p:cNvPr>
            <p:cNvSpPr/>
            <p:nvPr/>
          </p:nvSpPr>
          <p:spPr>
            <a:xfrm>
              <a:off x="710336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CDCCCA"/>
              </a:solidFill>
              <a:prstDash val="sysDash"/>
            </a:ln>
          </p:spPr>
          <p:txBody>
            <a:bodyPr wrap="square" lIns="0" tIns="0" rIns="0" bIns="0" rtlCol="0"/>
            <a:lstStyle/>
            <a:p>
              <a:endParaRPr/>
            </a:p>
          </p:txBody>
        </p:sp>
        <p:sp>
          <p:nvSpPr>
            <p:cNvPr id="67" name="object 67">
              <a:extLst>
                <a:ext uri="{FF2B5EF4-FFF2-40B4-BE49-F238E27FC236}">
                  <a16:creationId xmlns:a16="http://schemas.microsoft.com/office/drawing/2014/main" id="{7E497D15-6C02-BEE9-8505-D7A9C4B0A862}"/>
                </a:ext>
              </a:extLst>
            </p:cNvPr>
            <p:cNvSpPr/>
            <p:nvPr/>
          </p:nvSpPr>
          <p:spPr>
            <a:xfrm>
              <a:off x="3545713" y="688492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8" name="object 68">
              <a:extLst>
                <a:ext uri="{FF2B5EF4-FFF2-40B4-BE49-F238E27FC236}">
                  <a16:creationId xmlns:a16="http://schemas.microsoft.com/office/drawing/2014/main" id="{733F3932-1864-52FE-D158-36319C929FB3}"/>
                </a:ext>
              </a:extLst>
            </p:cNvPr>
            <p:cNvSpPr/>
            <p:nvPr/>
          </p:nvSpPr>
          <p:spPr>
            <a:xfrm>
              <a:off x="3545713" y="64086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69" name="object 69">
              <a:extLst>
                <a:ext uri="{FF2B5EF4-FFF2-40B4-BE49-F238E27FC236}">
                  <a16:creationId xmlns:a16="http://schemas.microsoft.com/office/drawing/2014/main" id="{C62A20AC-F262-ADA9-175B-59DB3D53A3E0}"/>
                </a:ext>
              </a:extLst>
            </p:cNvPr>
            <p:cNvSpPr/>
            <p:nvPr/>
          </p:nvSpPr>
          <p:spPr>
            <a:xfrm>
              <a:off x="3545713" y="5913371"/>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CDCCCA"/>
              </a:solidFill>
              <a:prstDash val="sysDash"/>
            </a:ln>
          </p:spPr>
          <p:txBody>
            <a:bodyPr wrap="square" lIns="0" tIns="0" rIns="0" bIns="0" rtlCol="0"/>
            <a:lstStyle/>
            <a:p>
              <a:endParaRPr/>
            </a:p>
          </p:txBody>
        </p:sp>
        <p:sp>
          <p:nvSpPr>
            <p:cNvPr id="70" name="object 70">
              <a:extLst>
                <a:ext uri="{FF2B5EF4-FFF2-40B4-BE49-F238E27FC236}">
                  <a16:creationId xmlns:a16="http://schemas.microsoft.com/office/drawing/2014/main" id="{B72E9404-9606-453F-DD6F-72AA6B616940}"/>
                </a:ext>
              </a:extLst>
            </p:cNvPr>
            <p:cNvSpPr/>
            <p:nvPr/>
          </p:nvSpPr>
          <p:spPr>
            <a:xfrm>
              <a:off x="35410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1" name="object 71">
              <a:extLst>
                <a:ext uri="{FF2B5EF4-FFF2-40B4-BE49-F238E27FC236}">
                  <a16:creationId xmlns:a16="http://schemas.microsoft.com/office/drawing/2014/main" id="{0688BD8F-0D64-4EE7-3EEF-9408B406F293}"/>
                </a:ext>
              </a:extLst>
            </p:cNvPr>
            <p:cNvSpPr/>
            <p:nvPr/>
          </p:nvSpPr>
          <p:spPr>
            <a:xfrm>
              <a:off x="4445888"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2" name="object 72">
              <a:extLst>
                <a:ext uri="{FF2B5EF4-FFF2-40B4-BE49-F238E27FC236}">
                  <a16:creationId xmlns:a16="http://schemas.microsoft.com/office/drawing/2014/main" id="{27B9A4A4-B2BD-1F51-C6F8-A5E2C2755258}"/>
                </a:ext>
              </a:extLst>
            </p:cNvPr>
            <p:cNvSpPr/>
            <p:nvPr/>
          </p:nvSpPr>
          <p:spPr>
            <a:xfrm>
              <a:off x="5341239"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3" name="object 73">
              <a:extLst>
                <a:ext uri="{FF2B5EF4-FFF2-40B4-BE49-F238E27FC236}">
                  <a16:creationId xmlns:a16="http://schemas.microsoft.com/office/drawing/2014/main" id="{9356D9E4-472C-59B4-3EF6-E1FF96DAF6E2}"/>
                </a:ext>
              </a:extLst>
            </p:cNvPr>
            <p:cNvSpPr/>
            <p:nvPr/>
          </p:nvSpPr>
          <p:spPr>
            <a:xfrm>
              <a:off x="624611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4" name="object 74">
              <a:extLst>
                <a:ext uri="{FF2B5EF4-FFF2-40B4-BE49-F238E27FC236}">
                  <a16:creationId xmlns:a16="http://schemas.microsoft.com/office/drawing/2014/main" id="{DF4C23E8-6D6C-CD76-08BF-628FF9B8C050}"/>
                </a:ext>
              </a:extLst>
            </p:cNvPr>
            <p:cNvSpPr/>
            <p:nvPr/>
          </p:nvSpPr>
          <p:spPr>
            <a:xfrm>
              <a:off x="7103364" y="7099170"/>
              <a:ext cx="0" cy="28575"/>
            </a:xfrm>
            <a:custGeom>
              <a:avLst/>
              <a:gdLst/>
              <a:ahLst/>
              <a:cxnLst/>
              <a:rect l="l" t="t" r="r" b="b"/>
              <a:pathLst>
                <a:path h="28575">
                  <a:moveTo>
                    <a:pt x="0" y="0"/>
                  </a:moveTo>
                  <a:lnTo>
                    <a:pt x="0" y="446"/>
                  </a:lnTo>
                  <a:lnTo>
                    <a:pt x="0" y="3571"/>
                  </a:lnTo>
                  <a:lnTo>
                    <a:pt x="0" y="12055"/>
                  </a:lnTo>
                  <a:lnTo>
                    <a:pt x="0" y="28575"/>
                  </a:lnTo>
                </a:path>
              </a:pathLst>
            </a:custGeom>
            <a:ln w="9525">
              <a:solidFill>
                <a:srgbClr val="404040"/>
              </a:solidFill>
            </a:ln>
          </p:spPr>
          <p:txBody>
            <a:bodyPr wrap="square" lIns="0" tIns="0" rIns="0" bIns="0" rtlCol="0"/>
            <a:lstStyle/>
            <a:p>
              <a:endParaRPr/>
            </a:p>
          </p:txBody>
        </p:sp>
        <p:sp>
          <p:nvSpPr>
            <p:cNvPr id="75" name="object 75">
              <a:extLst>
                <a:ext uri="{FF2B5EF4-FFF2-40B4-BE49-F238E27FC236}">
                  <a16:creationId xmlns:a16="http://schemas.microsoft.com/office/drawing/2014/main" id="{92D007D4-8221-DBB1-9E7B-1395FB1827E8}"/>
                </a:ext>
              </a:extLst>
            </p:cNvPr>
            <p:cNvSpPr/>
            <p:nvPr/>
          </p:nvSpPr>
          <p:spPr>
            <a:xfrm>
              <a:off x="3545713" y="7103996"/>
              <a:ext cx="3552825" cy="0"/>
            </a:xfrm>
            <a:custGeom>
              <a:avLst/>
              <a:gdLst/>
              <a:ahLst/>
              <a:cxnLst/>
              <a:rect l="l" t="t" r="r" b="b"/>
              <a:pathLst>
                <a:path w="3552825">
                  <a:moveTo>
                    <a:pt x="0" y="0"/>
                  </a:moveTo>
                  <a:lnTo>
                    <a:pt x="55512" y="0"/>
                  </a:lnTo>
                  <a:lnTo>
                    <a:pt x="444103" y="0"/>
                  </a:lnTo>
                  <a:lnTo>
                    <a:pt x="1498848" y="0"/>
                  </a:lnTo>
                  <a:lnTo>
                    <a:pt x="3552825" y="0"/>
                  </a:lnTo>
                </a:path>
              </a:pathLst>
            </a:custGeom>
            <a:ln w="9525">
              <a:solidFill>
                <a:srgbClr val="404040"/>
              </a:solidFill>
            </a:ln>
          </p:spPr>
          <p:txBody>
            <a:bodyPr wrap="square" lIns="0" tIns="0" rIns="0" bIns="0" rtlCol="0"/>
            <a:lstStyle/>
            <a:p>
              <a:endParaRPr/>
            </a:p>
          </p:txBody>
        </p:sp>
        <p:sp>
          <p:nvSpPr>
            <p:cNvPr id="76" name="object 76">
              <a:extLst>
                <a:ext uri="{FF2B5EF4-FFF2-40B4-BE49-F238E27FC236}">
                  <a16:creationId xmlns:a16="http://schemas.microsoft.com/office/drawing/2014/main" id="{EB76A03C-E58E-4C9D-3265-FC7CEF6F1977}"/>
                </a:ext>
              </a:extLst>
            </p:cNvPr>
            <p:cNvSpPr/>
            <p:nvPr/>
          </p:nvSpPr>
          <p:spPr>
            <a:xfrm>
              <a:off x="3517138" y="688492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7" name="object 77">
              <a:extLst>
                <a:ext uri="{FF2B5EF4-FFF2-40B4-BE49-F238E27FC236}">
                  <a16:creationId xmlns:a16="http://schemas.microsoft.com/office/drawing/2014/main" id="{5F414C67-BCD8-3B25-6E1A-3BDA9899DD41}"/>
                </a:ext>
              </a:extLst>
            </p:cNvPr>
            <p:cNvSpPr/>
            <p:nvPr/>
          </p:nvSpPr>
          <p:spPr>
            <a:xfrm>
              <a:off x="3517138" y="64086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8" name="object 78">
              <a:extLst>
                <a:ext uri="{FF2B5EF4-FFF2-40B4-BE49-F238E27FC236}">
                  <a16:creationId xmlns:a16="http://schemas.microsoft.com/office/drawing/2014/main" id="{8E3B70B5-0317-8CF4-ECC3-82C28FCC3EA2}"/>
                </a:ext>
              </a:extLst>
            </p:cNvPr>
            <p:cNvSpPr/>
            <p:nvPr/>
          </p:nvSpPr>
          <p:spPr>
            <a:xfrm>
              <a:off x="3517138" y="5913371"/>
              <a:ext cx="28575" cy="0"/>
            </a:xfrm>
            <a:custGeom>
              <a:avLst/>
              <a:gdLst/>
              <a:ahLst/>
              <a:cxnLst/>
              <a:rect l="l" t="t" r="r" b="b"/>
              <a:pathLst>
                <a:path w="28575">
                  <a:moveTo>
                    <a:pt x="28575" y="0"/>
                  </a:moveTo>
                  <a:lnTo>
                    <a:pt x="28128" y="0"/>
                  </a:lnTo>
                  <a:lnTo>
                    <a:pt x="25003" y="0"/>
                  </a:lnTo>
                  <a:lnTo>
                    <a:pt x="16519" y="0"/>
                  </a:lnTo>
                  <a:lnTo>
                    <a:pt x="0" y="0"/>
                  </a:lnTo>
                </a:path>
              </a:pathLst>
            </a:custGeom>
            <a:ln w="9525">
              <a:solidFill>
                <a:srgbClr val="404040"/>
              </a:solidFill>
            </a:ln>
          </p:spPr>
          <p:txBody>
            <a:bodyPr wrap="square" lIns="0" tIns="0" rIns="0" bIns="0" rtlCol="0"/>
            <a:lstStyle/>
            <a:p>
              <a:endParaRPr/>
            </a:p>
          </p:txBody>
        </p:sp>
        <p:sp>
          <p:nvSpPr>
            <p:cNvPr id="79" name="object 79">
              <a:extLst>
                <a:ext uri="{FF2B5EF4-FFF2-40B4-BE49-F238E27FC236}">
                  <a16:creationId xmlns:a16="http://schemas.microsoft.com/office/drawing/2014/main" id="{6B350068-C88C-8A8A-B9B8-759BB34034B1}"/>
                </a:ext>
              </a:extLst>
            </p:cNvPr>
            <p:cNvSpPr/>
            <p:nvPr/>
          </p:nvSpPr>
          <p:spPr>
            <a:xfrm>
              <a:off x="3541014" y="5918070"/>
              <a:ext cx="0" cy="1181100"/>
            </a:xfrm>
            <a:custGeom>
              <a:avLst/>
              <a:gdLst/>
              <a:ahLst/>
              <a:cxnLst/>
              <a:rect l="l" t="t" r="r" b="b"/>
              <a:pathLst>
                <a:path h="1181100">
                  <a:moveTo>
                    <a:pt x="0" y="0"/>
                  </a:moveTo>
                  <a:lnTo>
                    <a:pt x="0" y="18454"/>
                  </a:lnTo>
                  <a:lnTo>
                    <a:pt x="0" y="147637"/>
                  </a:lnTo>
                  <a:lnTo>
                    <a:pt x="0" y="498276"/>
                  </a:lnTo>
                  <a:lnTo>
                    <a:pt x="0" y="1181100"/>
                  </a:lnTo>
                </a:path>
              </a:pathLst>
            </a:custGeom>
            <a:ln w="9525">
              <a:solidFill>
                <a:srgbClr val="404040"/>
              </a:solidFill>
            </a:ln>
          </p:spPr>
          <p:txBody>
            <a:bodyPr wrap="square" lIns="0" tIns="0" rIns="0" bIns="0" rtlCol="0"/>
            <a:lstStyle/>
            <a:p>
              <a:endParaRPr/>
            </a:p>
          </p:txBody>
        </p:sp>
        <p:sp>
          <p:nvSpPr>
            <p:cNvPr id="80" name="object 80">
              <a:extLst>
                <a:ext uri="{FF2B5EF4-FFF2-40B4-BE49-F238E27FC236}">
                  <a16:creationId xmlns:a16="http://schemas.microsoft.com/office/drawing/2014/main" id="{7B56311D-4E5F-685F-1ECA-C3038B8FB480}"/>
                </a:ext>
              </a:extLst>
            </p:cNvPr>
            <p:cNvSpPr/>
            <p:nvPr/>
          </p:nvSpPr>
          <p:spPr>
            <a:xfrm>
              <a:off x="3543808" y="6245349"/>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rgbClr val="22366E"/>
              </a:solidFill>
            </a:ln>
          </p:spPr>
          <p:txBody>
            <a:bodyPr wrap="square" lIns="0" tIns="0" rIns="0" bIns="0" rtlCol="0"/>
            <a:lstStyle/>
            <a:p>
              <a:endParaRPr/>
            </a:p>
          </p:txBody>
        </p:sp>
      </p:grpSp>
      <p:sp>
        <p:nvSpPr>
          <p:cNvPr id="81" name="object 81">
            <a:extLst>
              <a:ext uri="{FF2B5EF4-FFF2-40B4-BE49-F238E27FC236}">
                <a16:creationId xmlns:a16="http://schemas.microsoft.com/office/drawing/2014/main" id="{7A438499-6E65-9C3E-83EA-A686B74CB179}"/>
              </a:ext>
            </a:extLst>
          </p:cNvPr>
          <p:cNvSpPr txBox="1"/>
          <p:nvPr/>
        </p:nvSpPr>
        <p:spPr>
          <a:xfrm>
            <a:off x="3083546" y="6779388"/>
            <a:ext cx="4080283" cy="1234312"/>
          </a:xfrm>
          <a:prstGeom prst="rect">
            <a:avLst/>
          </a:prstGeom>
        </p:spPr>
        <p:txBody>
          <a:bodyPr vert="horz" wrap="square" lIns="0" tIns="15875" rIns="0" bIns="0" rtlCol="0">
            <a:spAutoFit/>
          </a:bodyPr>
          <a:lstStyle/>
          <a:p>
            <a:pPr marL="111125">
              <a:lnSpc>
                <a:spcPct val="100000"/>
              </a:lnSpc>
              <a:spcBef>
                <a:spcPts val="125"/>
              </a:spcBef>
            </a:pPr>
            <a:r>
              <a:rPr sz="800">
                <a:latin typeface="Arial"/>
                <a:cs typeface="Arial"/>
              </a:rPr>
              <a:t>-</a:t>
            </a:r>
            <a:r>
              <a:rPr sz="800" spc="-25">
                <a:latin typeface="Arial"/>
                <a:cs typeface="Arial"/>
              </a:rPr>
              <a:t>25%</a:t>
            </a:r>
            <a:endParaRPr sz="800">
              <a:latin typeface="Arial"/>
              <a:cs typeface="Arial"/>
            </a:endParaRPr>
          </a:p>
          <a:p>
            <a:pPr>
              <a:lnSpc>
                <a:spcPct val="100000"/>
              </a:lnSpc>
            </a:pPr>
            <a:endParaRPr sz="900">
              <a:latin typeface="Arial"/>
              <a:cs typeface="Arial"/>
            </a:endParaRPr>
          </a:p>
          <a:p>
            <a:pPr marL="331470">
              <a:lnSpc>
                <a:spcPct val="100000"/>
              </a:lnSpc>
              <a:spcBef>
                <a:spcPts val="715"/>
              </a:spcBef>
              <a:tabLst>
                <a:tab pos="1237615" algn="l"/>
                <a:tab pos="2144395" algn="l"/>
                <a:tab pos="3037840" algn="l"/>
                <a:tab pos="3717290" algn="l"/>
              </a:tabLst>
            </a:pPr>
            <a:r>
              <a:rPr sz="800">
                <a:latin typeface="Arial"/>
                <a:cs typeface="Arial"/>
              </a:rPr>
              <a:t>Dec</a:t>
            </a:r>
            <a:r>
              <a:rPr sz="800" spc="45">
                <a:latin typeface="Arial"/>
                <a:cs typeface="Arial"/>
              </a:rPr>
              <a:t> </a:t>
            </a:r>
            <a:r>
              <a:rPr sz="800" spc="-25">
                <a:latin typeface="Arial"/>
                <a:cs typeface="Arial"/>
              </a:rPr>
              <a:t>19</a:t>
            </a:r>
            <a:r>
              <a:rPr sz="800">
                <a:latin typeface="Arial"/>
                <a:cs typeface="Arial"/>
              </a:rPr>
              <a:t>	Mar</a:t>
            </a:r>
            <a:r>
              <a:rPr sz="800" spc="45">
                <a:latin typeface="Arial"/>
                <a:cs typeface="Arial"/>
              </a:rPr>
              <a:t> </a:t>
            </a:r>
            <a:r>
              <a:rPr sz="800" spc="-25">
                <a:latin typeface="Arial"/>
                <a:cs typeface="Arial"/>
              </a:rPr>
              <a:t>21</a:t>
            </a:r>
            <a:r>
              <a:rPr sz="800">
                <a:latin typeface="Arial"/>
                <a:cs typeface="Arial"/>
              </a:rPr>
              <a:t>	Jun</a:t>
            </a:r>
            <a:r>
              <a:rPr sz="800" spc="30">
                <a:latin typeface="Arial"/>
                <a:cs typeface="Arial"/>
              </a:rPr>
              <a:t> </a:t>
            </a:r>
            <a:r>
              <a:rPr sz="800" spc="-25">
                <a:latin typeface="Arial"/>
                <a:cs typeface="Arial"/>
              </a:rPr>
              <a:t>22</a:t>
            </a:r>
            <a:r>
              <a:rPr sz="800">
                <a:latin typeface="Arial"/>
                <a:cs typeface="Arial"/>
              </a:rPr>
              <a:t>	Sep</a:t>
            </a:r>
            <a:r>
              <a:rPr sz="800" spc="35">
                <a:latin typeface="Arial"/>
                <a:cs typeface="Arial"/>
              </a:rPr>
              <a:t> </a:t>
            </a:r>
            <a:r>
              <a:rPr sz="800" spc="-25">
                <a:latin typeface="Arial"/>
                <a:cs typeface="Arial"/>
              </a:rPr>
              <a:t>23</a:t>
            </a:r>
            <a:r>
              <a:rPr sz="800">
                <a:latin typeface="Arial"/>
                <a:cs typeface="Arial"/>
              </a:rPr>
              <a:t>	Dec</a:t>
            </a:r>
            <a:r>
              <a:rPr sz="800" spc="45">
                <a:latin typeface="Arial"/>
                <a:cs typeface="Arial"/>
              </a:rPr>
              <a:t> </a:t>
            </a:r>
            <a:r>
              <a:rPr sz="800" spc="-25">
                <a:latin typeface="Arial"/>
                <a:cs typeface="Arial"/>
              </a:rPr>
              <a:t>24</a:t>
            </a:r>
            <a:endParaRPr sz="800">
              <a:latin typeface="Arial"/>
              <a:cs typeface="Arial"/>
            </a:endParaRPr>
          </a:p>
          <a:p>
            <a:pPr marL="1791970">
              <a:lnSpc>
                <a:spcPct val="100000"/>
              </a:lnSpc>
              <a:spcBef>
                <a:spcPts val="155"/>
              </a:spcBef>
            </a:pPr>
            <a:r>
              <a:rPr lang="en-GB" sz="650">
                <a:solidFill>
                  <a:srgbClr val="999999"/>
                </a:solidFill>
                <a:latin typeface="Arial"/>
                <a:cs typeface="Arial"/>
              </a:rPr>
              <a:t>28</a:t>
            </a:r>
            <a:r>
              <a:rPr sz="650">
                <a:solidFill>
                  <a:srgbClr val="999999"/>
                </a:solidFill>
                <a:latin typeface="Arial"/>
                <a:cs typeface="Arial"/>
              </a:rPr>
              <a:t>/</a:t>
            </a:r>
            <a:r>
              <a:rPr lang="en-GB" sz="650">
                <a:solidFill>
                  <a:srgbClr val="999999"/>
                </a:solidFill>
                <a:latin typeface="Arial"/>
                <a:cs typeface="Arial"/>
              </a:rPr>
              <a:t>02</a:t>
            </a:r>
            <a:r>
              <a:rPr sz="650">
                <a:solidFill>
                  <a:srgbClr val="999999"/>
                </a:solidFill>
                <a:latin typeface="Arial"/>
                <a:cs typeface="Arial"/>
              </a:rPr>
              <a:t>/2019</a:t>
            </a:r>
            <a:r>
              <a:rPr sz="650" spc="35">
                <a:solidFill>
                  <a:srgbClr val="999999"/>
                </a:solidFill>
                <a:latin typeface="Arial"/>
                <a:cs typeface="Arial"/>
              </a:rPr>
              <a:t> </a:t>
            </a:r>
            <a:r>
              <a:rPr lang="en-GB" sz="650">
                <a:solidFill>
                  <a:srgbClr val="999999"/>
                </a:solidFill>
                <a:latin typeface="Arial"/>
                <a:cs typeface="Arial"/>
              </a:rPr>
              <a:t>–</a:t>
            </a:r>
            <a:r>
              <a:rPr sz="650" spc="40">
                <a:solidFill>
                  <a:srgbClr val="999999"/>
                </a:solidFill>
                <a:latin typeface="Arial"/>
                <a:cs typeface="Arial"/>
              </a:rPr>
              <a:t> </a:t>
            </a:r>
            <a:r>
              <a:rPr sz="650">
                <a:solidFill>
                  <a:srgbClr val="999999"/>
                </a:solidFill>
                <a:latin typeface="Arial"/>
                <a:cs typeface="Arial"/>
              </a:rPr>
              <a:t>2</a:t>
            </a:r>
            <a:r>
              <a:rPr lang="en-GB" sz="650">
                <a:solidFill>
                  <a:srgbClr val="999999"/>
                </a:solidFill>
                <a:latin typeface="Arial"/>
                <a:cs typeface="Arial"/>
              </a:rPr>
              <a:t>8/02</a:t>
            </a:r>
            <a:r>
              <a:rPr sz="650">
                <a:solidFill>
                  <a:srgbClr val="999999"/>
                </a:solidFill>
                <a:latin typeface="Arial"/>
                <a:cs typeface="Arial"/>
              </a:rPr>
              <a:t>/202</a:t>
            </a:r>
            <a:r>
              <a:rPr lang="en-GB" sz="650">
                <a:solidFill>
                  <a:srgbClr val="999999"/>
                </a:solidFill>
                <a:latin typeface="Arial"/>
                <a:cs typeface="Arial"/>
              </a:rPr>
              <a:t>5</a:t>
            </a:r>
            <a:r>
              <a:rPr sz="650" spc="35">
                <a:solidFill>
                  <a:srgbClr val="999999"/>
                </a:solidFill>
                <a:latin typeface="Arial"/>
                <a:cs typeface="Arial"/>
              </a:rPr>
              <a:t> </a:t>
            </a:r>
            <a:r>
              <a:rPr sz="650">
                <a:solidFill>
                  <a:srgbClr val="999999"/>
                </a:solidFill>
                <a:latin typeface="Arial"/>
                <a:cs typeface="Arial"/>
              </a:rPr>
              <a:t>Powered</a:t>
            </a:r>
            <a:r>
              <a:rPr sz="650" spc="40">
                <a:solidFill>
                  <a:srgbClr val="999999"/>
                </a:solidFill>
                <a:latin typeface="Arial"/>
                <a:cs typeface="Arial"/>
              </a:rPr>
              <a:t> </a:t>
            </a:r>
            <a:r>
              <a:rPr sz="650">
                <a:solidFill>
                  <a:srgbClr val="999999"/>
                </a:solidFill>
                <a:latin typeface="Arial"/>
                <a:cs typeface="Arial"/>
              </a:rPr>
              <a:t>by</a:t>
            </a:r>
            <a:r>
              <a:rPr sz="650" spc="35">
                <a:solidFill>
                  <a:srgbClr val="999999"/>
                </a:solidFill>
                <a:latin typeface="Arial"/>
                <a:cs typeface="Arial"/>
              </a:rPr>
              <a:t> </a:t>
            </a:r>
            <a:r>
              <a:rPr sz="650">
                <a:solidFill>
                  <a:srgbClr val="999999"/>
                </a:solidFill>
                <a:latin typeface="Arial"/>
                <a:cs typeface="Arial"/>
              </a:rPr>
              <a:t>data</a:t>
            </a:r>
            <a:r>
              <a:rPr sz="650" spc="40">
                <a:solidFill>
                  <a:srgbClr val="999999"/>
                </a:solidFill>
                <a:latin typeface="Arial"/>
                <a:cs typeface="Arial"/>
              </a:rPr>
              <a:t> </a:t>
            </a:r>
            <a:r>
              <a:rPr sz="650">
                <a:solidFill>
                  <a:srgbClr val="999999"/>
                </a:solidFill>
                <a:latin typeface="Arial"/>
                <a:cs typeface="Arial"/>
              </a:rPr>
              <a:t>from</a:t>
            </a:r>
            <a:r>
              <a:rPr sz="650" spc="35">
                <a:solidFill>
                  <a:srgbClr val="999999"/>
                </a:solidFill>
                <a:latin typeface="Arial"/>
                <a:cs typeface="Arial"/>
              </a:rPr>
              <a:t> </a:t>
            </a:r>
            <a:r>
              <a:rPr sz="650">
                <a:solidFill>
                  <a:srgbClr val="999999"/>
                </a:solidFill>
                <a:latin typeface="Arial"/>
                <a:cs typeface="Arial"/>
              </a:rPr>
              <a:t>FE</a:t>
            </a:r>
            <a:r>
              <a:rPr sz="650" spc="40">
                <a:solidFill>
                  <a:srgbClr val="999999"/>
                </a:solidFill>
                <a:latin typeface="Arial"/>
                <a:cs typeface="Arial"/>
              </a:rPr>
              <a:t> </a:t>
            </a:r>
            <a:r>
              <a:rPr sz="650" spc="-10">
                <a:solidFill>
                  <a:srgbClr val="999999"/>
                </a:solidFill>
                <a:latin typeface="Arial"/>
                <a:cs typeface="Arial"/>
              </a:rPr>
              <a:t>fundinfo</a:t>
            </a:r>
            <a:endParaRPr sz="650">
              <a:latin typeface="Arial"/>
              <a:cs typeface="Arial"/>
            </a:endParaRPr>
          </a:p>
          <a:p>
            <a:pPr marL="156210">
              <a:lnSpc>
                <a:spcPct val="100000"/>
              </a:lnSpc>
              <a:spcBef>
                <a:spcPts val="430"/>
              </a:spcBef>
            </a:pPr>
            <a:r>
              <a:rPr lang="en-GB" sz="800">
                <a:latin typeface="Zurich Sans Light"/>
                <a:cs typeface="Zurich Sans Light"/>
              </a:rPr>
              <a:t>Fidelity Emerging Market Debt	</a:t>
            </a:r>
          </a:p>
          <a:p>
            <a:pPr marL="156210">
              <a:lnSpc>
                <a:spcPct val="100000"/>
              </a:lnSpc>
              <a:spcBef>
                <a:spcPts val="430"/>
              </a:spcBef>
            </a:pPr>
            <a:r>
              <a:rPr lang="en-GB" sz="800">
                <a:latin typeface="Zurich Sans Light"/>
                <a:cs typeface="Zurich Sans Light"/>
              </a:rPr>
              <a:t>Sector	</a:t>
            </a:r>
            <a:endParaRPr sz="800">
              <a:latin typeface="Zurich Sans Light"/>
              <a:cs typeface="Zurich Sans Light"/>
            </a:endParaRPr>
          </a:p>
          <a:p>
            <a:pPr marL="12700" marR="33020">
              <a:lnSpc>
                <a:spcPts val="780"/>
              </a:lnSpc>
              <a:spcBef>
                <a:spcPts val="450"/>
              </a:spcBef>
            </a:pPr>
            <a:r>
              <a:rPr sz="750" b="0">
                <a:solidFill>
                  <a:srgbClr val="142863"/>
                </a:solidFill>
                <a:latin typeface="Zurich Sans Light"/>
                <a:cs typeface="Zurich Sans Light"/>
              </a:rPr>
              <a:t>Source:</a:t>
            </a:r>
            <a:r>
              <a:rPr sz="750" b="0" spc="85">
                <a:solidFill>
                  <a:srgbClr val="142863"/>
                </a:solidFill>
                <a:latin typeface="Zurich Sans Light"/>
                <a:cs typeface="Zurich Sans Light"/>
              </a:rPr>
              <a:t> </a:t>
            </a:r>
            <a:r>
              <a:rPr sz="750" b="0">
                <a:solidFill>
                  <a:srgbClr val="142863"/>
                </a:solidFill>
                <a:latin typeface="Zurich Sans Light"/>
                <a:cs typeface="Zurich Sans Light"/>
              </a:rPr>
              <a:t>FEfundinfo</a:t>
            </a:r>
            <a:r>
              <a:rPr sz="750" b="0" spc="90">
                <a:solidFill>
                  <a:srgbClr val="142863"/>
                </a:solidFill>
                <a:latin typeface="Zurich Sans Light"/>
                <a:cs typeface="Zurich Sans Light"/>
              </a:rPr>
              <a:t> </a:t>
            </a:r>
            <a:r>
              <a:rPr sz="750" b="0">
                <a:solidFill>
                  <a:srgbClr val="142863"/>
                </a:solidFill>
                <a:latin typeface="Zurich Sans Light"/>
                <a:cs typeface="Zurich Sans Light"/>
              </a:rPr>
              <a:t>as</a:t>
            </a:r>
            <a:r>
              <a:rPr sz="750" b="0" spc="90">
                <a:solidFill>
                  <a:srgbClr val="142863"/>
                </a:solidFill>
                <a:latin typeface="Zurich Sans Light"/>
                <a:cs typeface="Zurich Sans Light"/>
              </a:rPr>
              <a:t> </a:t>
            </a:r>
            <a:r>
              <a:rPr sz="750" b="0">
                <a:solidFill>
                  <a:srgbClr val="142863"/>
                </a:solidFill>
                <a:latin typeface="Zurich Sans Light"/>
                <a:cs typeface="Zurich Sans Light"/>
              </a:rPr>
              <a:t>at</a:t>
            </a:r>
            <a:r>
              <a:rPr sz="750" b="0" spc="90">
                <a:solidFill>
                  <a:srgbClr val="142863"/>
                </a:solidFill>
                <a:latin typeface="Zurich Sans Light"/>
                <a:cs typeface="Zurich Sans Light"/>
              </a:rPr>
              <a:t> </a:t>
            </a:r>
            <a:r>
              <a:rPr lang="en-GB" sz="750" spc="90">
                <a:solidFill>
                  <a:srgbClr val="142863"/>
                </a:solidFill>
                <a:latin typeface="Zurich Sans Light"/>
                <a:cs typeface="Zurich Sans Light"/>
              </a:rPr>
              <a:t>28</a:t>
            </a:r>
            <a:r>
              <a:rPr sz="750" b="0">
                <a:solidFill>
                  <a:srgbClr val="142863"/>
                </a:solidFill>
                <a:latin typeface="Zurich Sans Light"/>
                <a:cs typeface="Zurich Sans Light"/>
              </a:rPr>
              <a:t>/</a:t>
            </a:r>
            <a:r>
              <a:rPr lang="en-GB" sz="750" b="0">
                <a:solidFill>
                  <a:srgbClr val="142863"/>
                </a:solidFill>
                <a:latin typeface="Zurich Sans Light"/>
                <a:cs typeface="Zurich Sans Light"/>
              </a:rPr>
              <a:t>02</a:t>
            </a:r>
            <a:r>
              <a:rPr sz="750" b="0">
                <a:solidFill>
                  <a:srgbClr val="142863"/>
                </a:solidFill>
                <a:latin typeface="Zurich Sans Light"/>
                <a:cs typeface="Zurich Sans Light"/>
              </a:rPr>
              <a:t>/202</a:t>
            </a:r>
            <a:r>
              <a:rPr lang="en-GB" sz="750" b="0">
                <a:solidFill>
                  <a:srgbClr val="142863"/>
                </a:solidFill>
                <a:latin typeface="Zurich Sans Light"/>
                <a:cs typeface="Zurich Sans Light"/>
              </a:rPr>
              <a:t>5, bid to bid gross in USD. Past performance is not a guide to future performance</a:t>
            </a:r>
            <a:r>
              <a:rPr sz="750" b="0" spc="90">
                <a:solidFill>
                  <a:srgbClr val="142863"/>
                </a:solidFill>
                <a:latin typeface="Zurich Sans Light"/>
                <a:cs typeface="Zurich Sans Light"/>
              </a:rPr>
              <a:t> </a:t>
            </a:r>
            <a:endParaRPr lang="en-GB" sz="750" b="0" spc="90">
              <a:solidFill>
                <a:srgbClr val="142863"/>
              </a:solidFill>
              <a:latin typeface="Zurich Sans Light"/>
              <a:cs typeface="Zurich Sans Light"/>
            </a:endParaRPr>
          </a:p>
        </p:txBody>
      </p:sp>
      <p:sp>
        <p:nvSpPr>
          <p:cNvPr id="82" name="object 82">
            <a:extLst>
              <a:ext uri="{FF2B5EF4-FFF2-40B4-BE49-F238E27FC236}">
                <a16:creationId xmlns:a16="http://schemas.microsoft.com/office/drawing/2014/main" id="{F8DC0ED0-0124-5A98-27CA-09A24525F8D2}"/>
              </a:ext>
            </a:extLst>
          </p:cNvPr>
          <p:cNvSpPr txBox="1"/>
          <p:nvPr/>
        </p:nvSpPr>
        <p:spPr>
          <a:xfrm>
            <a:off x="3214521" y="6227358"/>
            <a:ext cx="17716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0%</a:t>
            </a:r>
            <a:endParaRPr sz="800">
              <a:latin typeface="Arial"/>
              <a:cs typeface="Arial"/>
            </a:endParaRPr>
          </a:p>
        </p:txBody>
      </p:sp>
      <p:sp>
        <p:nvSpPr>
          <p:cNvPr id="83" name="object 83">
            <a:extLst>
              <a:ext uri="{FF2B5EF4-FFF2-40B4-BE49-F238E27FC236}">
                <a16:creationId xmlns:a16="http://schemas.microsoft.com/office/drawing/2014/main" id="{0BCB0006-6BAD-1C19-F708-264A208220A3}"/>
              </a:ext>
            </a:extLst>
          </p:cNvPr>
          <p:cNvSpPr txBox="1"/>
          <p:nvPr/>
        </p:nvSpPr>
        <p:spPr>
          <a:xfrm>
            <a:off x="3128527" y="5748556"/>
            <a:ext cx="235585" cy="151130"/>
          </a:xfrm>
          <a:prstGeom prst="rect">
            <a:avLst/>
          </a:prstGeom>
        </p:spPr>
        <p:txBody>
          <a:bodyPr vert="horz" wrap="square" lIns="0" tIns="15875" rIns="0" bIns="0" rtlCol="0">
            <a:spAutoFit/>
          </a:bodyPr>
          <a:lstStyle/>
          <a:p>
            <a:pPr marL="12700">
              <a:lnSpc>
                <a:spcPct val="100000"/>
              </a:lnSpc>
              <a:spcBef>
                <a:spcPts val="125"/>
              </a:spcBef>
            </a:pPr>
            <a:r>
              <a:rPr sz="800" spc="-25">
                <a:latin typeface="Arial"/>
                <a:cs typeface="Arial"/>
              </a:rPr>
              <a:t>25%</a:t>
            </a:r>
            <a:endParaRPr sz="800">
              <a:latin typeface="Arial"/>
              <a:cs typeface="Arial"/>
            </a:endParaRPr>
          </a:p>
        </p:txBody>
      </p:sp>
      <p:sp>
        <p:nvSpPr>
          <p:cNvPr id="3" name="object 34">
            <a:extLst>
              <a:ext uri="{FF2B5EF4-FFF2-40B4-BE49-F238E27FC236}">
                <a16:creationId xmlns:a16="http://schemas.microsoft.com/office/drawing/2014/main" id="{05C47B04-3A4E-67B5-6030-560B6E40C01B}"/>
              </a:ext>
            </a:extLst>
          </p:cNvPr>
          <p:cNvSpPr/>
          <p:nvPr/>
        </p:nvSpPr>
        <p:spPr>
          <a:xfrm>
            <a:off x="3090968" y="7620875"/>
            <a:ext cx="116128"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endParaRPr/>
          </a:p>
        </p:txBody>
      </p:sp>
      <p:sp>
        <p:nvSpPr>
          <p:cNvPr id="7" name="object 30">
            <a:extLst>
              <a:ext uri="{FF2B5EF4-FFF2-40B4-BE49-F238E27FC236}">
                <a16:creationId xmlns:a16="http://schemas.microsoft.com/office/drawing/2014/main" id="{C3EEC228-309A-038D-DAAD-315377792EE2}"/>
              </a:ext>
            </a:extLst>
          </p:cNvPr>
          <p:cNvSpPr/>
          <p:nvPr/>
        </p:nvSpPr>
        <p:spPr>
          <a:xfrm>
            <a:off x="3090968" y="7420320"/>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endParaRPr/>
          </a:p>
        </p:txBody>
      </p:sp>
      <p:sp>
        <p:nvSpPr>
          <p:cNvPr id="13" name="object 80">
            <a:extLst>
              <a:ext uri="{FF2B5EF4-FFF2-40B4-BE49-F238E27FC236}">
                <a16:creationId xmlns:a16="http://schemas.microsoft.com/office/drawing/2014/main" id="{02BF645C-D20E-A32F-F7EF-C0FEA2213B05}"/>
              </a:ext>
            </a:extLst>
          </p:cNvPr>
          <p:cNvSpPr/>
          <p:nvPr/>
        </p:nvSpPr>
        <p:spPr>
          <a:xfrm>
            <a:off x="3419037" y="6001942"/>
            <a:ext cx="3550920" cy="854075"/>
          </a:xfrm>
          <a:custGeom>
            <a:avLst/>
            <a:gdLst/>
            <a:ahLst/>
            <a:cxnLst/>
            <a:rect l="l" t="t" r="r" b="b"/>
            <a:pathLst>
              <a:path w="3550920" h="854075">
                <a:moveTo>
                  <a:pt x="0" y="112013"/>
                </a:moveTo>
                <a:lnTo>
                  <a:pt x="0" y="112013"/>
                </a:lnTo>
                <a:lnTo>
                  <a:pt x="1905" y="109219"/>
                </a:lnTo>
                <a:lnTo>
                  <a:pt x="5969" y="109346"/>
                </a:lnTo>
                <a:lnTo>
                  <a:pt x="7874" y="102361"/>
                </a:lnTo>
                <a:lnTo>
                  <a:pt x="13843" y="101218"/>
                </a:lnTo>
                <a:lnTo>
                  <a:pt x="15748" y="101218"/>
                </a:lnTo>
                <a:lnTo>
                  <a:pt x="17780" y="95503"/>
                </a:lnTo>
                <a:lnTo>
                  <a:pt x="19812" y="98424"/>
                </a:lnTo>
                <a:lnTo>
                  <a:pt x="21717" y="98424"/>
                </a:lnTo>
                <a:lnTo>
                  <a:pt x="27686" y="92963"/>
                </a:lnTo>
                <a:lnTo>
                  <a:pt x="29591" y="98551"/>
                </a:lnTo>
                <a:lnTo>
                  <a:pt x="31623" y="91693"/>
                </a:lnTo>
                <a:lnTo>
                  <a:pt x="33655" y="81914"/>
                </a:lnTo>
                <a:lnTo>
                  <a:pt x="35560" y="84835"/>
                </a:lnTo>
                <a:lnTo>
                  <a:pt x="41529" y="86232"/>
                </a:lnTo>
                <a:lnTo>
                  <a:pt x="43434" y="84962"/>
                </a:lnTo>
                <a:lnTo>
                  <a:pt x="45466" y="84962"/>
                </a:lnTo>
                <a:lnTo>
                  <a:pt x="47498" y="85089"/>
                </a:lnTo>
                <a:lnTo>
                  <a:pt x="49403" y="85089"/>
                </a:lnTo>
                <a:lnTo>
                  <a:pt x="55372" y="83692"/>
                </a:lnTo>
                <a:lnTo>
                  <a:pt x="57277" y="92201"/>
                </a:lnTo>
                <a:lnTo>
                  <a:pt x="59309" y="89407"/>
                </a:lnTo>
                <a:lnTo>
                  <a:pt x="61341" y="83819"/>
                </a:lnTo>
                <a:lnTo>
                  <a:pt x="63246" y="85343"/>
                </a:lnTo>
                <a:lnTo>
                  <a:pt x="69215" y="82549"/>
                </a:lnTo>
                <a:lnTo>
                  <a:pt x="71120" y="79882"/>
                </a:lnTo>
                <a:lnTo>
                  <a:pt x="73152" y="79882"/>
                </a:lnTo>
                <a:lnTo>
                  <a:pt x="75057" y="78612"/>
                </a:lnTo>
                <a:lnTo>
                  <a:pt x="77089" y="74421"/>
                </a:lnTo>
                <a:lnTo>
                  <a:pt x="83058" y="73024"/>
                </a:lnTo>
                <a:lnTo>
                  <a:pt x="84963" y="74548"/>
                </a:lnTo>
                <a:lnTo>
                  <a:pt x="86995" y="73151"/>
                </a:lnTo>
                <a:lnTo>
                  <a:pt x="88900" y="74675"/>
                </a:lnTo>
                <a:lnTo>
                  <a:pt x="90932" y="74675"/>
                </a:lnTo>
                <a:lnTo>
                  <a:pt x="96901" y="67817"/>
                </a:lnTo>
                <a:lnTo>
                  <a:pt x="98806" y="66420"/>
                </a:lnTo>
                <a:lnTo>
                  <a:pt x="100838" y="66420"/>
                </a:lnTo>
                <a:lnTo>
                  <a:pt x="102743" y="67944"/>
                </a:lnTo>
                <a:lnTo>
                  <a:pt x="104775" y="65150"/>
                </a:lnTo>
                <a:lnTo>
                  <a:pt x="110744" y="62356"/>
                </a:lnTo>
                <a:lnTo>
                  <a:pt x="112648" y="66674"/>
                </a:lnTo>
                <a:lnTo>
                  <a:pt x="114680" y="72262"/>
                </a:lnTo>
                <a:lnTo>
                  <a:pt x="116586" y="83565"/>
                </a:lnTo>
                <a:lnTo>
                  <a:pt x="118618" y="93471"/>
                </a:lnTo>
                <a:lnTo>
                  <a:pt x="124587" y="110489"/>
                </a:lnTo>
                <a:lnTo>
                  <a:pt x="126492" y="101980"/>
                </a:lnTo>
                <a:lnTo>
                  <a:pt x="128523" y="83819"/>
                </a:lnTo>
                <a:lnTo>
                  <a:pt x="130429" y="74040"/>
                </a:lnTo>
                <a:lnTo>
                  <a:pt x="132461" y="85343"/>
                </a:lnTo>
                <a:lnTo>
                  <a:pt x="138430" y="103758"/>
                </a:lnTo>
                <a:lnTo>
                  <a:pt x="138459" y="105028"/>
                </a:lnTo>
                <a:lnTo>
                  <a:pt x="140335" y="185038"/>
                </a:lnTo>
                <a:lnTo>
                  <a:pt x="140589" y="190468"/>
                </a:lnTo>
                <a:lnTo>
                  <a:pt x="141192" y="203362"/>
                </a:lnTo>
                <a:lnTo>
                  <a:pt x="142367" y="228472"/>
                </a:lnTo>
                <a:lnTo>
                  <a:pt x="142396" y="229020"/>
                </a:lnTo>
                <a:lnTo>
                  <a:pt x="142605" y="232854"/>
                </a:lnTo>
                <a:lnTo>
                  <a:pt x="143170" y="243260"/>
                </a:lnTo>
                <a:lnTo>
                  <a:pt x="144272" y="263524"/>
                </a:lnTo>
                <a:lnTo>
                  <a:pt x="144303" y="265080"/>
                </a:lnTo>
                <a:lnTo>
                  <a:pt x="144526" y="275970"/>
                </a:lnTo>
                <a:lnTo>
                  <a:pt x="145129" y="305530"/>
                </a:lnTo>
                <a:lnTo>
                  <a:pt x="146304" y="363092"/>
                </a:lnTo>
                <a:lnTo>
                  <a:pt x="152273" y="374522"/>
                </a:lnTo>
                <a:lnTo>
                  <a:pt x="152302" y="375027"/>
                </a:lnTo>
                <a:lnTo>
                  <a:pt x="152511" y="378555"/>
                </a:lnTo>
                <a:lnTo>
                  <a:pt x="153076" y="388131"/>
                </a:lnTo>
                <a:lnTo>
                  <a:pt x="154178" y="406780"/>
                </a:lnTo>
                <a:lnTo>
                  <a:pt x="154209" y="407503"/>
                </a:lnTo>
                <a:lnTo>
                  <a:pt x="154432" y="412559"/>
                </a:lnTo>
                <a:lnTo>
                  <a:pt x="155035" y="426283"/>
                </a:lnTo>
                <a:lnTo>
                  <a:pt x="156210" y="453008"/>
                </a:lnTo>
                <a:lnTo>
                  <a:pt x="156239" y="454455"/>
                </a:lnTo>
                <a:lnTo>
                  <a:pt x="156448" y="464581"/>
                </a:lnTo>
                <a:lnTo>
                  <a:pt x="157013" y="492067"/>
                </a:lnTo>
                <a:lnTo>
                  <a:pt x="158115" y="545591"/>
                </a:lnTo>
                <a:lnTo>
                  <a:pt x="158146" y="546314"/>
                </a:lnTo>
                <a:lnTo>
                  <a:pt x="158369" y="551370"/>
                </a:lnTo>
                <a:lnTo>
                  <a:pt x="158972" y="565094"/>
                </a:lnTo>
                <a:lnTo>
                  <a:pt x="160147" y="591819"/>
                </a:lnTo>
                <a:lnTo>
                  <a:pt x="160240" y="591272"/>
                </a:lnTo>
                <a:lnTo>
                  <a:pt x="160893" y="587438"/>
                </a:lnTo>
                <a:lnTo>
                  <a:pt x="162665" y="577032"/>
                </a:lnTo>
                <a:lnTo>
                  <a:pt x="166116" y="556768"/>
                </a:lnTo>
                <a:lnTo>
                  <a:pt x="166145" y="557514"/>
                </a:lnTo>
                <a:lnTo>
                  <a:pt x="166354" y="562737"/>
                </a:lnTo>
                <a:lnTo>
                  <a:pt x="166919" y="576913"/>
                </a:lnTo>
                <a:lnTo>
                  <a:pt x="168021" y="604519"/>
                </a:lnTo>
                <a:lnTo>
                  <a:pt x="168052" y="603928"/>
                </a:lnTo>
                <a:lnTo>
                  <a:pt x="168275" y="599789"/>
                </a:lnTo>
                <a:lnTo>
                  <a:pt x="168878" y="588553"/>
                </a:lnTo>
                <a:lnTo>
                  <a:pt x="170053" y="566673"/>
                </a:lnTo>
                <a:lnTo>
                  <a:pt x="170082" y="566019"/>
                </a:lnTo>
                <a:lnTo>
                  <a:pt x="170291" y="561435"/>
                </a:lnTo>
                <a:lnTo>
                  <a:pt x="170856" y="548993"/>
                </a:lnTo>
                <a:lnTo>
                  <a:pt x="171958" y="524763"/>
                </a:lnTo>
                <a:lnTo>
                  <a:pt x="173990" y="507872"/>
                </a:lnTo>
                <a:lnTo>
                  <a:pt x="179959" y="515111"/>
                </a:lnTo>
                <a:lnTo>
                  <a:pt x="181864" y="537463"/>
                </a:lnTo>
                <a:lnTo>
                  <a:pt x="183896" y="530479"/>
                </a:lnTo>
                <a:lnTo>
                  <a:pt x="185801" y="525018"/>
                </a:lnTo>
                <a:lnTo>
                  <a:pt x="185832" y="525631"/>
                </a:lnTo>
                <a:lnTo>
                  <a:pt x="186055" y="529923"/>
                </a:lnTo>
                <a:lnTo>
                  <a:pt x="186658" y="541573"/>
                </a:lnTo>
                <a:lnTo>
                  <a:pt x="187833" y="564260"/>
                </a:lnTo>
                <a:lnTo>
                  <a:pt x="187926" y="563758"/>
                </a:lnTo>
                <a:lnTo>
                  <a:pt x="188579" y="560244"/>
                </a:lnTo>
                <a:lnTo>
                  <a:pt x="190351" y="550705"/>
                </a:lnTo>
                <a:lnTo>
                  <a:pt x="193802" y="532129"/>
                </a:lnTo>
                <a:lnTo>
                  <a:pt x="195707" y="533526"/>
                </a:lnTo>
                <a:lnTo>
                  <a:pt x="197739" y="522350"/>
                </a:lnTo>
                <a:lnTo>
                  <a:pt x="199644" y="523747"/>
                </a:lnTo>
                <a:lnTo>
                  <a:pt x="199798" y="523291"/>
                </a:lnTo>
                <a:lnTo>
                  <a:pt x="200882" y="520096"/>
                </a:lnTo>
                <a:lnTo>
                  <a:pt x="203823" y="511425"/>
                </a:lnTo>
                <a:lnTo>
                  <a:pt x="209550" y="494538"/>
                </a:lnTo>
                <a:lnTo>
                  <a:pt x="209581" y="494035"/>
                </a:lnTo>
                <a:lnTo>
                  <a:pt x="209804" y="490521"/>
                </a:lnTo>
                <a:lnTo>
                  <a:pt x="210407" y="480982"/>
                </a:lnTo>
                <a:lnTo>
                  <a:pt x="211582" y="462406"/>
                </a:lnTo>
                <a:lnTo>
                  <a:pt x="213486" y="451103"/>
                </a:lnTo>
                <a:lnTo>
                  <a:pt x="215519" y="469391"/>
                </a:lnTo>
                <a:lnTo>
                  <a:pt x="221361" y="468121"/>
                </a:lnTo>
                <a:lnTo>
                  <a:pt x="223393" y="472313"/>
                </a:lnTo>
                <a:lnTo>
                  <a:pt x="223424" y="472729"/>
                </a:lnTo>
                <a:lnTo>
                  <a:pt x="223647" y="475646"/>
                </a:lnTo>
                <a:lnTo>
                  <a:pt x="224250" y="483564"/>
                </a:lnTo>
                <a:lnTo>
                  <a:pt x="225425" y="498982"/>
                </a:lnTo>
                <a:lnTo>
                  <a:pt x="227329" y="506094"/>
                </a:lnTo>
                <a:lnTo>
                  <a:pt x="229361" y="499109"/>
                </a:lnTo>
                <a:lnTo>
                  <a:pt x="235204" y="500506"/>
                </a:lnTo>
                <a:lnTo>
                  <a:pt x="237236" y="504824"/>
                </a:lnTo>
                <a:lnTo>
                  <a:pt x="239268" y="509016"/>
                </a:lnTo>
                <a:lnTo>
                  <a:pt x="241172" y="495045"/>
                </a:lnTo>
                <a:lnTo>
                  <a:pt x="241204" y="494500"/>
                </a:lnTo>
                <a:lnTo>
                  <a:pt x="241426" y="490680"/>
                </a:lnTo>
                <a:lnTo>
                  <a:pt x="242030" y="480312"/>
                </a:lnTo>
                <a:lnTo>
                  <a:pt x="243204" y="460120"/>
                </a:lnTo>
                <a:lnTo>
                  <a:pt x="249047" y="475614"/>
                </a:lnTo>
                <a:lnTo>
                  <a:pt x="251079" y="481202"/>
                </a:lnTo>
                <a:lnTo>
                  <a:pt x="253111" y="460247"/>
                </a:lnTo>
                <a:lnTo>
                  <a:pt x="255015" y="458850"/>
                </a:lnTo>
                <a:lnTo>
                  <a:pt x="262890" y="449198"/>
                </a:lnTo>
                <a:lnTo>
                  <a:pt x="262921" y="448609"/>
                </a:lnTo>
                <a:lnTo>
                  <a:pt x="263144" y="444484"/>
                </a:lnTo>
                <a:lnTo>
                  <a:pt x="263747" y="433286"/>
                </a:lnTo>
                <a:lnTo>
                  <a:pt x="264922" y="411479"/>
                </a:lnTo>
                <a:lnTo>
                  <a:pt x="266954" y="414273"/>
                </a:lnTo>
                <a:lnTo>
                  <a:pt x="268859" y="415670"/>
                </a:lnTo>
                <a:lnTo>
                  <a:pt x="270891" y="428370"/>
                </a:lnTo>
                <a:lnTo>
                  <a:pt x="276733" y="414527"/>
                </a:lnTo>
                <a:lnTo>
                  <a:pt x="278765" y="392048"/>
                </a:lnTo>
                <a:lnTo>
                  <a:pt x="280797" y="379475"/>
                </a:lnTo>
                <a:lnTo>
                  <a:pt x="282702" y="355726"/>
                </a:lnTo>
                <a:lnTo>
                  <a:pt x="282733" y="355137"/>
                </a:lnTo>
                <a:lnTo>
                  <a:pt x="282956" y="351012"/>
                </a:lnTo>
                <a:lnTo>
                  <a:pt x="283559" y="339814"/>
                </a:lnTo>
                <a:lnTo>
                  <a:pt x="284734" y="318007"/>
                </a:lnTo>
                <a:lnTo>
                  <a:pt x="292608" y="340613"/>
                </a:lnTo>
                <a:lnTo>
                  <a:pt x="292608" y="340613"/>
                </a:lnTo>
                <a:lnTo>
                  <a:pt x="294513" y="322452"/>
                </a:lnTo>
                <a:lnTo>
                  <a:pt x="296545" y="302767"/>
                </a:lnTo>
                <a:lnTo>
                  <a:pt x="298577" y="322579"/>
                </a:lnTo>
                <a:lnTo>
                  <a:pt x="304419" y="322579"/>
                </a:lnTo>
                <a:lnTo>
                  <a:pt x="306451" y="312800"/>
                </a:lnTo>
                <a:lnTo>
                  <a:pt x="308356" y="298957"/>
                </a:lnTo>
                <a:lnTo>
                  <a:pt x="310388" y="273684"/>
                </a:lnTo>
                <a:lnTo>
                  <a:pt x="312420" y="268223"/>
                </a:lnTo>
                <a:lnTo>
                  <a:pt x="318262" y="251459"/>
                </a:lnTo>
                <a:lnTo>
                  <a:pt x="320294" y="227710"/>
                </a:lnTo>
                <a:lnTo>
                  <a:pt x="322199" y="223646"/>
                </a:lnTo>
                <a:lnTo>
                  <a:pt x="324231" y="229234"/>
                </a:lnTo>
                <a:lnTo>
                  <a:pt x="326263" y="243331"/>
                </a:lnTo>
                <a:lnTo>
                  <a:pt x="332105" y="248919"/>
                </a:lnTo>
                <a:lnTo>
                  <a:pt x="334137" y="264413"/>
                </a:lnTo>
                <a:lnTo>
                  <a:pt x="334166" y="263931"/>
                </a:lnTo>
                <a:lnTo>
                  <a:pt x="334375" y="260556"/>
                </a:lnTo>
                <a:lnTo>
                  <a:pt x="334940" y="251394"/>
                </a:lnTo>
                <a:lnTo>
                  <a:pt x="336042" y="233552"/>
                </a:lnTo>
                <a:lnTo>
                  <a:pt x="336042" y="233552"/>
                </a:lnTo>
                <a:lnTo>
                  <a:pt x="338074" y="233679"/>
                </a:lnTo>
                <a:lnTo>
                  <a:pt x="340106" y="236600"/>
                </a:lnTo>
                <a:lnTo>
                  <a:pt x="345948" y="228218"/>
                </a:lnTo>
                <a:lnTo>
                  <a:pt x="347980" y="226948"/>
                </a:lnTo>
                <a:lnTo>
                  <a:pt x="349885" y="219963"/>
                </a:lnTo>
                <a:lnTo>
                  <a:pt x="351917" y="225551"/>
                </a:lnTo>
                <a:lnTo>
                  <a:pt x="353949" y="229869"/>
                </a:lnTo>
                <a:lnTo>
                  <a:pt x="359791" y="229996"/>
                </a:lnTo>
                <a:lnTo>
                  <a:pt x="361823" y="235584"/>
                </a:lnTo>
                <a:lnTo>
                  <a:pt x="363728" y="235584"/>
                </a:lnTo>
                <a:lnTo>
                  <a:pt x="365760" y="227202"/>
                </a:lnTo>
                <a:lnTo>
                  <a:pt x="367665" y="218820"/>
                </a:lnTo>
                <a:lnTo>
                  <a:pt x="375666" y="214756"/>
                </a:lnTo>
                <a:lnTo>
                  <a:pt x="377571" y="199516"/>
                </a:lnTo>
                <a:lnTo>
                  <a:pt x="379603" y="202310"/>
                </a:lnTo>
                <a:lnTo>
                  <a:pt x="381508" y="203834"/>
                </a:lnTo>
                <a:lnTo>
                  <a:pt x="387477" y="210819"/>
                </a:lnTo>
                <a:lnTo>
                  <a:pt x="389509" y="208025"/>
                </a:lnTo>
                <a:lnTo>
                  <a:pt x="391414" y="210946"/>
                </a:lnTo>
                <a:lnTo>
                  <a:pt x="393446" y="205358"/>
                </a:lnTo>
                <a:lnTo>
                  <a:pt x="395351" y="203961"/>
                </a:lnTo>
                <a:lnTo>
                  <a:pt x="401320" y="200024"/>
                </a:lnTo>
                <a:lnTo>
                  <a:pt x="403352" y="191515"/>
                </a:lnTo>
                <a:lnTo>
                  <a:pt x="405257" y="173481"/>
                </a:lnTo>
                <a:lnTo>
                  <a:pt x="407289" y="153923"/>
                </a:lnTo>
                <a:lnTo>
                  <a:pt x="409194" y="161035"/>
                </a:lnTo>
                <a:lnTo>
                  <a:pt x="415163" y="169417"/>
                </a:lnTo>
                <a:lnTo>
                  <a:pt x="417195" y="151256"/>
                </a:lnTo>
                <a:lnTo>
                  <a:pt x="419100" y="165353"/>
                </a:lnTo>
                <a:lnTo>
                  <a:pt x="421131" y="161162"/>
                </a:lnTo>
                <a:lnTo>
                  <a:pt x="423037" y="159892"/>
                </a:lnTo>
                <a:lnTo>
                  <a:pt x="429006" y="155701"/>
                </a:lnTo>
                <a:lnTo>
                  <a:pt x="431038" y="143255"/>
                </a:lnTo>
                <a:lnTo>
                  <a:pt x="432943" y="130682"/>
                </a:lnTo>
                <a:lnTo>
                  <a:pt x="434975" y="137794"/>
                </a:lnTo>
                <a:lnTo>
                  <a:pt x="436880" y="130809"/>
                </a:lnTo>
                <a:lnTo>
                  <a:pt x="442848" y="128142"/>
                </a:lnTo>
                <a:lnTo>
                  <a:pt x="444881" y="125348"/>
                </a:lnTo>
                <a:lnTo>
                  <a:pt x="446786" y="124078"/>
                </a:lnTo>
                <a:lnTo>
                  <a:pt x="448818" y="125348"/>
                </a:lnTo>
                <a:lnTo>
                  <a:pt x="450723" y="121284"/>
                </a:lnTo>
                <a:lnTo>
                  <a:pt x="456692" y="128269"/>
                </a:lnTo>
                <a:lnTo>
                  <a:pt x="458723" y="128396"/>
                </a:lnTo>
                <a:lnTo>
                  <a:pt x="460629" y="131317"/>
                </a:lnTo>
                <a:lnTo>
                  <a:pt x="462661" y="125729"/>
                </a:lnTo>
                <a:lnTo>
                  <a:pt x="464566" y="117347"/>
                </a:lnTo>
                <a:lnTo>
                  <a:pt x="470534" y="125856"/>
                </a:lnTo>
                <a:lnTo>
                  <a:pt x="472567" y="121665"/>
                </a:lnTo>
                <a:lnTo>
                  <a:pt x="474472" y="127380"/>
                </a:lnTo>
                <a:lnTo>
                  <a:pt x="476504" y="141350"/>
                </a:lnTo>
                <a:lnTo>
                  <a:pt x="486409" y="130428"/>
                </a:lnTo>
                <a:lnTo>
                  <a:pt x="488315" y="116458"/>
                </a:lnTo>
                <a:lnTo>
                  <a:pt x="490347" y="99694"/>
                </a:lnTo>
                <a:lnTo>
                  <a:pt x="492252" y="91439"/>
                </a:lnTo>
                <a:lnTo>
                  <a:pt x="498220" y="98424"/>
                </a:lnTo>
                <a:lnTo>
                  <a:pt x="500253" y="98424"/>
                </a:lnTo>
                <a:lnTo>
                  <a:pt x="502158" y="105536"/>
                </a:lnTo>
                <a:lnTo>
                  <a:pt x="504190" y="105536"/>
                </a:lnTo>
                <a:lnTo>
                  <a:pt x="506095" y="119633"/>
                </a:lnTo>
                <a:lnTo>
                  <a:pt x="512064" y="109981"/>
                </a:lnTo>
                <a:lnTo>
                  <a:pt x="514095" y="111505"/>
                </a:lnTo>
                <a:lnTo>
                  <a:pt x="516001" y="105790"/>
                </a:lnTo>
                <a:lnTo>
                  <a:pt x="518033" y="107314"/>
                </a:lnTo>
                <a:lnTo>
                  <a:pt x="519938" y="118490"/>
                </a:lnTo>
                <a:lnTo>
                  <a:pt x="525907" y="121411"/>
                </a:lnTo>
                <a:lnTo>
                  <a:pt x="527812" y="146557"/>
                </a:lnTo>
                <a:lnTo>
                  <a:pt x="529844" y="156463"/>
                </a:lnTo>
                <a:lnTo>
                  <a:pt x="531876" y="169036"/>
                </a:lnTo>
                <a:lnTo>
                  <a:pt x="533781" y="184276"/>
                </a:lnTo>
                <a:lnTo>
                  <a:pt x="539750" y="178942"/>
                </a:lnTo>
                <a:lnTo>
                  <a:pt x="541655" y="174751"/>
                </a:lnTo>
                <a:lnTo>
                  <a:pt x="543687" y="180466"/>
                </a:lnTo>
                <a:lnTo>
                  <a:pt x="545719" y="184530"/>
                </a:lnTo>
                <a:lnTo>
                  <a:pt x="547624" y="174878"/>
                </a:lnTo>
                <a:lnTo>
                  <a:pt x="553593" y="181990"/>
                </a:lnTo>
                <a:lnTo>
                  <a:pt x="555498" y="165226"/>
                </a:lnTo>
                <a:lnTo>
                  <a:pt x="557530" y="172338"/>
                </a:lnTo>
                <a:lnTo>
                  <a:pt x="559562" y="159765"/>
                </a:lnTo>
                <a:lnTo>
                  <a:pt x="561467" y="161162"/>
                </a:lnTo>
                <a:lnTo>
                  <a:pt x="567436" y="162686"/>
                </a:lnTo>
                <a:lnTo>
                  <a:pt x="569341" y="147446"/>
                </a:lnTo>
                <a:lnTo>
                  <a:pt x="571373" y="146049"/>
                </a:lnTo>
                <a:lnTo>
                  <a:pt x="573405" y="153034"/>
                </a:lnTo>
                <a:lnTo>
                  <a:pt x="575310" y="164337"/>
                </a:lnTo>
                <a:lnTo>
                  <a:pt x="581279" y="158749"/>
                </a:lnTo>
                <a:lnTo>
                  <a:pt x="583184" y="160273"/>
                </a:lnTo>
                <a:lnTo>
                  <a:pt x="585216" y="170052"/>
                </a:lnTo>
                <a:lnTo>
                  <a:pt x="587248" y="172846"/>
                </a:lnTo>
                <a:lnTo>
                  <a:pt x="589153" y="179958"/>
                </a:lnTo>
                <a:lnTo>
                  <a:pt x="595122" y="192531"/>
                </a:lnTo>
                <a:lnTo>
                  <a:pt x="597027" y="182879"/>
                </a:lnTo>
                <a:lnTo>
                  <a:pt x="599059" y="178688"/>
                </a:lnTo>
                <a:lnTo>
                  <a:pt x="600964" y="189991"/>
                </a:lnTo>
                <a:lnTo>
                  <a:pt x="602996" y="195452"/>
                </a:lnTo>
                <a:lnTo>
                  <a:pt x="608965" y="201167"/>
                </a:lnTo>
                <a:lnTo>
                  <a:pt x="610870" y="208152"/>
                </a:lnTo>
                <a:lnTo>
                  <a:pt x="612902" y="184530"/>
                </a:lnTo>
                <a:lnTo>
                  <a:pt x="614807" y="160908"/>
                </a:lnTo>
                <a:lnTo>
                  <a:pt x="616839" y="138556"/>
                </a:lnTo>
                <a:lnTo>
                  <a:pt x="622808" y="137413"/>
                </a:lnTo>
                <a:lnTo>
                  <a:pt x="624713" y="131698"/>
                </a:lnTo>
                <a:lnTo>
                  <a:pt x="626745" y="134619"/>
                </a:lnTo>
                <a:lnTo>
                  <a:pt x="628650" y="126237"/>
                </a:lnTo>
                <a:lnTo>
                  <a:pt x="630682" y="119379"/>
                </a:lnTo>
                <a:lnTo>
                  <a:pt x="636651" y="119506"/>
                </a:lnTo>
                <a:lnTo>
                  <a:pt x="638556" y="112521"/>
                </a:lnTo>
                <a:lnTo>
                  <a:pt x="640588" y="112521"/>
                </a:lnTo>
                <a:lnTo>
                  <a:pt x="642493" y="112648"/>
                </a:lnTo>
                <a:lnTo>
                  <a:pt x="644525" y="111378"/>
                </a:lnTo>
                <a:lnTo>
                  <a:pt x="650494" y="102996"/>
                </a:lnTo>
                <a:lnTo>
                  <a:pt x="652399" y="101726"/>
                </a:lnTo>
                <a:lnTo>
                  <a:pt x="654431" y="100329"/>
                </a:lnTo>
                <a:lnTo>
                  <a:pt x="656336" y="94868"/>
                </a:lnTo>
                <a:lnTo>
                  <a:pt x="658368" y="93471"/>
                </a:lnTo>
                <a:lnTo>
                  <a:pt x="664337" y="90804"/>
                </a:lnTo>
                <a:lnTo>
                  <a:pt x="666242" y="90804"/>
                </a:lnTo>
                <a:lnTo>
                  <a:pt x="668274" y="86613"/>
                </a:lnTo>
                <a:lnTo>
                  <a:pt x="670179" y="85343"/>
                </a:lnTo>
                <a:lnTo>
                  <a:pt x="672211" y="74167"/>
                </a:lnTo>
                <a:lnTo>
                  <a:pt x="678180" y="68833"/>
                </a:lnTo>
                <a:lnTo>
                  <a:pt x="680085" y="64642"/>
                </a:lnTo>
                <a:lnTo>
                  <a:pt x="682117" y="61975"/>
                </a:lnTo>
                <a:lnTo>
                  <a:pt x="684022" y="60451"/>
                </a:lnTo>
                <a:lnTo>
                  <a:pt x="686054" y="68833"/>
                </a:lnTo>
                <a:lnTo>
                  <a:pt x="692023" y="52323"/>
                </a:lnTo>
                <a:lnTo>
                  <a:pt x="693928" y="60705"/>
                </a:lnTo>
                <a:lnTo>
                  <a:pt x="695960" y="49529"/>
                </a:lnTo>
                <a:lnTo>
                  <a:pt x="697865" y="45592"/>
                </a:lnTo>
                <a:lnTo>
                  <a:pt x="699897" y="39877"/>
                </a:lnTo>
                <a:lnTo>
                  <a:pt x="705866" y="40004"/>
                </a:lnTo>
                <a:lnTo>
                  <a:pt x="707771" y="47116"/>
                </a:lnTo>
                <a:lnTo>
                  <a:pt x="709803" y="45719"/>
                </a:lnTo>
                <a:lnTo>
                  <a:pt x="721614" y="45973"/>
                </a:lnTo>
                <a:lnTo>
                  <a:pt x="723646" y="40385"/>
                </a:lnTo>
                <a:lnTo>
                  <a:pt x="725551" y="37718"/>
                </a:lnTo>
                <a:lnTo>
                  <a:pt x="733552" y="35178"/>
                </a:lnTo>
                <a:lnTo>
                  <a:pt x="735457" y="30987"/>
                </a:lnTo>
                <a:lnTo>
                  <a:pt x="737489" y="36575"/>
                </a:lnTo>
                <a:lnTo>
                  <a:pt x="739394" y="46354"/>
                </a:lnTo>
                <a:lnTo>
                  <a:pt x="741426" y="52069"/>
                </a:lnTo>
                <a:lnTo>
                  <a:pt x="747268" y="53466"/>
                </a:lnTo>
                <a:lnTo>
                  <a:pt x="749300" y="59054"/>
                </a:lnTo>
                <a:lnTo>
                  <a:pt x="751332" y="73024"/>
                </a:lnTo>
                <a:lnTo>
                  <a:pt x="753237" y="66166"/>
                </a:lnTo>
                <a:lnTo>
                  <a:pt x="755269" y="63372"/>
                </a:lnTo>
                <a:lnTo>
                  <a:pt x="761111" y="66293"/>
                </a:lnTo>
                <a:lnTo>
                  <a:pt x="763143" y="66293"/>
                </a:lnTo>
                <a:lnTo>
                  <a:pt x="765175" y="65023"/>
                </a:lnTo>
                <a:lnTo>
                  <a:pt x="767080" y="65150"/>
                </a:lnTo>
                <a:lnTo>
                  <a:pt x="769112" y="63626"/>
                </a:lnTo>
                <a:lnTo>
                  <a:pt x="774954" y="63753"/>
                </a:lnTo>
                <a:lnTo>
                  <a:pt x="776986" y="58292"/>
                </a:lnTo>
                <a:lnTo>
                  <a:pt x="779018" y="58419"/>
                </a:lnTo>
                <a:lnTo>
                  <a:pt x="780923" y="61213"/>
                </a:lnTo>
                <a:lnTo>
                  <a:pt x="782955" y="64007"/>
                </a:lnTo>
                <a:lnTo>
                  <a:pt x="788797" y="61340"/>
                </a:lnTo>
                <a:lnTo>
                  <a:pt x="790829" y="59943"/>
                </a:lnTo>
                <a:lnTo>
                  <a:pt x="792861" y="57276"/>
                </a:lnTo>
                <a:lnTo>
                  <a:pt x="794766" y="57276"/>
                </a:lnTo>
                <a:lnTo>
                  <a:pt x="796798" y="55879"/>
                </a:lnTo>
                <a:lnTo>
                  <a:pt x="802640" y="49021"/>
                </a:lnTo>
                <a:lnTo>
                  <a:pt x="804672" y="50545"/>
                </a:lnTo>
                <a:lnTo>
                  <a:pt x="806704" y="56133"/>
                </a:lnTo>
                <a:lnTo>
                  <a:pt x="808609" y="56133"/>
                </a:lnTo>
                <a:lnTo>
                  <a:pt x="810641" y="58927"/>
                </a:lnTo>
                <a:lnTo>
                  <a:pt x="816483" y="46608"/>
                </a:lnTo>
                <a:lnTo>
                  <a:pt x="818515" y="56387"/>
                </a:lnTo>
                <a:lnTo>
                  <a:pt x="820419" y="66166"/>
                </a:lnTo>
                <a:lnTo>
                  <a:pt x="822452" y="73151"/>
                </a:lnTo>
                <a:lnTo>
                  <a:pt x="824484" y="68960"/>
                </a:lnTo>
                <a:lnTo>
                  <a:pt x="830326" y="73278"/>
                </a:lnTo>
                <a:lnTo>
                  <a:pt x="832358" y="83057"/>
                </a:lnTo>
                <a:lnTo>
                  <a:pt x="834263" y="85851"/>
                </a:lnTo>
                <a:lnTo>
                  <a:pt x="836294" y="85978"/>
                </a:lnTo>
                <a:lnTo>
                  <a:pt x="838327" y="95757"/>
                </a:lnTo>
                <a:lnTo>
                  <a:pt x="844169" y="108330"/>
                </a:lnTo>
                <a:lnTo>
                  <a:pt x="846201" y="98678"/>
                </a:lnTo>
                <a:lnTo>
                  <a:pt x="848106" y="97408"/>
                </a:lnTo>
                <a:lnTo>
                  <a:pt x="850138" y="104393"/>
                </a:lnTo>
                <a:lnTo>
                  <a:pt x="852169" y="108457"/>
                </a:lnTo>
                <a:lnTo>
                  <a:pt x="858012" y="126745"/>
                </a:lnTo>
                <a:lnTo>
                  <a:pt x="860044" y="140715"/>
                </a:lnTo>
                <a:lnTo>
                  <a:pt x="861949" y="138048"/>
                </a:lnTo>
                <a:lnTo>
                  <a:pt x="863981" y="132460"/>
                </a:lnTo>
                <a:lnTo>
                  <a:pt x="866013" y="118490"/>
                </a:lnTo>
                <a:lnTo>
                  <a:pt x="871855" y="129793"/>
                </a:lnTo>
                <a:lnTo>
                  <a:pt x="873887" y="125729"/>
                </a:lnTo>
                <a:lnTo>
                  <a:pt x="875791" y="117474"/>
                </a:lnTo>
                <a:lnTo>
                  <a:pt x="877824" y="125729"/>
                </a:lnTo>
                <a:lnTo>
                  <a:pt x="879856" y="135508"/>
                </a:lnTo>
                <a:lnTo>
                  <a:pt x="885697" y="134365"/>
                </a:lnTo>
                <a:lnTo>
                  <a:pt x="887730" y="124586"/>
                </a:lnTo>
                <a:lnTo>
                  <a:pt x="889635" y="123189"/>
                </a:lnTo>
                <a:lnTo>
                  <a:pt x="891666" y="123316"/>
                </a:lnTo>
                <a:lnTo>
                  <a:pt x="893572" y="124713"/>
                </a:lnTo>
                <a:lnTo>
                  <a:pt x="899541" y="129031"/>
                </a:lnTo>
                <a:lnTo>
                  <a:pt x="901572" y="143001"/>
                </a:lnTo>
                <a:lnTo>
                  <a:pt x="903478" y="141604"/>
                </a:lnTo>
                <a:lnTo>
                  <a:pt x="905510" y="136016"/>
                </a:lnTo>
                <a:lnTo>
                  <a:pt x="915416" y="119633"/>
                </a:lnTo>
                <a:lnTo>
                  <a:pt x="917321" y="119633"/>
                </a:lnTo>
                <a:lnTo>
                  <a:pt x="919353" y="104393"/>
                </a:lnTo>
                <a:lnTo>
                  <a:pt x="921258" y="101726"/>
                </a:lnTo>
                <a:lnTo>
                  <a:pt x="927227" y="111505"/>
                </a:lnTo>
                <a:lnTo>
                  <a:pt x="929259" y="110108"/>
                </a:lnTo>
                <a:lnTo>
                  <a:pt x="931163" y="101726"/>
                </a:lnTo>
                <a:lnTo>
                  <a:pt x="933196" y="100456"/>
                </a:lnTo>
                <a:lnTo>
                  <a:pt x="935101" y="86613"/>
                </a:lnTo>
                <a:lnTo>
                  <a:pt x="941069" y="78485"/>
                </a:lnTo>
                <a:lnTo>
                  <a:pt x="943102" y="72897"/>
                </a:lnTo>
                <a:lnTo>
                  <a:pt x="945007" y="75691"/>
                </a:lnTo>
                <a:lnTo>
                  <a:pt x="947038" y="79882"/>
                </a:lnTo>
                <a:lnTo>
                  <a:pt x="948944" y="77215"/>
                </a:lnTo>
                <a:lnTo>
                  <a:pt x="954913" y="71754"/>
                </a:lnTo>
                <a:lnTo>
                  <a:pt x="956944" y="75945"/>
                </a:lnTo>
                <a:lnTo>
                  <a:pt x="958850" y="80136"/>
                </a:lnTo>
                <a:lnTo>
                  <a:pt x="960882" y="84454"/>
                </a:lnTo>
                <a:lnTo>
                  <a:pt x="962787" y="80263"/>
                </a:lnTo>
                <a:lnTo>
                  <a:pt x="970788" y="77723"/>
                </a:lnTo>
                <a:lnTo>
                  <a:pt x="972693" y="76326"/>
                </a:lnTo>
                <a:lnTo>
                  <a:pt x="974725" y="75056"/>
                </a:lnTo>
                <a:lnTo>
                  <a:pt x="976630" y="68071"/>
                </a:lnTo>
                <a:lnTo>
                  <a:pt x="982599" y="61213"/>
                </a:lnTo>
                <a:lnTo>
                  <a:pt x="984631" y="57022"/>
                </a:lnTo>
                <a:lnTo>
                  <a:pt x="986536" y="64134"/>
                </a:lnTo>
                <a:lnTo>
                  <a:pt x="988568" y="75310"/>
                </a:lnTo>
                <a:lnTo>
                  <a:pt x="990472" y="76707"/>
                </a:lnTo>
                <a:lnTo>
                  <a:pt x="996441" y="72516"/>
                </a:lnTo>
                <a:lnTo>
                  <a:pt x="998474" y="69849"/>
                </a:lnTo>
                <a:lnTo>
                  <a:pt x="1000379" y="71373"/>
                </a:lnTo>
                <a:lnTo>
                  <a:pt x="1002411" y="76961"/>
                </a:lnTo>
                <a:lnTo>
                  <a:pt x="1004316" y="75564"/>
                </a:lnTo>
                <a:lnTo>
                  <a:pt x="1010285" y="81279"/>
                </a:lnTo>
                <a:lnTo>
                  <a:pt x="1012316" y="70103"/>
                </a:lnTo>
                <a:lnTo>
                  <a:pt x="1014222" y="66039"/>
                </a:lnTo>
                <a:lnTo>
                  <a:pt x="1016254" y="63245"/>
                </a:lnTo>
                <a:lnTo>
                  <a:pt x="1018159" y="66039"/>
                </a:lnTo>
                <a:lnTo>
                  <a:pt x="1026160" y="63499"/>
                </a:lnTo>
                <a:lnTo>
                  <a:pt x="1028065" y="60832"/>
                </a:lnTo>
                <a:lnTo>
                  <a:pt x="1030097" y="55371"/>
                </a:lnTo>
                <a:lnTo>
                  <a:pt x="1032002" y="58165"/>
                </a:lnTo>
                <a:lnTo>
                  <a:pt x="1037971" y="51307"/>
                </a:lnTo>
                <a:lnTo>
                  <a:pt x="1039876" y="48640"/>
                </a:lnTo>
                <a:lnTo>
                  <a:pt x="1041908" y="44449"/>
                </a:lnTo>
                <a:lnTo>
                  <a:pt x="1043940" y="37464"/>
                </a:lnTo>
                <a:lnTo>
                  <a:pt x="1045844" y="36067"/>
                </a:lnTo>
                <a:lnTo>
                  <a:pt x="1051814" y="29336"/>
                </a:lnTo>
                <a:lnTo>
                  <a:pt x="1053719" y="36321"/>
                </a:lnTo>
                <a:lnTo>
                  <a:pt x="1055751" y="40512"/>
                </a:lnTo>
                <a:lnTo>
                  <a:pt x="1057783" y="39242"/>
                </a:lnTo>
                <a:lnTo>
                  <a:pt x="1059688" y="47624"/>
                </a:lnTo>
                <a:lnTo>
                  <a:pt x="1065657" y="35178"/>
                </a:lnTo>
                <a:lnTo>
                  <a:pt x="1067562" y="40766"/>
                </a:lnTo>
                <a:lnTo>
                  <a:pt x="1069594" y="46354"/>
                </a:lnTo>
                <a:lnTo>
                  <a:pt x="1071626" y="53339"/>
                </a:lnTo>
                <a:lnTo>
                  <a:pt x="1073531" y="43687"/>
                </a:lnTo>
                <a:lnTo>
                  <a:pt x="1079500" y="48005"/>
                </a:lnTo>
                <a:lnTo>
                  <a:pt x="1081405" y="43814"/>
                </a:lnTo>
                <a:lnTo>
                  <a:pt x="1083437" y="45338"/>
                </a:lnTo>
                <a:lnTo>
                  <a:pt x="1085469" y="52323"/>
                </a:lnTo>
                <a:lnTo>
                  <a:pt x="1087374" y="45465"/>
                </a:lnTo>
                <a:lnTo>
                  <a:pt x="1095248" y="45592"/>
                </a:lnTo>
                <a:lnTo>
                  <a:pt x="1097280" y="42798"/>
                </a:lnTo>
                <a:lnTo>
                  <a:pt x="1099312" y="38734"/>
                </a:lnTo>
                <a:lnTo>
                  <a:pt x="1101217" y="41528"/>
                </a:lnTo>
                <a:lnTo>
                  <a:pt x="1107186" y="34670"/>
                </a:lnTo>
                <a:lnTo>
                  <a:pt x="1109091" y="44449"/>
                </a:lnTo>
                <a:lnTo>
                  <a:pt x="1111123" y="43052"/>
                </a:lnTo>
                <a:lnTo>
                  <a:pt x="1113028" y="43052"/>
                </a:lnTo>
                <a:lnTo>
                  <a:pt x="1115060" y="37591"/>
                </a:lnTo>
                <a:lnTo>
                  <a:pt x="1121029" y="26669"/>
                </a:lnTo>
                <a:lnTo>
                  <a:pt x="1122934" y="33654"/>
                </a:lnTo>
                <a:lnTo>
                  <a:pt x="1124966" y="35051"/>
                </a:lnTo>
                <a:lnTo>
                  <a:pt x="1126871" y="40639"/>
                </a:lnTo>
                <a:lnTo>
                  <a:pt x="1128903" y="46227"/>
                </a:lnTo>
                <a:lnTo>
                  <a:pt x="1134872" y="39369"/>
                </a:lnTo>
                <a:lnTo>
                  <a:pt x="1136777" y="40893"/>
                </a:lnTo>
                <a:lnTo>
                  <a:pt x="1138809" y="45084"/>
                </a:lnTo>
                <a:lnTo>
                  <a:pt x="1140714" y="49275"/>
                </a:lnTo>
                <a:lnTo>
                  <a:pt x="1142746" y="46481"/>
                </a:lnTo>
                <a:lnTo>
                  <a:pt x="1148715" y="46608"/>
                </a:lnTo>
                <a:lnTo>
                  <a:pt x="1150620" y="36956"/>
                </a:lnTo>
                <a:lnTo>
                  <a:pt x="1152652" y="37083"/>
                </a:lnTo>
                <a:lnTo>
                  <a:pt x="1154557" y="35813"/>
                </a:lnTo>
                <a:lnTo>
                  <a:pt x="1156589" y="37083"/>
                </a:lnTo>
                <a:lnTo>
                  <a:pt x="1162558" y="44195"/>
                </a:lnTo>
                <a:lnTo>
                  <a:pt x="1164463" y="46989"/>
                </a:lnTo>
                <a:lnTo>
                  <a:pt x="1166495" y="51180"/>
                </a:lnTo>
                <a:lnTo>
                  <a:pt x="1168400" y="53974"/>
                </a:lnTo>
                <a:lnTo>
                  <a:pt x="1170432" y="49910"/>
                </a:lnTo>
                <a:lnTo>
                  <a:pt x="1176401" y="44449"/>
                </a:lnTo>
                <a:lnTo>
                  <a:pt x="1178306" y="37591"/>
                </a:lnTo>
                <a:lnTo>
                  <a:pt x="1180338" y="37591"/>
                </a:lnTo>
                <a:lnTo>
                  <a:pt x="1182243" y="36194"/>
                </a:lnTo>
                <a:lnTo>
                  <a:pt x="1184275" y="30733"/>
                </a:lnTo>
                <a:lnTo>
                  <a:pt x="1190244" y="29463"/>
                </a:lnTo>
                <a:lnTo>
                  <a:pt x="1192149" y="25399"/>
                </a:lnTo>
                <a:lnTo>
                  <a:pt x="1194181" y="22732"/>
                </a:lnTo>
                <a:lnTo>
                  <a:pt x="1196086" y="19938"/>
                </a:lnTo>
                <a:lnTo>
                  <a:pt x="1205992" y="21589"/>
                </a:lnTo>
                <a:lnTo>
                  <a:pt x="1208024" y="7746"/>
                </a:lnTo>
                <a:lnTo>
                  <a:pt x="1209929" y="6349"/>
                </a:lnTo>
                <a:lnTo>
                  <a:pt x="1211961" y="5079"/>
                </a:lnTo>
                <a:lnTo>
                  <a:pt x="1217930" y="6476"/>
                </a:lnTo>
                <a:lnTo>
                  <a:pt x="1219835" y="8000"/>
                </a:lnTo>
                <a:lnTo>
                  <a:pt x="1221867" y="9524"/>
                </a:lnTo>
                <a:lnTo>
                  <a:pt x="1223772" y="10794"/>
                </a:lnTo>
                <a:lnTo>
                  <a:pt x="1225804" y="9524"/>
                </a:lnTo>
                <a:lnTo>
                  <a:pt x="1231773" y="6857"/>
                </a:lnTo>
                <a:lnTo>
                  <a:pt x="1233678" y="1396"/>
                </a:lnTo>
                <a:lnTo>
                  <a:pt x="1235710" y="0"/>
                </a:lnTo>
                <a:lnTo>
                  <a:pt x="1237615" y="9651"/>
                </a:lnTo>
                <a:lnTo>
                  <a:pt x="1239647" y="5714"/>
                </a:lnTo>
                <a:lnTo>
                  <a:pt x="1245616" y="11302"/>
                </a:lnTo>
                <a:lnTo>
                  <a:pt x="1247521" y="18287"/>
                </a:lnTo>
                <a:lnTo>
                  <a:pt x="1249553" y="18287"/>
                </a:lnTo>
                <a:lnTo>
                  <a:pt x="1251458" y="19684"/>
                </a:lnTo>
                <a:lnTo>
                  <a:pt x="1253490" y="23875"/>
                </a:lnTo>
                <a:lnTo>
                  <a:pt x="1259332" y="36448"/>
                </a:lnTo>
                <a:lnTo>
                  <a:pt x="1261364" y="43433"/>
                </a:lnTo>
                <a:lnTo>
                  <a:pt x="1263396" y="57403"/>
                </a:lnTo>
                <a:lnTo>
                  <a:pt x="1265301" y="53212"/>
                </a:lnTo>
                <a:lnTo>
                  <a:pt x="1267333" y="57530"/>
                </a:lnTo>
                <a:lnTo>
                  <a:pt x="1273175" y="58927"/>
                </a:lnTo>
                <a:lnTo>
                  <a:pt x="1275207" y="58927"/>
                </a:lnTo>
                <a:lnTo>
                  <a:pt x="1277239" y="75691"/>
                </a:lnTo>
                <a:lnTo>
                  <a:pt x="1279144" y="70230"/>
                </a:lnTo>
                <a:lnTo>
                  <a:pt x="1281176" y="68833"/>
                </a:lnTo>
                <a:lnTo>
                  <a:pt x="1287018" y="74548"/>
                </a:lnTo>
                <a:lnTo>
                  <a:pt x="1289050" y="78739"/>
                </a:lnTo>
                <a:lnTo>
                  <a:pt x="1291082" y="81533"/>
                </a:lnTo>
                <a:lnTo>
                  <a:pt x="1292987" y="77469"/>
                </a:lnTo>
                <a:lnTo>
                  <a:pt x="1295019" y="70484"/>
                </a:lnTo>
                <a:lnTo>
                  <a:pt x="1300861" y="72135"/>
                </a:lnTo>
                <a:lnTo>
                  <a:pt x="1302893" y="73405"/>
                </a:lnTo>
                <a:lnTo>
                  <a:pt x="1304925" y="85978"/>
                </a:lnTo>
                <a:lnTo>
                  <a:pt x="1306830" y="80517"/>
                </a:lnTo>
                <a:lnTo>
                  <a:pt x="1308862" y="85978"/>
                </a:lnTo>
                <a:lnTo>
                  <a:pt x="1314704" y="83438"/>
                </a:lnTo>
                <a:lnTo>
                  <a:pt x="1316736" y="82041"/>
                </a:lnTo>
                <a:lnTo>
                  <a:pt x="1318768" y="82041"/>
                </a:lnTo>
                <a:lnTo>
                  <a:pt x="1320673" y="72389"/>
                </a:lnTo>
                <a:lnTo>
                  <a:pt x="1322705" y="71119"/>
                </a:lnTo>
                <a:lnTo>
                  <a:pt x="1328547" y="75437"/>
                </a:lnTo>
                <a:lnTo>
                  <a:pt x="1330579" y="90677"/>
                </a:lnTo>
                <a:lnTo>
                  <a:pt x="1332484" y="85216"/>
                </a:lnTo>
                <a:lnTo>
                  <a:pt x="1334516" y="83819"/>
                </a:lnTo>
                <a:lnTo>
                  <a:pt x="1336548" y="85343"/>
                </a:lnTo>
                <a:lnTo>
                  <a:pt x="1342390" y="86740"/>
                </a:lnTo>
                <a:lnTo>
                  <a:pt x="1344422" y="78485"/>
                </a:lnTo>
                <a:lnTo>
                  <a:pt x="1346327" y="75691"/>
                </a:lnTo>
                <a:lnTo>
                  <a:pt x="1348359" y="85470"/>
                </a:lnTo>
                <a:lnTo>
                  <a:pt x="1350391" y="88391"/>
                </a:lnTo>
                <a:lnTo>
                  <a:pt x="1356233" y="88518"/>
                </a:lnTo>
                <a:lnTo>
                  <a:pt x="1358265" y="91312"/>
                </a:lnTo>
                <a:lnTo>
                  <a:pt x="1360170" y="98297"/>
                </a:lnTo>
                <a:lnTo>
                  <a:pt x="1362202" y="112013"/>
                </a:lnTo>
                <a:lnTo>
                  <a:pt x="1364234" y="109346"/>
                </a:lnTo>
                <a:lnTo>
                  <a:pt x="1370076" y="105282"/>
                </a:lnTo>
                <a:lnTo>
                  <a:pt x="1372108" y="101218"/>
                </a:lnTo>
                <a:lnTo>
                  <a:pt x="1374013" y="110997"/>
                </a:lnTo>
                <a:lnTo>
                  <a:pt x="1376045" y="123443"/>
                </a:lnTo>
                <a:lnTo>
                  <a:pt x="1378077" y="123443"/>
                </a:lnTo>
                <a:lnTo>
                  <a:pt x="1383919" y="129158"/>
                </a:lnTo>
                <a:lnTo>
                  <a:pt x="1385951" y="134746"/>
                </a:lnTo>
                <a:lnTo>
                  <a:pt x="1387856" y="133349"/>
                </a:lnTo>
                <a:lnTo>
                  <a:pt x="1389888" y="140334"/>
                </a:lnTo>
                <a:lnTo>
                  <a:pt x="1391920" y="125094"/>
                </a:lnTo>
                <a:lnTo>
                  <a:pt x="1397762" y="116966"/>
                </a:lnTo>
                <a:lnTo>
                  <a:pt x="1399794" y="115569"/>
                </a:lnTo>
                <a:lnTo>
                  <a:pt x="1401699" y="108711"/>
                </a:lnTo>
                <a:lnTo>
                  <a:pt x="1403731" y="111632"/>
                </a:lnTo>
                <a:lnTo>
                  <a:pt x="1405636" y="110235"/>
                </a:lnTo>
                <a:lnTo>
                  <a:pt x="1411605" y="120014"/>
                </a:lnTo>
                <a:lnTo>
                  <a:pt x="1413637" y="121538"/>
                </a:lnTo>
                <a:lnTo>
                  <a:pt x="1415542" y="113156"/>
                </a:lnTo>
                <a:lnTo>
                  <a:pt x="1417574" y="118744"/>
                </a:lnTo>
                <a:lnTo>
                  <a:pt x="1419479" y="121538"/>
                </a:lnTo>
                <a:lnTo>
                  <a:pt x="1425448" y="113410"/>
                </a:lnTo>
                <a:lnTo>
                  <a:pt x="1427480" y="131444"/>
                </a:lnTo>
                <a:lnTo>
                  <a:pt x="1429385" y="137032"/>
                </a:lnTo>
                <a:lnTo>
                  <a:pt x="1431417" y="134238"/>
                </a:lnTo>
                <a:lnTo>
                  <a:pt x="1443228" y="134492"/>
                </a:lnTo>
                <a:lnTo>
                  <a:pt x="1445260" y="133095"/>
                </a:lnTo>
                <a:lnTo>
                  <a:pt x="1447165" y="131698"/>
                </a:lnTo>
                <a:lnTo>
                  <a:pt x="1455166" y="129158"/>
                </a:lnTo>
                <a:lnTo>
                  <a:pt x="1457071" y="140334"/>
                </a:lnTo>
                <a:lnTo>
                  <a:pt x="1459103" y="141604"/>
                </a:lnTo>
                <a:lnTo>
                  <a:pt x="1461008" y="158241"/>
                </a:lnTo>
                <a:lnTo>
                  <a:pt x="1466977" y="170941"/>
                </a:lnTo>
                <a:lnTo>
                  <a:pt x="1469009" y="172338"/>
                </a:lnTo>
                <a:lnTo>
                  <a:pt x="1470914" y="170941"/>
                </a:lnTo>
                <a:lnTo>
                  <a:pt x="1472946" y="170941"/>
                </a:lnTo>
                <a:lnTo>
                  <a:pt x="1474851" y="179323"/>
                </a:lnTo>
                <a:lnTo>
                  <a:pt x="1480820" y="191896"/>
                </a:lnTo>
                <a:lnTo>
                  <a:pt x="1482852" y="203072"/>
                </a:lnTo>
                <a:lnTo>
                  <a:pt x="1484757" y="212724"/>
                </a:lnTo>
                <a:lnTo>
                  <a:pt x="1486789" y="214121"/>
                </a:lnTo>
                <a:lnTo>
                  <a:pt x="1488694" y="197484"/>
                </a:lnTo>
                <a:lnTo>
                  <a:pt x="1494663" y="187959"/>
                </a:lnTo>
                <a:lnTo>
                  <a:pt x="1496695" y="192277"/>
                </a:lnTo>
                <a:lnTo>
                  <a:pt x="1498600" y="208787"/>
                </a:lnTo>
                <a:lnTo>
                  <a:pt x="1500632" y="201929"/>
                </a:lnTo>
                <a:lnTo>
                  <a:pt x="1502537" y="184149"/>
                </a:lnTo>
                <a:lnTo>
                  <a:pt x="1508506" y="173100"/>
                </a:lnTo>
                <a:lnTo>
                  <a:pt x="1510538" y="182879"/>
                </a:lnTo>
                <a:lnTo>
                  <a:pt x="1512443" y="196722"/>
                </a:lnTo>
                <a:lnTo>
                  <a:pt x="1514475" y="174497"/>
                </a:lnTo>
                <a:lnTo>
                  <a:pt x="1516380" y="191134"/>
                </a:lnTo>
                <a:lnTo>
                  <a:pt x="1522349" y="188594"/>
                </a:lnTo>
                <a:lnTo>
                  <a:pt x="1524381" y="205231"/>
                </a:lnTo>
                <a:lnTo>
                  <a:pt x="1526286" y="202437"/>
                </a:lnTo>
                <a:lnTo>
                  <a:pt x="1528318" y="198373"/>
                </a:lnTo>
                <a:lnTo>
                  <a:pt x="1530223" y="202564"/>
                </a:lnTo>
                <a:lnTo>
                  <a:pt x="1536192" y="224789"/>
                </a:lnTo>
                <a:lnTo>
                  <a:pt x="1538224" y="221995"/>
                </a:lnTo>
                <a:lnTo>
                  <a:pt x="1540129" y="210946"/>
                </a:lnTo>
                <a:lnTo>
                  <a:pt x="1542161" y="220725"/>
                </a:lnTo>
                <a:lnTo>
                  <a:pt x="1544066" y="223646"/>
                </a:lnTo>
                <a:lnTo>
                  <a:pt x="1550035" y="220852"/>
                </a:lnTo>
                <a:lnTo>
                  <a:pt x="1551940" y="226440"/>
                </a:lnTo>
                <a:lnTo>
                  <a:pt x="1553972" y="234822"/>
                </a:lnTo>
                <a:lnTo>
                  <a:pt x="1556004" y="252856"/>
                </a:lnTo>
                <a:lnTo>
                  <a:pt x="1556033" y="253545"/>
                </a:lnTo>
                <a:lnTo>
                  <a:pt x="1556242" y="258365"/>
                </a:lnTo>
                <a:lnTo>
                  <a:pt x="1556807" y="271448"/>
                </a:lnTo>
                <a:lnTo>
                  <a:pt x="1557909" y="296925"/>
                </a:lnTo>
                <a:lnTo>
                  <a:pt x="1563878" y="295782"/>
                </a:lnTo>
                <a:lnTo>
                  <a:pt x="1565783" y="313689"/>
                </a:lnTo>
                <a:lnTo>
                  <a:pt x="1565814" y="314209"/>
                </a:lnTo>
                <a:lnTo>
                  <a:pt x="1566037" y="317849"/>
                </a:lnTo>
                <a:lnTo>
                  <a:pt x="1566640" y="327727"/>
                </a:lnTo>
                <a:lnTo>
                  <a:pt x="1567815" y="346963"/>
                </a:lnTo>
                <a:lnTo>
                  <a:pt x="1569847" y="351154"/>
                </a:lnTo>
                <a:lnTo>
                  <a:pt x="1569876" y="351651"/>
                </a:lnTo>
                <a:lnTo>
                  <a:pt x="1570085" y="355123"/>
                </a:lnTo>
                <a:lnTo>
                  <a:pt x="1570650" y="364549"/>
                </a:lnTo>
                <a:lnTo>
                  <a:pt x="1571752" y="382904"/>
                </a:lnTo>
                <a:lnTo>
                  <a:pt x="1577721" y="402335"/>
                </a:lnTo>
                <a:lnTo>
                  <a:pt x="1579626" y="423036"/>
                </a:lnTo>
                <a:lnTo>
                  <a:pt x="1581658" y="431291"/>
                </a:lnTo>
                <a:lnTo>
                  <a:pt x="1583690" y="418972"/>
                </a:lnTo>
                <a:lnTo>
                  <a:pt x="1585595" y="420496"/>
                </a:lnTo>
                <a:lnTo>
                  <a:pt x="1591564" y="413638"/>
                </a:lnTo>
                <a:lnTo>
                  <a:pt x="1593469" y="419099"/>
                </a:lnTo>
                <a:lnTo>
                  <a:pt x="1595501" y="426084"/>
                </a:lnTo>
                <a:lnTo>
                  <a:pt x="1597533" y="410971"/>
                </a:lnTo>
                <a:lnTo>
                  <a:pt x="1599438" y="402716"/>
                </a:lnTo>
                <a:lnTo>
                  <a:pt x="1605407" y="395858"/>
                </a:lnTo>
                <a:lnTo>
                  <a:pt x="1607312" y="395858"/>
                </a:lnTo>
                <a:lnTo>
                  <a:pt x="1609344" y="408304"/>
                </a:lnTo>
                <a:lnTo>
                  <a:pt x="1611376" y="408431"/>
                </a:lnTo>
                <a:lnTo>
                  <a:pt x="1613281" y="404367"/>
                </a:lnTo>
                <a:lnTo>
                  <a:pt x="1619250" y="407161"/>
                </a:lnTo>
                <a:lnTo>
                  <a:pt x="1621155" y="400303"/>
                </a:lnTo>
                <a:lnTo>
                  <a:pt x="1623187" y="383793"/>
                </a:lnTo>
                <a:lnTo>
                  <a:pt x="1625219" y="374141"/>
                </a:lnTo>
                <a:lnTo>
                  <a:pt x="1627124" y="370077"/>
                </a:lnTo>
                <a:lnTo>
                  <a:pt x="1633093" y="372871"/>
                </a:lnTo>
                <a:lnTo>
                  <a:pt x="1634998" y="366013"/>
                </a:lnTo>
                <a:lnTo>
                  <a:pt x="1637030" y="371728"/>
                </a:lnTo>
                <a:lnTo>
                  <a:pt x="1638935" y="384047"/>
                </a:lnTo>
                <a:lnTo>
                  <a:pt x="1640967" y="386841"/>
                </a:lnTo>
                <a:lnTo>
                  <a:pt x="1646936" y="392429"/>
                </a:lnTo>
                <a:lnTo>
                  <a:pt x="1646965" y="392840"/>
                </a:lnTo>
                <a:lnTo>
                  <a:pt x="1647174" y="395716"/>
                </a:lnTo>
                <a:lnTo>
                  <a:pt x="1647739" y="403520"/>
                </a:lnTo>
                <a:lnTo>
                  <a:pt x="1648841" y="418718"/>
                </a:lnTo>
                <a:lnTo>
                  <a:pt x="1650873" y="407796"/>
                </a:lnTo>
                <a:lnTo>
                  <a:pt x="1650873" y="407796"/>
                </a:lnTo>
                <a:lnTo>
                  <a:pt x="1652777" y="421513"/>
                </a:lnTo>
                <a:lnTo>
                  <a:pt x="1662683" y="411988"/>
                </a:lnTo>
                <a:lnTo>
                  <a:pt x="1664716" y="425957"/>
                </a:lnTo>
                <a:lnTo>
                  <a:pt x="1666620" y="424688"/>
                </a:lnTo>
                <a:lnTo>
                  <a:pt x="1668652" y="427354"/>
                </a:lnTo>
                <a:lnTo>
                  <a:pt x="1674622" y="432942"/>
                </a:lnTo>
                <a:lnTo>
                  <a:pt x="1676527" y="442721"/>
                </a:lnTo>
                <a:lnTo>
                  <a:pt x="1678558" y="441324"/>
                </a:lnTo>
                <a:lnTo>
                  <a:pt x="1680464" y="452373"/>
                </a:lnTo>
                <a:lnTo>
                  <a:pt x="1682495" y="457961"/>
                </a:lnTo>
                <a:lnTo>
                  <a:pt x="1690370" y="464946"/>
                </a:lnTo>
                <a:lnTo>
                  <a:pt x="1690401" y="465399"/>
                </a:lnTo>
                <a:lnTo>
                  <a:pt x="1690624" y="468566"/>
                </a:lnTo>
                <a:lnTo>
                  <a:pt x="1691227" y="477162"/>
                </a:lnTo>
                <a:lnTo>
                  <a:pt x="1692402" y="493902"/>
                </a:lnTo>
                <a:lnTo>
                  <a:pt x="1694307" y="480313"/>
                </a:lnTo>
                <a:lnTo>
                  <a:pt x="1696339" y="482980"/>
                </a:lnTo>
                <a:lnTo>
                  <a:pt x="1696432" y="483393"/>
                </a:lnTo>
                <a:lnTo>
                  <a:pt x="1697085" y="486282"/>
                </a:lnTo>
                <a:lnTo>
                  <a:pt x="1698857" y="494125"/>
                </a:lnTo>
                <a:lnTo>
                  <a:pt x="1702308" y="509396"/>
                </a:lnTo>
                <a:lnTo>
                  <a:pt x="1704213" y="521715"/>
                </a:lnTo>
                <a:lnTo>
                  <a:pt x="1706245" y="503808"/>
                </a:lnTo>
                <a:lnTo>
                  <a:pt x="1708150" y="509396"/>
                </a:lnTo>
                <a:lnTo>
                  <a:pt x="1710182" y="510793"/>
                </a:lnTo>
                <a:lnTo>
                  <a:pt x="1716151" y="514984"/>
                </a:lnTo>
                <a:lnTo>
                  <a:pt x="1718056" y="520572"/>
                </a:lnTo>
                <a:lnTo>
                  <a:pt x="1720088" y="528954"/>
                </a:lnTo>
                <a:lnTo>
                  <a:pt x="1721993" y="528954"/>
                </a:lnTo>
                <a:lnTo>
                  <a:pt x="1724025" y="534415"/>
                </a:lnTo>
                <a:lnTo>
                  <a:pt x="1729994" y="527684"/>
                </a:lnTo>
                <a:lnTo>
                  <a:pt x="1731899" y="529082"/>
                </a:lnTo>
                <a:lnTo>
                  <a:pt x="1733931" y="527684"/>
                </a:lnTo>
                <a:lnTo>
                  <a:pt x="1735836" y="518159"/>
                </a:lnTo>
                <a:lnTo>
                  <a:pt x="1737868" y="513968"/>
                </a:lnTo>
                <a:lnTo>
                  <a:pt x="1743837" y="503173"/>
                </a:lnTo>
                <a:lnTo>
                  <a:pt x="1745742" y="505967"/>
                </a:lnTo>
                <a:lnTo>
                  <a:pt x="1747774" y="512825"/>
                </a:lnTo>
                <a:lnTo>
                  <a:pt x="1757680" y="517016"/>
                </a:lnTo>
                <a:lnTo>
                  <a:pt x="1759585" y="522731"/>
                </a:lnTo>
                <a:lnTo>
                  <a:pt x="1761617" y="524001"/>
                </a:lnTo>
                <a:lnTo>
                  <a:pt x="1763522" y="543305"/>
                </a:lnTo>
                <a:lnTo>
                  <a:pt x="1771523" y="542162"/>
                </a:lnTo>
                <a:lnTo>
                  <a:pt x="1771552" y="542938"/>
                </a:lnTo>
                <a:lnTo>
                  <a:pt x="1771761" y="548370"/>
                </a:lnTo>
                <a:lnTo>
                  <a:pt x="1772326" y="563112"/>
                </a:lnTo>
                <a:lnTo>
                  <a:pt x="1773427" y="591819"/>
                </a:lnTo>
                <a:lnTo>
                  <a:pt x="1773427" y="591819"/>
                </a:lnTo>
                <a:lnTo>
                  <a:pt x="1775460" y="601471"/>
                </a:lnTo>
                <a:lnTo>
                  <a:pt x="1777364" y="602868"/>
                </a:lnTo>
                <a:lnTo>
                  <a:pt x="1779397" y="608457"/>
                </a:lnTo>
                <a:lnTo>
                  <a:pt x="1785239" y="609854"/>
                </a:lnTo>
                <a:lnTo>
                  <a:pt x="1787270" y="612647"/>
                </a:lnTo>
                <a:lnTo>
                  <a:pt x="1789302" y="626490"/>
                </a:lnTo>
                <a:lnTo>
                  <a:pt x="1791208" y="630682"/>
                </a:lnTo>
                <a:lnTo>
                  <a:pt x="1793239" y="630682"/>
                </a:lnTo>
                <a:lnTo>
                  <a:pt x="1799082" y="637666"/>
                </a:lnTo>
                <a:lnTo>
                  <a:pt x="1801114" y="643127"/>
                </a:lnTo>
                <a:lnTo>
                  <a:pt x="1803145" y="654304"/>
                </a:lnTo>
                <a:lnTo>
                  <a:pt x="1805051" y="662432"/>
                </a:lnTo>
                <a:lnTo>
                  <a:pt x="1807083" y="669416"/>
                </a:lnTo>
                <a:lnTo>
                  <a:pt x="1812925" y="653033"/>
                </a:lnTo>
                <a:lnTo>
                  <a:pt x="1816989" y="665352"/>
                </a:lnTo>
                <a:lnTo>
                  <a:pt x="1818894" y="655827"/>
                </a:lnTo>
                <a:lnTo>
                  <a:pt x="1820926" y="666876"/>
                </a:lnTo>
                <a:lnTo>
                  <a:pt x="1826768" y="686307"/>
                </a:lnTo>
                <a:lnTo>
                  <a:pt x="1828800" y="690498"/>
                </a:lnTo>
                <a:lnTo>
                  <a:pt x="1828831" y="690913"/>
                </a:lnTo>
                <a:lnTo>
                  <a:pt x="1829054" y="693816"/>
                </a:lnTo>
                <a:lnTo>
                  <a:pt x="1829657" y="701696"/>
                </a:lnTo>
                <a:lnTo>
                  <a:pt x="1830832" y="717041"/>
                </a:lnTo>
                <a:lnTo>
                  <a:pt x="1830832" y="717041"/>
                </a:lnTo>
                <a:lnTo>
                  <a:pt x="1832737" y="736599"/>
                </a:lnTo>
                <a:lnTo>
                  <a:pt x="1834769" y="748918"/>
                </a:lnTo>
                <a:lnTo>
                  <a:pt x="1840611" y="746505"/>
                </a:lnTo>
                <a:lnTo>
                  <a:pt x="1842643" y="745616"/>
                </a:lnTo>
                <a:lnTo>
                  <a:pt x="1844675" y="753109"/>
                </a:lnTo>
                <a:lnTo>
                  <a:pt x="1846580" y="744346"/>
                </a:lnTo>
                <a:lnTo>
                  <a:pt x="1848612" y="725804"/>
                </a:lnTo>
                <a:lnTo>
                  <a:pt x="1854454" y="712851"/>
                </a:lnTo>
                <a:lnTo>
                  <a:pt x="1856486" y="705611"/>
                </a:lnTo>
                <a:lnTo>
                  <a:pt x="1858391" y="704722"/>
                </a:lnTo>
                <a:lnTo>
                  <a:pt x="1860423" y="706882"/>
                </a:lnTo>
                <a:lnTo>
                  <a:pt x="1862455" y="692276"/>
                </a:lnTo>
                <a:lnTo>
                  <a:pt x="1868297" y="675766"/>
                </a:lnTo>
                <a:lnTo>
                  <a:pt x="1870329" y="682751"/>
                </a:lnTo>
                <a:lnTo>
                  <a:pt x="1872233" y="675893"/>
                </a:lnTo>
                <a:lnTo>
                  <a:pt x="1874266" y="669035"/>
                </a:lnTo>
                <a:lnTo>
                  <a:pt x="1876298" y="656716"/>
                </a:lnTo>
                <a:lnTo>
                  <a:pt x="1882139" y="656716"/>
                </a:lnTo>
                <a:lnTo>
                  <a:pt x="1884172" y="644397"/>
                </a:lnTo>
                <a:lnTo>
                  <a:pt x="1886077" y="638936"/>
                </a:lnTo>
                <a:lnTo>
                  <a:pt x="1888108" y="640333"/>
                </a:lnTo>
                <a:lnTo>
                  <a:pt x="1890141" y="626618"/>
                </a:lnTo>
                <a:lnTo>
                  <a:pt x="1895983" y="632205"/>
                </a:lnTo>
                <a:lnTo>
                  <a:pt x="1898014" y="630935"/>
                </a:lnTo>
                <a:lnTo>
                  <a:pt x="1899920" y="633602"/>
                </a:lnTo>
                <a:lnTo>
                  <a:pt x="1901952" y="641984"/>
                </a:lnTo>
                <a:lnTo>
                  <a:pt x="1903983" y="639190"/>
                </a:lnTo>
                <a:lnTo>
                  <a:pt x="1909826" y="650366"/>
                </a:lnTo>
                <a:lnTo>
                  <a:pt x="1911858" y="661415"/>
                </a:lnTo>
                <a:lnTo>
                  <a:pt x="1913763" y="655827"/>
                </a:lnTo>
                <a:lnTo>
                  <a:pt x="1915795" y="657351"/>
                </a:lnTo>
                <a:lnTo>
                  <a:pt x="1917827" y="653160"/>
                </a:lnTo>
                <a:lnTo>
                  <a:pt x="1925701" y="647826"/>
                </a:lnTo>
                <a:lnTo>
                  <a:pt x="1927606" y="661669"/>
                </a:lnTo>
                <a:lnTo>
                  <a:pt x="1929638" y="668401"/>
                </a:lnTo>
                <a:lnTo>
                  <a:pt x="1931543" y="693293"/>
                </a:lnTo>
                <a:lnTo>
                  <a:pt x="1937512" y="679576"/>
                </a:lnTo>
                <a:lnTo>
                  <a:pt x="1939544" y="676909"/>
                </a:lnTo>
                <a:lnTo>
                  <a:pt x="1941449" y="682370"/>
                </a:lnTo>
                <a:lnTo>
                  <a:pt x="1943481" y="682370"/>
                </a:lnTo>
                <a:lnTo>
                  <a:pt x="1945386" y="679704"/>
                </a:lnTo>
                <a:lnTo>
                  <a:pt x="1951355" y="678433"/>
                </a:lnTo>
                <a:lnTo>
                  <a:pt x="1953387" y="672972"/>
                </a:lnTo>
                <a:lnTo>
                  <a:pt x="1955292" y="679830"/>
                </a:lnTo>
                <a:lnTo>
                  <a:pt x="1957324" y="684021"/>
                </a:lnTo>
                <a:lnTo>
                  <a:pt x="1959229" y="684148"/>
                </a:lnTo>
                <a:lnTo>
                  <a:pt x="1967230" y="693801"/>
                </a:lnTo>
                <a:lnTo>
                  <a:pt x="1969135" y="702055"/>
                </a:lnTo>
                <a:lnTo>
                  <a:pt x="1971167" y="704849"/>
                </a:lnTo>
                <a:lnTo>
                  <a:pt x="1973072" y="721105"/>
                </a:lnTo>
                <a:lnTo>
                  <a:pt x="1979041" y="721105"/>
                </a:lnTo>
                <a:lnTo>
                  <a:pt x="1981073" y="734821"/>
                </a:lnTo>
                <a:lnTo>
                  <a:pt x="1982977" y="751458"/>
                </a:lnTo>
                <a:lnTo>
                  <a:pt x="1985010" y="766698"/>
                </a:lnTo>
                <a:lnTo>
                  <a:pt x="1986914" y="771016"/>
                </a:lnTo>
                <a:lnTo>
                  <a:pt x="1992883" y="772794"/>
                </a:lnTo>
                <a:lnTo>
                  <a:pt x="1994916" y="775715"/>
                </a:lnTo>
                <a:lnTo>
                  <a:pt x="1996820" y="759079"/>
                </a:lnTo>
                <a:lnTo>
                  <a:pt x="1998852" y="767715"/>
                </a:lnTo>
                <a:lnTo>
                  <a:pt x="2000758" y="781811"/>
                </a:lnTo>
                <a:lnTo>
                  <a:pt x="2006727" y="772921"/>
                </a:lnTo>
                <a:lnTo>
                  <a:pt x="2008758" y="782701"/>
                </a:lnTo>
                <a:lnTo>
                  <a:pt x="2010664" y="800607"/>
                </a:lnTo>
                <a:lnTo>
                  <a:pt x="2012695" y="794511"/>
                </a:lnTo>
                <a:lnTo>
                  <a:pt x="2014601" y="819657"/>
                </a:lnTo>
                <a:lnTo>
                  <a:pt x="2020570" y="820038"/>
                </a:lnTo>
                <a:lnTo>
                  <a:pt x="2022602" y="821054"/>
                </a:lnTo>
                <a:lnTo>
                  <a:pt x="2024507" y="814069"/>
                </a:lnTo>
                <a:lnTo>
                  <a:pt x="2026539" y="822959"/>
                </a:lnTo>
                <a:lnTo>
                  <a:pt x="2028444" y="834008"/>
                </a:lnTo>
                <a:lnTo>
                  <a:pt x="2034413" y="849629"/>
                </a:lnTo>
                <a:lnTo>
                  <a:pt x="2036445" y="847216"/>
                </a:lnTo>
                <a:lnTo>
                  <a:pt x="2038350" y="853820"/>
                </a:lnTo>
                <a:lnTo>
                  <a:pt x="2040382" y="830452"/>
                </a:lnTo>
                <a:lnTo>
                  <a:pt x="2042287" y="820419"/>
                </a:lnTo>
                <a:lnTo>
                  <a:pt x="2048256" y="819022"/>
                </a:lnTo>
                <a:lnTo>
                  <a:pt x="2050288" y="820419"/>
                </a:lnTo>
                <a:lnTo>
                  <a:pt x="2052193" y="818895"/>
                </a:lnTo>
                <a:lnTo>
                  <a:pt x="2054225" y="821054"/>
                </a:lnTo>
                <a:lnTo>
                  <a:pt x="2056130" y="826643"/>
                </a:lnTo>
                <a:lnTo>
                  <a:pt x="2062099" y="823721"/>
                </a:lnTo>
                <a:lnTo>
                  <a:pt x="2064131" y="829818"/>
                </a:lnTo>
                <a:lnTo>
                  <a:pt x="2066036" y="813562"/>
                </a:lnTo>
                <a:lnTo>
                  <a:pt x="2068068" y="807211"/>
                </a:lnTo>
                <a:lnTo>
                  <a:pt x="2069973" y="804926"/>
                </a:lnTo>
                <a:lnTo>
                  <a:pt x="2070066" y="804529"/>
                </a:lnTo>
                <a:lnTo>
                  <a:pt x="2070719" y="801751"/>
                </a:lnTo>
                <a:lnTo>
                  <a:pt x="2072491" y="794210"/>
                </a:lnTo>
                <a:lnTo>
                  <a:pt x="2075942" y="779526"/>
                </a:lnTo>
                <a:lnTo>
                  <a:pt x="2077847" y="764540"/>
                </a:lnTo>
                <a:lnTo>
                  <a:pt x="2079879" y="763143"/>
                </a:lnTo>
                <a:lnTo>
                  <a:pt x="2081911" y="740918"/>
                </a:lnTo>
                <a:lnTo>
                  <a:pt x="2083816" y="744219"/>
                </a:lnTo>
                <a:lnTo>
                  <a:pt x="2089785" y="747521"/>
                </a:lnTo>
                <a:lnTo>
                  <a:pt x="2091689" y="749680"/>
                </a:lnTo>
                <a:lnTo>
                  <a:pt x="2093722" y="746379"/>
                </a:lnTo>
                <a:lnTo>
                  <a:pt x="2095754" y="738377"/>
                </a:lnTo>
                <a:lnTo>
                  <a:pt x="2097659" y="732535"/>
                </a:lnTo>
                <a:lnTo>
                  <a:pt x="2103628" y="728598"/>
                </a:lnTo>
                <a:lnTo>
                  <a:pt x="2105533" y="723010"/>
                </a:lnTo>
                <a:lnTo>
                  <a:pt x="2107565" y="713740"/>
                </a:lnTo>
                <a:lnTo>
                  <a:pt x="2109597" y="708405"/>
                </a:lnTo>
                <a:lnTo>
                  <a:pt x="2111502" y="688974"/>
                </a:lnTo>
                <a:lnTo>
                  <a:pt x="2117471" y="679449"/>
                </a:lnTo>
                <a:lnTo>
                  <a:pt x="2119376" y="672591"/>
                </a:lnTo>
                <a:lnTo>
                  <a:pt x="2121408" y="676782"/>
                </a:lnTo>
                <a:lnTo>
                  <a:pt x="2123440" y="675385"/>
                </a:lnTo>
                <a:lnTo>
                  <a:pt x="2125345" y="669924"/>
                </a:lnTo>
                <a:lnTo>
                  <a:pt x="2131314" y="671448"/>
                </a:lnTo>
                <a:lnTo>
                  <a:pt x="2133219" y="683894"/>
                </a:lnTo>
                <a:lnTo>
                  <a:pt x="2135251" y="660526"/>
                </a:lnTo>
                <a:lnTo>
                  <a:pt x="2137283" y="659129"/>
                </a:lnTo>
                <a:lnTo>
                  <a:pt x="2139188" y="649604"/>
                </a:lnTo>
                <a:lnTo>
                  <a:pt x="2145157" y="656590"/>
                </a:lnTo>
                <a:lnTo>
                  <a:pt x="2147062" y="678433"/>
                </a:lnTo>
                <a:lnTo>
                  <a:pt x="2149094" y="673099"/>
                </a:lnTo>
                <a:lnTo>
                  <a:pt x="2150999" y="668908"/>
                </a:lnTo>
                <a:lnTo>
                  <a:pt x="2162937" y="666368"/>
                </a:lnTo>
                <a:lnTo>
                  <a:pt x="2164842" y="678815"/>
                </a:lnTo>
                <a:lnTo>
                  <a:pt x="2166874" y="677544"/>
                </a:lnTo>
                <a:lnTo>
                  <a:pt x="2174748" y="681608"/>
                </a:lnTo>
                <a:lnTo>
                  <a:pt x="2176780" y="674877"/>
                </a:lnTo>
                <a:lnTo>
                  <a:pt x="2178685" y="666622"/>
                </a:lnTo>
                <a:lnTo>
                  <a:pt x="2180717" y="663955"/>
                </a:lnTo>
                <a:lnTo>
                  <a:pt x="2186686" y="655701"/>
                </a:lnTo>
                <a:lnTo>
                  <a:pt x="2186715" y="655274"/>
                </a:lnTo>
                <a:lnTo>
                  <a:pt x="2186924" y="652287"/>
                </a:lnTo>
                <a:lnTo>
                  <a:pt x="2187489" y="644181"/>
                </a:lnTo>
                <a:lnTo>
                  <a:pt x="2188591" y="628395"/>
                </a:lnTo>
                <a:lnTo>
                  <a:pt x="2188622" y="628868"/>
                </a:lnTo>
                <a:lnTo>
                  <a:pt x="2188845" y="632174"/>
                </a:lnTo>
                <a:lnTo>
                  <a:pt x="2189448" y="641147"/>
                </a:lnTo>
                <a:lnTo>
                  <a:pt x="2190623" y="658621"/>
                </a:lnTo>
                <a:lnTo>
                  <a:pt x="2190652" y="658086"/>
                </a:lnTo>
                <a:lnTo>
                  <a:pt x="2190861" y="654335"/>
                </a:lnTo>
                <a:lnTo>
                  <a:pt x="2191426" y="644155"/>
                </a:lnTo>
                <a:lnTo>
                  <a:pt x="2192528" y="624332"/>
                </a:lnTo>
                <a:lnTo>
                  <a:pt x="2194560" y="613409"/>
                </a:lnTo>
                <a:lnTo>
                  <a:pt x="2200529" y="605282"/>
                </a:lnTo>
                <a:lnTo>
                  <a:pt x="2202434" y="618997"/>
                </a:lnTo>
                <a:lnTo>
                  <a:pt x="2204466" y="618997"/>
                </a:lnTo>
                <a:lnTo>
                  <a:pt x="2206371" y="602615"/>
                </a:lnTo>
                <a:lnTo>
                  <a:pt x="2208403" y="602615"/>
                </a:lnTo>
                <a:lnTo>
                  <a:pt x="2214372" y="608202"/>
                </a:lnTo>
                <a:lnTo>
                  <a:pt x="2216277" y="606805"/>
                </a:lnTo>
                <a:lnTo>
                  <a:pt x="2218309" y="604138"/>
                </a:lnTo>
                <a:lnTo>
                  <a:pt x="2220214" y="601471"/>
                </a:lnTo>
                <a:lnTo>
                  <a:pt x="2222246" y="601471"/>
                </a:lnTo>
                <a:lnTo>
                  <a:pt x="2222246" y="601471"/>
                </a:lnTo>
                <a:lnTo>
                  <a:pt x="2228215" y="601598"/>
                </a:lnTo>
                <a:lnTo>
                  <a:pt x="2230120" y="605790"/>
                </a:lnTo>
                <a:lnTo>
                  <a:pt x="2232152" y="611251"/>
                </a:lnTo>
                <a:lnTo>
                  <a:pt x="2234057" y="601726"/>
                </a:lnTo>
                <a:lnTo>
                  <a:pt x="2234088" y="601253"/>
                </a:lnTo>
                <a:lnTo>
                  <a:pt x="2234311" y="597947"/>
                </a:lnTo>
                <a:lnTo>
                  <a:pt x="2234914" y="588974"/>
                </a:lnTo>
                <a:lnTo>
                  <a:pt x="2236089" y="571499"/>
                </a:lnTo>
                <a:lnTo>
                  <a:pt x="2236089" y="571499"/>
                </a:lnTo>
                <a:lnTo>
                  <a:pt x="2242058" y="594868"/>
                </a:lnTo>
                <a:lnTo>
                  <a:pt x="2243963" y="608710"/>
                </a:lnTo>
                <a:lnTo>
                  <a:pt x="2245995" y="618362"/>
                </a:lnTo>
                <a:lnTo>
                  <a:pt x="2247900" y="621029"/>
                </a:lnTo>
                <a:lnTo>
                  <a:pt x="2249932" y="618362"/>
                </a:lnTo>
                <a:lnTo>
                  <a:pt x="2255901" y="638936"/>
                </a:lnTo>
                <a:lnTo>
                  <a:pt x="2257806" y="640333"/>
                </a:lnTo>
                <a:lnTo>
                  <a:pt x="2259838" y="641857"/>
                </a:lnTo>
                <a:lnTo>
                  <a:pt x="2261743" y="647318"/>
                </a:lnTo>
                <a:lnTo>
                  <a:pt x="2263775" y="652779"/>
                </a:lnTo>
                <a:lnTo>
                  <a:pt x="2269744" y="658494"/>
                </a:lnTo>
                <a:lnTo>
                  <a:pt x="2271649" y="659765"/>
                </a:lnTo>
                <a:lnTo>
                  <a:pt x="2273681" y="678941"/>
                </a:lnTo>
                <a:lnTo>
                  <a:pt x="2275586" y="672083"/>
                </a:lnTo>
                <a:lnTo>
                  <a:pt x="2277618" y="663955"/>
                </a:lnTo>
                <a:lnTo>
                  <a:pt x="2283587" y="675004"/>
                </a:lnTo>
                <a:lnTo>
                  <a:pt x="2285492" y="661415"/>
                </a:lnTo>
                <a:lnTo>
                  <a:pt x="2287524" y="666876"/>
                </a:lnTo>
                <a:lnTo>
                  <a:pt x="2289429" y="681990"/>
                </a:lnTo>
                <a:lnTo>
                  <a:pt x="2291461" y="684783"/>
                </a:lnTo>
                <a:lnTo>
                  <a:pt x="2297303" y="686180"/>
                </a:lnTo>
                <a:lnTo>
                  <a:pt x="2299335" y="679322"/>
                </a:lnTo>
                <a:lnTo>
                  <a:pt x="2301367" y="680846"/>
                </a:lnTo>
                <a:lnTo>
                  <a:pt x="2303272" y="671321"/>
                </a:lnTo>
                <a:lnTo>
                  <a:pt x="2305304" y="676782"/>
                </a:lnTo>
                <a:lnTo>
                  <a:pt x="2311146" y="680973"/>
                </a:lnTo>
                <a:lnTo>
                  <a:pt x="2313178" y="672718"/>
                </a:lnTo>
                <a:lnTo>
                  <a:pt x="2315210" y="679576"/>
                </a:lnTo>
                <a:lnTo>
                  <a:pt x="2317115" y="670051"/>
                </a:lnTo>
                <a:lnTo>
                  <a:pt x="2319147" y="681101"/>
                </a:lnTo>
                <a:lnTo>
                  <a:pt x="2324989" y="688085"/>
                </a:lnTo>
                <a:lnTo>
                  <a:pt x="2327021" y="689355"/>
                </a:lnTo>
                <a:lnTo>
                  <a:pt x="2329053" y="686688"/>
                </a:lnTo>
                <a:lnTo>
                  <a:pt x="2330958" y="685291"/>
                </a:lnTo>
                <a:lnTo>
                  <a:pt x="2332990" y="681354"/>
                </a:lnTo>
                <a:lnTo>
                  <a:pt x="2338832" y="679957"/>
                </a:lnTo>
                <a:lnTo>
                  <a:pt x="2340864" y="686815"/>
                </a:lnTo>
                <a:lnTo>
                  <a:pt x="2342896" y="692276"/>
                </a:lnTo>
                <a:lnTo>
                  <a:pt x="2344801" y="700658"/>
                </a:lnTo>
                <a:lnTo>
                  <a:pt x="2346833" y="681482"/>
                </a:lnTo>
                <a:lnTo>
                  <a:pt x="2352675" y="678815"/>
                </a:lnTo>
                <a:lnTo>
                  <a:pt x="2354707" y="665098"/>
                </a:lnTo>
                <a:lnTo>
                  <a:pt x="2356739" y="658368"/>
                </a:lnTo>
                <a:lnTo>
                  <a:pt x="2358644" y="661161"/>
                </a:lnTo>
                <a:lnTo>
                  <a:pt x="2368550" y="662558"/>
                </a:lnTo>
                <a:lnTo>
                  <a:pt x="2370455" y="670813"/>
                </a:lnTo>
                <a:lnTo>
                  <a:pt x="2372487" y="668146"/>
                </a:lnTo>
                <a:lnTo>
                  <a:pt x="2374519" y="668273"/>
                </a:lnTo>
                <a:lnTo>
                  <a:pt x="2380361" y="672337"/>
                </a:lnTo>
                <a:lnTo>
                  <a:pt x="2382393" y="673734"/>
                </a:lnTo>
                <a:lnTo>
                  <a:pt x="2384298" y="673861"/>
                </a:lnTo>
                <a:lnTo>
                  <a:pt x="2386330" y="681990"/>
                </a:lnTo>
                <a:lnTo>
                  <a:pt x="2388362" y="679322"/>
                </a:lnTo>
                <a:lnTo>
                  <a:pt x="2394204" y="682116"/>
                </a:lnTo>
                <a:lnTo>
                  <a:pt x="2396236" y="680846"/>
                </a:lnTo>
                <a:lnTo>
                  <a:pt x="2398141" y="675258"/>
                </a:lnTo>
                <a:lnTo>
                  <a:pt x="2400173" y="672591"/>
                </a:lnTo>
                <a:lnTo>
                  <a:pt x="2402205" y="678179"/>
                </a:lnTo>
                <a:lnTo>
                  <a:pt x="2410079" y="672718"/>
                </a:lnTo>
                <a:lnTo>
                  <a:pt x="2411984" y="674243"/>
                </a:lnTo>
                <a:lnTo>
                  <a:pt x="2414016" y="681101"/>
                </a:lnTo>
                <a:lnTo>
                  <a:pt x="2416048" y="670179"/>
                </a:lnTo>
                <a:lnTo>
                  <a:pt x="2423922" y="675640"/>
                </a:lnTo>
                <a:lnTo>
                  <a:pt x="2425827" y="679830"/>
                </a:lnTo>
                <a:lnTo>
                  <a:pt x="2427859" y="678433"/>
                </a:lnTo>
                <a:lnTo>
                  <a:pt x="2429891" y="674496"/>
                </a:lnTo>
                <a:lnTo>
                  <a:pt x="2435733" y="674623"/>
                </a:lnTo>
                <a:lnTo>
                  <a:pt x="2437765" y="684148"/>
                </a:lnTo>
                <a:lnTo>
                  <a:pt x="2439670" y="697865"/>
                </a:lnTo>
                <a:lnTo>
                  <a:pt x="2441702" y="691133"/>
                </a:lnTo>
                <a:lnTo>
                  <a:pt x="2443607" y="703452"/>
                </a:lnTo>
                <a:lnTo>
                  <a:pt x="2449576" y="703452"/>
                </a:lnTo>
                <a:lnTo>
                  <a:pt x="2451608" y="706246"/>
                </a:lnTo>
                <a:lnTo>
                  <a:pt x="2453513" y="698118"/>
                </a:lnTo>
                <a:lnTo>
                  <a:pt x="2455545" y="707770"/>
                </a:lnTo>
                <a:lnTo>
                  <a:pt x="2457450" y="702182"/>
                </a:lnTo>
                <a:lnTo>
                  <a:pt x="2465451" y="714629"/>
                </a:lnTo>
                <a:lnTo>
                  <a:pt x="2467356" y="696848"/>
                </a:lnTo>
                <a:lnTo>
                  <a:pt x="2469388" y="695451"/>
                </a:lnTo>
                <a:lnTo>
                  <a:pt x="2471293" y="692784"/>
                </a:lnTo>
                <a:lnTo>
                  <a:pt x="2477262" y="699769"/>
                </a:lnTo>
                <a:lnTo>
                  <a:pt x="2479294" y="684783"/>
                </a:lnTo>
                <a:lnTo>
                  <a:pt x="2481199" y="686180"/>
                </a:lnTo>
                <a:lnTo>
                  <a:pt x="2483231" y="687577"/>
                </a:lnTo>
                <a:lnTo>
                  <a:pt x="2491105" y="695832"/>
                </a:lnTo>
                <a:lnTo>
                  <a:pt x="2493137" y="683640"/>
                </a:lnTo>
                <a:lnTo>
                  <a:pt x="2495042" y="682243"/>
                </a:lnTo>
                <a:lnTo>
                  <a:pt x="2497074" y="678179"/>
                </a:lnTo>
                <a:lnTo>
                  <a:pt x="2498979" y="676782"/>
                </a:lnTo>
                <a:lnTo>
                  <a:pt x="2504948" y="675512"/>
                </a:lnTo>
                <a:lnTo>
                  <a:pt x="2506980" y="676909"/>
                </a:lnTo>
                <a:lnTo>
                  <a:pt x="2508885" y="672845"/>
                </a:lnTo>
                <a:lnTo>
                  <a:pt x="2510917" y="674243"/>
                </a:lnTo>
                <a:lnTo>
                  <a:pt x="2512822" y="672972"/>
                </a:lnTo>
                <a:lnTo>
                  <a:pt x="2518791" y="670305"/>
                </a:lnTo>
                <a:lnTo>
                  <a:pt x="2520823" y="666241"/>
                </a:lnTo>
                <a:lnTo>
                  <a:pt x="2522728" y="667638"/>
                </a:lnTo>
                <a:lnTo>
                  <a:pt x="2524760" y="668908"/>
                </a:lnTo>
                <a:lnTo>
                  <a:pt x="2526665" y="675893"/>
                </a:lnTo>
                <a:lnTo>
                  <a:pt x="2532634" y="670559"/>
                </a:lnTo>
                <a:lnTo>
                  <a:pt x="2534666" y="678687"/>
                </a:lnTo>
                <a:lnTo>
                  <a:pt x="2538603" y="669162"/>
                </a:lnTo>
                <a:lnTo>
                  <a:pt x="2540508" y="688340"/>
                </a:lnTo>
                <a:lnTo>
                  <a:pt x="2546477" y="692530"/>
                </a:lnTo>
                <a:lnTo>
                  <a:pt x="2548509" y="692530"/>
                </a:lnTo>
                <a:lnTo>
                  <a:pt x="2550414" y="684402"/>
                </a:lnTo>
                <a:lnTo>
                  <a:pt x="2552446" y="678941"/>
                </a:lnTo>
                <a:lnTo>
                  <a:pt x="2554351" y="658621"/>
                </a:lnTo>
                <a:lnTo>
                  <a:pt x="2560320" y="655827"/>
                </a:lnTo>
                <a:lnTo>
                  <a:pt x="2562352" y="655827"/>
                </a:lnTo>
                <a:lnTo>
                  <a:pt x="2564257" y="654557"/>
                </a:lnTo>
                <a:lnTo>
                  <a:pt x="2566289" y="657351"/>
                </a:lnTo>
                <a:lnTo>
                  <a:pt x="2568194" y="672337"/>
                </a:lnTo>
                <a:lnTo>
                  <a:pt x="2574163" y="672465"/>
                </a:lnTo>
                <a:lnTo>
                  <a:pt x="2576195" y="664336"/>
                </a:lnTo>
                <a:lnTo>
                  <a:pt x="2578100" y="667004"/>
                </a:lnTo>
                <a:lnTo>
                  <a:pt x="2580132" y="665607"/>
                </a:lnTo>
                <a:lnTo>
                  <a:pt x="2582037" y="664463"/>
                </a:lnTo>
                <a:lnTo>
                  <a:pt x="2588006" y="664463"/>
                </a:lnTo>
                <a:lnTo>
                  <a:pt x="2589911" y="656208"/>
                </a:lnTo>
                <a:lnTo>
                  <a:pt x="2591943" y="665860"/>
                </a:lnTo>
                <a:lnTo>
                  <a:pt x="2593975" y="685037"/>
                </a:lnTo>
                <a:lnTo>
                  <a:pt x="2595880" y="693293"/>
                </a:lnTo>
                <a:lnTo>
                  <a:pt x="2601849" y="685165"/>
                </a:lnTo>
                <a:lnTo>
                  <a:pt x="2603754" y="677036"/>
                </a:lnTo>
                <a:lnTo>
                  <a:pt x="2605786" y="671576"/>
                </a:lnTo>
                <a:lnTo>
                  <a:pt x="2607818" y="671702"/>
                </a:lnTo>
                <a:lnTo>
                  <a:pt x="2609723" y="670305"/>
                </a:lnTo>
                <a:lnTo>
                  <a:pt x="2615692" y="673099"/>
                </a:lnTo>
                <a:lnTo>
                  <a:pt x="2617597" y="681354"/>
                </a:lnTo>
                <a:lnTo>
                  <a:pt x="2619629" y="689482"/>
                </a:lnTo>
                <a:lnTo>
                  <a:pt x="2621661" y="693673"/>
                </a:lnTo>
                <a:lnTo>
                  <a:pt x="2623566" y="697865"/>
                </a:lnTo>
                <a:lnTo>
                  <a:pt x="2629535" y="696468"/>
                </a:lnTo>
                <a:lnTo>
                  <a:pt x="2631440" y="703326"/>
                </a:lnTo>
                <a:lnTo>
                  <a:pt x="2633472" y="701929"/>
                </a:lnTo>
                <a:lnTo>
                  <a:pt x="2635504" y="692404"/>
                </a:lnTo>
                <a:lnTo>
                  <a:pt x="2637409" y="688340"/>
                </a:lnTo>
                <a:lnTo>
                  <a:pt x="2645283" y="691260"/>
                </a:lnTo>
                <a:lnTo>
                  <a:pt x="2647315" y="685799"/>
                </a:lnTo>
                <a:lnTo>
                  <a:pt x="2649347" y="687196"/>
                </a:lnTo>
                <a:lnTo>
                  <a:pt x="2651252" y="687323"/>
                </a:lnTo>
                <a:lnTo>
                  <a:pt x="2657221" y="691515"/>
                </a:lnTo>
                <a:lnTo>
                  <a:pt x="2659126" y="691515"/>
                </a:lnTo>
                <a:lnTo>
                  <a:pt x="2661158" y="695579"/>
                </a:lnTo>
                <a:lnTo>
                  <a:pt x="2663063" y="698245"/>
                </a:lnTo>
                <a:lnTo>
                  <a:pt x="2665095" y="696976"/>
                </a:lnTo>
                <a:lnTo>
                  <a:pt x="2671064" y="690244"/>
                </a:lnTo>
                <a:lnTo>
                  <a:pt x="2672969" y="693038"/>
                </a:lnTo>
                <a:lnTo>
                  <a:pt x="2675001" y="694435"/>
                </a:lnTo>
                <a:lnTo>
                  <a:pt x="2676906" y="693038"/>
                </a:lnTo>
                <a:lnTo>
                  <a:pt x="2678938" y="691641"/>
                </a:lnTo>
                <a:lnTo>
                  <a:pt x="2684907" y="693165"/>
                </a:lnTo>
                <a:lnTo>
                  <a:pt x="2686812" y="694690"/>
                </a:lnTo>
                <a:lnTo>
                  <a:pt x="2688844" y="694690"/>
                </a:lnTo>
                <a:lnTo>
                  <a:pt x="2690749" y="693293"/>
                </a:lnTo>
                <a:lnTo>
                  <a:pt x="2692781" y="707008"/>
                </a:lnTo>
                <a:lnTo>
                  <a:pt x="2698750" y="707008"/>
                </a:lnTo>
                <a:lnTo>
                  <a:pt x="2700655" y="713866"/>
                </a:lnTo>
                <a:lnTo>
                  <a:pt x="2702687" y="715263"/>
                </a:lnTo>
                <a:lnTo>
                  <a:pt x="2704592" y="717549"/>
                </a:lnTo>
                <a:lnTo>
                  <a:pt x="2706624" y="725677"/>
                </a:lnTo>
                <a:lnTo>
                  <a:pt x="2712593" y="720979"/>
                </a:lnTo>
                <a:lnTo>
                  <a:pt x="2714498" y="731901"/>
                </a:lnTo>
                <a:lnTo>
                  <a:pt x="2716530" y="744219"/>
                </a:lnTo>
                <a:lnTo>
                  <a:pt x="2718435" y="746759"/>
                </a:lnTo>
                <a:lnTo>
                  <a:pt x="2720467" y="747648"/>
                </a:lnTo>
                <a:lnTo>
                  <a:pt x="2726436" y="761110"/>
                </a:lnTo>
                <a:lnTo>
                  <a:pt x="2728341" y="754379"/>
                </a:lnTo>
                <a:lnTo>
                  <a:pt x="2730373" y="745743"/>
                </a:lnTo>
                <a:lnTo>
                  <a:pt x="2732278" y="742187"/>
                </a:lnTo>
                <a:lnTo>
                  <a:pt x="2734310" y="755268"/>
                </a:lnTo>
                <a:lnTo>
                  <a:pt x="2740279" y="748157"/>
                </a:lnTo>
                <a:lnTo>
                  <a:pt x="2742184" y="752729"/>
                </a:lnTo>
                <a:lnTo>
                  <a:pt x="2744216" y="756538"/>
                </a:lnTo>
                <a:lnTo>
                  <a:pt x="2746121" y="766318"/>
                </a:lnTo>
                <a:lnTo>
                  <a:pt x="2748153" y="768349"/>
                </a:lnTo>
                <a:lnTo>
                  <a:pt x="2754122" y="770508"/>
                </a:lnTo>
                <a:lnTo>
                  <a:pt x="2756027" y="768730"/>
                </a:lnTo>
                <a:lnTo>
                  <a:pt x="2758059" y="762126"/>
                </a:lnTo>
                <a:lnTo>
                  <a:pt x="2759964" y="763777"/>
                </a:lnTo>
                <a:lnTo>
                  <a:pt x="2761996" y="764666"/>
                </a:lnTo>
                <a:lnTo>
                  <a:pt x="2767965" y="760857"/>
                </a:lnTo>
                <a:lnTo>
                  <a:pt x="2769870" y="760857"/>
                </a:lnTo>
                <a:lnTo>
                  <a:pt x="2771902" y="755904"/>
                </a:lnTo>
                <a:lnTo>
                  <a:pt x="2773807" y="753871"/>
                </a:lnTo>
                <a:lnTo>
                  <a:pt x="2775839" y="740282"/>
                </a:lnTo>
                <a:lnTo>
                  <a:pt x="2781808" y="725677"/>
                </a:lnTo>
                <a:lnTo>
                  <a:pt x="2783713" y="730376"/>
                </a:lnTo>
                <a:lnTo>
                  <a:pt x="2785745" y="729107"/>
                </a:lnTo>
                <a:lnTo>
                  <a:pt x="2787650" y="725423"/>
                </a:lnTo>
                <a:lnTo>
                  <a:pt x="2789682" y="729868"/>
                </a:lnTo>
                <a:lnTo>
                  <a:pt x="2795651" y="734568"/>
                </a:lnTo>
                <a:lnTo>
                  <a:pt x="2797556" y="737743"/>
                </a:lnTo>
                <a:lnTo>
                  <a:pt x="2799588" y="724788"/>
                </a:lnTo>
                <a:lnTo>
                  <a:pt x="2801493" y="725932"/>
                </a:lnTo>
                <a:lnTo>
                  <a:pt x="2803525" y="721105"/>
                </a:lnTo>
                <a:lnTo>
                  <a:pt x="2809494" y="716787"/>
                </a:lnTo>
                <a:lnTo>
                  <a:pt x="2811399" y="714120"/>
                </a:lnTo>
                <a:lnTo>
                  <a:pt x="2813431" y="707390"/>
                </a:lnTo>
                <a:lnTo>
                  <a:pt x="2815336" y="703198"/>
                </a:lnTo>
                <a:lnTo>
                  <a:pt x="2817368" y="703326"/>
                </a:lnTo>
                <a:lnTo>
                  <a:pt x="2823210" y="703326"/>
                </a:lnTo>
                <a:lnTo>
                  <a:pt x="2825242" y="701929"/>
                </a:lnTo>
                <a:lnTo>
                  <a:pt x="2827274" y="699261"/>
                </a:lnTo>
                <a:lnTo>
                  <a:pt x="2829179" y="689863"/>
                </a:lnTo>
                <a:lnTo>
                  <a:pt x="2831211" y="689863"/>
                </a:lnTo>
                <a:lnTo>
                  <a:pt x="2837053" y="685799"/>
                </a:lnTo>
                <a:lnTo>
                  <a:pt x="2839085" y="683132"/>
                </a:lnTo>
                <a:lnTo>
                  <a:pt x="2841117" y="673607"/>
                </a:lnTo>
                <a:lnTo>
                  <a:pt x="2843022" y="664209"/>
                </a:lnTo>
                <a:lnTo>
                  <a:pt x="2845054" y="662812"/>
                </a:lnTo>
                <a:lnTo>
                  <a:pt x="2850896" y="679195"/>
                </a:lnTo>
                <a:lnTo>
                  <a:pt x="2852928" y="671068"/>
                </a:lnTo>
                <a:lnTo>
                  <a:pt x="2854960" y="669797"/>
                </a:lnTo>
                <a:lnTo>
                  <a:pt x="2856865" y="667004"/>
                </a:lnTo>
                <a:lnTo>
                  <a:pt x="2856896" y="666494"/>
                </a:lnTo>
                <a:lnTo>
                  <a:pt x="2857119" y="662924"/>
                </a:lnTo>
                <a:lnTo>
                  <a:pt x="2857722" y="653234"/>
                </a:lnTo>
                <a:lnTo>
                  <a:pt x="2858897" y="634365"/>
                </a:lnTo>
                <a:lnTo>
                  <a:pt x="2864739" y="630427"/>
                </a:lnTo>
                <a:lnTo>
                  <a:pt x="2866771" y="631824"/>
                </a:lnTo>
                <a:lnTo>
                  <a:pt x="2868803" y="626363"/>
                </a:lnTo>
                <a:lnTo>
                  <a:pt x="2870708" y="625093"/>
                </a:lnTo>
                <a:lnTo>
                  <a:pt x="2882646" y="622426"/>
                </a:lnTo>
                <a:lnTo>
                  <a:pt x="2884551" y="617093"/>
                </a:lnTo>
                <a:lnTo>
                  <a:pt x="2886583" y="615695"/>
                </a:lnTo>
                <a:lnTo>
                  <a:pt x="2894457" y="605027"/>
                </a:lnTo>
                <a:lnTo>
                  <a:pt x="2896362" y="614552"/>
                </a:lnTo>
                <a:lnTo>
                  <a:pt x="2898394" y="639063"/>
                </a:lnTo>
                <a:lnTo>
                  <a:pt x="2900426" y="644524"/>
                </a:lnTo>
                <a:lnTo>
                  <a:pt x="2906268" y="647318"/>
                </a:lnTo>
                <a:lnTo>
                  <a:pt x="2908300" y="647445"/>
                </a:lnTo>
                <a:lnTo>
                  <a:pt x="2910205" y="661034"/>
                </a:lnTo>
                <a:lnTo>
                  <a:pt x="2912237" y="655573"/>
                </a:lnTo>
                <a:lnTo>
                  <a:pt x="2914269" y="640715"/>
                </a:lnTo>
                <a:lnTo>
                  <a:pt x="2920111" y="629793"/>
                </a:lnTo>
                <a:lnTo>
                  <a:pt x="2922143" y="628522"/>
                </a:lnTo>
                <a:lnTo>
                  <a:pt x="2924048" y="636651"/>
                </a:lnTo>
                <a:lnTo>
                  <a:pt x="2926080" y="643508"/>
                </a:lnTo>
                <a:lnTo>
                  <a:pt x="2928112" y="646302"/>
                </a:lnTo>
                <a:lnTo>
                  <a:pt x="2933954" y="647826"/>
                </a:lnTo>
                <a:lnTo>
                  <a:pt x="2935986" y="640968"/>
                </a:lnTo>
                <a:lnTo>
                  <a:pt x="2937891" y="658621"/>
                </a:lnTo>
                <a:lnTo>
                  <a:pt x="2939923" y="646429"/>
                </a:lnTo>
                <a:lnTo>
                  <a:pt x="2941955" y="646557"/>
                </a:lnTo>
                <a:lnTo>
                  <a:pt x="2947797" y="642493"/>
                </a:lnTo>
                <a:lnTo>
                  <a:pt x="2949829" y="639826"/>
                </a:lnTo>
                <a:lnTo>
                  <a:pt x="2951734" y="635761"/>
                </a:lnTo>
                <a:lnTo>
                  <a:pt x="2953766" y="630301"/>
                </a:lnTo>
                <a:lnTo>
                  <a:pt x="2955798" y="624966"/>
                </a:lnTo>
                <a:lnTo>
                  <a:pt x="2961640" y="642746"/>
                </a:lnTo>
                <a:lnTo>
                  <a:pt x="2963672" y="652271"/>
                </a:lnTo>
                <a:lnTo>
                  <a:pt x="2965577" y="638809"/>
                </a:lnTo>
                <a:lnTo>
                  <a:pt x="2967609" y="636015"/>
                </a:lnTo>
                <a:lnTo>
                  <a:pt x="2969514" y="638809"/>
                </a:lnTo>
                <a:lnTo>
                  <a:pt x="2975483" y="641604"/>
                </a:lnTo>
                <a:lnTo>
                  <a:pt x="2977515" y="640207"/>
                </a:lnTo>
                <a:lnTo>
                  <a:pt x="2979420" y="649732"/>
                </a:lnTo>
                <a:lnTo>
                  <a:pt x="2981452" y="649858"/>
                </a:lnTo>
                <a:lnTo>
                  <a:pt x="2983357" y="651255"/>
                </a:lnTo>
                <a:lnTo>
                  <a:pt x="2989326" y="658113"/>
                </a:lnTo>
                <a:lnTo>
                  <a:pt x="2991358" y="647318"/>
                </a:lnTo>
                <a:lnTo>
                  <a:pt x="2993263" y="645921"/>
                </a:lnTo>
                <a:lnTo>
                  <a:pt x="2995295" y="648715"/>
                </a:lnTo>
                <a:lnTo>
                  <a:pt x="2997200" y="647318"/>
                </a:lnTo>
                <a:lnTo>
                  <a:pt x="3003169" y="637920"/>
                </a:lnTo>
                <a:lnTo>
                  <a:pt x="3005201" y="632459"/>
                </a:lnTo>
                <a:lnTo>
                  <a:pt x="3007106" y="633857"/>
                </a:lnTo>
                <a:lnTo>
                  <a:pt x="3009138" y="632459"/>
                </a:lnTo>
                <a:lnTo>
                  <a:pt x="3011043" y="628522"/>
                </a:lnTo>
                <a:lnTo>
                  <a:pt x="3017012" y="624585"/>
                </a:lnTo>
                <a:lnTo>
                  <a:pt x="3019044" y="618997"/>
                </a:lnTo>
                <a:lnTo>
                  <a:pt x="3020949" y="616330"/>
                </a:lnTo>
                <a:lnTo>
                  <a:pt x="3022981" y="619124"/>
                </a:lnTo>
                <a:lnTo>
                  <a:pt x="3024886" y="608329"/>
                </a:lnTo>
                <a:lnTo>
                  <a:pt x="3030855" y="602868"/>
                </a:lnTo>
                <a:lnTo>
                  <a:pt x="3032887" y="605790"/>
                </a:lnTo>
                <a:lnTo>
                  <a:pt x="3034792" y="609726"/>
                </a:lnTo>
                <a:lnTo>
                  <a:pt x="3036824" y="608583"/>
                </a:lnTo>
                <a:lnTo>
                  <a:pt x="3038729" y="613918"/>
                </a:lnTo>
                <a:lnTo>
                  <a:pt x="3044698" y="618108"/>
                </a:lnTo>
                <a:lnTo>
                  <a:pt x="3046730" y="618235"/>
                </a:lnTo>
                <a:lnTo>
                  <a:pt x="3048635" y="615568"/>
                </a:lnTo>
                <a:lnTo>
                  <a:pt x="3050667" y="611504"/>
                </a:lnTo>
                <a:lnTo>
                  <a:pt x="3058541" y="595248"/>
                </a:lnTo>
                <a:lnTo>
                  <a:pt x="3060573" y="595248"/>
                </a:lnTo>
                <a:lnTo>
                  <a:pt x="3062478" y="595376"/>
                </a:lnTo>
                <a:lnTo>
                  <a:pt x="3064510" y="589787"/>
                </a:lnTo>
                <a:lnTo>
                  <a:pt x="3074416" y="580516"/>
                </a:lnTo>
                <a:lnTo>
                  <a:pt x="3076321" y="602360"/>
                </a:lnTo>
                <a:lnTo>
                  <a:pt x="3078353" y="602360"/>
                </a:lnTo>
                <a:lnTo>
                  <a:pt x="3080258" y="595629"/>
                </a:lnTo>
                <a:lnTo>
                  <a:pt x="3086227" y="595757"/>
                </a:lnTo>
                <a:lnTo>
                  <a:pt x="3088259" y="598423"/>
                </a:lnTo>
                <a:lnTo>
                  <a:pt x="3090164" y="591693"/>
                </a:lnTo>
                <a:lnTo>
                  <a:pt x="3092196" y="599820"/>
                </a:lnTo>
                <a:lnTo>
                  <a:pt x="3094101" y="612140"/>
                </a:lnTo>
                <a:lnTo>
                  <a:pt x="3100070" y="610869"/>
                </a:lnTo>
                <a:lnTo>
                  <a:pt x="3102102" y="623061"/>
                </a:lnTo>
                <a:lnTo>
                  <a:pt x="3104007" y="636651"/>
                </a:lnTo>
                <a:lnTo>
                  <a:pt x="3106039" y="636777"/>
                </a:lnTo>
                <a:lnTo>
                  <a:pt x="3107944" y="627252"/>
                </a:lnTo>
                <a:lnTo>
                  <a:pt x="3113913" y="625982"/>
                </a:lnTo>
                <a:lnTo>
                  <a:pt x="3115818" y="623315"/>
                </a:lnTo>
                <a:lnTo>
                  <a:pt x="3117850" y="620648"/>
                </a:lnTo>
                <a:lnTo>
                  <a:pt x="3119882" y="625982"/>
                </a:lnTo>
                <a:lnTo>
                  <a:pt x="3121787" y="631570"/>
                </a:lnTo>
                <a:lnTo>
                  <a:pt x="3127756" y="627507"/>
                </a:lnTo>
                <a:lnTo>
                  <a:pt x="3129661" y="622172"/>
                </a:lnTo>
                <a:lnTo>
                  <a:pt x="3131693" y="624966"/>
                </a:lnTo>
                <a:lnTo>
                  <a:pt x="3133725" y="630301"/>
                </a:lnTo>
                <a:lnTo>
                  <a:pt x="3135630" y="624966"/>
                </a:lnTo>
                <a:lnTo>
                  <a:pt x="3143504" y="615568"/>
                </a:lnTo>
                <a:lnTo>
                  <a:pt x="3145536" y="602107"/>
                </a:lnTo>
                <a:lnTo>
                  <a:pt x="3147568" y="606043"/>
                </a:lnTo>
                <a:lnTo>
                  <a:pt x="3149473" y="607440"/>
                </a:lnTo>
                <a:lnTo>
                  <a:pt x="3155442" y="606170"/>
                </a:lnTo>
                <a:lnTo>
                  <a:pt x="3157347" y="606170"/>
                </a:lnTo>
                <a:lnTo>
                  <a:pt x="3159379" y="604901"/>
                </a:lnTo>
                <a:lnTo>
                  <a:pt x="3161411" y="596772"/>
                </a:lnTo>
                <a:lnTo>
                  <a:pt x="3163316" y="600963"/>
                </a:lnTo>
                <a:lnTo>
                  <a:pt x="3169285" y="595629"/>
                </a:lnTo>
                <a:lnTo>
                  <a:pt x="3171190" y="595629"/>
                </a:lnTo>
                <a:lnTo>
                  <a:pt x="3173222" y="592835"/>
                </a:lnTo>
                <a:lnTo>
                  <a:pt x="3175254" y="597026"/>
                </a:lnTo>
                <a:lnTo>
                  <a:pt x="3177159" y="603884"/>
                </a:lnTo>
                <a:lnTo>
                  <a:pt x="3185033" y="605408"/>
                </a:lnTo>
                <a:lnTo>
                  <a:pt x="3187065" y="606679"/>
                </a:lnTo>
                <a:lnTo>
                  <a:pt x="3188970" y="613536"/>
                </a:lnTo>
                <a:lnTo>
                  <a:pt x="3191002" y="609472"/>
                </a:lnTo>
                <a:lnTo>
                  <a:pt x="3196971" y="606805"/>
                </a:lnTo>
                <a:lnTo>
                  <a:pt x="3198876" y="601471"/>
                </a:lnTo>
                <a:lnTo>
                  <a:pt x="3200908" y="601471"/>
                </a:lnTo>
                <a:lnTo>
                  <a:pt x="3202813" y="598804"/>
                </a:lnTo>
                <a:lnTo>
                  <a:pt x="3210814" y="598932"/>
                </a:lnTo>
                <a:lnTo>
                  <a:pt x="3212719" y="611251"/>
                </a:lnTo>
                <a:lnTo>
                  <a:pt x="3214751" y="617982"/>
                </a:lnTo>
                <a:lnTo>
                  <a:pt x="3216656" y="600329"/>
                </a:lnTo>
                <a:lnTo>
                  <a:pt x="3218688" y="594994"/>
                </a:lnTo>
                <a:lnTo>
                  <a:pt x="3224657" y="597788"/>
                </a:lnTo>
                <a:lnTo>
                  <a:pt x="3226562" y="603249"/>
                </a:lnTo>
                <a:lnTo>
                  <a:pt x="3228594" y="597915"/>
                </a:lnTo>
                <a:lnTo>
                  <a:pt x="3230499" y="596518"/>
                </a:lnTo>
                <a:lnTo>
                  <a:pt x="3232531" y="600582"/>
                </a:lnTo>
                <a:lnTo>
                  <a:pt x="3238500" y="600709"/>
                </a:lnTo>
                <a:lnTo>
                  <a:pt x="3240405" y="602107"/>
                </a:lnTo>
                <a:lnTo>
                  <a:pt x="3242437" y="600709"/>
                </a:lnTo>
                <a:lnTo>
                  <a:pt x="3244342" y="602233"/>
                </a:lnTo>
                <a:lnTo>
                  <a:pt x="3246374" y="603504"/>
                </a:lnTo>
                <a:lnTo>
                  <a:pt x="3252342" y="606297"/>
                </a:lnTo>
                <a:lnTo>
                  <a:pt x="3254248" y="617219"/>
                </a:lnTo>
                <a:lnTo>
                  <a:pt x="3256279" y="618743"/>
                </a:lnTo>
                <a:lnTo>
                  <a:pt x="3258185" y="607821"/>
                </a:lnTo>
                <a:lnTo>
                  <a:pt x="3266186" y="606551"/>
                </a:lnTo>
                <a:lnTo>
                  <a:pt x="3268091" y="595757"/>
                </a:lnTo>
                <a:lnTo>
                  <a:pt x="3270123" y="595883"/>
                </a:lnTo>
                <a:lnTo>
                  <a:pt x="3272028" y="593090"/>
                </a:lnTo>
                <a:lnTo>
                  <a:pt x="3274060" y="582294"/>
                </a:lnTo>
                <a:lnTo>
                  <a:pt x="3280029" y="581024"/>
                </a:lnTo>
                <a:lnTo>
                  <a:pt x="3281934" y="587882"/>
                </a:lnTo>
                <a:lnTo>
                  <a:pt x="3283966" y="582421"/>
                </a:lnTo>
                <a:lnTo>
                  <a:pt x="3285871" y="583818"/>
                </a:lnTo>
                <a:lnTo>
                  <a:pt x="3287903" y="585215"/>
                </a:lnTo>
                <a:lnTo>
                  <a:pt x="3293872" y="590676"/>
                </a:lnTo>
                <a:lnTo>
                  <a:pt x="3295777" y="594868"/>
                </a:lnTo>
                <a:lnTo>
                  <a:pt x="3297809" y="585343"/>
                </a:lnTo>
                <a:lnTo>
                  <a:pt x="3299714" y="588136"/>
                </a:lnTo>
                <a:lnTo>
                  <a:pt x="3301746" y="592201"/>
                </a:lnTo>
                <a:lnTo>
                  <a:pt x="3307715" y="588263"/>
                </a:lnTo>
                <a:lnTo>
                  <a:pt x="3309620" y="585596"/>
                </a:lnTo>
                <a:lnTo>
                  <a:pt x="3311652" y="585596"/>
                </a:lnTo>
                <a:lnTo>
                  <a:pt x="3313557" y="586866"/>
                </a:lnTo>
                <a:lnTo>
                  <a:pt x="3315589" y="582802"/>
                </a:lnTo>
                <a:lnTo>
                  <a:pt x="3321558" y="573532"/>
                </a:lnTo>
                <a:lnTo>
                  <a:pt x="3323463" y="580262"/>
                </a:lnTo>
                <a:lnTo>
                  <a:pt x="3325495" y="583057"/>
                </a:lnTo>
                <a:lnTo>
                  <a:pt x="3327400" y="581786"/>
                </a:lnTo>
                <a:lnTo>
                  <a:pt x="3329432" y="583057"/>
                </a:lnTo>
                <a:lnTo>
                  <a:pt x="3335274" y="579246"/>
                </a:lnTo>
                <a:lnTo>
                  <a:pt x="3337305" y="575182"/>
                </a:lnTo>
                <a:lnTo>
                  <a:pt x="3339338" y="571118"/>
                </a:lnTo>
                <a:lnTo>
                  <a:pt x="3341242" y="565784"/>
                </a:lnTo>
                <a:lnTo>
                  <a:pt x="3343275" y="568451"/>
                </a:lnTo>
                <a:lnTo>
                  <a:pt x="3349116" y="562990"/>
                </a:lnTo>
                <a:lnTo>
                  <a:pt x="3351149" y="561847"/>
                </a:lnTo>
                <a:lnTo>
                  <a:pt x="3353180" y="553593"/>
                </a:lnTo>
                <a:lnTo>
                  <a:pt x="3355086" y="552449"/>
                </a:lnTo>
                <a:lnTo>
                  <a:pt x="3357117" y="556386"/>
                </a:lnTo>
                <a:lnTo>
                  <a:pt x="3364991" y="553846"/>
                </a:lnTo>
                <a:lnTo>
                  <a:pt x="3367024" y="557910"/>
                </a:lnTo>
                <a:lnTo>
                  <a:pt x="3368929" y="551179"/>
                </a:lnTo>
                <a:lnTo>
                  <a:pt x="3370961" y="552704"/>
                </a:lnTo>
                <a:lnTo>
                  <a:pt x="3376803" y="552704"/>
                </a:lnTo>
                <a:lnTo>
                  <a:pt x="3378835" y="549909"/>
                </a:lnTo>
                <a:lnTo>
                  <a:pt x="3380866" y="554101"/>
                </a:lnTo>
                <a:lnTo>
                  <a:pt x="3382772" y="552830"/>
                </a:lnTo>
                <a:lnTo>
                  <a:pt x="3384804" y="543305"/>
                </a:lnTo>
                <a:lnTo>
                  <a:pt x="3390646" y="543432"/>
                </a:lnTo>
                <a:lnTo>
                  <a:pt x="3392678" y="547496"/>
                </a:lnTo>
                <a:lnTo>
                  <a:pt x="3394710" y="544829"/>
                </a:lnTo>
                <a:lnTo>
                  <a:pt x="3396615" y="544829"/>
                </a:lnTo>
                <a:lnTo>
                  <a:pt x="3398647" y="543559"/>
                </a:lnTo>
                <a:lnTo>
                  <a:pt x="3404489" y="538226"/>
                </a:lnTo>
                <a:lnTo>
                  <a:pt x="3406521" y="527430"/>
                </a:lnTo>
                <a:lnTo>
                  <a:pt x="3408426" y="527430"/>
                </a:lnTo>
                <a:lnTo>
                  <a:pt x="3410458" y="530097"/>
                </a:lnTo>
                <a:lnTo>
                  <a:pt x="3412490" y="530224"/>
                </a:lnTo>
                <a:lnTo>
                  <a:pt x="3418332" y="530224"/>
                </a:lnTo>
                <a:lnTo>
                  <a:pt x="3420364" y="533145"/>
                </a:lnTo>
                <a:lnTo>
                  <a:pt x="3422269" y="529082"/>
                </a:lnTo>
                <a:lnTo>
                  <a:pt x="3424301" y="533145"/>
                </a:lnTo>
                <a:lnTo>
                  <a:pt x="3426333" y="533272"/>
                </a:lnTo>
                <a:lnTo>
                  <a:pt x="3432175" y="530479"/>
                </a:lnTo>
                <a:lnTo>
                  <a:pt x="3434207" y="530479"/>
                </a:lnTo>
                <a:lnTo>
                  <a:pt x="3436112" y="525144"/>
                </a:lnTo>
                <a:lnTo>
                  <a:pt x="3438144" y="529335"/>
                </a:lnTo>
                <a:lnTo>
                  <a:pt x="3440176" y="532002"/>
                </a:lnTo>
                <a:lnTo>
                  <a:pt x="3446017" y="540257"/>
                </a:lnTo>
                <a:lnTo>
                  <a:pt x="3448050" y="544321"/>
                </a:lnTo>
                <a:lnTo>
                  <a:pt x="3449954" y="545718"/>
                </a:lnTo>
                <a:lnTo>
                  <a:pt x="3451987" y="543051"/>
                </a:lnTo>
                <a:lnTo>
                  <a:pt x="3454019" y="551179"/>
                </a:lnTo>
                <a:lnTo>
                  <a:pt x="3459861" y="551307"/>
                </a:lnTo>
                <a:lnTo>
                  <a:pt x="3461892" y="551307"/>
                </a:lnTo>
                <a:lnTo>
                  <a:pt x="3463798" y="544576"/>
                </a:lnTo>
                <a:lnTo>
                  <a:pt x="3465829" y="541908"/>
                </a:lnTo>
                <a:lnTo>
                  <a:pt x="3467862" y="550036"/>
                </a:lnTo>
                <a:lnTo>
                  <a:pt x="3473704" y="547496"/>
                </a:lnTo>
                <a:lnTo>
                  <a:pt x="3475736" y="556894"/>
                </a:lnTo>
                <a:lnTo>
                  <a:pt x="3477641" y="565149"/>
                </a:lnTo>
                <a:lnTo>
                  <a:pt x="3479673" y="565149"/>
                </a:lnTo>
                <a:lnTo>
                  <a:pt x="3481578" y="566546"/>
                </a:lnTo>
                <a:lnTo>
                  <a:pt x="3487547" y="559815"/>
                </a:lnTo>
                <a:lnTo>
                  <a:pt x="3489579" y="562609"/>
                </a:lnTo>
                <a:lnTo>
                  <a:pt x="3491484" y="562736"/>
                </a:lnTo>
                <a:lnTo>
                  <a:pt x="3493516" y="557276"/>
                </a:lnTo>
                <a:lnTo>
                  <a:pt x="3495421" y="561340"/>
                </a:lnTo>
                <a:lnTo>
                  <a:pt x="3501390" y="569594"/>
                </a:lnTo>
                <a:lnTo>
                  <a:pt x="3503422" y="562863"/>
                </a:lnTo>
                <a:lnTo>
                  <a:pt x="3505327" y="568324"/>
                </a:lnTo>
                <a:lnTo>
                  <a:pt x="3507359" y="573658"/>
                </a:lnTo>
                <a:lnTo>
                  <a:pt x="3509264" y="558926"/>
                </a:lnTo>
                <a:lnTo>
                  <a:pt x="3515233" y="552195"/>
                </a:lnTo>
                <a:lnTo>
                  <a:pt x="3517265" y="552195"/>
                </a:lnTo>
                <a:lnTo>
                  <a:pt x="3519170" y="559054"/>
                </a:lnTo>
                <a:lnTo>
                  <a:pt x="3521202" y="560323"/>
                </a:lnTo>
                <a:lnTo>
                  <a:pt x="3523107" y="563118"/>
                </a:lnTo>
                <a:lnTo>
                  <a:pt x="3529076" y="569976"/>
                </a:lnTo>
                <a:lnTo>
                  <a:pt x="3531108" y="571372"/>
                </a:lnTo>
                <a:lnTo>
                  <a:pt x="3533013" y="569976"/>
                </a:lnTo>
                <a:lnTo>
                  <a:pt x="3535045" y="566038"/>
                </a:lnTo>
                <a:lnTo>
                  <a:pt x="3536950" y="564768"/>
                </a:lnTo>
                <a:lnTo>
                  <a:pt x="3542919" y="563371"/>
                </a:lnTo>
                <a:lnTo>
                  <a:pt x="3544951" y="560704"/>
                </a:lnTo>
                <a:lnTo>
                  <a:pt x="3546855" y="556640"/>
                </a:lnTo>
                <a:lnTo>
                  <a:pt x="3548888" y="551307"/>
                </a:lnTo>
                <a:lnTo>
                  <a:pt x="3550792" y="551433"/>
                </a:lnTo>
              </a:path>
            </a:pathLst>
          </a:custGeom>
          <a:ln w="9524">
            <a:solidFill>
              <a:schemeClr val="tx2">
                <a:lumMod val="40000"/>
                <a:lumOff val="60000"/>
              </a:schemeClr>
            </a:solidFill>
          </a:ln>
        </p:spPr>
        <p:txBody>
          <a:bodyPr wrap="square" lIns="0" tIns="0" rIns="0" bIns="0" rtlCol="0"/>
          <a:lstStyle/>
          <a:p>
            <a:endParaRPr>
              <a:solidFill>
                <a:schemeClr val="accent5">
                  <a:lumMod val="40000"/>
                  <a:lumOff val="60000"/>
                </a:schemeClr>
              </a:solidFill>
            </a:endParaRPr>
          </a:p>
        </p:txBody>
      </p:sp>
      <p:sp>
        <p:nvSpPr>
          <p:cNvPr id="14" name="object 51">
            <a:extLst>
              <a:ext uri="{FF2B5EF4-FFF2-40B4-BE49-F238E27FC236}">
                <a16:creationId xmlns:a16="http://schemas.microsoft.com/office/drawing/2014/main" id="{4555AB80-01B0-D5E7-EED0-EDEADC5C20E1}"/>
              </a:ext>
            </a:extLst>
          </p:cNvPr>
          <p:cNvSpPr txBox="1"/>
          <p:nvPr/>
        </p:nvSpPr>
        <p:spPr>
          <a:xfrm>
            <a:off x="264951" y="8341374"/>
            <a:ext cx="6909415" cy="1868955"/>
          </a:xfrm>
          <a:prstGeom prst="rect">
            <a:avLst/>
          </a:prstGeom>
          <a:solidFill>
            <a:schemeClr val="accent1">
              <a:lumMod val="20000"/>
              <a:lumOff val="80000"/>
            </a:schemeClr>
          </a:solidFill>
        </p:spPr>
        <p:txBody>
          <a:bodyPr vert="horz" wrap="square" lIns="72000" tIns="72000" rIns="72000" bIns="72000" rtlCol="0">
            <a:spAutoFit/>
          </a:bodyPr>
          <a:lstStyle/>
          <a:p>
            <a:pPr marR="5080"/>
            <a:r>
              <a:rPr lang="en-GB" sz="800" b="0">
                <a:solidFill>
                  <a:schemeClr val="tx2"/>
                </a:solidFill>
                <a:latin typeface="Zurich Sans Light"/>
                <a:cs typeface="Zurich Sans Light"/>
              </a:rPr>
              <a:t>This factsheet is for informational purposes only and is not an investment offer. Potential investors should seek professional advice before making decisions. Information may change without notice and is sourced from reliable sources, but accuracy is not guaranteed. Zurich International Life Limited and its affiliates are not responsible for errors or omissions. Please consult a financial professional to determine suitability for your investments.</a:t>
            </a:r>
          </a:p>
          <a:p>
            <a:pPr marR="5080"/>
            <a:endParaRPr lang="en-GB" sz="800">
              <a:solidFill>
                <a:schemeClr val="tx2"/>
              </a:solidFill>
              <a:latin typeface="Zurich Sans Light"/>
              <a:cs typeface="Zurich Sans Light"/>
            </a:endParaRPr>
          </a:p>
          <a:p>
            <a:pPr marR="5080"/>
            <a:r>
              <a:rPr lang="en-GB" sz="800" b="0">
                <a:solidFill>
                  <a:schemeClr val="tx2"/>
                </a:solidFill>
                <a:latin typeface="Zurich Sans Light"/>
                <a:cs typeface="Zurich Sans Light"/>
              </a:rPr>
              <a:t>All funds carry certain risks, and it is important to consider these risks before making an investment decision. The value of investments and any income derived from them is not guaranteed; they can both fall and rise and may be eroded in real terms by the effects of inflation. </a:t>
            </a:r>
            <a:br>
              <a:rPr lang="en-GB" sz="800" b="0">
                <a:solidFill>
                  <a:schemeClr val="tx2"/>
                </a:solidFill>
                <a:latin typeface="Zurich Sans Light"/>
                <a:cs typeface="Zurich Sans Light"/>
              </a:rPr>
            </a:br>
            <a:br>
              <a:rPr lang="en-GB" sz="800" b="0">
                <a:solidFill>
                  <a:schemeClr val="tx2"/>
                </a:solidFill>
                <a:latin typeface="Zurich Sans Light"/>
                <a:cs typeface="Zurich Sans Light"/>
              </a:rPr>
            </a:br>
            <a:r>
              <a:rPr lang="en-GB" sz="800" b="0">
                <a:solidFill>
                  <a:schemeClr val="tx2"/>
                </a:solidFill>
                <a:latin typeface="Zurich Sans Light"/>
                <a:cs typeface="Zurich Sans Light"/>
              </a:rPr>
              <a:t>Key factors that may increase these risks include, but are not limited to:</a:t>
            </a:r>
            <a:br>
              <a:rPr lang="en-GB" sz="800" b="0">
                <a:solidFill>
                  <a:schemeClr val="tx2"/>
                </a:solidFill>
                <a:latin typeface="Zurich Sans Light"/>
                <a:cs typeface="Zurich Sans Light"/>
              </a:rPr>
            </a:br>
            <a:r>
              <a:rPr lang="en-GB" sz="800" b="0">
                <a:solidFill>
                  <a:schemeClr val="tx2"/>
                </a:solidFill>
                <a:latin typeface="Zurich Sans Light"/>
                <a:cs typeface="Zurich Sans Light"/>
              </a:rPr>
              <a:t>• The proportion of assets held overseas,</a:t>
            </a:r>
          </a:p>
          <a:p>
            <a:pPr marR="5080"/>
            <a:r>
              <a:rPr lang="en-GB" sz="800" b="0">
                <a:solidFill>
                  <a:schemeClr val="tx2"/>
                </a:solidFill>
                <a:latin typeface="Zurich Sans Light"/>
                <a:cs typeface="Zurich Sans Light"/>
              </a:rPr>
              <a:t>• Any concentration in specific geographic  areas or industry sectors,</a:t>
            </a:r>
          </a:p>
          <a:p>
            <a:pPr marR="5080"/>
            <a:r>
              <a:rPr lang="en-GB" sz="800" b="0">
                <a:solidFill>
                  <a:schemeClr val="tx2"/>
                </a:solidFill>
                <a:latin typeface="Zurich Sans Light"/>
                <a:cs typeface="Zurich Sans Light"/>
              </a:rPr>
              <a:t>• The amount invested in property or property-related shares,</a:t>
            </a:r>
          </a:p>
          <a:p>
            <a:pPr marR="5080"/>
            <a:r>
              <a:rPr lang="en-GB" sz="800" b="0">
                <a:solidFill>
                  <a:schemeClr val="tx2"/>
                </a:solidFill>
                <a:latin typeface="Zurich Sans Light"/>
                <a:cs typeface="Zurich Sans Light"/>
              </a:rPr>
              <a:t>• The use of derivatives and other financial instruments intended to generate outperformance,</a:t>
            </a:r>
          </a:p>
          <a:p>
            <a:pPr marR="5080"/>
            <a:r>
              <a:rPr lang="en-GB" sz="800" b="0">
                <a:solidFill>
                  <a:schemeClr val="tx2"/>
                </a:solidFill>
                <a:latin typeface="Zurich Sans Light"/>
                <a:cs typeface="Zurich Sans Light"/>
              </a:rPr>
              <a:t>• Additional charges that may reduce the number of units you hold.</a:t>
            </a:r>
          </a:p>
          <a:p>
            <a:pPr marR="5080"/>
            <a:endParaRPr sz="800">
              <a:solidFill>
                <a:schemeClr val="tx2"/>
              </a:solidFill>
              <a:latin typeface="Zurich Sans Light"/>
            </a:endParaRPr>
          </a:p>
        </p:txBody>
      </p:sp>
      <p:sp>
        <p:nvSpPr>
          <p:cNvPr id="40" name="object 24">
            <a:extLst>
              <a:ext uri="{FF2B5EF4-FFF2-40B4-BE49-F238E27FC236}">
                <a16:creationId xmlns:a16="http://schemas.microsoft.com/office/drawing/2014/main" id="{44965128-9ACE-8737-26FF-9656428FD877}"/>
              </a:ext>
            </a:extLst>
          </p:cNvPr>
          <p:cNvSpPr txBox="1"/>
          <p:nvPr/>
        </p:nvSpPr>
        <p:spPr>
          <a:xfrm>
            <a:off x="3059937" y="3754245"/>
            <a:ext cx="4140200" cy="195814"/>
          </a:xfrm>
          <a:prstGeom prst="rect">
            <a:avLst/>
          </a:prstGeom>
          <a:solidFill>
            <a:srgbClr val="4890DA"/>
          </a:solidFill>
        </p:spPr>
        <p:txBody>
          <a:bodyPr vert="horz" wrap="square" lIns="36000" tIns="36000" rIns="36000" bIns="36000" rtlCol="0">
            <a:spAutoFit/>
          </a:bodyPr>
          <a:lstStyle/>
          <a:p>
            <a:pPr marL="35560">
              <a:lnSpc>
                <a:spcPct val="100000"/>
              </a:lnSpc>
              <a:spcBef>
                <a:spcPts val="100"/>
              </a:spcBef>
            </a:pPr>
            <a:r>
              <a:rPr lang="en-GB" sz="800" b="1">
                <a:solidFill>
                  <a:srgbClr val="FFFFFF"/>
                </a:solidFill>
                <a:latin typeface="Zurich Sans"/>
                <a:cs typeface="Zurich Sans"/>
              </a:rPr>
              <a:t>Discrete</a:t>
            </a:r>
            <a:r>
              <a:rPr sz="800" b="1" spc="-5">
                <a:solidFill>
                  <a:srgbClr val="FFFFFF"/>
                </a:solidFill>
                <a:latin typeface="Zurich Sans"/>
                <a:cs typeface="Zurich Sans"/>
              </a:rPr>
              <a:t> </a:t>
            </a:r>
            <a:r>
              <a:rPr sz="800" b="1">
                <a:solidFill>
                  <a:srgbClr val="FFFFFF"/>
                </a:solidFill>
                <a:latin typeface="Zurich Sans"/>
                <a:cs typeface="Zurich Sans"/>
              </a:rPr>
              <a:t>performance</a:t>
            </a:r>
            <a:r>
              <a:rPr lang="en-GB" sz="800" b="1">
                <a:solidFill>
                  <a:srgbClr val="FFFFFF"/>
                </a:solidFill>
                <a:latin typeface="Zurich Sans"/>
                <a:cs typeface="Zurich Sans"/>
              </a:rPr>
              <a:t> (as at 28/02/2025)</a:t>
            </a:r>
            <a:endParaRPr sz="800" b="1">
              <a:latin typeface="Zurich Sans"/>
              <a:cs typeface="Zurich Sans"/>
            </a:endParaRPr>
          </a:p>
        </p:txBody>
      </p:sp>
      <p:pic>
        <p:nvPicPr>
          <p:cNvPr id="42" name="Graphic 41">
            <a:extLst>
              <a:ext uri="{FF2B5EF4-FFF2-40B4-BE49-F238E27FC236}">
                <a16:creationId xmlns:a16="http://schemas.microsoft.com/office/drawing/2014/main" id="{EB84B1F2-F23A-6627-4866-DE8FF05EE0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0037" y="182136"/>
            <a:ext cx="1976437" cy="767521"/>
          </a:xfrm>
          <a:prstGeom prst="rect">
            <a:avLst/>
          </a:prstGeom>
        </p:spPr>
      </p:pic>
      <p:sp>
        <p:nvSpPr>
          <p:cNvPr id="4" name="object 12">
            <a:extLst>
              <a:ext uri="{FF2B5EF4-FFF2-40B4-BE49-F238E27FC236}">
                <a16:creationId xmlns:a16="http://schemas.microsoft.com/office/drawing/2014/main" id="{E6831267-CC3B-BD5A-3AC5-95036915F62E}"/>
              </a:ext>
            </a:extLst>
          </p:cNvPr>
          <p:cNvSpPr/>
          <p:nvPr/>
        </p:nvSpPr>
        <p:spPr>
          <a:xfrm>
            <a:off x="3075145" y="3391197"/>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9" name="object 12">
            <a:extLst>
              <a:ext uri="{FF2B5EF4-FFF2-40B4-BE49-F238E27FC236}">
                <a16:creationId xmlns:a16="http://schemas.microsoft.com/office/drawing/2014/main" id="{4F5FE01B-5138-918E-7149-A104B08633E6}"/>
              </a:ext>
            </a:extLst>
          </p:cNvPr>
          <p:cNvSpPr/>
          <p:nvPr/>
        </p:nvSpPr>
        <p:spPr>
          <a:xfrm>
            <a:off x="3070729" y="3674782"/>
            <a:ext cx="4140200" cy="6350"/>
          </a:xfrm>
          <a:custGeom>
            <a:avLst/>
            <a:gdLst/>
            <a:ahLst/>
            <a:cxnLst/>
            <a:rect l="l" t="t" r="r" b="b"/>
            <a:pathLst>
              <a:path w="4140200" h="6350">
                <a:moveTo>
                  <a:pt x="0" y="0"/>
                </a:moveTo>
                <a:lnTo>
                  <a:pt x="4140073" y="0"/>
                </a:lnTo>
                <a:lnTo>
                  <a:pt x="4140073" y="6350"/>
                </a:lnTo>
                <a:lnTo>
                  <a:pt x="0" y="6350"/>
                </a:lnTo>
                <a:lnTo>
                  <a:pt x="0" y="0"/>
                </a:lnTo>
                <a:close/>
              </a:path>
            </a:pathLst>
          </a:custGeom>
          <a:solidFill>
            <a:srgbClr val="4890DA"/>
          </a:solidFill>
        </p:spPr>
        <p:txBody>
          <a:bodyPr wrap="square" lIns="0" tIns="0" rIns="0" bIns="0" rtlCol="0"/>
          <a:lstStyle/>
          <a:p>
            <a:endParaRPr/>
          </a:p>
        </p:txBody>
      </p:sp>
      <p:sp>
        <p:nvSpPr>
          <p:cNvPr id="15" name="object 32">
            <a:extLst>
              <a:ext uri="{FF2B5EF4-FFF2-40B4-BE49-F238E27FC236}">
                <a16:creationId xmlns:a16="http://schemas.microsoft.com/office/drawing/2014/main" id="{07A25663-E6BB-F50E-3DC2-2527DE103889}"/>
              </a:ext>
            </a:extLst>
          </p:cNvPr>
          <p:cNvSpPr txBox="1"/>
          <p:nvPr/>
        </p:nvSpPr>
        <p:spPr>
          <a:xfrm>
            <a:off x="4168425" y="3417053"/>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19" name="object 33">
            <a:extLst>
              <a:ext uri="{FF2B5EF4-FFF2-40B4-BE49-F238E27FC236}">
                <a16:creationId xmlns:a16="http://schemas.microsoft.com/office/drawing/2014/main" id="{27F18CE9-68B9-01F1-C04F-A20C265AC807}"/>
              </a:ext>
            </a:extLst>
          </p:cNvPr>
          <p:cNvSpPr txBox="1"/>
          <p:nvPr/>
        </p:nvSpPr>
        <p:spPr>
          <a:xfrm>
            <a:off x="4757006" y="3417053"/>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3" name="object 34">
            <a:extLst>
              <a:ext uri="{FF2B5EF4-FFF2-40B4-BE49-F238E27FC236}">
                <a16:creationId xmlns:a16="http://schemas.microsoft.com/office/drawing/2014/main" id="{4E8E61D7-E1BD-42CF-19CC-DB4CE51BF894}"/>
              </a:ext>
            </a:extLst>
          </p:cNvPr>
          <p:cNvSpPr txBox="1"/>
          <p:nvPr/>
        </p:nvSpPr>
        <p:spPr>
          <a:xfrm>
            <a:off x="5297839" y="3417053"/>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4" name="object 35">
            <a:extLst>
              <a:ext uri="{FF2B5EF4-FFF2-40B4-BE49-F238E27FC236}">
                <a16:creationId xmlns:a16="http://schemas.microsoft.com/office/drawing/2014/main" id="{CA4B13AB-B423-F50F-43AE-D27B113B97B4}"/>
              </a:ext>
            </a:extLst>
          </p:cNvPr>
          <p:cNvSpPr txBox="1"/>
          <p:nvPr/>
        </p:nvSpPr>
        <p:spPr>
          <a:xfrm>
            <a:off x="5770330" y="3417053"/>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45" name="object 36">
            <a:extLst>
              <a:ext uri="{FF2B5EF4-FFF2-40B4-BE49-F238E27FC236}">
                <a16:creationId xmlns:a16="http://schemas.microsoft.com/office/drawing/2014/main" id="{F0A0263B-C6EB-0143-9F5D-17D8FF29FF11}"/>
              </a:ext>
            </a:extLst>
          </p:cNvPr>
          <p:cNvSpPr txBox="1"/>
          <p:nvPr/>
        </p:nvSpPr>
        <p:spPr>
          <a:xfrm>
            <a:off x="6698612" y="3405831"/>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46" name="object 32">
            <a:extLst>
              <a:ext uri="{FF2B5EF4-FFF2-40B4-BE49-F238E27FC236}">
                <a16:creationId xmlns:a16="http://schemas.microsoft.com/office/drawing/2014/main" id="{07336DF5-8D58-437B-CDDB-346DCB923852}"/>
              </a:ext>
            </a:extLst>
          </p:cNvPr>
          <p:cNvSpPr txBox="1"/>
          <p:nvPr/>
        </p:nvSpPr>
        <p:spPr>
          <a:xfrm>
            <a:off x="3834465" y="4495720"/>
            <a:ext cx="30988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9.95%</a:t>
            </a:r>
            <a:endParaRPr sz="800">
              <a:latin typeface="Zurich Sans"/>
              <a:cs typeface="Zurich Sans"/>
            </a:endParaRPr>
          </a:p>
        </p:txBody>
      </p:sp>
      <p:sp>
        <p:nvSpPr>
          <p:cNvPr id="47" name="object 33">
            <a:extLst>
              <a:ext uri="{FF2B5EF4-FFF2-40B4-BE49-F238E27FC236}">
                <a16:creationId xmlns:a16="http://schemas.microsoft.com/office/drawing/2014/main" id="{BD42D462-09DC-A48D-F642-7CF8CF9039A8}"/>
              </a:ext>
            </a:extLst>
          </p:cNvPr>
          <p:cNvSpPr txBox="1"/>
          <p:nvPr/>
        </p:nvSpPr>
        <p:spPr>
          <a:xfrm>
            <a:off x="4575767" y="4495720"/>
            <a:ext cx="268605" cy="147955"/>
          </a:xfrm>
          <a:prstGeom prst="rect">
            <a:avLst/>
          </a:prstGeom>
        </p:spPr>
        <p:txBody>
          <a:bodyPr vert="horz" wrap="square" lIns="0" tIns="12700" rIns="0" bIns="0" rtlCol="0">
            <a:spAutoFit/>
          </a:bodyPr>
          <a:lstStyle/>
          <a:p>
            <a:pPr marL="12700">
              <a:lnSpc>
                <a:spcPct val="100000"/>
              </a:lnSpc>
              <a:spcBef>
                <a:spcPts val="100"/>
              </a:spcBef>
            </a:pPr>
            <a:r>
              <a:rPr sz="800" spc="-10">
                <a:solidFill>
                  <a:srgbClr val="142863"/>
                </a:solidFill>
                <a:latin typeface="Zurich Sans"/>
                <a:cs typeface="Zurich Sans"/>
              </a:rPr>
              <a:t>1.74%</a:t>
            </a:r>
            <a:endParaRPr sz="800">
              <a:latin typeface="Zurich Sans"/>
              <a:cs typeface="Zurich Sans"/>
            </a:endParaRPr>
          </a:p>
        </p:txBody>
      </p:sp>
      <p:sp>
        <p:nvSpPr>
          <p:cNvPr id="48" name="object 34">
            <a:extLst>
              <a:ext uri="{FF2B5EF4-FFF2-40B4-BE49-F238E27FC236}">
                <a16:creationId xmlns:a16="http://schemas.microsoft.com/office/drawing/2014/main" id="{684FF99A-9566-6BD9-39D2-DDD522906FEF}"/>
              </a:ext>
            </a:extLst>
          </p:cNvPr>
          <p:cNvSpPr txBox="1"/>
          <p:nvPr/>
        </p:nvSpPr>
        <p:spPr>
          <a:xfrm>
            <a:off x="5229687" y="4495720"/>
            <a:ext cx="394335"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10">
                <a:solidFill>
                  <a:srgbClr val="142863"/>
                </a:solidFill>
                <a:latin typeface="Zurich Sans"/>
                <a:cs typeface="Zurich Sans"/>
              </a:rPr>
              <a:t>29.74%</a:t>
            </a:r>
            <a:endParaRPr sz="800">
              <a:latin typeface="Zurich Sans"/>
              <a:cs typeface="Zurich Sans"/>
            </a:endParaRPr>
          </a:p>
        </p:txBody>
      </p:sp>
      <p:sp>
        <p:nvSpPr>
          <p:cNvPr id="49" name="object 35">
            <a:extLst>
              <a:ext uri="{FF2B5EF4-FFF2-40B4-BE49-F238E27FC236}">
                <a16:creationId xmlns:a16="http://schemas.microsoft.com/office/drawing/2014/main" id="{D94470F6-8EC7-C9A4-5361-63B375ACFA27}"/>
              </a:ext>
            </a:extLst>
          </p:cNvPr>
          <p:cNvSpPr txBox="1"/>
          <p:nvPr/>
        </p:nvSpPr>
        <p:spPr>
          <a:xfrm>
            <a:off x="5988382" y="4495720"/>
            <a:ext cx="312420" cy="147955"/>
          </a:xfrm>
          <a:prstGeom prst="rect">
            <a:avLst/>
          </a:prstGeom>
        </p:spPr>
        <p:txBody>
          <a:bodyPr vert="horz" wrap="square" lIns="0" tIns="12700" rIns="0" bIns="0" rtlCol="0">
            <a:spAutoFit/>
          </a:bodyPr>
          <a:lstStyle/>
          <a:p>
            <a:pPr marL="12700">
              <a:lnSpc>
                <a:spcPct val="100000"/>
              </a:lnSpc>
              <a:spcBef>
                <a:spcPts val="100"/>
              </a:spcBef>
            </a:pPr>
            <a:r>
              <a:rPr sz="800">
                <a:solidFill>
                  <a:srgbClr val="142863"/>
                </a:solidFill>
                <a:latin typeface="Zurich Sans"/>
                <a:cs typeface="Zurich Sans"/>
              </a:rPr>
              <a:t>-</a:t>
            </a:r>
            <a:r>
              <a:rPr sz="800" spc="-20">
                <a:solidFill>
                  <a:srgbClr val="142863"/>
                </a:solidFill>
                <a:latin typeface="Zurich Sans"/>
                <a:cs typeface="Zurich Sans"/>
              </a:rPr>
              <a:t>2.21%</a:t>
            </a:r>
            <a:endParaRPr sz="800">
              <a:latin typeface="Zurich Sans"/>
              <a:cs typeface="Zurich Sans"/>
            </a:endParaRPr>
          </a:p>
        </p:txBody>
      </p:sp>
      <p:sp>
        <p:nvSpPr>
          <p:cNvPr id="50" name="object 36">
            <a:extLst>
              <a:ext uri="{FF2B5EF4-FFF2-40B4-BE49-F238E27FC236}">
                <a16:creationId xmlns:a16="http://schemas.microsoft.com/office/drawing/2014/main" id="{2BB45D17-656D-4E5E-F3D3-2F252B99C8EA}"/>
              </a:ext>
            </a:extLst>
          </p:cNvPr>
          <p:cNvSpPr txBox="1"/>
          <p:nvPr/>
        </p:nvSpPr>
        <p:spPr>
          <a:xfrm>
            <a:off x="6713806" y="4495720"/>
            <a:ext cx="307340" cy="147955"/>
          </a:xfrm>
          <a:prstGeom prst="rect">
            <a:avLst/>
          </a:prstGeom>
        </p:spPr>
        <p:txBody>
          <a:bodyPr vert="horz" wrap="square" lIns="0" tIns="12700" rIns="0" bIns="0" rtlCol="0">
            <a:spAutoFit/>
          </a:bodyPr>
          <a:lstStyle/>
          <a:p>
            <a:pPr marL="12700">
              <a:lnSpc>
                <a:spcPct val="100000"/>
              </a:lnSpc>
              <a:spcBef>
                <a:spcPts val="100"/>
              </a:spcBef>
            </a:pPr>
            <a:r>
              <a:rPr sz="800" spc="-20">
                <a:solidFill>
                  <a:srgbClr val="142863"/>
                </a:solidFill>
                <a:latin typeface="Zurich Sans"/>
                <a:cs typeface="Zurich Sans"/>
              </a:rPr>
              <a:t>3.30%</a:t>
            </a:r>
            <a:endParaRPr sz="800">
              <a:latin typeface="Zurich Sans"/>
              <a:cs typeface="Zurich Sans"/>
            </a:endParaRPr>
          </a:p>
        </p:txBody>
      </p:sp>
      <p:sp>
        <p:nvSpPr>
          <p:cNvPr id="51" name="object 37">
            <a:extLst>
              <a:ext uri="{FF2B5EF4-FFF2-40B4-BE49-F238E27FC236}">
                <a16:creationId xmlns:a16="http://schemas.microsoft.com/office/drawing/2014/main" id="{F85DF886-0F1A-9608-FCCB-10A454E67690}"/>
              </a:ext>
            </a:extLst>
          </p:cNvPr>
          <p:cNvSpPr txBox="1"/>
          <p:nvPr/>
        </p:nvSpPr>
        <p:spPr>
          <a:xfrm>
            <a:off x="3062719" y="3412483"/>
            <a:ext cx="632829" cy="382156"/>
          </a:xfrm>
          <a:prstGeom prst="rect">
            <a:avLst/>
          </a:prstGeom>
        </p:spPr>
        <p:txBody>
          <a:bodyPr vert="horz" wrap="square" lIns="0" tIns="12700" rIns="0" bIns="0" rtlCol="0">
            <a:spAutoFit/>
          </a:bodyPr>
          <a:lstStyle/>
          <a:p>
            <a:pPr marL="12700">
              <a:lnSpc>
                <a:spcPct val="100000"/>
              </a:lnSpc>
              <a:spcBef>
                <a:spcPts val="100"/>
              </a:spcBef>
              <a:tabLst>
                <a:tab pos="901065" algn="l"/>
                <a:tab pos="1622425" algn="l"/>
              </a:tabLst>
            </a:pPr>
            <a:r>
              <a:rPr lang="en-GB" sz="800" spc="-10">
                <a:solidFill>
                  <a:srgbClr val="142863"/>
                </a:solidFill>
                <a:latin typeface="Zurich Sans"/>
                <a:cs typeface="Zurich Sans"/>
              </a:rPr>
              <a:t>Sector </a:t>
            </a:r>
            <a:r>
              <a:rPr sz="800">
                <a:solidFill>
                  <a:srgbClr val="142863"/>
                </a:solidFill>
                <a:latin typeface="Zurich Sans"/>
                <a:cs typeface="Zurich Sans"/>
              </a:rPr>
              <a:t>		</a:t>
            </a:r>
            <a:endParaRPr sz="800">
              <a:latin typeface="Zurich Sans"/>
              <a:cs typeface="Zurich Sans"/>
            </a:endParaRPr>
          </a:p>
        </p:txBody>
      </p:sp>
      <p:sp>
        <p:nvSpPr>
          <p:cNvPr id="38" name="object 32">
            <a:extLst>
              <a:ext uri="{FF2B5EF4-FFF2-40B4-BE49-F238E27FC236}">
                <a16:creationId xmlns:a16="http://schemas.microsoft.com/office/drawing/2014/main" id="{08CE065C-7294-869A-9B3F-3183E53710B5}"/>
              </a:ext>
            </a:extLst>
          </p:cNvPr>
          <p:cNvSpPr txBox="1"/>
          <p:nvPr/>
        </p:nvSpPr>
        <p:spPr>
          <a:xfrm>
            <a:off x="3702050" y="3417053"/>
            <a:ext cx="309880"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7</a:t>
            </a:r>
            <a:r>
              <a:rPr sz="800" spc="-20">
                <a:solidFill>
                  <a:srgbClr val="142863"/>
                </a:solidFill>
                <a:latin typeface="Zurich Sans"/>
                <a:cs typeface="Zurich Sans"/>
              </a:rPr>
              <a:t>.95%</a:t>
            </a:r>
            <a:endParaRPr sz="800">
              <a:latin typeface="Zurich Sans"/>
              <a:cs typeface="Zurich Sans"/>
            </a:endParaRPr>
          </a:p>
        </p:txBody>
      </p:sp>
      <p:sp>
        <p:nvSpPr>
          <p:cNvPr id="53" name="object 36">
            <a:extLst>
              <a:ext uri="{FF2B5EF4-FFF2-40B4-BE49-F238E27FC236}">
                <a16:creationId xmlns:a16="http://schemas.microsoft.com/office/drawing/2014/main" id="{7C4C7270-876C-CB56-4DCD-8C838DD9A3A7}"/>
              </a:ext>
            </a:extLst>
          </p:cNvPr>
          <p:cNvSpPr txBox="1"/>
          <p:nvPr/>
        </p:nvSpPr>
        <p:spPr>
          <a:xfrm>
            <a:off x="6232237" y="3414734"/>
            <a:ext cx="358108" cy="135935"/>
          </a:xfrm>
          <a:prstGeom prst="rect">
            <a:avLst/>
          </a:prstGeom>
        </p:spPr>
        <p:txBody>
          <a:bodyPr vert="horz" wrap="square" lIns="0" tIns="12700" rIns="0" bIns="0" rtlCol="0">
            <a:spAutoFit/>
          </a:bodyPr>
          <a:lstStyle/>
          <a:p>
            <a:pPr marL="12700">
              <a:lnSpc>
                <a:spcPct val="100000"/>
              </a:lnSpc>
              <a:spcBef>
                <a:spcPts val="100"/>
              </a:spcBef>
            </a:pPr>
            <a:r>
              <a:rPr lang="en-GB" sz="800" spc="-20">
                <a:solidFill>
                  <a:srgbClr val="142863"/>
                </a:solidFill>
                <a:latin typeface="Zurich Sans"/>
                <a:cs typeface="Zurich Sans"/>
              </a:rPr>
              <a:t>1</a:t>
            </a:r>
            <a:r>
              <a:rPr sz="800" spc="-20">
                <a:solidFill>
                  <a:srgbClr val="142863"/>
                </a:solidFill>
                <a:latin typeface="Zurich Sans"/>
                <a:cs typeface="Zurich Sans"/>
              </a:rPr>
              <a:t>3.30%</a:t>
            </a:r>
            <a:endParaRPr sz="800">
              <a:latin typeface="Zurich Sans"/>
              <a:cs typeface="Zurich Sans"/>
            </a:endParaRPr>
          </a:p>
        </p:txBody>
      </p:sp>
      <p:graphicFrame>
        <p:nvGraphicFramePr>
          <p:cNvPr id="86" name="Table 85">
            <a:extLst>
              <a:ext uri="{FF2B5EF4-FFF2-40B4-BE49-F238E27FC236}">
                <a16:creationId xmlns:a16="http://schemas.microsoft.com/office/drawing/2014/main" id="{EBFF786D-0EB8-C04A-8BC0-6E5BB5D1F8F5}"/>
              </a:ext>
            </a:extLst>
          </p:cNvPr>
          <p:cNvGraphicFramePr>
            <a:graphicFrameLocks noGrp="1"/>
          </p:cNvGraphicFramePr>
          <p:nvPr/>
        </p:nvGraphicFramePr>
        <p:xfrm>
          <a:off x="224389" y="2805708"/>
          <a:ext cx="2715251" cy="5207994"/>
        </p:xfrm>
        <a:graphic>
          <a:graphicData uri="http://schemas.openxmlformats.org/drawingml/2006/table">
            <a:tbl>
              <a:tblPr/>
              <a:tblGrid>
                <a:gridCol w="1592123">
                  <a:extLst>
                    <a:ext uri="{9D8B030D-6E8A-4147-A177-3AD203B41FA5}">
                      <a16:colId xmlns:a16="http://schemas.microsoft.com/office/drawing/2014/main" val="3010086377"/>
                    </a:ext>
                  </a:extLst>
                </a:gridCol>
                <a:gridCol w="1123128">
                  <a:extLst>
                    <a:ext uri="{9D8B030D-6E8A-4147-A177-3AD203B41FA5}">
                      <a16:colId xmlns:a16="http://schemas.microsoft.com/office/drawing/2014/main" val="2222851836"/>
                    </a:ext>
                  </a:extLst>
                </a:gridCol>
              </a:tblGrid>
              <a:tr h="265290">
                <a:tc>
                  <a:txBody>
                    <a:bodyPr/>
                    <a:lstStyle/>
                    <a:p>
                      <a:pPr algn="l" fontAlgn="b"/>
                      <a:r>
                        <a:rPr lang="en-US" sz="1100" b="1" i="0" u="none" strike="noStrike">
                          <a:solidFill>
                            <a:srgbClr val="2167AE"/>
                          </a:solidFill>
                          <a:effectLst/>
                          <a:latin typeface="Zurich Sans"/>
                        </a:rPr>
                        <a:t>Fund information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167AE"/>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5598163"/>
                  </a:ext>
                </a:extLst>
              </a:tr>
              <a:tr h="167021">
                <a:tc gridSpan="2">
                  <a:txBody>
                    <a:bodyPr/>
                    <a:lstStyle/>
                    <a:p>
                      <a:pPr algn="l" fontAlgn="b"/>
                      <a:r>
                        <a:rPr lang="en-US" sz="800" b="1" i="0" u="none" strike="noStrike">
                          <a:solidFill>
                            <a:srgbClr val="2167AE"/>
                          </a:solidFill>
                          <a:effectLst/>
                          <a:latin typeface="Zurich Sans"/>
                        </a:rPr>
                        <a:t>Fund Management Company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900" b="0" i="0" u="none" strike="noStrike">
                        <a:solidFill>
                          <a:srgbClr val="2167AE"/>
                        </a:solidFill>
                        <a:effectLst/>
                        <a:latin typeface="Zurich Sans" panose="02000500000000000000" pitchFamily="2" charset="0"/>
                      </a:endParaRPr>
                    </a:p>
                  </a:txBody>
                  <a:tcPr anchor="b">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21192752"/>
                  </a:ext>
                </a:extLst>
              </a:tr>
              <a:tr h="167021">
                <a:tc gridSpan="2">
                  <a:txBody>
                    <a:bodyPr/>
                    <a:lstStyle/>
                    <a:p>
                      <a:pPr algn="r" fontAlgn="ctr"/>
                      <a:r>
                        <a:rPr lang="en-US" sz="800" b="0" i="0" u="none" strike="noStrike">
                          <a:solidFill>
                            <a:srgbClr val="23366F"/>
                          </a:solidFill>
                          <a:effectLst/>
                          <a:latin typeface="Zurich Sans"/>
                        </a:rPr>
                        <a:t>Fidelity Investments</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nchor="ctr">
                    <a:lnL w="12700" cmpd="sng">
                      <a:noFill/>
                      <a:prstDash val="solid"/>
                    </a:lnL>
                    <a:lnR>
                      <a:noFill/>
                    </a:lnR>
                    <a:lnT>
                      <a:noFill/>
                    </a:lnT>
                    <a:lnB>
                      <a:noFill/>
                    </a:lnB>
                    <a:solidFill>
                      <a:schemeClr val="bg1">
                        <a:lumMod val="95000"/>
                      </a:schemeClr>
                    </a:solidFill>
                  </a:tcPr>
                </a:tc>
                <a:extLst>
                  <a:ext uri="{0D108BD9-81ED-4DB2-BD59-A6C34878D82A}">
                    <a16:rowId xmlns:a16="http://schemas.microsoft.com/office/drawing/2014/main" val="3757054817"/>
                  </a:ext>
                </a:extLst>
              </a:tr>
              <a:tr h="167021">
                <a:tc>
                  <a:txBody>
                    <a:bodyPr/>
                    <a:lstStyle/>
                    <a:p>
                      <a:pPr algn="l" fontAlgn="b"/>
                      <a:r>
                        <a:rPr lang="en-US" sz="800" b="1" i="0" u="none" strike="noStrike">
                          <a:solidFill>
                            <a:srgbClr val="2167AE"/>
                          </a:solidFill>
                          <a:effectLst/>
                          <a:latin typeface="Zurich Sans"/>
                        </a:rPr>
                        <a:t>Zurich Fund Code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3DUSD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17312913"/>
                  </a:ext>
                </a:extLst>
              </a:tr>
              <a:tr h="167021">
                <a:tc>
                  <a:txBody>
                    <a:bodyPr/>
                    <a:lstStyle/>
                    <a:p>
                      <a:pPr algn="l" fontAlgn="b"/>
                      <a:r>
                        <a:rPr lang="en-US" sz="800" b="1" i="0" u="none" strike="noStrike">
                          <a:solidFill>
                            <a:srgbClr val="2167AE"/>
                          </a:solidFill>
                          <a:effectLst/>
                          <a:latin typeface="Zurich Sans"/>
                        </a:rPr>
                        <a:t>Underlying ISN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r>
                        <a:rPr lang="en-US" sz="800" b="0" i="0" u="none" strike="noStrike">
                          <a:solidFill>
                            <a:srgbClr val="23366F"/>
                          </a:solidFill>
                          <a:effectLst/>
                          <a:latin typeface="Zurich Sans"/>
                        </a:rPr>
                        <a:t>GB00B4K1ZK5USD</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5109854"/>
                  </a:ext>
                </a:extLst>
              </a:tr>
              <a:tr h="167021">
                <a:tc>
                  <a:txBody>
                    <a:bodyPr/>
                    <a:lstStyle/>
                    <a:p>
                      <a:pPr algn="l" fontAlgn="b"/>
                      <a:r>
                        <a:rPr lang="en-US" sz="800" b="1" i="0" u="none" strike="noStrike">
                          <a:solidFill>
                            <a:srgbClr val="2167AE"/>
                          </a:solidFill>
                          <a:effectLst/>
                          <a:latin typeface="Zurich Sans"/>
                        </a:rPr>
                        <a:t>Zurich Fund Size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52.31m</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00913602"/>
                  </a:ext>
                </a:extLst>
              </a:tr>
              <a:tr h="167021">
                <a:tc>
                  <a:txBody>
                    <a:bodyPr/>
                    <a:lstStyle/>
                    <a:p>
                      <a:pPr algn="l" fontAlgn="b"/>
                      <a:r>
                        <a:rPr lang="en-US" sz="800" b="1" i="0" u="none" strike="noStrike">
                          <a:solidFill>
                            <a:srgbClr val="2167AE"/>
                          </a:solidFill>
                          <a:effectLst/>
                          <a:latin typeface="Zurich Sans"/>
                        </a:rPr>
                        <a:t>Launch Date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01/12/2011</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48480577"/>
                  </a:ext>
                </a:extLst>
              </a:tr>
              <a:tr h="167021">
                <a:tc>
                  <a:txBody>
                    <a:bodyPr/>
                    <a:lstStyle/>
                    <a:p>
                      <a:pPr algn="l" fontAlgn="b"/>
                      <a:r>
                        <a:rPr lang="en-US" sz="800" b="1" i="0" u="none" strike="noStrike">
                          <a:solidFill>
                            <a:srgbClr val="2167AE"/>
                          </a:solidFill>
                          <a:effectLst/>
                          <a:latin typeface="Zurich Sans"/>
                        </a:rPr>
                        <a:t>Unit price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 1.54</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57280739"/>
                  </a:ext>
                </a:extLst>
              </a:tr>
              <a:tr h="167021">
                <a:tc>
                  <a:txBody>
                    <a:bodyPr/>
                    <a:lstStyle/>
                    <a:p>
                      <a:pPr algn="l" fontAlgn="b"/>
                      <a:r>
                        <a:rPr lang="en-US" sz="800" b="1" i="0" u="none" strike="noStrike">
                          <a:solidFill>
                            <a:srgbClr val="2167AE"/>
                          </a:solidFill>
                          <a:effectLst/>
                          <a:latin typeface="Zurich Sans"/>
                        </a:rPr>
                        <a:t>Currency</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USD</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9607909"/>
                  </a:ext>
                </a:extLst>
              </a:tr>
              <a:tr h="167190">
                <a:tc gridSpan="2">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lang="en-US" sz="800" b="1" i="0" u="none" strike="noStrike">
                          <a:solidFill>
                            <a:srgbClr val="2167AE"/>
                          </a:solidFill>
                          <a:effectLst/>
                          <a:latin typeface="Zurich Sans"/>
                        </a:rPr>
                        <a:t>Sector                                  </a:t>
                      </a:r>
                      <a:r>
                        <a:rPr kumimoji="0" lang="en-US" sz="800" b="0" i="0" u="none" strike="noStrike" kern="0" cap="none" spc="0" normalizeH="0" baseline="0" noProof="0">
                          <a:ln>
                            <a:noFill/>
                          </a:ln>
                          <a:solidFill>
                            <a:srgbClr val="23366F"/>
                          </a:solidFill>
                          <a:effectLst/>
                          <a:uLnTx/>
                          <a:uFillTx/>
                          <a:latin typeface="Zurich Sans"/>
                          <a:ea typeface="+mn-ea"/>
                          <a:cs typeface="+mn-cs"/>
                        </a:rPr>
                        <a:t>Fixed Interest – Emerging Markets</a:t>
                      </a:r>
                      <a:endParaRPr lang="en-US"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21261536"/>
                  </a:ext>
                </a:extLst>
              </a:tr>
              <a:tr h="167021">
                <a:tc>
                  <a:txBody>
                    <a:bodyPr/>
                    <a:lstStyle/>
                    <a:p>
                      <a:pPr algn="l" fontAlgn="b"/>
                      <a:r>
                        <a:rPr lang="en-US" sz="800" b="1" i="0" u="none" strike="noStrike">
                          <a:solidFill>
                            <a:srgbClr val="2167AE"/>
                          </a:solidFill>
                          <a:effectLst/>
                          <a:latin typeface="Zurich Sans"/>
                        </a:rPr>
                        <a:t>Annual Management Charge*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0.75%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48880082"/>
                  </a:ext>
                </a:extLst>
              </a:tr>
              <a:tr h="167021">
                <a:tc>
                  <a:txBody>
                    <a:bodyPr/>
                    <a:lstStyle/>
                    <a:p>
                      <a:pPr algn="l" fontAlgn="b"/>
                      <a:r>
                        <a:rPr lang="en-US" sz="800" b="1" i="0" u="none" strike="noStrike">
                          <a:solidFill>
                            <a:srgbClr val="2167AE"/>
                          </a:solidFill>
                          <a:effectLst/>
                          <a:latin typeface="Zurich Sans"/>
                        </a:rPr>
                        <a:t>Ongoing Charge Figure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0.85%</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3992124"/>
                  </a:ext>
                </a:extLst>
              </a:tr>
              <a:tr h="167021">
                <a:tc gridSpan="2">
                  <a:txBody>
                    <a:bodyPr/>
                    <a:lstStyle/>
                    <a:p>
                      <a:pPr algn="l" fontAlgn="b"/>
                      <a:r>
                        <a:rPr lang="en-GB" sz="800" b="1" i="0" u="none" strike="noStrike">
                          <a:solidFill>
                            <a:srgbClr val="2167AE"/>
                          </a:solidFill>
                          <a:effectLst/>
                          <a:latin typeface="Zurich Sans"/>
                        </a:rPr>
                        <a:t>Underlying SFDR Product Type                                 </a:t>
                      </a:r>
                      <a:r>
                        <a:rPr lang="en-GB" sz="800" b="0" i="0" u="none" strike="noStrike">
                          <a:solidFill>
                            <a:srgbClr val="23366F"/>
                          </a:solidFill>
                          <a:effectLst/>
                          <a:latin typeface="Zurich Sans"/>
                        </a:rPr>
                        <a:t>Article 9 </a:t>
                      </a:r>
                      <a:endParaRPr lang="en-GB" sz="800" b="1" i="0" u="none" strike="noStrike">
                        <a:solidFill>
                          <a:srgbClr val="2167AE"/>
                        </a:solidFill>
                        <a:effectLst/>
                        <a:latin typeface="Zurich Sans"/>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1676470885"/>
                  </a:ext>
                </a:extLst>
              </a:tr>
              <a:tr h="167021">
                <a:tc>
                  <a:txBody>
                    <a:bodyPr/>
                    <a:lstStyle/>
                    <a:p>
                      <a:pPr algn="l" fontAlgn="b"/>
                      <a:r>
                        <a:rPr lang="en-US" sz="800" b="1" i="0" u="none" strike="noStrike">
                          <a:solidFill>
                            <a:srgbClr val="2167AE"/>
                          </a:solidFill>
                          <a:effectLst/>
                          <a:latin typeface="Zurich Sans"/>
                        </a:rPr>
                        <a:t>FE Risk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23366F"/>
                          </a:solidFill>
                          <a:effectLst/>
                          <a:latin typeface="Zurich Sans"/>
                        </a:rPr>
                        <a:t>3</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25542"/>
                  </a:ext>
                </a:extLst>
              </a:tr>
              <a:tr h="295966">
                <a:tc>
                  <a:txBody>
                    <a:bodyPr/>
                    <a:lstStyle/>
                    <a:p>
                      <a:pPr algn="l" fontAlgn="b"/>
                      <a:r>
                        <a:rPr lang="en-US" sz="800" b="1" i="0" u="none" strike="noStrike">
                          <a:solidFill>
                            <a:srgbClr val="2167AE"/>
                          </a:solidFill>
                          <a:effectLst/>
                          <a:latin typeface="Zurich Sans"/>
                        </a:rPr>
                        <a:t>Morningstar </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Sustainability Rating</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4437999"/>
                  </a:ext>
                </a:extLst>
              </a:tr>
              <a:tr h="295966">
                <a:tc>
                  <a:txBody>
                    <a:bodyPr/>
                    <a:lstStyle/>
                    <a:p>
                      <a:pPr algn="l" fontAlgn="b"/>
                      <a:r>
                        <a:rPr lang="en-US" sz="800" b="1" i="0" u="none" strike="noStrike">
                          <a:solidFill>
                            <a:srgbClr val="2167AE"/>
                          </a:solidFill>
                          <a:effectLst/>
                          <a:latin typeface="Zurich Sans"/>
                        </a:rPr>
                        <a:t>Morningstar</a:t>
                      </a:r>
                      <a:br>
                        <a:rPr lang="en-US" sz="800" b="1" i="0" u="none" strike="noStrike">
                          <a:solidFill>
                            <a:srgbClr val="2167AE"/>
                          </a:solidFill>
                          <a:effectLst/>
                          <a:latin typeface="Zurich Sans"/>
                        </a:rPr>
                      </a:br>
                      <a:r>
                        <a:rPr lang="en-US" sz="800" b="1" i="0" u="none" strike="noStrike">
                          <a:solidFill>
                            <a:srgbClr val="2167AE"/>
                          </a:solidFill>
                          <a:effectLst/>
                          <a:latin typeface="Zurich Sans"/>
                        </a:rPr>
                        <a:t> Low Carbon Designation</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endParaRPr lang="en-US" sz="800" b="0" i="0" u="none" strike="noStrike">
                        <a:solidFill>
                          <a:srgbClr val="23366F"/>
                        </a:solidFill>
                        <a:effectLst/>
                        <a:latin typeface="Zurich Sans" panose="02000500000000000000" pitchFamily="2"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1825811"/>
                  </a:ext>
                </a:extLst>
              </a:tr>
              <a:tr h="295966">
                <a:tc>
                  <a:txBody>
                    <a:bodyPr/>
                    <a:lstStyle/>
                    <a:p>
                      <a:pPr algn="l" fontAlgn="b"/>
                      <a:r>
                        <a:rPr lang="en-US" sz="800" b="1" i="0" u="none" strike="noStrike">
                          <a:solidFill>
                            <a:srgbClr val="2167AE"/>
                          </a:solidFill>
                          <a:effectLst/>
                          <a:latin typeface="Zurich Sans"/>
                        </a:rPr>
                        <a:t>Sustainability Corporate/Sovereign Score</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US" sz="800" b="0" i="0" u="none" strike="noStrike">
                          <a:solidFill>
                            <a:srgbClr val="FF0000"/>
                          </a:solidFill>
                          <a:effectLst/>
                          <a:latin typeface="Zurich Sans"/>
                        </a:rPr>
                        <a:t>tbc#</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9070001"/>
                  </a:ext>
                </a:extLst>
              </a:tr>
              <a:tr h="733776">
                <a:tc gridSpan="2">
                  <a:txBody>
                    <a:bodyPr/>
                    <a:lstStyle/>
                    <a:p>
                      <a:pPr algn="l" fontAlgn="t"/>
                      <a:r>
                        <a:rPr lang="en-GB" sz="800" b="0" i="0" u="none" strike="noStrike">
                          <a:solidFill>
                            <a:srgbClr val="2167AE"/>
                          </a:solidFill>
                          <a:effectLst/>
                          <a:latin typeface="Zurich Sans"/>
                        </a:rPr>
                        <a:t>* This figure includes the charges and expenses that are deducted from the fund and are reflected in the unit price. Other charges which reduce the number of units you hold may apply.</a:t>
                      </a:r>
                    </a:p>
                  </a:txBody>
                  <a:tcPr marL="36000" marR="36000" marT="9144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lnT w="12700" cmpd="sng">
                      <a:noFill/>
                      <a:prstDash val="solid"/>
                    </a:lnT>
                  </a:tcPr>
                </a:tc>
                <a:extLst>
                  <a:ext uri="{0D108BD9-81ED-4DB2-BD59-A6C34878D82A}">
                    <a16:rowId xmlns:a16="http://schemas.microsoft.com/office/drawing/2014/main" val="3030321878"/>
                  </a:ext>
                </a:extLst>
              </a:tr>
              <a:tr h="1149588">
                <a:tc gridSpan="2">
                  <a:txBody>
                    <a:bodyPr/>
                    <a:lstStyle/>
                    <a:p>
                      <a:pPr marL="0" marR="0" lvl="0" indent="0" algn="l" defTabSz="914400" eaLnBrk="1" fontAlgn="t" latinLnBrk="0" hangingPunct="1">
                        <a:lnSpc>
                          <a:spcPct val="100000"/>
                        </a:lnSpc>
                        <a:spcBef>
                          <a:spcPts val="0"/>
                        </a:spcBef>
                        <a:spcAft>
                          <a:spcPts val="0"/>
                        </a:spcAft>
                        <a:buClrTx/>
                        <a:buSzTx/>
                        <a:buFontTx/>
                        <a:buNone/>
                        <a:tabLst/>
                        <a:defRPr/>
                      </a:pPr>
                      <a:r>
                        <a:rPr lang="en-GB" sz="800" b="0" i="0" u="none" strike="noStrike">
                          <a:solidFill>
                            <a:srgbClr val="2167AE"/>
                          </a:solidFill>
                          <a:effectLst/>
                          <a:latin typeface="Zurich Sans"/>
                        </a:rPr>
                        <a:t>Zurich is not a fund manager. Instead, Zurich offers access to notional units that mirror the underlying Fund. The name of the underlying Fund is replicated by Zurich, with the addition of the word "Zurich". Zurich does not set the investment strategy nor is it responsible for the asset manager’s adherence to it. Please find the Underlying Factsheet link. </a:t>
                      </a:r>
                    </a:p>
                  </a:txBody>
                  <a:tcPr marL="36000" marR="3600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lnL w="12700" cmpd="sng">
                      <a:noFill/>
                      <a:prstDash val="solid"/>
                    </a:lnL>
                  </a:tcPr>
                </a:tc>
                <a:extLst>
                  <a:ext uri="{0D108BD9-81ED-4DB2-BD59-A6C34878D82A}">
                    <a16:rowId xmlns:a16="http://schemas.microsoft.com/office/drawing/2014/main" val="3583470978"/>
                  </a:ext>
                </a:extLst>
              </a:tr>
            </a:tbl>
          </a:graphicData>
        </a:graphic>
      </p:graphicFrame>
      <p:grpSp>
        <p:nvGrpSpPr>
          <p:cNvPr id="93" name="Group 92">
            <a:extLst>
              <a:ext uri="{FF2B5EF4-FFF2-40B4-BE49-F238E27FC236}">
                <a16:creationId xmlns:a16="http://schemas.microsoft.com/office/drawing/2014/main" id="{2B0AAEA4-D44C-60BE-9F3B-4B068FAAC3AF}"/>
              </a:ext>
            </a:extLst>
          </p:cNvPr>
          <p:cNvGrpSpPr/>
          <p:nvPr/>
        </p:nvGrpSpPr>
        <p:grpSpPr>
          <a:xfrm>
            <a:off x="2334309" y="5238871"/>
            <a:ext cx="572167" cy="180000"/>
            <a:chOff x="2101251" y="7519667"/>
            <a:chExt cx="572167" cy="180000"/>
          </a:xfrm>
        </p:grpSpPr>
        <p:pic>
          <p:nvPicPr>
            <p:cNvPr id="87" name="Graphic 86" descr="Earth globe: Africa and Europe with solid fill">
              <a:extLst>
                <a:ext uri="{FF2B5EF4-FFF2-40B4-BE49-F238E27FC236}">
                  <a16:creationId xmlns:a16="http://schemas.microsoft.com/office/drawing/2014/main" id="{36D01346-634E-F289-0DB3-F6D56FCE5B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01251" y="7519667"/>
              <a:ext cx="180000" cy="180000"/>
            </a:xfrm>
            <a:prstGeom prst="rect">
              <a:avLst/>
            </a:prstGeom>
          </p:spPr>
        </p:pic>
        <p:pic>
          <p:nvPicPr>
            <p:cNvPr id="91" name="Graphic 90" descr="Earth globe: Africa and Europe with solid fill">
              <a:extLst>
                <a:ext uri="{FF2B5EF4-FFF2-40B4-BE49-F238E27FC236}">
                  <a16:creationId xmlns:a16="http://schemas.microsoft.com/office/drawing/2014/main" id="{2F8D7413-F7AB-B092-1951-886B379BA8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98221" y="7519667"/>
              <a:ext cx="180000" cy="180000"/>
            </a:xfrm>
            <a:prstGeom prst="rect">
              <a:avLst/>
            </a:prstGeom>
          </p:spPr>
        </p:pic>
        <p:pic>
          <p:nvPicPr>
            <p:cNvPr id="92" name="Graphic 91" descr="Earth globe: Africa and Europe with solid fill">
              <a:extLst>
                <a:ext uri="{FF2B5EF4-FFF2-40B4-BE49-F238E27FC236}">
                  <a16:creationId xmlns:a16="http://schemas.microsoft.com/office/drawing/2014/main" id="{227BB43C-A718-A992-82FC-62D46C5A1B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93418" y="7519667"/>
              <a:ext cx="180000" cy="180000"/>
            </a:xfrm>
            <a:prstGeom prst="rect">
              <a:avLst/>
            </a:prstGeom>
          </p:spPr>
        </p:pic>
      </p:grpSp>
      <p:grpSp>
        <p:nvGrpSpPr>
          <p:cNvPr id="90" name="Group 89">
            <a:extLst>
              <a:ext uri="{FF2B5EF4-FFF2-40B4-BE49-F238E27FC236}">
                <a16:creationId xmlns:a16="http://schemas.microsoft.com/office/drawing/2014/main" id="{66169A5E-E924-56D9-17DB-FF6AAD4481F5}"/>
              </a:ext>
            </a:extLst>
          </p:cNvPr>
          <p:cNvGrpSpPr/>
          <p:nvPr/>
        </p:nvGrpSpPr>
        <p:grpSpPr>
          <a:xfrm>
            <a:off x="2383468" y="5550052"/>
            <a:ext cx="475622" cy="144000"/>
            <a:chOff x="2118446" y="7818788"/>
            <a:chExt cx="475622" cy="144000"/>
          </a:xfrm>
          <a:solidFill>
            <a:srgbClr val="004F9E"/>
          </a:solidFill>
        </p:grpSpPr>
        <p:pic>
          <p:nvPicPr>
            <p:cNvPr id="85" name="Graphic 84" descr="Leaf with solid fill">
              <a:extLst>
                <a:ext uri="{FF2B5EF4-FFF2-40B4-BE49-F238E27FC236}">
                  <a16:creationId xmlns:a16="http://schemas.microsoft.com/office/drawing/2014/main" id="{B34BC3E8-013A-2EF3-34A9-9E798E4D185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18446" y="7818788"/>
              <a:ext cx="144000" cy="144000"/>
            </a:xfrm>
            <a:prstGeom prst="rect">
              <a:avLst/>
            </a:prstGeom>
          </p:spPr>
        </p:pic>
        <p:pic>
          <p:nvPicPr>
            <p:cNvPr id="88" name="Graphic 87" descr="Leaf with solid fill">
              <a:extLst>
                <a:ext uri="{FF2B5EF4-FFF2-40B4-BE49-F238E27FC236}">
                  <a16:creationId xmlns:a16="http://schemas.microsoft.com/office/drawing/2014/main" id="{8A1BC4C6-A7BC-53FB-A3F3-F64BC01498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90245" y="7818788"/>
              <a:ext cx="144000" cy="144000"/>
            </a:xfrm>
            <a:prstGeom prst="rect">
              <a:avLst/>
            </a:prstGeom>
          </p:spPr>
        </p:pic>
        <p:pic>
          <p:nvPicPr>
            <p:cNvPr id="89" name="Graphic 88" descr="Leaf with solid fill">
              <a:extLst>
                <a:ext uri="{FF2B5EF4-FFF2-40B4-BE49-F238E27FC236}">
                  <a16:creationId xmlns:a16="http://schemas.microsoft.com/office/drawing/2014/main" id="{DDCF0AF5-C1CF-2877-D009-474D9CE513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0068" y="7818788"/>
              <a:ext cx="144000" cy="144000"/>
            </a:xfrm>
            <a:prstGeom prst="rect">
              <a:avLst/>
            </a:prstGeom>
          </p:spPr>
        </p:pic>
      </p:grpSp>
    </p:spTree>
    <p:extLst>
      <p:ext uri="{BB962C8B-B14F-4D97-AF65-F5344CB8AC3E}">
        <p14:creationId xmlns:p14="http://schemas.microsoft.com/office/powerpoint/2010/main" val="3893598116"/>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54E1E-BB06-CE25-876D-D8B98C0EFB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D20C6C9-FCEA-7D83-F632-4C3331CCDEAC}"/>
              </a:ext>
            </a:extLst>
          </p:cNvPr>
          <p:cNvSpPr/>
          <p:nvPr/>
        </p:nvSpPr>
        <p:spPr>
          <a:xfrm>
            <a:off x="123986" y="622300"/>
            <a:ext cx="2716330" cy="96986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58FC1BB4-928E-6BBE-8327-36F750F99113}"/>
              </a:ext>
            </a:extLst>
          </p:cNvPr>
          <p:cNvSpPr txBox="1"/>
          <p:nvPr/>
        </p:nvSpPr>
        <p:spPr>
          <a:xfrm>
            <a:off x="347345" y="372456"/>
            <a:ext cx="762635" cy="1359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GB" sz="800" b="0" i="0" u="none" strike="noStrike" kern="0" cap="none" spc="0" normalizeH="0" baseline="0" noProof="0">
                <a:ln>
                  <a:noFill/>
                </a:ln>
                <a:solidFill>
                  <a:srgbClr val="142764"/>
                </a:solidFill>
                <a:effectLst/>
                <a:uLnTx/>
                <a:uFillTx/>
                <a:latin typeface="Zurich Sans Light"/>
                <a:cs typeface="Zurich Sans Light"/>
              </a:rPr>
              <a:t>March</a:t>
            </a:r>
            <a:r>
              <a:rPr kumimoji="0" sz="800" b="0" i="0" u="none" strike="noStrike" kern="0" cap="none" spc="0" normalizeH="0" baseline="0" noProof="0">
                <a:ln>
                  <a:noFill/>
                </a:ln>
                <a:solidFill>
                  <a:srgbClr val="142764"/>
                </a:solidFill>
                <a:effectLst/>
                <a:uLnTx/>
                <a:uFillTx/>
                <a:latin typeface="Zurich Sans Light"/>
                <a:cs typeface="Zurich Sans Light"/>
              </a:rPr>
              <a:t> </a:t>
            </a:r>
            <a:r>
              <a:rPr kumimoji="0" sz="800" b="0" i="0" u="none" strike="noStrike" kern="0" cap="none" spc="-20" normalizeH="0" baseline="0" noProof="0">
                <a:ln>
                  <a:noFill/>
                </a:ln>
                <a:solidFill>
                  <a:srgbClr val="142764"/>
                </a:solidFill>
                <a:effectLst/>
                <a:uLnTx/>
                <a:uFillTx/>
                <a:latin typeface="Zurich Sans Light"/>
                <a:cs typeface="Zurich Sans Light"/>
              </a:rPr>
              <a:t>202</a:t>
            </a:r>
            <a:r>
              <a:rPr kumimoji="0" lang="en-GB" sz="800" b="0" i="0" u="none" strike="noStrike" kern="0" cap="none" spc="-20" normalizeH="0" baseline="0" noProof="0">
                <a:ln>
                  <a:noFill/>
                </a:ln>
                <a:solidFill>
                  <a:srgbClr val="142764"/>
                </a:solidFill>
                <a:effectLst/>
                <a:uLnTx/>
                <a:uFillTx/>
                <a:latin typeface="Zurich Sans Light"/>
                <a:cs typeface="Zurich Sans Light"/>
              </a:rPr>
              <a:t>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5" name="object 5">
            <a:extLst>
              <a:ext uri="{FF2B5EF4-FFF2-40B4-BE49-F238E27FC236}">
                <a16:creationId xmlns:a16="http://schemas.microsoft.com/office/drawing/2014/main" id="{E8A39FAE-3435-B01D-7EE6-2266C104567E}"/>
              </a:ext>
            </a:extLst>
          </p:cNvPr>
          <p:cNvSpPr/>
          <p:nvPr/>
        </p:nvSpPr>
        <p:spPr>
          <a:xfrm>
            <a:off x="2997990" y="2586882"/>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5D68F0E4-6E35-C7F4-3DCE-39D3262CE66B}"/>
              </a:ext>
            </a:extLst>
          </p:cNvPr>
          <p:cNvSpPr/>
          <p:nvPr/>
        </p:nvSpPr>
        <p:spPr>
          <a:xfrm>
            <a:off x="2945336" y="4899759"/>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a:extLst>
              <a:ext uri="{FF2B5EF4-FFF2-40B4-BE49-F238E27FC236}">
                <a16:creationId xmlns:a16="http://schemas.microsoft.com/office/drawing/2014/main" id="{043AA388-45F1-27F4-B21B-87185BC55A16}"/>
              </a:ext>
            </a:extLst>
          </p:cNvPr>
          <p:cNvSpPr/>
          <p:nvPr/>
        </p:nvSpPr>
        <p:spPr>
          <a:xfrm>
            <a:off x="2942041" y="7021000"/>
            <a:ext cx="4140200" cy="31750"/>
          </a:xfrm>
          <a:custGeom>
            <a:avLst/>
            <a:gdLst/>
            <a:ahLst/>
            <a:cxnLst/>
            <a:rect l="l" t="t" r="r" b="b"/>
            <a:pathLst>
              <a:path w="4140200" h="31750">
                <a:moveTo>
                  <a:pt x="4140072" y="0"/>
                </a:moveTo>
                <a:lnTo>
                  <a:pt x="0" y="0"/>
                </a:lnTo>
                <a:lnTo>
                  <a:pt x="0" y="31750"/>
                </a:lnTo>
                <a:lnTo>
                  <a:pt x="4140072" y="31750"/>
                </a:lnTo>
                <a:lnTo>
                  <a:pt x="4140072" y="0"/>
                </a:lnTo>
                <a:close/>
              </a:path>
            </a:pathLst>
          </a:custGeom>
          <a:solidFill>
            <a:srgbClr val="4890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9" name="object 9">
            <a:extLst>
              <a:ext uri="{FF2B5EF4-FFF2-40B4-BE49-F238E27FC236}">
                <a16:creationId xmlns:a16="http://schemas.microsoft.com/office/drawing/2014/main" id="{1C0FA3ED-5C9A-E4E3-63E1-BCC9A6534E79}"/>
              </a:ext>
            </a:extLst>
          </p:cNvPr>
          <p:cNvGraphicFramePr>
            <a:graphicFrameLocks noGrp="1"/>
          </p:cNvGraphicFramePr>
          <p:nvPr>
            <p:extLst>
              <p:ext uri="{D42A27DB-BD31-4B8C-83A1-F6EECF244321}">
                <p14:modId xmlns:p14="http://schemas.microsoft.com/office/powerpoint/2010/main" val="2450362388"/>
              </p:ext>
            </p:extLst>
          </p:nvPr>
        </p:nvGraphicFramePr>
        <p:xfrm>
          <a:off x="2953013" y="7675120"/>
          <a:ext cx="4140199" cy="1591309"/>
        </p:xfrm>
        <a:graphic>
          <a:graphicData uri="http://schemas.openxmlformats.org/drawingml/2006/table">
            <a:tbl>
              <a:tblPr firstRow="1" bandRow="1">
                <a:tableStyleId>{2D5ABB26-0587-4C30-8999-92F81FD0307C}</a:tableStyleId>
              </a:tblPr>
              <a:tblGrid>
                <a:gridCol w="3805554">
                  <a:extLst>
                    <a:ext uri="{9D8B030D-6E8A-4147-A177-3AD203B41FA5}">
                      <a16:colId xmlns:a16="http://schemas.microsoft.com/office/drawing/2014/main" val="20000"/>
                    </a:ext>
                  </a:extLst>
                </a:gridCol>
                <a:gridCol w="334645">
                  <a:extLst>
                    <a:ext uri="{9D8B030D-6E8A-4147-A177-3AD203B41FA5}">
                      <a16:colId xmlns:a16="http://schemas.microsoft.com/office/drawing/2014/main" val="20001"/>
                    </a:ext>
                  </a:extLst>
                </a:gridCol>
              </a:tblGrid>
              <a:tr h="386080">
                <a:tc>
                  <a:txBody>
                    <a:bodyPr/>
                    <a:lstStyle/>
                    <a:p>
                      <a:pPr marL="9525">
                        <a:lnSpc>
                          <a:spcPts val="869"/>
                        </a:lnSpc>
                      </a:pPr>
                      <a:r>
                        <a:rPr sz="800" b="0">
                          <a:solidFill>
                            <a:srgbClr val="142764"/>
                          </a:solidFill>
                          <a:latin typeface="Zurich Sans Light"/>
                          <a:cs typeface="Zurich Sans Light"/>
                        </a:rPr>
                        <a:t>FIDELITY INSTITUTIONAL LIQUIDITY FUND PLC - THE UNITED STATES </a:t>
                      </a:r>
                      <a:r>
                        <a:rPr sz="800" b="0" spc="-10">
                          <a:solidFill>
                            <a:srgbClr val="142764"/>
                          </a:solidFill>
                          <a:latin typeface="Zurich Sans Light"/>
                          <a:cs typeface="Zurich Sans Light"/>
                        </a:rPr>
                        <a:t>DOLLAR</a:t>
                      </a:r>
                      <a:endParaRPr sz="800">
                        <a:latin typeface="Zurich Sans Light"/>
                        <a:cs typeface="Zurich Sans Light"/>
                      </a:endParaRPr>
                    </a:p>
                    <a:p>
                      <a:pPr marL="9525">
                        <a:lnSpc>
                          <a:spcPts val="955"/>
                        </a:lnSpc>
                      </a:pPr>
                      <a:r>
                        <a:rPr sz="800" b="0" spc="-10">
                          <a:solidFill>
                            <a:srgbClr val="142764"/>
                          </a:solidFill>
                          <a:latin typeface="Zurich Sans Light"/>
                          <a:cs typeface="Zurich Sans Light"/>
                        </a:rPr>
                        <a:t>FUNDACC</a:t>
                      </a:r>
                      <a:endParaRPr sz="800">
                        <a:latin typeface="Zurich Sans Light"/>
                        <a:cs typeface="Zurich Sans Light"/>
                      </a:endParaRPr>
                    </a:p>
                    <a:p>
                      <a:pPr marL="9525">
                        <a:lnSpc>
                          <a:spcPct val="100000"/>
                        </a:lnSpc>
                        <a:spcBef>
                          <a:spcPts val="140"/>
                        </a:spcBef>
                      </a:pPr>
                      <a:r>
                        <a:rPr sz="800" b="0">
                          <a:solidFill>
                            <a:srgbClr val="142764"/>
                          </a:solidFill>
                          <a:latin typeface="Zurich Sans Light"/>
                          <a:cs typeface="Zurich Sans Light"/>
                        </a:rPr>
                        <a:t>SAUDI ARABIA KINGDOM OF 5.5% 10/25/2032 </a:t>
                      </a:r>
                      <a:r>
                        <a:rPr sz="800" b="0" spc="-20">
                          <a:solidFill>
                            <a:srgbClr val="142764"/>
                          </a:solidFill>
                          <a:latin typeface="Zurich Sans Light"/>
                          <a:cs typeface="Zurich Sans Light"/>
                        </a:rPr>
                        <a:t>REGS</a:t>
                      </a:r>
                      <a:endParaRPr sz="800">
                        <a:latin typeface="Zurich Sans Light"/>
                        <a:cs typeface="Zurich Sans Light"/>
                      </a:endParaRPr>
                    </a:p>
                  </a:txBody>
                  <a:tcPr marL="0" marR="0" marT="0" marB="0"/>
                </a:tc>
                <a:tc>
                  <a:txBody>
                    <a:bodyPr/>
                    <a:lstStyle/>
                    <a:p>
                      <a:pPr marL="40005">
                        <a:lnSpc>
                          <a:spcPct val="100000"/>
                        </a:lnSpc>
                        <a:spcBef>
                          <a:spcPts val="390"/>
                        </a:spcBef>
                      </a:pPr>
                      <a:r>
                        <a:rPr sz="800" b="0" spc="-20">
                          <a:solidFill>
                            <a:srgbClr val="142764"/>
                          </a:solidFill>
                          <a:latin typeface="Zurich Sans Light"/>
                          <a:cs typeface="Zurich Sans Light"/>
                        </a:rPr>
                        <a:t>9.50%</a:t>
                      </a:r>
                      <a:endParaRPr sz="800">
                        <a:latin typeface="Zurich Sans Light"/>
                        <a:cs typeface="Zurich Sans Light"/>
                      </a:endParaRPr>
                    </a:p>
                    <a:p>
                      <a:pPr marL="80010">
                        <a:lnSpc>
                          <a:spcPct val="100000"/>
                        </a:lnSpc>
                        <a:spcBef>
                          <a:spcPts val="615"/>
                        </a:spcBef>
                      </a:pPr>
                      <a:r>
                        <a:rPr sz="800" b="0" spc="-20">
                          <a:solidFill>
                            <a:srgbClr val="142764"/>
                          </a:solidFill>
                          <a:latin typeface="Zurich Sans Light"/>
                          <a:cs typeface="Zurich Sans Light"/>
                        </a:rPr>
                        <a:t>2.13%</a:t>
                      </a:r>
                      <a:endParaRPr sz="800">
                        <a:latin typeface="Zurich Sans Light"/>
                        <a:cs typeface="Zurich Sans Light"/>
                      </a:endParaRPr>
                    </a:p>
                  </a:txBody>
                  <a:tcPr marL="0" marR="0" marT="49530" marB="0"/>
                </a:tc>
                <a:extLst>
                  <a:ext uri="{0D108BD9-81ED-4DB2-BD59-A6C34878D82A}">
                    <a16:rowId xmlns:a16="http://schemas.microsoft.com/office/drawing/2014/main" val="10000"/>
                  </a:ext>
                </a:extLst>
              </a:tr>
              <a:tr h="139700">
                <a:tc>
                  <a:txBody>
                    <a:bodyPr/>
                    <a:lstStyle/>
                    <a:p>
                      <a:pPr marL="9525">
                        <a:lnSpc>
                          <a:spcPct val="100000"/>
                        </a:lnSpc>
                        <a:spcBef>
                          <a:spcPts val="20"/>
                        </a:spcBef>
                      </a:pPr>
                      <a:r>
                        <a:rPr sz="800" b="0">
                          <a:solidFill>
                            <a:srgbClr val="142764"/>
                          </a:solidFill>
                          <a:latin typeface="Zurich Sans Light"/>
                          <a:cs typeface="Zurich Sans Light"/>
                        </a:rPr>
                        <a:t>GACI FIRST INVESTMENT 4.875% 02/14/2035 </a:t>
                      </a:r>
                      <a:r>
                        <a:rPr sz="800" b="0" spc="-20">
                          <a:solidFill>
                            <a:srgbClr val="142764"/>
                          </a:solidFill>
                          <a:latin typeface="Zurich Sans Light"/>
                          <a:cs typeface="Zurich Sans Light"/>
                        </a:rPr>
                        <a:t>REGS</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1.88%</a:t>
                      </a:r>
                      <a:endParaRPr sz="800">
                        <a:latin typeface="Zurich Sans Light"/>
                        <a:cs typeface="Zurich Sans Light"/>
                      </a:endParaRPr>
                    </a:p>
                  </a:txBody>
                  <a:tcPr marL="0" marR="0" marT="2540" marB="0"/>
                </a:tc>
                <a:extLst>
                  <a:ext uri="{0D108BD9-81ED-4DB2-BD59-A6C34878D82A}">
                    <a16:rowId xmlns:a16="http://schemas.microsoft.com/office/drawing/2014/main" val="10001"/>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4.95% </a:t>
                      </a:r>
                      <a:r>
                        <a:rPr sz="800" b="0" spc="-10">
                          <a:solidFill>
                            <a:srgbClr val="142764"/>
                          </a:solidFill>
                          <a:latin typeface="Zurich Sans Light"/>
                          <a:cs typeface="Zurich Sans Light"/>
                        </a:rPr>
                        <a:t>01/05/2036</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1.65%</a:t>
                      </a:r>
                      <a:endParaRPr sz="800">
                        <a:latin typeface="Zurich Sans Light"/>
                        <a:cs typeface="Zurich Sans Light"/>
                      </a:endParaRPr>
                    </a:p>
                  </a:txBody>
                  <a:tcPr marL="0" marR="0" marT="2540" marB="0"/>
                </a:tc>
                <a:extLst>
                  <a:ext uri="{0D108BD9-81ED-4DB2-BD59-A6C34878D82A}">
                    <a16:rowId xmlns:a16="http://schemas.microsoft.com/office/drawing/2014/main" val="10002"/>
                  </a:ext>
                </a:extLst>
              </a:tr>
              <a:tr h="139700">
                <a:tc>
                  <a:txBody>
                    <a:bodyPr/>
                    <a:lstStyle/>
                    <a:p>
                      <a:pPr marL="9525">
                        <a:lnSpc>
                          <a:spcPct val="100000"/>
                        </a:lnSpc>
                        <a:spcBef>
                          <a:spcPts val="20"/>
                        </a:spcBef>
                      </a:pPr>
                      <a:r>
                        <a:rPr sz="800" b="0">
                          <a:solidFill>
                            <a:srgbClr val="142764"/>
                          </a:solidFill>
                          <a:latin typeface="Zurich Sans Light"/>
                          <a:cs typeface="Zurich Sans Light"/>
                        </a:rPr>
                        <a:t>CHILE REPUBLIC OF 5.33% </a:t>
                      </a:r>
                      <a:r>
                        <a:rPr sz="800" b="0" spc="-10">
                          <a:solidFill>
                            <a:srgbClr val="142764"/>
                          </a:solidFill>
                          <a:latin typeface="Zurich Sans Light"/>
                          <a:cs typeface="Zurich Sans Light"/>
                        </a:rPr>
                        <a:t>01/05/2054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1.52%</a:t>
                      </a:r>
                      <a:endParaRPr sz="800">
                        <a:latin typeface="Zurich Sans Light"/>
                        <a:cs typeface="Zurich Sans Light"/>
                      </a:endParaRPr>
                    </a:p>
                  </a:txBody>
                  <a:tcPr marL="0" marR="0" marT="2540" marB="0"/>
                </a:tc>
                <a:extLst>
                  <a:ext uri="{0D108BD9-81ED-4DB2-BD59-A6C34878D82A}">
                    <a16:rowId xmlns:a16="http://schemas.microsoft.com/office/drawing/2014/main" val="10003"/>
                  </a:ext>
                </a:extLst>
              </a:tr>
              <a:tr h="139700">
                <a:tc>
                  <a:txBody>
                    <a:bodyPr/>
                    <a:lstStyle/>
                    <a:p>
                      <a:pPr marL="9525">
                        <a:lnSpc>
                          <a:spcPct val="100000"/>
                        </a:lnSpc>
                        <a:spcBef>
                          <a:spcPts val="20"/>
                        </a:spcBef>
                      </a:pPr>
                      <a:r>
                        <a:rPr sz="800" b="0">
                          <a:solidFill>
                            <a:srgbClr val="142764"/>
                          </a:solidFill>
                          <a:latin typeface="Zurich Sans Light"/>
                          <a:cs typeface="Zurich Sans Light"/>
                        </a:rPr>
                        <a:t>CHILE</a:t>
                      </a:r>
                      <a:r>
                        <a:rPr sz="800" b="0" spc="-10">
                          <a:solidFill>
                            <a:srgbClr val="142764"/>
                          </a:solidFill>
                          <a:latin typeface="Zurich Sans Light"/>
                          <a:cs typeface="Zurich Sans Light"/>
                        </a:rPr>
                        <a:t> </a:t>
                      </a:r>
                      <a:r>
                        <a:rPr sz="800" b="0">
                          <a:solidFill>
                            <a:srgbClr val="142764"/>
                          </a:solidFill>
                          <a:latin typeface="Zurich Sans Light"/>
                          <a:cs typeface="Zurich Sans Light"/>
                        </a:rPr>
                        <a:t>REPUBLIC OF 4.85% </a:t>
                      </a:r>
                      <a:r>
                        <a:rPr sz="800" b="0" spc="-10">
                          <a:solidFill>
                            <a:srgbClr val="142764"/>
                          </a:solidFill>
                          <a:latin typeface="Zurich Sans Light"/>
                          <a:cs typeface="Zurich Sans Light"/>
                        </a:rPr>
                        <a:t>01/22/2029</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20">
                          <a:solidFill>
                            <a:srgbClr val="142764"/>
                          </a:solidFill>
                          <a:latin typeface="Zurich Sans Light"/>
                          <a:cs typeface="Zurich Sans Light"/>
                        </a:rPr>
                        <a:t>1.47%</a:t>
                      </a:r>
                      <a:endParaRPr sz="800">
                        <a:latin typeface="Zurich Sans Light"/>
                        <a:cs typeface="Zurich Sans Light"/>
                      </a:endParaRPr>
                    </a:p>
                  </a:txBody>
                  <a:tcPr marL="0" marR="0" marT="2540" marB="0"/>
                </a:tc>
                <a:extLst>
                  <a:ext uri="{0D108BD9-81ED-4DB2-BD59-A6C34878D82A}">
                    <a16:rowId xmlns:a16="http://schemas.microsoft.com/office/drawing/2014/main" val="10004"/>
                  </a:ext>
                </a:extLst>
              </a:tr>
              <a:tr h="139700">
                <a:tc>
                  <a:txBody>
                    <a:bodyPr/>
                    <a:lstStyle/>
                    <a:p>
                      <a:pPr marL="9525">
                        <a:lnSpc>
                          <a:spcPct val="100000"/>
                        </a:lnSpc>
                        <a:spcBef>
                          <a:spcPts val="20"/>
                        </a:spcBef>
                      </a:pPr>
                      <a:r>
                        <a:rPr sz="800" b="0">
                          <a:solidFill>
                            <a:srgbClr val="142764"/>
                          </a:solidFill>
                          <a:latin typeface="Zurich Sans Light"/>
                          <a:cs typeface="Zurich Sans Light"/>
                        </a:rPr>
                        <a:t>PHILIPPINES REPUBLIC OF 4.75% </a:t>
                      </a:r>
                      <a:r>
                        <a:rPr sz="800" b="0" spc="-10">
                          <a:solidFill>
                            <a:srgbClr val="142764"/>
                          </a:solidFill>
                          <a:latin typeface="Zurich Sans Light"/>
                          <a:cs typeface="Zurich Sans Light"/>
                        </a:rPr>
                        <a:t>03/05/2035</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5"/>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4.75% </a:t>
                      </a:r>
                      <a:r>
                        <a:rPr sz="800" b="0" spc="-10">
                          <a:solidFill>
                            <a:srgbClr val="142764"/>
                          </a:solidFill>
                          <a:latin typeface="Zurich Sans Light"/>
                          <a:cs typeface="Zurich Sans Light"/>
                        </a:rPr>
                        <a:t>09/10/2034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1.42%</a:t>
                      </a:r>
                      <a:endParaRPr sz="800">
                        <a:latin typeface="Zurich Sans Light"/>
                        <a:cs typeface="Zurich Sans Light"/>
                      </a:endParaRPr>
                    </a:p>
                  </a:txBody>
                  <a:tcPr marL="0" marR="0" marT="2540" marB="0"/>
                </a:tc>
                <a:extLst>
                  <a:ext uri="{0D108BD9-81ED-4DB2-BD59-A6C34878D82A}">
                    <a16:rowId xmlns:a16="http://schemas.microsoft.com/office/drawing/2014/main" val="10006"/>
                  </a:ext>
                </a:extLst>
              </a:tr>
              <a:tr h="139700">
                <a:tc>
                  <a:txBody>
                    <a:bodyPr/>
                    <a:lstStyle/>
                    <a:p>
                      <a:pPr marL="9525">
                        <a:lnSpc>
                          <a:spcPct val="100000"/>
                        </a:lnSpc>
                        <a:spcBef>
                          <a:spcPts val="20"/>
                        </a:spcBef>
                      </a:pPr>
                      <a:r>
                        <a:rPr sz="800" b="0">
                          <a:solidFill>
                            <a:srgbClr val="142764"/>
                          </a:solidFill>
                          <a:latin typeface="Zurich Sans Light"/>
                          <a:cs typeface="Zurich Sans Light"/>
                        </a:rPr>
                        <a:t>INDONESIA REPUBLIC OF 5.15% </a:t>
                      </a:r>
                      <a:r>
                        <a:rPr sz="800" b="0" spc="-10">
                          <a:solidFill>
                            <a:srgbClr val="142764"/>
                          </a:solidFill>
                          <a:latin typeface="Zurich Sans Light"/>
                          <a:cs typeface="Zurich Sans Light"/>
                        </a:rPr>
                        <a:t>09/10/2054</a:t>
                      </a:r>
                      <a:endParaRPr sz="800">
                        <a:latin typeface="Zurich Sans Light"/>
                        <a:cs typeface="Zurich Sans Light"/>
                      </a:endParaRPr>
                    </a:p>
                  </a:txBody>
                  <a:tcPr marL="0" marR="0" marT="2540" marB="0"/>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tc>
                <a:extLst>
                  <a:ext uri="{0D108BD9-81ED-4DB2-BD59-A6C34878D82A}">
                    <a16:rowId xmlns:a16="http://schemas.microsoft.com/office/drawing/2014/main" val="10007"/>
                  </a:ext>
                </a:extLst>
              </a:tr>
              <a:tr h="227329">
                <a:tc>
                  <a:txBody>
                    <a:bodyPr/>
                    <a:lstStyle/>
                    <a:p>
                      <a:pPr marL="9525">
                        <a:lnSpc>
                          <a:spcPct val="100000"/>
                        </a:lnSpc>
                        <a:spcBef>
                          <a:spcPts val="20"/>
                        </a:spcBef>
                      </a:pPr>
                      <a:r>
                        <a:rPr sz="800" b="0">
                          <a:solidFill>
                            <a:srgbClr val="142764"/>
                          </a:solidFill>
                          <a:latin typeface="Zurich Sans Light"/>
                          <a:cs typeface="Zurich Sans Light"/>
                        </a:rPr>
                        <a:t>PHILIPPINES REPUBLIC OF 5.175% </a:t>
                      </a:r>
                      <a:r>
                        <a:rPr sz="800" b="0" spc="-10">
                          <a:solidFill>
                            <a:srgbClr val="142764"/>
                          </a:solidFill>
                          <a:latin typeface="Zurich Sans Light"/>
                          <a:cs typeface="Zurich Sans Light"/>
                        </a:rPr>
                        <a:t>09/05/2049</a:t>
                      </a:r>
                      <a:endParaRPr sz="800">
                        <a:latin typeface="Zurich Sans Light"/>
                        <a:cs typeface="Zurich Sans Light"/>
                      </a:endParaRPr>
                    </a:p>
                  </a:txBody>
                  <a:tcPr marL="0" marR="0" marT="2540" marB="0">
                    <a:lnB w="38100">
                      <a:solidFill>
                        <a:srgbClr val="4890D9"/>
                      </a:solidFill>
                      <a:prstDash val="solid"/>
                    </a:lnB>
                  </a:tcPr>
                </a:tc>
                <a:tc>
                  <a:txBody>
                    <a:bodyPr/>
                    <a:lstStyle/>
                    <a:p>
                      <a:pPr marR="1270" algn="r">
                        <a:lnSpc>
                          <a:spcPct val="100000"/>
                        </a:lnSpc>
                        <a:spcBef>
                          <a:spcPts val="20"/>
                        </a:spcBef>
                      </a:pPr>
                      <a:r>
                        <a:rPr sz="800" b="0" spc="-10">
                          <a:solidFill>
                            <a:srgbClr val="142764"/>
                          </a:solidFill>
                          <a:latin typeface="Zurich Sans Light"/>
                          <a:cs typeface="Zurich Sans Light"/>
                        </a:rPr>
                        <a:t>1.41%</a:t>
                      </a:r>
                      <a:endParaRPr sz="800">
                        <a:latin typeface="Zurich Sans Light"/>
                        <a:cs typeface="Zurich Sans Light"/>
                      </a:endParaRPr>
                    </a:p>
                  </a:txBody>
                  <a:tcPr marL="0" marR="0" marT="2540" marB="0">
                    <a:lnB w="38100">
                      <a:solidFill>
                        <a:srgbClr val="4890D9"/>
                      </a:solidFill>
                      <a:prstDash val="solid"/>
                    </a:lnB>
                  </a:tcPr>
                </a:tc>
                <a:extLst>
                  <a:ext uri="{0D108BD9-81ED-4DB2-BD59-A6C34878D82A}">
                    <a16:rowId xmlns:a16="http://schemas.microsoft.com/office/drawing/2014/main" val="10008"/>
                  </a:ext>
                </a:extLst>
              </a:tr>
            </a:tbl>
          </a:graphicData>
        </a:graphic>
      </p:graphicFrame>
      <p:sp>
        <p:nvSpPr>
          <p:cNvPr id="10" name="object 10">
            <a:extLst>
              <a:ext uri="{FF2B5EF4-FFF2-40B4-BE49-F238E27FC236}">
                <a16:creationId xmlns:a16="http://schemas.microsoft.com/office/drawing/2014/main" id="{3242140D-C827-81D6-1C65-A1897F435A53}"/>
              </a:ext>
            </a:extLst>
          </p:cNvPr>
          <p:cNvSpPr/>
          <p:nvPr/>
        </p:nvSpPr>
        <p:spPr>
          <a:xfrm>
            <a:off x="2962539" y="97604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a:extLst>
              <a:ext uri="{FF2B5EF4-FFF2-40B4-BE49-F238E27FC236}">
                <a16:creationId xmlns:a16="http://schemas.microsoft.com/office/drawing/2014/main" id="{5EE4222F-FFDA-6217-44F9-562F5DBC6A5E}"/>
              </a:ext>
            </a:extLst>
          </p:cNvPr>
          <p:cNvSpPr/>
          <p:nvPr/>
        </p:nvSpPr>
        <p:spPr>
          <a:xfrm>
            <a:off x="2962539" y="110840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a:extLst>
              <a:ext uri="{FF2B5EF4-FFF2-40B4-BE49-F238E27FC236}">
                <a16:creationId xmlns:a16="http://schemas.microsoft.com/office/drawing/2014/main" id="{6E467A01-A03D-ED4F-4FD4-0F4AA87090A8}"/>
              </a:ext>
            </a:extLst>
          </p:cNvPr>
          <p:cNvSpPr/>
          <p:nvPr/>
        </p:nvSpPr>
        <p:spPr>
          <a:xfrm>
            <a:off x="2962539" y="124076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a:extLst>
              <a:ext uri="{FF2B5EF4-FFF2-40B4-BE49-F238E27FC236}">
                <a16:creationId xmlns:a16="http://schemas.microsoft.com/office/drawing/2014/main" id="{DB8E33FD-61B7-6ED2-E4E0-BC72C209A35B}"/>
              </a:ext>
            </a:extLst>
          </p:cNvPr>
          <p:cNvSpPr/>
          <p:nvPr/>
        </p:nvSpPr>
        <p:spPr>
          <a:xfrm>
            <a:off x="2962539" y="137311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a:extLst>
              <a:ext uri="{FF2B5EF4-FFF2-40B4-BE49-F238E27FC236}">
                <a16:creationId xmlns:a16="http://schemas.microsoft.com/office/drawing/2014/main" id="{54CD6ED4-DE09-9D34-2B20-678AFA76CDF3}"/>
              </a:ext>
            </a:extLst>
          </p:cNvPr>
          <p:cNvSpPr/>
          <p:nvPr/>
        </p:nvSpPr>
        <p:spPr>
          <a:xfrm>
            <a:off x="2962539" y="1505473"/>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a:extLst>
              <a:ext uri="{FF2B5EF4-FFF2-40B4-BE49-F238E27FC236}">
                <a16:creationId xmlns:a16="http://schemas.microsoft.com/office/drawing/2014/main" id="{5A89DC7C-5756-E1A5-DC19-064156CBAD47}"/>
              </a:ext>
            </a:extLst>
          </p:cNvPr>
          <p:cNvSpPr/>
          <p:nvPr/>
        </p:nvSpPr>
        <p:spPr>
          <a:xfrm>
            <a:off x="2962539" y="1637829"/>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a:extLst>
              <a:ext uri="{FF2B5EF4-FFF2-40B4-BE49-F238E27FC236}">
                <a16:creationId xmlns:a16="http://schemas.microsoft.com/office/drawing/2014/main" id="{06202D14-AF10-E4F3-E977-6EB3FB0272FC}"/>
              </a:ext>
            </a:extLst>
          </p:cNvPr>
          <p:cNvSpPr/>
          <p:nvPr/>
        </p:nvSpPr>
        <p:spPr>
          <a:xfrm>
            <a:off x="2962539" y="1770185"/>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a:extLst>
              <a:ext uri="{FF2B5EF4-FFF2-40B4-BE49-F238E27FC236}">
                <a16:creationId xmlns:a16="http://schemas.microsoft.com/office/drawing/2014/main" id="{4454BD46-EF20-9829-EB85-947F91AA0112}"/>
              </a:ext>
            </a:extLst>
          </p:cNvPr>
          <p:cNvSpPr/>
          <p:nvPr/>
        </p:nvSpPr>
        <p:spPr>
          <a:xfrm>
            <a:off x="2962539" y="1902541"/>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a:extLst>
              <a:ext uri="{FF2B5EF4-FFF2-40B4-BE49-F238E27FC236}">
                <a16:creationId xmlns:a16="http://schemas.microsoft.com/office/drawing/2014/main" id="{1956F538-732B-BE30-3914-81971056B8AD}"/>
              </a:ext>
            </a:extLst>
          </p:cNvPr>
          <p:cNvSpPr/>
          <p:nvPr/>
        </p:nvSpPr>
        <p:spPr>
          <a:xfrm>
            <a:off x="2962539" y="2034897"/>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a:extLst>
              <a:ext uri="{FF2B5EF4-FFF2-40B4-BE49-F238E27FC236}">
                <a16:creationId xmlns:a16="http://schemas.microsoft.com/office/drawing/2014/main" id="{8FD9750D-3494-3F46-7F4E-84FE13DD1B65}"/>
              </a:ext>
            </a:extLst>
          </p:cNvPr>
          <p:cNvSpPr txBox="1"/>
          <p:nvPr/>
        </p:nvSpPr>
        <p:spPr>
          <a:xfrm>
            <a:off x="5355599" y="952518"/>
            <a:ext cx="32512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14.57%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0" name="object 20">
            <a:extLst>
              <a:ext uri="{FF2B5EF4-FFF2-40B4-BE49-F238E27FC236}">
                <a16:creationId xmlns:a16="http://schemas.microsoft.com/office/drawing/2014/main" id="{38FF8DD0-BE54-656E-4B5E-296E648C0A39}"/>
              </a:ext>
            </a:extLst>
          </p:cNvPr>
          <p:cNvSpPr txBox="1"/>
          <p:nvPr/>
        </p:nvSpPr>
        <p:spPr>
          <a:xfrm>
            <a:off x="5347979" y="1109373"/>
            <a:ext cx="33274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12.94%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1" name="object 21">
            <a:extLst>
              <a:ext uri="{FF2B5EF4-FFF2-40B4-BE49-F238E27FC236}">
                <a16:creationId xmlns:a16="http://schemas.microsoft.com/office/drawing/2014/main" id="{FFF961B0-2BC2-B581-DA9E-CBDD7675EE43}"/>
              </a:ext>
            </a:extLst>
          </p:cNvPr>
          <p:cNvSpPr txBox="1"/>
          <p:nvPr/>
        </p:nvSpPr>
        <p:spPr>
          <a:xfrm>
            <a:off x="5414654" y="1266228"/>
            <a:ext cx="26606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7.31%</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2" name="object 22">
            <a:extLst>
              <a:ext uri="{FF2B5EF4-FFF2-40B4-BE49-F238E27FC236}">
                <a16:creationId xmlns:a16="http://schemas.microsoft.com/office/drawing/2014/main" id="{13CFB2DC-6152-8DDE-6D16-44F485CCC527}"/>
              </a:ext>
            </a:extLst>
          </p:cNvPr>
          <p:cNvSpPr txBox="1"/>
          <p:nvPr/>
        </p:nvSpPr>
        <p:spPr>
          <a:xfrm>
            <a:off x="5380364" y="1423083"/>
            <a:ext cx="30035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3" name="object 23">
            <a:extLst>
              <a:ext uri="{FF2B5EF4-FFF2-40B4-BE49-F238E27FC236}">
                <a16:creationId xmlns:a16="http://schemas.microsoft.com/office/drawing/2014/main" id="{E03E9CB3-5B5C-A0FD-6B21-8DCA773B1625}"/>
              </a:ext>
            </a:extLst>
          </p:cNvPr>
          <p:cNvSpPr txBox="1"/>
          <p:nvPr/>
        </p:nvSpPr>
        <p:spPr>
          <a:xfrm>
            <a:off x="5400049" y="1579938"/>
            <a:ext cx="28067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4" name="object 24">
            <a:extLst>
              <a:ext uri="{FF2B5EF4-FFF2-40B4-BE49-F238E27FC236}">
                <a16:creationId xmlns:a16="http://schemas.microsoft.com/office/drawing/2014/main" id="{C446CAF7-1F78-34B0-6376-BE6D28687F52}"/>
              </a:ext>
            </a:extLst>
          </p:cNvPr>
          <p:cNvSpPr txBox="1"/>
          <p:nvPr/>
        </p:nvSpPr>
        <p:spPr>
          <a:xfrm>
            <a:off x="5386714" y="1736793"/>
            <a:ext cx="2940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4.78%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5" name="object 25">
            <a:extLst>
              <a:ext uri="{FF2B5EF4-FFF2-40B4-BE49-F238E27FC236}">
                <a16:creationId xmlns:a16="http://schemas.microsoft.com/office/drawing/2014/main" id="{B5E8B68E-AF3D-C1FE-0AFD-0436615C8E2E}"/>
              </a:ext>
            </a:extLst>
          </p:cNvPr>
          <p:cNvSpPr txBox="1"/>
          <p:nvPr/>
        </p:nvSpPr>
        <p:spPr>
          <a:xfrm>
            <a:off x="5412114" y="1893648"/>
            <a:ext cx="26860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6" name="object 26">
            <a:extLst>
              <a:ext uri="{FF2B5EF4-FFF2-40B4-BE49-F238E27FC236}">
                <a16:creationId xmlns:a16="http://schemas.microsoft.com/office/drawing/2014/main" id="{13F9CAB6-CC4C-994D-8886-F17DAB28D173}"/>
              </a:ext>
            </a:extLst>
          </p:cNvPr>
          <p:cNvSpPr txBox="1"/>
          <p:nvPr/>
        </p:nvSpPr>
        <p:spPr>
          <a:xfrm>
            <a:off x="5379729" y="2050503"/>
            <a:ext cx="300990"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4.04%</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7" name="object 27">
            <a:extLst>
              <a:ext uri="{FF2B5EF4-FFF2-40B4-BE49-F238E27FC236}">
                <a16:creationId xmlns:a16="http://schemas.microsoft.com/office/drawing/2014/main" id="{BC327762-806F-664A-1E7A-A86D375004EF}"/>
              </a:ext>
            </a:extLst>
          </p:cNvPr>
          <p:cNvSpPr txBox="1"/>
          <p:nvPr/>
        </p:nvSpPr>
        <p:spPr>
          <a:xfrm>
            <a:off x="5323214" y="2207358"/>
            <a:ext cx="357505"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28" name="object 28">
            <a:extLst>
              <a:ext uri="{FF2B5EF4-FFF2-40B4-BE49-F238E27FC236}">
                <a16:creationId xmlns:a16="http://schemas.microsoft.com/office/drawing/2014/main" id="{D3EB659E-DE2F-4D0D-8937-CB587AC41E90}"/>
              </a:ext>
            </a:extLst>
          </p:cNvPr>
          <p:cNvSpPr txBox="1"/>
          <p:nvPr/>
        </p:nvSpPr>
        <p:spPr>
          <a:xfrm>
            <a:off x="2879904" y="636278"/>
            <a:ext cx="3144307" cy="1846339"/>
          </a:xfrm>
          <a:prstGeom prst="rect">
            <a:avLst/>
          </a:prstGeom>
        </p:spPr>
        <p:txBody>
          <a:bodyPr vert="horz" wrap="square" lIns="0" tIns="93345" rIns="0" bIns="0" rtlCol="0">
            <a:spAutoFit/>
          </a:bodyPr>
          <a:lstStyle/>
          <a:p>
            <a:pPr marL="12700" marR="0" lvl="0" indent="0" defTabSz="914400" eaLnBrk="1" fontAlgn="auto" latinLnBrk="0" hangingPunct="1">
              <a:lnSpc>
                <a:spcPct val="100000"/>
              </a:lnSpc>
              <a:spcBef>
                <a:spcPts val="735"/>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Asset</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5"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a:p>
            <a:pPr marL="270510" marR="575945" lvl="0" indent="0" defTabSz="914400" eaLnBrk="1" fontAlgn="auto" latinLnBrk="0" hangingPunct="1">
              <a:lnSpc>
                <a:spcPts val="1200"/>
              </a:lnSpc>
              <a:spcBef>
                <a:spcPts val="37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American </a:t>
            </a:r>
            <a:r>
              <a:rPr kumimoji="0" sz="800" b="0" i="0" u="none" strike="noStrike" kern="0" cap="none" spc="-10" normalizeH="0" baseline="0" noProof="0">
                <a:ln>
                  <a:noFill/>
                </a:ln>
                <a:solidFill>
                  <a:srgbClr val="142764"/>
                </a:solidFill>
                <a:effectLst/>
                <a:uLnTx/>
                <a:uFillTx/>
                <a:latin typeface="Zurich Sans Light"/>
                <a:cs typeface="Zurich Sans Light"/>
              </a:rPr>
              <a:t>Emerging</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African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GCC Government </a:t>
            </a:r>
            <a:r>
              <a:rPr kumimoji="0" sz="800" b="0" i="0" u="none" strike="noStrike" kern="0" cap="none" spc="-10" normalizeH="0" baseline="0" noProof="0">
                <a:ln>
                  <a:noFill/>
                </a:ln>
                <a:solidFill>
                  <a:srgbClr val="142764"/>
                </a:solidFill>
                <a:effectLst/>
                <a:uLnTx/>
                <a:uFillTx/>
                <a:latin typeface="Zurich Sans Light"/>
                <a:cs typeface="Zurich Sans Light"/>
              </a:rPr>
              <a:t>Fixed</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Indonesian </a:t>
            </a:r>
            <a:r>
              <a:rPr kumimoji="0" sz="800" b="0" i="0" u="none" strike="noStrike" kern="0" cap="none" spc="-10" normalizeH="0" baseline="0" noProof="0">
                <a:ln>
                  <a:noFill/>
                </a:ln>
                <a:solidFill>
                  <a:srgbClr val="142764"/>
                </a:solidFill>
                <a:effectLst/>
                <a:uLnTx/>
                <a:uFillTx/>
                <a:latin typeface="Zurich Sans Light"/>
                <a:cs typeface="Zurich Sans Light"/>
              </a:rPr>
              <a:t>Government</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Philippine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Chilean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Peruvian Government </a:t>
            </a:r>
            <a:r>
              <a:rPr kumimoji="0" sz="800" b="0" i="0" u="none" strike="noStrike" kern="0" cap="none" spc="-20" normalizeH="0" baseline="0" noProof="0">
                <a:ln>
                  <a:noFill/>
                </a:ln>
                <a:solidFill>
                  <a:srgbClr val="142764"/>
                </a:solidFill>
                <a:effectLst/>
                <a:uLnTx/>
                <a:uFillTx/>
                <a:latin typeface="Zurich Sans Light"/>
                <a:cs typeface="Zurich Sans Light"/>
              </a:rPr>
              <a:t>Fixed</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Interest</a:t>
            </a:r>
            <a:br>
              <a:rPr kumimoji="0" lang="en-GB" sz="800" b="0" i="0" u="none" strike="noStrike" kern="0" cap="none" spc="-10" normalizeH="0" baseline="0" noProof="0">
                <a:ln>
                  <a:noFill/>
                </a:ln>
                <a:solidFill>
                  <a:srgbClr val="142764"/>
                </a:solidFill>
                <a:effectLst/>
                <a:uLnTx/>
                <a:uFillTx/>
                <a:latin typeface="Zurich Sans Light"/>
                <a:cs typeface="Zurich Sans Light"/>
              </a:rPr>
            </a:br>
            <a:r>
              <a:rPr kumimoji="0" sz="800" b="0" i="0" u="none" strike="noStrike" kern="0" cap="none" spc="0" normalizeH="0" baseline="0" noProof="0">
                <a:ln>
                  <a:noFill/>
                </a:ln>
                <a:solidFill>
                  <a:srgbClr val="142764"/>
                </a:solidFill>
                <a:effectLst/>
                <a:uLnTx/>
                <a:uFillTx/>
                <a:latin typeface="Zurich Sans Light"/>
                <a:cs typeface="Zurich Sans Light"/>
              </a:rPr>
              <a:t>South African </a:t>
            </a:r>
            <a:r>
              <a:rPr kumimoji="0" sz="800" b="0" i="0" u="none" strike="noStrike" kern="0" cap="none" spc="-10" normalizeH="0" baseline="0" noProof="0">
                <a:ln>
                  <a:noFill/>
                </a:ln>
                <a:solidFill>
                  <a:srgbClr val="142764"/>
                </a:solidFill>
                <a:effectLst/>
                <a:uLnTx/>
                <a:uFillTx/>
                <a:latin typeface="Zurich Sans Light"/>
                <a:cs typeface="Zurich Sans Light"/>
              </a:rPr>
              <a:t>Corporate</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Fixed</a:t>
            </a:r>
            <a:r>
              <a:rPr kumimoji="0" sz="800" b="0" i="0" u="none" strike="noStrike" kern="0" cap="none" spc="-10" normalizeH="0" baseline="0" noProof="0">
                <a:ln>
                  <a:noFill/>
                </a:ln>
                <a:solidFill>
                  <a:srgbClr val="142764"/>
                </a:solidFill>
                <a:effectLst/>
                <a:uLnTx/>
                <a:uFillTx/>
                <a:latin typeface="Zurich Sans Light"/>
                <a:cs typeface="Zurich Sans Light"/>
              </a:rPr>
              <a:t> Interest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270510" marR="575945" lvl="0" indent="0" defTabSz="914400" eaLnBrk="1" fontAlgn="auto" latinLnBrk="0" hangingPunct="1">
              <a:lnSpc>
                <a:spcPts val="1200"/>
              </a:lnSpc>
              <a:spcBef>
                <a:spcPts val="45"/>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Middle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East &amp; </a:t>
            </a:r>
            <a:r>
              <a:rPr kumimoji="0" sz="800" b="0" i="0" u="none" strike="noStrike" kern="0" cap="none" spc="-10" normalizeH="0" baseline="0" noProof="0">
                <a:ln>
                  <a:noFill/>
                </a:ln>
                <a:solidFill>
                  <a:srgbClr val="142764"/>
                </a:solidFill>
                <a:effectLst/>
                <a:uLnTx/>
                <a:uFillTx/>
                <a:latin typeface="Zurich Sans Light"/>
                <a:cs typeface="Zurich Sans Light"/>
              </a:rPr>
              <a:t>African</a:t>
            </a:r>
            <a:r>
              <a:rPr kumimoji="0" lang="en-GB"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Government Fixed </a:t>
            </a:r>
            <a:r>
              <a:rPr kumimoji="0" sz="800" b="0" i="0" u="none" strike="noStrike" kern="0" cap="none" spc="-10" normalizeH="0" baseline="0" noProof="0">
                <a:ln>
                  <a:noFill/>
                </a:ln>
                <a:solidFill>
                  <a:srgbClr val="142764"/>
                </a:solidFill>
                <a:effectLst/>
                <a:uLnTx/>
                <a:uFillTx/>
                <a:latin typeface="Zurich Sans Light"/>
                <a:cs typeface="Zurich Sans Light"/>
              </a:rPr>
              <a:t>Interest</a:t>
            </a:r>
            <a:r>
              <a:rPr kumimoji="0" sz="800" b="0" i="0" u="none" strike="noStrike" kern="0" cap="none" spc="500" normalizeH="0" baseline="0" noProof="0">
                <a:ln>
                  <a:noFill/>
                </a:ln>
                <a:solidFill>
                  <a:srgbClr val="142764"/>
                </a:solidFill>
                <a:effectLst/>
                <a:uLnTx/>
                <a:uFillTx/>
                <a:latin typeface="Zurich Sans Light"/>
                <a:cs typeface="Zurich Sans Light"/>
              </a:rPr>
              <a:t> </a:t>
            </a:r>
            <a:br>
              <a:rPr kumimoji="0" lang="en-GB" sz="800" b="0" i="0" u="none" strike="noStrike" kern="0" cap="none" spc="500" normalizeH="0" baseline="0" noProof="0">
                <a:ln>
                  <a:noFill/>
                </a:ln>
                <a:solidFill>
                  <a:srgbClr val="142764"/>
                </a:solidFill>
                <a:effectLst/>
                <a:uLnTx/>
                <a:uFillTx/>
                <a:latin typeface="Zurich Sans Light"/>
                <a:cs typeface="Zurich Sans Light"/>
              </a:rPr>
            </a:b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3" name="object 43">
            <a:extLst>
              <a:ext uri="{FF2B5EF4-FFF2-40B4-BE49-F238E27FC236}">
                <a16:creationId xmlns:a16="http://schemas.microsoft.com/office/drawing/2014/main" id="{1F082D5F-CC7A-8437-1066-F099563FA9D4}"/>
              </a:ext>
            </a:extLst>
          </p:cNvPr>
          <p:cNvSpPr txBox="1"/>
          <p:nvPr/>
        </p:nvSpPr>
        <p:spPr>
          <a:xfrm>
            <a:off x="2940313" y="7187965"/>
            <a:ext cx="4093845" cy="448841"/>
          </a:xfrm>
          <a:prstGeom prst="rect">
            <a:avLst/>
          </a:prstGeom>
        </p:spPr>
        <p:txBody>
          <a:bodyPr vert="horz" wrap="square" lIns="0" tIns="1778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Top</a:t>
            </a:r>
            <a:r>
              <a:rPr kumimoji="0" sz="1150" b="1" i="0" u="none" strike="noStrike" kern="0" cap="none" spc="-1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10</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Holdings</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28/02/2025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sp>
        <p:nvSpPr>
          <p:cNvPr id="45" name="object 45">
            <a:extLst>
              <a:ext uri="{FF2B5EF4-FFF2-40B4-BE49-F238E27FC236}">
                <a16:creationId xmlns:a16="http://schemas.microsoft.com/office/drawing/2014/main" id="{A475A9F6-F3B3-1F2B-127F-E66E4A24B7B0}"/>
              </a:ext>
            </a:extLst>
          </p:cNvPr>
          <p:cNvSpPr/>
          <p:nvPr/>
        </p:nvSpPr>
        <p:spPr>
          <a:xfrm>
            <a:off x="198067" y="823476"/>
            <a:ext cx="2338345" cy="9262240"/>
          </a:xfrm>
          <a:custGeom>
            <a:avLst/>
            <a:gdLst/>
            <a:ahLst/>
            <a:cxnLst/>
            <a:rect l="l" t="t" r="r" b="b"/>
            <a:pathLst>
              <a:path w="2520315" h="8784590">
                <a:moveTo>
                  <a:pt x="2519934" y="0"/>
                </a:moveTo>
                <a:lnTo>
                  <a:pt x="0" y="0"/>
                </a:lnTo>
                <a:lnTo>
                  <a:pt x="0" y="8784082"/>
                </a:lnTo>
                <a:lnTo>
                  <a:pt x="2519934" y="8784082"/>
                </a:lnTo>
                <a:lnTo>
                  <a:pt x="2519934" y="0"/>
                </a:lnTo>
                <a:close/>
              </a:path>
            </a:pathLst>
          </a:custGeom>
          <a:noFill/>
        </p:spPr>
        <p:txBody>
          <a:bodyPr wrap="square" lIns="0" tIns="0" rIns="0" bIns="0" rtlCol="0"/>
          <a:lstStyle/>
          <a:p>
            <a:pPr marL="71755">
              <a:lnSpc>
                <a:spcPct val="100000"/>
              </a:lnSpc>
            </a:pPr>
            <a:r>
              <a:rPr lang="en-GB" sz="1150" b="1">
                <a:solidFill>
                  <a:srgbClr val="004F9E"/>
                </a:solidFill>
                <a:latin typeface="Zurich Sans"/>
                <a:cs typeface="Zurich Sans"/>
              </a:rPr>
              <a:t>Glossary</a:t>
            </a:r>
            <a:r>
              <a:rPr lang="en-GB" sz="1150" b="1" spc="-5">
                <a:solidFill>
                  <a:srgbClr val="004F9E"/>
                </a:solidFill>
                <a:latin typeface="Zurich Sans"/>
                <a:cs typeface="Zurich Sans"/>
              </a:rPr>
              <a:t> </a:t>
            </a:r>
            <a:r>
              <a:rPr lang="en-GB" sz="1150" b="1">
                <a:solidFill>
                  <a:srgbClr val="004F9E"/>
                </a:solidFill>
                <a:latin typeface="Zurich Sans"/>
                <a:cs typeface="Zurich Sans"/>
              </a:rPr>
              <a:t>of</a:t>
            </a:r>
            <a:r>
              <a:rPr lang="en-GB" sz="1150" b="1" spc="-5">
                <a:solidFill>
                  <a:srgbClr val="004F9E"/>
                </a:solidFill>
                <a:latin typeface="Zurich Sans"/>
                <a:cs typeface="Zurich Sans"/>
              </a:rPr>
              <a:t> </a:t>
            </a:r>
            <a:r>
              <a:rPr lang="en-GB" sz="1150" b="1" spc="-20">
                <a:solidFill>
                  <a:srgbClr val="004F9E"/>
                </a:solidFill>
                <a:latin typeface="Zurich Sans"/>
                <a:cs typeface="Zurich Sans"/>
              </a:rPr>
              <a:t>Terms</a:t>
            </a:r>
            <a:endParaRPr lang="en-GB" sz="1150">
              <a:latin typeface="Zurich Sans"/>
              <a:cs typeface="Zurich Sans"/>
            </a:endParaRPr>
          </a:p>
          <a:p>
            <a:pPr marL="71755">
              <a:lnSpc>
                <a:spcPts val="955"/>
              </a:lnSpc>
              <a:spcBef>
                <a:spcPts val="370"/>
              </a:spcBef>
            </a:pPr>
            <a:r>
              <a:rPr lang="en-GB" sz="800" b="1">
                <a:solidFill>
                  <a:srgbClr val="142863"/>
                </a:solidFill>
                <a:latin typeface="Zurich Sans"/>
                <a:cs typeface="Zurich Sans"/>
              </a:rPr>
              <a:t>Annual Management Charge </a:t>
            </a:r>
            <a:r>
              <a:rPr lang="en-GB" sz="800" b="0">
                <a:solidFill>
                  <a:srgbClr val="142863"/>
                </a:solidFill>
                <a:latin typeface="Zurich Sans Light"/>
                <a:cs typeface="Zurich Sans Light"/>
              </a:rPr>
              <a:t>This figure is the fee the fund manager charges for managing the fund as is deducted from the fund's assets and reflected in the unit price.</a:t>
            </a:r>
            <a:endParaRPr lang="en-GB" sz="800" b="1">
              <a:solidFill>
                <a:srgbClr val="142863"/>
              </a:solidFill>
              <a:latin typeface="Zurich Sans"/>
              <a:cs typeface="Zurich Sans"/>
            </a:endParaRPr>
          </a:p>
          <a:p>
            <a:pPr marL="71755">
              <a:lnSpc>
                <a:spcPts val="955"/>
              </a:lnSpc>
              <a:spcBef>
                <a:spcPts val="600"/>
              </a:spcBef>
            </a:pPr>
            <a:r>
              <a:rPr lang="en-GB" sz="800" b="1">
                <a:solidFill>
                  <a:srgbClr val="142863"/>
                </a:solidFill>
                <a:latin typeface="Zurich Sans"/>
                <a:cs typeface="Zurich Sans"/>
              </a:rPr>
              <a:t>Ongoing Charges Figure </a:t>
            </a:r>
            <a:r>
              <a:rPr lang="en-GB" sz="800" b="0">
                <a:solidFill>
                  <a:srgbClr val="142863"/>
                </a:solidFill>
                <a:latin typeface="Zurich Sans Light"/>
                <a:cs typeface="Zurich Sans Light"/>
              </a:rPr>
              <a:t>This figure is a measure of the total costs involved with running the fund. It includes the Annual Management Charge as well as other operational costs that may not be immediately apparent.</a:t>
            </a:r>
            <a:endParaRPr lang="en-GB" sz="800" b="1">
              <a:solidFill>
                <a:srgbClr val="142863"/>
              </a:solidFill>
              <a:latin typeface="Zurich Sans"/>
              <a:cs typeface="Zurich Sans"/>
            </a:endParaRPr>
          </a:p>
          <a:p>
            <a:pPr marL="71755">
              <a:lnSpc>
                <a:spcPts val="955"/>
              </a:lnSpc>
              <a:spcBef>
                <a:spcPts val="600"/>
              </a:spcBef>
            </a:pPr>
            <a:r>
              <a:rPr lang="en-GB" sz="800" b="1">
                <a:solidFill>
                  <a:srgbClr val="142863"/>
                </a:solidFill>
                <a:latin typeface="Zurich Sans"/>
                <a:cs typeface="Zurich Sans"/>
              </a:rPr>
              <a:t>Cumulative Performance </a:t>
            </a:r>
            <a:r>
              <a:rPr lang="en-GB" sz="800" b="0">
                <a:solidFill>
                  <a:srgbClr val="142863"/>
                </a:solidFill>
                <a:latin typeface="Zurich Sans Light"/>
                <a:cs typeface="Zurich Sans Light"/>
              </a:rPr>
              <a:t>Cumulative Performance shows the total growth of the fund over a specified period of time, expressed as a percentage of the value at the start of the period.  It takes into account all gains, losses, income and capital appreciation or depreciation.</a:t>
            </a:r>
            <a:endParaRPr lang="en-GB" sz="800" b="1">
              <a:solidFill>
                <a:srgbClr val="142863"/>
              </a:solidFill>
              <a:latin typeface="Zurich Sans"/>
              <a:cs typeface="Zurich Sans"/>
            </a:endParaRPr>
          </a:p>
          <a:p>
            <a:pPr marL="71755">
              <a:lnSpc>
                <a:spcPts val="955"/>
              </a:lnSpc>
              <a:spcBef>
                <a:spcPts val="600"/>
              </a:spcBef>
            </a:pPr>
            <a:r>
              <a:rPr lang="en-GB" sz="800" b="1">
                <a:solidFill>
                  <a:srgbClr val="142863"/>
                </a:solidFill>
                <a:latin typeface="Zurich Sans"/>
                <a:cs typeface="Zurich Sans"/>
              </a:rPr>
              <a:t>Discrete Performance  </a:t>
            </a:r>
            <a:r>
              <a:rPr lang="en-GB" sz="800" b="0">
                <a:solidFill>
                  <a:srgbClr val="142863"/>
                </a:solidFill>
                <a:latin typeface="Zurich Sans Light"/>
                <a:cs typeface="Zurich Sans Light"/>
              </a:rPr>
              <a:t>Discrete Performance refers to the measurement of an investment’s return over specific, non-overlapping time periods.</a:t>
            </a:r>
            <a:endParaRPr lang="en-GB" sz="800" b="1" spc="-10">
              <a:solidFill>
                <a:srgbClr val="142863"/>
              </a:solidFill>
              <a:latin typeface="Zurich Sans"/>
              <a:cs typeface="Zurich Sans"/>
            </a:endParaRPr>
          </a:p>
          <a:p>
            <a:pPr marL="71755">
              <a:lnSpc>
                <a:spcPts val="955"/>
              </a:lnSpc>
              <a:spcBef>
                <a:spcPts val="600"/>
              </a:spcBef>
            </a:pPr>
            <a:r>
              <a:rPr lang="en-GB" sz="800" b="1" spc="-10">
                <a:solidFill>
                  <a:srgbClr val="142863"/>
                </a:solidFill>
                <a:latin typeface="Zurich Sans"/>
                <a:cs typeface="Zurich Sans"/>
              </a:rPr>
              <a:t>Annualised Performance  </a:t>
            </a:r>
            <a:r>
              <a:rPr lang="en-GB" sz="800" b="0">
                <a:solidFill>
                  <a:srgbClr val="142863"/>
                </a:solidFill>
                <a:latin typeface="Zurich Sans Light"/>
                <a:cs typeface="Zurich Sans Light"/>
              </a:rPr>
              <a:t>Annualised Performance is a measure of the average annual growth of the fund over 3, 5 and 10 year periods, taking into account the effects of compounding. </a:t>
            </a:r>
            <a:endParaRPr lang="en-GB" sz="800" b="1" spc="-10">
              <a:solidFill>
                <a:srgbClr val="142863"/>
              </a:solidFill>
              <a:latin typeface="Zurich Sans"/>
              <a:cs typeface="Zurich Sans"/>
            </a:endParaRPr>
          </a:p>
          <a:p>
            <a:pPr marL="71755">
              <a:lnSpc>
                <a:spcPts val="955"/>
              </a:lnSpc>
              <a:spcBef>
                <a:spcPts val="600"/>
              </a:spcBef>
            </a:pPr>
            <a:r>
              <a:rPr lang="en-GB" sz="800" b="1" spc="-10">
                <a:solidFill>
                  <a:srgbClr val="142863"/>
                </a:solidFill>
                <a:latin typeface="Zurich Sans"/>
                <a:cs typeface="Zurich Sans"/>
              </a:rPr>
              <a:t>Volatility </a:t>
            </a:r>
            <a:r>
              <a:rPr lang="en-GB" sz="800" b="0" err="1">
                <a:solidFill>
                  <a:srgbClr val="142863"/>
                </a:solidFill>
                <a:latin typeface="Zurich Sans Light"/>
                <a:cs typeface="Zurich Sans Light"/>
              </a:rPr>
              <a:t>Volatility</a:t>
            </a:r>
            <a:r>
              <a:rPr lang="en-GB" sz="800" b="0">
                <a:solidFill>
                  <a:srgbClr val="142863"/>
                </a:solidFill>
                <a:latin typeface="Zurich Sans Light"/>
                <a:cs typeface="Zurich Sans Light"/>
              </a:rPr>
              <a:t> measures how much a fund’s returns vary from its average return over a given time; the higher the number, the more volatile the fund price has been over this period . The volatility figure shown represents the average monthly volatility for the fund over the last three years.</a:t>
            </a:r>
            <a:endParaRPr lang="en-GB" sz="800" spc="-10">
              <a:solidFill>
                <a:srgbClr val="142863"/>
              </a:solidFill>
              <a:latin typeface="Zurich Sans Light"/>
              <a:cs typeface="Zurich Sans Light"/>
            </a:endParaRPr>
          </a:p>
          <a:p>
            <a:pPr marL="71755">
              <a:lnSpc>
                <a:spcPts val="955"/>
              </a:lnSpc>
              <a:spcBef>
                <a:spcPts val="600"/>
              </a:spcBef>
            </a:pPr>
            <a:r>
              <a:rPr lang="en-GB" sz="800" b="1" spc="-10">
                <a:solidFill>
                  <a:srgbClr val="142863"/>
                </a:solidFill>
                <a:latin typeface="Zurich Sans"/>
                <a:cs typeface="Zurich Sans"/>
              </a:rPr>
              <a:t>FE Risk Rating </a:t>
            </a:r>
            <a:r>
              <a:rPr lang="en-GB" sz="800" b="0">
                <a:solidFill>
                  <a:srgbClr val="142863"/>
                </a:solidFill>
                <a:latin typeface="Zurich Sans Light"/>
                <a:cs typeface="Zurich Sans Light"/>
              </a:rPr>
              <a:t>Developed by </a:t>
            </a:r>
            <a:r>
              <a:rPr lang="en-GB" sz="800" b="0" err="1">
                <a:solidFill>
                  <a:srgbClr val="142863"/>
                </a:solidFill>
                <a:latin typeface="Zurich Sans Light"/>
                <a:cs typeface="Zurich Sans Light"/>
              </a:rPr>
              <a:t>FEFundInfo</a:t>
            </a:r>
            <a:r>
              <a:rPr lang="en-GB" sz="800" b="0">
                <a:solidFill>
                  <a:srgbClr val="142863"/>
                </a:solidFill>
                <a:latin typeface="Zurich Sans Light"/>
                <a:cs typeface="Zurich Sans Light"/>
              </a:rPr>
              <a:t>, the FE Risk Rating helps investors understand the relative risk of a fund compared to others and make more informed decisions based on their risk tolerance and investment objectives. The ratings range from 1(low) to 5 (high).</a:t>
            </a:r>
            <a:endParaRPr lang="en-GB" sz="800" b="1" spc="-10">
              <a:solidFill>
                <a:srgbClr val="142863"/>
              </a:solidFill>
              <a:latin typeface="Zurich Sans"/>
              <a:cs typeface="Zurich Sans"/>
            </a:endParaRPr>
          </a:p>
          <a:p>
            <a:pPr marL="71755">
              <a:lnSpc>
                <a:spcPts val="955"/>
              </a:lnSpc>
              <a:spcBef>
                <a:spcPts val="600"/>
              </a:spcBef>
            </a:pPr>
            <a:r>
              <a:rPr lang="en-GB" sz="800" b="1" spc="-10">
                <a:solidFill>
                  <a:srgbClr val="142863"/>
                </a:solidFill>
                <a:latin typeface="Zurich Sans"/>
                <a:cs typeface="Zurich Sans"/>
              </a:rPr>
              <a:t>SFDR Product Type </a:t>
            </a:r>
            <a:r>
              <a:rPr lang="en-GB" sz="800" b="0">
                <a:solidFill>
                  <a:srgbClr val="142863"/>
                </a:solidFill>
                <a:latin typeface="Zurich Sans Light"/>
                <a:cs typeface="Zurich Sans Light"/>
              </a:rPr>
              <a:t>There are three main SFDR Product Types, each with specific disclosure requirements:</a:t>
            </a:r>
          </a:p>
          <a:p>
            <a:pPr marL="71755" marR="108585">
              <a:lnSpc>
                <a:spcPts val="950"/>
              </a:lnSpc>
              <a:spcBef>
                <a:spcPts val="35"/>
              </a:spcBef>
            </a:pPr>
            <a:r>
              <a:rPr lang="en-GB" sz="800" b="0">
                <a:solidFill>
                  <a:srgbClr val="142863"/>
                </a:solidFill>
                <a:latin typeface="Zurich Sans Light"/>
                <a:cs typeface="Zurich Sans Light"/>
              </a:rPr>
              <a:t>Article 6 (no ESG-related focus or sustainability claims),</a:t>
            </a:r>
          </a:p>
          <a:p>
            <a:pPr marL="71755" marR="108585">
              <a:lnSpc>
                <a:spcPts val="950"/>
              </a:lnSpc>
              <a:spcBef>
                <a:spcPts val="35"/>
              </a:spcBef>
            </a:pPr>
            <a:r>
              <a:rPr lang="en-GB" sz="800" b="0">
                <a:solidFill>
                  <a:srgbClr val="142863"/>
                </a:solidFill>
                <a:latin typeface="Zurich Sans Light"/>
                <a:cs typeface="Zurich Sans Light"/>
              </a:rPr>
              <a:t>Article 8 (promote environmental and/or social characteristics but do not exclusively target sustainable investments),</a:t>
            </a:r>
          </a:p>
          <a:p>
            <a:pPr marL="71755" marR="108585">
              <a:lnSpc>
                <a:spcPts val="950"/>
              </a:lnSpc>
              <a:spcBef>
                <a:spcPts val="35"/>
              </a:spcBef>
            </a:pPr>
            <a:r>
              <a:rPr lang="en-GB" sz="800" b="0">
                <a:solidFill>
                  <a:srgbClr val="142863"/>
                </a:solidFill>
                <a:latin typeface="Zurich Sans Light"/>
                <a:cs typeface="Zurich Sans Light"/>
              </a:rPr>
              <a:t>Article 9 (specifically target sustainable investments</a:t>
            </a:r>
            <a:endParaRPr lang="en-GB" sz="800" spc="-10">
              <a:solidFill>
                <a:srgbClr val="142863"/>
              </a:solidFill>
              <a:latin typeface="Zurich Sans Light"/>
              <a:cs typeface="Zurich Sans Light"/>
            </a:endParaRPr>
          </a:p>
          <a:p>
            <a:pPr marL="71755">
              <a:lnSpc>
                <a:spcPts val="955"/>
              </a:lnSpc>
              <a:spcBef>
                <a:spcPts val="600"/>
              </a:spcBef>
            </a:pPr>
            <a:r>
              <a:rPr lang="en-GB" sz="800" b="1">
                <a:solidFill>
                  <a:srgbClr val="142863"/>
                </a:solidFill>
                <a:latin typeface="Zurich Sans"/>
                <a:cs typeface="Zurich Sans"/>
              </a:rPr>
              <a:t>Asset </a:t>
            </a:r>
            <a:r>
              <a:rPr lang="en-GB" sz="800" b="1" spc="-10">
                <a:solidFill>
                  <a:srgbClr val="142863"/>
                </a:solidFill>
                <a:latin typeface="Zurich Sans"/>
                <a:cs typeface="Zurich Sans"/>
              </a:rPr>
              <a:t>Classes  </a:t>
            </a:r>
            <a:r>
              <a:rPr lang="en-GB" sz="800" b="0">
                <a:solidFill>
                  <a:srgbClr val="142863"/>
                </a:solidFill>
                <a:latin typeface="Zurich Sans Light"/>
                <a:cs typeface="Zurich Sans Light"/>
              </a:rPr>
              <a:t>Asset classes are categories of investments that exhibit similar characteristics and behave similarly in the marketplace.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The primary assets classes include:</a:t>
            </a:r>
          </a:p>
          <a:p>
            <a:pPr marL="71755" lvl="2" indent="-576000">
              <a:lnSpc>
                <a:spcPts val="950"/>
              </a:lnSpc>
              <a:tabLst>
                <a:tab pos="155575" algn="l"/>
              </a:tabLst>
            </a:pPr>
            <a:r>
              <a:rPr lang="en-GB" sz="800" b="0">
                <a:solidFill>
                  <a:srgbClr val="142863"/>
                </a:solidFill>
                <a:latin typeface="Zurich Sans Light"/>
                <a:cs typeface="Zurich Sans Light"/>
              </a:rPr>
              <a:t>– Equities which are individual company shares.  </a:t>
            </a:r>
          </a:p>
          <a:p>
            <a:pPr marL="71755" lvl="2" indent="-576000">
              <a:lnSpc>
                <a:spcPts val="950"/>
              </a:lnSpc>
              <a:tabLst>
                <a:tab pos="155575" algn="l"/>
              </a:tabLst>
            </a:pPr>
            <a:r>
              <a:rPr lang="en-GB" sz="800" b="0">
                <a:solidFill>
                  <a:srgbClr val="142863"/>
                </a:solidFill>
                <a:latin typeface="Zurich Sans Light"/>
                <a:cs typeface="Zurich Sans Light"/>
              </a:rPr>
              <a:t>– Bonds which are debt instruments and include loans to governments and companies. </a:t>
            </a:r>
          </a:p>
          <a:p>
            <a:pPr marL="71755" lvl="2" indent="-576000">
              <a:lnSpc>
                <a:spcPts val="950"/>
              </a:lnSpc>
              <a:tabLst>
                <a:tab pos="155575" algn="l"/>
              </a:tabLst>
            </a:pPr>
            <a:r>
              <a:rPr lang="en-GB" sz="800" b="0">
                <a:solidFill>
                  <a:srgbClr val="142863"/>
                </a:solidFill>
                <a:latin typeface="Zurich Sans Light"/>
                <a:cs typeface="Zurich Sans Light"/>
              </a:rPr>
              <a:t>– Commercial property which includes physical properties such as offices and commercial buildings,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or shares in companies investing in commercial property. </a:t>
            </a:r>
          </a:p>
          <a:p>
            <a:pPr marL="71755" lvl="2" indent="-576000">
              <a:lnSpc>
                <a:spcPts val="950"/>
              </a:lnSpc>
              <a:tabLst>
                <a:tab pos="155575" algn="l"/>
              </a:tabLst>
            </a:pPr>
            <a:r>
              <a:rPr lang="en-GB" sz="800" b="0">
                <a:solidFill>
                  <a:srgbClr val="142863"/>
                </a:solidFill>
                <a:latin typeface="Zurich Sans Light"/>
                <a:cs typeface="Zurich Sans Light"/>
              </a:rPr>
              <a:t>– Money market assets which are a category of fixed income securities that are short term in nature.  </a:t>
            </a:r>
            <a:br>
              <a:rPr lang="en-GB" sz="800" b="0">
                <a:solidFill>
                  <a:srgbClr val="142863"/>
                </a:solidFill>
                <a:latin typeface="Zurich Sans Light"/>
                <a:cs typeface="Zurich Sans Light"/>
              </a:rPr>
            </a:br>
            <a:r>
              <a:rPr lang="en-GB" sz="800" b="0">
                <a:solidFill>
                  <a:srgbClr val="142863"/>
                </a:solidFill>
                <a:latin typeface="Zurich Sans Light"/>
                <a:cs typeface="Zurich Sans Light"/>
              </a:rPr>
              <a:t>They include deposits and money market instruments.</a:t>
            </a:r>
          </a:p>
        </p:txBody>
      </p:sp>
      <p:sp>
        <p:nvSpPr>
          <p:cNvPr id="52" name="object 52">
            <a:extLst>
              <a:ext uri="{FF2B5EF4-FFF2-40B4-BE49-F238E27FC236}">
                <a16:creationId xmlns:a16="http://schemas.microsoft.com/office/drawing/2014/main" id="{DF939C20-E49E-3A4C-13EC-056A4BB9270C}"/>
              </a:ext>
            </a:extLst>
          </p:cNvPr>
          <p:cNvSpPr txBox="1"/>
          <p:nvPr/>
        </p:nvSpPr>
        <p:spPr>
          <a:xfrm>
            <a:off x="243928" y="9311918"/>
            <a:ext cx="6658609" cy="759182"/>
          </a:xfrm>
          <a:prstGeom prst="rect">
            <a:avLst/>
          </a:prstGeom>
        </p:spPr>
        <p:txBody>
          <a:bodyPr vert="horz" wrap="square" lIns="0" tIns="12700" rIns="0" bIns="0" rtlCol="0">
            <a:spAutoFit/>
          </a:bodyPr>
          <a:lstStyle/>
          <a:p>
            <a:pPr marL="2712085" marR="508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Zurich sources its funds data from FEfundinfo. The date shown reflects the last </a:t>
            </a:r>
            <a:r>
              <a:rPr kumimoji="0" sz="800" b="0" i="0" u="none" strike="noStrike" kern="0" cap="none" spc="-10" normalizeH="0" baseline="0" noProof="0">
                <a:ln>
                  <a:noFill/>
                </a:ln>
                <a:solidFill>
                  <a:srgbClr val="142764"/>
                </a:solidFill>
                <a:effectLst/>
                <a:uLnTx/>
                <a:uFillTx/>
                <a:latin typeface="Zurich Sans Light"/>
                <a:cs typeface="Zurich Sans Light"/>
              </a:rPr>
              <a:t>available</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regional, sector and asset breakdown data provided by the fund's administrator </a:t>
            </a:r>
            <a:r>
              <a:rPr kumimoji="0" sz="800" b="0" i="0" u="none" strike="noStrike" kern="0" cap="none" spc="-25" normalizeH="0" baseline="0" noProof="0">
                <a:ln>
                  <a:noFill/>
                </a:ln>
                <a:solidFill>
                  <a:srgbClr val="142764"/>
                </a:solidFill>
                <a:effectLst/>
                <a:uLnTx/>
                <a:uFillTx/>
                <a:latin typeface="Zurich Sans Light"/>
                <a:cs typeface="Zurich Sans Light"/>
              </a:rPr>
              <a:t>to</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FEfundinfo. The timeliness of this data is affected by the speed and regularity of </a:t>
            </a:r>
            <a:r>
              <a:rPr kumimoji="0" sz="800" b="0" i="0" u="none" strike="noStrike" kern="0" cap="none" spc="-10" normalizeH="0" baseline="0" noProof="0">
                <a:ln>
                  <a:noFill/>
                </a:ln>
                <a:solidFill>
                  <a:srgbClr val="142764"/>
                </a:solidFill>
                <a:effectLst/>
                <a:uLnTx/>
                <a:uFillTx/>
                <a:latin typeface="Zurich Sans Light"/>
                <a:cs typeface="Zurich Sans Light"/>
              </a:rPr>
              <a:t>their</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publication by the fund </a:t>
            </a:r>
            <a:r>
              <a:rPr kumimoji="0" sz="800" b="0" i="0" u="none" strike="noStrike" kern="0" cap="none" spc="-10" normalizeH="0" baseline="0" noProof="0">
                <a:ln>
                  <a:noFill/>
                </a:ln>
                <a:solidFill>
                  <a:srgbClr val="142764"/>
                </a:solidFill>
                <a:effectLst/>
                <a:uLnTx/>
                <a:uFillTx/>
                <a:latin typeface="Zurich Sans Light"/>
                <a:cs typeface="Zurich Sans Light"/>
              </a:rPr>
              <a:t>administrator.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15"/>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p:txBody>
      </p:sp>
      <p:grpSp>
        <p:nvGrpSpPr>
          <p:cNvPr id="53" name="object 53">
            <a:extLst>
              <a:ext uri="{FF2B5EF4-FFF2-40B4-BE49-F238E27FC236}">
                <a16:creationId xmlns:a16="http://schemas.microsoft.com/office/drawing/2014/main" id="{6B4F60E5-A637-08A1-D3E0-E9F68F080E89}"/>
              </a:ext>
            </a:extLst>
          </p:cNvPr>
          <p:cNvGrpSpPr/>
          <p:nvPr/>
        </p:nvGrpSpPr>
        <p:grpSpPr>
          <a:xfrm>
            <a:off x="5809993" y="898435"/>
            <a:ext cx="1466850" cy="1466850"/>
            <a:chOff x="5634577" y="647887"/>
            <a:chExt cx="1466850" cy="1466850"/>
          </a:xfrm>
        </p:grpSpPr>
        <p:sp>
          <p:nvSpPr>
            <p:cNvPr id="54" name="object 54">
              <a:extLst>
                <a:ext uri="{FF2B5EF4-FFF2-40B4-BE49-F238E27FC236}">
                  <a16:creationId xmlns:a16="http://schemas.microsoft.com/office/drawing/2014/main" id="{2278F87C-ECE4-FDBC-5402-9FD7CD787B9B}"/>
                </a:ext>
              </a:extLst>
            </p:cNvPr>
            <p:cNvSpPr/>
            <p:nvPr/>
          </p:nvSpPr>
          <p:spPr>
            <a:xfrm>
              <a:off x="6367779" y="652650"/>
              <a:ext cx="577850" cy="506730"/>
            </a:xfrm>
            <a:custGeom>
              <a:avLst/>
              <a:gdLst/>
              <a:ahLst/>
              <a:cxnLst/>
              <a:rect l="l" t="t" r="r" b="b"/>
              <a:pathLst>
                <a:path w="577850" h="506730">
                  <a:moveTo>
                    <a:pt x="0" y="0"/>
                  </a:moveTo>
                  <a:lnTo>
                    <a:pt x="0" y="364363"/>
                  </a:lnTo>
                  <a:lnTo>
                    <a:pt x="48008" y="367529"/>
                  </a:lnTo>
                  <a:lnTo>
                    <a:pt x="94676" y="376852"/>
                  </a:lnTo>
                  <a:lnTo>
                    <a:pt x="139459" y="392064"/>
                  </a:lnTo>
                  <a:lnTo>
                    <a:pt x="181809" y="412899"/>
                  </a:lnTo>
                  <a:lnTo>
                    <a:pt x="221179" y="439091"/>
                  </a:lnTo>
                  <a:lnTo>
                    <a:pt x="257025" y="470372"/>
                  </a:lnTo>
                  <a:lnTo>
                    <a:pt x="288798" y="506475"/>
                  </a:lnTo>
                  <a:lnTo>
                    <a:pt x="577596" y="284225"/>
                  </a:lnTo>
                  <a:lnTo>
                    <a:pt x="546884" y="246973"/>
                  </a:lnTo>
                  <a:lnTo>
                    <a:pt x="514003" y="212058"/>
                  </a:lnTo>
                  <a:lnTo>
                    <a:pt x="479090" y="179548"/>
                  </a:lnTo>
                  <a:lnTo>
                    <a:pt x="442282" y="149511"/>
                  </a:lnTo>
                  <a:lnTo>
                    <a:pt x="403714" y="122015"/>
                  </a:lnTo>
                  <a:lnTo>
                    <a:pt x="363525" y="97127"/>
                  </a:lnTo>
                  <a:lnTo>
                    <a:pt x="321849" y="74914"/>
                  </a:lnTo>
                  <a:lnTo>
                    <a:pt x="278825" y="55443"/>
                  </a:lnTo>
                  <a:lnTo>
                    <a:pt x="234588" y="38783"/>
                  </a:lnTo>
                  <a:lnTo>
                    <a:pt x="189275" y="25001"/>
                  </a:lnTo>
                  <a:lnTo>
                    <a:pt x="143024" y="14164"/>
                  </a:lnTo>
                  <a:lnTo>
                    <a:pt x="95969" y="6340"/>
                  </a:lnTo>
                  <a:lnTo>
                    <a:pt x="48249" y="1596"/>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5">
              <a:extLst>
                <a:ext uri="{FF2B5EF4-FFF2-40B4-BE49-F238E27FC236}">
                  <a16:creationId xmlns:a16="http://schemas.microsoft.com/office/drawing/2014/main" id="{9B45F442-9BDF-328C-CF37-E7976E86E426}"/>
                </a:ext>
              </a:extLst>
            </p:cNvPr>
            <p:cNvSpPr/>
            <p:nvPr/>
          </p:nvSpPr>
          <p:spPr>
            <a:xfrm>
              <a:off x="6656831" y="937511"/>
              <a:ext cx="440055" cy="558165"/>
            </a:xfrm>
            <a:custGeom>
              <a:avLst/>
              <a:gdLst/>
              <a:ahLst/>
              <a:cxnLst/>
              <a:rect l="l" t="t" r="r" b="b"/>
              <a:pathLst>
                <a:path w="440054" h="558165">
                  <a:moveTo>
                    <a:pt x="288925" y="0"/>
                  </a:moveTo>
                  <a:lnTo>
                    <a:pt x="0" y="221869"/>
                  </a:lnTo>
                  <a:lnTo>
                    <a:pt x="27510" y="263191"/>
                  </a:lnTo>
                  <a:lnTo>
                    <a:pt x="48970" y="307467"/>
                  </a:lnTo>
                  <a:lnTo>
                    <a:pt x="64214" y="354028"/>
                  </a:lnTo>
                  <a:lnTo>
                    <a:pt x="73076" y="402209"/>
                  </a:lnTo>
                  <a:lnTo>
                    <a:pt x="75391" y="451342"/>
                  </a:lnTo>
                  <a:lnTo>
                    <a:pt x="70993" y="500761"/>
                  </a:lnTo>
                  <a:lnTo>
                    <a:pt x="430784" y="557784"/>
                  </a:lnTo>
                  <a:lnTo>
                    <a:pt x="436881" y="508323"/>
                  </a:lnTo>
                  <a:lnTo>
                    <a:pt x="439581" y="458858"/>
                  </a:lnTo>
                  <a:lnTo>
                    <a:pt x="438925" y="409551"/>
                  </a:lnTo>
                  <a:lnTo>
                    <a:pt x="434956" y="360567"/>
                  </a:lnTo>
                  <a:lnTo>
                    <a:pt x="427714" y="312069"/>
                  </a:lnTo>
                  <a:lnTo>
                    <a:pt x="417242" y="264223"/>
                  </a:lnTo>
                  <a:lnTo>
                    <a:pt x="403582" y="217192"/>
                  </a:lnTo>
                  <a:lnTo>
                    <a:pt x="386776" y="171139"/>
                  </a:lnTo>
                  <a:lnTo>
                    <a:pt x="366865" y="126230"/>
                  </a:lnTo>
                  <a:lnTo>
                    <a:pt x="343891" y="82627"/>
                  </a:lnTo>
                  <a:lnTo>
                    <a:pt x="317897" y="40496"/>
                  </a:lnTo>
                  <a:lnTo>
                    <a:pt x="28892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6">
              <a:extLst>
                <a:ext uri="{FF2B5EF4-FFF2-40B4-BE49-F238E27FC236}">
                  <a16:creationId xmlns:a16="http://schemas.microsoft.com/office/drawing/2014/main" id="{2E28EDC9-9124-9557-A6ED-ABA3D24E14FE}"/>
                </a:ext>
              </a:extLst>
            </p:cNvPr>
            <p:cNvSpPr/>
            <p:nvPr/>
          </p:nvSpPr>
          <p:spPr>
            <a:xfrm>
              <a:off x="6656831" y="937511"/>
              <a:ext cx="440055" cy="558165"/>
            </a:xfrm>
            <a:custGeom>
              <a:avLst/>
              <a:gdLst/>
              <a:ahLst/>
              <a:cxnLst/>
              <a:rect l="l" t="t" r="r" b="b"/>
              <a:pathLst>
                <a:path w="440054" h="558165">
                  <a:moveTo>
                    <a:pt x="288925" y="0"/>
                  </a:moveTo>
                  <a:lnTo>
                    <a:pt x="317897" y="40496"/>
                  </a:lnTo>
                  <a:lnTo>
                    <a:pt x="343891" y="82627"/>
                  </a:lnTo>
                  <a:lnTo>
                    <a:pt x="366865" y="126230"/>
                  </a:lnTo>
                  <a:lnTo>
                    <a:pt x="386776" y="171139"/>
                  </a:lnTo>
                  <a:lnTo>
                    <a:pt x="403582" y="217192"/>
                  </a:lnTo>
                  <a:lnTo>
                    <a:pt x="417242" y="264223"/>
                  </a:lnTo>
                  <a:lnTo>
                    <a:pt x="427714" y="312069"/>
                  </a:lnTo>
                  <a:lnTo>
                    <a:pt x="434956" y="360567"/>
                  </a:lnTo>
                  <a:lnTo>
                    <a:pt x="438925" y="409551"/>
                  </a:lnTo>
                  <a:lnTo>
                    <a:pt x="439581" y="458858"/>
                  </a:lnTo>
                  <a:lnTo>
                    <a:pt x="436881" y="508323"/>
                  </a:lnTo>
                  <a:lnTo>
                    <a:pt x="430784" y="557784"/>
                  </a:lnTo>
                  <a:lnTo>
                    <a:pt x="425162" y="556893"/>
                  </a:lnTo>
                  <a:lnTo>
                    <a:pt x="385810" y="550656"/>
                  </a:lnTo>
                  <a:lnTo>
                    <a:pt x="278997" y="533727"/>
                  </a:lnTo>
                  <a:lnTo>
                    <a:pt x="70993" y="500761"/>
                  </a:lnTo>
                  <a:lnTo>
                    <a:pt x="75391" y="451342"/>
                  </a:lnTo>
                  <a:lnTo>
                    <a:pt x="73076" y="402209"/>
                  </a:lnTo>
                  <a:lnTo>
                    <a:pt x="64214" y="354028"/>
                  </a:lnTo>
                  <a:lnTo>
                    <a:pt x="48970" y="307467"/>
                  </a:lnTo>
                  <a:lnTo>
                    <a:pt x="27510" y="263191"/>
                  </a:lnTo>
                  <a:lnTo>
                    <a:pt x="0" y="221869"/>
                  </a:lnTo>
                  <a:lnTo>
                    <a:pt x="288925"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a:extLst>
                <a:ext uri="{FF2B5EF4-FFF2-40B4-BE49-F238E27FC236}">
                  <a16:creationId xmlns:a16="http://schemas.microsoft.com/office/drawing/2014/main" id="{581A1037-E0D1-9DA4-C434-F841A77311D1}"/>
                </a:ext>
              </a:extLst>
            </p:cNvPr>
            <p:cNvSpPr/>
            <p:nvPr/>
          </p:nvSpPr>
          <p:spPr>
            <a:xfrm>
              <a:off x="6665340" y="1438653"/>
              <a:ext cx="422275" cy="363855"/>
            </a:xfrm>
            <a:custGeom>
              <a:avLst/>
              <a:gdLst/>
              <a:ahLst/>
              <a:cxnLst/>
              <a:rect l="l" t="t" r="r" b="b"/>
              <a:pathLst>
                <a:path w="422275" h="363855">
                  <a:moveTo>
                    <a:pt x="62356" y="0"/>
                  </a:moveTo>
                  <a:lnTo>
                    <a:pt x="53453" y="40772"/>
                  </a:lnTo>
                  <a:lnTo>
                    <a:pt x="39989" y="80152"/>
                  </a:lnTo>
                  <a:lnTo>
                    <a:pt x="22119" y="117746"/>
                  </a:lnTo>
                  <a:lnTo>
                    <a:pt x="0" y="153162"/>
                  </a:lnTo>
                  <a:lnTo>
                    <a:pt x="297306" y="363727"/>
                  </a:lnTo>
                  <a:lnTo>
                    <a:pt x="323616" y="323832"/>
                  </a:lnTo>
                  <a:lnTo>
                    <a:pt x="347205" y="282402"/>
                  </a:lnTo>
                  <a:lnTo>
                    <a:pt x="368009" y="239580"/>
                  </a:lnTo>
                  <a:lnTo>
                    <a:pt x="385968" y="195513"/>
                  </a:lnTo>
                  <a:lnTo>
                    <a:pt x="401019" y="150343"/>
                  </a:lnTo>
                  <a:lnTo>
                    <a:pt x="413099" y="104217"/>
                  </a:lnTo>
                  <a:lnTo>
                    <a:pt x="422148" y="57276"/>
                  </a:lnTo>
                  <a:lnTo>
                    <a:pt x="6235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8">
              <a:extLst>
                <a:ext uri="{FF2B5EF4-FFF2-40B4-BE49-F238E27FC236}">
                  <a16:creationId xmlns:a16="http://schemas.microsoft.com/office/drawing/2014/main" id="{EDEF0CA5-9B6D-590D-4F0B-BD7961621CA4}"/>
                </a:ext>
              </a:extLst>
            </p:cNvPr>
            <p:cNvSpPr/>
            <p:nvPr/>
          </p:nvSpPr>
          <p:spPr>
            <a:xfrm>
              <a:off x="6665340" y="1438653"/>
              <a:ext cx="422275" cy="363855"/>
            </a:xfrm>
            <a:custGeom>
              <a:avLst/>
              <a:gdLst/>
              <a:ahLst/>
              <a:cxnLst/>
              <a:rect l="l" t="t" r="r" b="b"/>
              <a:pathLst>
                <a:path w="422275" h="363855">
                  <a:moveTo>
                    <a:pt x="422148" y="57276"/>
                  </a:moveTo>
                  <a:lnTo>
                    <a:pt x="413099" y="104217"/>
                  </a:lnTo>
                  <a:lnTo>
                    <a:pt x="401019" y="150343"/>
                  </a:lnTo>
                  <a:lnTo>
                    <a:pt x="385968" y="195513"/>
                  </a:lnTo>
                  <a:lnTo>
                    <a:pt x="368009" y="239580"/>
                  </a:lnTo>
                  <a:lnTo>
                    <a:pt x="347205" y="282402"/>
                  </a:lnTo>
                  <a:lnTo>
                    <a:pt x="323616" y="323832"/>
                  </a:lnTo>
                  <a:lnTo>
                    <a:pt x="297306" y="363727"/>
                  </a:lnTo>
                  <a:lnTo>
                    <a:pt x="292661" y="360437"/>
                  </a:lnTo>
                  <a:lnTo>
                    <a:pt x="260143" y="337407"/>
                  </a:lnTo>
                  <a:lnTo>
                    <a:pt x="171880" y="274895"/>
                  </a:lnTo>
                  <a:lnTo>
                    <a:pt x="0" y="153162"/>
                  </a:lnTo>
                  <a:lnTo>
                    <a:pt x="22119" y="117746"/>
                  </a:lnTo>
                  <a:lnTo>
                    <a:pt x="39989" y="80152"/>
                  </a:lnTo>
                  <a:lnTo>
                    <a:pt x="53453" y="40772"/>
                  </a:lnTo>
                  <a:lnTo>
                    <a:pt x="62356" y="0"/>
                  </a:lnTo>
                  <a:lnTo>
                    <a:pt x="422148" y="572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a:extLst>
                <a:ext uri="{FF2B5EF4-FFF2-40B4-BE49-F238E27FC236}">
                  <a16:creationId xmlns:a16="http://schemas.microsoft.com/office/drawing/2014/main" id="{CD8B10BB-BA76-ABB6-DB51-83A84AB743E0}"/>
                </a:ext>
              </a:extLst>
            </p:cNvPr>
            <p:cNvSpPr/>
            <p:nvPr/>
          </p:nvSpPr>
          <p:spPr>
            <a:xfrm>
              <a:off x="6560819" y="1592069"/>
              <a:ext cx="401955" cy="407670"/>
            </a:xfrm>
            <a:custGeom>
              <a:avLst/>
              <a:gdLst/>
              <a:ahLst/>
              <a:cxnLst/>
              <a:rect l="l" t="t" r="r" b="b"/>
              <a:pathLst>
                <a:path w="401954" h="407669">
                  <a:moveTo>
                    <a:pt x="104266" y="0"/>
                  </a:moveTo>
                  <a:lnTo>
                    <a:pt x="81938" y="28380"/>
                  </a:lnTo>
                  <a:lnTo>
                    <a:pt x="56991" y="54355"/>
                  </a:lnTo>
                  <a:lnTo>
                    <a:pt x="29614" y="77759"/>
                  </a:lnTo>
                  <a:lnTo>
                    <a:pt x="0" y="98425"/>
                  </a:lnTo>
                  <a:lnTo>
                    <a:pt x="192785" y="407415"/>
                  </a:lnTo>
                  <a:lnTo>
                    <a:pt x="232804" y="380594"/>
                  </a:lnTo>
                  <a:lnTo>
                    <a:pt x="270872" y="351253"/>
                  </a:lnTo>
                  <a:lnTo>
                    <a:pt x="306879" y="319500"/>
                  </a:lnTo>
                  <a:lnTo>
                    <a:pt x="340717" y="285439"/>
                  </a:lnTo>
                  <a:lnTo>
                    <a:pt x="372276" y="249177"/>
                  </a:lnTo>
                  <a:lnTo>
                    <a:pt x="401447" y="210820"/>
                  </a:lnTo>
                  <a:lnTo>
                    <a:pt x="10426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a:extLst>
                <a:ext uri="{FF2B5EF4-FFF2-40B4-BE49-F238E27FC236}">
                  <a16:creationId xmlns:a16="http://schemas.microsoft.com/office/drawing/2014/main" id="{99CFBD68-7719-2CC1-700A-9324277D60B7}"/>
                </a:ext>
              </a:extLst>
            </p:cNvPr>
            <p:cNvSpPr/>
            <p:nvPr/>
          </p:nvSpPr>
          <p:spPr>
            <a:xfrm>
              <a:off x="6560819" y="1592069"/>
              <a:ext cx="401955" cy="407670"/>
            </a:xfrm>
            <a:custGeom>
              <a:avLst/>
              <a:gdLst/>
              <a:ahLst/>
              <a:cxnLst/>
              <a:rect l="l" t="t" r="r" b="b"/>
              <a:pathLst>
                <a:path w="401954" h="407669">
                  <a:moveTo>
                    <a:pt x="401447" y="210820"/>
                  </a:moveTo>
                  <a:lnTo>
                    <a:pt x="372276" y="249177"/>
                  </a:lnTo>
                  <a:lnTo>
                    <a:pt x="340717" y="285439"/>
                  </a:lnTo>
                  <a:lnTo>
                    <a:pt x="306879" y="319500"/>
                  </a:lnTo>
                  <a:lnTo>
                    <a:pt x="270872" y="351253"/>
                  </a:lnTo>
                  <a:lnTo>
                    <a:pt x="232804" y="380594"/>
                  </a:lnTo>
                  <a:lnTo>
                    <a:pt x="192785" y="407415"/>
                  </a:lnTo>
                  <a:lnTo>
                    <a:pt x="189773" y="402588"/>
                  </a:lnTo>
                  <a:lnTo>
                    <a:pt x="168687" y="368792"/>
                  </a:lnTo>
                  <a:lnTo>
                    <a:pt x="111454" y="277060"/>
                  </a:lnTo>
                  <a:lnTo>
                    <a:pt x="0" y="98425"/>
                  </a:lnTo>
                  <a:lnTo>
                    <a:pt x="29614" y="77759"/>
                  </a:lnTo>
                  <a:lnTo>
                    <a:pt x="56991" y="54355"/>
                  </a:lnTo>
                  <a:lnTo>
                    <a:pt x="81938" y="28380"/>
                  </a:lnTo>
                  <a:lnTo>
                    <a:pt x="104266" y="0"/>
                  </a:lnTo>
                  <a:lnTo>
                    <a:pt x="401447" y="21082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1">
              <a:extLst>
                <a:ext uri="{FF2B5EF4-FFF2-40B4-BE49-F238E27FC236}">
                  <a16:creationId xmlns:a16="http://schemas.microsoft.com/office/drawing/2014/main" id="{967980CA-4696-F015-114A-DB560D13973A}"/>
                </a:ext>
              </a:extLst>
            </p:cNvPr>
            <p:cNvSpPr/>
            <p:nvPr/>
          </p:nvSpPr>
          <p:spPr>
            <a:xfrm>
              <a:off x="6429501" y="1690621"/>
              <a:ext cx="323850" cy="408940"/>
            </a:xfrm>
            <a:custGeom>
              <a:avLst/>
              <a:gdLst/>
              <a:ahLst/>
              <a:cxnLst/>
              <a:rect l="l" t="t" r="r" b="b"/>
              <a:pathLst>
                <a:path w="323850" h="408939">
                  <a:moveTo>
                    <a:pt x="130937" y="0"/>
                  </a:moveTo>
                  <a:lnTo>
                    <a:pt x="100137" y="17154"/>
                  </a:lnTo>
                  <a:lnTo>
                    <a:pt x="67897" y="31226"/>
                  </a:lnTo>
                  <a:lnTo>
                    <a:pt x="34442" y="42130"/>
                  </a:lnTo>
                  <a:lnTo>
                    <a:pt x="0" y="49783"/>
                  </a:lnTo>
                  <a:lnTo>
                    <a:pt x="61595" y="408939"/>
                  </a:lnTo>
                  <a:lnTo>
                    <a:pt x="107671" y="399464"/>
                  </a:lnTo>
                  <a:lnTo>
                    <a:pt x="152969" y="387072"/>
                  </a:lnTo>
                  <a:lnTo>
                    <a:pt x="197342" y="371808"/>
                  </a:lnTo>
                  <a:lnTo>
                    <a:pt x="240646" y="353718"/>
                  </a:lnTo>
                  <a:lnTo>
                    <a:pt x="282736" y="332848"/>
                  </a:lnTo>
                  <a:lnTo>
                    <a:pt x="323469" y="309245"/>
                  </a:lnTo>
                  <a:lnTo>
                    <a:pt x="130937"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2">
              <a:extLst>
                <a:ext uri="{FF2B5EF4-FFF2-40B4-BE49-F238E27FC236}">
                  <a16:creationId xmlns:a16="http://schemas.microsoft.com/office/drawing/2014/main" id="{7B90AEEB-B1D7-54DC-10E7-B484A97CC522}"/>
                </a:ext>
              </a:extLst>
            </p:cNvPr>
            <p:cNvSpPr/>
            <p:nvPr/>
          </p:nvSpPr>
          <p:spPr>
            <a:xfrm>
              <a:off x="6429501" y="1690621"/>
              <a:ext cx="323850" cy="408940"/>
            </a:xfrm>
            <a:custGeom>
              <a:avLst/>
              <a:gdLst/>
              <a:ahLst/>
              <a:cxnLst/>
              <a:rect l="l" t="t" r="r" b="b"/>
              <a:pathLst>
                <a:path w="323850" h="408939">
                  <a:moveTo>
                    <a:pt x="323469" y="309245"/>
                  </a:moveTo>
                  <a:lnTo>
                    <a:pt x="282736" y="332848"/>
                  </a:lnTo>
                  <a:lnTo>
                    <a:pt x="240646" y="353718"/>
                  </a:lnTo>
                  <a:lnTo>
                    <a:pt x="197342" y="371808"/>
                  </a:lnTo>
                  <a:lnTo>
                    <a:pt x="152969" y="387072"/>
                  </a:lnTo>
                  <a:lnTo>
                    <a:pt x="107671" y="399464"/>
                  </a:lnTo>
                  <a:lnTo>
                    <a:pt x="61595" y="408939"/>
                  </a:lnTo>
                  <a:lnTo>
                    <a:pt x="60632" y="403328"/>
                  </a:lnTo>
                  <a:lnTo>
                    <a:pt x="53895" y="364045"/>
                  </a:lnTo>
                  <a:lnTo>
                    <a:pt x="35609" y="257421"/>
                  </a:lnTo>
                  <a:lnTo>
                    <a:pt x="0" y="49783"/>
                  </a:lnTo>
                  <a:lnTo>
                    <a:pt x="34442" y="42130"/>
                  </a:lnTo>
                  <a:lnTo>
                    <a:pt x="67897" y="31226"/>
                  </a:lnTo>
                  <a:lnTo>
                    <a:pt x="100137" y="17154"/>
                  </a:lnTo>
                  <a:lnTo>
                    <a:pt x="130937" y="0"/>
                  </a:lnTo>
                  <a:lnTo>
                    <a:pt x="323469" y="30924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a:extLst>
                <a:ext uri="{FF2B5EF4-FFF2-40B4-BE49-F238E27FC236}">
                  <a16:creationId xmlns:a16="http://schemas.microsoft.com/office/drawing/2014/main" id="{BF356D3C-1A56-B508-22C6-AF65AA62B3D7}"/>
                </a:ext>
              </a:extLst>
            </p:cNvPr>
            <p:cNvSpPr/>
            <p:nvPr/>
          </p:nvSpPr>
          <p:spPr>
            <a:xfrm>
              <a:off x="6272529" y="1740532"/>
              <a:ext cx="217804" cy="369570"/>
            </a:xfrm>
            <a:custGeom>
              <a:avLst/>
              <a:gdLst/>
              <a:ahLst/>
              <a:cxnLst/>
              <a:rect l="l" t="t" r="r" b="b"/>
              <a:pathLst>
                <a:path w="217804" h="369569">
                  <a:moveTo>
                    <a:pt x="156591" y="0"/>
                  </a:moveTo>
                  <a:lnTo>
                    <a:pt x="129512" y="3550"/>
                  </a:lnTo>
                  <a:lnTo>
                    <a:pt x="102266" y="5064"/>
                  </a:lnTo>
                  <a:lnTo>
                    <a:pt x="74973" y="4554"/>
                  </a:lnTo>
                  <a:lnTo>
                    <a:pt x="47752" y="2032"/>
                  </a:lnTo>
                  <a:lnTo>
                    <a:pt x="0" y="363220"/>
                  </a:lnTo>
                  <a:lnTo>
                    <a:pt x="54445" y="368317"/>
                  </a:lnTo>
                  <a:lnTo>
                    <a:pt x="109045" y="369331"/>
                  </a:lnTo>
                  <a:lnTo>
                    <a:pt x="163574" y="366273"/>
                  </a:lnTo>
                  <a:lnTo>
                    <a:pt x="217805" y="359156"/>
                  </a:lnTo>
                  <a:lnTo>
                    <a:pt x="156591"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a:extLst>
                <a:ext uri="{FF2B5EF4-FFF2-40B4-BE49-F238E27FC236}">
                  <a16:creationId xmlns:a16="http://schemas.microsoft.com/office/drawing/2014/main" id="{6B73F8D5-7EC8-1790-D470-503BCB8DB159}"/>
                </a:ext>
              </a:extLst>
            </p:cNvPr>
            <p:cNvSpPr/>
            <p:nvPr/>
          </p:nvSpPr>
          <p:spPr>
            <a:xfrm>
              <a:off x="6272529" y="1740532"/>
              <a:ext cx="217804" cy="369570"/>
            </a:xfrm>
            <a:custGeom>
              <a:avLst/>
              <a:gdLst/>
              <a:ahLst/>
              <a:cxnLst/>
              <a:rect l="l" t="t" r="r" b="b"/>
              <a:pathLst>
                <a:path w="217804" h="369569">
                  <a:moveTo>
                    <a:pt x="217805" y="359156"/>
                  </a:moveTo>
                  <a:lnTo>
                    <a:pt x="163574" y="366273"/>
                  </a:lnTo>
                  <a:lnTo>
                    <a:pt x="109045" y="369331"/>
                  </a:lnTo>
                  <a:lnTo>
                    <a:pt x="54445" y="368317"/>
                  </a:lnTo>
                  <a:lnTo>
                    <a:pt x="0" y="363220"/>
                  </a:lnTo>
                  <a:lnTo>
                    <a:pt x="746" y="357576"/>
                  </a:lnTo>
                  <a:lnTo>
                    <a:pt x="5968" y="318071"/>
                  </a:lnTo>
                  <a:lnTo>
                    <a:pt x="20145" y="210843"/>
                  </a:lnTo>
                  <a:lnTo>
                    <a:pt x="47752" y="2032"/>
                  </a:lnTo>
                  <a:lnTo>
                    <a:pt x="74973" y="4554"/>
                  </a:lnTo>
                  <a:lnTo>
                    <a:pt x="102266" y="5064"/>
                  </a:lnTo>
                  <a:lnTo>
                    <a:pt x="129512" y="3550"/>
                  </a:lnTo>
                  <a:lnTo>
                    <a:pt x="156591" y="0"/>
                  </a:lnTo>
                  <a:lnTo>
                    <a:pt x="217805" y="3591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5">
              <a:extLst>
                <a:ext uri="{FF2B5EF4-FFF2-40B4-BE49-F238E27FC236}">
                  <a16:creationId xmlns:a16="http://schemas.microsoft.com/office/drawing/2014/main" id="{99B6E055-C666-9FC0-9209-D3D952682835}"/>
                </a:ext>
              </a:extLst>
            </p:cNvPr>
            <p:cNvSpPr/>
            <p:nvPr/>
          </p:nvSpPr>
          <p:spPr>
            <a:xfrm>
              <a:off x="6090792" y="1718307"/>
              <a:ext cx="229235" cy="385445"/>
            </a:xfrm>
            <a:custGeom>
              <a:avLst/>
              <a:gdLst/>
              <a:ahLst/>
              <a:cxnLst/>
              <a:rect l="l" t="t" r="r" b="b"/>
              <a:pathLst>
                <a:path w="229235" h="385444">
                  <a:moveTo>
                    <a:pt x="138557" y="0"/>
                  </a:moveTo>
                  <a:lnTo>
                    <a:pt x="0" y="336931"/>
                  </a:lnTo>
                  <a:lnTo>
                    <a:pt x="44031" y="353403"/>
                  </a:lnTo>
                  <a:lnTo>
                    <a:pt x="88979" y="366982"/>
                  </a:lnTo>
                  <a:lnTo>
                    <a:pt x="134713" y="377632"/>
                  </a:lnTo>
                  <a:lnTo>
                    <a:pt x="181102" y="385318"/>
                  </a:lnTo>
                  <a:lnTo>
                    <a:pt x="229108" y="24129"/>
                  </a:lnTo>
                  <a:lnTo>
                    <a:pt x="205904" y="20323"/>
                  </a:lnTo>
                  <a:lnTo>
                    <a:pt x="183022" y="15017"/>
                  </a:lnTo>
                  <a:lnTo>
                    <a:pt x="160545" y="8235"/>
                  </a:lnTo>
                  <a:lnTo>
                    <a:pt x="138557"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6">
              <a:extLst>
                <a:ext uri="{FF2B5EF4-FFF2-40B4-BE49-F238E27FC236}">
                  <a16:creationId xmlns:a16="http://schemas.microsoft.com/office/drawing/2014/main" id="{312E109E-ECCD-3523-EE07-EE362125C718}"/>
                </a:ext>
              </a:extLst>
            </p:cNvPr>
            <p:cNvSpPr/>
            <p:nvPr/>
          </p:nvSpPr>
          <p:spPr>
            <a:xfrm>
              <a:off x="6090792" y="1718307"/>
              <a:ext cx="229235" cy="385445"/>
            </a:xfrm>
            <a:custGeom>
              <a:avLst/>
              <a:gdLst/>
              <a:ahLst/>
              <a:cxnLst/>
              <a:rect l="l" t="t" r="r" b="b"/>
              <a:pathLst>
                <a:path w="229235" h="385444">
                  <a:moveTo>
                    <a:pt x="181102" y="385318"/>
                  </a:moveTo>
                  <a:lnTo>
                    <a:pt x="134713" y="377632"/>
                  </a:lnTo>
                  <a:lnTo>
                    <a:pt x="88979" y="366982"/>
                  </a:lnTo>
                  <a:lnTo>
                    <a:pt x="44031" y="353403"/>
                  </a:lnTo>
                  <a:lnTo>
                    <a:pt x="0" y="336931"/>
                  </a:lnTo>
                  <a:lnTo>
                    <a:pt x="2164" y="331666"/>
                  </a:lnTo>
                  <a:lnTo>
                    <a:pt x="17319" y="294814"/>
                  </a:lnTo>
                  <a:lnTo>
                    <a:pt x="58453" y="194788"/>
                  </a:lnTo>
                  <a:lnTo>
                    <a:pt x="138557" y="0"/>
                  </a:lnTo>
                  <a:lnTo>
                    <a:pt x="160545" y="8235"/>
                  </a:lnTo>
                  <a:lnTo>
                    <a:pt x="183022" y="15017"/>
                  </a:lnTo>
                  <a:lnTo>
                    <a:pt x="205904" y="20323"/>
                  </a:lnTo>
                  <a:lnTo>
                    <a:pt x="229108" y="24129"/>
                  </a:lnTo>
                  <a:lnTo>
                    <a:pt x="181102" y="38531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a:extLst>
                <a:ext uri="{FF2B5EF4-FFF2-40B4-BE49-F238E27FC236}">
                  <a16:creationId xmlns:a16="http://schemas.microsoft.com/office/drawing/2014/main" id="{4F7B5EC3-511D-5856-CE2F-DF30AE0A2F75}"/>
                </a:ext>
              </a:extLst>
            </p:cNvPr>
            <p:cNvSpPr/>
            <p:nvPr/>
          </p:nvSpPr>
          <p:spPr>
            <a:xfrm>
              <a:off x="5930899" y="1672841"/>
              <a:ext cx="298450" cy="382270"/>
            </a:xfrm>
            <a:custGeom>
              <a:avLst/>
              <a:gdLst/>
              <a:ahLst/>
              <a:cxnLst/>
              <a:rect l="l" t="t" r="r" b="b"/>
              <a:pathLst>
                <a:path w="298450" h="382269">
                  <a:moveTo>
                    <a:pt x="218439" y="0"/>
                  </a:moveTo>
                  <a:lnTo>
                    <a:pt x="0" y="291591"/>
                  </a:lnTo>
                  <a:lnTo>
                    <a:pt x="37580" y="317938"/>
                  </a:lnTo>
                  <a:lnTo>
                    <a:pt x="76707" y="341868"/>
                  </a:lnTo>
                  <a:lnTo>
                    <a:pt x="117264" y="363297"/>
                  </a:lnTo>
                  <a:lnTo>
                    <a:pt x="159130" y="382142"/>
                  </a:lnTo>
                  <a:lnTo>
                    <a:pt x="298069" y="45338"/>
                  </a:lnTo>
                  <a:lnTo>
                    <a:pt x="277143" y="35915"/>
                  </a:lnTo>
                  <a:lnTo>
                    <a:pt x="256873" y="25193"/>
                  </a:lnTo>
                  <a:lnTo>
                    <a:pt x="237293" y="13209"/>
                  </a:lnTo>
                  <a:lnTo>
                    <a:pt x="218439"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a:extLst>
                <a:ext uri="{FF2B5EF4-FFF2-40B4-BE49-F238E27FC236}">
                  <a16:creationId xmlns:a16="http://schemas.microsoft.com/office/drawing/2014/main" id="{BC0B31FA-8FFB-15E2-6FD4-E39DFECA7AC4}"/>
                </a:ext>
              </a:extLst>
            </p:cNvPr>
            <p:cNvSpPr/>
            <p:nvPr/>
          </p:nvSpPr>
          <p:spPr>
            <a:xfrm>
              <a:off x="5930899" y="1672841"/>
              <a:ext cx="298450" cy="382270"/>
            </a:xfrm>
            <a:custGeom>
              <a:avLst/>
              <a:gdLst/>
              <a:ahLst/>
              <a:cxnLst/>
              <a:rect l="l" t="t" r="r" b="b"/>
              <a:pathLst>
                <a:path w="298450" h="382269">
                  <a:moveTo>
                    <a:pt x="159130" y="382142"/>
                  </a:moveTo>
                  <a:lnTo>
                    <a:pt x="117264" y="363297"/>
                  </a:lnTo>
                  <a:lnTo>
                    <a:pt x="76707" y="341868"/>
                  </a:lnTo>
                  <a:lnTo>
                    <a:pt x="37580" y="317938"/>
                  </a:lnTo>
                  <a:lnTo>
                    <a:pt x="0" y="291591"/>
                  </a:lnTo>
                  <a:lnTo>
                    <a:pt x="3413" y="287035"/>
                  </a:lnTo>
                  <a:lnTo>
                    <a:pt x="27305" y="255142"/>
                  </a:lnTo>
                  <a:lnTo>
                    <a:pt x="92154" y="168576"/>
                  </a:lnTo>
                  <a:lnTo>
                    <a:pt x="218439" y="0"/>
                  </a:lnTo>
                  <a:lnTo>
                    <a:pt x="237293" y="13209"/>
                  </a:lnTo>
                  <a:lnTo>
                    <a:pt x="256873" y="25193"/>
                  </a:lnTo>
                  <a:lnTo>
                    <a:pt x="277143" y="35915"/>
                  </a:lnTo>
                  <a:lnTo>
                    <a:pt x="298069" y="45338"/>
                  </a:lnTo>
                  <a:lnTo>
                    <a:pt x="159130" y="38214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a:extLst>
                <a:ext uri="{FF2B5EF4-FFF2-40B4-BE49-F238E27FC236}">
                  <a16:creationId xmlns:a16="http://schemas.microsoft.com/office/drawing/2014/main" id="{66AAE47A-7713-7E3D-7ABD-FB2A47878668}"/>
                </a:ext>
              </a:extLst>
            </p:cNvPr>
            <p:cNvSpPr/>
            <p:nvPr/>
          </p:nvSpPr>
          <p:spPr>
            <a:xfrm>
              <a:off x="5799708" y="1609468"/>
              <a:ext cx="349885" cy="354965"/>
            </a:xfrm>
            <a:custGeom>
              <a:avLst/>
              <a:gdLst/>
              <a:ahLst/>
              <a:cxnLst/>
              <a:rect l="l" t="t" r="r" b="b"/>
              <a:pathLst>
                <a:path w="349885" h="354964">
                  <a:moveTo>
                    <a:pt x="284099" y="0"/>
                  </a:moveTo>
                  <a:lnTo>
                    <a:pt x="0" y="228091"/>
                  </a:lnTo>
                  <a:lnTo>
                    <a:pt x="29650" y="262695"/>
                  </a:lnTo>
                  <a:lnTo>
                    <a:pt x="61372" y="295370"/>
                  </a:lnTo>
                  <a:lnTo>
                    <a:pt x="95047" y="325997"/>
                  </a:lnTo>
                  <a:lnTo>
                    <a:pt x="130555" y="354456"/>
                  </a:lnTo>
                  <a:lnTo>
                    <a:pt x="349376" y="63118"/>
                  </a:lnTo>
                  <a:lnTo>
                    <a:pt x="331622" y="48916"/>
                  </a:lnTo>
                  <a:lnTo>
                    <a:pt x="314785" y="33607"/>
                  </a:lnTo>
                  <a:lnTo>
                    <a:pt x="298924" y="17273"/>
                  </a:lnTo>
                  <a:lnTo>
                    <a:pt x="28409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70">
              <a:extLst>
                <a:ext uri="{FF2B5EF4-FFF2-40B4-BE49-F238E27FC236}">
                  <a16:creationId xmlns:a16="http://schemas.microsoft.com/office/drawing/2014/main" id="{55D5D775-5672-79F5-47DC-A7AA15DE58E9}"/>
                </a:ext>
              </a:extLst>
            </p:cNvPr>
            <p:cNvSpPr/>
            <p:nvPr/>
          </p:nvSpPr>
          <p:spPr>
            <a:xfrm>
              <a:off x="5799708" y="1609468"/>
              <a:ext cx="349885" cy="354965"/>
            </a:xfrm>
            <a:custGeom>
              <a:avLst/>
              <a:gdLst/>
              <a:ahLst/>
              <a:cxnLst/>
              <a:rect l="l" t="t" r="r" b="b"/>
              <a:pathLst>
                <a:path w="349885" h="354964">
                  <a:moveTo>
                    <a:pt x="130555" y="354456"/>
                  </a:moveTo>
                  <a:lnTo>
                    <a:pt x="95047" y="325997"/>
                  </a:lnTo>
                  <a:lnTo>
                    <a:pt x="61372" y="295370"/>
                  </a:lnTo>
                  <a:lnTo>
                    <a:pt x="29650" y="262695"/>
                  </a:lnTo>
                  <a:lnTo>
                    <a:pt x="0" y="228091"/>
                  </a:lnTo>
                  <a:lnTo>
                    <a:pt x="4439" y="224528"/>
                  </a:lnTo>
                  <a:lnTo>
                    <a:pt x="35512" y="199580"/>
                  </a:lnTo>
                  <a:lnTo>
                    <a:pt x="119854" y="131865"/>
                  </a:lnTo>
                  <a:lnTo>
                    <a:pt x="284099" y="0"/>
                  </a:lnTo>
                  <a:lnTo>
                    <a:pt x="298924" y="17273"/>
                  </a:lnTo>
                  <a:lnTo>
                    <a:pt x="314785" y="33607"/>
                  </a:lnTo>
                  <a:lnTo>
                    <a:pt x="331622" y="48916"/>
                  </a:lnTo>
                  <a:lnTo>
                    <a:pt x="349376" y="63118"/>
                  </a:lnTo>
                  <a:lnTo>
                    <a:pt x="130555" y="35445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1">
              <a:extLst>
                <a:ext uri="{FF2B5EF4-FFF2-40B4-BE49-F238E27FC236}">
                  <a16:creationId xmlns:a16="http://schemas.microsoft.com/office/drawing/2014/main" id="{B178F809-6B4E-D70A-CCA4-4F510341807D}"/>
                </a:ext>
              </a:extLst>
            </p:cNvPr>
            <p:cNvSpPr/>
            <p:nvPr/>
          </p:nvSpPr>
          <p:spPr>
            <a:xfrm>
              <a:off x="5639340" y="652650"/>
              <a:ext cx="728345" cy="1184910"/>
            </a:xfrm>
            <a:custGeom>
              <a:avLst/>
              <a:gdLst/>
              <a:ahLst/>
              <a:cxnLst/>
              <a:rect l="l" t="t" r="r" b="b"/>
              <a:pathLst>
                <a:path w="728345" h="1184910">
                  <a:moveTo>
                    <a:pt x="727550" y="0"/>
                  </a:moveTo>
                  <a:lnTo>
                    <a:pt x="678414" y="1719"/>
                  </a:lnTo>
                  <a:lnTo>
                    <a:pt x="629931" y="6687"/>
                  </a:lnTo>
                  <a:lnTo>
                    <a:pt x="582233" y="14820"/>
                  </a:lnTo>
                  <a:lnTo>
                    <a:pt x="535453" y="26032"/>
                  </a:lnTo>
                  <a:lnTo>
                    <a:pt x="489726" y="40241"/>
                  </a:lnTo>
                  <a:lnTo>
                    <a:pt x="445183" y="57361"/>
                  </a:lnTo>
                  <a:lnTo>
                    <a:pt x="401958" y="77308"/>
                  </a:lnTo>
                  <a:lnTo>
                    <a:pt x="360184" y="99999"/>
                  </a:lnTo>
                  <a:lnTo>
                    <a:pt x="319994" y="125349"/>
                  </a:lnTo>
                  <a:lnTo>
                    <a:pt x="281521" y="153273"/>
                  </a:lnTo>
                  <a:lnTo>
                    <a:pt x="244898" y="183689"/>
                  </a:lnTo>
                  <a:lnTo>
                    <a:pt x="210259" y="216510"/>
                  </a:lnTo>
                  <a:lnTo>
                    <a:pt x="177736" y="251654"/>
                  </a:lnTo>
                  <a:lnTo>
                    <a:pt x="147462" y="289035"/>
                  </a:lnTo>
                  <a:lnTo>
                    <a:pt x="119571" y="328571"/>
                  </a:lnTo>
                  <a:lnTo>
                    <a:pt x="94195" y="370175"/>
                  </a:lnTo>
                  <a:lnTo>
                    <a:pt x="71468" y="413766"/>
                  </a:lnTo>
                  <a:lnTo>
                    <a:pt x="51720" y="458783"/>
                  </a:lnTo>
                  <a:lnTo>
                    <a:pt x="35182" y="504622"/>
                  </a:lnTo>
                  <a:lnTo>
                    <a:pt x="21835" y="551127"/>
                  </a:lnTo>
                  <a:lnTo>
                    <a:pt x="11661" y="598140"/>
                  </a:lnTo>
                  <a:lnTo>
                    <a:pt x="4642" y="645506"/>
                  </a:lnTo>
                  <a:lnTo>
                    <a:pt x="761" y="693067"/>
                  </a:lnTo>
                  <a:lnTo>
                    <a:pt x="0" y="740667"/>
                  </a:lnTo>
                  <a:lnTo>
                    <a:pt x="2339" y="788151"/>
                  </a:lnTo>
                  <a:lnTo>
                    <a:pt x="7762" y="835360"/>
                  </a:lnTo>
                  <a:lnTo>
                    <a:pt x="16250" y="882139"/>
                  </a:lnTo>
                  <a:lnTo>
                    <a:pt x="27786" y="928332"/>
                  </a:lnTo>
                  <a:lnTo>
                    <a:pt x="42351" y="973781"/>
                  </a:lnTo>
                  <a:lnTo>
                    <a:pt x="59927" y="1018331"/>
                  </a:lnTo>
                  <a:lnTo>
                    <a:pt x="80497" y="1061824"/>
                  </a:lnTo>
                  <a:lnTo>
                    <a:pt x="104042" y="1104104"/>
                  </a:lnTo>
                  <a:lnTo>
                    <a:pt x="130545" y="1145016"/>
                  </a:lnTo>
                  <a:lnTo>
                    <a:pt x="159987" y="1184402"/>
                  </a:lnTo>
                  <a:lnTo>
                    <a:pt x="444213" y="956564"/>
                  </a:lnTo>
                  <a:lnTo>
                    <a:pt x="414712" y="913790"/>
                  </a:lnTo>
                  <a:lnTo>
                    <a:pt x="391891" y="867979"/>
                  </a:lnTo>
                  <a:lnTo>
                    <a:pt x="375836" y="819879"/>
                  </a:lnTo>
                  <a:lnTo>
                    <a:pt x="366632" y="770239"/>
                  </a:lnTo>
                  <a:lnTo>
                    <a:pt x="364363" y="719806"/>
                  </a:lnTo>
                  <a:lnTo>
                    <a:pt x="369115" y="669331"/>
                  </a:lnTo>
                  <a:lnTo>
                    <a:pt x="380971" y="619561"/>
                  </a:lnTo>
                  <a:lnTo>
                    <a:pt x="400017" y="571246"/>
                  </a:lnTo>
                  <a:lnTo>
                    <a:pt x="425765" y="526117"/>
                  </a:lnTo>
                  <a:lnTo>
                    <a:pt x="457149" y="485681"/>
                  </a:lnTo>
                  <a:lnTo>
                    <a:pt x="493531" y="450344"/>
                  </a:lnTo>
                  <a:lnTo>
                    <a:pt x="534272" y="420512"/>
                  </a:lnTo>
                  <a:lnTo>
                    <a:pt x="578734" y="396592"/>
                  </a:lnTo>
                  <a:lnTo>
                    <a:pt x="626278" y="378989"/>
                  </a:lnTo>
                  <a:lnTo>
                    <a:pt x="676265" y="368111"/>
                  </a:lnTo>
                  <a:lnTo>
                    <a:pt x="728058" y="364363"/>
                  </a:lnTo>
                  <a:lnTo>
                    <a:pt x="727550"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2">
              <a:extLst>
                <a:ext uri="{FF2B5EF4-FFF2-40B4-BE49-F238E27FC236}">
                  <a16:creationId xmlns:a16="http://schemas.microsoft.com/office/drawing/2014/main" id="{24628F5C-E9A1-AD9A-0B7B-2798EBF7A8BF}"/>
                </a:ext>
              </a:extLst>
            </p:cNvPr>
            <p:cNvSpPr/>
            <p:nvPr/>
          </p:nvSpPr>
          <p:spPr>
            <a:xfrm>
              <a:off x="5639340" y="652650"/>
              <a:ext cx="728345" cy="1184910"/>
            </a:xfrm>
            <a:custGeom>
              <a:avLst/>
              <a:gdLst/>
              <a:ahLst/>
              <a:cxnLst/>
              <a:rect l="l" t="t" r="r" b="b"/>
              <a:pathLst>
                <a:path w="728345" h="1184910">
                  <a:moveTo>
                    <a:pt x="159987" y="1184402"/>
                  </a:moveTo>
                  <a:lnTo>
                    <a:pt x="130545" y="1145016"/>
                  </a:lnTo>
                  <a:lnTo>
                    <a:pt x="104042" y="1104104"/>
                  </a:lnTo>
                  <a:lnTo>
                    <a:pt x="80497" y="1061824"/>
                  </a:lnTo>
                  <a:lnTo>
                    <a:pt x="59927" y="1018331"/>
                  </a:lnTo>
                  <a:lnTo>
                    <a:pt x="42351" y="973781"/>
                  </a:lnTo>
                  <a:lnTo>
                    <a:pt x="27786" y="928332"/>
                  </a:lnTo>
                  <a:lnTo>
                    <a:pt x="16250" y="882139"/>
                  </a:lnTo>
                  <a:lnTo>
                    <a:pt x="7762" y="835360"/>
                  </a:lnTo>
                  <a:lnTo>
                    <a:pt x="2339" y="788151"/>
                  </a:lnTo>
                  <a:lnTo>
                    <a:pt x="0" y="740667"/>
                  </a:lnTo>
                  <a:lnTo>
                    <a:pt x="761" y="693067"/>
                  </a:lnTo>
                  <a:lnTo>
                    <a:pt x="4642" y="645506"/>
                  </a:lnTo>
                  <a:lnTo>
                    <a:pt x="11661" y="598140"/>
                  </a:lnTo>
                  <a:lnTo>
                    <a:pt x="21835" y="551127"/>
                  </a:lnTo>
                  <a:lnTo>
                    <a:pt x="35182" y="504622"/>
                  </a:lnTo>
                  <a:lnTo>
                    <a:pt x="51720" y="458783"/>
                  </a:lnTo>
                  <a:lnTo>
                    <a:pt x="71468" y="413766"/>
                  </a:lnTo>
                  <a:lnTo>
                    <a:pt x="94195" y="370175"/>
                  </a:lnTo>
                  <a:lnTo>
                    <a:pt x="119571" y="328571"/>
                  </a:lnTo>
                  <a:lnTo>
                    <a:pt x="147462" y="289035"/>
                  </a:lnTo>
                  <a:lnTo>
                    <a:pt x="177736" y="251654"/>
                  </a:lnTo>
                  <a:lnTo>
                    <a:pt x="210259" y="216510"/>
                  </a:lnTo>
                  <a:lnTo>
                    <a:pt x="244898" y="183689"/>
                  </a:lnTo>
                  <a:lnTo>
                    <a:pt x="281521" y="153273"/>
                  </a:lnTo>
                  <a:lnTo>
                    <a:pt x="319994" y="125349"/>
                  </a:lnTo>
                  <a:lnTo>
                    <a:pt x="360184" y="99999"/>
                  </a:lnTo>
                  <a:lnTo>
                    <a:pt x="401958" y="77308"/>
                  </a:lnTo>
                  <a:lnTo>
                    <a:pt x="445183" y="57361"/>
                  </a:lnTo>
                  <a:lnTo>
                    <a:pt x="489726" y="40241"/>
                  </a:lnTo>
                  <a:lnTo>
                    <a:pt x="535453" y="26032"/>
                  </a:lnTo>
                  <a:lnTo>
                    <a:pt x="582233" y="14820"/>
                  </a:lnTo>
                  <a:lnTo>
                    <a:pt x="629931" y="6687"/>
                  </a:lnTo>
                  <a:lnTo>
                    <a:pt x="678414" y="1719"/>
                  </a:lnTo>
                  <a:lnTo>
                    <a:pt x="727550" y="0"/>
                  </a:lnTo>
                  <a:lnTo>
                    <a:pt x="727558" y="5693"/>
                  </a:lnTo>
                  <a:lnTo>
                    <a:pt x="727614" y="45545"/>
                  </a:lnTo>
                  <a:lnTo>
                    <a:pt x="727765" y="153715"/>
                  </a:lnTo>
                  <a:lnTo>
                    <a:pt x="728058" y="364363"/>
                  </a:lnTo>
                  <a:lnTo>
                    <a:pt x="676265" y="368111"/>
                  </a:lnTo>
                  <a:lnTo>
                    <a:pt x="626278" y="378989"/>
                  </a:lnTo>
                  <a:lnTo>
                    <a:pt x="578734" y="396592"/>
                  </a:lnTo>
                  <a:lnTo>
                    <a:pt x="534272" y="420512"/>
                  </a:lnTo>
                  <a:lnTo>
                    <a:pt x="493531" y="450344"/>
                  </a:lnTo>
                  <a:lnTo>
                    <a:pt x="457149" y="485681"/>
                  </a:lnTo>
                  <a:lnTo>
                    <a:pt x="425765" y="526117"/>
                  </a:lnTo>
                  <a:lnTo>
                    <a:pt x="400017" y="571246"/>
                  </a:lnTo>
                  <a:lnTo>
                    <a:pt x="380971" y="619561"/>
                  </a:lnTo>
                  <a:lnTo>
                    <a:pt x="369115" y="669331"/>
                  </a:lnTo>
                  <a:lnTo>
                    <a:pt x="364363" y="719806"/>
                  </a:lnTo>
                  <a:lnTo>
                    <a:pt x="366632" y="770239"/>
                  </a:lnTo>
                  <a:lnTo>
                    <a:pt x="375836" y="819879"/>
                  </a:lnTo>
                  <a:lnTo>
                    <a:pt x="391891" y="867979"/>
                  </a:lnTo>
                  <a:lnTo>
                    <a:pt x="414712" y="913790"/>
                  </a:lnTo>
                  <a:lnTo>
                    <a:pt x="444213" y="956564"/>
                  </a:lnTo>
                  <a:lnTo>
                    <a:pt x="159987" y="118440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0" name="Group 49">
            <a:extLst>
              <a:ext uri="{FF2B5EF4-FFF2-40B4-BE49-F238E27FC236}">
                <a16:creationId xmlns:a16="http://schemas.microsoft.com/office/drawing/2014/main" id="{A720FB76-1BBD-4C6A-D3A7-70600A36D678}"/>
              </a:ext>
            </a:extLst>
          </p:cNvPr>
          <p:cNvGrpSpPr>
            <a:grpSpLocks noChangeAspect="1"/>
          </p:cNvGrpSpPr>
          <p:nvPr/>
        </p:nvGrpSpPr>
        <p:grpSpPr>
          <a:xfrm>
            <a:off x="2949790" y="3134903"/>
            <a:ext cx="4062687" cy="1620000"/>
            <a:chOff x="3029324" y="3818512"/>
            <a:chExt cx="4071961" cy="1623698"/>
          </a:xfrm>
        </p:grpSpPr>
        <p:grpSp>
          <p:nvGrpSpPr>
            <p:cNvPr id="29" name="object 29">
              <a:extLst>
                <a:ext uri="{FF2B5EF4-FFF2-40B4-BE49-F238E27FC236}">
                  <a16:creationId xmlns:a16="http://schemas.microsoft.com/office/drawing/2014/main" id="{F77A0026-8E0B-8DBD-3A55-392761A38D9B}"/>
                </a:ext>
              </a:extLst>
            </p:cNvPr>
            <p:cNvGrpSpPr/>
            <p:nvPr/>
          </p:nvGrpSpPr>
          <p:grpSpPr>
            <a:xfrm>
              <a:off x="3069463" y="4063238"/>
              <a:ext cx="108585" cy="1365250"/>
              <a:chOff x="3069463" y="3537328"/>
              <a:chExt cx="108585" cy="1365250"/>
            </a:xfrm>
          </p:grpSpPr>
          <p:sp>
            <p:nvSpPr>
              <p:cNvPr id="30" name="object 30">
                <a:extLst>
                  <a:ext uri="{FF2B5EF4-FFF2-40B4-BE49-F238E27FC236}">
                    <a16:creationId xmlns:a16="http://schemas.microsoft.com/office/drawing/2014/main" id="{057FCD1C-9931-FBB5-9D36-A5F7680F2562}"/>
                  </a:ext>
                </a:extLst>
              </p:cNvPr>
              <p:cNvSpPr/>
              <p:nvPr/>
            </p:nvSpPr>
            <p:spPr>
              <a:xfrm>
                <a:off x="3069463" y="35373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a:extLst>
                  <a:ext uri="{FF2B5EF4-FFF2-40B4-BE49-F238E27FC236}">
                    <a16:creationId xmlns:a16="http://schemas.microsoft.com/office/drawing/2014/main" id="{6C236694-D02E-BDFB-36AD-BCD154041A9A}"/>
                  </a:ext>
                </a:extLst>
              </p:cNvPr>
              <p:cNvSpPr/>
              <p:nvPr/>
            </p:nvSpPr>
            <p:spPr>
              <a:xfrm>
                <a:off x="3069463" y="36770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a:extLst>
                  <a:ext uri="{FF2B5EF4-FFF2-40B4-BE49-F238E27FC236}">
                    <a16:creationId xmlns:a16="http://schemas.microsoft.com/office/drawing/2014/main" id="{167C7282-7327-7431-F167-716E57EB45E9}"/>
                  </a:ext>
                </a:extLst>
              </p:cNvPr>
              <p:cNvSpPr/>
              <p:nvPr/>
            </p:nvSpPr>
            <p:spPr>
              <a:xfrm>
                <a:off x="3069463" y="38167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a:extLst>
                  <a:ext uri="{FF2B5EF4-FFF2-40B4-BE49-F238E27FC236}">
                    <a16:creationId xmlns:a16="http://schemas.microsoft.com/office/drawing/2014/main" id="{4FF78B85-E834-FD93-0629-3329C58F95AF}"/>
                  </a:ext>
                </a:extLst>
              </p:cNvPr>
              <p:cNvSpPr/>
              <p:nvPr/>
            </p:nvSpPr>
            <p:spPr>
              <a:xfrm>
                <a:off x="3069463" y="39564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a:extLst>
                  <a:ext uri="{FF2B5EF4-FFF2-40B4-BE49-F238E27FC236}">
                    <a16:creationId xmlns:a16="http://schemas.microsoft.com/office/drawing/2014/main" id="{98AC9F96-828A-4603-C53E-BB9F4D44A3BD}"/>
                  </a:ext>
                </a:extLst>
              </p:cNvPr>
              <p:cNvSpPr/>
              <p:nvPr/>
            </p:nvSpPr>
            <p:spPr>
              <a:xfrm>
                <a:off x="3069463" y="40961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a:extLst>
                  <a:ext uri="{FF2B5EF4-FFF2-40B4-BE49-F238E27FC236}">
                    <a16:creationId xmlns:a16="http://schemas.microsoft.com/office/drawing/2014/main" id="{2DA3652F-8D2E-D87C-E0EB-9422CBF16B42}"/>
                  </a:ext>
                </a:extLst>
              </p:cNvPr>
              <p:cNvSpPr/>
              <p:nvPr/>
            </p:nvSpPr>
            <p:spPr>
              <a:xfrm>
                <a:off x="3069463" y="42358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6">
                <a:extLst>
                  <a:ext uri="{FF2B5EF4-FFF2-40B4-BE49-F238E27FC236}">
                    <a16:creationId xmlns:a16="http://schemas.microsoft.com/office/drawing/2014/main" id="{FA711DDB-5D74-1F73-7EC5-836FAF1665C7}"/>
                  </a:ext>
                </a:extLst>
              </p:cNvPr>
              <p:cNvSpPr/>
              <p:nvPr/>
            </p:nvSpPr>
            <p:spPr>
              <a:xfrm>
                <a:off x="3069463" y="43755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7">
                <a:extLst>
                  <a:ext uri="{FF2B5EF4-FFF2-40B4-BE49-F238E27FC236}">
                    <a16:creationId xmlns:a16="http://schemas.microsoft.com/office/drawing/2014/main" id="{9BF15E41-F789-10EB-0F58-019CCC7E8D9A}"/>
                  </a:ext>
                </a:extLst>
              </p:cNvPr>
              <p:cNvSpPr/>
              <p:nvPr/>
            </p:nvSpPr>
            <p:spPr>
              <a:xfrm>
                <a:off x="3069463" y="45152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a:extLst>
                  <a:ext uri="{FF2B5EF4-FFF2-40B4-BE49-F238E27FC236}">
                    <a16:creationId xmlns:a16="http://schemas.microsoft.com/office/drawing/2014/main" id="{D4049327-F269-D1EC-A192-3B9639A0FFB1}"/>
                  </a:ext>
                </a:extLst>
              </p:cNvPr>
              <p:cNvSpPr/>
              <p:nvPr/>
            </p:nvSpPr>
            <p:spPr>
              <a:xfrm>
                <a:off x="3069463" y="46549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a:extLst>
                  <a:ext uri="{FF2B5EF4-FFF2-40B4-BE49-F238E27FC236}">
                    <a16:creationId xmlns:a16="http://schemas.microsoft.com/office/drawing/2014/main" id="{55E401CB-AF65-2E40-C3ED-10D1FA6F07E1}"/>
                  </a:ext>
                </a:extLst>
              </p:cNvPr>
              <p:cNvSpPr/>
              <p:nvPr/>
            </p:nvSpPr>
            <p:spPr>
              <a:xfrm>
                <a:off x="3069463" y="4794628"/>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0" name="object 40">
              <a:extLst>
                <a:ext uri="{FF2B5EF4-FFF2-40B4-BE49-F238E27FC236}">
                  <a16:creationId xmlns:a16="http://schemas.microsoft.com/office/drawing/2014/main" id="{09F6F541-B9FA-A687-5833-7735DB1ED424}"/>
                </a:ext>
              </a:extLst>
            </p:cNvPr>
            <p:cNvSpPr txBox="1"/>
            <p:nvPr/>
          </p:nvSpPr>
          <p:spPr>
            <a:xfrm>
              <a:off x="3305175" y="4019810"/>
              <a:ext cx="977265" cy="1422400"/>
            </a:xfrm>
            <a:prstGeom prst="rect">
              <a:avLst/>
            </a:prstGeom>
          </p:spPr>
          <p:txBody>
            <a:bodyPr vert="horz" wrap="square" lIns="0" tIns="30480" rIns="0" bIns="0" rtlCol="0">
              <a:spAutoFit/>
            </a:bodyPr>
            <a:lstStyle/>
            <a:p>
              <a:pPr marL="12700" marR="0" lvl="0" indent="0"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25" normalizeH="0" baseline="0" noProof="0">
                  <a:ln>
                    <a:noFill/>
                  </a:ln>
                  <a:solidFill>
                    <a:srgbClr val="142764"/>
                  </a:solidFill>
                  <a:effectLst/>
                  <a:uLnTx/>
                  <a:uFillTx/>
                  <a:latin typeface="Zurich Sans Light"/>
                  <a:cs typeface="Zurich Sans Light"/>
                </a:rPr>
                <a:t>USA</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38354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Saudi </a:t>
              </a:r>
              <a:r>
                <a:rPr kumimoji="0" sz="800" b="0" i="0" u="none" strike="noStrike" kern="0" cap="none" spc="-10" normalizeH="0" baseline="0" noProof="0">
                  <a:ln>
                    <a:noFill/>
                  </a:ln>
                  <a:solidFill>
                    <a:srgbClr val="142764"/>
                  </a:solidFill>
                  <a:effectLst/>
                  <a:uLnTx/>
                  <a:uFillTx/>
                  <a:latin typeface="Zurich Sans Light"/>
                  <a:cs typeface="Zurich Sans Light"/>
                </a:rPr>
                <a:t>Arabia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Indonesia</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Philippines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Chile</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74675"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Peru</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Turkey</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Uruguay</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12700" marR="5080" lvl="0" indent="0" defTabSz="914400" eaLnBrk="1" fontAlgn="auto" latinLnBrk="0" hangingPunct="1">
                <a:lnSpc>
                  <a:spcPct val="114599"/>
                </a:lnSpc>
                <a:spcBef>
                  <a:spcPts val="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United Arab </a:t>
              </a:r>
              <a:r>
                <a:rPr kumimoji="0" sz="800" b="0" i="0" u="none" strike="noStrike" kern="0" cap="none" spc="-10" normalizeH="0" baseline="0" noProof="0">
                  <a:ln>
                    <a:noFill/>
                  </a:ln>
                  <a:solidFill>
                    <a:srgbClr val="142764"/>
                  </a:solidFill>
                  <a:effectLst/>
                  <a:uLnTx/>
                  <a:uFillTx/>
                  <a:latin typeface="Zurich Sans Light"/>
                  <a:cs typeface="Zurich Sans Light"/>
                </a:rPr>
                <a:t>Emirates</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10" normalizeH="0" baseline="0" noProof="0">
                  <a:ln>
                    <a:noFill/>
                  </a:ln>
                  <a:solidFill>
                    <a:srgbClr val="142764"/>
                  </a:solidFill>
                  <a:effectLst/>
                  <a:uLnTx/>
                  <a:uFillTx/>
                  <a:latin typeface="Zurich Sans Light"/>
                  <a:cs typeface="Zurich Sans Light"/>
                </a:rPr>
                <a:t>Other</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1" name="object 41">
              <a:extLst>
                <a:ext uri="{FF2B5EF4-FFF2-40B4-BE49-F238E27FC236}">
                  <a16:creationId xmlns:a16="http://schemas.microsoft.com/office/drawing/2014/main" id="{A54071D5-40B5-D349-ED9D-FA22DB04A7B9}"/>
                </a:ext>
              </a:extLst>
            </p:cNvPr>
            <p:cNvSpPr txBox="1"/>
            <p:nvPr/>
          </p:nvSpPr>
          <p:spPr>
            <a:xfrm>
              <a:off x="5096383" y="4019810"/>
              <a:ext cx="356235" cy="1422400"/>
            </a:xfrm>
            <a:prstGeom prst="rect">
              <a:avLst/>
            </a:prstGeom>
          </p:spPr>
          <p:txBody>
            <a:bodyPr vert="horz" wrap="square" lIns="0" tIns="30480" rIns="0" bIns="0" rtlCol="0">
              <a:spAutoFit/>
            </a:bodyPr>
            <a:lstStyle/>
            <a:p>
              <a:pPr marL="0" marR="5080" lvl="0" indent="0" algn="r" defTabSz="914400" eaLnBrk="1" fontAlgn="auto" latinLnBrk="0" hangingPunct="1">
                <a:lnSpc>
                  <a:spcPct val="100000"/>
                </a:lnSpc>
                <a:spcBef>
                  <a:spcPts val="2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10.30%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9.50%</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6.32%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6.18%</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20" normalizeH="0" baseline="0" noProof="0">
                  <a:ln>
                    <a:noFill/>
                  </a:ln>
                  <a:solidFill>
                    <a:srgbClr val="142764"/>
                  </a:solidFill>
                  <a:effectLst/>
                  <a:uLnTx/>
                  <a:uFillTx/>
                  <a:latin typeface="Zurich Sans Light"/>
                  <a:cs typeface="Zurich Sans Light"/>
                </a:rPr>
                <a:t>4.97%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4.12%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3.97%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3.67%</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3.55%</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5080" lvl="0" indent="0" algn="r" defTabSz="914400" eaLnBrk="1" fontAlgn="auto" latinLnBrk="0" hangingPunct="1">
                <a:lnSpc>
                  <a:spcPct val="100000"/>
                </a:lnSpc>
                <a:spcBef>
                  <a:spcPts val="14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48.42%</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42" name="object 42">
              <a:extLst>
                <a:ext uri="{FF2B5EF4-FFF2-40B4-BE49-F238E27FC236}">
                  <a16:creationId xmlns:a16="http://schemas.microsoft.com/office/drawing/2014/main" id="{114D543F-7773-4D9F-7450-27A2CA5A61CA}"/>
                </a:ext>
              </a:extLst>
            </p:cNvPr>
            <p:cNvSpPr txBox="1"/>
            <p:nvPr/>
          </p:nvSpPr>
          <p:spPr>
            <a:xfrm>
              <a:off x="3029324" y="3818512"/>
              <a:ext cx="2452370" cy="189796"/>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50" b="1" i="0" u="none" strike="noStrike" kern="0" cap="none" spc="0" normalizeH="0" baseline="0" noProof="0">
                  <a:ln>
                    <a:noFill/>
                  </a:ln>
                  <a:solidFill>
                    <a:srgbClr val="004E9E"/>
                  </a:solidFill>
                  <a:effectLst/>
                  <a:uLnTx/>
                  <a:uFillTx/>
                  <a:latin typeface="Zurich Sans"/>
                  <a:cs typeface="Zurich Sans"/>
                </a:rPr>
                <a:t>Geographic</a:t>
              </a:r>
              <a:r>
                <a:rPr kumimoji="0" sz="1150" b="1" i="0" u="none" strike="noStrike" kern="0" cap="none" spc="-5" normalizeH="0" baseline="0" noProof="0">
                  <a:ln>
                    <a:noFill/>
                  </a:ln>
                  <a:solidFill>
                    <a:srgbClr val="004E9E"/>
                  </a:solidFill>
                  <a:effectLst/>
                  <a:uLnTx/>
                  <a:uFillTx/>
                  <a:latin typeface="Zurich Sans"/>
                  <a:cs typeface="Zurich Sans"/>
                </a:rPr>
                <a:t> </a:t>
              </a:r>
              <a:r>
                <a:rPr kumimoji="0" sz="1150" b="1" i="0" u="none" strike="noStrike" kern="0" cap="none" spc="0" normalizeH="0" baseline="0" noProof="0">
                  <a:ln>
                    <a:noFill/>
                  </a:ln>
                  <a:solidFill>
                    <a:srgbClr val="004E9E"/>
                  </a:solidFill>
                  <a:effectLst/>
                  <a:uLnTx/>
                  <a:uFillTx/>
                  <a:latin typeface="Zurich Sans"/>
                  <a:cs typeface="Zurich Sans"/>
                </a:rPr>
                <a:t>Split</a:t>
              </a:r>
              <a:r>
                <a:rPr kumimoji="0" sz="115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(as</a:t>
              </a:r>
              <a:r>
                <a:rPr kumimoji="0" sz="900" b="1" i="0" u="none" strike="noStrike" kern="0" cap="none" spc="-5" normalizeH="0" baseline="0" noProof="0">
                  <a:ln>
                    <a:noFill/>
                  </a:ln>
                  <a:solidFill>
                    <a:srgbClr val="004E9E"/>
                  </a:solidFill>
                  <a:effectLst/>
                  <a:uLnTx/>
                  <a:uFillTx/>
                  <a:latin typeface="Zurich Sans"/>
                  <a:cs typeface="Zurich Sans"/>
                </a:rPr>
                <a:t> </a:t>
              </a:r>
              <a:r>
                <a:rPr kumimoji="0" sz="900" b="1" i="0" u="none" strike="noStrike" kern="0" cap="none" spc="0" normalizeH="0" baseline="0" noProof="0">
                  <a:ln>
                    <a:noFill/>
                  </a:ln>
                  <a:solidFill>
                    <a:srgbClr val="004E9E"/>
                  </a:solidFill>
                  <a:effectLst/>
                  <a:uLnTx/>
                  <a:uFillTx/>
                  <a:latin typeface="Zurich Sans"/>
                  <a:cs typeface="Zurich Sans"/>
                </a:rPr>
                <a:t>at</a:t>
              </a:r>
              <a:r>
                <a:rPr kumimoji="0" sz="900" b="1" i="0" u="none" strike="noStrike" kern="0" cap="none" spc="-5" normalizeH="0" baseline="0" noProof="0">
                  <a:ln>
                    <a:noFill/>
                  </a:ln>
                  <a:solidFill>
                    <a:srgbClr val="004E9E"/>
                  </a:solidFill>
                  <a:effectLst/>
                  <a:uLnTx/>
                  <a:uFillTx/>
                  <a:latin typeface="Zurich Sans"/>
                  <a:cs typeface="Zurich Sans"/>
                </a:rPr>
                <a:t> </a:t>
              </a:r>
              <a:r>
                <a:rPr kumimoji="0" lang="en-GB" sz="900" b="1" i="0" u="none" strike="noStrike" kern="0" cap="none" spc="-10" normalizeH="0" baseline="0" noProof="0">
                  <a:ln>
                    <a:noFill/>
                  </a:ln>
                  <a:solidFill>
                    <a:srgbClr val="004E9E"/>
                  </a:solidFill>
                  <a:effectLst/>
                  <a:uLnTx/>
                  <a:uFillTx/>
                  <a:latin typeface="Zurich Sans"/>
                  <a:cs typeface="Zurich Sans"/>
                </a:rPr>
                <a:t>28</a:t>
              </a:r>
              <a:r>
                <a:rPr kumimoji="0" sz="900" b="1" i="0" u="none" strike="noStrike" kern="0" cap="none" spc="-10" normalizeH="0" baseline="0" noProof="0">
                  <a:ln>
                    <a:noFill/>
                  </a:ln>
                  <a:solidFill>
                    <a:srgbClr val="004E9E"/>
                  </a:solidFill>
                  <a:effectLst/>
                  <a:uLnTx/>
                  <a:uFillTx/>
                  <a:latin typeface="Zurich Sans"/>
                  <a:cs typeface="Zurich Sans"/>
                </a:rPr>
                <a:t>/</a:t>
              </a:r>
              <a:r>
                <a:rPr kumimoji="0" lang="en-GB" sz="900" b="1" i="0" u="none" strike="noStrike" kern="0" cap="none" spc="-10" normalizeH="0" baseline="0" noProof="0">
                  <a:ln>
                    <a:noFill/>
                  </a:ln>
                  <a:solidFill>
                    <a:srgbClr val="004E9E"/>
                  </a:solidFill>
                  <a:effectLst/>
                  <a:uLnTx/>
                  <a:uFillTx/>
                  <a:latin typeface="Zurich Sans"/>
                  <a:cs typeface="Zurich Sans"/>
                </a:rPr>
                <a:t>02</a:t>
              </a:r>
              <a:r>
                <a:rPr kumimoji="0" sz="900" b="1" i="0" u="none" strike="noStrike" kern="0" cap="none" spc="-10" normalizeH="0" baseline="0" noProof="0">
                  <a:ln>
                    <a:noFill/>
                  </a:ln>
                  <a:solidFill>
                    <a:srgbClr val="004E9E"/>
                  </a:solidFill>
                  <a:effectLst/>
                  <a:uLnTx/>
                  <a:uFillTx/>
                  <a:latin typeface="Zurich Sans"/>
                  <a:cs typeface="Zurich Sans"/>
                </a:rPr>
                <a:t>/202</a:t>
              </a:r>
              <a:r>
                <a:rPr kumimoji="0" lang="en-GB" sz="900" b="1" i="0" u="none" strike="noStrike" kern="0" cap="none" spc="-10" normalizeH="0" baseline="0" noProof="0">
                  <a:ln>
                    <a:noFill/>
                  </a:ln>
                  <a:solidFill>
                    <a:srgbClr val="004E9E"/>
                  </a:solidFill>
                  <a:effectLst/>
                  <a:uLnTx/>
                  <a:uFillTx/>
                  <a:latin typeface="Zurich Sans"/>
                  <a:cs typeface="Zurich Sans"/>
                </a:rPr>
                <a:t>5</a:t>
              </a:r>
              <a:r>
                <a:rPr kumimoji="0" sz="900" b="1" i="0" u="none" strike="noStrike" kern="0" cap="none" spc="-10" normalizeH="0" baseline="0" noProof="0">
                  <a:ln>
                    <a:noFill/>
                  </a:ln>
                  <a:solidFill>
                    <a:srgbClr val="004E9E"/>
                  </a:solidFill>
                  <a:effectLst/>
                  <a:uLnTx/>
                  <a:uFillTx/>
                  <a:latin typeface="Zurich Sans"/>
                  <a:cs typeface="Zurich Sans"/>
                </a:rPr>
                <a:t>)</a:t>
              </a:r>
              <a:endParaRPr kumimoji="0" sz="900" b="0" i="0" u="none" strike="noStrike" kern="0" cap="none" spc="0" normalizeH="0" baseline="0" noProof="0">
                <a:ln>
                  <a:noFill/>
                </a:ln>
                <a:solidFill>
                  <a:sysClr val="windowText" lastClr="000000"/>
                </a:solidFill>
                <a:effectLst/>
                <a:uLnTx/>
                <a:uFillTx/>
                <a:latin typeface="Zurich Sans"/>
                <a:cs typeface="Zurich Sans"/>
              </a:endParaRPr>
            </a:p>
          </p:txBody>
        </p:sp>
        <p:grpSp>
          <p:nvGrpSpPr>
            <p:cNvPr id="73" name="object 73">
              <a:extLst>
                <a:ext uri="{FF2B5EF4-FFF2-40B4-BE49-F238E27FC236}">
                  <a16:creationId xmlns:a16="http://schemas.microsoft.com/office/drawing/2014/main" id="{39FB7F6F-A450-5A77-A7F7-04BE6D5BA537}"/>
                </a:ext>
              </a:extLst>
            </p:cNvPr>
            <p:cNvGrpSpPr/>
            <p:nvPr/>
          </p:nvGrpSpPr>
          <p:grpSpPr>
            <a:xfrm>
              <a:off x="5634435" y="3962590"/>
              <a:ext cx="1466850" cy="1466850"/>
              <a:chOff x="5634435" y="3436680"/>
              <a:chExt cx="1466850" cy="1466850"/>
            </a:xfrm>
          </p:grpSpPr>
          <p:sp>
            <p:nvSpPr>
              <p:cNvPr id="74" name="object 74">
                <a:extLst>
                  <a:ext uri="{FF2B5EF4-FFF2-40B4-BE49-F238E27FC236}">
                    <a16:creationId xmlns:a16="http://schemas.microsoft.com/office/drawing/2014/main" id="{943733D4-8B4E-C918-BE30-882BB2FBA3A6}"/>
                  </a:ext>
                </a:extLst>
              </p:cNvPr>
              <p:cNvSpPr/>
              <p:nvPr/>
            </p:nvSpPr>
            <p:spPr>
              <a:xfrm>
                <a:off x="6367779" y="3441443"/>
                <a:ext cx="435609" cy="436880"/>
              </a:xfrm>
              <a:custGeom>
                <a:avLst/>
                <a:gdLst/>
                <a:ahLst/>
                <a:cxnLst/>
                <a:rect l="l" t="t" r="r" b="b"/>
                <a:pathLst>
                  <a:path w="435609" h="436879">
                    <a:moveTo>
                      <a:pt x="0" y="0"/>
                    </a:moveTo>
                    <a:lnTo>
                      <a:pt x="0" y="364362"/>
                    </a:lnTo>
                    <a:lnTo>
                      <a:pt x="46742" y="367365"/>
                    </a:lnTo>
                    <a:lnTo>
                      <a:pt x="92423" y="376250"/>
                    </a:lnTo>
                    <a:lnTo>
                      <a:pt x="136501" y="390834"/>
                    </a:lnTo>
                    <a:lnTo>
                      <a:pt x="178433" y="410936"/>
                    </a:lnTo>
                    <a:lnTo>
                      <a:pt x="217677" y="436372"/>
                    </a:lnTo>
                    <a:lnTo>
                      <a:pt x="435228" y="144145"/>
                    </a:lnTo>
                    <a:lnTo>
                      <a:pt x="392315" y="114550"/>
                    </a:lnTo>
                    <a:lnTo>
                      <a:pt x="347603" y="88206"/>
                    </a:lnTo>
                    <a:lnTo>
                      <a:pt x="301281" y="65174"/>
                    </a:lnTo>
                    <a:lnTo>
                      <a:pt x="253535" y="45517"/>
                    </a:lnTo>
                    <a:lnTo>
                      <a:pt x="204553" y="29295"/>
                    </a:lnTo>
                    <a:lnTo>
                      <a:pt x="154521" y="16571"/>
                    </a:lnTo>
                    <a:lnTo>
                      <a:pt x="103627" y="7406"/>
                    </a:lnTo>
                    <a:lnTo>
                      <a:pt x="52057" y="1861"/>
                    </a:lnTo>
                    <a:lnTo>
                      <a:pt x="0" y="0"/>
                    </a:lnTo>
                    <a:close/>
                  </a:path>
                </a:pathLst>
              </a:custGeom>
              <a:solidFill>
                <a:srgbClr val="2066A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5">
                <a:extLst>
                  <a:ext uri="{FF2B5EF4-FFF2-40B4-BE49-F238E27FC236}">
                    <a16:creationId xmlns:a16="http://schemas.microsoft.com/office/drawing/2014/main" id="{CE222F43-4380-62E1-A63E-9C614E7670B0}"/>
                  </a:ext>
                </a:extLst>
              </p:cNvPr>
              <p:cNvSpPr/>
              <p:nvPr/>
            </p:nvSpPr>
            <p:spPr>
              <a:xfrm>
                <a:off x="6585711" y="3585969"/>
                <a:ext cx="469265" cy="462915"/>
              </a:xfrm>
              <a:custGeom>
                <a:avLst/>
                <a:gdLst/>
                <a:ahLst/>
                <a:cxnLst/>
                <a:rect l="l" t="t" r="r" b="b"/>
                <a:pathLst>
                  <a:path w="469265" h="462914">
                    <a:moveTo>
                      <a:pt x="217805" y="0"/>
                    </a:moveTo>
                    <a:lnTo>
                      <a:pt x="0" y="292100"/>
                    </a:lnTo>
                    <a:lnTo>
                      <a:pt x="40683" y="327394"/>
                    </a:lnTo>
                    <a:lnTo>
                      <a:pt x="75533" y="368046"/>
                    </a:lnTo>
                    <a:lnTo>
                      <a:pt x="104048" y="413365"/>
                    </a:lnTo>
                    <a:lnTo>
                      <a:pt x="125730" y="462660"/>
                    </a:lnTo>
                    <a:lnTo>
                      <a:pt x="469138" y="341122"/>
                    </a:lnTo>
                    <a:lnTo>
                      <a:pt x="451650" y="296443"/>
                    </a:lnTo>
                    <a:lnTo>
                      <a:pt x="431339" y="253168"/>
                    </a:lnTo>
                    <a:lnTo>
                      <a:pt x="408295" y="211422"/>
                    </a:lnTo>
                    <a:lnTo>
                      <a:pt x="382611" y="171328"/>
                    </a:lnTo>
                    <a:lnTo>
                      <a:pt x="354378" y="133010"/>
                    </a:lnTo>
                    <a:lnTo>
                      <a:pt x="323690" y="96595"/>
                    </a:lnTo>
                    <a:lnTo>
                      <a:pt x="290636" y="62205"/>
                    </a:lnTo>
                    <a:lnTo>
                      <a:pt x="255311" y="29965"/>
                    </a:lnTo>
                    <a:lnTo>
                      <a:pt x="217805" y="0"/>
                    </a:lnTo>
                    <a:close/>
                  </a:path>
                </a:pathLst>
              </a:custGeom>
              <a:solidFill>
                <a:srgbClr val="2235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6">
                <a:extLst>
                  <a:ext uri="{FF2B5EF4-FFF2-40B4-BE49-F238E27FC236}">
                    <a16:creationId xmlns:a16="http://schemas.microsoft.com/office/drawing/2014/main" id="{8AEB6A6D-6F8F-4F38-E95D-0DDF98A663BA}"/>
                  </a:ext>
                </a:extLst>
              </p:cNvPr>
              <p:cNvSpPr/>
              <p:nvPr/>
            </p:nvSpPr>
            <p:spPr>
              <a:xfrm>
                <a:off x="6585711" y="3585969"/>
                <a:ext cx="469265" cy="462915"/>
              </a:xfrm>
              <a:custGeom>
                <a:avLst/>
                <a:gdLst/>
                <a:ahLst/>
                <a:cxnLst/>
                <a:rect l="l" t="t" r="r" b="b"/>
                <a:pathLst>
                  <a:path w="469265" h="462914">
                    <a:moveTo>
                      <a:pt x="217805" y="0"/>
                    </a:moveTo>
                    <a:lnTo>
                      <a:pt x="255311" y="29965"/>
                    </a:lnTo>
                    <a:lnTo>
                      <a:pt x="290636" y="62205"/>
                    </a:lnTo>
                    <a:lnTo>
                      <a:pt x="323690" y="96595"/>
                    </a:lnTo>
                    <a:lnTo>
                      <a:pt x="354378" y="133010"/>
                    </a:lnTo>
                    <a:lnTo>
                      <a:pt x="382611" y="171328"/>
                    </a:lnTo>
                    <a:lnTo>
                      <a:pt x="408295" y="211422"/>
                    </a:lnTo>
                    <a:lnTo>
                      <a:pt x="431339" y="253168"/>
                    </a:lnTo>
                    <a:lnTo>
                      <a:pt x="451650" y="296443"/>
                    </a:lnTo>
                    <a:lnTo>
                      <a:pt x="469138" y="341122"/>
                    </a:lnTo>
                    <a:lnTo>
                      <a:pt x="463772" y="343021"/>
                    </a:lnTo>
                    <a:lnTo>
                      <a:pt x="426212" y="356314"/>
                    </a:lnTo>
                    <a:lnTo>
                      <a:pt x="324262" y="392396"/>
                    </a:lnTo>
                    <a:lnTo>
                      <a:pt x="125730" y="462660"/>
                    </a:lnTo>
                    <a:lnTo>
                      <a:pt x="104048" y="413365"/>
                    </a:lnTo>
                    <a:lnTo>
                      <a:pt x="75533" y="368046"/>
                    </a:lnTo>
                    <a:lnTo>
                      <a:pt x="40683" y="327394"/>
                    </a:lnTo>
                    <a:lnTo>
                      <a:pt x="0" y="292100"/>
                    </a:lnTo>
                    <a:lnTo>
                      <a:pt x="217805" y="0"/>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a:extLst>
                  <a:ext uri="{FF2B5EF4-FFF2-40B4-BE49-F238E27FC236}">
                    <a16:creationId xmlns:a16="http://schemas.microsoft.com/office/drawing/2014/main" id="{F65460C7-73EF-1F99-4324-5ED0F4CD0750}"/>
                  </a:ext>
                </a:extLst>
              </p:cNvPr>
              <p:cNvSpPr/>
              <p:nvPr/>
            </p:nvSpPr>
            <p:spPr>
              <a:xfrm>
                <a:off x="6711568" y="3927726"/>
                <a:ext cx="385445" cy="281305"/>
              </a:xfrm>
              <a:custGeom>
                <a:avLst/>
                <a:gdLst/>
                <a:ahLst/>
                <a:cxnLst/>
                <a:rect l="l" t="t" r="r" b="b"/>
                <a:pathLst>
                  <a:path w="385445" h="281304">
                    <a:moveTo>
                      <a:pt x="343534" y="0"/>
                    </a:moveTo>
                    <a:lnTo>
                      <a:pt x="0" y="121157"/>
                    </a:lnTo>
                    <a:lnTo>
                      <a:pt x="10209" y="155428"/>
                    </a:lnTo>
                    <a:lnTo>
                      <a:pt x="17002" y="190436"/>
                    </a:lnTo>
                    <a:lnTo>
                      <a:pt x="20341" y="225921"/>
                    </a:lnTo>
                    <a:lnTo>
                      <a:pt x="20192" y="261620"/>
                    </a:lnTo>
                    <a:lnTo>
                      <a:pt x="383921" y="280924"/>
                    </a:lnTo>
                    <a:lnTo>
                      <a:pt x="384898" y="233259"/>
                    </a:lnTo>
                    <a:lnTo>
                      <a:pt x="382763" y="185739"/>
                    </a:lnTo>
                    <a:lnTo>
                      <a:pt x="377539" y="138509"/>
                    </a:lnTo>
                    <a:lnTo>
                      <a:pt x="369245" y="91712"/>
                    </a:lnTo>
                    <a:lnTo>
                      <a:pt x="357903" y="45494"/>
                    </a:lnTo>
                    <a:lnTo>
                      <a:pt x="343534" y="0"/>
                    </a:lnTo>
                    <a:close/>
                  </a:path>
                </a:pathLst>
              </a:custGeom>
              <a:solidFill>
                <a:srgbClr val="5394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8">
                <a:extLst>
                  <a:ext uri="{FF2B5EF4-FFF2-40B4-BE49-F238E27FC236}">
                    <a16:creationId xmlns:a16="http://schemas.microsoft.com/office/drawing/2014/main" id="{C58B2616-9529-B0D6-32F1-B719893D778C}"/>
                  </a:ext>
                </a:extLst>
              </p:cNvPr>
              <p:cNvSpPr/>
              <p:nvPr/>
            </p:nvSpPr>
            <p:spPr>
              <a:xfrm>
                <a:off x="6711568" y="3927726"/>
                <a:ext cx="385445" cy="281305"/>
              </a:xfrm>
              <a:custGeom>
                <a:avLst/>
                <a:gdLst/>
                <a:ahLst/>
                <a:cxnLst/>
                <a:rect l="l" t="t" r="r" b="b"/>
                <a:pathLst>
                  <a:path w="385445" h="281304">
                    <a:moveTo>
                      <a:pt x="343534" y="0"/>
                    </a:moveTo>
                    <a:lnTo>
                      <a:pt x="357903" y="45494"/>
                    </a:lnTo>
                    <a:lnTo>
                      <a:pt x="369245" y="91712"/>
                    </a:lnTo>
                    <a:lnTo>
                      <a:pt x="377539" y="138509"/>
                    </a:lnTo>
                    <a:lnTo>
                      <a:pt x="382763" y="185739"/>
                    </a:lnTo>
                    <a:lnTo>
                      <a:pt x="384898" y="233259"/>
                    </a:lnTo>
                    <a:lnTo>
                      <a:pt x="383921" y="280924"/>
                    </a:lnTo>
                    <a:lnTo>
                      <a:pt x="378237" y="280622"/>
                    </a:lnTo>
                    <a:lnTo>
                      <a:pt x="338454" y="278511"/>
                    </a:lnTo>
                    <a:lnTo>
                      <a:pt x="230473" y="272780"/>
                    </a:lnTo>
                    <a:lnTo>
                      <a:pt x="20192" y="261620"/>
                    </a:lnTo>
                    <a:lnTo>
                      <a:pt x="20341" y="225921"/>
                    </a:lnTo>
                    <a:lnTo>
                      <a:pt x="17002" y="190436"/>
                    </a:lnTo>
                    <a:lnTo>
                      <a:pt x="10209" y="155428"/>
                    </a:lnTo>
                    <a:lnTo>
                      <a:pt x="0" y="121157"/>
                    </a:lnTo>
                    <a:lnTo>
                      <a:pt x="343534" y="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9">
                <a:extLst>
                  <a:ext uri="{FF2B5EF4-FFF2-40B4-BE49-F238E27FC236}">
                    <a16:creationId xmlns:a16="http://schemas.microsoft.com/office/drawing/2014/main" id="{AB8D705D-41BA-4D60-64F2-1CFA238A68D0}"/>
                  </a:ext>
                </a:extLst>
              </p:cNvPr>
              <p:cNvSpPr/>
              <p:nvPr/>
            </p:nvSpPr>
            <p:spPr>
              <a:xfrm>
                <a:off x="6697852" y="4189727"/>
                <a:ext cx="398145" cy="289560"/>
              </a:xfrm>
              <a:custGeom>
                <a:avLst/>
                <a:gdLst/>
                <a:ahLst/>
                <a:cxnLst/>
                <a:rect l="l" t="t" r="r" b="b"/>
                <a:pathLst>
                  <a:path w="398145" h="289560">
                    <a:moveTo>
                      <a:pt x="33908" y="0"/>
                    </a:moveTo>
                    <a:lnTo>
                      <a:pt x="30325" y="34843"/>
                    </a:lnTo>
                    <a:lnTo>
                      <a:pt x="23431" y="69103"/>
                    </a:lnTo>
                    <a:lnTo>
                      <a:pt x="13299" y="102530"/>
                    </a:lnTo>
                    <a:lnTo>
                      <a:pt x="0" y="134874"/>
                    </a:lnTo>
                    <a:lnTo>
                      <a:pt x="329946" y="289433"/>
                    </a:lnTo>
                    <a:lnTo>
                      <a:pt x="348365" y="246529"/>
                    </a:lnTo>
                    <a:lnTo>
                      <a:pt x="363977" y="202621"/>
                    </a:lnTo>
                    <a:lnTo>
                      <a:pt x="376745" y="157845"/>
                    </a:lnTo>
                    <a:lnTo>
                      <a:pt x="386635" y="112338"/>
                    </a:lnTo>
                    <a:lnTo>
                      <a:pt x="393610" y="66239"/>
                    </a:lnTo>
                    <a:lnTo>
                      <a:pt x="397637" y="19685"/>
                    </a:lnTo>
                    <a:lnTo>
                      <a:pt x="33908" y="0"/>
                    </a:lnTo>
                    <a:close/>
                  </a:path>
                </a:pathLst>
              </a:custGeom>
              <a:solidFill>
                <a:srgbClr val="91BF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a:extLst>
                  <a:ext uri="{FF2B5EF4-FFF2-40B4-BE49-F238E27FC236}">
                    <a16:creationId xmlns:a16="http://schemas.microsoft.com/office/drawing/2014/main" id="{DBD59FA1-2A28-78FB-63E8-97EFD6A15EEE}"/>
                  </a:ext>
                </a:extLst>
              </p:cNvPr>
              <p:cNvSpPr/>
              <p:nvPr/>
            </p:nvSpPr>
            <p:spPr>
              <a:xfrm>
                <a:off x="6697852" y="4189727"/>
                <a:ext cx="398145" cy="289560"/>
              </a:xfrm>
              <a:custGeom>
                <a:avLst/>
                <a:gdLst/>
                <a:ahLst/>
                <a:cxnLst/>
                <a:rect l="l" t="t" r="r" b="b"/>
                <a:pathLst>
                  <a:path w="398145" h="289560">
                    <a:moveTo>
                      <a:pt x="397637" y="19685"/>
                    </a:moveTo>
                    <a:lnTo>
                      <a:pt x="393610" y="66239"/>
                    </a:lnTo>
                    <a:lnTo>
                      <a:pt x="386635" y="112338"/>
                    </a:lnTo>
                    <a:lnTo>
                      <a:pt x="376745" y="157845"/>
                    </a:lnTo>
                    <a:lnTo>
                      <a:pt x="363977" y="202621"/>
                    </a:lnTo>
                    <a:lnTo>
                      <a:pt x="348365" y="246529"/>
                    </a:lnTo>
                    <a:lnTo>
                      <a:pt x="329946" y="289433"/>
                    </a:lnTo>
                    <a:lnTo>
                      <a:pt x="324790" y="287018"/>
                    </a:lnTo>
                    <a:lnTo>
                      <a:pt x="288702" y="270113"/>
                    </a:lnTo>
                    <a:lnTo>
                      <a:pt x="190750" y="224228"/>
                    </a:lnTo>
                    <a:lnTo>
                      <a:pt x="0" y="134874"/>
                    </a:lnTo>
                    <a:lnTo>
                      <a:pt x="13299" y="102530"/>
                    </a:lnTo>
                    <a:lnTo>
                      <a:pt x="23431" y="69103"/>
                    </a:lnTo>
                    <a:lnTo>
                      <a:pt x="30325" y="34843"/>
                    </a:lnTo>
                    <a:lnTo>
                      <a:pt x="33908" y="0"/>
                    </a:lnTo>
                    <a:lnTo>
                      <a:pt x="397637" y="19685"/>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a:extLst>
                  <a:ext uri="{FF2B5EF4-FFF2-40B4-BE49-F238E27FC236}">
                    <a16:creationId xmlns:a16="http://schemas.microsoft.com/office/drawing/2014/main" id="{F3806A2A-82D4-97A7-1B26-510BE960EC65}"/>
                  </a:ext>
                </a:extLst>
              </p:cNvPr>
              <p:cNvSpPr/>
              <p:nvPr/>
            </p:nvSpPr>
            <p:spPr>
              <a:xfrm>
                <a:off x="6635241" y="4324982"/>
                <a:ext cx="392430" cy="340360"/>
              </a:xfrm>
              <a:custGeom>
                <a:avLst/>
                <a:gdLst/>
                <a:ahLst/>
                <a:cxnLst/>
                <a:rect l="l" t="t" r="r" b="b"/>
                <a:pathLst>
                  <a:path w="392429" h="340360">
                    <a:moveTo>
                      <a:pt x="62483" y="0"/>
                    </a:moveTo>
                    <a:lnTo>
                      <a:pt x="49541" y="24915"/>
                    </a:lnTo>
                    <a:lnTo>
                      <a:pt x="34766" y="48736"/>
                    </a:lnTo>
                    <a:lnTo>
                      <a:pt x="18228" y="71366"/>
                    </a:lnTo>
                    <a:lnTo>
                      <a:pt x="0" y="92709"/>
                    </a:lnTo>
                    <a:lnTo>
                      <a:pt x="267334" y="340232"/>
                    </a:lnTo>
                    <a:lnTo>
                      <a:pt x="303861" y="297598"/>
                    </a:lnTo>
                    <a:lnTo>
                      <a:pt x="336946" y="252333"/>
                    </a:lnTo>
                    <a:lnTo>
                      <a:pt x="366436" y="204662"/>
                    </a:lnTo>
                    <a:lnTo>
                      <a:pt x="392175" y="154812"/>
                    </a:lnTo>
                    <a:lnTo>
                      <a:pt x="62483" y="0"/>
                    </a:lnTo>
                    <a:close/>
                  </a:path>
                </a:pathLst>
              </a:custGeom>
              <a:solidFill>
                <a:srgbClr val="1FB1E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82">
                <a:extLst>
                  <a:ext uri="{FF2B5EF4-FFF2-40B4-BE49-F238E27FC236}">
                    <a16:creationId xmlns:a16="http://schemas.microsoft.com/office/drawing/2014/main" id="{4D76B1FB-9E83-7422-2E84-8E2A5BB26FD8}"/>
                  </a:ext>
                </a:extLst>
              </p:cNvPr>
              <p:cNvSpPr/>
              <p:nvPr/>
            </p:nvSpPr>
            <p:spPr>
              <a:xfrm>
                <a:off x="6635241" y="4324982"/>
                <a:ext cx="392430" cy="340360"/>
              </a:xfrm>
              <a:custGeom>
                <a:avLst/>
                <a:gdLst/>
                <a:ahLst/>
                <a:cxnLst/>
                <a:rect l="l" t="t" r="r" b="b"/>
                <a:pathLst>
                  <a:path w="392429" h="340360">
                    <a:moveTo>
                      <a:pt x="392175" y="154812"/>
                    </a:moveTo>
                    <a:lnTo>
                      <a:pt x="366436" y="204662"/>
                    </a:lnTo>
                    <a:lnTo>
                      <a:pt x="336946" y="252333"/>
                    </a:lnTo>
                    <a:lnTo>
                      <a:pt x="303861" y="297598"/>
                    </a:lnTo>
                    <a:lnTo>
                      <a:pt x="267334" y="340232"/>
                    </a:lnTo>
                    <a:lnTo>
                      <a:pt x="263157" y="336365"/>
                    </a:lnTo>
                    <a:lnTo>
                      <a:pt x="233918" y="309292"/>
                    </a:lnTo>
                    <a:lnTo>
                      <a:pt x="154553" y="235809"/>
                    </a:lnTo>
                    <a:lnTo>
                      <a:pt x="0" y="92709"/>
                    </a:lnTo>
                    <a:lnTo>
                      <a:pt x="18228" y="71366"/>
                    </a:lnTo>
                    <a:lnTo>
                      <a:pt x="34766" y="48736"/>
                    </a:lnTo>
                    <a:lnTo>
                      <a:pt x="49541" y="24915"/>
                    </a:lnTo>
                    <a:lnTo>
                      <a:pt x="62483" y="0"/>
                    </a:lnTo>
                    <a:lnTo>
                      <a:pt x="392175" y="15481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a:extLst>
                  <a:ext uri="{FF2B5EF4-FFF2-40B4-BE49-F238E27FC236}">
                    <a16:creationId xmlns:a16="http://schemas.microsoft.com/office/drawing/2014/main" id="{D63DD21F-4C42-4228-93B2-6874204472A8}"/>
                  </a:ext>
                </a:extLst>
              </p:cNvPr>
              <p:cNvSpPr/>
              <p:nvPr/>
            </p:nvSpPr>
            <p:spPr>
              <a:xfrm>
                <a:off x="6563867" y="4417946"/>
                <a:ext cx="338455" cy="367030"/>
              </a:xfrm>
              <a:custGeom>
                <a:avLst/>
                <a:gdLst/>
                <a:ahLst/>
                <a:cxnLst/>
                <a:rect l="l" t="t" r="r" b="b"/>
                <a:pathLst>
                  <a:path w="338454" h="367029">
                    <a:moveTo>
                      <a:pt x="71120" y="0"/>
                    </a:moveTo>
                    <a:lnTo>
                      <a:pt x="54792" y="16517"/>
                    </a:lnTo>
                    <a:lnTo>
                      <a:pt x="37465" y="31940"/>
                    </a:lnTo>
                    <a:lnTo>
                      <a:pt x="19184" y="46220"/>
                    </a:lnTo>
                    <a:lnTo>
                      <a:pt x="0" y="59308"/>
                    </a:lnTo>
                    <a:lnTo>
                      <a:pt x="195960" y="366521"/>
                    </a:lnTo>
                    <a:lnTo>
                      <a:pt x="234277" y="340270"/>
                    </a:lnTo>
                    <a:lnTo>
                      <a:pt x="270843" y="311673"/>
                    </a:lnTo>
                    <a:lnTo>
                      <a:pt x="305528" y="280814"/>
                    </a:lnTo>
                    <a:lnTo>
                      <a:pt x="338200" y="247776"/>
                    </a:lnTo>
                    <a:lnTo>
                      <a:pt x="71120" y="0"/>
                    </a:lnTo>
                    <a:close/>
                  </a:path>
                </a:pathLst>
              </a:custGeom>
              <a:solidFill>
                <a:srgbClr val="D9D2B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84">
                <a:extLst>
                  <a:ext uri="{FF2B5EF4-FFF2-40B4-BE49-F238E27FC236}">
                    <a16:creationId xmlns:a16="http://schemas.microsoft.com/office/drawing/2014/main" id="{64BAC3EB-031C-1BC5-D17F-849DEDA3A867}"/>
                  </a:ext>
                </a:extLst>
              </p:cNvPr>
              <p:cNvSpPr/>
              <p:nvPr/>
            </p:nvSpPr>
            <p:spPr>
              <a:xfrm>
                <a:off x="6563867" y="4417946"/>
                <a:ext cx="338455" cy="367030"/>
              </a:xfrm>
              <a:custGeom>
                <a:avLst/>
                <a:gdLst/>
                <a:ahLst/>
                <a:cxnLst/>
                <a:rect l="l" t="t" r="r" b="b"/>
                <a:pathLst>
                  <a:path w="338454" h="367029">
                    <a:moveTo>
                      <a:pt x="338200" y="247776"/>
                    </a:moveTo>
                    <a:lnTo>
                      <a:pt x="305528" y="280814"/>
                    </a:lnTo>
                    <a:lnTo>
                      <a:pt x="270843" y="311673"/>
                    </a:lnTo>
                    <a:lnTo>
                      <a:pt x="234277" y="340270"/>
                    </a:lnTo>
                    <a:lnTo>
                      <a:pt x="195960" y="366521"/>
                    </a:lnTo>
                    <a:lnTo>
                      <a:pt x="192899" y="361721"/>
                    </a:lnTo>
                    <a:lnTo>
                      <a:pt x="171465" y="328120"/>
                    </a:lnTo>
                    <a:lnTo>
                      <a:pt x="113289" y="236916"/>
                    </a:lnTo>
                    <a:lnTo>
                      <a:pt x="0" y="59308"/>
                    </a:lnTo>
                    <a:lnTo>
                      <a:pt x="19184" y="46220"/>
                    </a:lnTo>
                    <a:lnTo>
                      <a:pt x="37465" y="31940"/>
                    </a:lnTo>
                    <a:lnTo>
                      <a:pt x="54792" y="16517"/>
                    </a:lnTo>
                    <a:lnTo>
                      <a:pt x="71120" y="0"/>
                    </a:lnTo>
                    <a:lnTo>
                      <a:pt x="338200" y="24777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a:extLst>
                  <a:ext uri="{FF2B5EF4-FFF2-40B4-BE49-F238E27FC236}">
                    <a16:creationId xmlns:a16="http://schemas.microsoft.com/office/drawing/2014/main" id="{AEAFD4D6-5ADA-F10E-AA19-FBC4365F36A6}"/>
                  </a:ext>
                </a:extLst>
              </p:cNvPr>
              <p:cNvSpPr/>
              <p:nvPr/>
            </p:nvSpPr>
            <p:spPr>
              <a:xfrm>
                <a:off x="6482841" y="4477509"/>
                <a:ext cx="276860" cy="384175"/>
              </a:xfrm>
              <a:custGeom>
                <a:avLst/>
                <a:gdLst/>
                <a:ahLst/>
                <a:cxnLst/>
                <a:rect l="l" t="t" r="r" b="b"/>
                <a:pathLst>
                  <a:path w="276859" h="384175">
                    <a:moveTo>
                      <a:pt x="80644" y="0"/>
                    </a:moveTo>
                    <a:lnTo>
                      <a:pt x="61418" y="11422"/>
                    </a:lnTo>
                    <a:lnTo>
                      <a:pt x="41513" y="21653"/>
                    </a:lnTo>
                    <a:lnTo>
                      <a:pt x="21012" y="30646"/>
                    </a:lnTo>
                    <a:lnTo>
                      <a:pt x="0" y="38353"/>
                    </a:lnTo>
                    <a:lnTo>
                      <a:pt x="114808" y="384048"/>
                    </a:lnTo>
                    <a:lnTo>
                      <a:pt x="156890" y="368651"/>
                    </a:lnTo>
                    <a:lnTo>
                      <a:pt x="197913" y="350694"/>
                    </a:lnTo>
                    <a:lnTo>
                      <a:pt x="237769" y="330237"/>
                    </a:lnTo>
                    <a:lnTo>
                      <a:pt x="276352" y="307339"/>
                    </a:lnTo>
                    <a:lnTo>
                      <a:pt x="80644" y="0"/>
                    </a:lnTo>
                    <a:close/>
                  </a:path>
                </a:pathLst>
              </a:custGeom>
              <a:solidFill>
                <a:srgbClr val="DDE4E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a:extLst>
                  <a:ext uri="{FF2B5EF4-FFF2-40B4-BE49-F238E27FC236}">
                    <a16:creationId xmlns:a16="http://schemas.microsoft.com/office/drawing/2014/main" id="{7DEB619D-87E1-D8DE-68DD-ACC75D6BF001}"/>
                  </a:ext>
                </a:extLst>
              </p:cNvPr>
              <p:cNvSpPr/>
              <p:nvPr/>
            </p:nvSpPr>
            <p:spPr>
              <a:xfrm>
                <a:off x="6482841" y="4477509"/>
                <a:ext cx="276860" cy="384175"/>
              </a:xfrm>
              <a:custGeom>
                <a:avLst/>
                <a:gdLst/>
                <a:ahLst/>
                <a:cxnLst/>
                <a:rect l="l" t="t" r="r" b="b"/>
                <a:pathLst>
                  <a:path w="276859" h="384175">
                    <a:moveTo>
                      <a:pt x="276352" y="307339"/>
                    </a:moveTo>
                    <a:lnTo>
                      <a:pt x="237769" y="330237"/>
                    </a:lnTo>
                    <a:lnTo>
                      <a:pt x="197913" y="350694"/>
                    </a:lnTo>
                    <a:lnTo>
                      <a:pt x="156890" y="368651"/>
                    </a:lnTo>
                    <a:lnTo>
                      <a:pt x="114808" y="384048"/>
                    </a:lnTo>
                    <a:lnTo>
                      <a:pt x="113014" y="378646"/>
                    </a:lnTo>
                    <a:lnTo>
                      <a:pt x="100457" y="340836"/>
                    </a:lnTo>
                    <a:lnTo>
                      <a:pt x="66373" y="238208"/>
                    </a:lnTo>
                    <a:lnTo>
                      <a:pt x="0" y="38353"/>
                    </a:lnTo>
                    <a:lnTo>
                      <a:pt x="21012" y="30646"/>
                    </a:lnTo>
                    <a:lnTo>
                      <a:pt x="41513" y="21653"/>
                    </a:lnTo>
                    <a:lnTo>
                      <a:pt x="61418" y="11422"/>
                    </a:lnTo>
                    <a:lnTo>
                      <a:pt x="80644" y="0"/>
                    </a:lnTo>
                    <a:lnTo>
                      <a:pt x="276352" y="307339"/>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7">
                <a:extLst>
                  <a:ext uri="{FF2B5EF4-FFF2-40B4-BE49-F238E27FC236}">
                    <a16:creationId xmlns:a16="http://schemas.microsoft.com/office/drawing/2014/main" id="{C5B09AF0-0B57-12DB-12FA-1CBDBA338904}"/>
                  </a:ext>
                </a:extLst>
              </p:cNvPr>
              <p:cNvSpPr/>
              <p:nvPr/>
            </p:nvSpPr>
            <p:spPr>
              <a:xfrm>
                <a:off x="6401688" y="4515990"/>
                <a:ext cx="195580" cy="379730"/>
              </a:xfrm>
              <a:custGeom>
                <a:avLst/>
                <a:gdLst/>
                <a:ahLst/>
                <a:cxnLst/>
                <a:rect l="l" t="t" r="r" b="b"/>
                <a:pathLst>
                  <a:path w="195579" h="379729">
                    <a:moveTo>
                      <a:pt x="80772" y="0"/>
                    </a:moveTo>
                    <a:lnTo>
                      <a:pt x="60971" y="5925"/>
                    </a:lnTo>
                    <a:lnTo>
                      <a:pt x="40862" y="10731"/>
                    </a:lnTo>
                    <a:lnTo>
                      <a:pt x="20514" y="14394"/>
                    </a:lnTo>
                    <a:lnTo>
                      <a:pt x="0" y="16890"/>
                    </a:lnTo>
                    <a:lnTo>
                      <a:pt x="33782" y="379602"/>
                    </a:lnTo>
                    <a:lnTo>
                      <a:pt x="74793" y="374628"/>
                    </a:lnTo>
                    <a:lnTo>
                      <a:pt x="115458" y="367331"/>
                    </a:lnTo>
                    <a:lnTo>
                      <a:pt x="155672" y="357725"/>
                    </a:lnTo>
                    <a:lnTo>
                      <a:pt x="195326" y="345821"/>
                    </a:lnTo>
                    <a:lnTo>
                      <a:pt x="80772" y="0"/>
                    </a:lnTo>
                    <a:close/>
                  </a:path>
                </a:pathLst>
              </a:custGeom>
              <a:solidFill>
                <a:srgbClr val="EBEDE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8">
                <a:extLst>
                  <a:ext uri="{FF2B5EF4-FFF2-40B4-BE49-F238E27FC236}">
                    <a16:creationId xmlns:a16="http://schemas.microsoft.com/office/drawing/2014/main" id="{D9443C8E-84EE-418D-454F-7F44D64E5CA0}"/>
                  </a:ext>
                </a:extLst>
              </p:cNvPr>
              <p:cNvSpPr/>
              <p:nvPr/>
            </p:nvSpPr>
            <p:spPr>
              <a:xfrm>
                <a:off x="6401688" y="4515990"/>
                <a:ext cx="195580" cy="379730"/>
              </a:xfrm>
              <a:custGeom>
                <a:avLst/>
                <a:gdLst/>
                <a:ahLst/>
                <a:cxnLst/>
                <a:rect l="l" t="t" r="r" b="b"/>
                <a:pathLst>
                  <a:path w="195579" h="379729">
                    <a:moveTo>
                      <a:pt x="195326" y="345821"/>
                    </a:moveTo>
                    <a:lnTo>
                      <a:pt x="155672" y="357725"/>
                    </a:lnTo>
                    <a:lnTo>
                      <a:pt x="115458" y="367331"/>
                    </a:lnTo>
                    <a:lnTo>
                      <a:pt x="74793" y="374628"/>
                    </a:lnTo>
                    <a:lnTo>
                      <a:pt x="33782" y="379602"/>
                    </a:lnTo>
                    <a:lnTo>
                      <a:pt x="33254" y="373935"/>
                    </a:lnTo>
                    <a:lnTo>
                      <a:pt x="29559" y="334263"/>
                    </a:lnTo>
                    <a:lnTo>
                      <a:pt x="19530" y="226583"/>
                    </a:lnTo>
                    <a:lnTo>
                      <a:pt x="0" y="16890"/>
                    </a:lnTo>
                    <a:lnTo>
                      <a:pt x="20514" y="14394"/>
                    </a:lnTo>
                    <a:lnTo>
                      <a:pt x="40862" y="10731"/>
                    </a:lnTo>
                    <a:lnTo>
                      <a:pt x="60971" y="5925"/>
                    </a:lnTo>
                    <a:lnTo>
                      <a:pt x="80772" y="0"/>
                    </a:lnTo>
                    <a:lnTo>
                      <a:pt x="195326" y="345821"/>
                    </a:lnTo>
                    <a:close/>
                  </a:path>
                </a:pathLst>
              </a:custGeom>
              <a:ln w="9524">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a:extLst>
                  <a:ext uri="{FF2B5EF4-FFF2-40B4-BE49-F238E27FC236}">
                    <a16:creationId xmlns:a16="http://schemas.microsoft.com/office/drawing/2014/main" id="{6B85417E-513E-1D76-4498-DC5D9DD993D6}"/>
                  </a:ext>
                </a:extLst>
              </p:cNvPr>
              <p:cNvSpPr/>
              <p:nvPr/>
            </p:nvSpPr>
            <p:spPr>
              <a:xfrm>
                <a:off x="6274688" y="4531484"/>
                <a:ext cx="160020" cy="367665"/>
              </a:xfrm>
              <a:custGeom>
                <a:avLst/>
                <a:gdLst/>
                <a:ahLst/>
                <a:cxnLst/>
                <a:rect l="l" t="t" r="r" b="b"/>
                <a:pathLst>
                  <a:path w="160020" h="367664">
                    <a:moveTo>
                      <a:pt x="46609" y="0"/>
                    </a:moveTo>
                    <a:lnTo>
                      <a:pt x="0" y="361314"/>
                    </a:lnTo>
                    <a:lnTo>
                      <a:pt x="39915" y="365343"/>
                    </a:lnTo>
                    <a:lnTo>
                      <a:pt x="79962" y="367157"/>
                    </a:lnTo>
                    <a:lnTo>
                      <a:pt x="120032" y="366779"/>
                    </a:lnTo>
                    <a:lnTo>
                      <a:pt x="160020" y="364236"/>
                    </a:lnTo>
                    <a:lnTo>
                      <a:pt x="126619" y="1396"/>
                    </a:lnTo>
                    <a:lnTo>
                      <a:pt x="106598" y="2678"/>
                    </a:lnTo>
                    <a:lnTo>
                      <a:pt x="86566" y="2889"/>
                    </a:lnTo>
                    <a:lnTo>
                      <a:pt x="66557" y="2004"/>
                    </a:lnTo>
                    <a:lnTo>
                      <a:pt x="46609" y="0"/>
                    </a:lnTo>
                    <a:close/>
                  </a:path>
                </a:pathLst>
              </a:custGeom>
              <a:solidFill>
                <a:srgbClr val="4770C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90">
                <a:extLst>
                  <a:ext uri="{FF2B5EF4-FFF2-40B4-BE49-F238E27FC236}">
                    <a16:creationId xmlns:a16="http://schemas.microsoft.com/office/drawing/2014/main" id="{95BA7E38-08B1-62DF-A69C-9DFAD0EBDCF0}"/>
                  </a:ext>
                </a:extLst>
              </p:cNvPr>
              <p:cNvSpPr/>
              <p:nvPr/>
            </p:nvSpPr>
            <p:spPr>
              <a:xfrm>
                <a:off x="6274688" y="4531484"/>
                <a:ext cx="160020" cy="367665"/>
              </a:xfrm>
              <a:custGeom>
                <a:avLst/>
                <a:gdLst/>
                <a:ahLst/>
                <a:cxnLst/>
                <a:rect l="l" t="t" r="r" b="b"/>
                <a:pathLst>
                  <a:path w="160020" h="367664">
                    <a:moveTo>
                      <a:pt x="160020" y="364236"/>
                    </a:moveTo>
                    <a:lnTo>
                      <a:pt x="120032" y="366779"/>
                    </a:lnTo>
                    <a:lnTo>
                      <a:pt x="79962" y="367157"/>
                    </a:lnTo>
                    <a:lnTo>
                      <a:pt x="39915" y="365343"/>
                    </a:lnTo>
                    <a:lnTo>
                      <a:pt x="0" y="361314"/>
                    </a:lnTo>
                    <a:lnTo>
                      <a:pt x="728" y="355669"/>
                    </a:lnTo>
                    <a:lnTo>
                      <a:pt x="5826" y="316150"/>
                    </a:lnTo>
                    <a:lnTo>
                      <a:pt x="19663" y="208885"/>
                    </a:lnTo>
                    <a:lnTo>
                      <a:pt x="46609" y="0"/>
                    </a:lnTo>
                    <a:lnTo>
                      <a:pt x="66557" y="2004"/>
                    </a:lnTo>
                    <a:lnTo>
                      <a:pt x="86566" y="2889"/>
                    </a:lnTo>
                    <a:lnTo>
                      <a:pt x="106598" y="2678"/>
                    </a:lnTo>
                    <a:lnTo>
                      <a:pt x="126619" y="1396"/>
                    </a:lnTo>
                    <a:lnTo>
                      <a:pt x="160020" y="364236"/>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91">
                <a:extLst>
                  <a:ext uri="{FF2B5EF4-FFF2-40B4-BE49-F238E27FC236}">
                    <a16:creationId xmlns:a16="http://schemas.microsoft.com/office/drawing/2014/main" id="{3F2F16D1-C422-4CAB-77B4-B7EE6D73DCB0}"/>
                  </a:ext>
                </a:extLst>
              </p:cNvPr>
              <p:cNvSpPr/>
              <p:nvPr/>
            </p:nvSpPr>
            <p:spPr>
              <a:xfrm>
                <a:off x="5639197" y="3441443"/>
                <a:ext cx="728345" cy="1451610"/>
              </a:xfrm>
              <a:custGeom>
                <a:avLst/>
                <a:gdLst/>
                <a:ahLst/>
                <a:cxnLst/>
                <a:rect l="l" t="t" r="r" b="b"/>
                <a:pathLst>
                  <a:path w="728345" h="1451610">
                    <a:moveTo>
                      <a:pt x="727693" y="0"/>
                    </a:moveTo>
                    <a:lnTo>
                      <a:pt x="680064" y="1599"/>
                    </a:lnTo>
                    <a:lnTo>
                      <a:pt x="633222" y="6210"/>
                    </a:lnTo>
                    <a:lnTo>
                      <a:pt x="587267" y="13740"/>
                    </a:lnTo>
                    <a:lnTo>
                      <a:pt x="542297" y="24095"/>
                    </a:lnTo>
                    <a:lnTo>
                      <a:pt x="498411" y="37183"/>
                    </a:lnTo>
                    <a:lnTo>
                      <a:pt x="455706" y="52913"/>
                    </a:lnTo>
                    <a:lnTo>
                      <a:pt x="414282" y="71191"/>
                    </a:lnTo>
                    <a:lnTo>
                      <a:pt x="374238" y="91924"/>
                    </a:lnTo>
                    <a:lnTo>
                      <a:pt x="335671" y="115021"/>
                    </a:lnTo>
                    <a:lnTo>
                      <a:pt x="298680" y="140388"/>
                    </a:lnTo>
                    <a:lnTo>
                      <a:pt x="263364" y="167933"/>
                    </a:lnTo>
                    <a:lnTo>
                      <a:pt x="229821" y="197564"/>
                    </a:lnTo>
                    <a:lnTo>
                      <a:pt x="198150" y="229188"/>
                    </a:lnTo>
                    <a:lnTo>
                      <a:pt x="168450" y="262712"/>
                    </a:lnTo>
                    <a:lnTo>
                      <a:pt x="140819" y="298044"/>
                    </a:lnTo>
                    <a:lnTo>
                      <a:pt x="115355" y="335091"/>
                    </a:lnTo>
                    <a:lnTo>
                      <a:pt x="92158" y="373762"/>
                    </a:lnTo>
                    <a:lnTo>
                      <a:pt x="71325" y="413962"/>
                    </a:lnTo>
                    <a:lnTo>
                      <a:pt x="52956" y="455600"/>
                    </a:lnTo>
                    <a:lnTo>
                      <a:pt x="37148" y="498583"/>
                    </a:lnTo>
                    <a:lnTo>
                      <a:pt x="24001" y="542819"/>
                    </a:lnTo>
                    <a:lnTo>
                      <a:pt x="13612" y="588215"/>
                    </a:lnTo>
                    <a:lnTo>
                      <a:pt x="6081" y="634678"/>
                    </a:lnTo>
                    <a:lnTo>
                      <a:pt x="1507" y="682116"/>
                    </a:lnTo>
                    <a:lnTo>
                      <a:pt x="0" y="729751"/>
                    </a:lnTo>
                    <a:lnTo>
                      <a:pt x="1548" y="776796"/>
                    </a:lnTo>
                    <a:lnTo>
                      <a:pt x="6067" y="823147"/>
                    </a:lnTo>
                    <a:lnTo>
                      <a:pt x="13470" y="868698"/>
                    </a:lnTo>
                    <a:lnTo>
                      <a:pt x="23671" y="913347"/>
                    </a:lnTo>
                    <a:lnTo>
                      <a:pt x="36585" y="956988"/>
                    </a:lnTo>
                    <a:lnTo>
                      <a:pt x="52124" y="999517"/>
                    </a:lnTo>
                    <a:lnTo>
                      <a:pt x="70204" y="1040830"/>
                    </a:lnTo>
                    <a:lnTo>
                      <a:pt x="90739" y="1080823"/>
                    </a:lnTo>
                    <a:lnTo>
                      <a:pt x="113642" y="1119390"/>
                    </a:lnTo>
                    <a:lnTo>
                      <a:pt x="138828" y="1156427"/>
                    </a:lnTo>
                    <a:lnTo>
                      <a:pt x="166210" y="1191831"/>
                    </a:lnTo>
                    <a:lnTo>
                      <a:pt x="195703" y="1225496"/>
                    </a:lnTo>
                    <a:lnTo>
                      <a:pt x="227221" y="1257319"/>
                    </a:lnTo>
                    <a:lnTo>
                      <a:pt x="260677" y="1287195"/>
                    </a:lnTo>
                    <a:lnTo>
                      <a:pt x="295987" y="1315019"/>
                    </a:lnTo>
                    <a:lnTo>
                      <a:pt x="333063" y="1340687"/>
                    </a:lnTo>
                    <a:lnTo>
                      <a:pt x="371821" y="1364095"/>
                    </a:lnTo>
                    <a:lnTo>
                      <a:pt x="412174" y="1385138"/>
                    </a:lnTo>
                    <a:lnTo>
                      <a:pt x="454035" y="1403712"/>
                    </a:lnTo>
                    <a:lnTo>
                      <a:pt x="497320" y="1419712"/>
                    </a:lnTo>
                    <a:lnTo>
                      <a:pt x="541943" y="1433035"/>
                    </a:lnTo>
                    <a:lnTo>
                      <a:pt x="587817" y="1443575"/>
                    </a:lnTo>
                    <a:lnTo>
                      <a:pt x="634856" y="1451228"/>
                    </a:lnTo>
                    <a:lnTo>
                      <a:pt x="681719" y="1089914"/>
                    </a:lnTo>
                    <a:lnTo>
                      <a:pt x="635265" y="1080831"/>
                    </a:lnTo>
                    <a:lnTo>
                      <a:pt x="591318" y="1066182"/>
                    </a:lnTo>
                    <a:lnTo>
                      <a:pt x="550220" y="1046382"/>
                    </a:lnTo>
                    <a:lnTo>
                      <a:pt x="512315" y="1021851"/>
                    </a:lnTo>
                    <a:lnTo>
                      <a:pt x="477944" y="993005"/>
                    </a:lnTo>
                    <a:lnTo>
                      <a:pt x="447451" y="960262"/>
                    </a:lnTo>
                    <a:lnTo>
                      <a:pt x="421178" y="924040"/>
                    </a:lnTo>
                    <a:lnTo>
                      <a:pt x="399468" y="884757"/>
                    </a:lnTo>
                    <a:lnTo>
                      <a:pt x="382663" y="842829"/>
                    </a:lnTo>
                    <a:lnTo>
                      <a:pt x="371107" y="798675"/>
                    </a:lnTo>
                    <a:lnTo>
                      <a:pt x="365141" y="752712"/>
                    </a:lnTo>
                    <a:lnTo>
                      <a:pt x="365108" y="705357"/>
                    </a:lnTo>
                    <a:lnTo>
                      <a:pt x="371173" y="658421"/>
                    </a:lnTo>
                    <a:lnTo>
                      <a:pt x="382946" y="613618"/>
                    </a:lnTo>
                    <a:lnTo>
                      <a:pt x="400035" y="571317"/>
                    </a:lnTo>
                    <a:lnTo>
                      <a:pt x="422046" y="531890"/>
                    </a:lnTo>
                    <a:lnTo>
                      <a:pt x="448587" y="495706"/>
                    </a:lnTo>
                    <a:lnTo>
                      <a:pt x="479265" y="463137"/>
                    </a:lnTo>
                    <a:lnTo>
                      <a:pt x="513686" y="434552"/>
                    </a:lnTo>
                    <a:lnTo>
                      <a:pt x="551459" y="410322"/>
                    </a:lnTo>
                    <a:lnTo>
                      <a:pt x="592190" y="390818"/>
                    </a:lnTo>
                    <a:lnTo>
                      <a:pt x="635485" y="376410"/>
                    </a:lnTo>
                    <a:lnTo>
                      <a:pt x="680953" y="367468"/>
                    </a:lnTo>
                    <a:lnTo>
                      <a:pt x="728201" y="364362"/>
                    </a:lnTo>
                    <a:lnTo>
                      <a:pt x="727693"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a:extLst>
                  <a:ext uri="{FF2B5EF4-FFF2-40B4-BE49-F238E27FC236}">
                    <a16:creationId xmlns:a16="http://schemas.microsoft.com/office/drawing/2014/main" id="{D23D4C8D-D7F2-E011-A269-81AE3035183A}"/>
                  </a:ext>
                </a:extLst>
              </p:cNvPr>
              <p:cNvSpPr/>
              <p:nvPr/>
            </p:nvSpPr>
            <p:spPr>
              <a:xfrm>
                <a:off x="5639197" y="3441443"/>
                <a:ext cx="728345" cy="1451610"/>
              </a:xfrm>
              <a:custGeom>
                <a:avLst/>
                <a:gdLst/>
                <a:ahLst/>
                <a:cxnLst/>
                <a:rect l="l" t="t" r="r" b="b"/>
                <a:pathLst>
                  <a:path w="728345" h="1451610">
                    <a:moveTo>
                      <a:pt x="634856" y="1451228"/>
                    </a:moveTo>
                    <a:lnTo>
                      <a:pt x="587817" y="1443575"/>
                    </a:lnTo>
                    <a:lnTo>
                      <a:pt x="541943" y="1433035"/>
                    </a:lnTo>
                    <a:lnTo>
                      <a:pt x="497320" y="1419712"/>
                    </a:lnTo>
                    <a:lnTo>
                      <a:pt x="454035" y="1403712"/>
                    </a:lnTo>
                    <a:lnTo>
                      <a:pt x="412174" y="1385138"/>
                    </a:lnTo>
                    <a:lnTo>
                      <a:pt x="371821" y="1364095"/>
                    </a:lnTo>
                    <a:lnTo>
                      <a:pt x="333063" y="1340687"/>
                    </a:lnTo>
                    <a:lnTo>
                      <a:pt x="295987" y="1315019"/>
                    </a:lnTo>
                    <a:lnTo>
                      <a:pt x="260677" y="1287195"/>
                    </a:lnTo>
                    <a:lnTo>
                      <a:pt x="227221" y="1257319"/>
                    </a:lnTo>
                    <a:lnTo>
                      <a:pt x="195703" y="1225496"/>
                    </a:lnTo>
                    <a:lnTo>
                      <a:pt x="166210" y="1191831"/>
                    </a:lnTo>
                    <a:lnTo>
                      <a:pt x="138828" y="1156427"/>
                    </a:lnTo>
                    <a:lnTo>
                      <a:pt x="113642" y="1119390"/>
                    </a:lnTo>
                    <a:lnTo>
                      <a:pt x="90739" y="1080823"/>
                    </a:lnTo>
                    <a:lnTo>
                      <a:pt x="70204" y="1040830"/>
                    </a:lnTo>
                    <a:lnTo>
                      <a:pt x="52124" y="999517"/>
                    </a:lnTo>
                    <a:lnTo>
                      <a:pt x="36585" y="956988"/>
                    </a:lnTo>
                    <a:lnTo>
                      <a:pt x="23671" y="913347"/>
                    </a:lnTo>
                    <a:lnTo>
                      <a:pt x="13470" y="868698"/>
                    </a:lnTo>
                    <a:lnTo>
                      <a:pt x="6067" y="823147"/>
                    </a:lnTo>
                    <a:lnTo>
                      <a:pt x="1548" y="776796"/>
                    </a:lnTo>
                    <a:lnTo>
                      <a:pt x="0" y="729751"/>
                    </a:lnTo>
                    <a:lnTo>
                      <a:pt x="1507" y="682116"/>
                    </a:lnTo>
                    <a:lnTo>
                      <a:pt x="6081" y="634678"/>
                    </a:lnTo>
                    <a:lnTo>
                      <a:pt x="13612" y="588215"/>
                    </a:lnTo>
                    <a:lnTo>
                      <a:pt x="24001" y="542819"/>
                    </a:lnTo>
                    <a:lnTo>
                      <a:pt x="37148" y="498583"/>
                    </a:lnTo>
                    <a:lnTo>
                      <a:pt x="52956" y="455600"/>
                    </a:lnTo>
                    <a:lnTo>
                      <a:pt x="71325" y="413962"/>
                    </a:lnTo>
                    <a:lnTo>
                      <a:pt x="92158" y="373762"/>
                    </a:lnTo>
                    <a:lnTo>
                      <a:pt x="115355" y="335091"/>
                    </a:lnTo>
                    <a:lnTo>
                      <a:pt x="140819" y="298044"/>
                    </a:lnTo>
                    <a:lnTo>
                      <a:pt x="168450" y="262712"/>
                    </a:lnTo>
                    <a:lnTo>
                      <a:pt x="198150" y="229188"/>
                    </a:lnTo>
                    <a:lnTo>
                      <a:pt x="229821" y="197564"/>
                    </a:lnTo>
                    <a:lnTo>
                      <a:pt x="263364" y="167933"/>
                    </a:lnTo>
                    <a:lnTo>
                      <a:pt x="298680" y="140388"/>
                    </a:lnTo>
                    <a:lnTo>
                      <a:pt x="335671" y="115021"/>
                    </a:lnTo>
                    <a:lnTo>
                      <a:pt x="374238" y="91924"/>
                    </a:lnTo>
                    <a:lnTo>
                      <a:pt x="414282" y="71191"/>
                    </a:lnTo>
                    <a:lnTo>
                      <a:pt x="455706" y="52913"/>
                    </a:lnTo>
                    <a:lnTo>
                      <a:pt x="498411" y="37183"/>
                    </a:lnTo>
                    <a:lnTo>
                      <a:pt x="542297" y="24095"/>
                    </a:lnTo>
                    <a:lnTo>
                      <a:pt x="587267" y="13740"/>
                    </a:lnTo>
                    <a:lnTo>
                      <a:pt x="633222" y="6210"/>
                    </a:lnTo>
                    <a:lnTo>
                      <a:pt x="680064" y="1599"/>
                    </a:lnTo>
                    <a:lnTo>
                      <a:pt x="727693" y="0"/>
                    </a:lnTo>
                    <a:lnTo>
                      <a:pt x="727701" y="5693"/>
                    </a:lnTo>
                    <a:lnTo>
                      <a:pt x="727756" y="45545"/>
                    </a:lnTo>
                    <a:lnTo>
                      <a:pt x="727907" y="153715"/>
                    </a:lnTo>
                    <a:lnTo>
                      <a:pt x="728201" y="364362"/>
                    </a:lnTo>
                    <a:lnTo>
                      <a:pt x="680953" y="367468"/>
                    </a:lnTo>
                    <a:lnTo>
                      <a:pt x="635485" y="376410"/>
                    </a:lnTo>
                    <a:lnTo>
                      <a:pt x="592190" y="390818"/>
                    </a:lnTo>
                    <a:lnTo>
                      <a:pt x="551459" y="410322"/>
                    </a:lnTo>
                    <a:lnTo>
                      <a:pt x="513686" y="434552"/>
                    </a:lnTo>
                    <a:lnTo>
                      <a:pt x="479265" y="463137"/>
                    </a:lnTo>
                    <a:lnTo>
                      <a:pt x="448587" y="495706"/>
                    </a:lnTo>
                    <a:lnTo>
                      <a:pt x="422046" y="531890"/>
                    </a:lnTo>
                    <a:lnTo>
                      <a:pt x="400035" y="571317"/>
                    </a:lnTo>
                    <a:lnTo>
                      <a:pt x="382946" y="613618"/>
                    </a:lnTo>
                    <a:lnTo>
                      <a:pt x="371173" y="658421"/>
                    </a:lnTo>
                    <a:lnTo>
                      <a:pt x="365108" y="705357"/>
                    </a:lnTo>
                    <a:lnTo>
                      <a:pt x="365141" y="752712"/>
                    </a:lnTo>
                    <a:lnTo>
                      <a:pt x="371107" y="798675"/>
                    </a:lnTo>
                    <a:lnTo>
                      <a:pt x="382663" y="842829"/>
                    </a:lnTo>
                    <a:lnTo>
                      <a:pt x="399468" y="884757"/>
                    </a:lnTo>
                    <a:lnTo>
                      <a:pt x="421178" y="924040"/>
                    </a:lnTo>
                    <a:lnTo>
                      <a:pt x="447451" y="960262"/>
                    </a:lnTo>
                    <a:lnTo>
                      <a:pt x="477944" y="993005"/>
                    </a:lnTo>
                    <a:lnTo>
                      <a:pt x="512315" y="1021851"/>
                    </a:lnTo>
                    <a:lnTo>
                      <a:pt x="550220" y="1046382"/>
                    </a:lnTo>
                    <a:lnTo>
                      <a:pt x="591318" y="1066182"/>
                    </a:lnTo>
                    <a:lnTo>
                      <a:pt x="635265" y="1080831"/>
                    </a:lnTo>
                    <a:lnTo>
                      <a:pt x="681719" y="1089914"/>
                    </a:lnTo>
                    <a:lnTo>
                      <a:pt x="634856" y="1451228"/>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sp>
        <p:nvSpPr>
          <p:cNvPr id="46" name="object 43">
            <a:extLst>
              <a:ext uri="{FF2B5EF4-FFF2-40B4-BE49-F238E27FC236}">
                <a16:creationId xmlns:a16="http://schemas.microsoft.com/office/drawing/2014/main" id="{A4370E3A-5E37-3FCA-7D22-6D44E28FBB78}"/>
              </a:ext>
            </a:extLst>
          </p:cNvPr>
          <p:cNvSpPr txBox="1"/>
          <p:nvPr/>
        </p:nvSpPr>
        <p:spPr>
          <a:xfrm>
            <a:off x="2940312" y="7052750"/>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kumimoji="0" sz="800" b="0" i="0" u="none" strike="noStrike" kern="0" cap="none" spc="0" normalizeH="0" baseline="0" noProof="0">
                <a:ln>
                  <a:noFill/>
                </a:ln>
                <a:solidFill>
                  <a:srgbClr val="142764"/>
                </a:solidFill>
                <a:effectLst/>
                <a:uLnTx/>
                <a:uFillTx/>
                <a:latin typeface="Zurich Sans Light"/>
                <a:cs typeface="Zurich Sans Light"/>
              </a:rPr>
              <a:t>Sector data is sourced from FEfundinfo,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sz="800" b="0" i="0" u="none" strike="noStrike" kern="0" cap="none" spc="50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pic>
        <p:nvPicPr>
          <p:cNvPr id="49" name="Picture 48">
            <a:extLst>
              <a:ext uri="{FF2B5EF4-FFF2-40B4-BE49-F238E27FC236}">
                <a16:creationId xmlns:a16="http://schemas.microsoft.com/office/drawing/2014/main" id="{C3DCE82E-BE64-D8AD-50C3-4B4DE5BB3B08}"/>
              </a:ext>
            </a:extLst>
          </p:cNvPr>
          <p:cNvPicPr>
            <a:picLocks noChangeAspect="1"/>
          </p:cNvPicPr>
          <p:nvPr/>
        </p:nvPicPr>
        <p:blipFill>
          <a:blip r:embed="rId2"/>
          <a:stretch>
            <a:fillRect/>
          </a:stretch>
        </p:blipFill>
        <p:spPr>
          <a:xfrm>
            <a:off x="2949790" y="5295402"/>
            <a:ext cx="4098296" cy="1660801"/>
          </a:xfrm>
          <a:prstGeom prst="rect">
            <a:avLst/>
          </a:prstGeom>
        </p:spPr>
      </p:pic>
      <p:sp>
        <p:nvSpPr>
          <p:cNvPr id="51" name="object 6">
            <a:extLst>
              <a:ext uri="{FF2B5EF4-FFF2-40B4-BE49-F238E27FC236}">
                <a16:creationId xmlns:a16="http://schemas.microsoft.com/office/drawing/2014/main" id="{CE5C27A4-B624-6066-E7F1-26B19BCE0E7A}"/>
              </a:ext>
            </a:extLst>
          </p:cNvPr>
          <p:cNvSpPr/>
          <p:nvPr/>
        </p:nvSpPr>
        <p:spPr>
          <a:xfrm>
            <a:off x="2960903" y="2347086"/>
            <a:ext cx="108585" cy="107950"/>
          </a:xfrm>
          <a:custGeom>
            <a:avLst/>
            <a:gdLst/>
            <a:ahLst/>
            <a:cxnLst/>
            <a:rect l="l" t="t" r="r" b="b"/>
            <a:pathLst>
              <a:path w="108585" h="107950">
                <a:moveTo>
                  <a:pt x="108076" y="0"/>
                </a:moveTo>
                <a:lnTo>
                  <a:pt x="0" y="0"/>
                </a:lnTo>
                <a:lnTo>
                  <a:pt x="0" y="107950"/>
                </a:lnTo>
                <a:lnTo>
                  <a:pt x="108076" y="107950"/>
                </a:lnTo>
                <a:lnTo>
                  <a:pt x="108076" y="0"/>
                </a:lnTo>
                <a:close/>
              </a:path>
            </a:pathLst>
          </a:custGeom>
          <a:solidFill>
            <a:srgbClr val="77A9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27">
            <a:extLst>
              <a:ext uri="{FF2B5EF4-FFF2-40B4-BE49-F238E27FC236}">
                <a16:creationId xmlns:a16="http://schemas.microsoft.com/office/drawing/2014/main" id="{E59819CC-F21F-6137-D1F0-8D0B737F674F}"/>
              </a:ext>
            </a:extLst>
          </p:cNvPr>
          <p:cNvSpPr txBox="1"/>
          <p:nvPr/>
        </p:nvSpPr>
        <p:spPr>
          <a:xfrm>
            <a:off x="5258445" y="2352190"/>
            <a:ext cx="422274" cy="135935"/>
          </a:xfrm>
          <a:prstGeom prst="rect">
            <a:avLst/>
          </a:prstGeom>
        </p:spPr>
        <p:txBody>
          <a:bodyPr vert="horz" wrap="square" lIns="0" tIns="12700" rIns="0" bIns="0" rtlCol="0">
            <a:spAutoFit/>
          </a:bodyPr>
          <a:lstStyle/>
          <a:p>
            <a:pPr marL="635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142764"/>
                </a:solidFill>
                <a:effectLst/>
                <a:uLnTx/>
                <a:uFillTx/>
                <a:latin typeface="Zurich Sans Light"/>
                <a:cs typeface="Zurich Sans Light"/>
              </a:rPr>
              <a:t>3</a:t>
            </a:r>
            <a:r>
              <a:rPr kumimoji="0" lang="en-GB" sz="800" b="0" i="0" u="none" strike="noStrike" kern="0" cap="none" spc="-10" normalizeH="0" baseline="0" noProof="0">
                <a:ln>
                  <a:noFill/>
                </a:ln>
                <a:solidFill>
                  <a:srgbClr val="142764"/>
                </a:solidFill>
                <a:effectLst/>
                <a:uLnTx/>
                <a:uFillTx/>
                <a:latin typeface="Zurich Sans Light"/>
                <a:cs typeface="Zurich Sans Light"/>
              </a:rPr>
              <a:t>5.76</a:t>
            </a:r>
            <a:r>
              <a:rPr kumimoji="0" sz="800" b="0" i="0" u="none" strike="noStrike" kern="0" cap="none" spc="-10" normalizeH="0" baseline="0" noProof="0">
                <a:ln>
                  <a:noFill/>
                </a:ln>
                <a:solidFill>
                  <a:srgbClr val="142764"/>
                </a:solidFill>
                <a:effectLst/>
                <a:uLnTx/>
                <a:uFillTx/>
                <a:latin typeface="Zurich Sans Light"/>
                <a:cs typeface="Zurich Sans Light"/>
              </a:rPr>
              <a:t>%</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6" name="object 43">
            <a:extLst>
              <a:ext uri="{FF2B5EF4-FFF2-40B4-BE49-F238E27FC236}">
                <a16:creationId xmlns:a16="http://schemas.microsoft.com/office/drawing/2014/main" id="{C73BFD00-017C-2492-7CF2-964E2955793F}"/>
              </a:ext>
            </a:extLst>
          </p:cNvPr>
          <p:cNvSpPr txBox="1"/>
          <p:nvPr/>
        </p:nvSpPr>
        <p:spPr>
          <a:xfrm>
            <a:off x="2949790" y="4934803"/>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a:solidFill>
                  <a:srgbClr val="142764"/>
                </a:solidFill>
                <a:latin typeface="Zurich Sans Light"/>
                <a:cs typeface="Zurich Sans Light"/>
              </a:rPr>
              <a:t>Geographic</a:t>
            </a:r>
            <a:r>
              <a:rPr kumimoji="0" sz="800" b="0" i="0" u="none" strike="noStrike" kern="0" cap="none" spc="0" normalizeH="0" baseline="0" noProof="0">
                <a:ln>
                  <a:noFill/>
                </a:ln>
                <a:solidFill>
                  <a:srgbClr val="142764"/>
                </a:solidFill>
                <a:effectLst/>
                <a:uLnTx/>
                <a:uFillTx/>
                <a:latin typeface="Zurich Sans Light"/>
                <a:cs typeface="Zurich Sans Light"/>
              </a:rPr>
              <a:t> data is sourced from FEfundinfo,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sp>
        <p:nvSpPr>
          <p:cNvPr id="97" name="object 43">
            <a:extLst>
              <a:ext uri="{FF2B5EF4-FFF2-40B4-BE49-F238E27FC236}">
                <a16:creationId xmlns:a16="http://schemas.microsoft.com/office/drawing/2014/main" id="{43FBADE1-51FB-209F-6A0F-E9036608B000}"/>
              </a:ext>
            </a:extLst>
          </p:cNvPr>
          <p:cNvSpPr txBox="1"/>
          <p:nvPr/>
        </p:nvSpPr>
        <p:spPr>
          <a:xfrm>
            <a:off x="2958048" y="2631144"/>
            <a:ext cx="4093845" cy="528350"/>
          </a:xfrm>
          <a:prstGeom prst="rect">
            <a:avLst/>
          </a:prstGeom>
        </p:spPr>
        <p:txBody>
          <a:bodyPr vert="horz" wrap="square" lIns="0" tIns="17780" rIns="0" bIns="0" rtlCol="0">
            <a:spAutoFit/>
          </a:bodyPr>
          <a:lstStyle/>
          <a:p>
            <a:pPr marL="12700" marR="5080" lvl="0" indent="0" defTabSz="914400" eaLnBrk="1" fontAlgn="auto" latinLnBrk="0" hangingPunct="1">
              <a:lnSpc>
                <a:spcPts val="950"/>
              </a:lnSpc>
              <a:spcBef>
                <a:spcPts val="140"/>
              </a:spcBef>
              <a:spcAft>
                <a:spcPts val="0"/>
              </a:spcAft>
              <a:buClrTx/>
              <a:buSzTx/>
              <a:buFontTx/>
              <a:buNone/>
              <a:tabLst/>
              <a:defRPr/>
            </a:pPr>
            <a:r>
              <a:rPr lang="en-GB" sz="800">
                <a:solidFill>
                  <a:srgbClr val="142764"/>
                </a:solidFill>
                <a:latin typeface="Zurich Sans Light"/>
                <a:cs typeface="Zurich Sans Light"/>
              </a:rPr>
              <a:t>Asset</a:t>
            </a:r>
            <a:r>
              <a:rPr kumimoji="0" sz="800" b="0" i="0" u="none" strike="noStrike" kern="0" cap="none" spc="0" normalizeH="0" baseline="0" noProof="0">
                <a:ln>
                  <a:noFill/>
                </a:ln>
                <a:solidFill>
                  <a:srgbClr val="142764"/>
                </a:solidFill>
                <a:effectLst/>
                <a:uLnTx/>
                <a:uFillTx/>
                <a:latin typeface="Zurich Sans Light"/>
                <a:cs typeface="Zurich Sans Light"/>
              </a:rPr>
              <a:t> data is sourced from FEfundinfo, where none is shown, the data is not available </a:t>
            </a:r>
            <a:r>
              <a:rPr kumimoji="0" sz="800" b="0" i="0" u="none" strike="noStrike" kern="0" cap="none" spc="-20" normalizeH="0" baseline="0" noProof="0">
                <a:ln>
                  <a:noFill/>
                </a:ln>
                <a:solidFill>
                  <a:srgbClr val="142764"/>
                </a:solidFill>
                <a:effectLst/>
                <a:uLnTx/>
                <a:uFillTx/>
                <a:latin typeface="Zurich Sans Light"/>
                <a:cs typeface="Zurich Sans Light"/>
              </a:rPr>
              <a:t>from</a:t>
            </a:r>
            <a:r>
              <a:rPr kumimoji="0" lang="en-GB" sz="800" b="0" i="0" u="none" strike="noStrike" kern="0" cap="none" spc="-2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the</a:t>
            </a:r>
            <a:r>
              <a:rPr kumimoji="0" sz="800" b="0" i="0" u="none" strike="noStrike" kern="0" cap="none" spc="-10" normalizeH="0" baseline="0" noProof="0">
                <a:ln>
                  <a:noFill/>
                </a:ln>
                <a:solidFill>
                  <a:srgbClr val="142764"/>
                </a:solidFill>
                <a:effectLst/>
                <a:uLnTx/>
                <a:uFillTx/>
                <a:latin typeface="Zurich Sans Light"/>
                <a:cs typeface="Zurich Sans Light"/>
              </a:rPr>
              <a:t> </a:t>
            </a:r>
            <a:r>
              <a:rPr kumimoji="0" sz="800" b="0" i="0" u="none" strike="noStrike" kern="0" cap="none" spc="0" normalizeH="0" baseline="0" noProof="0">
                <a:ln>
                  <a:noFill/>
                </a:ln>
                <a:solidFill>
                  <a:srgbClr val="142764"/>
                </a:solidFill>
                <a:effectLst/>
                <a:uLnTx/>
                <a:uFillTx/>
                <a:latin typeface="Zurich Sans Light"/>
                <a:cs typeface="Zurich Sans Light"/>
              </a:rPr>
              <a:t>underlying fund </a:t>
            </a:r>
            <a:r>
              <a:rPr kumimoji="0" sz="800" b="0" i="0" u="none" strike="noStrike" kern="0" cap="none" spc="-10" normalizeH="0" baseline="0" noProof="0">
                <a:ln>
                  <a:noFill/>
                </a:ln>
                <a:solidFill>
                  <a:srgbClr val="142764"/>
                </a:solidFill>
                <a:effectLst/>
                <a:uLnTx/>
                <a:uFillTx/>
                <a:latin typeface="Zurich Sans Light"/>
                <a:cs typeface="Zurich Sans Light"/>
              </a:rPr>
              <a:t>manager(s).</a:t>
            </a:r>
            <a:endParaRPr kumimoji="0" sz="8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ysClr val="windowText" lastClr="000000"/>
              </a:solidFill>
              <a:effectLst/>
              <a:uLnTx/>
              <a:uFillTx/>
              <a:latin typeface="Zurich Sans Light"/>
              <a:cs typeface="Zurich Sans Ligh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sz="750" b="0" i="0" u="none" strike="noStrike" kern="0" cap="none" spc="0" normalizeH="0" baseline="0" noProof="0">
              <a:ln>
                <a:noFill/>
              </a:ln>
              <a:solidFill>
                <a:sysClr val="windowText" lastClr="000000"/>
              </a:solidFill>
              <a:effectLst/>
              <a:uLnTx/>
              <a:uFillTx/>
              <a:latin typeface="Zurich Sans Light"/>
              <a:cs typeface="Zurich Sans Light"/>
            </a:endParaRPr>
          </a:p>
        </p:txBody>
      </p:sp>
    </p:spTree>
    <p:extLst>
      <p:ext uri="{BB962C8B-B14F-4D97-AF65-F5344CB8AC3E}">
        <p14:creationId xmlns:p14="http://schemas.microsoft.com/office/powerpoint/2010/main" val="3889029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C8579-F471-6994-524E-01A0EC12FD1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60E1696-9E04-BE63-405A-F4F8D9DE1149}"/>
              </a:ext>
            </a:extLst>
          </p:cNvPr>
          <p:cNvSpPr/>
          <p:nvPr/>
        </p:nvSpPr>
        <p:spPr>
          <a:xfrm>
            <a:off x="310320" y="597199"/>
            <a:ext cx="6657335" cy="403195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DEBEE50A-5F89-BE3B-033A-2003FFF60CEA}"/>
              </a:ext>
            </a:extLst>
          </p:cNvPr>
          <p:cNvSpPr txBox="1"/>
          <p:nvPr/>
        </p:nvSpPr>
        <p:spPr>
          <a:xfrm>
            <a:off x="347345" y="372456"/>
            <a:ext cx="762635" cy="135935"/>
          </a:xfrm>
          <a:prstGeom prst="rect">
            <a:avLst/>
          </a:prstGeom>
        </p:spPr>
        <p:txBody>
          <a:bodyPr vert="horz" wrap="square" lIns="0" tIns="12700" rIns="0" bIns="0" rtlCol="0">
            <a:spAutoFit/>
          </a:bodyPr>
          <a:lstStyle/>
          <a:p>
            <a:pPr marL="12700">
              <a:lnSpc>
                <a:spcPct val="100000"/>
              </a:lnSpc>
              <a:spcBef>
                <a:spcPts val="100"/>
              </a:spcBef>
            </a:pPr>
            <a:r>
              <a:rPr lang="en-GB" sz="800">
                <a:solidFill>
                  <a:srgbClr val="142863"/>
                </a:solidFill>
                <a:latin typeface="Zurich Sans Light"/>
                <a:cs typeface="Zurich Sans Light"/>
              </a:rPr>
              <a:t>March </a:t>
            </a:r>
            <a:r>
              <a:rPr sz="800" b="0">
                <a:solidFill>
                  <a:srgbClr val="142863"/>
                </a:solidFill>
                <a:latin typeface="Zurich Sans Light"/>
                <a:cs typeface="Zurich Sans Light"/>
              </a:rPr>
              <a:t> </a:t>
            </a:r>
            <a:r>
              <a:rPr sz="800" b="0" spc="-20">
                <a:solidFill>
                  <a:srgbClr val="142863"/>
                </a:solidFill>
                <a:latin typeface="Zurich Sans Light"/>
                <a:cs typeface="Zurich Sans Light"/>
              </a:rPr>
              <a:t>202</a:t>
            </a:r>
            <a:r>
              <a:rPr lang="en-GB" sz="800" b="0" spc="-20">
                <a:solidFill>
                  <a:srgbClr val="142863"/>
                </a:solidFill>
                <a:latin typeface="Zurich Sans Light"/>
                <a:cs typeface="Zurich Sans Light"/>
              </a:rPr>
              <a:t>5</a:t>
            </a:r>
            <a:endParaRPr sz="800">
              <a:latin typeface="Zurich Sans Light"/>
              <a:cs typeface="Zurich Sans Light"/>
            </a:endParaRPr>
          </a:p>
        </p:txBody>
      </p:sp>
      <p:sp>
        <p:nvSpPr>
          <p:cNvPr id="12" name="object 3">
            <a:extLst>
              <a:ext uri="{FF2B5EF4-FFF2-40B4-BE49-F238E27FC236}">
                <a16:creationId xmlns:a16="http://schemas.microsoft.com/office/drawing/2014/main" id="{17742BC0-5F24-7F33-0525-6F6BC7858B20}"/>
              </a:ext>
            </a:extLst>
          </p:cNvPr>
          <p:cNvSpPr txBox="1"/>
          <p:nvPr/>
        </p:nvSpPr>
        <p:spPr>
          <a:xfrm>
            <a:off x="310968" y="7582730"/>
            <a:ext cx="6657335" cy="1308692"/>
          </a:xfrm>
          <a:prstGeom prst="rect">
            <a:avLst/>
          </a:prstGeom>
        </p:spPr>
        <p:txBody>
          <a:bodyPr vert="horz" wrap="square" lIns="0" tIns="51435" rIns="0" bIns="0" rtlCol="0">
            <a:spAutoFit/>
          </a:bodyPr>
          <a:lstStyle/>
          <a:p>
            <a:pPr marL="12700" algn="just">
              <a:spcBef>
                <a:spcPts val="405"/>
              </a:spcBef>
            </a:pPr>
            <a:r>
              <a:rPr sz="800" b="1" spc="-10">
                <a:solidFill>
                  <a:srgbClr val="002060"/>
                </a:solidFill>
                <a:latin typeface="Zurich Sans Light" panose="02000000000000000000" pitchFamily="2" charset="0"/>
                <a:cs typeface="Zurich Sans Medium"/>
              </a:rPr>
              <a:t>Important</a:t>
            </a:r>
            <a:r>
              <a:rPr sz="800" b="1" spc="20">
                <a:solidFill>
                  <a:srgbClr val="002060"/>
                </a:solidFill>
                <a:latin typeface="Zurich Sans Light" panose="02000000000000000000" pitchFamily="2" charset="0"/>
                <a:cs typeface="Zurich Sans Medium"/>
              </a:rPr>
              <a:t> </a:t>
            </a:r>
            <a:r>
              <a:rPr sz="800" b="1" spc="-10">
                <a:solidFill>
                  <a:srgbClr val="002060"/>
                </a:solidFill>
                <a:latin typeface="Zurich Sans Light" panose="02000000000000000000" pitchFamily="2" charset="0"/>
                <a:cs typeface="Zurich Sans Medium"/>
              </a:rPr>
              <a:t>information</a:t>
            </a:r>
            <a:endParaRPr sz="800">
              <a:solidFill>
                <a:srgbClr val="002060"/>
              </a:solidFill>
              <a:latin typeface="Zurich Sans Light" panose="02000000000000000000" pitchFamily="2" charset="0"/>
              <a:cs typeface="Zurich Sans Medium"/>
            </a:endParaRPr>
          </a:p>
          <a:p>
            <a:pPr marL="12700" algn="just">
              <a:spcBef>
                <a:spcPts val="240"/>
              </a:spcBef>
            </a:pPr>
            <a:r>
              <a:rPr lang="en-GB" sz="800">
                <a:solidFill>
                  <a:srgbClr val="002060"/>
                </a:solidFill>
                <a:latin typeface="Zurich Sans Light"/>
                <a:cs typeface="Zurich Sans Light"/>
              </a:rPr>
              <a:t>Zurich Integrated Benefits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 a business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name of 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 Life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Limited.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under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Act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2008</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is  </a:t>
            </a:r>
            <a:r>
              <a:rPr lang="en-GB" sz="800">
                <a:solidFill>
                  <a:srgbClr val="002060"/>
                </a:solidFill>
                <a:latin typeface="Zurich Sans Light"/>
                <a:cs typeface="Zurich Sans Light"/>
              </a:rPr>
              <a:t>regulated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Financial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Services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Authority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ensures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company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sound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professional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management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provision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has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been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made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planholders.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companies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Isle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Man’s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Assurance</a:t>
            </a:r>
            <a:r>
              <a:rPr lang="en-GB" sz="800" spc="500">
                <a:solidFill>
                  <a:srgbClr val="002060"/>
                </a:solidFill>
                <a:latin typeface="Zurich Sans Light"/>
                <a:cs typeface="Zurich Sans Light"/>
              </a:rPr>
              <a:t> </a:t>
            </a:r>
            <a:r>
              <a:rPr lang="en-GB" sz="800">
                <a:solidFill>
                  <a:srgbClr val="002060"/>
                </a:solidFill>
                <a:latin typeface="Zurich Sans Light"/>
                <a:cs typeface="Zurich Sans Light"/>
              </a:rPr>
              <a:t>(Compensation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Policyholders) Regulations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1991, ensure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that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 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event 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 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assurance</a:t>
            </a:r>
            <a:r>
              <a:rPr lang="en-GB" sz="800" spc="5">
                <a:solidFill>
                  <a:srgbClr val="002060"/>
                </a:solidFill>
                <a:latin typeface="Zurich Sans Light"/>
                <a:cs typeface="Zurich Sans Light"/>
              </a:rPr>
              <a:t> </a:t>
            </a:r>
            <a:r>
              <a:rPr lang="en-GB" sz="800" spc="-10">
                <a:solidFill>
                  <a:srgbClr val="002060"/>
                </a:solidFill>
                <a:latin typeface="Zurich Sans Light"/>
                <a:cs typeface="Zurich Sans Light"/>
              </a:rPr>
              <a:t>company </a:t>
            </a:r>
            <a:r>
              <a:rPr lang="en-GB" sz="800">
                <a:solidFill>
                  <a:srgbClr val="002060"/>
                </a:solidFill>
                <a:latin typeface="Zurich Sans Light"/>
                <a:cs typeface="Zurich Sans Light"/>
              </a:rPr>
              <a:t>being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unable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meet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liabilities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up</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90%</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liability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protected </a:t>
            </a:r>
            <a:r>
              <a:rPr lang="en-GB" sz="800">
                <a:solidFill>
                  <a:srgbClr val="002060"/>
                </a:solidFill>
                <a:latin typeface="Zurich Sans Light"/>
                <a:cs typeface="Zurich Sans Light"/>
              </a:rPr>
              <a:t>planholders</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will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be</a:t>
            </a:r>
            <a:r>
              <a:rPr lang="en-GB" sz="800" spc="15">
                <a:solidFill>
                  <a:srgbClr val="002060"/>
                </a:solidFill>
                <a:latin typeface="Zurich Sans Light"/>
                <a:cs typeface="Zurich Sans Light"/>
              </a:rPr>
              <a:t> </a:t>
            </a:r>
            <a:r>
              <a:rPr lang="en-GB" sz="800" spc="-20">
                <a:solidFill>
                  <a:srgbClr val="002060"/>
                </a:solidFill>
                <a:latin typeface="Zurich Sans Light"/>
                <a:cs typeface="Zurich Sans Light"/>
              </a:rPr>
              <a:t>met. </a:t>
            </a:r>
            <a:r>
              <a:rPr lang="en-GB" sz="800">
                <a:solidFill>
                  <a:srgbClr val="002060"/>
                </a:solidFill>
                <a:latin typeface="Zurich Sans Light"/>
                <a:cs typeface="Zurich Sans Light"/>
              </a:rPr>
              <a:t>The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protection</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only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applies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solvency</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Zurich</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does</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spc="-10">
                <a:solidFill>
                  <a:srgbClr val="002060"/>
                </a:solidFill>
                <a:latin typeface="Zurich Sans Light"/>
                <a:cs typeface="Zurich Sans Light"/>
              </a:rPr>
              <a:t>extend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protecting</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value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the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assets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held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within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unit-linked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funds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linked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your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plan. </a:t>
            </a:r>
            <a:r>
              <a:rPr lang="en-GB" sz="800">
                <a:solidFill>
                  <a:srgbClr val="002060"/>
                </a:solidFill>
                <a:latin typeface="Zurich Sans Light"/>
                <a:cs typeface="Zurich Sans Light"/>
              </a:rPr>
              <a:t>Zurich</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International</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Life</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Limited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authorised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insurance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products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for</a:t>
            </a:r>
            <a:r>
              <a:rPr lang="en-GB" sz="800" spc="5">
                <a:solidFill>
                  <a:srgbClr val="002060"/>
                </a:solidFill>
                <a:latin typeface="Zurich Sans Light"/>
                <a:cs typeface="Zurich Sans Light"/>
              </a:rPr>
              <a:t> </a:t>
            </a:r>
            <a:r>
              <a:rPr lang="en-GB" sz="800">
                <a:solidFill>
                  <a:srgbClr val="002060"/>
                </a:solidFill>
                <a:latin typeface="Zurich Sans Light"/>
                <a:cs typeface="Zurich Sans Light"/>
              </a:rPr>
              <a:t>sale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spc="-25">
                <a:solidFill>
                  <a:srgbClr val="002060"/>
                </a:solidFill>
                <a:latin typeface="Zurich Sans Light"/>
                <a:cs typeface="Zurich Sans Light"/>
              </a:rPr>
              <a:t>the </a:t>
            </a:r>
            <a:r>
              <a:rPr lang="en-GB" sz="800">
                <a:solidFill>
                  <a:srgbClr val="002060"/>
                </a:solidFill>
                <a:latin typeface="Zurich Sans Light"/>
                <a:cs typeface="Zurich Sans Light"/>
              </a:rPr>
              <a:t>United</a:t>
            </a:r>
            <a:r>
              <a:rPr lang="en-GB" sz="800" spc="-10">
                <a:solidFill>
                  <a:srgbClr val="002060"/>
                </a:solidFill>
                <a:latin typeface="Zurich Sans Light"/>
                <a:cs typeface="Zurich Sans Light"/>
              </a:rPr>
              <a:t> States. </a:t>
            </a:r>
            <a:r>
              <a:rPr lang="en-GB" sz="800">
                <a:solidFill>
                  <a:srgbClr val="002060"/>
                </a:solidFill>
                <a:latin typeface="Zurich Sans Light"/>
                <a:cs typeface="Zurich Sans Light"/>
              </a:rPr>
              <a:t>Materials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are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intended</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invest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and</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do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not</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constitute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offer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solicitation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of</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to</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buy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securities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country</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other</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jurisdiction</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in</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which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it</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is</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unlawful</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to</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make</a:t>
            </a:r>
            <a:r>
              <a:rPr lang="en-GB" sz="800" spc="10">
                <a:solidFill>
                  <a:srgbClr val="002060"/>
                </a:solidFill>
                <a:latin typeface="Zurich Sans Light"/>
                <a:cs typeface="Zurich Sans Light"/>
              </a:rPr>
              <a:t> </a:t>
            </a:r>
            <a:r>
              <a:rPr lang="en-GB" sz="800">
                <a:solidFill>
                  <a:srgbClr val="002060"/>
                </a:solidFill>
                <a:latin typeface="Zurich Sans Light"/>
                <a:cs typeface="Zurich Sans Light"/>
              </a:rPr>
              <a:t>such</a:t>
            </a:r>
            <a:r>
              <a:rPr lang="en-GB" sz="800" spc="15">
                <a:solidFill>
                  <a:srgbClr val="002060"/>
                </a:solidFill>
                <a:latin typeface="Zurich Sans Light"/>
                <a:cs typeface="Zurich Sans Light"/>
              </a:rPr>
              <a:t> </a:t>
            </a:r>
            <a:r>
              <a:rPr lang="en-GB" sz="800">
                <a:solidFill>
                  <a:srgbClr val="002060"/>
                </a:solidFill>
                <a:latin typeface="Zurich Sans Light"/>
                <a:cs typeface="Zurich Sans Light"/>
              </a:rPr>
              <a:t>an</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offer </a:t>
            </a:r>
            <a:r>
              <a:rPr lang="en-GB" sz="800">
                <a:solidFill>
                  <a:srgbClr val="002060"/>
                </a:solidFill>
                <a:latin typeface="Zurich Sans Light"/>
                <a:cs typeface="Zurich Sans Light"/>
              </a:rPr>
              <a:t>or</a:t>
            </a:r>
            <a:r>
              <a:rPr lang="en-GB" sz="800" spc="15">
                <a:solidFill>
                  <a:srgbClr val="002060"/>
                </a:solidFill>
                <a:latin typeface="Zurich Sans Light"/>
                <a:cs typeface="Zurich Sans Light"/>
              </a:rPr>
              <a:t> </a:t>
            </a:r>
            <a:r>
              <a:rPr lang="en-GB" sz="800" spc="-10">
                <a:solidFill>
                  <a:srgbClr val="002060"/>
                </a:solidFill>
                <a:latin typeface="Zurich Sans Light"/>
                <a:cs typeface="Zurich Sans Light"/>
              </a:rPr>
              <a:t>solicitation.</a:t>
            </a:r>
            <a:endParaRPr lang="en-GB" sz="800">
              <a:latin typeface="Zurich Sans Light"/>
              <a:cs typeface="Zurich Sans Light"/>
            </a:endParaRPr>
          </a:p>
        </p:txBody>
      </p:sp>
      <p:sp>
        <p:nvSpPr>
          <p:cNvPr id="13" name="object 4">
            <a:extLst>
              <a:ext uri="{FF2B5EF4-FFF2-40B4-BE49-F238E27FC236}">
                <a16:creationId xmlns:a16="http://schemas.microsoft.com/office/drawing/2014/main" id="{8A2AF6A4-1A0C-8E3F-105B-DD7FAF87FB93}"/>
              </a:ext>
            </a:extLst>
          </p:cNvPr>
          <p:cNvSpPr txBox="1"/>
          <p:nvPr/>
        </p:nvSpPr>
        <p:spPr>
          <a:xfrm>
            <a:off x="310968" y="9903559"/>
            <a:ext cx="5442132" cy="589905"/>
          </a:xfrm>
          <a:prstGeom prst="rect">
            <a:avLst/>
          </a:prstGeom>
        </p:spPr>
        <p:txBody>
          <a:bodyPr vert="horz" wrap="square" lIns="0" tIns="12700" rIns="0" bIns="0" rtlCol="0">
            <a:spAutoFit/>
          </a:bodyPr>
          <a:lstStyle/>
          <a:p>
            <a:pPr marL="12700" marR="305435">
              <a:lnSpc>
                <a:spcPct val="100000"/>
              </a:lnSpc>
              <a:spcBef>
                <a:spcPts val="100"/>
              </a:spcBef>
            </a:pP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International</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a:solidFill>
                  <a:srgbClr val="09296D"/>
                </a:solidFill>
                <a:latin typeface="Zurich Sans Light"/>
                <a:cs typeface="Zurich Sans Light"/>
              </a:rPr>
              <a:t>(a</a:t>
            </a:r>
            <a:r>
              <a:rPr sz="750" b="0" spc="5">
                <a:solidFill>
                  <a:srgbClr val="09296D"/>
                </a:solidFill>
                <a:latin typeface="Zurich Sans Light"/>
                <a:cs typeface="Zurich Sans Light"/>
              </a:rPr>
              <a:t> </a:t>
            </a:r>
            <a:r>
              <a:rPr sz="750" b="0">
                <a:solidFill>
                  <a:srgbClr val="09296D"/>
                </a:solidFill>
                <a:latin typeface="Zurich Sans Light"/>
                <a:cs typeface="Zurich Sans Light"/>
              </a:rPr>
              <a:t>company</a:t>
            </a:r>
            <a:r>
              <a:rPr sz="750" b="0" spc="5">
                <a:solidFill>
                  <a:srgbClr val="09296D"/>
                </a:solidFill>
                <a:latin typeface="Zurich Sans Light"/>
                <a:cs typeface="Zurich Sans Light"/>
              </a:rPr>
              <a:t> </a:t>
            </a:r>
            <a:r>
              <a:rPr sz="750" b="0">
                <a:solidFill>
                  <a:srgbClr val="09296D"/>
                </a:solidFill>
                <a:latin typeface="Zurich Sans Light"/>
                <a:cs typeface="Zurich Sans Light"/>
              </a:rPr>
              <a:t>incorporated</a:t>
            </a:r>
            <a:r>
              <a:rPr sz="750" b="0" spc="10">
                <a:solidFill>
                  <a:srgbClr val="09296D"/>
                </a:solidFill>
                <a:latin typeface="Zurich Sans Light"/>
                <a:cs typeface="Zurich Sans Light"/>
              </a:rPr>
              <a:t> </a:t>
            </a:r>
            <a:r>
              <a:rPr sz="750" b="0">
                <a:solidFill>
                  <a:srgbClr val="09296D"/>
                </a:solidFill>
                <a:latin typeface="Zurich Sans Light"/>
                <a:cs typeface="Zurich Sans Light"/>
              </a:rPr>
              <a:t>in</a:t>
            </a:r>
            <a:r>
              <a:rPr sz="750" b="0" spc="5">
                <a:solidFill>
                  <a:srgbClr val="09296D"/>
                </a:solidFill>
                <a:latin typeface="Zurich Sans Light"/>
                <a:cs typeface="Zurich Sans Light"/>
              </a:rPr>
              <a:t> </a:t>
            </a:r>
            <a:r>
              <a:rPr sz="750" b="0">
                <a:solidFill>
                  <a:srgbClr val="09296D"/>
                </a:solidFill>
                <a:latin typeface="Zurich Sans Light"/>
                <a:cs typeface="Zurich Sans Light"/>
              </a:rPr>
              <a:t>the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with</a:t>
            </a:r>
            <a:r>
              <a:rPr sz="750" b="0" spc="5">
                <a:solidFill>
                  <a:srgbClr val="09296D"/>
                </a:solidFill>
                <a:latin typeface="Zurich Sans Light"/>
                <a:cs typeface="Zurich Sans Light"/>
              </a:rPr>
              <a:t> </a:t>
            </a:r>
            <a:r>
              <a:rPr sz="750" b="0">
                <a:solidFill>
                  <a:srgbClr val="09296D"/>
                </a:solidFill>
                <a:latin typeface="Zurich Sans Light"/>
                <a:cs typeface="Zurich Sans Light"/>
              </a:rPr>
              <a:t>limited</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liability)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provides</a:t>
            </a:r>
            <a:r>
              <a:rPr sz="750" b="0" spc="5">
                <a:solidFill>
                  <a:srgbClr val="09296D"/>
                </a:solidFill>
                <a:latin typeface="Zurich Sans Light"/>
                <a:cs typeface="Zurich Sans Light"/>
              </a:rPr>
              <a:t> </a:t>
            </a:r>
            <a:r>
              <a:rPr sz="750" b="0">
                <a:solidFill>
                  <a:srgbClr val="09296D"/>
                </a:solidFill>
                <a:latin typeface="Zurich Sans Light"/>
                <a:cs typeface="Zurich Sans Light"/>
              </a:rPr>
              <a:t>life</a:t>
            </a:r>
            <a:r>
              <a:rPr sz="750" b="0" spc="10">
                <a:solidFill>
                  <a:srgbClr val="09296D"/>
                </a:solidFill>
                <a:latin typeface="Zurich Sans Light"/>
                <a:cs typeface="Zurich Sans Light"/>
              </a:rPr>
              <a:t> </a:t>
            </a:r>
            <a:r>
              <a:rPr sz="750" b="0">
                <a:solidFill>
                  <a:srgbClr val="09296D"/>
                </a:solidFill>
                <a:latin typeface="Zurich Sans Light"/>
                <a:cs typeface="Zurich Sans Light"/>
              </a:rPr>
              <a:t>assurance,</a:t>
            </a:r>
            <a:r>
              <a:rPr sz="750" b="0" spc="10">
                <a:solidFill>
                  <a:srgbClr val="09296D"/>
                </a:solidFill>
                <a:latin typeface="Zurich Sans Light"/>
                <a:cs typeface="Zurich Sans Light"/>
              </a:rPr>
              <a:t> </a:t>
            </a:r>
            <a:r>
              <a:rPr sz="750" b="0">
                <a:solidFill>
                  <a:srgbClr val="09296D"/>
                </a:solidFill>
                <a:latin typeface="Zurich Sans Light"/>
                <a:cs typeface="Zurich Sans Light"/>
              </a:rPr>
              <a:t>investment</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10">
                <a:solidFill>
                  <a:srgbClr val="09296D"/>
                </a:solidFill>
                <a:latin typeface="Zurich Sans Light"/>
                <a:cs typeface="Zurich Sans Light"/>
              </a:rPr>
              <a:t> </a:t>
            </a:r>
            <a:r>
              <a:rPr sz="750" b="0">
                <a:solidFill>
                  <a:srgbClr val="09296D"/>
                </a:solidFill>
                <a:latin typeface="Zurich Sans Light"/>
                <a:cs typeface="Zurich Sans Light"/>
              </a:rPr>
              <a:t>protection</a:t>
            </a:r>
            <a:r>
              <a:rPr sz="750" b="0" spc="10">
                <a:solidFill>
                  <a:srgbClr val="09296D"/>
                </a:solidFill>
                <a:latin typeface="Zurich Sans Light"/>
                <a:cs typeface="Zurich Sans Light"/>
              </a:rPr>
              <a:t> </a:t>
            </a:r>
            <a:r>
              <a:rPr sz="750" b="0">
                <a:solidFill>
                  <a:srgbClr val="09296D"/>
                </a:solidFill>
                <a:latin typeface="Zurich Sans Light"/>
                <a:cs typeface="Zurich Sans Light"/>
              </a:rPr>
              <a:t>products</a:t>
            </a:r>
            <a:r>
              <a:rPr sz="750" b="0" spc="10">
                <a:solidFill>
                  <a:srgbClr val="09296D"/>
                </a:solidFill>
                <a:latin typeface="Zurich Sans Light"/>
                <a:cs typeface="Zurich Sans Light"/>
              </a:rPr>
              <a:t> </a:t>
            </a:r>
            <a:r>
              <a:rPr sz="750" b="0">
                <a:solidFill>
                  <a:srgbClr val="09296D"/>
                </a:solidFill>
                <a:latin typeface="Zurich Sans Light"/>
                <a:cs typeface="Zurich Sans Light"/>
              </a:rPr>
              <a:t>and</a:t>
            </a:r>
            <a:r>
              <a:rPr sz="750" b="0" spc="5">
                <a:solidFill>
                  <a:srgbClr val="09296D"/>
                </a:solidFill>
                <a:latin typeface="Zurich Sans Light"/>
                <a:cs typeface="Zurich Sans Light"/>
              </a:rPr>
              <a:t> </a:t>
            </a:r>
            <a:r>
              <a:rPr sz="750" b="0">
                <a:solidFill>
                  <a:srgbClr val="09296D"/>
                </a:solidFill>
                <a:latin typeface="Zurich Sans Light"/>
                <a:cs typeface="Zurich Sans Light"/>
              </a:rPr>
              <a:t>is</a:t>
            </a:r>
            <a:r>
              <a:rPr sz="750" b="0" spc="10">
                <a:solidFill>
                  <a:srgbClr val="09296D"/>
                </a:solidFill>
                <a:latin typeface="Zurich Sans Light"/>
                <a:cs typeface="Zurich Sans Light"/>
              </a:rPr>
              <a:t> </a:t>
            </a:r>
            <a:r>
              <a:rPr sz="750" b="0" err="1">
                <a:solidFill>
                  <a:srgbClr val="09296D"/>
                </a:solidFill>
                <a:latin typeface="Zurich Sans Light"/>
                <a:cs typeface="Zurich Sans Light"/>
              </a:rPr>
              <a:t>authorised</a:t>
            </a:r>
            <a:r>
              <a:rPr sz="750" b="0" spc="10">
                <a:solidFill>
                  <a:srgbClr val="09296D"/>
                </a:solidFill>
                <a:latin typeface="Zurich Sans Light"/>
                <a:cs typeface="Zurich Sans Light"/>
              </a:rPr>
              <a:t> </a:t>
            </a:r>
            <a:r>
              <a:rPr sz="750" b="0">
                <a:solidFill>
                  <a:srgbClr val="09296D"/>
                </a:solidFill>
                <a:latin typeface="Zurich Sans Light"/>
                <a:cs typeface="Zurich Sans Light"/>
              </a:rPr>
              <a:t>by</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spc="-25">
                <a:solidFill>
                  <a:srgbClr val="09296D"/>
                </a:solidFill>
                <a:latin typeface="Zurich Sans Light"/>
                <a:cs typeface="Zurich Sans Light"/>
              </a:rPr>
              <a:t>Man</a:t>
            </a:r>
            <a:r>
              <a:rPr lang="en-GB" sz="750" b="0" spc="-25">
                <a:solidFill>
                  <a:srgbClr val="09296D"/>
                </a:solidFill>
                <a:latin typeface="Zurich Sans Light"/>
                <a:cs typeface="Zurich Sans Light"/>
              </a:rPr>
              <a:t> </a:t>
            </a:r>
            <a:r>
              <a:rPr sz="750" b="0">
                <a:solidFill>
                  <a:srgbClr val="09296D"/>
                </a:solidFill>
                <a:latin typeface="Zurich Sans Light"/>
                <a:cs typeface="Zurich Sans Light"/>
              </a:rPr>
              <a:t>Financial</a:t>
            </a:r>
            <a:r>
              <a:rPr sz="750" b="0" spc="10">
                <a:solidFill>
                  <a:srgbClr val="09296D"/>
                </a:solidFill>
                <a:latin typeface="Zurich Sans Light"/>
                <a:cs typeface="Zurich Sans Light"/>
              </a:rPr>
              <a:t> </a:t>
            </a:r>
            <a:r>
              <a:rPr sz="750" b="0">
                <a:solidFill>
                  <a:srgbClr val="09296D"/>
                </a:solidFill>
                <a:latin typeface="Zurich Sans Light"/>
                <a:cs typeface="Zurich Sans Light"/>
              </a:rPr>
              <a:t>Services</a:t>
            </a:r>
            <a:r>
              <a:rPr sz="750" b="0" spc="20">
                <a:solidFill>
                  <a:srgbClr val="09296D"/>
                </a:solidFill>
                <a:latin typeface="Zurich Sans Light"/>
                <a:cs typeface="Zurich Sans Light"/>
              </a:rPr>
              <a:t> </a:t>
            </a:r>
            <a:r>
              <a:rPr sz="750" b="0" spc="-10">
                <a:solidFill>
                  <a:srgbClr val="09296D"/>
                </a:solidFill>
                <a:latin typeface="Zurich Sans Light"/>
                <a:cs typeface="Zurich Sans Light"/>
              </a:rPr>
              <a:t>Authority.</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 in</a:t>
            </a:r>
            <a:r>
              <a:rPr sz="750" b="0" spc="10">
                <a:solidFill>
                  <a:srgbClr val="09296D"/>
                </a:solidFill>
                <a:latin typeface="Zurich Sans Light"/>
                <a:cs typeface="Zurich Sans Light"/>
              </a:rPr>
              <a:t> </a:t>
            </a:r>
            <a:r>
              <a:rPr sz="750" b="0">
                <a:solidFill>
                  <a:srgbClr val="09296D"/>
                </a:solidFill>
                <a:latin typeface="Zurich Sans Light"/>
                <a:cs typeface="Zurich Sans Light"/>
              </a:rPr>
              <a:t>the</a:t>
            </a:r>
            <a:r>
              <a:rPr sz="750" b="0" spc="10">
                <a:solidFill>
                  <a:srgbClr val="09296D"/>
                </a:solidFill>
                <a:latin typeface="Zurich Sans Light"/>
                <a:cs typeface="Zurich Sans Light"/>
              </a:rPr>
              <a:t> </a:t>
            </a:r>
            <a:r>
              <a:rPr sz="750" b="0">
                <a:solidFill>
                  <a:srgbClr val="09296D"/>
                </a:solidFill>
                <a:latin typeface="Zurich Sans Light"/>
                <a:cs typeface="Zurich Sans Light"/>
              </a:rPr>
              <a:t>Isle</a:t>
            </a:r>
            <a:r>
              <a:rPr sz="750" b="0" spc="1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10">
                <a:solidFill>
                  <a:srgbClr val="09296D"/>
                </a:solidFill>
                <a:latin typeface="Zurich Sans Light"/>
                <a:cs typeface="Zurich Sans Light"/>
              </a:rPr>
              <a:t> </a:t>
            </a:r>
            <a:r>
              <a:rPr sz="750" b="0">
                <a:solidFill>
                  <a:srgbClr val="09296D"/>
                </a:solidFill>
                <a:latin typeface="Zurich Sans Light"/>
                <a:cs typeface="Zurich Sans Light"/>
              </a:rPr>
              <a:t>number</a:t>
            </a:r>
            <a:r>
              <a:rPr sz="750" b="0" spc="15">
                <a:solidFill>
                  <a:srgbClr val="09296D"/>
                </a:solidFill>
                <a:latin typeface="Zurich Sans Light"/>
                <a:cs typeface="Zurich Sans Light"/>
              </a:rPr>
              <a:t> </a:t>
            </a:r>
            <a:r>
              <a:rPr sz="750" b="0" spc="-10">
                <a:solidFill>
                  <a:srgbClr val="09296D"/>
                </a:solidFill>
                <a:latin typeface="Zurich Sans Light"/>
                <a:cs typeface="Zurich Sans Light"/>
              </a:rPr>
              <a:t>020126C.</a:t>
            </a:r>
            <a:r>
              <a:rPr lang="en-GB" sz="750" b="0" spc="-10">
                <a:solidFill>
                  <a:srgbClr val="09296D"/>
                </a:solidFill>
                <a:latin typeface="Zurich Sans Light"/>
                <a:cs typeface="Zurich Sans Light"/>
              </a:rPr>
              <a:t> </a:t>
            </a:r>
            <a:r>
              <a:rPr sz="750" b="0">
                <a:solidFill>
                  <a:srgbClr val="09296D"/>
                </a:solidFill>
                <a:latin typeface="Zurich Sans Light"/>
                <a:cs typeface="Zurich Sans Light"/>
              </a:rPr>
              <a:t>Registered</a:t>
            </a:r>
            <a:r>
              <a:rPr sz="750" b="0" spc="5">
                <a:solidFill>
                  <a:srgbClr val="09296D"/>
                </a:solidFill>
                <a:latin typeface="Zurich Sans Light"/>
                <a:cs typeface="Zurich Sans Light"/>
              </a:rPr>
              <a:t> </a:t>
            </a:r>
            <a:r>
              <a:rPr sz="750" b="0">
                <a:solidFill>
                  <a:srgbClr val="09296D"/>
                </a:solidFill>
                <a:latin typeface="Zurich Sans Light"/>
                <a:cs typeface="Zurich Sans Light"/>
              </a:rPr>
              <a:t>office:</a:t>
            </a:r>
            <a:r>
              <a:rPr sz="750" b="0" spc="5">
                <a:solidFill>
                  <a:srgbClr val="09296D"/>
                </a:solidFill>
                <a:latin typeface="Zurich Sans Light"/>
                <a:cs typeface="Zurich Sans Light"/>
              </a:rPr>
              <a:t> </a:t>
            </a:r>
            <a:r>
              <a:rPr sz="750" b="0">
                <a:solidFill>
                  <a:srgbClr val="09296D"/>
                </a:solidFill>
                <a:latin typeface="Zurich Sans Light"/>
                <a:cs typeface="Zurich Sans Light"/>
              </a:rPr>
              <a:t>Zurich</a:t>
            </a:r>
            <a:r>
              <a:rPr sz="750" b="0" spc="5">
                <a:solidFill>
                  <a:srgbClr val="09296D"/>
                </a:solidFill>
                <a:latin typeface="Zurich Sans Light"/>
                <a:cs typeface="Zurich Sans Light"/>
              </a:rPr>
              <a:t> </a:t>
            </a:r>
            <a:r>
              <a:rPr sz="750" b="0">
                <a:solidFill>
                  <a:srgbClr val="09296D"/>
                </a:solidFill>
                <a:latin typeface="Zurich Sans Light"/>
                <a:cs typeface="Zurich Sans Light"/>
              </a:rPr>
              <a:t>House,</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5">
                <a:solidFill>
                  <a:srgbClr val="09296D"/>
                </a:solidFill>
                <a:latin typeface="Zurich Sans Light"/>
                <a:cs typeface="Zurich Sans Light"/>
              </a:rPr>
              <a:t> </a:t>
            </a:r>
            <a:r>
              <a:rPr sz="750" b="0">
                <a:solidFill>
                  <a:srgbClr val="09296D"/>
                </a:solidFill>
                <a:latin typeface="Zurich Sans Light"/>
                <a:cs typeface="Zurich Sans Light"/>
              </a:rPr>
              <a:t>of</a:t>
            </a:r>
            <a:r>
              <a:rPr sz="750" b="0" spc="10">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Business</a:t>
            </a:r>
            <a:r>
              <a:rPr sz="750" b="0" spc="5">
                <a:solidFill>
                  <a:srgbClr val="09296D"/>
                </a:solidFill>
                <a:latin typeface="Zurich Sans Light"/>
                <a:cs typeface="Zurich Sans Light"/>
              </a:rPr>
              <a:t> </a:t>
            </a:r>
            <a:r>
              <a:rPr sz="750" b="0">
                <a:solidFill>
                  <a:srgbClr val="09296D"/>
                </a:solidFill>
                <a:latin typeface="Zurich Sans Light"/>
                <a:cs typeface="Zurich Sans Light"/>
              </a:rPr>
              <a:t>Park,</a:t>
            </a:r>
            <a:r>
              <a:rPr sz="750" b="0" spc="5">
                <a:solidFill>
                  <a:srgbClr val="09296D"/>
                </a:solidFill>
                <a:latin typeface="Zurich Sans Light"/>
                <a:cs typeface="Zurich Sans Light"/>
              </a:rPr>
              <a:t> </a:t>
            </a:r>
            <a:r>
              <a:rPr sz="750" b="0">
                <a:solidFill>
                  <a:srgbClr val="09296D"/>
                </a:solidFill>
                <a:latin typeface="Zurich Sans Light"/>
                <a:cs typeface="Zurich Sans Light"/>
              </a:rPr>
              <a:t>Douglas,</a:t>
            </a:r>
            <a:r>
              <a:rPr sz="750" b="0" spc="5">
                <a:solidFill>
                  <a:srgbClr val="09296D"/>
                </a:solidFill>
                <a:latin typeface="Zurich Sans Light"/>
                <a:cs typeface="Zurich Sans Light"/>
              </a:rPr>
              <a:t> </a:t>
            </a:r>
            <a:r>
              <a:rPr sz="750" b="0">
                <a:solidFill>
                  <a:srgbClr val="09296D"/>
                </a:solidFill>
                <a:latin typeface="Zurich Sans Light"/>
                <a:cs typeface="Zurich Sans Light"/>
              </a:rPr>
              <a:t>Isle</a:t>
            </a:r>
            <a:r>
              <a:rPr sz="750" b="0" spc="10">
                <a:solidFill>
                  <a:srgbClr val="09296D"/>
                </a:solidFill>
                <a:latin typeface="Zurich Sans Light"/>
                <a:cs typeface="Zurich Sans Light"/>
              </a:rPr>
              <a:t> </a:t>
            </a:r>
            <a:r>
              <a:rPr sz="750" b="0">
                <a:solidFill>
                  <a:srgbClr val="09296D"/>
                </a:solidFill>
                <a:latin typeface="Zurich Sans Light"/>
                <a:cs typeface="Zurich Sans Light"/>
              </a:rPr>
              <a:t>of</a:t>
            </a:r>
            <a:r>
              <a:rPr sz="750" b="0" spc="5">
                <a:solidFill>
                  <a:srgbClr val="09296D"/>
                </a:solidFill>
                <a:latin typeface="Zurich Sans Light"/>
                <a:cs typeface="Zurich Sans Light"/>
              </a:rPr>
              <a:t> </a:t>
            </a:r>
            <a:r>
              <a:rPr sz="750" b="0">
                <a:solidFill>
                  <a:srgbClr val="09296D"/>
                </a:solidFill>
                <a:latin typeface="Zurich Sans Light"/>
                <a:cs typeface="Zurich Sans Light"/>
              </a:rPr>
              <a:t>Man,</a:t>
            </a:r>
            <a:r>
              <a:rPr sz="750" b="0" spc="5">
                <a:solidFill>
                  <a:srgbClr val="09296D"/>
                </a:solidFill>
                <a:latin typeface="Zurich Sans Light"/>
                <a:cs typeface="Zurich Sans Light"/>
              </a:rPr>
              <a:t> </a:t>
            </a:r>
            <a:r>
              <a:rPr sz="750" b="0">
                <a:solidFill>
                  <a:srgbClr val="09296D"/>
                </a:solidFill>
                <a:latin typeface="Zurich Sans Light"/>
                <a:cs typeface="Zurich Sans Light"/>
              </a:rPr>
              <a:t>IM2</a:t>
            </a:r>
            <a:r>
              <a:rPr sz="750" b="0" spc="5">
                <a:solidFill>
                  <a:srgbClr val="09296D"/>
                </a:solidFill>
                <a:latin typeface="Zurich Sans Light"/>
                <a:cs typeface="Zurich Sans Light"/>
              </a:rPr>
              <a:t> </a:t>
            </a:r>
            <a:r>
              <a:rPr sz="750" b="0">
                <a:solidFill>
                  <a:srgbClr val="09296D"/>
                </a:solidFill>
                <a:latin typeface="Zurich Sans Light"/>
                <a:cs typeface="Zurich Sans Light"/>
              </a:rPr>
              <a:t>2QZ,</a:t>
            </a:r>
            <a:r>
              <a:rPr sz="750" b="0" spc="5">
                <a:solidFill>
                  <a:srgbClr val="09296D"/>
                </a:solidFill>
                <a:latin typeface="Zurich Sans Light"/>
                <a:cs typeface="Zurich Sans Light"/>
              </a:rPr>
              <a:t> </a:t>
            </a:r>
            <a:r>
              <a:rPr sz="750" b="0">
                <a:solidFill>
                  <a:srgbClr val="09296D"/>
                </a:solidFill>
                <a:latin typeface="Zurich Sans Light"/>
                <a:cs typeface="Zurich Sans Light"/>
              </a:rPr>
              <a:t>British</a:t>
            </a:r>
            <a:r>
              <a:rPr sz="750" b="0" spc="10">
                <a:solidFill>
                  <a:srgbClr val="09296D"/>
                </a:solidFill>
                <a:latin typeface="Zurich Sans Light"/>
                <a:cs typeface="Zurich Sans Light"/>
              </a:rPr>
              <a:t> </a:t>
            </a:r>
            <a:r>
              <a:rPr sz="750" b="0" spc="-10">
                <a:solidFill>
                  <a:srgbClr val="09296D"/>
                </a:solidFill>
                <a:latin typeface="Zurich Sans Light"/>
                <a:cs typeface="Zurich Sans Light"/>
              </a:rPr>
              <a:t>Isles.</a:t>
            </a:r>
            <a:r>
              <a:rPr lang="en-GB" sz="750" b="0" spc="-10">
                <a:solidFill>
                  <a:srgbClr val="09296D"/>
                </a:solidFill>
                <a:latin typeface="Zurich Sans Light"/>
                <a:cs typeface="Zurich Sans Light"/>
              </a:rPr>
              <a:t> </a:t>
            </a:r>
            <a:r>
              <a:rPr sz="750" b="0" spc="-10">
                <a:solidFill>
                  <a:srgbClr val="09296D"/>
                </a:solidFill>
                <a:latin typeface="Zurich Sans Light"/>
                <a:cs typeface="Zurich Sans Light"/>
              </a:rPr>
              <a:t>Telephone</a:t>
            </a:r>
            <a:r>
              <a:rPr sz="750" b="0" spc="10">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662266</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Telefax</a:t>
            </a:r>
            <a:r>
              <a:rPr sz="750" b="0" spc="15">
                <a:solidFill>
                  <a:srgbClr val="09296D"/>
                </a:solidFill>
                <a:latin typeface="Zurich Sans Light"/>
                <a:cs typeface="Zurich Sans Light"/>
              </a:rPr>
              <a:t> </a:t>
            </a:r>
            <a:r>
              <a:rPr sz="750" b="0">
                <a:solidFill>
                  <a:srgbClr val="09296D"/>
                </a:solidFill>
                <a:latin typeface="Zurich Sans Light"/>
                <a:cs typeface="Zurich Sans Light"/>
              </a:rPr>
              <a:t>+44</a:t>
            </a:r>
            <a:r>
              <a:rPr sz="750" b="0" spc="10">
                <a:solidFill>
                  <a:srgbClr val="09296D"/>
                </a:solidFill>
                <a:latin typeface="Zurich Sans Light"/>
                <a:cs typeface="Zurich Sans Light"/>
              </a:rPr>
              <a:t> </a:t>
            </a:r>
            <a:r>
              <a:rPr sz="750" b="0">
                <a:solidFill>
                  <a:srgbClr val="09296D"/>
                </a:solidFill>
                <a:latin typeface="Zurich Sans Light"/>
                <a:cs typeface="Zurich Sans Light"/>
              </a:rPr>
              <a:t>1624</a:t>
            </a:r>
            <a:r>
              <a:rPr sz="750" b="0" spc="15">
                <a:solidFill>
                  <a:srgbClr val="09296D"/>
                </a:solidFill>
                <a:latin typeface="Zurich Sans Light"/>
                <a:cs typeface="Zurich Sans Light"/>
              </a:rPr>
              <a:t> </a:t>
            </a:r>
            <a:r>
              <a:rPr sz="750" b="0">
                <a:solidFill>
                  <a:srgbClr val="09296D"/>
                </a:solidFill>
                <a:latin typeface="Zurich Sans Light"/>
                <a:cs typeface="Zurich Sans Light"/>
              </a:rPr>
              <a:t>662038</a:t>
            </a:r>
            <a:r>
              <a:rPr sz="750" b="0" spc="200">
                <a:solidFill>
                  <a:srgbClr val="09296D"/>
                </a:solidFill>
                <a:latin typeface="Zurich Sans Light"/>
                <a:cs typeface="Zurich Sans Light"/>
              </a:rPr>
              <a:t>  </a:t>
            </a:r>
            <a:r>
              <a:rPr sz="750" b="0" spc="-10">
                <a:solidFill>
                  <a:srgbClr val="09296D"/>
                </a:solidFill>
                <a:latin typeface="Zurich Sans Light"/>
                <a:cs typeface="Zurich Sans Light"/>
              </a:rPr>
              <a:t>www.zurichinternational.com</a:t>
            </a:r>
            <a:endParaRPr sz="750">
              <a:latin typeface="Zurich Sans Light"/>
              <a:cs typeface="Zurich Sans Light"/>
            </a:endParaRPr>
          </a:p>
          <a:p>
            <a:pPr>
              <a:lnSpc>
                <a:spcPct val="100000"/>
              </a:lnSpc>
              <a:spcBef>
                <a:spcPts val="30"/>
              </a:spcBef>
            </a:pPr>
            <a:endParaRPr sz="750">
              <a:latin typeface="Zurich Sans Light"/>
              <a:cs typeface="Zurich Sans Light"/>
            </a:endParaRPr>
          </a:p>
        </p:txBody>
      </p:sp>
      <p:sp>
        <p:nvSpPr>
          <p:cNvPr id="14" name="TextBox 13">
            <a:extLst>
              <a:ext uri="{FF2B5EF4-FFF2-40B4-BE49-F238E27FC236}">
                <a16:creationId xmlns:a16="http://schemas.microsoft.com/office/drawing/2014/main" id="{23780B12-8721-F8CC-AD82-349B1F9BAB9A}"/>
              </a:ext>
            </a:extLst>
          </p:cNvPr>
          <p:cNvSpPr txBox="1"/>
          <p:nvPr/>
        </p:nvSpPr>
        <p:spPr>
          <a:xfrm>
            <a:off x="310968" y="8980229"/>
            <a:ext cx="6727003" cy="923330"/>
          </a:xfrm>
          <a:prstGeom prst="rect">
            <a:avLst/>
          </a:prstGeom>
          <a:noFill/>
        </p:spPr>
        <p:txBody>
          <a:bodyPr wrap="square" lIns="0" tIns="0" rIns="0" bIns="0" rtlCol="0">
            <a:spAutoFit/>
          </a:bodyPr>
          <a:lstStyle/>
          <a:p>
            <a:pPr algn="l"/>
            <a:r>
              <a:rPr lang="en-GB" sz="750">
                <a:solidFill>
                  <a:srgbClr val="002060"/>
                </a:solidFill>
                <a:latin typeface="Zurich Sans Light" panose="02000000000000000000" pitchFamily="2" charset="0"/>
              </a:rPr>
              <a:t>Zurich International Life Limited, Bahrain Branch, which is registered in Bahrain under Commercial Registration No. 17444 and is licensed as an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Overseas Insurance Firm – Life Insurance by the Central Bank of Bahrain. Branch offices: 27th Floor, </a:t>
            </a:r>
            <a:r>
              <a:rPr lang="en-GB" sz="750" err="1">
                <a:solidFill>
                  <a:srgbClr val="002060"/>
                </a:solidFill>
                <a:latin typeface="Zurich Sans Light" panose="02000000000000000000" pitchFamily="2" charset="0"/>
              </a:rPr>
              <a:t>Almoayyed</a:t>
            </a:r>
            <a:r>
              <a:rPr lang="en-GB" sz="750">
                <a:solidFill>
                  <a:srgbClr val="002060"/>
                </a:solidFill>
                <a:latin typeface="Zurich Sans Light" panose="02000000000000000000" pitchFamily="2" charset="0"/>
              </a:rPr>
              <a:t> Tower, </a:t>
            </a:r>
            <a:r>
              <a:rPr lang="en-GB" sz="750" err="1">
                <a:solidFill>
                  <a:srgbClr val="002060"/>
                </a:solidFill>
                <a:latin typeface="Zurich Sans Light" panose="02000000000000000000" pitchFamily="2" charset="0"/>
              </a:rPr>
              <a:t>Seef</a:t>
            </a:r>
            <a:r>
              <a:rPr lang="en-GB" sz="750">
                <a:solidFill>
                  <a:srgbClr val="002060"/>
                </a:solidFill>
                <a:latin typeface="Zurich Sans Light" panose="02000000000000000000" pitchFamily="2" charset="0"/>
              </a:rPr>
              <a:t> District, Kingdom of Bahrain. Telephone +973 1756 3322 </a:t>
            </a:r>
          </a:p>
          <a:p>
            <a:pPr algn="l"/>
            <a:r>
              <a:rPr lang="en-GB" sz="750">
                <a:solidFill>
                  <a:srgbClr val="002060"/>
                </a:solidFill>
                <a:latin typeface="Zurich Sans Light" panose="02000000000000000000" pitchFamily="2" charset="0"/>
              </a:rPr>
              <a:t>Zurich International Life Limited, Qatar Branch, which is authorised by the Qatar Financial Centre Regulatory Authority. Branch offices: Office No. 404, 4th Floor, Qatar Financial Centre Tower, West Bay, Doha, Qatar. Telephone: +974 4428 6322 </a:t>
            </a:r>
          </a:p>
          <a:p>
            <a:pPr algn="l"/>
            <a:r>
              <a:rPr lang="en-GB" sz="750">
                <a:solidFill>
                  <a:srgbClr val="002060"/>
                </a:solidFill>
                <a:latin typeface="Zurich Sans Light" panose="02000000000000000000" pitchFamily="2" charset="0"/>
              </a:rPr>
              <a:t>Zurich International Life Limited, UAE Branch, which is registered (Registration No. 63) under UAE Federal Law Number 6 of 2007, and its activities in the UAE governed by such law. Registered offices at Unit 601, Building 6, 6th Floor, Emaar Square, Dubai. (PO Box 50389 Dubai) </a:t>
            </a:r>
            <a:br>
              <a:rPr lang="en-GB" sz="750">
                <a:solidFill>
                  <a:srgbClr val="002060"/>
                </a:solidFill>
                <a:latin typeface="Zurich Sans Light" panose="02000000000000000000" pitchFamily="2" charset="0"/>
              </a:rPr>
            </a:br>
            <a:r>
              <a:rPr lang="en-GB" sz="750">
                <a:solidFill>
                  <a:srgbClr val="002060"/>
                </a:solidFill>
                <a:latin typeface="Zurich Sans Light" panose="02000000000000000000" pitchFamily="2" charset="0"/>
              </a:rPr>
              <a:t>Telephone: +971 4 425 2300 www.zurich.ae</a:t>
            </a:r>
          </a:p>
        </p:txBody>
      </p:sp>
      <p:pic>
        <p:nvPicPr>
          <p:cNvPr id="15" name="Graphic 14">
            <a:extLst>
              <a:ext uri="{FF2B5EF4-FFF2-40B4-BE49-F238E27FC236}">
                <a16:creationId xmlns:a16="http://schemas.microsoft.com/office/drawing/2014/main" id="{1ADF34EF-DE34-9840-439E-020DD30233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0696" y="9814750"/>
            <a:ext cx="1976437" cy="767521"/>
          </a:xfrm>
          <a:prstGeom prst="rect">
            <a:avLst/>
          </a:prstGeom>
        </p:spPr>
      </p:pic>
      <p:sp>
        <p:nvSpPr>
          <p:cNvPr id="2" name="object 5">
            <a:extLst>
              <a:ext uri="{FF2B5EF4-FFF2-40B4-BE49-F238E27FC236}">
                <a16:creationId xmlns:a16="http://schemas.microsoft.com/office/drawing/2014/main" id="{5F705D9C-2CBF-3247-5045-4EAE56388266}"/>
              </a:ext>
            </a:extLst>
          </p:cNvPr>
          <p:cNvSpPr txBox="1"/>
          <p:nvPr/>
        </p:nvSpPr>
        <p:spPr>
          <a:xfrm>
            <a:off x="588198" y="867815"/>
            <a:ext cx="6101581" cy="1104790"/>
          </a:xfrm>
          <a:prstGeom prst="rect">
            <a:avLst/>
          </a:prstGeom>
          <a:noFill/>
        </p:spPr>
        <p:txBody>
          <a:bodyPr vert="horz" wrap="square" lIns="0" tIns="29845" rIns="0" bIns="0" rtlCol="0">
            <a:spAutoFit/>
          </a:bodyPr>
          <a:lstStyle/>
          <a:p>
            <a:pPr marL="12700">
              <a:lnSpc>
                <a:spcPct val="100000"/>
              </a:lnSpc>
              <a:spcBef>
                <a:spcPts val="235"/>
              </a:spcBef>
            </a:pPr>
            <a:r>
              <a:rPr sz="1150" b="1">
                <a:solidFill>
                  <a:srgbClr val="004F9E"/>
                </a:solidFill>
                <a:latin typeface="Zurich Sans"/>
                <a:cs typeface="Zurich Sans"/>
              </a:rPr>
              <a:t>Additional</a:t>
            </a:r>
            <a:r>
              <a:rPr sz="1150" b="1" spc="-5">
                <a:solidFill>
                  <a:srgbClr val="004F9E"/>
                </a:solidFill>
                <a:latin typeface="Zurich Sans"/>
                <a:cs typeface="Zurich Sans"/>
              </a:rPr>
              <a:t> </a:t>
            </a:r>
            <a:r>
              <a:rPr sz="1150" b="1" spc="-10">
                <a:solidFill>
                  <a:srgbClr val="004F9E"/>
                </a:solidFill>
                <a:latin typeface="Zurich Sans"/>
                <a:cs typeface="Zurich Sans"/>
              </a:rPr>
              <a:t>Information</a:t>
            </a:r>
            <a:endParaRPr sz="1150">
              <a:latin typeface="Zurich Sans"/>
              <a:cs typeface="Zurich Sans"/>
            </a:endParaRPr>
          </a:p>
          <a:p>
            <a:pPr marL="12700" marR="5080">
              <a:lnSpc>
                <a:spcPts val="950"/>
              </a:lnSpc>
              <a:spcBef>
                <a:spcPts val="35"/>
              </a:spcBef>
            </a:pPr>
            <a:r>
              <a:rPr lang="en-GB" sz="900">
                <a:solidFill>
                  <a:srgbClr val="142863"/>
                </a:solidFill>
                <a:latin typeface="Zurich Sans Light"/>
              </a:rPr>
              <a:t>The fund invests in a range of global shares, with an emphasis on European markets. The regional bias was somewhat unhelpful over the quarter as European shares underperformed those in other regions, most notably the US. Political uncertainties in France and Germany and the release of subdued economic indicators eroded sentiment. We used the weakness as an opportunity to top up the fund’s exposure to European shares and to benefit from any improved performance in 2025. These purchases were funded by selling some of the fund’s shareholdings in Asia, Japan, and the US. The latter performed particularly well, following Donald Trump’s victory in November’s election and amid suggestions that his ‘America first’ policies could help support profitability among US-listed firms.. </a:t>
            </a:r>
          </a:p>
        </p:txBody>
      </p:sp>
      <p:sp>
        <p:nvSpPr>
          <p:cNvPr id="4" name="object 5">
            <a:extLst>
              <a:ext uri="{FF2B5EF4-FFF2-40B4-BE49-F238E27FC236}">
                <a16:creationId xmlns:a16="http://schemas.microsoft.com/office/drawing/2014/main" id="{151D6A99-B175-AEA2-8C3D-3764F3E8B9CB}"/>
              </a:ext>
            </a:extLst>
          </p:cNvPr>
          <p:cNvSpPr txBox="1"/>
          <p:nvPr/>
        </p:nvSpPr>
        <p:spPr>
          <a:xfrm>
            <a:off x="588197" y="2508890"/>
            <a:ext cx="6101580" cy="1745991"/>
          </a:xfrm>
          <a:prstGeom prst="rect">
            <a:avLst/>
          </a:prstGeom>
          <a:noFill/>
        </p:spPr>
        <p:txBody>
          <a:bodyPr vert="horz" wrap="square" lIns="0" tIns="29845" rIns="0" bIns="0" rtlCol="0">
            <a:spAutoFit/>
          </a:bodyPr>
          <a:lstStyle/>
          <a:p>
            <a:pPr marL="12700">
              <a:lnSpc>
                <a:spcPct val="100000"/>
              </a:lnSpc>
              <a:spcBef>
                <a:spcPts val="235"/>
              </a:spcBef>
            </a:pPr>
            <a:r>
              <a:rPr lang="en-GB" sz="1150" b="1">
                <a:solidFill>
                  <a:srgbClr val="004F9E"/>
                </a:solidFill>
                <a:latin typeface="Zurich Sans"/>
                <a:cs typeface="Zurich Sans"/>
              </a:rPr>
              <a:t>Commentary</a:t>
            </a:r>
            <a:endParaRPr lang="en-GB" sz="1150">
              <a:latin typeface="Zurich Sans"/>
              <a:cs typeface="Zurich Sans"/>
            </a:endParaRPr>
          </a:p>
          <a:p>
            <a:pPr marL="12700" marR="5080">
              <a:lnSpc>
                <a:spcPts val="950"/>
              </a:lnSpc>
              <a:spcBef>
                <a:spcPts val="35"/>
              </a:spcBef>
            </a:pPr>
            <a:r>
              <a:rPr lang="en-GB" sz="900">
                <a:solidFill>
                  <a:srgbClr val="142863"/>
                </a:solidFill>
                <a:latin typeface="Zurich Sans Light"/>
              </a:rPr>
              <a:t>Market Commentary as at 31 December 2024: Both Equities and Bonds detracted from performance over the quarter, as most of the major asset classes posted negative returns. Within Bonds, performance was broadly negative across the fixed income spectrum, with US Treasuries and Emerging Market bonds being the key detractors to performance. US Treasuries came under pressure as markets mulled over the potential implications of a second Trump presidency. For Emerging Market assets, dollar strength proved to be a significant headwind, particularly for local currency denominated bonds. Within Equities, allocations to the broad US market, Financials and US Small-Cap stocks contributed positively to performance, given that</a:t>
            </a:r>
          </a:p>
          <a:p>
            <a:pPr marL="12700" marR="5080">
              <a:lnSpc>
                <a:spcPts val="950"/>
              </a:lnSpc>
              <a:spcBef>
                <a:spcPts val="35"/>
              </a:spcBef>
            </a:pPr>
            <a:r>
              <a:rPr lang="en-GB" sz="900">
                <a:solidFill>
                  <a:srgbClr val="142863"/>
                </a:solidFill>
                <a:latin typeface="Zurich Sans Light"/>
              </a:rPr>
              <a:t>these were amongst the few parts of the market that managed to end in positive territory over the quarter. The broad US market benefitted from the continued participation of Large-Cap Growth stocks in the AI rally, whilst Financials and Small-Cap stocks firmed on the back of expectations that they would be key beneficiaries of a second Trump presidency. On the other hand, Emerging Market equities came under pressure, particularly Korean and Chinese equities.</a:t>
            </a:r>
          </a:p>
        </p:txBody>
      </p:sp>
    </p:spTree>
    <p:extLst>
      <p:ext uri="{BB962C8B-B14F-4D97-AF65-F5344CB8AC3E}">
        <p14:creationId xmlns:p14="http://schemas.microsoft.com/office/powerpoint/2010/main" val="3326003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4276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A340C0-163A-490C-B810-95DAA8FC5C73}">
  <we:reference id="c08a5a11-2a3e-44ff-83ad-a24654290e73" version="1.0.0.9"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0F4F589CAB034D9996BCFA58ABBB9B" ma:contentTypeVersion="18" ma:contentTypeDescription="Create a new document." ma:contentTypeScope="" ma:versionID="0c5bd6ce5c7c55f270c4a866533aea91">
  <xsd:schema xmlns:xsd="http://www.w3.org/2001/XMLSchema" xmlns:xs="http://www.w3.org/2001/XMLSchema" xmlns:p="http://schemas.microsoft.com/office/2006/metadata/properties" xmlns:ns3="50820f9f-1a7b-4032-bdee-08f6128e8755" xmlns:ns4="b324f3bd-19fc-4630-9f60-efc32d0f72ce" targetNamespace="http://schemas.microsoft.com/office/2006/metadata/properties" ma:root="true" ma:fieldsID="d462d3d38dbcff0bba13631833c86362" ns3:_="" ns4:_="">
    <xsd:import namespace="50820f9f-1a7b-4032-bdee-08f6128e8755"/>
    <xsd:import namespace="b324f3bd-19fc-4630-9f60-efc32d0f72c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_activity" minOccurs="0"/>
                <xsd:element ref="ns4:MediaServiceObjectDetectorVersions" minOccurs="0"/>
                <xsd:element ref="ns4:MediaServiceSearchProperties" minOccurs="0"/>
                <xsd:element ref="ns4:MediaServiceSystemTag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820f9f-1a7b-4032-bdee-08f6128e875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24f3bd-19fc-4630-9f60-efc32d0f72c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SystemTags" ma:index="24" nillable="true" ma:displayName="MediaServiceSystemTags" ma:hidden="true" ma:internalName="MediaServiceSystemTag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324f3bd-19fc-4630-9f60-efc32d0f72ce" xsi:nil="true"/>
  </documentManagement>
</p:properties>
</file>

<file path=customXml/itemProps1.xml><?xml version="1.0" encoding="utf-8"?>
<ds:datastoreItem xmlns:ds="http://schemas.openxmlformats.org/officeDocument/2006/customXml" ds:itemID="{EBCFDAB7-5CDC-4833-9AAA-FD424C8235F3}">
  <ds:schemaRefs>
    <ds:schemaRef ds:uri="50820f9f-1a7b-4032-bdee-08f6128e8755"/>
    <ds:schemaRef ds:uri="b324f3bd-19fc-4630-9f60-efc32d0f72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4208720-DBFF-48B5-A36C-7477BD2B58D5}">
  <ds:schemaRefs>
    <ds:schemaRef ds:uri="http://schemas.microsoft.com/sharepoint/v3/contenttype/forms"/>
  </ds:schemaRefs>
</ds:datastoreItem>
</file>

<file path=customXml/itemProps3.xml><?xml version="1.0" encoding="utf-8"?>
<ds:datastoreItem xmlns:ds="http://schemas.openxmlformats.org/officeDocument/2006/customXml" ds:itemID="{DC32833D-EC9D-4174-A137-6F8FEF01E540}">
  <ds:schemaRefs>
    <ds:schemaRef ds:uri="50820f9f-1a7b-4032-bdee-08f6128e8755"/>
    <ds:schemaRef ds:uri="b324f3bd-19fc-4630-9f60-efc32d0f72c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6572</Words>
  <Application>Microsoft Office PowerPoint</Application>
  <PresentationFormat>Custom</PresentationFormat>
  <Paragraphs>518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Zurich Sans</vt:lpstr>
      <vt:lpstr>Zurich Sans Light</vt:lpstr>
      <vt:lpstr>Zurich Sans Semibold</vt:lpstr>
      <vt:lpstr>Arial</vt:lpstr>
      <vt:lpstr>Calibri</vt:lpstr>
      <vt:lpstr>Office Theme</vt:lpstr>
      <vt:lpstr>Fidelity Emerging Market Debt</vt:lpstr>
      <vt:lpstr>PowerPoint Presentation</vt:lpstr>
      <vt:lpstr>PowerPoint Presentation</vt:lpstr>
      <vt:lpstr>Option 1 – includes glossary but additional info and commentary are in the column which may not be easy to read</vt:lpstr>
      <vt:lpstr>Fidelity Emerging Market Debt</vt:lpstr>
      <vt:lpstr>PowerPoint Presentation</vt:lpstr>
      <vt:lpstr>PowerPoint Presentation</vt:lpstr>
      <vt:lpstr>Option 3 – glossary in the lhs column</vt:lpstr>
      <vt:lpstr>Fidelity Emerging Market Debt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Fidelity Emerging Market Debt PDF Factsheet</dc:title>
  <dc:creator>Neil Nicol</dc:creator>
  <cp:keywords>Version=3.2;
DocumentType=MR;
PublicationCountry=;
Language=en;
RecordDate=2024-11-30;
ShareClass=0L89;
Constraint=;
LevelType=;
DisseminationRecipient=;
GeneratorContact=customersupport@fefundinfo.com;
DateOfPublication=;
DocumentUrl=;
ModificationDate=;
ProductionDateTime=;
CalculationDate=2024-11-30;
DocumentLevelFlag=F;
Citicode=0L89;
RefPath=preview/ZILFS/FS/8aa6cab9-9492-461d-acba-e0bb0d6b7b82;</cp:keywords>
  <cp:lastModifiedBy>Sylwester Smolen</cp:lastModifiedBy>
  <cp:revision>4</cp:revision>
  <dcterms:created xsi:type="dcterms:W3CDTF">2025-02-14T09:21:38Z</dcterms:created>
  <dcterms:modified xsi:type="dcterms:W3CDTF">2025-06-23T09:38:38Z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2024-12-10T00:00:00Z</vt:filetime>
  </property>
  <property fmtid="{D5CDD505-2E9C-101B-9397-08002B2CF9AE}" pid="3" name="Creator">
    <vt:lpwstr>RealObjects PDFreactor(R) 11.6.4 (14944), Serial No: 5298, Licensed for: FE fundinfo (UK) Limited</vt:lpwstr>
  </property>
  <property fmtid="{D5CDD505-2E9C-101B-9397-08002B2CF9AE}" pid="4" name="LastSaved">
    <vt:filetime>2025-02-14T00:00:00Z</vt:filetime>
  </property>
  <property fmtid="{D5CDD505-2E9C-101B-9397-08002B2CF9AE}" pid="5" name="Producer">
    <vt:lpwstr>RealObjects PDFreactor(R) 11.6.4 (14944), Serial No: 5298, Licensed for: FE fundinfo (UK) Limited</vt:lpwstr>
  </property>
  <property fmtid="{D5CDD505-2E9C-101B-9397-08002B2CF9AE}" pid="6" name="MSIP_Label_9a7ed875-cb67-40d7-9ea6-a804b08b1148_Enabled">
    <vt:lpwstr>true</vt:lpwstr>
  </property>
  <property fmtid="{D5CDD505-2E9C-101B-9397-08002B2CF9AE}" pid="7" name="MSIP_Label_9a7ed875-cb67-40d7-9ea6-a804b08b1148_SetDate">
    <vt:lpwstr>2025-02-14T09:54:45Z</vt:lpwstr>
  </property>
  <property fmtid="{D5CDD505-2E9C-101B-9397-08002B2CF9AE}" pid="8" name="MSIP_Label_9a7ed875-cb67-40d7-9ea6-a804b08b1148_Method">
    <vt:lpwstr>Privileged</vt:lpwstr>
  </property>
  <property fmtid="{D5CDD505-2E9C-101B-9397-08002B2CF9AE}" pid="9" name="MSIP_Label_9a7ed875-cb67-40d7-9ea6-a804b08b1148_Name">
    <vt:lpwstr>9a7ed875-cb67-40d7-9ea6-a804b08b1148</vt:lpwstr>
  </property>
  <property fmtid="{D5CDD505-2E9C-101B-9397-08002B2CF9AE}" pid="10" name="MSIP_Label_9a7ed875-cb67-40d7-9ea6-a804b08b1148_SiteId">
    <vt:lpwstr>473672ba-cd07-4371-a2ae-788b4c61840e</vt:lpwstr>
  </property>
  <property fmtid="{D5CDD505-2E9C-101B-9397-08002B2CF9AE}" pid="11" name="MSIP_Label_9a7ed875-cb67-40d7-9ea6-a804b08b1148_ActionId">
    <vt:lpwstr>4a3382a1-4efe-4240-9aac-901c0c39532a</vt:lpwstr>
  </property>
  <property fmtid="{D5CDD505-2E9C-101B-9397-08002B2CF9AE}" pid="12" name="MSIP_Label_9a7ed875-cb67-40d7-9ea6-a804b08b1148_ContentBits">
    <vt:lpwstr>0</vt:lpwstr>
  </property>
  <property fmtid="{D5CDD505-2E9C-101B-9397-08002B2CF9AE}" pid="13" name="ContentTypeId">
    <vt:lpwstr>0x010100C80F4F589CAB034D9996BCFA58ABBB9B</vt:lpwstr>
  </property>
</Properties>
</file>