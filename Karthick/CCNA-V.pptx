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9"/>
  </p:notesMasterIdLst>
  <p:sldIdLst>
    <p:sldId id="256" r:id="rId2"/>
    <p:sldId id="258" r:id="rId3"/>
    <p:sldId id="259" r:id="rId4"/>
    <p:sldId id="260" r:id="rId5"/>
    <p:sldId id="261" r:id="rId6"/>
    <p:sldId id="262" r:id="rId7"/>
    <p:sldId id="263" r:id="rId8"/>
    <p:sldId id="264" r:id="rId9"/>
    <p:sldId id="265" r:id="rId10"/>
    <p:sldId id="266" r:id="rId11"/>
    <p:sldId id="267" r:id="rId12"/>
    <p:sldId id="439" r:id="rId13"/>
    <p:sldId id="268" r:id="rId14"/>
    <p:sldId id="440" r:id="rId15"/>
    <p:sldId id="269" r:id="rId16"/>
    <p:sldId id="441" r:id="rId17"/>
    <p:sldId id="442" r:id="rId18"/>
    <p:sldId id="443" r:id="rId19"/>
    <p:sldId id="270" r:id="rId20"/>
    <p:sldId id="444"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434" r:id="rId72"/>
    <p:sldId id="435" r:id="rId73"/>
    <p:sldId id="436" r:id="rId74"/>
    <p:sldId id="437" r:id="rId75"/>
    <p:sldId id="299" r:id="rId76"/>
    <p:sldId id="323" r:id="rId77"/>
    <p:sldId id="324" r:id="rId78"/>
    <p:sldId id="325" r:id="rId79"/>
    <p:sldId id="326" r:id="rId80"/>
    <p:sldId id="327" r:id="rId81"/>
    <p:sldId id="438" r:id="rId82"/>
    <p:sldId id="328" r:id="rId83"/>
    <p:sldId id="329" r:id="rId84"/>
    <p:sldId id="481" r:id="rId85"/>
    <p:sldId id="330" r:id="rId86"/>
    <p:sldId id="331" r:id="rId87"/>
    <p:sldId id="332" r:id="rId88"/>
    <p:sldId id="333" r:id="rId89"/>
    <p:sldId id="334" r:id="rId90"/>
    <p:sldId id="335" r:id="rId91"/>
    <p:sldId id="336" r:id="rId92"/>
    <p:sldId id="337" r:id="rId93"/>
    <p:sldId id="338" r:id="rId94"/>
    <p:sldId id="339" r:id="rId95"/>
    <p:sldId id="340" r:id="rId96"/>
    <p:sldId id="341" r:id="rId97"/>
    <p:sldId id="342" r:id="rId98"/>
    <p:sldId id="343" r:id="rId99"/>
    <p:sldId id="344" r:id="rId100"/>
    <p:sldId id="345" r:id="rId101"/>
    <p:sldId id="346" r:id="rId102"/>
    <p:sldId id="347" r:id="rId103"/>
    <p:sldId id="348" r:id="rId104"/>
    <p:sldId id="349" r:id="rId105"/>
    <p:sldId id="350" r:id="rId106"/>
    <p:sldId id="351" r:id="rId107"/>
    <p:sldId id="352" r:id="rId108"/>
    <p:sldId id="353" r:id="rId109"/>
    <p:sldId id="354" r:id="rId110"/>
    <p:sldId id="355" r:id="rId111"/>
    <p:sldId id="356" r:id="rId112"/>
    <p:sldId id="357" r:id="rId113"/>
    <p:sldId id="358" r:id="rId114"/>
    <p:sldId id="359" r:id="rId115"/>
    <p:sldId id="360" r:id="rId116"/>
    <p:sldId id="361" r:id="rId117"/>
    <p:sldId id="362" r:id="rId118"/>
    <p:sldId id="363" r:id="rId119"/>
    <p:sldId id="364" r:id="rId120"/>
    <p:sldId id="365" r:id="rId121"/>
    <p:sldId id="366" r:id="rId122"/>
    <p:sldId id="367" r:id="rId123"/>
    <p:sldId id="368" r:id="rId124"/>
    <p:sldId id="369" r:id="rId125"/>
    <p:sldId id="370" r:id="rId126"/>
    <p:sldId id="371" r:id="rId127"/>
    <p:sldId id="372" r:id="rId128"/>
    <p:sldId id="373" r:id="rId129"/>
    <p:sldId id="445" r:id="rId130"/>
    <p:sldId id="374" r:id="rId131"/>
    <p:sldId id="375" r:id="rId132"/>
    <p:sldId id="376" r:id="rId133"/>
    <p:sldId id="377" r:id="rId134"/>
    <p:sldId id="378" r:id="rId135"/>
    <p:sldId id="379" r:id="rId136"/>
    <p:sldId id="380" r:id="rId137"/>
    <p:sldId id="381" r:id="rId138"/>
    <p:sldId id="382" r:id="rId139"/>
    <p:sldId id="385" r:id="rId140"/>
    <p:sldId id="300" r:id="rId141"/>
    <p:sldId id="384" r:id="rId142"/>
    <p:sldId id="386" r:id="rId143"/>
    <p:sldId id="387" r:id="rId144"/>
    <p:sldId id="388" r:id="rId145"/>
    <p:sldId id="389" r:id="rId146"/>
    <p:sldId id="446" r:id="rId147"/>
    <p:sldId id="447" r:id="rId148"/>
    <p:sldId id="449" r:id="rId149"/>
    <p:sldId id="453" r:id="rId150"/>
    <p:sldId id="450" r:id="rId151"/>
    <p:sldId id="390" r:id="rId152"/>
    <p:sldId id="391" r:id="rId153"/>
    <p:sldId id="392" r:id="rId154"/>
    <p:sldId id="393" r:id="rId155"/>
    <p:sldId id="394" r:id="rId156"/>
    <p:sldId id="395" r:id="rId157"/>
    <p:sldId id="396" r:id="rId158"/>
    <p:sldId id="454" r:id="rId159"/>
    <p:sldId id="397" r:id="rId160"/>
    <p:sldId id="433" r:id="rId161"/>
    <p:sldId id="398" r:id="rId162"/>
    <p:sldId id="399" r:id="rId163"/>
    <p:sldId id="400" r:id="rId164"/>
    <p:sldId id="455" r:id="rId165"/>
    <p:sldId id="401" r:id="rId166"/>
    <p:sldId id="402" r:id="rId167"/>
    <p:sldId id="404" r:id="rId168"/>
    <p:sldId id="405" r:id="rId169"/>
    <p:sldId id="406" r:id="rId170"/>
    <p:sldId id="486" r:id="rId171"/>
    <p:sldId id="416" r:id="rId172"/>
    <p:sldId id="417" r:id="rId173"/>
    <p:sldId id="418" r:id="rId174"/>
    <p:sldId id="419" r:id="rId175"/>
    <p:sldId id="487" r:id="rId176"/>
    <p:sldId id="420" r:id="rId177"/>
    <p:sldId id="421" r:id="rId178"/>
    <p:sldId id="488" r:id="rId179"/>
    <p:sldId id="422" r:id="rId180"/>
    <p:sldId id="423" r:id="rId181"/>
    <p:sldId id="456" r:id="rId182"/>
    <p:sldId id="457" r:id="rId183"/>
    <p:sldId id="458" r:id="rId184"/>
    <p:sldId id="459" r:id="rId185"/>
    <p:sldId id="460" r:id="rId186"/>
    <p:sldId id="461" r:id="rId187"/>
    <p:sldId id="462" r:id="rId188"/>
    <p:sldId id="424" r:id="rId189"/>
    <p:sldId id="425" r:id="rId190"/>
    <p:sldId id="426" r:id="rId191"/>
    <p:sldId id="482" r:id="rId192"/>
    <p:sldId id="483" r:id="rId193"/>
    <p:sldId id="427" r:id="rId194"/>
    <p:sldId id="428" r:id="rId195"/>
    <p:sldId id="484" r:id="rId196"/>
    <p:sldId id="429" r:id="rId197"/>
    <p:sldId id="430" r:id="rId198"/>
    <p:sldId id="485" r:id="rId199"/>
    <p:sldId id="431" r:id="rId200"/>
    <p:sldId id="491" r:id="rId201"/>
    <p:sldId id="490" r:id="rId202"/>
    <p:sldId id="489" r:id="rId203"/>
    <p:sldId id="432" r:id="rId204"/>
    <p:sldId id="469" r:id="rId205"/>
    <p:sldId id="471" r:id="rId206"/>
    <p:sldId id="472" r:id="rId207"/>
    <p:sldId id="473" r:id="rId208"/>
    <p:sldId id="474" r:id="rId209"/>
    <p:sldId id="475" r:id="rId210"/>
    <p:sldId id="476" r:id="rId211"/>
    <p:sldId id="477" r:id="rId212"/>
    <p:sldId id="478" r:id="rId213"/>
    <p:sldId id="479" r:id="rId214"/>
    <p:sldId id="480" r:id="rId215"/>
    <p:sldId id="492" r:id="rId216"/>
    <p:sldId id="498" r:id="rId217"/>
    <p:sldId id="493" r:id="rId218"/>
    <p:sldId id="494" r:id="rId219"/>
    <p:sldId id="495" r:id="rId220"/>
    <p:sldId id="496" r:id="rId221"/>
    <p:sldId id="497" r:id="rId222"/>
    <p:sldId id="502" r:id="rId223"/>
    <p:sldId id="503" r:id="rId224"/>
    <p:sldId id="506" r:id="rId225"/>
    <p:sldId id="504" r:id="rId226"/>
    <p:sldId id="505" r:id="rId227"/>
    <p:sldId id="499" r:id="rId228"/>
    <p:sldId id="500" r:id="rId229"/>
    <p:sldId id="409" r:id="rId230"/>
    <p:sldId id="411" r:id="rId231"/>
    <p:sldId id="412" r:id="rId232"/>
    <p:sldId id="413" r:id="rId233"/>
    <p:sldId id="414" r:id="rId234"/>
    <p:sldId id="507" r:id="rId235"/>
    <p:sldId id="508" r:id="rId236"/>
    <p:sldId id="509" r:id="rId237"/>
    <p:sldId id="513" r:id="rId238"/>
    <p:sldId id="510" r:id="rId239"/>
    <p:sldId id="511" r:id="rId240"/>
    <p:sldId id="512" r:id="rId241"/>
    <p:sldId id="501" r:id="rId242"/>
    <p:sldId id="463" r:id="rId243"/>
    <p:sldId id="468" r:id="rId244"/>
    <p:sldId id="464" r:id="rId245"/>
    <p:sldId id="465" r:id="rId246"/>
    <p:sldId id="466" r:id="rId247"/>
    <p:sldId id="467" r:id="rId248"/>
  </p:sldIdLst>
  <p:sldSz cx="9144000" cy="6858000" type="screen4x3"/>
  <p:notesSz cx="6858000" cy="9144000"/>
  <p:embeddedFontLst>
    <p:embeddedFont>
      <p:font typeface="Arial Unicode MS" panose="020B0604020202020204" pitchFamily="34" charset="-128"/>
      <p:regular r:id="rId250"/>
    </p:embeddedFont>
    <p:embeddedFont>
      <p:font typeface="Calibri" panose="020F0502020204030204" pitchFamily="34" charset="0"/>
      <p:regular r:id="rId251"/>
      <p:bold r:id="rId252"/>
      <p:italic r:id="rId253"/>
      <p:boldItalic r:id="rId2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5" roundtripDataSignature="AMtx7mhyd/9ZFaNGJHJCqvl9czR3362s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945435-0B42-4836-8C0C-70F372444576}">
  <a:tblStyle styleId="{07945435-0B42-4836-8C0C-70F372444576}"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332DE6A-0728-4951-BA95-FBE1D94F13F9}" styleName="Table_1">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65" autoAdjust="0"/>
    <p:restoredTop sz="94660"/>
  </p:normalViewPr>
  <p:slideViewPr>
    <p:cSldViewPr snapToGrid="0">
      <p:cViewPr varScale="1">
        <p:scale>
          <a:sx n="70" d="100"/>
          <a:sy n="70" d="100"/>
        </p:scale>
        <p:origin x="113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tableStyles" Target="tableStyle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font" Target="fonts/font1.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font" Target="fonts/font2.fntdata"/><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font" Target="fonts/font3.fntdata"/><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font" Target="fonts/font4.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font" Target="fonts/font5.fntdata"/><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customschemas.google.com/relationships/presentationmetadata" Target="metadata"/><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presProps" Target="presProps.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0864089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7647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08439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799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6509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5964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9181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875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92193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9322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5505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5783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379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507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412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9478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9501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0683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61184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64376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8889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63646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9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9508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55168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87374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4754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71674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11308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68359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6164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73680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37968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6449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23042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14914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95993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49257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45254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478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8" name="Google Shape;318;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47798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48551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77826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51014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97565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18084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91700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42278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72177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55914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38528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3" name="Google Shape;403;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128068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35369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3" name="Google Shape;413;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44259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458777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6668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212560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24721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379170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7" name="Google Shape;447;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05478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19053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8910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5" name="Google Shape;465;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604593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86629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00061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032344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92849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5" name="Google Shape;495;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41311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29175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710855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672653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3" name="Google Shape;513;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196163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9" name="Google Shape;519;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399615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0" name="Google Shape;540;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49385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339451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160171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9711980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4" name="Google Shape;594;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01006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5190716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5" name="Google Shape;605;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5947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611" name="Google Shape;611;p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87</a:t>
            </a:fld>
            <a:endParaRPr/>
          </a:p>
        </p:txBody>
      </p:sp>
    </p:spTree>
    <p:extLst>
      <p:ext uri="{BB962C8B-B14F-4D97-AF65-F5344CB8AC3E}">
        <p14:creationId xmlns:p14="http://schemas.microsoft.com/office/powerpoint/2010/main" val="67990301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18151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33674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9" name="Google Shape;63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40993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3" name="Google Shape;653;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38619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458570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6" name="Google Shape;666;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688678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2" name="Google Shape;672;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78227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6383603"/>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8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5" name="Google Shape;685;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35091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060567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8" name="Google Shape;698;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01108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8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127974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1" name="Google Shape;711;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179343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7" name="Google Shape;717;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048845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3" name="Google Shape;723;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905272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8" name="Google Shape;728;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861682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9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3" name="Google Shape;733;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348943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9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670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4" name="Google Shape;744;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034267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9" name="Google Shape;749;p9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212849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4" name="Google Shape;754;p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7029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0" name="Google Shape;760;p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148496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9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101948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0" name="Google Shape;770;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819225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10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5" name="Google Shape;775;p10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144045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10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9" name="Google Shape;799;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834288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4" name="Google Shape;804;p10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206626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8" name="Google Shape;828;p1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6167369"/>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3" name="Google Shape;833;p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493595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8" name="Google Shape;838;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105265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666167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10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8" name="Google Shape;848;p1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14381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p10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3" name="Google Shape;853;p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919013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5" name="Google Shape;875;p1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714613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1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1" name="Google Shape;881;p1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922665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3" name="Google Shape;913;p1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162365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1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8" name="Google Shape;918;p1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66988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1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3" name="Google Shape;923;p1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025773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8" name="Google Shape;928;p1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106868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3" name="Google Shape;933;p1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2738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1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8" name="Google Shape;938;p1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057821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1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3" name="Google Shape;943;p1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89567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p1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9" name="Google Shape;949;p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8995820"/>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4" name="Google Shape;954;p1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145359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1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1" name="Google Shape;971;p1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43989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1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2" name="Google Shape;992;p1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4008909"/>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p1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7" name="Google Shape;997;p1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1840714"/>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1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2" name="Google Shape;1002;p1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496098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p1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8" name="Google Shape;1008;p1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011019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p1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3" name="Google Shape;1013;p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568554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1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1" name="Google Shape;1031;p1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83091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126497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p1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6" name="Google Shape;1026;p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1058230"/>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1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7" name="Google Shape;1037;p1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264526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p1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8" name="Google Shape;1048;p1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91297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1"/>
        <p:cNvGrpSpPr/>
        <p:nvPr/>
      </p:nvGrpSpPr>
      <p:grpSpPr>
        <a:xfrm>
          <a:off x="0" y="0"/>
          <a:ext cx="0" cy="0"/>
          <a:chOff x="0" y="0"/>
          <a:chExt cx="0" cy="0"/>
        </a:xfrm>
      </p:grpSpPr>
      <p:sp>
        <p:nvSpPr>
          <p:cNvPr id="1052" name="Google Shape;1052;p1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3" name="Google Shape;1053;p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9639308"/>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p1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4" name="Google Shape;1064;p1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534017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1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9" name="Google Shape;1069;p1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6806005"/>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p1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0" name="Google Shape;1080;p1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6092075"/>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1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5" name="Google Shape;1085;p1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604072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1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0" name="Google Shape;1090;p1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3497718"/>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1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5" name="Google Shape;1095;p1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842760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1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00" name="Google Shape;1100;p1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718263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p1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3" name="Google Shape;1123;p1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322592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p1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8" name="Google Shape;1128;p1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0232768"/>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1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4" name="Google Shape;1134;p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688095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1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0" name="Google Shape;1140;p1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982927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p1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5" name="Google Shape;1145;p1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623473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8"/>
        <p:cNvGrpSpPr/>
        <p:nvPr/>
      </p:nvGrpSpPr>
      <p:grpSpPr>
        <a:xfrm>
          <a:off x="0" y="0"/>
          <a:ext cx="0" cy="0"/>
          <a:chOff x="0" y="0"/>
          <a:chExt cx="0" cy="0"/>
        </a:xfrm>
      </p:grpSpPr>
      <p:sp>
        <p:nvSpPr>
          <p:cNvPr id="1159" name="Google Shape;1159;p1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0" name="Google Shape;1160;p1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505156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p1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9" name="Google Shape;1179;p1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438738"/>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p1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9" name="Google Shape;1189;p1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5886186"/>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p1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0" name="Google Shape;1210;p1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2174365"/>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1"/>
        <p:cNvGrpSpPr/>
        <p:nvPr/>
      </p:nvGrpSpPr>
      <p:grpSpPr>
        <a:xfrm>
          <a:off x="0" y="0"/>
          <a:ext cx="0" cy="0"/>
          <a:chOff x="0" y="0"/>
          <a:chExt cx="0" cy="0"/>
        </a:xfrm>
      </p:grpSpPr>
      <p:sp>
        <p:nvSpPr>
          <p:cNvPr id="1232" name="Google Shape;1232;p1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3" name="Google Shape;1233;p1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7175318"/>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6"/>
        <p:cNvGrpSpPr/>
        <p:nvPr/>
      </p:nvGrpSpPr>
      <p:grpSpPr>
        <a:xfrm>
          <a:off x="0" y="0"/>
          <a:ext cx="0" cy="0"/>
          <a:chOff x="0" y="0"/>
          <a:chExt cx="0" cy="0"/>
        </a:xfrm>
      </p:grpSpPr>
      <p:sp>
        <p:nvSpPr>
          <p:cNvPr id="1317" name="Google Shape;1317;p1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8" name="Google Shape;1318;p1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603965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1"/>
        <p:cNvGrpSpPr/>
        <p:nvPr/>
      </p:nvGrpSpPr>
      <p:grpSpPr>
        <a:xfrm>
          <a:off x="0" y="0"/>
          <a:ext cx="0" cy="0"/>
          <a:chOff x="0" y="0"/>
          <a:chExt cx="0" cy="0"/>
        </a:xfrm>
      </p:grpSpPr>
      <p:sp>
        <p:nvSpPr>
          <p:cNvPr id="1332" name="Google Shape;1332;p1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3" name="Google Shape;1333;p1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2970549"/>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p1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8" name="Google Shape;1338;p1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525453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1"/>
        <p:cNvGrpSpPr/>
        <p:nvPr/>
      </p:nvGrpSpPr>
      <p:grpSpPr>
        <a:xfrm>
          <a:off x="0" y="0"/>
          <a:ext cx="0" cy="0"/>
          <a:chOff x="0" y="0"/>
          <a:chExt cx="0" cy="0"/>
        </a:xfrm>
      </p:grpSpPr>
      <p:sp>
        <p:nvSpPr>
          <p:cNvPr id="1342" name="Google Shape;1342;p1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3" name="Google Shape;1343;p1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2669109"/>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6"/>
        <p:cNvGrpSpPr/>
        <p:nvPr/>
      </p:nvGrpSpPr>
      <p:grpSpPr>
        <a:xfrm>
          <a:off x="0" y="0"/>
          <a:ext cx="0" cy="0"/>
          <a:chOff x="0" y="0"/>
          <a:chExt cx="0" cy="0"/>
        </a:xfrm>
      </p:grpSpPr>
      <p:sp>
        <p:nvSpPr>
          <p:cNvPr id="1347" name="Google Shape;1347;p1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8" name="Google Shape;1348;p1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5848514"/>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7"/>
        <p:cNvGrpSpPr/>
        <p:nvPr/>
      </p:nvGrpSpPr>
      <p:grpSpPr>
        <a:xfrm>
          <a:off x="0" y="0"/>
          <a:ext cx="0" cy="0"/>
          <a:chOff x="0" y="0"/>
          <a:chExt cx="0" cy="0"/>
        </a:xfrm>
      </p:grpSpPr>
      <p:sp>
        <p:nvSpPr>
          <p:cNvPr id="1358" name="Google Shape;1358;p1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9" name="Google Shape;1359;p1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0526036"/>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2"/>
        <p:cNvGrpSpPr/>
        <p:nvPr/>
      </p:nvGrpSpPr>
      <p:grpSpPr>
        <a:xfrm>
          <a:off x="0" y="0"/>
          <a:ext cx="0" cy="0"/>
          <a:chOff x="0" y="0"/>
          <a:chExt cx="0" cy="0"/>
        </a:xfrm>
      </p:grpSpPr>
      <p:sp>
        <p:nvSpPr>
          <p:cNvPr id="1363" name="Google Shape;1363;p1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4" name="Google Shape;1364;p1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9993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p1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6" name="Google Shape;1376;p1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946460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6"/>
        <p:cNvGrpSpPr/>
        <p:nvPr/>
      </p:nvGrpSpPr>
      <p:grpSpPr>
        <a:xfrm>
          <a:off x="0" y="0"/>
          <a:ext cx="0" cy="0"/>
          <a:chOff x="0" y="0"/>
          <a:chExt cx="0" cy="0"/>
        </a:xfrm>
      </p:grpSpPr>
      <p:sp>
        <p:nvSpPr>
          <p:cNvPr id="1387" name="Google Shape;1387;p1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8" name="Google Shape;1388;p1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2298365"/>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p1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3" name="Google Shape;1403;p1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530079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p1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8" name="Google Shape;1408;p1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6584894"/>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1"/>
        <p:cNvGrpSpPr/>
        <p:nvPr/>
      </p:nvGrpSpPr>
      <p:grpSpPr>
        <a:xfrm>
          <a:off x="0" y="0"/>
          <a:ext cx="0" cy="0"/>
          <a:chOff x="0" y="0"/>
          <a:chExt cx="0" cy="0"/>
        </a:xfrm>
      </p:grpSpPr>
      <p:sp>
        <p:nvSpPr>
          <p:cNvPr id="1412" name="Google Shape;1412;p1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3" name="Google Shape;1413;p1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0546598"/>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1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4" name="Google Shape;1434;p1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278052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7"/>
        <p:cNvGrpSpPr/>
        <p:nvPr/>
      </p:nvGrpSpPr>
      <p:grpSpPr>
        <a:xfrm>
          <a:off x="0" y="0"/>
          <a:ext cx="0" cy="0"/>
          <a:chOff x="0" y="0"/>
          <a:chExt cx="0" cy="0"/>
        </a:xfrm>
      </p:grpSpPr>
      <p:sp>
        <p:nvSpPr>
          <p:cNvPr id="1438" name="Google Shape;1438;p1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9" name="Google Shape;1439;p1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0471233"/>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8"/>
        <p:cNvGrpSpPr/>
        <p:nvPr/>
      </p:nvGrpSpPr>
      <p:grpSpPr>
        <a:xfrm>
          <a:off x="0" y="0"/>
          <a:ext cx="0" cy="0"/>
          <a:chOff x="0" y="0"/>
          <a:chExt cx="0" cy="0"/>
        </a:xfrm>
      </p:grpSpPr>
      <p:sp>
        <p:nvSpPr>
          <p:cNvPr id="1459" name="Google Shape;1459;p1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0" name="Google Shape;1460;p1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8021154"/>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p1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5" name="Google Shape;1465;p1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7111547"/>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4"/>
        <p:cNvGrpSpPr/>
        <p:nvPr/>
      </p:nvGrpSpPr>
      <p:grpSpPr>
        <a:xfrm>
          <a:off x="0" y="0"/>
          <a:ext cx="0" cy="0"/>
          <a:chOff x="0" y="0"/>
          <a:chExt cx="0" cy="0"/>
        </a:xfrm>
      </p:grpSpPr>
      <p:sp>
        <p:nvSpPr>
          <p:cNvPr id="1485" name="Google Shape;1485;p1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6" name="Google Shape;1486;p1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445369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4"/>
        <p:cNvGrpSpPr/>
        <p:nvPr/>
      </p:nvGrpSpPr>
      <p:grpSpPr>
        <a:xfrm>
          <a:off x="0" y="0"/>
          <a:ext cx="0" cy="0"/>
          <a:chOff x="0" y="0"/>
          <a:chExt cx="0" cy="0"/>
        </a:xfrm>
      </p:grpSpPr>
      <p:sp>
        <p:nvSpPr>
          <p:cNvPr id="1485" name="Google Shape;1485;p1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6" name="Google Shape;1486;p1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7445223"/>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4"/>
        <p:cNvGrpSpPr/>
        <p:nvPr/>
      </p:nvGrpSpPr>
      <p:grpSpPr>
        <a:xfrm>
          <a:off x="0" y="0"/>
          <a:ext cx="0" cy="0"/>
          <a:chOff x="0" y="0"/>
          <a:chExt cx="0" cy="0"/>
        </a:xfrm>
      </p:grpSpPr>
      <p:sp>
        <p:nvSpPr>
          <p:cNvPr id="1485" name="Google Shape;1485;p1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6" name="Google Shape;1486;p1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302685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p1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4" name="Google Shape;1254;p1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4332202"/>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p1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3" name="Google Shape;1293;p1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8664183"/>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6"/>
        <p:cNvGrpSpPr/>
        <p:nvPr/>
      </p:nvGrpSpPr>
      <p:grpSpPr>
        <a:xfrm>
          <a:off x="0" y="0"/>
          <a:ext cx="0" cy="0"/>
          <a:chOff x="0" y="0"/>
          <a:chExt cx="0" cy="0"/>
        </a:xfrm>
      </p:grpSpPr>
      <p:sp>
        <p:nvSpPr>
          <p:cNvPr id="1297" name="Google Shape;1297;p1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8" name="Google Shape;1298;p1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9205619"/>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1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3" name="Google Shape;1303;p1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733307"/>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6"/>
        <p:cNvGrpSpPr/>
        <p:nvPr/>
      </p:nvGrpSpPr>
      <p:grpSpPr>
        <a:xfrm>
          <a:off x="0" y="0"/>
          <a:ext cx="0" cy="0"/>
          <a:chOff x="0" y="0"/>
          <a:chExt cx="0" cy="0"/>
        </a:xfrm>
      </p:grpSpPr>
      <p:sp>
        <p:nvSpPr>
          <p:cNvPr id="1307" name="Google Shape;1307;p1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8" name="Google Shape;1308;p1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1134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7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17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7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7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7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7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4" name="Google Shape;24;p1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1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18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8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8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8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18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8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9" name="Google Shape;39;p18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8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18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5" name="Google Shape;45;p18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6" name="Google Shape;46;p1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8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2" name="Google Shape;52;p18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3" name="Google Shape;53;p18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18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18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8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8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8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8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8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8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8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8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86"/>
          <p:cNvSpPr>
            <a:spLocks noGrp="1"/>
          </p:cNvSpPr>
          <p:nvPr>
            <p:ph type="pic" idx="2"/>
          </p:nvPr>
        </p:nvSpPr>
        <p:spPr>
          <a:xfrm>
            <a:off x="1792288" y="612775"/>
            <a:ext cx="5486400" cy="4114800"/>
          </a:xfrm>
          <a:prstGeom prst="rect">
            <a:avLst/>
          </a:prstGeom>
          <a:noFill/>
          <a:ln>
            <a:noFill/>
          </a:ln>
        </p:spPr>
      </p:sp>
      <p:sp>
        <p:nvSpPr>
          <p:cNvPr id="68" name="Google Shape;68;p18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8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8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8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8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8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8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8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8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8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8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8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8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84"/>
        <p:cNvGrpSpPr/>
        <p:nvPr/>
      </p:nvGrpSpPr>
      <p:grpSpPr>
        <a:xfrm>
          <a:off x="0" y="0"/>
          <a:ext cx="0" cy="0"/>
          <a:chOff x="0" y="0"/>
          <a:chExt cx="0" cy="0"/>
        </a:xfrm>
      </p:grpSpPr>
      <p:sp>
        <p:nvSpPr>
          <p:cNvPr id="85" name="Google Shape;85;p18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18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7" name="Google Shape;87;p18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8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8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7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14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3" Type="http://schemas.openxmlformats.org/officeDocument/2006/relationships/hyperlink" Target="https://www.google.com/search?sca_esv=6fa41a436cb3ef38&amp;rlz=1C1VDKB_en-GBIN1178IN1178&amp;cs=0&amp;sxsrf=AE3TifNezGqsjXiwKNUq_e703J9dQ3ZhoA:1761301092016&amp;q=Restrict&amp;sa=X&amp;ved=2ahUKEwjTvPTuzbyQAxWVRmcHHWdlLSIQxccNegQINRAC&amp;mstk=AUtExfD11aCM8IltxLPf_SZVMXhUxHDUxmM4TV0h_IKZjYBCWA-XQpU2smWrBeOd228ryMy4_rn_N3pXBWWETPWthunGby3sAsGghQAI8_KmfZX9oKsScBYgcQ-oSxKcTMT1pVtv9bDIBlAp--ViED2I_AEkf9Ie1zXXDpeDOusQz_WuTbvu88N87x9IXgChgYrgY8cLOo55IBwme4qaHYRh0QM4ZvpBwp6CV7CdqzRfVqSpt7Y9BYVXzhP4N2BDGVJnxBT6VMz-7feB9x-Tr6HuXpfK&amp;csui=3" TargetMode="External"/><Relationship Id="rId2" Type="http://schemas.openxmlformats.org/officeDocument/2006/relationships/hyperlink" Target="https://www.google.com/search?sca_esv=6fa41a436cb3ef38&amp;rlz=1C1VDKB_en-GBIN1178IN1178&amp;cs=0&amp;sxsrf=AE3TifNezGqsjXiwKNUq_e703J9dQ3ZhoA:1761301092016&amp;q=Protect&amp;sa=X&amp;ved=2ahUKEwjTvPTuzbyQAxWVRmcHHWdlLSIQxccNegQIDRAC&amp;mstk=AUtExfD11aCM8IltxLPf_SZVMXhUxHDUxmM4TV0h_IKZjYBCWA-XQpU2smWrBeOd228ryMy4_rn_N3pXBWWETPWthunGby3sAsGghQAI8_KmfZX9oKsScBYgcQ-oSxKcTMT1pVtv9bDIBlAp--ViED2I_AEkf9Ie1zXXDpeDOusQz_WuTbvu88N87x9IXgChgYrgY8cLOo55IBwme4qaHYRh0QM4ZvpBwp6CV7CdqzRfVqSpt7Y9BYVXzhP4N2BDGVJnxBT6VMz-7feB9x-Tr6HuXpfK&amp;csui=3" TargetMode="External"/><Relationship Id="rId1" Type="http://schemas.openxmlformats.org/officeDocument/2006/relationships/slideLayout" Target="../slideLayouts/slideLayout2.xml"/><Relationship Id="rId4" Type="http://schemas.openxmlformats.org/officeDocument/2006/relationships/hyperlink" Target="https://www.google.com/search?sca_esv=6fa41a436cb3ef38&amp;rlz=1C1VDKB_en-GBIN1178IN1178&amp;cs=0&amp;sxsrf=AE3TifNezGqsjXiwKNUq_e703J9dQ3ZhoA:1761301092016&amp;q=Shutdown&amp;sa=X&amp;ved=2ahUKEwjTvPTuzbyQAxWVRmcHHWdlLSIQxccNegQIMxAC&amp;mstk=AUtExfD11aCM8IltxLPf_SZVMXhUxHDUxmM4TV0h_IKZjYBCWA-XQpU2smWrBeOd228ryMy4_rn_N3pXBWWETPWthunGby3sAsGghQAI8_KmfZX9oKsScBYgcQ-oSxKcTMT1pVtv9bDIBlAp--ViED2I_AEkf9Ie1zXXDpeDOusQz_WuTbvu88N87x9IXgChgYrgY8cLOo55IBwme4qaHYRh0QM4ZvpBwp6CV7CdqzRfVqSpt7Y9BYVXzhP4N2BDGVJnxBT6VMz-7feB9x-Tr6HuXpfK&amp;csui=3" TargetMode="Externa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3" Type="http://schemas.openxmlformats.org/officeDocument/2006/relationships/hyperlink" Target="http://null" TargetMode="External"/><Relationship Id="rId2" Type="http://schemas.openxmlformats.org/officeDocument/2006/relationships/notesSlide" Target="../notesSlides/notesSlide156.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3" Type="http://schemas.openxmlformats.org/officeDocument/2006/relationships/hyperlink" Target="http://null" TargetMode="External"/><Relationship Id="rId2" Type="http://schemas.openxmlformats.org/officeDocument/2006/relationships/notesSlide" Target="../notesSlides/notesSlide157.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hyperlink" Target="https://www.google.com/search?sca_esv=bf9612d46e1c4c29&amp;rlz=1C1VDKB_en-GBIN1178IN1178&amp;q=Internet+of+Things&amp;sa=X&amp;ved=2ahUKEwiwq4Czx4CRAxX3TWwGHQo3FkwQxccNegQIMhAB&amp;mstk=AUtExfA-slD1TgXESlkemLdaFhE3jgMb6uqxAIP8KMr5ptt21xKcxuguOeHRyju_YhQFrmC55tiwcFLgAtma5VkxoOPVo4dYGvWRdCAe_n8MY9drry-8b6Wm9_f9Bwf4TvoX6MA&amp;csui=3" TargetMode="Externa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hyperlink" Target="mailto:user1@mailserver.com" TargetMode="Externa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hyperlink" Target="mailto:user2@mailserver.com" TargetMode="Externa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pic>
        <p:nvPicPr>
          <p:cNvPr id="94" name="Google Shape;94;p1" descr="ccna-course-card.png"/>
          <p:cNvPicPr preferRelativeResize="0">
            <a:picLocks noGrp="1"/>
          </p:cNvPicPr>
          <p:nvPr>
            <p:ph type="body" idx="1"/>
          </p:nvPr>
        </p:nvPicPr>
        <p:blipFill rotWithShape="1">
          <a:blip r:embed="rId3">
            <a:alphaModFix/>
          </a:blip>
          <a:srcRect/>
          <a:stretch/>
        </p:blipFill>
        <p:spPr>
          <a:xfrm>
            <a:off x="1184996" y="1600200"/>
            <a:ext cx="6774007" cy="452596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smtClean="0"/>
              <a:t>INTRODUCTION</a:t>
            </a:r>
            <a:r>
              <a:rPr lang="en-US" dirty="0" smtClean="0"/>
              <a:t/>
            </a:r>
            <a:br>
              <a:rPr lang="en-US" dirty="0" smtClean="0"/>
            </a:br>
            <a:r>
              <a:rPr lang="en-US" dirty="0" smtClean="0"/>
              <a:t>(</a:t>
            </a:r>
            <a:r>
              <a:rPr lang="en-IN" b="1" dirty="0" smtClean="0"/>
              <a:t>Cisco </a:t>
            </a:r>
            <a:r>
              <a:rPr lang="en-IN" b="1" dirty="0"/>
              <a:t>Certified Network </a:t>
            </a:r>
            <a:r>
              <a:rPr lang="en-IN" b="1" dirty="0" smtClean="0"/>
              <a:t>Associate)</a:t>
            </a:r>
            <a:endParaRPr b="1" dirty="0"/>
          </a:p>
        </p:txBody>
      </p:sp>
      <p:sp>
        <p:nvSpPr>
          <p:cNvPr id="111" name="Google Shape;111;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dirty="0"/>
              <a:t>Cisco Systems is an American multinational digital communications technology conglomerate corporation headquartered in San Jose, California.</a:t>
            </a:r>
            <a:endParaRPr dirty="0"/>
          </a:p>
          <a:p>
            <a:pPr marL="342900" lvl="0" indent="-342900" algn="l" rtl="0">
              <a:spcBef>
                <a:spcPts val="640"/>
              </a:spcBef>
              <a:spcAft>
                <a:spcPts val="0"/>
              </a:spcAft>
              <a:buClr>
                <a:schemeClr val="dk1"/>
              </a:buClr>
              <a:buSzPts val="3200"/>
              <a:buChar char="•"/>
            </a:pPr>
            <a:r>
              <a:rPr lang="en-US" dirty="0"/>
              <a:t>Cisco Systems was founded in December 1984 by Leonard </a:t>
            </a:r>
            <a:r>
              <a:rPr lang="en-US" dirty="0" err="1"/>
              <a:t>Bosack</a:t>
            </a:r>
            <a:r>
              <a:rPr lang="en-US" dirty="0"/>
              <a:t> and Sandy Lerner, two Stanford University computer scientists who had been instrumental in connecting computers at Stanford.</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a:spLocks noGrp="1"/>
          </p:cNvSpPr>
          <p:nvPr>
            <p:ph type="body" idx="1"/>
          </p:nvPr>
        </p:nvSpPr>
        <p:spPr>
          <a:xfrm>
            <a:off x="457200" y="304800"/>
            <a:ext cx="8229600" cy="5821363"/>
          </a:xfrm>
          <a:prstGeom prst="rect">
            <a:avLst/>
          </a:prstGeom>
          <a:noFill/>
          <a:ln>
            <a:noFill/>
          </a:ln>
        </p:spPr>
        <p:txBody>
          <a:bodyPr spcFirstLastPara="1" wrap="square" lIns="91425" tIns="45700" rIns="91425" bIns="45700" anchor="t" anchorCtr="0">
            <a:normAutofit/>
          </a:bodyPr>
          <a:lstStyle/>
          <a:p>
            <a:pPr marL="342900" lvl="0" algn="ctr">
              <a:spcBef>
                <a:spcPts val="0"/>
              </a:spcBef>
              <a:buSzPts val="3200"/>
              <a:buNone/>
            </a:pPr>
            <a:r>
              <a:rPr lang="en-US" b="1" dirty="0" smtClean="0"/>
              <a:t>CCNA (</a:t>
            </a:r>
            <a:r>
              <a:rPr lang="en-IN" b="1" dirty="0"/>
              <a:t>Cisco Certified Network </a:t>
            </a:r>
            <a:r>
              <a:rPr lang="en-IN" b="1" dirty="0" smtClean="0"/>
              <a:t>Associate)</a:t>
            </a:r>
            <a:endParaRPr lang="en-US" b="1" dirty="0" smtClean="0"/>
          </a:p>
          <a:p>
            <a:pPr marL="342900" lvl="0">
              <a:spcBef>
                <a:spcPts val="0"/>
              </a:spcBef>
              <a:buSzPts val="3200"/>
              <a:buNone/>
            </a:pPr>
            <a:r>
              <a:rPr lang="en-US" dirty="0" smtClean="0"/>
              <a:t>Exam </a:t>
            </a:r>
            <a:r>
              <a:rPr lang="en-US" dirty="0"/>
              <a:t>fees - 300 USD </a:t>
            </a:r>
            <a:endParaRPr lang="en-US" dirty="0" smtClean="0"/>
          </a:p>
          <a:p>
            <a:pPr marL="342900" lvl="0">
              <a:spcBef>
                <a:spcPts val="0"/>
              </a:spcBef>
              <a:buSzPts val="3200"/>
              <a:buNone/>
            </a:pPr>
            <a:r>
              <a:rPr lang="en-US" dirty="0" smtClean="0"/>
              <a:t>Languages</a:t>
            </a:r>
            <a:r>
              <a:rPr lang="en-US" dirty="0"/>
              <a:t> </a:t>
            </a:r>
            <a:r>
              <a:rPr lang="en-US" dirty="0" smtClean="0"/>
              <a:t>- </a:t>
            </a:r>
            <a:r>
              <a:rPr lang="en-US" dirty="0"/>
              <a:t>English</a:t>
            </a:r>
            <a:r>
              <a:rPr lang="en-US" dirty="0" smtClean="0"/>
              <a:t>, </a:t>
            </a:r>
            <a:r>
              <a:rPr lang="en-US" dirty="0" err="1" smtClean="0"/>
              <a:t>Japanish</a:t>
            </a:r>
            <a:endParaRPr dirty="0"/>
          </a:p>
          <a:p>
            <a:pPr marL="342900" lvl="0" indent="-342900" algn="l" rtl="0">
              <a:spcBef>
                <a:spcPts val="640"/>
              </a:spcBef>
              <a:spcAft>
                <a:spcPts val="0"/>
              </a:spcAft>
              <a:buClr>
                <a:schemeClr val="dk1"/>
              </a:buClr>
              <a:buSzPts val="3200"/>
              <a:buNone/>
            </a:pPr>
            <a:r>
              <a:rPr lang="en-US" b="1" dirty="0"/>
              <a:t>Job offers</a:t>
            </a:r>
            <a:endParaRPr b="1" dirty="0"/>
          </a:p>
          <a:p>
            <a:pPr marL="342900" lvl="0" indent="-342900" algn="l" rtl="0">
              <a:spcBef>
                <a:spcPts val="640"/>
              </a:spcBef>
              <a:spcAft>
                <a:spcPts val="0"/>
              </a:spcAft>
              <a:buClr>
                <a:schemeClr val="dk1"/>
              </a:buClr>
              <a:buSzPts val="3200"/>
              <a:buChar char="•"/>
            </a:pPr>
            <a:r>
              <a:rPr lang="en-US" dirty="0"/>
              <a:t>Technical Support Engineers</a:t>
            </a:r>
            <a:endParaRPr dirty="0"/>
          </a:p>
          <a:p>
            <a:pPr marL="342900" lvl="0" indent="-342900" algn="l" rtl="0">
              <a:spcBef>
                <a:spcPts val="640"/>
              </a:spcBef>
              <a:spcAft>
                <a:spcPts val="0"/>
              </a:spcAft>
              <a:buClr>
                <a:schemeClr val="dk1"/>
              </a:buClr>
              <a:buSzPts val="3200"/>
              <a:buChar char="•"/>
            </a:pPr>
            <a:r>
              <a:rPr lang="en-US" dirty="0"/>
              <a:t>Systems Engineers (Fresher)</a:t>
            </a:r>
            <a:endParaRPr dirty="0"/>
          </a:p>
          <a:p>
            <a:pPr marL="342900" lvl="0" indent="-342900" algn="l" rtl="0">
              <a:spcBef>
                <a:spcPts val="640"/>
              </a:spcBef>
              <a:spcAft>
                <a:spcPts val="0"/>
              </a:spcAft>
              <a:buClr>
                <a:schemeClr val="dk1"/>
              </a:buClr>
              <a:buSzPts val="3200"/>
              <a:buChar char="•"/>
            </a:pPr>
            <a:r>
              <a:rPr lang="en-US" dirty="0"/>
              <a:t>Network Administrator</a:t>
            </a:r>
            <a:endParaRPr dirty="0"/>
          </a:p>
          <a:p>
            <a:pPr marL="342900" lvl="0" indent="-342900" algn="l" rtl="0">
              <a:spcBef>
                <a:spcPts val="640"/>
              </a:spcBef>
              <a:spcAft>
                <a:spcPts val="0"/>
              </a:spcAft>
              <a:buClr>
                <a:schemeClr val="dk1"/>
              </a:buClr>
              <a:buSzPts val="3200"/>
              <a:buChar char="•"/>
            </a:pPr>
            <a:r>
              <a:rPr lang="en-US" dirty="0"/>
              <a:t>Information Technology (IT) Manager</a:t>
            </a:r>
            <a:endParaRPr dirty="0"/>
          </a:p>
          <a:p>
            <a:pPr marL="342900" lvl="0" indent="-342900" algn="l" rtl="0">
              <a:spcBef>
                <a:spcPts val="640"/>
              </a:spcBef>
              <a:spcAft>
                <a:spcPts val="0"/>
              </a:spcAft>
              <a:buClr>
                <a:schemeClr val="dk1"/>
              </a:buClr>
              <a:buSzPts val="3200"/>
              <a:buChar char="•"/>
            </a:pPr>
            <a:r>
              <a:rPr lang="en-US" dirty="0"/>
              <a:t>Senior Network Engineer</a:t>
            </a:r>
            <a:endParaRPr dirty="0"/>
          </a:p>
          <a:p>
            <a:pPr marL="342900" lvl="0" indent="-342900" algn="l" rtl="0">
              <a:spcBef>
                <a:spcPts val="640"/>
              </a:spcBef>
              <a:spcAft>
                <a:spcPts val="0"/>
              </a:spcAft>
              <a:buClr>
                <a:schemeClr val="dk1"/>
              </a:buClr>
              <a:buSzPts val="3200"/>
              <a:buChar char="•"/>
            </a:pPr>
            <a:r>
              <a:rPr lang="en-US" dirty="0"/>
              <a:t>Network Security Specialist</a:t>
            </a:r>
            <a:endParaRPr dirty="0"/>
          </a:p>
          <a:p>
            <a:pPr marL="342900" lvl="0" indent="-139700" algn="l" rtl="0">
              <a:spcBef>
                <a:spcPts val="640"/>
              </a:spcBef>
              <a:spcAft>
                <a:spcPts val="0"/>
              </a:spcAft>
              <a:buClr>
                <a:schemeClr val="dk1"/>
              </a:buClr>
              <a:buSzPts val="32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What is Network?</a:t>
            </a:r>
            <a:endParaRPr/>
          </a:p>
        </p:txBody>
      </p:sp>
      <p:sp>
        <p:nvSpPr>
          <p:cNvPr id="122" name="Google Shape;122;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Networking refers to interconnected computing devices that can exchange data and share resources with each other.</a:t>
            </a:r>
            <a:endParaRPr dirty="0"/>
          </a:p>
          <a:p>
            <a:pPr marL="342900" lvl="0" indent="-139700" algn="l" rtl="0">
              <a:spcBef>
                <a:spcPts val="640"/>
              </a:spcBef>
              <a:spcAft>
                <a:spcPts val="0"/>
              </a:spcAft>
              <a:buClr>
                <a:schemeClr val="dk1"/>
              </a:buClr>
              <a:buSzPts val="3200"/>
              <a:buNone/>
            </a:pPr>
            <a:endParaRPr dirty="0"/>
          </a:p>
        </p:txBody>
      </p:sp>
      <p:pic>
        <p:nvPicPr>
          <p:cNvPr id="123" name="Google Shape;123;p4" descr="how-to-network-two-computers.gif"/>
          <p:cNvPicPr preferRelativeResize="0"/>
          <p:nvPr/>
        </p:nvPicPr>
        <p:blipFill rotWithShape="1">
          <a:blip r:embed="rId3">
            <a:alphaModFix/>
          </a:blip>
          <a:srcRect/>
          <a:stretch/>
        </p:blipFill>
        <p:spPr>
          <a:xfrm>
            <a:off x="1447800" y="3810000"/>
            <a:ext cx="5890587" cy="1476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PROTOCOL</a:t>
            </a:r>
            <a:endParaRPr/>
          </a:p>
        </p:txBody>
      </p:sp>
      <p:sp>
        <p:nvSpPr>
          <p:cNvPr id="129" name="Google Shape;129;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protocol is a standardized set of rules for formatting and processing data. Protocols enable computers to communicate with one another. Eg: HTTP, SMTP, FTP</a:t>
            </a:r>
            <a:endParaRPr/>
          </a:p>
        </p:txBody>
      </p:sp>
      <p:pic>
        <p:nvPicPr>
          <p:cNvPr id="130" name="Google Shape;130;p5" descr="1_LzE1lM-Gl4k13M-lhlRgTQ (2).jpg"/>
          <p:cNvPicPr preferRelativeResize="0"/>
          <p:nvPr/>
        </p:nvPicPr>
        <p:blipFill rotWithShape="1">
          <a:blip r:embed="rId3">
            <a:alphaModFix/>
          </a:blip>
          <a:srcRect/>
          <a:stretch/>
        </p:blipFill>
        <p:spPr>
          <a:xfrm>
            <a:off x="1524000" y="3810000"/>
            <a:ext cx="5791200" cy="2667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PERSONAL AREA NETWORK</a:t>
            </a:r>
            <a:endParaRPr/>
          </a:p>
        </p:txBody>
      </p:sp>
      <p:pic>
        <p:nvPicPr>
          <p:cNvPr id="136" name="Google Shape;136;p6" descr="download (2).png"/>
          <p:cNvPicPr preferRelativeResize="0">
            <a:picLocks noGrp="1"/>
          </p:cNvPicPr>
          <p:nvPr>
            <p:ph type="body" idx="1"/>
          </p:nvPr>
        </p:nvPicPr>
        <p:blipFill rotWithShape="1">
          <a:blip r:embed="rId3">
            <a:alphaModFix/>
          </a:blip>
          <a:srcRect/>
          <a:stretch/>
        </p:blipFill>
        <p:spPr>
          <a:xfrm>
            <a:off x="2438400" y="4114800"/>
            <a:ext cx="3352800" cy="2209214"/>
          </a:xfrm>
          <a:prstGeom prst="rect">
            <a:avLst/>
          </a:prstGeom>
          <a:noFill/>
          <a:ln>
            <a:noFill/>
          </a:ln>
        </p:spPr>
      </p:pic>
      <p:sp>
        <p:nvSpPr>
          <p:cNvPr id="137" name="Google Shape;137;p6"/>
          <p:cNvSpPr txBox="1"/>
          <p:nvPr/>
        </p:nvSpPr>
        <p:spPr>
          <a:xfrm>
            <a:off x="1371600" y="1676400"/>
            <a:ext cx="6044475"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smtClean="0">
                <a:solidFill>
                  <a:schemeClr val="dk1"/>
                </a:solidFill>
                <a:latin typeface="Calibri"/>
                <a:ea typeface="Calibri"/>
                <a:cs typeface="Calibri"/>
                <a:sym typeface="Calibri"/>
              </a:rPr>
              <a:t>1.PAN </a:t>
            </a:r>
            <a:r>
              <a:rPr lang="en-US" sz="2400" b="0" i="0" u="none" strike="noStrike" cap="none" dirty="0">
                <a:solidFill>
                  <a:schemeClr val="dk1"/>
                </a:solidFill>
                <a:latin typeface="Calibri"/>
                <a:ea typeface="Calibri"/>
                <a:cs typeface="Calibri"/>
                <a:sym typeface="Calibri"/>
              </a:rPr>
              <a:t>connect electronic </a:t>
            </a:r>
            <a:r>
              <a:rPr lang="en-US" sz="2400" b="0" i="0" u="none" strike="noStrike" cap="none" dirty="0" smtClean="0">
                <a:solidFill>
                  <a:schemeClr val="dk1"/>
                </a:solidFill>
                <a:latin typeface="Calibri"/>
                <a:ea typeface="Calibri"/>
                <a:cs typeface="Calibri"/>
                <a:sym typeface="Calibri"/>
              </a:rPr>
              <a:t>device </a:t>
            </a:r>
            <a:r>
              <a:rPr lang="en-US" sz="2400" b="0" i="0" u="none" strike="noStrike" cap="none" dirty="0">
                <a:solidFill>
                  <a:schemeClr val="dk1"/>
                </a:solidFill>
                <a:latin typeface="Calibri"/>
                <a:ea typeface="Calibri"/>
                <a:cs typeface="Calibri"/>
                <a:sym typeface="Calibri"/>
              </a:rPr>
              <a:t>within a user </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    in mediate area=&gt;5 to 10 m</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2.Ex:bluetooth </a:t>
            </a:r>
            <a:r>
              <a:rPr lang="en-US" sz="2400" dirty="0" smtClean="0">
                <a:solidFill>
                  <a:schemeClr val="dk1"/>
                </a:solidFill>
                <a:latin typeface="Calibri"/>
                <a:ea typeface="Calibri"/>
                <a:cs typeface="Calibri"/>
                <a:sym typeface="Calibri"/>
              </a:rPr>
              <a:t>,</a:t>
            </a:r>
            <a:r>
              <a:rPr lang="en-US" sz="2400" dirty="0" err="1">
                <a:solidFill>
                  <a:schemeClr val="dk1"/>
                </a:solidFill>
                <a:latin typeface="Calibri"/>
                <a:ea typeface="Calibri"/>
                <a:cs typeface="Calibri"/>
                <a:sym typeface="Calibri"/>
              </a:rPr>
              <a:t>W</a:t>
            </a:r>
            <a:r>
              <a:rPr lang="en-US" sz="2400" dirty="0" err="1" smtClean="0">
                <a:solidFill>
                  <a:schemeClr val="dk1"/>
                </a:solidFill>
                <a:latin typeface="Calibri"/>
                <a:ea typeface="Calibri"/>
                <a:cs typeface="Calibri"/>
                <a:sym typeface="Calibri"/>
              </a:rPr>
              <a:t>iFi</a:t>
            </a:r>
            <a:r>
              <a:rPr lang="en-US" sz="2400" dirty="0" smtClean="0">
                <a:solidFill>
                  <a:schemeClr val="dk1"/>
                </a:solidFill>
                <a:latin typeface="Calibri"/>
                <a:ea typeface="Calibri"/>
                <a:cs typeface="Calibri"/>
                <a:sym typeface="Calibri"/>
              </a:rPr>
              <a:t> </a:t>
            </a:r>
            <a:r>
              <a:rPr lang="en-US" sz="2400" dirty="0">
                <a:solidFill>
                  <a:schemeClr val="dk1"/>
                </a:solidFill>
                <a:latin typeface="Calibri"/>
                <a:ea typeface="Calibri"/>
                <a:cs typeface="Calibri"/>
                <a:sym typeface="Calibri"/>
              </a:rPr>
              <a:t>,mouse etc...  </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3.Range few </a:t>
            </a:r>
            <a:r>
              <a:rPr lang="en-US" sz="2400" dirty="0" smtClean="0">
                <a:solidFill>
                  <a:schemeClr val="dk1"/>
                </a:solidFill>
                <a:latin typeface="Calibri"/>
                <a:ea typeface="Calibri"/>
                <a:cs typeface="Calibri"/>
                <a:sym typeface="Calibri"/>
              </a:rPr>
              <a:t>centimeter </a:t>
            </a:r>
            <a:r>
              <a:rPr lang="en-US" sz="2400" dirty="0">
                <a:solidFill>
                  <a:schemeClr val="dk1"/>
                </a:solidFill>
                <a:latin typeface="Calibri"/>
                <a:ea typeface="Calibri"/>
                <a:cs typeface="Calibri"/>
                <a:sym typeface="Calibri"/>
              </a:rPr>
              <a:t>to few meter</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4.Can be ether wired or </a:t>
            </a:r>
            <a:r>
              <a:rPr lang="en-US" sz="2400" dirty="0" smtClean="0">
                <a:solidFill>
                  <a:schemeClr val="dk1"/>
                </a:solidFill>
                <a:latin typeface="Calibri"/>
                <a:ea typeface="Calibri"/>
                <a:cs typeface="Calibri"/>
                <a:sym typeface="Calibri"/>
              </a:rPr>
              <a:t>wireless</a:t>
            </a: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5.Can be connect to L</a:t>
            </a:r>
            <a:r>
              <a:rPr lang="en-US" sz="2400" dirty="0" smtClean="0">
                <a:solidFill>
                  <a:schemeClr val="dk1"/>
                </a:solidFill>
                <a:latin typeface="Calibri"/>
                <a:ea typeface="Calibri"/>
                <a:cs typeface="Calibri"/>
                <a:sym typeface="Calibri"/>
              </a:rPr>
              <a:t>AN </a:t>
            </a:r>
            <a:r>
              <a:rPr lang="en-US" sz="2400" dirty="0">
                <a:solidFill>
                  <a:schemeClr val="dk1"/>
                </a:solidFill>
                <a:latin typeface="Calibri"/>
                <a:ea typeface="Calibri"/>
                <a:cs typeface="Calibri"/>
                <a:sym typeface="Calibri"/>
              </a:rPr>
              <a:t>or internet</a:t>
            </a:r>
            <a:endParaRPr sz="2400"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LOCAL AREA NETWORK</a:t>
            </a:r>
            <a:endParaRPr/>
          </a:p>
        </p:txBody>
      </p:sp>
      <p:pic>
        <p:nvPicPr>
          <p:cNvPr id="143" name="Google Shape;143;p7" descr="lan.jpeg"/>
          <p:cNvPicPr preferRelativeResize="0">
            <a:picLocks noGrp="1"/>
          </p:cNvPicPr>
          <p:nvPr>
            <p:ph type="body" idx="1"/>
          </p:nvPr>
        </p:nvPicPr>
        <p:blipFill rotWithShape="1">
          <a:blip r:embed="rId3">
            <a:alphaModFix/>
          </a:blip>
          <a:srcRect/>
          <a:stretch/>
        </p:blipFill>
        <p:spPr>
          <a:xfrm>
            <a:off x="2590800" y="3962400"/>
            <a:ext cx="3581400" cy="2590800"/>
          </a:xfrm>
          <a:prstGeom prst="rect">
            <a:avLst/>
          </a:prstGeom>
          <a:noFill/>
          <a:ln>
            <a:noFill/>
          </a:ln>
        </p:spPr>
      </p:pic>
      <p:sp>
        <p:nvSpPr>
          <p:cNvPr id="144" name="Google Shape;144;p7"/>
          <p:cNvSpPr txBox="1"/>
          <p:nvPr/>
        </p:nvSpPr>
        <p:spPr>
          <a:xfrm>
            <a:off x="685800" y="1676400"/>
            <a:ext cx="7480959"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1.Within a smaller geographic area</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2.Ex:school office ,home wifi network and small buiness </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network</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3.Home lans offten use  a single router ,while lan in  larger </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space may additionally use network switches for more </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   efficicently packet delivery.</a:t>
            </a:r>
            <a:endParaRPr sz="24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METROPOLITAN AREA NETWORK</a:t>
            </a:r>
            <a:endParaRPr/>
          </a:p>
        </p:txBody>
      </p:sp>
      <p:pic>
        <p:nvPicPr>
          <p:cNvPr id="150" name="Google Shape;150;p8" descr="man-300x192.png"/>
          <p:cNvPicPr preferRelativeResize="0">
            <a:picLocks noGrp="1"/>
          </p:cNvPicPr>
          <p:nvPr>
            <p:ph type="body" idx="1"/>
          </p:nvPr>
        </p:nvPicPr>
        <p:blipFill rotWithShape="1">
          <a:blip r:embed="rId3">
            <a:alphaModFix/>
          </a:blip>
          <a:srcRect/>
          <a:stretch/>
        </p:blipFill>
        <p:spPr>
          <a:xfrm>
            <a:off x="2209800" y="3581400"/>
            <a:ext cx="4038600" cy="2133600"/>
          </a:xfrm>
          <a:prstGeom prst="rect">
            <a:avLst/>
          </a:prstGeom>
          <a:noFill/>
          <a:ln>
            <a:noFill/>
          </a:ln>
        </p:spPr>
      </p:pic>
      <p:sp>
        <p:nvSpPr>
          <p:cNvPr id="151" name="Google Shape;151;p8"/>
          <p:cNvSpPr txBox="1"/>
          <p:nvPr/>
        </p:nvSpPr>
        <p:spPr>
          <a:xfrm>
            <a:off x="1219200" y="1905000"/>
            <a:ext cx="6376489" cy="1569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1.Man is made up interconnect </a:t>
            </a:r>
            <a:r>
              <a:rPr lang="en-US" sz="2400" dirty="0" err="1">
                <a:solidFill>
                  <a:schemeClr val="dk1"/>
                </a:solidFill>
                <a:latin typeface="Calibri"/>
                <a:ea typeface="Calibri"/>
                <a:cs typeface="Calibri"/>
                <a:sym typeface="Calibri"/>
              </a:rPr>
              <a:t>lans</a:t>
            </a:r>
            <a:endParaRPr sz="24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2.Bigger than </a:t>
            </a:r>
            <a:r>
              <a:rPr lang="en-US" sz="2400" dirty="0" err="1">
                <a:solidFill>
                  <a:schemeClr val="dk1"/>
                </a:solidFill>
                <a:latin typeface="Calibri"/>
                <a:ea typeface="Calibri"/>
                <a:cs typeface="Calibri"/>
                <a:sym typeface="Calibri"/>
              </a:rPr>
              <a:t>lans</a:t>
            </a:r>
            <a:r>
              <a:rPr lang="en-US" sz="2400" dirty="0">
                <a:solidFill>
                  <a:schemeClr val="dk1"/>
                </a:solidFill>
                <a:latin typeface="Calibri"/>
                <a:ea typeface="Calibri"/>
                <a:cs typeface="Calibri"/>
                <a:sym typeface="Calibri"/>
              </a:rPr>
              <a:t> and smaller than wan</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3.Ex:cities,large area with  multiple </a:t>
            </a:r>
            <a:r>
              <a:rPr lang="en-US" sz="2400" dirty="0" err="1">
                <a:solidFill>
                  <a:schemeClr val="dk1"/>
                </a:solidFill>
                <a:latin typeface="Calibri"/>
                <a:ea typeface="Calibri"/>
                <a:cs typeface="Calibri"/>
                <a:sym typeface="Calibri"/>
              </a:rPr>
              <a:t>buidings</a:t>
            </a:r>
            <a:r>
              <a:rPr lang="en-US" sz="2400" dirty="0" smtClean="0">
                <a:solidFill>
                  <a:schemeClr val="dk1"/>
                </a:solidFill>
                <a:latin typeface="Calibri"/>
                <a:ea typeface="Calibri"/>
                <a:cs typeface="Calibri"/>
                <a:sym typeface="Calibri"/>
              </a:rPr>
              <a:t>, town</a:t>
            </a:r>
            <a:endParaRPr sz="2400" dirty="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WIDE AREA NETWORK</a:t>
            </a:r>
            <a:endParaRPr/>
          </a:p>
        </p:txBody>
      </p:sp>
      <p:pic>
        <p:nvPicPr>
          <p:cNvPr id="157" name="Google Shape;157;p9" descr="WAN Network.jpg"/>
          <p:cNvPicPr preferRelativeResize="0">
            <a:picLocks noGrp="1"/>
          </p:cNvPicPr>
          <p:nvPr>
            <p:ph type="body" idx="1"/>
          </p:nvPr>
        </p:nvPicPr>
        <p:blipFill rotWithShape="1">
          <a:blip r:embed="rId3">
            <a:alphaModFix/>
          </a:blip>
          <a:srcRect/>
          <a:stretch/>
        </p:blipFill>
        <p:spPr>
          <a:xfrm>
            <a:off x="1676400" y="3810000"/>
            <a:ext cx="4419601" cy="2438400"/>
          </a:xfrm>
          <a:prstGeom prst="rect">
            <a:avLst/>
          </a:prstGeom>
          <a:noFill/>
          <a:ln>
            <a:noFill/>
          </a:ln>
        </p:spPr>
      </p:pic>
      <p:sp>
        <p:nvSpPr>
          <p:cNvPr id="158" name="Google Shape;158;p9"/>
          <p:cNvSpPr txBox="1"/>
          <p:nvPr/>
        </p:nvSpPr>
        <p:spPr>
          <a:xfrm>
            <a:off x="685800" y="1905000"/>
            <a:ext cx="8277138"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1.Wan connect lans and man</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2.Provide network connectivity over lager distance</a:t>
            </a:r>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3.Can  connect devices from mulitple location and across a globle</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lang="en-US" sz="2400">
                <a:solidFill>
                  <a:schemeClr val="dk1"/>
                </a:solidFill>
                <a:latin typeface="Calibri"/>
                <a:ea typeface="Calibri"/>
                <a:cs typeface="Calibri"/>
                <a:sym typeface="Calibri"/>
              </a:rPr>
              <a:t>4.Eg;internet large, business</a:t>
            </a:r>
            <a:endParaRPr sz="2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0"/>
          <p:cNvSpPr txBox="1">
            <a:spLocks noGrp="1"/>
          </p:cNvSpPr>
          <p:nvPr>
            <p:ph type="ctrTitle"/>
          </p:nvPr>
        </p:nvSpPr>
        <p:spPr>
          <a:xfrm>
            <a:off x="685800" y="404665"/>
            <a:ext cx="7772400" cy="122413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t>Network components or devices </a:t>
            </a:r>
            <a:endParaRPr b="1"/>
          </a:p>
        </p:txBody>
      </p:sp>
      <p:sp>
        <p:nvSpPr>
          <p:cNvPr id="164" name="Google Shape;164;p10"/>
          <p:cNvSpPr txBox="1">
            <a:spLocks noGrp="1"/>
          </p:cNvSpPr>
          <p:nvPr>
            <p:ph type="subTitle" idx="1"/>
          </p:nvPr>
        </p:nvSpPr>
        <p:spPr>
          <a:xfrm>
            <a:off x="2843808" y="1844824"/>
            <a:ext cx="3816424" cy="4248472"/>
          </a:xfrm>
          <a:prstGeom prst="rect">
            <a:avLst/>
          </a:prstGeom>
          <a:noFill/>
          <a:ln>
            <a:noFill/>
          </a:ln>
        </p:spPr>
        <p:txBody>
          <a:bodyPr spcFirstLastPara="1" wrap="square" lIns="91425" tIns="45700" rIns="91425" bIns="45700" anchor="t" anchorCtr="0">
            <a:normAutofit fontScale="85000" lnSpcReduction="20000"/>
          </a:bodyPr>
          <a:lstStyle/>
          <a:p>
            <a:pPr marL="457200" lvl="0" indent="-457200" algn="l" rtl="0">
              <a:spcBef>
                <a:spcPts val="0"/>
              </a:spcBef>
              <a:spcAft>
                <a:spcPts val="0"/>
              </a:spcAft>
              <a:buClr>
                <a:schemeClr val="dk1"/>
              </a:buClr>
              <a:buSzPct val="100000"/>
              <a:buFont typeface="Noto Sans Symbols"/>
              <a:buChar char="✔"/>
            </a:pPr>
            <a:r>
              <a:rPr lang="en-US">
                <a:solidFill>
                  <a:schemeClr val="dk1"/>
                </a:solidFill>
              </a:rPr>
              <a:t>Media</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HUBS</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Bridge</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Repeater</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Modem</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Switch</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Router</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Firewall and IPS</a:t>
            </a:r>
            <a:endParaRPr>
              <a:solidFill>
                <a:schemeClr val="dk1"/>
              </a:solidFill>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End points</a:t>
            </a:r>
            <a:endParaRPr/>
          </a:p>
          <a:p>
            <a:pPr marL="457200" lvl="0" indent="-457200" algn="l" rtl="0">
              <a:spcBef>
                <a:spcPts val="544"/>
              </a:spcBef>
              <a:spcAft>
                <a:spcPts val="0"/>
              </a:spcAft>
              <a:buClr>
                <a:schemeClr val="dk1"/>
              </a:buClr>
              <a:buSzPct val="100000"/>
              <a:buFont typeface="Noto Sans Symbols"/>
              <a:buChar char="✔"/>
            </a:pPr>
            <a:r>
              <a:rPr lang="en-US">
                <a:solidFill>
                  <a:schemeClr val="dk1"/>
                </a:solidFill>
              </a:rPr>
              <a:t>server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1"/>
          <p:cNvSpPr txBox="1">
            <a:spLocks noGrp="1"/>
          </p:cNvSpPr>
          <p:nvPr>
            <p:ph type="subTitle" idx="1"/>
          </p:nvPr>
        </p:nvSpPr>
        <p:spPr>
          <a:xfrm>
            <a:off x="539552" y="548680"/>
            <a:ext cx="8280920" cy="5976664"/>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3200"/>
              <a:buNone/>
            </a:pPr>
            <a:r>
              <a:rPr lang="en-US" b="1">
                <a:solidFill>
                  <a:schemeClr val="dk1"/>
                </a:solidFill>
              </a:rPr>
              <a:t>Media:</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Network media is refers communication channel used to interconnection nodes on a computer network.</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Example: Copper coaxial cable, Twisted pair cable, optical fiber cable used in wired network and radio waves used in wireless data connections networks.</a:t>
            </a:r>
            <a:endParaRPr/>
          </a:p>
          <a:p>
            <a:pPr marL="0" lvl="0" indent="0" algn="l" rtl="0">
              <a:spcBef>
                <a:spcPts val="640"/>
              </a:spcBef>
              <a:spcAft>
                <a:spcPts val="0"/>
              </a:spcAft>
              <a:buClr>
                <a:schemeClr val="dk1"/>
              </a:buClr>
              <a:buSzPts val="3200"/>
              <a:buNone/>
            </a:pPr>
            <a:r>
              <a:rPr lang="en-US" b="1">
                <a:solidFill>
                  <a:schemeClr val="dk1"/>
                </a:solidFill>
              </a:rPr>
              <a:t>HUBS:</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Its most basic networking devices connects multiple computer or other network devices</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Less security</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No MAC address(physical address-unqiue-12 digit)</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Oldest models                         </a:t>
            </a:r>
            <a:endParaRPr>
              <a:solidFill>
                <a:schemeClr val="dk1"/>
              </a:solidFill>
            </a:endParaRPr>
          </a:p>
        </p:txBody>
      </p:sp>
      <p:pic>
        <p:nvPicPr>
          <p:cNvPr id="170" name="Google Shape;170;p11"/>
          <p:cNvPicPr preferRelativeResize="0"/>
          <p:nvPr/>
        </p:nvPicPr>
        <p:blipFill rotWithShape="1">
          <a:blip r:embed="rId3">
            <a:alphaModFix/>
          </a:blip>
          <a:srcRect/>
          <a:stretch/>
        </p:blipFill>
        <p:spPr>
          <a:xfrm>
            <a:off x="4932040" y="5949280"/>
            <a:ext cx="2952328" cy="86409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1"/>
          <p:cNvSpPr txBox="1">
            <a:spLocks noGrp="1"/>
          </p:cNvSpPr>
          <p:nvPr>
            <p:ph type="subTitle" idx="1"/>
          </p:nvPr>
        </p:nvSpPr>
        <p:spPr>
          <a:xfrm>
            <a:off x="539552" y="548680"/>
            <a:ext cx="8280920" cy="5976664"/>
          </a:xfrm>
          <a:prstGeom prst="rect">
            <a:avLst/>
          </a:prstGeom>
          <a:noFill/>
          <a:ln>
            <a:noFill/>
          </a:ln>
        </p:spPr>
        <p:txBody>
          <a:bodyPr spcFirstLastPara="1" wrap="square" lIns="91425" tIns="45700" rIns="91425" bIns="45700" anchor="t" anchorCtr="0">
            <a:normAutofit/>
          </a:bodyPr>
          <a:lstStyle/>
          <a:p>
            <a:pPr marL="0" lvl="0" indent="0" algn="l" rtl="0">
              <a:spcBef>
                <a:spcPts val="640"/>
              </a:spcBef>
              <a:spcAft>
                <a:spcPts val="0"/>
              </a:spcAft>
              <a:buClr>
                <a:schemeClr val="dk1"/>
              </a:buClr>
              <a:buSzPts val="3200"/>
              <a:buNone/>
            </a:pPr>
            <a:r>
              <a:rPr lang="en-US" b="1" dirty="0" smtClean="0">
                <a:solidFill>
                  <a:schemeClr val="dk1"/>
                </a:solidFill>
              </a:rPr>
              <a:t>HUBS</a:t>
            </a:r>
            <a:r>
              <a:rPr lang="en-US" b="1" dirty="0">
                <a:solidFill>
                  <a:schemeClr val="dk1"/>
                </a:solidFill>
              </a:rPr>
              <a:t>:</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Its most basic networking devices connects multiple computer or other network devices</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Less security</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No MAC </a:t>
            </a:r>
            <a:r>
              <a:rPr lang="en-US" sz="2800" dirty="0" smtClean="0">
                <a:solidFill>
                  <a:schemeClr val="dk1"/>
                </a:solidFill>
              </a:rPr>
              <a:t>address learn(physical </a:t>
            </a:r>
            <a:r>
              <a:rPr lang="en-US" sz="2800" dirty="0">
                <a:solidFill>
                  <a:schemeClr val="dk1"/>
                </a:solidFill>
              </a:rPr>
              <a:t>address-unqiue-12 digit)</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Oldest </a:t>
            </a:r>
            <a:r>
              <a:rPr lang="en-US" sz="2800" dirty="0" smtClean="0">
                <a:solidFill>
                  <a:schemeClr val="dk1"/>
                </a:solidFill>
              </a:rPr>
              <a:t>models</a:t>
            </a:r>
          </a:p>
          <a:p>
            <a:pPr marL="457200" lvl="0" indent="-457200" algn="l" rtl="0">
              <a:spcBef>
                <a:spcPts val="560"/>
              </a:spcBef>
              <a:spcAft>
                <a:spcPts val="0"/>
              </a:spcAft>
              <a:buClr>
                <a:schemeClr val="dk1"/>
              </a:buClr>
              <a:buSzPts val="2800"/>
              <a:buFont typeface="Noto Sans Symbols"/>
              <a:buChar char="❖"/>
            </a:pPr>
            <a:r>
              <a:rPr lang="en-US" sz="2800" dirty="0" smtClean="0">
                <a:solidFill>
                  <a:schemeClr val="dk1"/>
                </a:solidFill>
              </a:rPr>
              <a:t>No data Provide</a:t>
            </a:r>
          </a:p>
          <a:p>
            <a:pPr marL="457200" lvl="0" indent="-457200" algn="l" rtl="0">
              <a:spcBef>
                <a:spcPts val="560"/>
              </a:spcBef>
              <a:spcAft>
                <a:spcPts val="0"/>
              </a:spcAft>
              <a:buClr>
                <a:schemeClr val="dk1"/>
              </a:buClr>
              <a:buSzPts val="2800"/>
              <a:buFont typeface="Noto Sans Symbols"/>
              <a:buChar char="❖"/>
            </a:pPr>
            <a:r>
              <a:rPr lang="en-US" sz="2800" dirty="0" smtClean="0">
                <a:solidFill>
                  <a:schemeClr val="dk1"/>
                </a:solidFill>
              </a:rPr>
              <a:t>Physical Layer           </a:t>
            </a:r>
            <a:endParaRPr dirty="0">
              <a:solidFill>
                <a:schemeClr val="dk1"/>
              </a:solidFill>
            </a:endParaRPr>
          </a:p>
        </p:txBody>
      </p:sp>
      <p:pic>
        <p:nvPicPr>
          <p:cNvPr id="170" name="Google Shape;170;p11"/>
          <p:cNvPicPr preferRelativeResize="0"/>
          <p:nvPr/>
        </p:nvPicPr>
        <p:blipFill rotWithShape="1">
          <a:blip r:embed="rId3">
            <a:alphaModFix/>
          </a:blip>
          <a:srcRect/>
          <a:stretch/>
        </p:blipFill>
        <p:spPr>
          <a:xfrm>
            <a:off x="5368769" y="3287966"/>
            <a:ext cx="2546932" cy="2744344"/>
          </a:xfrm>
          <a:prstGeom prst="rect">
            <a:avLst/>
          </a:prstGeom>
          <a:noFill/>
          <a:ln>
            <a:noFill/>
          </a:ln>
        </p:spPr>
      </p:pic>
    </p:spTree>
    <p:extLst>
      <p:ext uri="{BB962C8B-B14F-4D97-AF65-F5344CB8AC3E}">
        <p14:creationId xmlns:p14="http://schemas.microsoft.com/office/powerpoint/2010/main" val="796211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subTitle" idx="1"/>
          </p:nvPr>
        </p:nvSpPr>
        <p:spPr>
          <a:xfrm>
            <a:off x="611560" y="476672"/>
            <a:ext cx="7848872" cy="6048672"/>
          </a:xfrm>
          <a:prstGeom prst="rect">
            <a:avLst/>
          </a:prstGeom>
          <a:noFill/>
          <a:ln>
            <a:noFill/>
          </a:ln>
        </p:spPr>
        <p:txBody>
          <a:bodyPr spcFirstLastPara="1" wrap="square" lIns="91425" tIns="45700" rIns="91425" bIns="45700" anchor="t" anchorCtr="0">
            <a:normAutofit/>
          </a:bodyPr>
          <a:lstStyle/>
          <a:p>
            <a:pPr marL="0" lvl="0" indent="0" algn="l" rtl="0">
              <a:spcBef>
                <a:spcPts val="560"/>
              </a:spcBef>
              <a:spcAft>
                <a:spcPts val="0"/>
              </a:spcAft>
              <a:buClr>
                <a:schemeClr val="dk1"/>
              </a:buClr>
              <a:buSzPts val="2800"/>
              <a:buNone/>
            </a:pPr>
            <a:r>
              <a:rPr lang="en-US" sz="2800" b="1" dirty="0" smtClean="0">
                <a:solidFill>
                  <a:schemeClr val="dk1"/>
                </a:solidFill>
              </a:rPr>
              <a:t>Repeater</a:t>
            </a:r>
            <a:r>
              <a:rPr lang="en-US" sz="2800" b="1" dirty="0">
                <a:solidFill>
                  <a:schemeClr val="dk1"/>
                </a:solidFill>
              </a:rPr>
              <a:t>:</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A repeater is a powerful network hardware device that regenerates an incoming signal from the sender before retransmitting it to the receivers</a:t>
            </a:r>
            <a:endParaRPr dirty="0"/>
          </a:p>
        </p:txBody>
      </p:sp>
      <p:pic>
        <p:nvPicPr>
          <p:cNvPr id="177" name="Google Shape;177;p12"/>
          <p:cNvPicPr preferRelativeResize="0"/>
          <p:nvPr/>
        </p:nvPicPr>
        <p:blipFill rotWithShape="1">
          <a:blip r:embed="rId3">
            <a:alphaModFix/>
          </a:blip>
          <a:srcRect/>
          <a:stretch/>
        </p:blipFill>
        <p:spPr>
          <a:xfrm>
            <a:off x="6713921" y="182965"/>
            <a:ext cx="2187575" cy="928370"/>
          </a:xfrm>
          <a:prstGeom prst="rect">
            <a:avLst/>
          </a:prstGeom>
          <a:noFill/>
          <a:ln>
            <a:noFill/>
          </a:ln>
        </p:spPr>
      </p:pic>
      <p:pic>
        <p:nvPicPr>
          <p:cNvPr id="1026" name="Picture 2" descr="What is Repeater? full Explanation (Hindi) | Example | Advantages |  Disadvantages | @StudentNotes"/>
          <p:cNvPicPr>
            <a:picLocks noChangeAspect="1" noChangeArrowheads="1"/>
          </p:cNvPicPr>
          <p:nvPr/>
        </p:nvPicPr>
        <p:blipFill rotWithShape="1">
          <a:blip r:embed="rId4">
            <a:extLst>
              <a:ext uri="{28A0092B-C50C-407E-A947-70E740481C1C}">
                <a14:useLocalDpi xmlns:a14="http://schemas.microsoft.com/office/drawing/2010/main" val="0"/>
              </a:ext>
            </a:extLst>
          </a:blip>
          <a:srcRect l="1760" t="27759" r="2101" b="3172"/>
          <a:stretch/>
        </p:blipFill>
        <p:spPr bwMode="auto">
          <a:xfrm>
            <a:off x="160848" y="2895040"/>
            <a:ext cx="8983152" cy="36303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2"/>
          <p:cNvSpPr txBox="1">
            <a:spLocks noGrp="1"/>
          </p:cNvSpPr>
          <p:nvPr>
            <p:ph type="subTitle" idx="1"/>
          </p:nvPr>
        </p:nvSpPr>
        <p:spPr>
          <a:xfrm>
            <a:off x="611560" y="476672"/>
            <a:ext cx="7848872" cy="604867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dirty="0">
                <a:solidFill>
                  <a:schemeClr val="dk1"/>
                </a:solidFill>
              </a:rPr>
              <a:t>Bridge:</a:t>
            </a:r>
            <a:endParaRPr dirty="0"/>
          </a:p>
          <a:p>
            <a:pPr lvl="0" indent="-457200" algn="l">
              <a:spcBef>
                <a:spcPts val="560"/>
              </a:spcBef>
              <a:buClr>
                <a:schemeClr val="dk1"/>
              </a:buClr>
              <a:buSzPts val="2800"/>
              <a:buFont typeface="Noto Sans Symbols"/>
              <a:buChar char="❖"/>
            </a:pPr>
            <a:r>
              <a:rPr lang="en-US" sz="2800" dirty="0">
                <a:solidFill>
                  <a:schemeClr val="tx1"/>
                </a:solidFill>
              </a:rPr>
              <a:t>A network bridge is a device that connects two or more Local Area Networks (LANs) or network segments to create a single, </a:t>
            </a:r>
            <a:r>
              <a:rPr lang="en-US" sz="2800" dirty="0" smtClean="0">
                <a:solidFill>
                  <a:schemeClr val="tx1"/>
                </a:solidFill>
              </a:rPr>
              <a:t>larger network</a:t>
            </a:r>
          </a:p>
          <a:p>
            <a:pPr lvl="0" indent="-457200" algn="l">
              <a:spcBef>
                <a:spcPts val="560"/>
              </a:spcBef>
              <a:buClr>
                <a:schemeClr val="dk1"/>
              </a:buClr>
              <a:buSzPts val="2800"/>
              <a:buFont typeface="Noto Sans Symbols"/>
              <a:buChar char="❖"/>
            </a:pPr>
            <a:r>
              <a:rPr lang="en-US" sz="2800" dirty="0" smtClean="0">
                <a:solidFill>
                  <a:schemeClr val="tx1"/>
                </a:solidFill>
              </a:rPr>
              <a:t>Mostly </a:t>
            </a:r>
            <a:r>
              <a:rPr lang="en-US" sz="2800" dirty="0">
                <a:solidFill>
                  <a:schemeClr val="tx1"/>
                </a:solidFill>
              </a:rPr>
              <a:t>comes with one in and out </a:t>
            </a:r>
            <a:r>
              <a:rPr lang="en-US" sz="2800" dirty="0" smtClean="0">
                <a:solidFill>
                  <a:schemeClr val="tx1"/>
                </a:solidFill>
              </a:rPr>
              <a:t>port</a:t>
            </a:r>
          </a:p>
          <a:p>
            <a:pPr lvl="0" indent="-457200" algn="l">
              <a:spcBef>
                <a:spcPts val="560"/>
              </a:spcBef>
              <a:buClr>
                <a:schemeClr val="dk1"/>
              </a:buClr>
              <a:buSzPts val="2800"/>
              <a:buFont typeface="Noto Sans Symbols"/>
              <a:buChar char="❖"/>
            </a:pPr>
            <a:r>
              <a:rPr lang="en-US" dirty="0">
                <a:solidFill>
                  <a:schemeClr val="tx1"/>
                </a:solidFill>
              </a:rPr>
              <a:t>data link layer (Layer 2</a:t>
            </a:r>
            <a:r>
              <a:rPr lang="en-US" dirty="0" smtClean="0">
                <a:solidFill>
                  <a:schemeClr val="tx1"/>
                </a:solidFill>
              </a:rPr>
              <a:t>)</a:t>
            </a:r>
          </a:p>
          <a:p>
            <a:pPr lvl="0" indent="-457200" algn="l">
              <a:spcBef>
                <a:spcPts val="560"/>
              </a:spcBef>
              <a:buClr>
                <a:schemeClr val="dk1"/>
              </a:buClr>
              <a:buSzPts val="2800"/>
              <a:buFont typeface="Noto Sans Symbols"/>
              <a:buChar char="❖"/>
            </a:pPr>
            <a:r>
              <a:rPr lang="en-US" dirty="0">
                <a:solidFill>
                  <a:schemeClr val="tx1"/>
                </a:solidFill>
              </a:rPr>
              <a:t>bridge maintains a </a:t>
            </a:r>
            <a:r>
              <a:rPr lang="en-US" dirty="0" smtClean="0">
                <a:solidFill>
                  <a:schemeClr val="tx1"/>
                </a:solidFill>
              </a:rPr>
              <a:t>Forwarding </a:t>
            </a:r>
            <a:r>
              <a:rPr lang="en-US" dirty="0">
                <a:solidFill>
                  <a:schemeClr val="tx1"/>
                </a:solidFill>
              </a:rPr>
              <a:t>T</a:t>
            </a:r>
            <a:r>
              <a:rPr lang="en-US" dirty="0" smtClean="0">
                <a:solidFill>
                  <a:schemeClr val="tx1"/>
                </a:solidFill>
              </a:rPr>
              <a:t>able</a:t>
            </a:r>
            <a:r>
              <a:rPr lang="en-US" dirty="0">
                <a:solidFill>
                  <a:schemeClr val="tx1"/>
                </a:solidFill>
              </a:rPr>
              <a:t> of MAC addresses</a:t>
            </a:r>
            <a:endParaRPr dirty="0">
              <a:solidFill>
                <a:schemeClr val="tx1"/>
              </a:solidFill>
            </a:endParaRPr>
          </a:p>
          <a:p>
            <a:pPr marL="0" lvl="0" indent="0" algn="l" rtl="0">
              <a:spcBef>
                <a:spcPts val="560"/>
              </a:spcBef>
              <a:spcAft>
                <a:spcPts val="0"/>
              </a:spcAft>
              <a:buClr>
                <a:srgbClr val="888888"/>
              </a:buClr>
              <a:buSzPts val="2800"/>
              <a:buNone/>
            </a:pPr>
            <a:endParaRPr sz="2800" b="1" dirty="0">
              <a:solidFill>
                <a:schemeClr val="dk1"/>
              </a:solidFill>
            </a:endParaRPr>
          </a:p>
          <a:p>
            <a:pPr marL="0" lvl="0" indent="0" algn="l" rtl="0">
              <a:spcBef>
                <a:spcPts val="560"/>
              </a:spcBef>
              <a:spcAft>
                <a:spcPts val="0"/>
              </a:spcAft>
              <a:buClr>
                <a:srgbClr val="888888"/>
              </a:buClr>
              <a:buSzPts val="2800"/>
              <a:buNone/>
            </a:pPr>
            <a:endParaRPr sz="2800" b="1" dirty="0">
              <a:solidFill>
                <a:schemeClr val="dk1"/>
              </a:solidFill>
            </a:endParaRPr>
          </a:p>
        </p:txBody>
      </p:sp>
      <p:pic>
        <p:nvPicPr>
          <p:cNvPr id="176" name="Google Shape;176;p12"/>
          <p:cNvPicPr preferRelativeResize="0"/>
          <p:nvPr/>
        </p:nvPicPr>
        <p:blipFill rotWithShape="1">
          <a:blip r:embed="rId3">
            <a:alphaModFix/>
          </a:blip>
          <a:srcRect/>
          <a:stretch/>
        </p:blipFill>
        <p:spPr>
          <a:xfrm>
            <a:off x="4319195" y="4712801"/>
            <a:ext cx="2736698" cy="1374100"/>
          </a:xfrm>
          <a:prstGeom prst="rect">
            <a:avLst/>
          </a:prstGeom>
          <a:noFill/>
          <a:ln>
            <a:noFill/>
          </a:ln>
        </p:spPr>
      </p:pic>
    </p:spTree>
    <p:extLst>
      <p:ext uri="{BB962C8B-B14F-4D97-AF65-F5344CB8AC3E}">
        <p14:creationId xmlns:p14="http://schemas.microsoft.com/office/powerpoint/2010/main" val="3821624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subTitle" idx="1"/>
          </p:nvPr>
        </p:nvSpPr>
        <p:spPr>
          <a:xfrm>
            <a:off x="611560" y="404664"/>
            <a:ext cx="7776864" cy="604867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dirty="0">
                <a:solidFill>
                  <a:schemeClr val="dk1"/>
                </a:solidFill>
              </a:rPr>
              <a:t>Modem:</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A modem is a network device that both modulates and demodulates analog carrier signals (called sine waves) for encoding and decoding digital information for processing.</a:t>
            </a:r>
            <a:endParaRPr dirty="0"/>
          </a:p>
          <a:p>
            <a:pPr marL="457200" lvl="0" indent="-279400" algn="l" rtl="0">
              <a:spcBef>
                <a:spcPts val="560"/>
              </a:spcBef>
              <a:spcAft>
                <a:spcPts val="0"/>
              </a:spcAft>
              <a:buClr>
                <a:srgbClr val="888888"/>
              </a:buClr>
              <a:buSzPts val="2800"/>
              <a:buFont typeface="Noto Sans Symbols"/>
              <a:buNone/>
            </a:pPr>
            <a:endParaRPr sz="2800" dirty="0">
              <a:solidFill>
                <a:schemeClr val="dk1"/>
              </a:solidFill>
            </a:endParaRPr>
          </a:p>
          <a:p>
            <a:pPr marL="457200" lvl="0" indent="-279400" algn="l" rtl="0">
              <a:spcBef>
                <a:spcPts val="560"/>
              </a:spcBef>
              <a:spcAft>
                <a:spcPts val="0"/>
              </a:spcAft>
              <a:buClr>
                <a:srgbClr val="888888"/>
              </a:buClr>
              <a:buSzPts val="2800"/>
              <a:buFont typeface="Noto Sans Symbols"/>
              <a:buNone/>
            </a:pPr>
            <a:endParaRPr sz="2800" dirty="0">
              <a:solidFill>
                <a:schemeClr val="dk1"/>
              </a:solidFill>
            </a:endParaRPr>
          </a:p>
          <a:p>
            <a:pPr marL="457200" lvl="0" indent="-279400" algn="l" rtl="0">
              <a:spcBef>
                <a:spcPts val="560"/>
              </a:spcBef>
              <a:spcAft>
                <a:spcPts val="0"/>
              </a:spcAft>
              <a:buClr>
                <a:srgbClr val="888888"/>
              </a:buClr>
              <a:buSzPts val="2800"/>
              <a:buFont typeface="Noto Sans Symbols"/>
              <a:buNone/>
            </a:pPr>
            <a:endParaRPr sz="2800" dirty="0">
              <a:solidFill>
                <a:schemeClr val="dk1"/>
              </a:solidFill>
            </a:endParaRPr>
          </a:p>
        </p:txBody>
      </p:sp>
      <p:pic>
        <p:nvPicPr>
          <p:cNvPr id="184" name="Google Shape;184;p13"/>
          <p:cNvPicPr preferRelativeResize="0"/>
          <p:nvPr/>
        </p:nvPicPr>
        <p:blipFill rotWithShape="1">
          <a:blip r:embed="rId3">
            <a:alphaModFix/>
          </a:blip>
          <a:srcRect/>
          <a:stretch/>
        </p:blipFill>
        <p:spPr>
          <a:xfrm>
            <a:off x="3491865" y="2837180"/>
            <a:ext cx="1771650" cy="12649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subTitle" idx="1"/>
          </p:nvPr>
        </p:nvSpPr>
        <p:spPr>
          <a:xfrm>
            <a:off x="611560" y="404664"/>
            <a:ext cx="7776864" cy="6048672"/>
          </a:xfrm>
          <a:prstGeom prst="rect">
            <a:avLst/>
          </a:prstGeom>
          <a:noFill/>
          <a:ln>
            <a:noFill/>
          </a:ln>
        </p:spPr>
        <p:txBody>
          <a:bodyPr spcFirstLastPara="1" wrap="square" lIns="91425" tIns="45700" rIns="91425" bIns="45700" anchor="t" anchorCtr="0">
            <a:normAutofit/>
          </a:bodyPr>
          <a:lstStyle/>
          <a:p>
            <a:pPr marL="0" lvl="0" indent="0" algn="l" rtl="0">
              <a:spcBef>
                <a:spcPts val="640"/>
              </a:spcBef>
              <a:spcAft>
                <a:spcPts val="0"/>
              </a:spcAft>
              <a:buClr>
                <a:schemeClr val="dk1"/>
              </a:buClr>
              <a:buSzPts val="3200"/>
              <a:buNone/>
            </a:pPr>
            <a:r>
              <a:rPr lang="en-US" b="1" dirty="0" smtClean="0">
                <a:solidFill>
                  <a:schemeClr val="dk1"/>
                </a:solidFill>
              </a:rPr>
              <a:t>Switch</a:t>
            </a:r>
            <a:r>
              <a:rPr lang="en-US" b="1" dirty="0">
                <a:solidFill>
                  <a:schemeClr val="dk1"/>
                </a:solidFill>
              </a:rPr>
              <a:t>:</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Operate at layer2(data link layer) in network or OSI model</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Efficient than HUB</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Send data according to the IP MAC </a:t>
            </a:r>
            <a:r>
              <a:rPr lang="en-US" sz="2800" dirty="0" smtClean="0">
                <a:solidFill>
                  <a:schemeClr val="dk1"/>
                </a:solidFill>
              </a:rPr>
              <a:t>address</a:t>
            </a:r>
          </a:p>
          <a:p>
            <a:pPr marL="0" lvl="0" indent="0" algn="l" rtl="0">
              <a:spcBef>
                <a:spcPts val="560"/>
              </a:spcBef>
              <a:spcAft>
                <a:spcPts val="0"/>
              </a:spcAft>
              <a:buClr>
                <a:schemeClr val="dk1"/>
              </a:buClr>
              <a:buSzPts val="2800"/>
            </a:pPr>
            <a:r>
              <a:rPr lang="en-US" sz="2800" dirty="0" smtClean="0">
                <a:solidFill>
                  <a:schemeClr val="dk1"/>
                </a:solidFill>
              </a:rPr>
              <a:t>MAC Flooding</a:t>
            </a:r>
          </a:p>
          <a:p>
            <a:pPr marL="0" lvl="0" indent="0" algn="l" rtl="0">
              <a:spcBef>
                <a:spcPts val="560"/>
              </a:spcBef>
              <a:spcAft>
                <a:spcPts val="0"/>
              </a:spcAft>
              <a:buClr>
                <a:schemeClr val="dk1"/>
              </a:buClr>
              <a:buSzPts val="2800"/>
            </a:pPr>
            <a:r>
              <a:rPr lang="en-US" sz="2800" dirty="0" smtClean="0">
                <a:solidFill>
                  <a:schemeClr val="dk1"/>
                </a:solidFill>
              </a:rPr>
              <a:t>MAC Learning</a:t>
            </a:r>
          </a:p>
          <a:p>
            <a:pPr marL="0" lvl="0" indent="0" algn="l" rtl="0">
              <a:spcBef>
                <a:spcPts val="560"/>
              </a:spcBef>
              <a:spcAft>
                <a:spcPts val="0"/>
              </a:spcAft>
              <a:buClr>
                <a:schemeClr val="dk1"/>
              </a:buClr>
              <a:buSzPts val="2800"/>
            </a:pPr>
            <a:r>
              <a:rPr lang="en-US" sz="2800" dirty="0" smtClean="0">
                <a:solidFill>
                  <a:schemeClr val="dk1"/>
                </a:solidFill>
              </a:rPr>
              <a:t>MAC Table</a:t>
            </a:r>
            <a:endParaRPr lang="en-US" sz="2800" dirty="0">
              <a:solidFill>
                <a:schemeClr val="dk1"/>
              </a:solidFill>
            </a:endParaRPr>
          </a:p>
          <a:p>
            <a:pPr marL="0" lvl="0" indent="0" algn="l" rtl="0">
              <a:spcBef>
                <a:spcPts val="560"/>
              </a:spcBef>
              <a:spcAft>
                <a:spcPts val="0"/>
              </a:spcAft>
              <a:buClr>
                <a:schemeClr val="dk1"/>
              </a:buClr>
              <a:buSzPts val="2800"/>
            </a:pPr>
            <a:r>
              <a:rPr lang="en-US" sz="2800" dirty="0" smtClean="0">
                <a:solidFill>
                  <a:schemeClr val="dk1"/>
                </a:solidFill>
              </a:rPr>
              <a:t>MAC Aging</a:t>
            </a:r>
          </a:p>
          <a:p>
            <a:pPr marL="0" lvl="0" indent="0" algn="l" rtl="0">
              <a:spcBef>
                <a:spcPts val="560"/>
              </a:spcBef>
              <a:spcAft>
                <a:spcPts val="0"/>
              </a:spcAft>
              <a:buClr>
                <a:schemeClr val="dk1"/>
              </a:buClr>
              <a:buSzPts val="2800"/>
            </a:pPr>
            <a:r>
              <a:rPr lang="en-US" sz="2800" dirty="0" smtClean="0">
                <a:solidFill>
                  <a:schemeClr val="dk1"/>
                </a:solidFill>
              </a:rPr>
              <a:t>MAC Table date delete after 300 Sec (5 Min) if they not communicate.</a:t>
            </a:r>
            <a:endParaRPr dirty="0"/>
          </a:p>
        </p:txBody>
      </p:sp>
      <p:pic>
        <p:nvPicPr>
          <p:cNvPr id="183" name="Google Shape;183;p13"/>
          <p:cNvPicPr preferRelativeResize="0"/>
          <p:nvPr/>
        </p:nvPicPr>
        <p:blipFill rotWithShape="1">
          <a:blip r:embed="rId3">
            <a:alphaModFix/>
          </a:blip>
          <a:srcRect/>
          <a:stretch/>
        </p:blipFill>
        <p:spPr>
          <a:xfrm>
            <a:off x="6192688" y="151381"/>
            <a:ext cx="2195736" cy="864096"/>
          </a:xfrm>
          <a:prstGeom prst="rect">
            <a:avLst/>
          </a:prstGeom>
          <a:noFill/>
          <a:ln>
            <a:noFill/>
          </a:ln>
        </p:spPr>
      </p:pic>
    </p:spTree>
    <p:extLst>
      <p:ext uri="{BB962C8B-B14F-4D97-AF65-F5344CB8AC3E}">
        <p14:creationId xmlns:p14="http://schemas.microsoft.com/office/powerpoint/2010/main" val="1799662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subTitle" idx="1"/>
          </p:nvPr>
        </p:nvSpPr>
        <p:spPr>
          <a:xfrm>
            <a:off x="611560" y="404664"/>
            <a:ext cx="7776864" cy="6048672"/>
          </a:xfrm>
          <a:prstGeom prst="rect">
            <a:avLst/>
          </a:prstGeom>
          <a:noFill/>
          <a:ln>
            <a:noFill/>
          </a:ln>
        </p:spPr>
        <p:txBody>
          <a:bodyPr spcFirstLastPara="1" wrap="square" lIns="91425" tIns="45700" rIns="91425" bIns="45700" anchor="t" anchorCtr="0">
            <a:normAutofit/>
          </a:bodyPr>
          <a:lstStyle/>
          <a:p>
            <a:pPr marL="0" lvl="0" indent="0" algn="l" rtl="0">
              <a:spcBef>
                <a:spcPts val="640"/>
              </a:spcBef>
              <a:spcAft>
                <a:spcPts val="0"/>
              </a:spcAft>
              <a:buClr>
                <a:schemeClr val="dk1"/>
              </a:buClr>
              <a:buSzPts val="3200"/>
              <a:buNone/>
            </a:pPr>
            <a:r>
              <a:rPr lang="en-US" b="1" dirty="0" smtClean="0">
                <a:solidFill>
                  <a:schemeClr val="dk1"/>
                </a:solidFill>
              </a:rPr>
              <a:t>Switch:</a:t>
            </a:r>
          </a:p>
          <a:p>
            <a:pPr lvl="0" indent="-457200" algn="l" rtl="0">
              <a:spcBef>
                <a:spcPts val="640"/>
              </a:spcBef>
              <a:spcAft>
                <a:spcPts val="0"/>
              </a:spcAft>
              <a:buClr>
                <a:schemeClr val="dk1"/>
              </a:buClr>
              <a:buSzPts val="3200"/>
              <a:buFont typeface="Wingdings" panose="05000000000000000000" pitchFamily="2" charset="2"/>
              <a:buChar char="v"/>
            </a:pPr>
            <a:r>
              <a:rPr lang="en-US" dirty="0" smtClean="0">
                <a:solidFill>
                  <a:schemeClr val="dk1"/>
                </a:solidFill>
              </a:rPr>
              <a:t>Secure</a:t>
            </a:r>
          </a:p>
          <a:p>
            <a:pPr lvl="0" indent="-457200" algn="l" rtl="0">
              <a:spcBef>
                <a:spcPts val="640"/>
              </a:spcBef>
              <a:spcAft>
                <a:spcPts val="0"/>
              </a:spcAft>
              <a:buClr>
                <a:schemeClr val="dk1"/>
              </a:buClr>
              <a:buSzPts val="3200"/>
              <a:buFont typeface="Wingdings" panose="05000000000000000000" pitchFamily="2" charset="2"/>
              <a:buChar char="v"/>
            </a:pPr>
            <a:r>
              <a:rPr lang="en-US" dirty="0" smtClean="0">
                <a:solidFill>
                  <a:schemeClr val="dk1"/>
                </a:solidFill>
              </a:rPr>
              <a:t>MAC learn</a:t>
            </a:r>
          </a:p>
          <a:p>
            <a:pPr lvl="0" indent="-457200" algn="l" rtl="0">
              <a:spcBef>
                <a:spcPts val="640"/>
              </a:spcBef>
              <a:spcAft>
                <a:spcPts val="0"/>
              </a:spcAft>
              <a:buClr>
                <a:schemeClr val="dk1"/>
              </a:buClr>
              <a:buSzPts val="3200"/>
              <a:buFont typeface="Wingdings" panose="05000000000000000000" pitchFamily="2" charset="2"/>
              <a:buChar char="v"/>
            </a:pPr>
            <a:r>
              <a:rPr lang="en-US" dirty="0" smtClean="0">
                <a:solidFill>
                  <a:schemeClr val="dk1"/>
                </a:solidFill>
              </a:rPr>
              <a:t>Data Provide</a:t>
            </a:r>
          </a:p>
          <a:p>
            <a:pPr lvl="0" indent="-457200" algn="l" rtl="0">
              <a:spcBef>
                <a:spcPts val="640"/>
              </a:spcBef>
              <a:spcAft>
                <a:spcPts val="0"/>
              </a:spcAft>
              <a:buClr>
                <a:schemeClr val="dk1"/>
              </a:buClr>
              <a:buSzPts val="3200"/>
              <a:buFont typeface="Wingdings" panose="05000000000000000000" pitchFamily="2" charset="2"/>
              <a:buChar char="v"/>
            </a:pPr>
            <a:r>
              <a:rPr lang="en-US" dirty="0" smtClean="0">
                <a:solidFill>
                  <a:schemeClr val="dk1"/>
                </a:solidFill>
              </a:rPr>
              <a:t>Datalink Layer</a:t>
            </a:r>
            <a:endParaRPr dirty="0"/>
          </a:p>
        </p:txBody>
      </p:sp>
      <p:pic>
        <p:nvPicPr>
          <p:cNvPr id="183" name="Google Shape;183;p13"/>
          <p:cNvPicPr preferRelativeResize="0"/>
          <p:nvPr/>
        </p:nvPicPr>
        <p:blipFill rotWithShape="1">
          <a:blip r:embed="rId3">
            <a:alphaModFix/>
          </a:blip>
          <a:srcRect/>
          <a:stretch/>
        </p:blipFill>
        <p:spPr>
          <a:xfrm>
            <a:off x="6192688" y="151381"/>
            <a:ext cx="2195736" cy="864096"/>
          </a:xfrm>
          <a:prstGeom prst="rect">
            <a:avLst/>
          </a:prstGeom>
          <a:noFill/>
          <a:ln>
            <a:noFill/>
          </a:ln>
        </p:spPr>
      </p:pic>
    </p:spTree>
    <p:extLst>
      <p:ext uri="{BB962C8B-B14F-4D97-AF65-F5344CB8AC3E}">
        <p14:creationId xmlns:p14="http://schemas.microsoft.com/office/powerpoint/2010/main" val="6893014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txBox="1">
            <a:spLocks noGrp="1"/>
          </p:cNvSpPr>
          <p:nvPr>
            <p:ph type="subTitle" idx="1"/>
          </p:nvPr>
        </p:nvSpPr>
        <p:spPr>
          <a:xfrm>
            <a:off x="323528" y="260648"/>
            <a:ext cx="8496944" cy="6336704"/>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dirty="0">
                <a:solidFill>
                  <a:schemeClr val="dk1"/>
                </a:solidFill>
              </a:rPr>
              <a:t>Routers:</a:t>
            </a:r>
            <a:endParaRPr b="1" dirty="0">
              <a:solidFill>
                <a:schemeClr val="dk1"/>
              </a:solidFill>
            </a:endParaRPr>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Connects 2 or more packet switched networks /subnetworks</a:t>
            </a:r>
            <a:endParaRPr sz="2800" dirty="0">
              <a:solidFill>
                <a:schemeClr val="dk1"/>
              </a:solidFill>
            </a:endParaRPr>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Manages traffic </a:t>
            </a:r>
            <a:r>
              <a:rPr lang="en-US" sz="2800" dirty="0" smtClean="0">
                <a:solidFill>
                  <a:schemeClr val="dk1"/>
                </a:solidFill>
              </a:rPr>
              <a:t>on network</a:t>
            </a:r>
          </a:p>
          <a:p>
            <a:pPr marL="457200" lvl="0" indent="-457200" algn="l" rtl="0">
              <a:spcBef>
                <a:spcPts val="560"/>
              </a:spcBef>
              <a:spcAft>
                <a:spcPts val="0"/>
              </a:spcAft>
              <a:buClr>
                <a:schemeClr val="dk1"/>
              </a:buClr>
              <a:buSzPts val="2800"/>
              <a:buFont typeface="Noto Sans Symbols"/>
              <a:buChar char="❖"/>
            </a:pPr>
            <a:r>
              <a:rPr lang="en-US" sz="2800" dirty="0" smtClean="0">
                <a:solidFill>
                  <a:schemeClr val="dk1"/>
                </a:solidFill>
              </a:rPr>
              <a:t> </a:t>
            </a:r>
            <a:r>
              <a:rPr lang="en-US" sz="2800" dirty="0">
                <a:solidFill>
                  <a:schemeClr val="dk1"/>
                </a:solidFill>
              </a:rPr>
              <a:t>allows multiple devices to use the same internet </a:t>
            </a:r>
            <a:r>
              <a:rPr lang="en-US" sz="2800" dirty="0" smtClean="0">
                <a:solidFill>
                  <a:schemeClr val="dk1"/>
                </a:solidFill>
              </a:rPr>
              <a:t>connection</a:t>
            </a:r>
          </a:p>
          <a:p>
            <a:pPr marL="457200" lvl="0" indent="-457200" algn="l" rtl="0">
              <a:spcBef>
                <a:spcPts val="560"/>
              </a:spcBef>
              <a:spcAft>
                <a:spcPts val="0"/>
              </a:spcAft>
              <a:buClr>
                <a:schemeClr val="dk1"/>
              </a:buClr>
              <a:buSzPts val="2800"/>
              <a:buFont typeface="Noto Sans Symbols"/>
              <a:buChar char="❖"/>
            </a:pPr>
            <a:r>
              <a:rPr lang="en-US" sz="2800" dirty="0" smtClean="0">
                <a:solidFill>
                  <a:schemeClr val="dk1"/>
                </a:solidFill>
              </a:rPr>
              <a:t>Distribute packet over network</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Layer 3(network layer</a:t>
            </a:r>
            <a:r>
              <a:rPr lang="en-US" sz="2800" dirty="0" smtClean="0">
                <a:solidFill>
                  <a:schemeClr val="dk1"/>
                </a:solidFill>
              </a:rPr>
              <a:t>) </a:t>
            </a:r>
            <a:endParaRPr dirty="0"/>
          </a:p>
          <a:p>
            <a:pPr marL="0" lvl="0" indent="0" algn="l" rtl="0">
              <a:spcBef>
                <a:spcPts val="640"/>
              </a:spcBef>
              <a:spcAft>
                <a:spcPts val="0"/>
              </a:spcAft>
              <a:buClr>
                <a:srgbClr val="888888"/>
              </a:buClr>
              <a:buSzPts val="3200"/>
              <a:buNone/>
            </a:pPr>
            <a:r>
              <a:rPr lang="en-US" b="1" dirty="0" smtClean="0">
                <a:solidFill>
                  <a:schemeClr val="dk1"/>
                </a:solidFill>
              </a:rPr>
              <a:t>NAT</a:t>
            </a:r>
            <a:r>
              <a:rPr lang="en-US" dirty="0" smtClean="0">
                <a:solidFill>
                  <a:schemeClr val="dk1"/>
                </a:solidFill>
              </a:rPr>
              <a:t>-Network Address Translation</a:t>
            </a:r>
          </a:p>
          <a:p>
            <a:pPr marL="0" lvl="0" indent="0" algn="l" rtl="0">
              <a:spcBef>
                <a:spcPts val="640"/>
              </a:spcBef>
              <a:spcAft>
                <a:spcPts val="0"/>
              </a:spcAft>
              <a:buClr>
                <a:srgbClr val="888888"/>
              </a:buClr>
              <a:buSzPts val="3200"/>
              <a:buNone/>
            </a:pPr>
            <a:r>
              <a:rPr lang="en-US" dirty="0" smtClean="0">
                <a:solidFill>
                  <a:schemeClr val="dk1"/>
                </a:solidFill>
              </a:rPr>
              <a:t>(To see the changes Public IP to Private IP &amp; Private IP to Public IP)</a:t>
            </a:r>
            <a:endParaRPr dirty="0">
              <a:solidFill>
                <a:schemeClr val="dk1"/>
              </a:solidFill>
            </a:endParaRPr>
          </a:p>
          <a:p>
            <a:pPr marL="0" lvl="0" indent="0" algn="l" rtl="0">
              <a:spcBef>
                <a:spcPts val="640"/>
              </a:spcBef>
              <a:spcAft>
                <a:spcPts val="0"/>
              </a:spcAft>
              <a:buClr>
                <a:srgbClr val="888888"/>
              </a:buClr>
              <a:buSzPts val="3200"/>
              <a:buNone/>
            </a:pPr>
            <a:endParaRPr dirty="0">
              <a:solidFill>
                <a:schemeClr val="dk1"/>
              </a:solidFill>
            </a:endParaRPr>
          </a:p>
        </p:txBody>
      </p:sp>
      <p:pic>
        <p:nvPicPr>
          <p:cNvPr id="190" name="Google Shape;190;p14"/>
          <p:cNvPicPr preferRelativeResize="0"/>
          <p:nvPr/>
        </p:nvPicPr>
        <p:blipFill rotWithShape="1">
          <a:blip r:embed="rId3">
            <a:alphaModFix/>
          </a:blip>
          <a:srcRect/>
          <a:stretch/>
        </p:blipFill>
        <p:spPr>
          <a:xfrm>
            <a:off x="5956717" y="5638794"/>
            <a:ext cx="2668668" cy="958558"/>
          </a:xfrm>
          <a:prstGeom prst="rect">
            <a:avLst/>
          </a:prstGeom>
          <a:noFill/>
          <a:ln>
            <a:noFill/>
          </a:ln>
        </p:spPr>
      </p:pic>
    </p:spTree>
    <p:extLst>
      <p:ext uri="{BB962C8B-B14F-4D97-AF65-F5344CB8AC3E}">
        <p14:creationId xmlns:p14="http://schemas.microsoft.com/office/powerpoint/2010/main" val="2832914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txBox="1">
            <a:spLocks noGrp="1"/>
          </p:cNvSpPr>
          <p:nvPr>
            <p:ph type="subTitle" idx="1"/>
          </p:nvPr>
        </p:nvSpPr>
        <p:spPr>
          <a:xfrm>
            <a:off x="323528" y="260648"/>
            <a:ext cx="8496944" cy="6336704"/>
          </a:xfrm>
          <a:prstGeom prst="rect">
            <a:avLst/>
          </a:prstGeom>
          <a:noFill/>
          <a:ln>
            <a:noFill/>
          </a:ln>
        </p:spPr>
        <p:txBody>
          <a:bodyPr spcFirstLastPara="1" wrap="square" lIns="91425" tIns="45700" rIns="91425" bIns="45700" anchor="t" anchorCtr="0">
            <a:normAutofit/>
          </a:bodyPr>
          <a:lstStyle/>
          <a:p>
            <a:pPr marL="0" lvl="0" indent="0" algn="l" rtl="0">
              <a:spcBef>
                <a:spcPts val="640"/>
              </a:spcBef>
              <a:spcAft>
                <a:spcPts val="0"/>
              </a:spcAft>
              <a:buClr>
                <a:schemeClr val="dk1"/>
              </a:buClr>
              <a:buSzPts val="3200"/>
              <a:buNone/>
            </a:pPr>
            <a:r>
              <a:rPr lang="en-US" b="1" dirty="0" smtClean="0">
                <a:solidFill>
                  <a:schemeClr val="dk1"/>
                </a:solidFill>
              </a:rPr>
              <a:t>Firewalls </a:t>
            </a:r>
            <a:r>
              <a:rPr lang="en-US" b="1" dirty="0">
                <a:solidFill>
                  <a:schemeClr val="dk1"/>
                </a:solidFill>
              </a:rPr>
              <a:t>and IPS:</a:t>
            </a:r>
            <a:endParaRPr dirty="0"/>
          </a:p>
          <a:p>
            <a:pPr lvl="0" indent="-457200" algn="l">
              <a:spcBef>
                <a:spcPts val="560"/>
              </a:spcBef>
              <a:buClr>
                <a:schemeClr val="dk1"/>
              </a:buClr>
              <a:buSzPts val="2800"/>
              <a:buFont typeface="Noto Sans Symbols"/>
              <a:buChar char="❖"/>
            </a:pPr>
            <a:r>
              <a:rPr lang="en-US" sz="2800" dirty="0">
                <a:solidFill>
                  <a:schemeClr val="dk1"/>
                </a:solidFill>
              </a:rPr>
              <a:t>A next generation firewalls (NGFW) is a deep filtering firewalls integrated with an </a:t>
            </a:r>
            <a:r>
              <a:rPr lang="en-US" sz="2800" dirty="0" smtClean="0">
                <a:solidFill>
                  <a:schemeClr val="dk1"/>
                </a:solidFill>
              </a:rPr>
              <a:t>Intrusion Detection system(IDS</a:t>
            </a:r>
            <a:r>
              <a:rPr lang="en-US" sz="2800" dirty="0">
                <a:solidFill>
                  <a:schemeClr val="dk1"/>
                </a:solidFill>
              </a:rPr>
              <a:t>) </a:t>
            </a:r>
            <a:r>
              <a:rPr lang="en-US" sz="2800" dirty="0" smtClean="0">
                <a:solidFill>
                  <a:schemeClr val="dk1"/>
                </a:solidFill>
              </a:rPr>
              <a:t>&amp; Intrusion Protection </a:t>
            </a:r>
            <a:r>
              <a:rPr lang="en-US" sz="2800" dirty="0">
                <a:solidFill>
                  <a:schemeClr val="dk1"/>
                </a:solidFill>
              </a:rPr>
              <a:t>system(IPS) and </a:t>
            </a:r>
            <a:r>
              <a:rPr lang="en-US" sz="2800" dirty="0" smtClean="0">
                <a:solidFill>
                  <a:schemeClr val="dk1"/>
                </a:solidFill>
              </a:rPr>
              <a:t>able </a:t>
            </a:r>
            <a:r>
              <a:rPr lang="en-US" sz="2800" dirty="0">
                <a:solidFill>
                  <a:schemeClr val="dk1"/>
                </a:solidFill>
              </a:rPr>
              <a:t>to controls and block traffic at the application </a:t>
            </a:r>
            <a:r>
              <a:rPr lang="en-US" sz="2800" dirty="0" smtClean="0">
                <a:solidFill>
                  <a:schemeClr val="dk1"/>
                </a:solidFill>
              </a:rPr>
              <a:t>level.</a:t>
            </a:r>
          </a:p>
          <a:p>
            <a:pPr lvl="0" indent="-457200" algn="l">
              <a:spcBef>
                <a:spcPts val="560"/>
              </a:spcBef>
              <a:buClr>
                <a:schemeClr val="dk1"/>
              </a:buClr>
              <a:buSzPts val="2800"/>
              <a:buFont typeface="Noto Sans Symbols"/>
              <a:buChar char="❖"/>
            </a:pPr>
            <a:r>
              <a:rPr lang="en-US" sz="2800" dirty="0" smtClean="0">
                <a:solidFill>
                  <a:schemeClr val="dk1"/>
                </a:solidFill>
              </a:rPr>
              <a:t>Monitor, Control</a:t>
            </a:r>
            <a:r>
              <a:rPr lang="en-US" sz="2800" dirty="0">
                <a:solidFill>
                  <a:schemeClr val="dk1"/>
                </a:solidFill>
              </a:rPr>
              <a:t> </a:t>
            </a:r>
            <a:r>
              <a:rPr lang="en-US" sz="2800" dirty="0" smtClean="0">
                <a:solidFill>
                  <a:schemeClr val="dk1"/>
                </a:solidFill>
              </a:rPr>
              <a:t>&amp; Traffic Clear</a:t>
            </a:r>
          </a:p>
          <a:p>
            <a:pPr lvl="0" indent="-457200" algn="l">
              <a:spcBef>
                <a:spcPts val="560"/>
              </a:spcBef>
              <a:buClr>
                <a:schemeClr val="dk1"/>
              </a:buClr>
              <a:buSzPts val="2800"/>
              <a:buFont typeface="Noto Sans Symbols"/>
              <a:buChar char="❖"/>
            </a:pPr>
            <a:r>
              <a:rPr lang="en-US" sz="2800" dirty="0" err="1" smtClean="0">
                <a:solidFill>
                  <a:schemeClr val="dk1"/>
                </a:solidFill>
              </a:rPr>
              <a:t>Eg</a:t>
            </a:r>
            <a:r>
              <a:rPr lang="en-US" sz="2800" dirty="0" smtClean="0">
                <a:solidFill>
                  <a:schemeClr val="dk1"/>
                </a:solidFill>
              </a:rPr>
              <a:t> : Request Check, </a:t>
            </a:r>
            <a:r>
              <a:rPr lang="en-US" sz="2800" dirty="0" err="1">
                <a:solidFill>
                  <a:schemeClr val="dk1"/>
                </a:solidFill>
              </a:rPr>
              <a:t>A</a:t>
            </a:r>
            <a:r>
              <a:rPr lang="en-US" sz="2800" dirty="0" err="1" smtClean="0">
                <a:solidFill>
                  <a:schemeClr val="dk1"/>
                </a:solidFill>
              </a:rPr>
              <a:t>nalyse</a:t>
            </a:r>
            <a:r>
              <a:rPr lang="en-US" sz="2800" dirty="0" smtClean="0">
                <a:solidFill>
                  <a:schemeClr val="dk1"/>
                </a:solidFill>
              </a:rPr>
              <a:t> and Allow</a:t>
            </a:r>
            <a:endParaRPr sz="2800" dirty="0">
              <a:solidFill>
                <a:schemeClr val="dk1"/>
              </a:solidFill>
            </a:endParaRPr>
          </a:p>
          <a:p>
            <a:pPr marL="0" lvl="0" indent="0" algn="l" rtl="0">
              <a:spcBef>
                <a:spcPts val="640"/>
              </a:spcBef>
              <a:spcAft>
                <a:spcPts val="0"/>
              </a:spcAft>
              <a:buClr>
                <a:srgbClr val="888888"/>
              </a:buClr>
              <a:buSzPts val="3200"/>
              <a:buNone/>
            </a:pPr>
            <a:endParaRPr dirty="0">
              <a:solidFill>
                <a:schemeClr val="dk1"/>
              </a:solidFill>
            </a:endParaRPr>
          </a:p>
        </p:txBody>
      </p:sp>
      <p:pic>
        <p:nvPicPr>
          <p:cNvPr id="2052" name="Picture 4" descr="What is a Firewall in Networking and its types | Computer Network"/>
          <p:cNvPicPr>
            <a:picLocks noChangeAspect="1" noChangeArrowheads="1"/>
          </p:cNvPicPr>
          <p:nvPr/>
        </p:nvPicPr>
        <p:blipFill rotWithShape="1">
          <a:blip r:embed="rId3">
            <a:extLst>
              <a:ext uri="{28A0092B-C50C-407E-A947-70E740481C1C}">
                <a14:useLocalDpi xmlns:a14="http://schemas.microsoft.com/office/drawing/2010/main" val="0"/>
              </a:ext>
            </a:extLst>
          </a:blip>
          <a:srcRect t="16427"/>
          <a:stretch/>
        </p:blipFill>
        <p:spPr bwMode="auto">
          <a:xfrm>
            <a:off x="1787857" y="4153230"/>
            <a:ext cx="4394579" cy="26233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etwork Based Firewall Vs Host Based Firewall - The Network DNA"/>
          <p:cNvPicPr>
            <a:picLocks noChangeAspect="1" noChangeArrowheads="1"/>
          </p:cNvPicPr>
          <p:nvPr/>
        </p:nvPicPr>
        <p:blipFill rotWithShape="1">
          <a:blip r:embed="rId2">
            <a:extLst>
              <a:ext uri="{28A0092B-C50C-407E-A947-70E740481C1C}">
                <a14:useLocalDpi xmlns:a14="http://schemas.microsoft.com/office/drawing/2010/main" val="0"/>
              </a:ext>
            </a:extLst>
          </a:blip>
          <a:srcRect b="5470"/>
          <a:stretch/>
        </p:blipFill>
        <p:spPr bwMode="auto">
          <a:xfrm>
            <a:off x="232013" y="336504"/>
            <a:ext cx="8742726" cy="6269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871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5"/>
          <p:cNvSpPr txBox="1">
            <a:spLocks noGrp="1"/>
          </p:cNvSpPr>
          <p:nvPr>
            <p:ph type="subTitle" idx="1"/>
          </p:nvPr>
        </p:nvSpPr>
        <p:spPr>
          <a:xfrm>
            <a:off x="107504" y="382117"/>
            <a:ext cx="8568952" cy="626469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dirty="0">
                <a:solidFill>
                  <a:schemeClr val="dk1"/>
                </a:solidFill>
              </a:rPr>
              <a:t>Endpoints:</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End points are physical devices that connect to and exchange information with a computer networks</a:t>
            </a:r>
            <a:endParaRPr dirty="0"/>
          </a:p>
          <a:p>
            <a:pPr marL="457200" lvl="0" indent="-457200" algn="l" rtl="0">
              <a:spcBef>
                <a:spcPts val="560"/>
              </a:spcBef>
              <a:spcAft>
                <a:spcPts val="0"/>
              </a:spcAft>
              <a:buClr>
                <a:schemeClr val="dk1"/>
              </a:buClr>
              <a:buSzPts val="2800"/>
              <a:buFont typeface="Noto Sans Symbols"/>
              <a:buChar char="❖"/>
            </a:pPr>
            <a:r>
              <a:rPr lang="en-US" sz="2800" dirty="0" err="1">
                <a:solidFill>
                  <a:schemeClr val="dk1"/>
                </a:solidFill>
              </a:rPr>
              <a:t>Eg</a:t>
            </a:r>
            <a:r>
              <a:rPr lang="en-US" sz="2800" dirty="0">
                <a:solidFill>
                  <a:schemeClr val="dk1"/>
                </a:solidFill>
              </a:rPr>
              <a:t>: Servers ,mobile devices</a:t>
            </a:r>
            <a:r>
              <a:rPr lang="en-US" sz="2800">
                <a:solidFill>
                  <a:schemeClr val="dk1"/>
                </a:solidFill>
              </a:rPr>
              <a:t>, </a:t>
            </a:r>
            <a:r>
              <a:rPr lang="en-US" sz="2800" smtClean="0">
                <a:solidFill>
                  <a:schemeClr val="dk1"/>
                </a:solidFill>
              </a:rPr>
              <a:t>desktop </a:t>
            </a:r>
            <a:r>
              <a:rPr lang="en-US" sz="2800" dirty="0">
                <a:solidFill>
                  <a:schemeClr val="dk1"/>
                </a:solidFill>
              </a:rPr>
              <a:t>computer, Virtual machines, embedded devices.</a:t>
            </a:r>
            <a:endParaRPr dirty="0"/>
          </a:p>
          <a:p>
            <a:pPr marL="457200" lvl="0" indent="-279400" algn="l" rtl="0">
              <a:spcBef>
                <a:spcPts val="560"/>
              </a:spcBef>
              <a:spcAft>
                <a:spcPts val="0"/>
              </a:spcAft>
              <a:buClr>
                <a:srgbClr val="888888"/>
              </a:buClr>
              <a:buSzPts val="2800"/>
              <a:buFont typeface="Noto Sans Symbols"/>
              <a:buNone/>
            </a:pPr>
            <a:endParaRPr sz="2800" dirty="0">
              <a:solidFill>
                <a:schemeClr val="dk1"/>
              </a:solidFill>
            </a:endParaRPr>
          </a:p>
          <a:p>
            <a:pPr marL="0" lvl="0" indent="0" algn="l" rtl="0">
              <a:spcBef>
                <a:spcPts val="640"/>
              </a:spcBef>
              <a:spcAft>
                <a:spcPts val="0"/>
              </a:spcAft>
              <a:buClr>
                <a:schemeClr val="dk1"/>
              </a:buClr>
              <a:buSzPts val="3200"/>
              <a:buNone/>
            </a:pPr>
            <a:r>
              <a:rPr lang="en-US" b="1" dirty="0">
                <a:solidFill>
                  <a:schemeClr val="dk1"/>
                </a:solidFill>
              </a:rPr>
              <a:t>Servers:</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A servers is a software or hardware devices that accepts and responds to request made over a network. The devices that made the request and </a:t>
            </a:r>
            <a:r>
              <a:rPr lang="en-US" sz="2800" dirty="0" smtClean="0">
                <a:solidFill>
                  <a:schemeClr val="dk1"/>
                </a:solidFill>
              </a:rPr>
              <a:t>receive </a:t>
            </a:r>
            <a:r>
              <a:rPr lang="en-US" sz="2800" dirty="0">
                <a:solidFill>
                  <a:schemeClr val="dk1"/>
                </a:solidFill>
              </a:rPr>
              <a:t>a response from the server is called client</a:t>
            </a:r>
            <a:endParaRPr dirty="0"/>
          </a:p>
          <a:p>
            <a:pPr marL="457200" lvl="0" indent="-279400" algn="l" rtl="0">
              <a:spcBef>
                <a:spcPts val="560"/>
              </a:spcBef>
              <a:spcAft>
                <a:spcPts val="0"/>
              </a:spcAft>
              <a:buClr>
                <a:srgbClr val="888888"/>
              </a:buClr>
              <a:buSzPts val="2800"/>
              <a:buFont typeface="Noto Sans Symbols"/>
              <a:buNone/>
            </a:pPr>
            <a:endParaRPr sz="2800" dirty="0">
              <a:solidFill>
                <a:schemeClr val="dk1"/>
              </a:solidFill>
            </a:endParaRPr>
          </a:p>
        </p:txBody>
      </p:sp>
      <p:pic>
        <p:nvPicPr>
          <p:cNvPr id="197" name="Google Shape;197;p15"/>
          <p:cNvPicPr preferRelativeResize="0"/>
          <p:nvPr/>
        </p:nvPicPr>
        <p:blipFill rotWithShape="1">
          <a:blip r:embed="rId3">
            <a:alphaModFix/>
          </a:blip>
          <a:srcRect/>
          <a:stretch/>
        </p:blipFill>
        <p:spPr>
          <a:xfrm>
            <a:off x="5606143" y="2564904"/>
            <a:ext cx="2266950" cy="1257257"/>
          </a:xfrm>
          <a:prstGeom prst="rect">
            <a:avLst/>
          </a:prstGeom>
          <a:noFill/>
          <a:ln>
            <a:noFill/>
          </a:ln>
        </p:spPr>
      </p:pic>
      <p:pic>
        <p:nvPicPr>
          <p:cNvPr id="198" name="Google Shape;198;p15"/>
          <p:cNvPicPr preferRelativeResize="0"/>
          <p:nvPr/>
        </p:nvPicPr>
        <p:blipFill rotWithShape="1">
          <a:blip r:embed="rId4">
            <a:alphaModFix/>
          </a:blip>
          <a:srcRect/>
          <a:stretch/>
        </p:blipFill>
        <p:spPr>
          <a:xfrm>
            <a:off x="2496344" y="5733256"/>
            <a:ext cx="4067944" cy="99934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6"/>
          <p:cNvSpPr txBox="1">
            <a:spLocks noGrp="1"/>
          </p:cNvSpPr>
          <p:nvPr>
            <p:ph type="subTitle" idx="1"/>
          </p:nvPr>
        </p:nvSpPr>
        <p:spPr>
          <a:xfrm>
            <a:off x="179512" y="332656"/>
            <a:ext cx="8640960" cy="64087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a:solidFill>
                  <a:schemeClr val="dk1"/>
                </a:solidFill>
              </a:rPr>
              <a:t>OSI(Open System Interconnection)</a:t>
            </a:r>
            <a:endParaRPr/>
          </a:p>
          <a:p>
            <a:pPr marL="0" lvl="0" indent="0" algn="l" rtl="0">
              <a:spcBef>
                <a:spcPts val="640"/>
              </a:spcBef>
              <a:spcAft>
                <a:spcPts val="0"/>
              </a:spcAft>
              <a:buClr>
                <a:schemeClr val="dk1"/>
              </a:buClr>
              <a:buSzPts val="3200"/>
              <a:buNone/>
            </a:pPr>
            <a:r>
              <a:rPr lang="en-US">
                <a:solidFill>
                  <a:schemeClr val="dk1"/>
                </a:solidFill>
              </a:rPr>
              <a:t>        </a:t>
            </a:r>
            <a:r>
              <a:rPr lang="en-US" sz="2800">
                <a:solidFill>
                  <a:schemeClr val="dk1"/>
                </a:solidFill>
              </a:rPr>
              <a:t>OSI model is a conceptual model created by the international organization of standardization , the OSI provides a standard for differents computer system to be able to communicate with each other.</a:t>
            </a:r>
            <a:endParaRPr/>
          </a:p>
          <a:p>
            <a:pPr marL="0" lvl="0" indent="0" algn="l" rtl="0">
              <a:spcBef>
                <a:spcPts val="640"/>
              </a:spcBef>
              <a:spcAft>
                <a:spcPts val="0"/>
              </a:spcAft>
              <a:buClr>
                <a:srgbClr val="888888"/>
              </a:buClr>
              <a:buSzPts val="3200"/>
              <a:buNone/>
            </a:pPr>
            <a:endParaRPr>
              <a:solidFill>
                <a:schemeClr val="dk1"/>
              </a:solidFill>
            </a:endParaRPr>
          </a:p>
        </p:txBody>
      </p:sp>
      <p:pic>
        <p:nvPicPr>
          <p:cNvPr id="204" name="Google Shape;204;p16"/>
          <p:cNvPicPr preferRelativeResize="0"/>
          <p:nvPr/>
        </p:nvPicPr>
        <p:blipFill rotWithShape="1">
          <a:blip r:embed="rId3">
            <a:alphaModFix/>
          </a:blip>
          <a:srcRect/>
          <a:stretch/>
        </p:blipFill>
        <p:spPr>
          <a:xfrm>
            <a:off x="3131820" y="2826385"/>
            <a:ext cx="4762500" cy="38430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7"/>
          <p:cNvSpPr txBox="1">
            <a:spLocks noGrp="1"/>
          </p:cNvSpPr>
          <p:nvPr>
            <p:ph type="subTitle" idx="1"/>
          </p:nvPr>
        </p:nvSpPr>
        <p:spPr>
          <a:xfrm>
            <a:off x="323528" y="189528"/>
            <a:ext cx="8496944" cy="626469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dirty="0">
                <a:solidFill>
                  <a:schemeClr val="dk1"/>
                </a:solidFill>
              </a:rPr>
              <a:t>Physical layer:</a:t>
            </a:r>
            <a:endParaRPr dirty="0"/>
          </a:p>
          <a:p>
            <a:pPr marL="514350" lvl="0" indent="-514350" algn="l" rtl="0">
              <a:spcBef>
                <a:spcPts val="640"/>
              </a:spcBef>
              <a:spcAft>
                <a:spcPts val="0"/>
              </a:spcAft>
              <a:buClr>
                <a:schemeClr val="dk1"/>
              </a:buClr>
              <a:buSzPts val="3200"/>
              <a:buFont typeface="Noto Sans Symbols"/>
              <a:buChar char="❖"/>
            </a:pPr>
            <a:r>
              <a:rPr lang="en-US" dirty="0">
                <a:solidFill>
                  <a:schemeClr val="dk1"/>
                </a:solidFill>
              </a:rPr>
              <a:t> </a:t>
            </a:r>
            <a:r>
              <a:rPr lang="en-US" sz="2800" dirty="0">
                <a:solidFill>
                  <a:schemeClr val="dk1"/>
                </a:solidFill>
              </a:rPr>
              <a:t>Define physical </a:t>
            </a:r>
            <a:r>
              <a:rPr lang="en-US" sz="2800" dirty="0" smtClean="0">
                <a:solidFill>
                  <a:schemeClr val="dk1"/>
                </a:solidFill>
              </a:rPr>
              <a:t>characteristics </a:t>
            </a:r>
            <a:r>
              <a:rPr lang="en-US" sz="2800" dirty="0">
                <a:solidFill>
                  <a:schemeClr val="dk1"/>
                </a:solidFill>
              </a:rPr>
              <a:t>of the medium used to transfer data between devices.</a:t>
            </a:r>
            <a:endParaRPr dirty="0"/>
          </a:p>
          <a:p>
            <a:pPr marL="514350" lvl="0" indent="-514350" algn="l" rtl="0">
              <a:spcBef>
                <a:spcPts val="560"/>
              </a:spcBef>
              <a:spcAft>
                <a:spcPts val="0"/>
              </a:spcAft>
              <a:buClr>
                <a:schemeClr val="dk1"/>
              </a:buClr>
              <a:buSzPts val="2800"/>
              <a:buFont typeface="Noto Sans Symbols"/>
              <a:buChar char="❖"/>
            </a:pPr>
            <a:r>
              <a:rPr lang="en-US" sz="2800" dirty="0" err="1">
                <a:solidFill>
                  <a:schemeClr val="dk1"/>
                </a:solidFill>
              </a:rPr>
              <a:t>Eg</a:t>
            </a:r>
            <a:r>
              <a:rPr lang="en-US" sz="2800" dirty="0">
                <a:solidFill>
                  <a:schemeClr val="dk1"/>
                </a:solidFill>
              </a:rPr>
              <a:t>: voltage level</a:t>
            </a:r>
            <a:r>
              <a:rPr lang="en-US" sz="2800" dirty="0" smtClean="0">
                <a:solidFill>
                  <a:schemeClr val="dk1"/>
                </a:solidFill>
              </a:rPr>
              <a:t>, maximum </a:t>
            </a:r>
            <a:r>
              <a:rPr lang="en-US" sz="2800" dirty="0">
                <a:solidFill>
                  <a:schemeClr val="dk1"/>
                </a:solidFill>
              </a:rPr>
              <a:t>transmission distance, physics connector</a:t>
            </a:r>
            <a:r>
              <a:rPr lang="en-US" sz="2800" dirty="0" smtClean="0">
                <a:solidFill>
                  <a:schemeClr val="dk1"/>
                </a:solidFill>
              </a:rPr>
              <a:t>, cables </a:t>
            </a:r>
            <a:r>
              <a:rPr lang="en-US" sz="2800" dirty="0">
                <a:solidFill>
                  <a:schemeClr val="dk1"/>
                </a:solidFill>
              </a:rPr>
              <a:t>specification, </a:t>
            </a:r>
            <a:r>
              <a:rPr lang="en-US" sz="2800" dirty="0" err="1">
                <a:solidFill>
                  <a:schemeClr val="dk1"/>
                </a:solidFill>
              </a:rPr>
              <a:t>etc</a:t>
            </a:r>
            <a:r>
              <a:rPr lang="en-US" sz="2800" dirty="0">
                <a:solidFill>
                  <a:schemeClr val="dk1"/>
                </a:solidFill>
              </a:rPr>
              <a:t>….</a:t>
            </a:r>
            <a:endParaRPr dirty="0"/>
          </a:p>
          <a:p>
            <a:pPr marL="514350" lvl="0" indent="-514350" algn="l" rtl="0">
              <a:spcBef>
                <a:spcPts val="560"/>
              </a:spcBef>
              <a:spcAft>
                <a:spcPts val="0"/>
              </a:spcAft>
              <a:buClr>
                <a:schemeClr val="dk1"/>
              </a:buClr>
              <a:buSzPts val="2800"/>
              <a:buFont typeface="Noto Sans Symbols"/>
              <a:buChar char="❖"/>
            </a:pPr>
            <a:r>
              <a:rPr lang="en-US" sz="2800" dirty="0">
                <a:solidFill>
                  <a:schemeClr val="dk1"/>
                </a:solidFill>
              </a:rPr>
              <a:t>Send from the devices through cable to another .</a:t>
            </a:r>
            <a:endParaRPr dirty="0"/>
          </a:p>
          <a:p>
            <a:pPr marL="0" lvl="0" indent="0" algn="l" rtl="0">
              <a:spcBef>
                <a:spcPts val="640"/>
              </a:spcBef>
              <a:spcAft>
                <a:spcPts val="0"/>
              </a:spcAft>
              <a:buClr>
                <a:schemeClr val="dk1"/>
              </a:buClr>
              <a:buSzPts val="3200"/>
              <a:buNone/>
            </a:pPr>
            <a:r>
              <a:rPr lang="en-US" b="1" dirty="0">
                <a:solidFill>
                  <a:schemeClr val="dk1"/>
                </a:solidFill>
              </a:rPr>
              <a:t>Data Link layer:</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Provide node to node connectivity and data transfer.</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Define low data is formatted for transmission over a physical medium (copper </a:t>
            </a:r>
            <a:r>
              <a:rPr lang="en-US" sz="2800" dirty="0" smtClean="0">
                <a:solidFill>
                  <a:schemeClr val="dk1"/>
                </a:solidFill>
              </a:rPr>
              <a:t>UTP </a:t>
            </a:r>
            <a:r>
              <a:rPr lang="en-US" sz="2800" dirty="0">
                <a:solidFill>
                  <a:schemeClr val="dk1"/>
                </a:solidFill>
              </a:rPr>
              <a:t>cables)</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Switches operates at layer 2</a:t>
            </a:r>
            <a:endParaRPr sz="2800" dirty="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8"/>
          <p:cNvSpPr txBox="1">
            <a:spLocks noGrp="1"/>
          </p:cNvSpPr>
          <p:nvPr>
            <p:ph type="subTitle" idx="1"/>
          </p:nvPr>
        </p:nvSpPr>
        <p:spPr>
          <a:xfrm>
            <a:off x="323528" y="476672"/>
            <a:ext cx="8352928" cy="612068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spcBef>
                <a:spcPts val="0"/>
              </a:spcBef>
              <a:spcAft>
                <a:spcPts val="0"/>
              </a:spcAft>
              <a:buClr>
                <a:schemeClr val="dk1"/>
              </a:buClr>
              <a:buSzPct val="100000"/>
              <a:buNone/>
            </a:pPr>
            <a:r>
              <a:rPr lang="en-US" b="1">
                <a:solidFill>
                  <a:schemeClr val="dk1"/>
                </a:solidFill>
              </a:rPr>
              <a:t>Network layer:</a:t>
            </a:r>
            <a:endParaRPr/>
          </a:p>
          <a:p>
            <a:pPr marL="457200" lvl="0" indent="-457200" algn="l" rtl="0">
              <a:spcBef>
                <a:spcPts val="555"/>
              </a:spcBef>
              <a:spcAft>
                <a:spcPts val="0"/>
              </a:spcAft>
              <a:buClr>
                <a:schemeClr val="dk1"/>
              </a:buClr>
              <a:buSzPct val="100000"/>
              <a:buFont typeface="Noto Sans Symbols"/>
              <a:buChar char="❖"/>
            </a:pPr>
            <a:r>
              <a:rPr lang="en-US" sz="3000">
                <a:solidFill>
                  <a:schemeClr val="dk1"/>
                </a:solidFill>
              </a:rPr>
              <a:t>Provides connection between hosts to differents network.</a:t>
            </a:r>
            <a:endParaRPr/>
          </a:p>
          <a:p>
            <a:pPr marL="457200" lvl="0" indent="-457200" algn="l" rtl="0">
              <a:spcBef>
                <a:spcPts val="555"/>
              </a:spcBef>
              <a:spcAft>
                <a:spcPts val="0"/>
              </a:spcAft>
              <a:buClr>
                <a:schemeClr val="dk1"/>
              </a:buClr>
              <a:buSzPct val="100000"/>
              <a:buFont typeface="Noto Sans Symbols"/>
              <a:buChar char="❖"/>
            </a:pPr>
            <a:r>
              <a:rPr lang="en-US" sz="3000">
                <a:solidFill>
                  <a:schemeClr val="dk1"/>
                </a:solidFill>
              </a:rPr>
              <a:t>Provides logical addressing (IP) path selection {source destination (outside of the LANs)}</a:t>
            </a:r>
            <a:endParaRPr/>
          </a:p>
          <a:p>
            <a:pPr marL="457200" lvl="0" indent="-457200" algn="l" rtl="0">
              <a:spcBef>
                <a:spcPts val="555"/>
              </a:spcBef>
              <a:spcAft>
                <a:spcPts val="0"/>
              </a:spcAft>
              <a:buClr>
                <a:schemeClr val="dk1"/>
              </a:buClr>
              <a:buSzPct val="100000"/>
              <a:buFont typeface="Noto Sans Symbols"/>
              <a:buChar char="❖"/>
            </a:pPr>
            <a:r>
              <a:rPr lang="en-US" sz="3000">
                <a:solidFill>
                  <a:schemeClr val="dk1"/>
                </a:solidFill>
              </a:rPr>
              <a:t>Router operate at Layer 3</a:t>
            </a:r>
            <a:endParaRPr/>
          </a:p>
          <a:p>
            <a:pPr marL="0" lvl="0" indent="0" algn="l" rtl="0">
              <a:spcBef>
                <a:spcPts val="647"/>
              </a:spcBef>
              <a:spcAft>
                <a:spcPts val="0"/>
              </a:spcAft>
              <a:buClr>
                <a:schemeClr val="dk1"/>
              </a:buClr>
              <a:buSzPct val="100000"/>
              <a:buNone/>
            </a:pPr>
            <a:r>
              <a:rPr lang="en-US" sz="3500" b="1">
                <a:solidFill>
                  <a:schemeClr val="dk1"/>
                </a:solidFill>
              </a:rPr>
              <a:t>Transport layer:</a:t>
            </a:r>
            <a:endParaRPr/>
          </a:p>
          <a:p>
            <a:pPr marL="457200" lvl="0" indent="-457200" algn="l" rtl="0">
              <a:spcBef>
                <a:spcPts val="555"/>
              </a:spcBef>
              <a:spcAft>
                <a:spcPts val="0"/>
              </a:spcAft>
              <a:buClr>
                <a:schemeClr val="dk1"/>
              </a:buClr>
              <a:buSzPct val="100000"/>
              <a:buFont typeface="Noto Sans Symbols"/>
              <a:buChar char="❖"/>
            </a:pPr>
            <a:r>
              <a:rPr lang="en-US" sz="3000">
                <a:solidFill>
                  <a:schemeClr val="dk1"/>
                </a:solidFill>
              </a:rPr>
              <a:t>Segment &amp; reassemble data for communication end hosts</a:t>
            </a:r>
            <a:endParaRPr/>
          </a:p>
          <a:p>
            <a:pPr marL="457200" lvl="0" indent="-457200" algn="l" rtl="0">
              <a:spcBef>
                <a:spcPts val="555"/>
              </a:spcBef>
              <a:spcAft>
                <a:spcPts val="0"/>
              </a:spcAft>
              <a:buClr>
                <a:schemeClr val="dk1"/>
              </a:buClr>
              <a:buSzPct val="100000"/>
              <a:buFont typeface="Noto Sans Symbols"/>
              <a:buChar char="❖"/>
            </a:pPr>
            <a:r>
              <a:rPr lang="en-US" sz="3000">
                <a:solidFill>
                  <a:schemeClr val="dk1"/>
                </a:solidFill>
              </a:rPr>
              <a:t>Provide host-to-host communication(end to end)</a:t>
            </a:r>
            <a:endParaRPr/>
          </a:p>
          <a:p>
            <a:pPr marL="457200" lvl="0" indent="-457200" algn="l" rtl="0">
              <a:spcBef>
                <a:spcPts val="555"/>
              </a:spcBef>
              <a:spcAft>
                <a:spcPts val="0"/>
              </a:spcAft>
              <a:buClr>
                <a:schemeClr val="dk1"/>
              </a:buClr>
              <a:buSzPct val="100000"/>
              <a:buFont typeface="Noto Sans Symbols"/>
              <a:buChar char="❖"/>
            </a:pPr>
            <a:r>
              <a:rPr lang="en-US" sz="3000">
                <a:solidFill>
                  <a:schemeClr val="dk1"/>
                </a:solidFill>
              </a:rPr>
              <a:t>2 Protocols</a:t>
            </a:r>
            <a:endParaRPr/>
          </a:p>
          <a:p>
            <a:pPr marL="457200" lvl="0" indent="-457200" algn="ctr" rtl="0">
              <a:spcBef>
                <a:spcPts val="555"/>
              </a:spcBef>
              <a:spcAft>
                <a:spcPts val="0"/>
              </a:spcAft>
              <a:buClr>
                <a:schemeClr val="dk1"/>
              </a:buClr>
              <a:buSzPct val="100000"/>
              <a:buFont typeface="Noto Sans Symbols"/>
              <a:buChar char="⮚"/>
            </a:pPr>
            <a:r>
              <a:rPr lang="en-US" sz="3000">
                <a:solidFill>
                  <a:schemeClr val="dk1"/>
                </a:solidFill>
              </a:rPr>
              <a:t>Transmission control protocol(TCP)</a:t>
            </a:r>
            <a:endParaRPr sz="3000">
              <a:solidFill>
                <a:schemeClr val="dk1"/>
              </a:solidFill>
            </a:endParaRPr>
          </a:p>
          <a:p>
            <a:pPr marL="457200" lvl="0" indent="-457200" algn="ctr" rtl="0">
              <a:spcBef>
                <a:spcPts val="555"/>
              </a:spcBef>
              <a:spcAft>
                <a:spcPts val="0"/>
              </a:spcAft>
              <a:buClr>
                <a:schemeClr val="dk1"/>
              </a:buClr>
              <a:buSzPct val="100000"/>
              <a:buFont typeface="Noto Sans Symbols"/>
              <a:buChar char="⮚"/>
            </a:pPr>
            <a:r>
              <a:rPr lang="en-US" sz="3000">
                <a:solidFill>
                  <a:schemeClr val="dk1"/>
                </a:solidFill>
              </a:rPr>
              <a:t>      User         datagram      protocol(UDP)</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9"/>
          <p:cNvSpPr txBox="1">
            <a:spLocks noGrp="1"/>
          </p:cNvSpPr>
          <p:nvPr>
            <p:ph type="subTitle" idx="1"/>
          </p:nvPr>
        </p:nvSpPr>
        <p:spPr>
          <a:xfrm>
            <a:off x="323528" y="188640"/>
            <a:ext cx="8568952" cy="648072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a:solidFill>
                  <a:schemeClr val="dk1"/>
                </a:solidFill>
              </a:rPr>
              <a:t>Session layer:</a:t>
            </a:r>
            <a:endParaRPr/>
          </a:p>
          <a:p>
            <a:pPr marL="457200" lvl="0" indent="-457200" algn="l" rtl="0">
              <a:lnSpc>
                <a:spcPct val="100000"/>
              </a:lnSpc>
              <a:spcBef>
                <a:spcPts val="560"/>
              </a:spcBef>
              <a:spcAft>
                <a:spcPts val="0"/>
              </a:spcAft>
              <a:buClr>
                <a:schemeClr val="dk1"/>
              </a:buClr>
              <a:buSzPts val="2800"/>
              <a:buFont typeface="Noto Sans Symbols"/>
              <a:buChar char="❖"/>
            </a:pPr>
            <a:r>
              <a:rPr lang="en-US" sz="2800">
                <a:solidFill>
                  <a:schemeClr val="dk1"/>
                </a:solidFill>
              </a:rPr>
              <a:t>Control dialogue (session) between communication host</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Establish,manages,terminate connection between local apps … eg:web browser &amp; remote app(youtube)</a:t>
            </a:r>
            <a:endParaRPr/>
          </a:p>
          <a:p>
            <a:pPr marL="0" lvl="0" indent="0" algn="l" rtl="0">
              <a:spcBef>
                <a:spcPts val="640"/>
              </a:spcBef>
              <a:spcAft>
                <a:spcPts val="0"/>
              </a:spcAft>
              <a:buClr>
                <a:schemeClr val="dk1"/>
              </a:buClr>
              <a:buSzPts val="3200"/>
              <a:buNone/>
            </a:pPr>
            <a:r>
              <a:rPr lang="en-US" b="1">
                <a:solidFill>
                  <a:schemeClr val="dk1"/>
                </a:solidFill>
              </a:rPr>
              <a:t>Presentation layer:</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Translate between application and network formats</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Encripts the data to send &amp; decrypt the data when received</a:t>
            </a:r>
            <a:endParaRPr/>
          </a:p>
          <a:p>
            <a:pPr marL="457200" lvl="0" indent="-457200" algn="l" rtl="0">
              <a:spcBef>
                <a:spcPts val="560"/>
              </a:spcBef>
              <a:spcAft>
                <a:spcPts val="0"/>
              </a:spcAft>
              <a:buClr>
                <a:schemeClr val="dk1"/>
              </a:buClr>
              <a:buSzPts val="2800"/>
              <a:buFont typeface="Noto Sans Symbols"/>
              <a:buChar char="❖"/>
            </a:pPr>
            <a:r>
              <a:rPr lang="en-US" sz="2800">
                <a:solidFill>
                  <a:schemeClr val="dk1"/>
                </a:solidFill>
              </a:rPr>
              <a:t>Also translate between different application layer format.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0"/>
          <p:cNvSpPr txBox="1">
            <a:spLocks noGrp="1"/>
          </p:cNvSpPr>
          <p:nvPr>
            <p:ph type="subTitle" idx="1"/>
          </p:nvPr>
        </p:nvSpPr>
        <p:spPr>
          <a:xfrm>
            <a:off x="611560" y="1052736"/>
            <a:ext cx="7848872" cy="46085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a:solidFill>
                  <a:schemeClr val="dk1"/>
                </a:solidFill>
              </a:rPr>
              <a:t>Application layer:</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Closeset to the users</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Interacts with the software application</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HTTP or HTTPS are layer 7 protocols</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Identifies communication partners</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Synchronizing communication</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Example:Web browser</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30" name="Google Shape;230;p2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31" name="Google Shape;231;p21" descr="Screenshot (9)"/>
          <p:cNvPicPr preferRelativeResize="0"/>
          <p:nvPr/>
        </p:nvPicPr>
        <p:blipFill rotWithShape="1">
          <a:blip r:embed="rId3">
            <a:alphaModFix/>
          </a:blip>
          <a:srcRect l="3970" t="7472" r="4133" b="7324"/>
          <a:stretch/>
        </p:blipFill>
        <p:spPr>
          <a:xfrm>
            <a:off x="-52387" y="635"/>
            <a:ext cx="9196864" cy="685736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37" name="Google Shape;237;p2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38" name="Google Shape;238;p22" descr="Screenshot (8)"/>
          <p:cNvPicPr preferRelativeResize="0"/>
          <p:nvPr/>
        </p:nvPicPr>
        <p:blipFill rotWithShape="1">
          <a:blip r:embed="rId3">
            <a:alphaModFix/>
          </a:blip>
          <a:srcRect l="3936" t="7028" r="4191" b="7463"/>
          <a:stretch/>
        </p:blipFill>
        <p:spPr>
          <a:xfrm>
            <a:off x="477" y="-59690"/>
            <a:ext cx="9143524" cy="691705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44" name="Google Shape;244;p2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45" name="Google Shape;245;p23" descr="Screenshot (10)"/>
          <p:cNvPicPr preferRelativeResize="0"/>
          <p:nvPr/>
        </p:nvPicPr>
        <p:blipFill rotWithShape="1">
          <a:blip r:embed="rId3">
            <a:alphaModFix/>
          </a:blip>
          <a:srcRect l="4026" t="7321" r="3875" b="8213"/>
          <a:stretch/>
        </p:blipFill>
        <p:spPr>
          <a:xfrm>
            <a:off x="-75248" y="1"/>
            <a:ext cx="9279255" cy="692213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51" name="Google Shape;251;p2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52" name="Google Shape;252;p24" descr="Screenshot (12)"/>
          <p:cNvPicPr preferRelativeResize="0"/>
          <p:nvPr/>
        </p:nvPicPr>
        <p:blipFill rotWithShape="1">
          <a:blip r:embed="rId3">
            <a:alphaModFix/>
          </a:blip>
          <a:srcRect l="4156" t="7693" r="4828" b="7843"/>
          <a:stretch/>
        </p:blipFill>
        <p:spPr>
          <a:xfrm>
            <a:off x="380048" y="527685"/>
            <a:ext cx="8322469" cy="579247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 </a:t>
            </a:r>
            <a:endParaRPr/>
          </a:p>
        </p:txBody>
      </p:sp>
      <p:sp>
        <p:nvSpPr>
          <p:cNvPr id="258" name="Google Shape;258;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59" name="Google Shape;259;p25" descr="Screenshot (13)"/>
          <p:cNvPicPr preferRelativeResize="0"/>
          <p:nvPr/>
        </p:nvPicPr>
        <p:blipFill rotWithShape="1">
          <a:blip r:embed="rId3">
            <a:alphaModFix/>
          </a:blip>
          <a:srcRect l="4323" t="7398" r="3994" b="7397"/>
          <a:stretch/>
        </p:blipFill>
        <p:spPr>
          <a:xfrm>
            <a:off x="395288" y="507365"/>
            <a:ext cx="8383429" cy="584327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6"/>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65" name="Google Shape;265;p26"/>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66" name="Google Shape;266;p26" descr="Screenshot (14)"/>
          <p:cNvPicPr preferRelativeResize="0"/>
          <p:nvPr/>
        </p:nvPicPr>
        <p:blipFill rotWithShape="1">
          <a:blip r:embed="rId3">
            <a:alphaModFix/>
          </a:blip>
          <a:srcRect l="4078" t="7546" r="3995" b="7250"/>
          <a:stretch/>
        </p:blipFill>
        <p:spPr>
          <a:xfrm>
            <a:off x="372904" y="517525"/>
            <a:ext cx="8405813" cy="584327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72" name="Google Shape;272;p2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73" name="Google Shape;273;p27" descr="Screenshot (15)"/>
          <p:cNvPicPr preferRelativeResize="0"/>
          <p:nvPr/>
        </p:nvPicPr>
        <p:blipFill rotWithShape="1">
          <a:blip r:embed="rId3">
            <a:alphaModFix/>
          </a:blip>
          <a:srcRect l="3989" t="7398" r="4245" b="7990"/>
          <a:stretch/>
        </p:blipFill>
        <p:spPr>
          <a:xfrm>
            <a:off x="364808" y="507365"/>
            <a:ext cx="8391049" cy="580263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79" name="Google Shape;279;p2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80" name="Google Shape;280;p28" descr="Screenshot (16)"/>
          <p:cNvPicPr preferRelativeResize="0"/>
          <p:nvPr/>
        </p:nvPicPr>
        <p:blipFill rotWithShape="1">
          <a:blip r:embed="rId3">
            <a:alphaModFix/>
          </a:blip>
          <a:srcRect l="4021" t="7546" r="4278" b="7546"/>
          <a:stretch/>
        </p:blipFill>
        <p:spPr>
          <a:xfrm>
            <a:off x="608171" y="517525"/>
            <a:ext cx="8155305" cy="58229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   </a:t>
            </a:r>
            <a:endParaRPr/>
          </a:p>
        </p:txBody>
      </p:sp>
      <p:sp>
        <p:nvSpPr>
          <p:cNvPr id="286" name="Google Shape;286;p2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287" name="Google Shape;287;p29" descr="Screenshot (17)"/>
          <p:cNvPicPr preferRelativeResize="0"/>
          <p:nvPr/>
        </p:nvPicPr>
        <p:blipFill rotWithShape="1">
          <a:blip r:embed="rId3">
            <a:alphaModFix/>
          </a:blip>
          <a:srcRect l="3995" t="7536" r="3828" b="7546"/>
          <a:stretch/>
        </p:blipFill>
        <p:spPr>
          <a:xfrm>
            <a:off x="365284" y="516891"/>
            <a:ext cx="8428673" cy="582358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0"/>
          <p:cNvSpPr txBox="1">
            <a:spLocks noGrp="1"/>
          </p:cNvSpPr>
          <p:nvPr>
            <p:ph type="ctrTitle"/>
          </p:nvPr>
        </p:nvSpPr>
        <p:spPr>
          <a:xfrm>
            <a:off x="685800" y="548681"/>
            <a:ext cx="7772400" cy="108011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7200"/>
              <a:buFont typeface="Calibri"/>
              <a:buNone/>
            </a:pPr>
            <a:r>
              <a:rPr lang="en-US" sz="7200"/>
              <a:t>IP Addressing</a:t>
            </a:r>
            <a:endParaRPr sz="7200"/>
          </a:p>
        </p:txBody>
      </p:sp>
      <p:sp>
        <p:nvSpPr>
          <p:cNvPr id="293" name="Google Shape;293;p30"/>
          <p:cNvSpPr txBox="1">
            <a:spLocks noGrp="1"/>
          </p:cNvSpPr>
          <p:nvPr>
            <p:ph type="subTitle" idx="1"/>
          </p:nvPr>
        </p:nvSpPr>
        <p:spPr>
          <a:xfrm>
            <a:off x="1371600" y="2276872"/>
            <a:ext cx="6400800" cy="3361928"/>
          </a:xfrm>
          <a:prstGeom prst="rect">
            <a:avLst/>
          </a:prstGeom>
          <a:noFill/>
          <a:ln>
            <a:noFill/>
          </a:ln>
        </p:spPr>
        <p:txBody>
          <a:bodyPr spcFirstLastPara="1" wrap="square" lIns="91425" tIns="45700" rIns="91425" bIns="45700" anchor="t" anchorCtr="0">
            <a:normAutofit/>
          </a:bodyPr>
          <a:lstStyle/>
          <a:p>
            <a:pPr marL="457200" lvl="0" indent="-457200" algn="ctr" rtl="0">
              <a:spcBef>
                <a:spcPts val="0"/>
              </a:spcBef>
              <a:spcAft>
                <a:spcPts val="0"/>
              </a:spcAft>
              <a:buClr>
                <a:schemeClr val="dk1"/>
              </a:buClr>
              <a:buSzPts val="6600"/>
              <a:buFont typeface="Noto Sans Symbols"/>
              <a:buChar char="❑"/>
            </a:pPr>
            <a:r>
              <a:rPr lang="en-US" sz="6600">
                <a:solidFill>
                  <a:schemeClr val="dk1"/>
                </a:solidFill>
              </a:rPr>
              <a:t>IPV4</a:t>
            </a:r>
            <a:endParaRPr/>
          </a:p>
          <a:p>
            <a:pPr marL="457200" lvl="0" indent="-457200" algn="ctr" rtl="0">
              <a:spcBef>
                <a:spcPts val="1320"/>
              </a:spcBef>
              <a:spcAft>
                <a:spcPts val="0"/>
              </a:spcAft>
              <a:buClr>
                <a:schemeClr val="dk1"/>
              </a:buClr>
              <a:buSzPts val="6600"/>
              <a:buFont typeface="Noto Sans Symbols"/>
              <a:buChar char="❑"/>
            </a:pPr>
            <a:r>
              <a:rPr lang="en-US" sz="6600">
                <a:solidFill>
                  <a:schemeClr val="dk1"/>
                </a:solidFill>
              </a:rPr>
              <a:t>IPV6</a:t>
            </a:r>
            <a:endParaRPr sz="6600">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1"/>
          <p:cNvSpPr txBox="1">
            <a:spLocks noGrp="1"/>
          </p:cNvSpPr>
          <p:nvPr>
            <p:ph type="ctrTitle"/>
          </p:nvPr>
        </p:nvSpPr>
        <p:spPr>
          <a:xfrm>
            <a:off x="685800" y="476673"/>
            <a:ext cx="7772400" cy="108011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IPV4 Addressing</a:t>
            </a:r>
            <a:endParaRPr/>
          </a:p>
        </p:txBody>
      </p:sp>
      <p:sp>
        <p:nvSpPr>
          <p:cNvPr id="299" name="Google Shape;299;p31"/>
          <p:cNvSpPr txBox="1">
            <a:spLocks noGrp="1"/>
          </p:cNvSpPr>
          <p:nvPr>
            <p:ph type="subTitle" idx="1"/>
          </p:nvPr>
        </p:nvSpPr>
        <p:spPr>
          <a:xfrm>
            <a:off x="683568" y="1700808"/>
            <a:ext cx="7776864" cy="4176464"/>
          </a:xfrm>
          <a:prstGeom prst="rect">
            <a:avLst/>
          </a:prstGeom>
          <a:noFill/>
          <a:ln>
            <a:noFill/>
          </a:ln>
        </p:spPr>
        <p:txBody>
          <a:bodyPr spcFirstLastPara="1" wrap="square" lIns="91425" tIns="45700" rIns="91425" bIns="45700" anchor="t" anchorCtr="0">
            <a:normAutofit fontScale="70000" lnSpcReduction="20000"/>
          </a:bodyPr>
          <a:lstStyle/>
          <a:p>
            <a:pPr marL="457200" lvl="0" indent="-457200" algn="just" rtl="0">
              <a:spcBef>
                <a:spcPts val="0"/>
              </a:spcBef>
              <a:spcAft>
                <a:spcPts val="0"/>
              </a:spcAft>
              <a:buClr>
                <a:schemeClr val="dk1"/>
              </a:buClr>
              <a:buSzPct val="100000"/>
              <a:buFont typeface="Arial"/>
              <a:buChar char="•"/>
            </a:pPr>
            <a:r>
              <a:rPr lang="en-US" dirty="0">
                <a:solidFill>
                  <a:schemeClr val="dk1"/>
                </a:solidFill>
              </a:rPr>
              <a:t>Internet protocol is a protocol is used to communicate packet of data access a network.</a:t>
            </a:r>
            <a:endParaRPr dirty="0"/>
          </a:p>
          <a:p>
            <a:pPr marL="457200" lvl="0" indent="-457200" algn="just" rtl="0">
              <a:spcBef>
                <a:spcPts val="400"/>
              </a:spcBef>
              <a:spcAft>
                <a:spcPts val="0"/>
              </a:spcAft>
              <a:buClr>
                <a:schemeClr val="dk1"/>
              </a:buClr>
              <a:buSzPct val="100000"/>
              <a:buFont typeface="Arial"/>
              <a:buChar char="•"/>
            </a:pPr>
            <a:r>
              <a:rPr lang="en-US" dirty="0">
                <a:solidFill>
                  <a:schemeClr val="dk1"/>
                </a:solidFill>
              </a:rPr>
              <a:t>IPV4 is controlled by IANA.(Internet Assigned Numbers Authority)</a:t>
            </a:r>
            <a:endParaRPr dirty="0"/>
          </a:p>
          <a:p>
            <a:pPr marL="0" lvl="0" indent="0" algn="just" rtl="0">
              <a:spcBef>
                <a:spcPts val="400"/>
              </a:spcBef>
              <a:spcAft>
                <a:spcPts val="0"/>
              </a:spcAft>
              <a:buClr>
                <a:schemeClr val="dk1"/>
              </a:buClr>
              <a:buSzPct val="100000"/>
              <a:buNone/>
            </a:pPr>
            <a:r>
              <a:rPr lang="en-US" b="1" i="1" u="sng" dirty="0">
                <a:solidFill>
                  <a:schemeClr val="dk1"/>
                </a:solidFill>
              </a:rPr>
              <a:t>Characteristic:</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Unique address</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32 bit logical address</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IP address have four segment</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Represented in decimal form</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Each octet have 8 bit</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Each octet have range in between 0-255</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EG:192.168.1.25</a:t>
            </a:r>
            <a:endParaRPr dirty="0"/>
          </a:p>
          <a:p>
            <a:pPr marL="457200" lvl="0" indent="-457200" algn="just" rtl="0">
              <a:spcBef>
                <a:spcPts val="400"/>
              </a:spcBef>
              <a:spcAft>
                <a:spcPts val="0"/>
              </a:spcAft>
              <a:buClr>
                <a:schemeClr val="dk1"/>
              </a:buClr>
              <a:buSzPct val="100000"/>
              <a:buFont typeface="Noto Sans Symbols"/>
              <a:buChar char="⮚"/>
            </a:pPr>
            <a:r>
              <a:rPr lang="en-US" dirty="0">
                <a:solidFill>
                  <a:schemeClr val="dk1"/>
                </a:solidFill>
              </a:rPr>
              <a:t>Each octet is separated with dot operator (Dotted Decimal)</a:t>
            </a:r>
            <a:endParaRPr dirty="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2"/>
          <p:cNvSpPr txBox="1">
            <a:spLocks noGrp="1"/>
          </p:cNvSpPr>
          <p:nvPr>
            <p:ph type="ctrTitle"/>
          </p:nvPr>
        </p:nvSpPr>
        <p:spPr>
          <a:xfrm>
            <a:off x="685800" y="476673"/>
            <a:ext cx="7772400" cy="792087"/>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IP address</a:t>
            </a:r>
            <a:endParaRPr/>
          </a:p>
        </p:txBody>
      </p:sp>
      <p:sp>
        <p:nvSpPr>
          <p:cNvPr id="305" name="Google Shape;305;p32"/>
          <p:cNvSpPr txBox="1">
            <a:spLocks noGrp="1"/>
          </p:cNvSpPr>
          <p:nvPr>
            <p:ph type="subTitle" idx="1"/>
          </p:nvPr>
        </p:nvSpPr>
        <p:spPr>
          <a:xfrm>
            <a:off x="1371600" y="1340768"/>
            <a:ext cx="6400800" cy="4752528"/>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Clr>
                <a:schemeClr val="dk1"/>
              </a:buClr>
              <a:buSzPts val="3200"/>
              <a:buFont typeface="Arial"/>
              <a:buChar char="•"/>
            </a:pPr>
            <a:r>
              <a:rPr lang="en-US" dirty="0">
                <a:solidFill>
                  <a:schemeClr val="dk1"/>
                </a:solidFill>
              </a:rPr>
              <a:t>IP address – A unique number that identifier a devices.</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32 bits</a:t>
            </a:r>
            <a:endParaRPr dirty="0"/>
          </a:p>
          <a:p>
            <a:pPr marL="457200" lvl="0" indent="-457200" algn="l" rtl="0">
              <a:spcBef>
                <a:spcPts val="640"/>
              </a:spcBef>
              <a:spcAft>
                <a:spcPts val="0"/>
              </a:spcAft>
              <a:buClr>
                <a:schemeClr val="dk1"/>
              </a:buClr>
              <a:buSzPts val="3200"/>
              <a:buFont typeface="Arial"/>
              <a:buChar char="•"/>
            </a:pPr>
            <a:r>
              <a:rPr lang="en-US" dirty="0" err="1">
                <a:solidFill>
                  <a:schemeClr val="dk1"/>
                </a:solidFill>
              </a:rPr>
              <a:t>Numberic</a:t>
            </a:r>
            <a:r>
              <a:rPr lang="en-US" dirty="0">
                <a:solidFill>
                  <a:schemeClr val="dk1"/>
                </a:solidFill>
              </a:rPr>
              <a:t> values combining binary digits</a:t>
            </a:r>
            <a:endParaRPr dirty="0"/>
          </a:p>
          <a:p>
            <a:pPr marL="457200" lvl="0" indent="-457200" algn="ctr" rtl="0">
              <a:spcBef>
                <a:spcPts val="640"/>
              </a:spcBef>
              <a:spcAft>
                <a:spcPts val="0"/>
              </a:spcAft>
              <a:buClr>
                <a:schemeClr val="dk1"/>
              </a:buClr>
              <a:buSzPts val="3200"/>
              <a:buFont typeface="Noto Sans Symbols"/>
              <a:buChar char="▪"/>
            </a:pPr>
            <a:r>
              <a:rPr lang="en-US" dirty="0">
                <a:solidFill>
                  <a:schemeClr val="dk1"/>
                </a:solidFill>
              </a:rPr>
              <a:t>Binary –    0,1</a:t>
            </a:r>
            <a:endParaRPr dirty="0"/>
          </a:p>
          <a:p>
            <a:pPr marL="457200" lvl="0" indent="-457200" algn="ctr" rtl="0">
              <a:spcBef>
                <a:spcPts val="640"/>
              </a:spcBef>
              <a:spcAft>
                <a:spcPts val="0"/>
              </a:spcAft>
              <a:buClr>
                <a:schemeClr val="dk1"/>
              </a:buClr>
              <a:buSzPts val="3200"/>
              <a:buFont typeface="Noto Sans Symbols"/>
              <a:buChar char="▪"/>
            </a:pPr>
            <a:r>
              <a:rPr lang="en-US" dirty="0">
                <a:solidFill>
                  <a:schemeClr val="dk1"/>
                </a:solidFill>
              </a:rPr>
              <a:t>Decimal - 0 to </a:t>
            </a:r>
            <a:r>
              <a:rPr lang="en-US" dirty="0" smtClean="0">
                <a:solidFill>
                  <a:schemeClr val="dk1"/>
                </a:solidFill>
              </a:rPr>
              <a:t>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3"/>
          <p:cNvSpPr txBox="1">
            <a:spLocks noGrp="1"/>
          </p:cNvSpPr>
          <p:nvPr>
            <p:ph type="subTitle" idx="1"/>
          </p:nvPr>
        </p:nvSpPr>
        <p:spPr>
          <a:xfrm>
            <a:off x="1371600" y="404664"/>
            <a:ext cx="6400800" cy="523413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dirty="0">
                <a:solidFill>
                  <a:schemeClr val="dk1"/>
                </a:solidFill>
              </a:rPr>
              <a:t>   </a:t>
            </a:r>
            <a:r>
              <a:rPr lang="en-US" dirty="0" err="1">
                <a:solidFill>
                  <a:schemeClr val="dk1"/>
                </a:solidFill>
              </a:rPr>
              <a:t>Eg</a:t>
            </a:r>
            <a:r>
              <a:rPr lang="en-US" dirty="0">
                <a:solidFill>
                  <a:schemeClr val="dk1"/>
                </a:solidFill>
              </a:rPr>
              <a:t>:</a:t>
            </a:r>
            <a:endParaRPr dirty="0"/>
          </a:p>
          <a:p>
            <a:pPr marL="0" lvl="0" indent="0" algn="l" rtl="0">
              <a:spcBef>
                <a:spcPts val="640"/>
              </a:spcBef>
              <a:spcAft>
                <a:spcPts val="0"/>
              </a:spcAft>
              <a:buClr>
                <a:schemeClr val="dk1"/>
              </a:buClr>
              <a:buSzPts val="3200"/>
              <a:buNone/>
            </a:pPr>
            <a:r>
              <a:rPr lang="en-US" dirty="0">
                <a:solidFill>
                  <a:schemeClr val="dk1"/>
                </a:solidFill>
              </a:rPr>
              <a:t>          10.9.0.25 (Dotted decimal)</a:t>
            </a:r>
            <a:endParaRPr dirty="0"/>
          </a:p>
          <a:p>
            <a:pPr marL="0" lvl="0" indent="0" algn="l" rtl="0">
              <a:spcBef>
                <a:spcPts val="640"/>
              </a:spcBef>
              <a:spcAft>
                <a:spcPts val="0"/>
              </a:spcAft>
              <a:buClr>
                <a:srgbClr val="888888"/>
              </a:buClr>
              <a:buSzPts val="3200"/>
              <a:buNone/>
            </a:pPr>
            <a:endParaRPr dirty="0">
              <a:solidFill>
                <a:schemeClr val="dk1"/>
              </a:solidFill>
            </a:endParaRPr>
          </a:p>
          <a:p>
            <a:pPr marL="0" lvl="0" indent="0" algn="l" rtl="0">
              <a:spcBef>
                <a:spcPts val="640"/>
              </a:spcBef>
              <a:spcAft>
                <a:spcPts val="0"/>
              </a:spcAft>
              <a:buClr>
                <a:schemeClr val="dk1"/>
              </a:buClr>
              <a:buSzPts val="3200"/>
              <a:buNone/>
            </a:pPr>
            <a:r>
              <a:rPr lang="en-US" dirty="0">
                <a:solidFill>
                  <a:schemeClr val="dk1"/>
                </a:solidFill>
              </a:rPr>
              <a:t>       </a:t>
            </a:r>
            <a:r>
              <a:rPr lang="en-US" sz="2400" dirty="0">
                <a:solidFill>
                  <a:schemeClr val="dk1"/>
                </a:solidFill>
              </a:rPr>
              <a:t>(00001010.00001001.00000000.00001101)</a:t>
            </a:r>
            <a:endParaRPr dirty="0"/>
          </a:p>
          <a:p>
            <a:pPr marL="0" lvl="0" indent="0" algn="l" rtl="0">
              <a:spcBef>
                <a:spcPts val="480"/>
              </a:spcBef>
              <a:spcAft>
                <a:spcPts val="0"/>
              </a:spcAft>
              <a:buClr>
                <a:schemeClr val="dk1"/>
              </a:buClr>
              <a:buSzPts val="2400"/>
              <a:buNone/>
            </a:pPr>
            <a:r>
              <a:rPr lang="en-US" sz="2400" dirty="0">
                <a:solidFill>
                  <a:schemeClr val="dk1"/>
                </a:solidFill>
              </a:rPr>
              <a:t>         </a:t>
            </a:r>
            <a:endParaRPr dirty="0"/>
          </a:p>
          <a:p>
            <a:pPr marL="0" lvl="0" indent="0" algn="l" rtl="0">
              <a:spcBef>
                <a:spcPts val="640"/>
              </a:spcBef>
              <a:spcAft>
                <a:spcPts val="0"/>
              </a:spcAft>
              <a:buClr>
                <a:schemeClr val="dk1"/>
              </a:buClr>
              <a:buSzPts val="3200"/>
              <a:buNone/>
            </a:pPr>
            <a:r>
              <a:rPr lang="en-US" b="1" i="1" u="sng" dirty="0">
                <a:solidFill>
                  <a:schemeClr val="dk1"/>
                </a:solidFill>
              </a:rPr>
              <a:t>IP Address Range:</a:t>
            </a:r>
            <a:endParaRPr dirty="0"/>
          </a:p>
          <a:p>
            <a:pPr marL="0" lvl="0" indent="0" algn="l" rtl="0">
              <a:spcBef>
                <a:spcPts val="640"/>
              </a:spcBef>
              <a:spcAft>
                <a:spcPts val="0"/>
              </a:spcAft>
              <a:buClr>
                <a:schemeClr val="dk1"/>
              </a:buClr>
              <a:buSzPts val="3200"/>
              <a:buNone/>
            </a:pPr>
            <a:r>
              <a:rPr lang="en-US" dirty="0">
                <a:solidFill>
                  <a:schemeClr val="dk1"/>
                </a:solidFill>
              </a:rPr>
              <a:t>       </a:t>
            </a:r>
            <a:r>
              <a:rPr lang="en-US" sz="2400" dirty="0">
                <a:solidFill>
                  <a:schemeClr val="dk1"/>
                </a:solidFill>
              </a:rPr>
              <a:t>0.0.0.0(00000000.00000000.00000000.00000000)</a:t>
            </a:r>
            <a:endParaRPr dirty="0"/>
          </a:p>
          <a:p>
            <a:pPr marL="0" lvl="0" indent="0" algn="l" rtl="0">
              <a:spcBef>
                <a:spcPts val="480"/>
              </a:spcBef>
              <a:spcAft>
                <a:spcPts val="0"/>
              </a:spcAft>
              <a:buClr>
                <a:schemeClr val="dk1"/>
              </a:buClr>
              <a:buSzPts val="2400"/>
              <a:buNone/>
            </a:pPr>
            <a:r>
              <a:rPr lang="en-US" sz="2400" b="1" dirty="0">
                <a:solidFill>
                  <a:schemeClr val="dk1"/>
                </a:solidFill>
              </a:rPr>
              <a:t>                           to</a:t>
            </a:r>
            <a:endParaRPr dirty="0"/>
          </a:p>
          <a:p>
            <a:pPr marL="0" lvl="0" indent="0" algn="l" rtl="0">
              <a:spcBef>
                <a:spcPts val="400"/>
              </a:spcBef>
              <a:spcAft>
                <a:spcPts val="0"/>
              </a:spcAft>
              <a:buClr>
                <a:schemeClr val="dk1"/>
              </a:buClr>
              <a:buSzPts val="2000"/>
              <a:buNone/>
            </a:pPr>
            <a:r>
              <a:rPr lang="en-US" sz="2000" dirty="0">
                <a:solidFill>
                  <a:schemeClr val="dk1"/>
                </a:solidFill>
              </a:rPr>
              <a:t>255.255.255.255(11111111.11111111.11111111.11111111)</a:t>
            </a:r>
            <a:endParaRPr sz="2000" dirty="0">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34"/>
          <p:cNvSpPr txBox="1">
            <a:spLocks noGrp="1"/>
          </p:cNvSpPr>
          <p:nvPr>
            <p:ph type="subTitle" idx="1"/>
          </p:nvPr>
        </p:nvSpPr>
        <p:spPr>
          <a:xfrm>
            <a:off x="611560" y="548680"/>
            <a:ext cx="7160840" cy="6192688"/>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dirty="0">
                <a:solidFill>
                  <a:schemeClr val="dk1"/>
                </a:solidFill>
              </a:rPr>
              <a:t>IP address two parts</a:t>
            </a:r>
            <a:endParaRPr dirty="0"/>
          </a:p>
          <a:p>
            <a:pPr marL="457200" lvl="0" indent="-457200" algn="ctr" rtl="0">
              <a:spcBef>
                <a:spcPts val="640"/>
              </a:spcBef>
              <a:spcAft>
                <a:spcPts val="0"/>
              </a:spcAft>
              <a:buClr>
                <a:schemeClr val="dk1"/>
              </a:buClr>
              <a:buSzPts val="3200"/>
              <a:buFont typeface="Noto Sans Symbols"/>
              <a:buChar char="✔"/>
            </a:pPr>
            <a:r>
              <a:rPr lang="en-US" dirty="0">
                <a:solidFill>
                  <a:schemeClr val="dk1"/>
                </a:solidFill>
              </a:rPr>
              <a:t>Network parts</a:t>
            </a:r>
            <a:endParaRPr dirty="0"/>
          </a:p>
          <a:p>
            <a:pPr marL="457200" lvl="0" indent="-457200" algn="ctr" rtl="0">
              <a:spcBef>
                <a:spcPts val="640"/>
              </a:spcBef>
              <a:spcAft>
                <a:spcPts val="0"/>
              </a:spcAft>
              <a:buClr>
                <a:schemeClr val="dk1"/>
              </a:buClr>
              <a:buSzPts val="3200"/>
              <a:buFont typeface="Noto Sans Symbols"/>
              <a:buChar char="✔"/>
            </a:pPr>
            <a:r>
              <a:rPr lang="en-US" dirty="0">
                <a:solidFill>
                  <a:schemeClr val="dk1"/>
                </a:solidFill>
              </a:rPr>
              <a:t>   Host     parts</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The network identifies network part</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Network is decided by the class of the IP address</a:t>
            </a:r>
            <a:endParaRPr dirty="0"/>
          </a:p>
          <a:p>
            <a:pPr marL="0" lvl="0" indent="0" algn="l" rtl="0">
              <a:spcBef>
                <a:spcPts val="640"/>
              </a:spcBef>
              <a:spcAft>
                <a:spcPts val="0"/>
              </a:spcAft>
              <a:buClr>
                <a:schemeClr val="dk1"/>
              </a:buClr>
              <a:buSzPts val="3200"/>
              <a:buNone/>
            </a:pPr>
            <a:r>
              <a:rPr lang="en-US" dirty="0">
                <a:solidFill>
                  <a:schemeClr val="dk1"/>
                </a:solidFill>
              </a:rPr>
              <a:t>EX consider IP:</a:t>
            </a:r>
            <a:endParaRPr dirty="0"/>
          </a:p>
          <a:p>
            <a:pPr marL="0" lvl="0" indent="0" algn="l" rtl="0">
              <a:spcBef>
                <a:spcPts val="640"/>
              </a:spcBef>
              <a:spcAft>
                <a:spcPts val="0"/>
              </a:spcAft>
              <a:buClr>
                <a:schemeClr val="dk1"/>
              </a:buClr>
              <a:buSzPts val="3200"/>
              <a:buNone/>
            </a:pPr>
            <a:r>
              <a:rPr lang="en-US" dirty="0">
                <a:solidFill>
                  <a:schemeClr val="dk1"/>
                </a:solidFill>
              </a:rPr>
              <a:t>         10.9.0.25(Dotted decimal)</a:t>
            </a:r>
            <a:endParaRPr dirty="0"/>
          </a:p>
          <a:p>
            <a:pPr marL="0" lvl="0" indent="0" algn="l" rtl="0">
              <a:spcBef>
                <a:spcPts val="640"/>
              </a:spcBef>
              <a:spcAft>
                <a:spcPts val="0"/>
              </a:spcAft>
              <a:buClr>
                <a:srgbClr val="888888"/>
              </a:buClr>
              <a:buSzPts val="3200"/>
              <a:buNone/>
            </a:pPr>
            <a:endParaRPr dirty="0">
              <a:solidFill>
                <a:schemeClr val="dk1"/>
              </a:solidFill>
            </a:endParaRPr>
          </a:p>
          <a:p>
            <a:pPr marL="0" lvl="0" indent="0" algn="l" rtl="0">
              <a:spcBef>
                <a:spcPts val="480"/>
              </a:spcBef>
              <a:spcAft>
                <a:spcPts val="0"/>
              </a:spcAft>
              <a:buClr>
                <a:schemeClr val="dk1"/>
              </a:buClr>
              <a:buSzPts val="2400"/>
              <a:buNone/>
            </a:pPr>
            <a:r>
              <a:rPr lang="en-US" sz="2400" dirty="0">
                <a:solidFill>
                  <a:schemeClr val="dk1"/>
                </a:solidFill>
              </a:rPr>
              <a:t>     </a:t>
            </a:r>
            <a:r>
              <a:rPr lang="en-US" sz="2000" dirty="0">
                <a:solidFill>
                  <a:schemeClr val="dk1"/>
                </a:solidFill>
              </a:rPr>
              <a:t>IP:00001010.00001001.00000000.00001101(Dotted Binary)</a:t>
            </a:r>
            <a:endParaRPr sz="2000" dirty="0">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graphicFrame>
        <p:nvGraphicFramePr>
          <p:cNvPr id="320" name="Google Shape;320;p35"/>
          <p:cNvGraphicFramePr/>
          <p:nvPr>
            <p:extLst>
              <p:ext uri="{D42A27DB-BD31-4B8C-83A1-F6EECF244321}">
                <p14:modId xmlns:p14="http://schemas.microsoft.com/office/powerpoint/2010/main" val="2435868010"/>
              </p:ext>
            </p:extLst>
          </p:nvPr>
        </p:nvGraphicFramePr>
        <p:xfrm>
          <a:off x="1214647" y="191071"/>
          <a:ext cx="7246964" cy="6422390"/>
        </p:xfrm>
        <a:graphic>
          <a:graphicData uri="http://schemas.openxmlformats.org/drawingml/2006/table">
            <a:tbl>
              <a:tblPr firstRow="1" bandRow="1">
                <a:noFill/>
                <a:tableStyleId>{07945435-0B42-4836-8C0C-70F372444576}</a:tableStyleId>
              </a:tblPr>
              <a:tblGrid>
                <a:gridCol w="1811741"/>
                <a:gridCol w="1811741"/>
                <a:gridCol w="1811741"/>
                <a:gridCol w="1811741"/>
              </a:tblGrid>
              <a:tr h="936354">
                <a:tc>
                  <a:txBody>
                    <a:bodyPr/>
                    <a:lstStyle/>
                    <a:p>
                      <a:pPr marL="0" marR="0" lvl="0" indent="0" algn="l" rtl="0">
                        <a:spcBef>
                          <a:spcPts val="0"/>
                        </a:spcBef>
                        <a:spcAft>
                          <a:spcPts val="0"/>
                        </a:spcAft>
                        <a:buNone/>
                      </a:pPr>
                      <a:r>
                        <a:rPr lang="en-US" sz="2800" u="none" strike="noStrike" cap="none" dirty="0"/>
                        <a:t>Class</a:t>
                      </a:r>
                      <a:endParaRPr sz="2800" dirty="0"/>
                    </a:p>
                  </a:txBody>
                  <a:tcPr marL="91450" marR="91450" marT="45725" marB="45725"/>
                </a:tc>
                <a:tc>
                  <a:txBody>
                    <a:bodyPr/>
                    <a:lstStyle/>
                    <a:p>
                      <a:pPr marL="0" marR="0" lvl="0" indent="0" algn="l" rtl="0">
                        <a:spcBef>
                          <a:spcPts val="0"/>
                        </a:spcBef>
                        <a:spcAft>
                          <a:spcPts val="0"/>
                        </a:spcAft>
                        <a:buNone/>
                      </a:pPr>
                      <a:r>
                        <a:rPr lang="en-US" sz="2800" dirty="0"/>
                        <a:t>1st Octet Decimal range</a:t>
                      </a:r>
                      <a:endParaRPr sz="2800" dirty="0"/>
                    </a:p>
                  </a:txBody>
                  <a:tcPr marL="91450" marR="91450" marT="45725" marB="45725"/>
                </a:tc>
                <a:tc>
                  <a:txBody>
                    <a:bodyPr/>
                    <a:lstStyle/>
                    <a:p>
                      <a:pPr marL="0" marR="0" lvl="0" indent="0" algn="l" rtl="0">
                        <a:spcBef>
                          <a:spcPts val="0"/>
                        </a:spcBef>
                        <a:spcAft>
                          <a:spcPts val="0"/>
                        </a:spcAft>
                        <a:buNone/>
                      </a:pPr>
                      <a:r>
                        <a:rPr lang="en-US" sz="2800"/>
                        <a:t>Network IP (N)/Host IP (H)</a:t>
                      </a:r>
                      <a:endParaRPr sz="2800"/>
                    </a:p>
                  </a:txBody>
                  <a:tcPr marL="91450" marR="91450" marT="45725" marB="45725"/>
                </a:tc>
                <a:tc>
                  <a:txBody>
                    <a:bodyPr/>
                    <a:lstStyle/>
                    <a:p>
                      <a:pPr marL="0" marR="0" lvl="0" indent="0" algn="l" rtl="0">
                        <a:spcBef>
                          <a:spcPts val="0"/>
                        </a:spcBef>
                        <a:spcAft>
                          <a:spcPts val="0"/>
                        </a:spcAft>
                        <a:buNone/>
                      </a:pPr>
                      <a:r>
                        <a:rPr lang="en-US" sz="2800" dirty="0"/>
                        <a:t>Default subnet mask</a:t>
                      </a:r>
                      <a:endParaRPr sz="2800" dirty="0"/>
                    </a:p>
                  </a:txBody>
                  <a:tcPr marL="91450" marR="91450" marT="45725" marB="45725"/>
                </a:tc>
              </a:tr>
              <a:tr h="844500">
                <a:tc>
                  <a:txBody>
                    <a:bodyPr/>
                    <a:lstStyle/>
                    <a:p>
                      <a:pPr marL="0" marR="0" lvl="0" indent="0" algn="l" rtl="0">
                        <a:spcBef>
                          <a:spcPts val="0"/>
                        </a:spcBef>
                        <a:spcAft>
                          <a:spcPts val="0"/>
                        </a:spcAft>
                        <a:buNone/>
                      </a:pPr>
                      <a:r>
                        <a:rPr lang="en-US" sz="2800"/>
                        <a:t>        A</a:t>
                      </a:r>
                      <a:endParaRPr sz="2800"/>
                    </a:p>
                  </a:txBody>
                  <a:tcPr marL="91450" marR="91450" marT="45725" marB="45725"/>
                </a:tc>
                <a:tc>
                  <a:txBody>
                    <a:bodyPr/>
                    <a:lstStyle/>
                    <a:p>
                      <a:pPr marL="0" marR="0" lvl="0" indent="0" algn="l" rtl="0">
                        <a:spcBef>
                          <a:spcPts val="0"/>
                        </a:spcBef>
                        <a:spcAft>
                          <a:spcPts val="0"/>
                        </a:spcAft>
                        <a:buNone/>
                      </a:pPr>
                      <a:r>
                        <a:rPr lang="en-US" sz="2800" dirty="0"/>
                        <a:t>0-127</a:t>
                      </a:r>
                      <a:endParaRPr sz="2800" dirty="0"/>
                    </a:p>
                  </a:txBody>
                  <a:tcPr marL="91450" marR="91450" marT="45725" marB="45725"/>
                </a:tc>
                <a:tc>
                  <a:txBody>
                    <a:bodyPr/>
                    <a:lstStyle/>
                    <a:p>
                      <a:pPr marL="0" marR="0" lvl="0" indent="0" algn="l" rtl="0">
                        <a:spcBef>
                          <a:spcPts val="0"/>
                        </a:spcBef>
                        <a:spcAft>
                          <a:spcPts val="0"/>
                        </a:spcAft>
                        <a:buNone/>
                      </a:pPr>
                      <a:r>
                        <a:rPr lang="en-US" sz="2800"/>
                        <a:t>N.H.H.H</a:t>
                      </a:r>
                      <a:endParaRPr sz="2800"/>
                    </a:p>
                  </a:txBody>
                  <a:tcPr marL="91450" marR="91450" marT="45725" marB="45725"/>
                </a:tc>
                <a:tc>
                  <a:txBody>
                    <a:bodyPr/>
                    <a:lstStyle/>
                    <a:p>
                      <a:pPr marL="0" marR="0" lvl="0" indent="0" algn="l" rtl="0">
                        <a:spcBef>
                          <a:spcPts val="0"/>
                        </a:spcBef>
                        <a:spcAft>
                          <a:spcPts val="0"/>
                        </a:spcAft>
                        <a:buNone/>
                      </a:pPr>
                      <a:r>
                        <a:rPr lang="en-US" sz="2800"/>
                        <a:t>255.0.0.0</a:t>
                      </a:r>
                      <a:endParaRPr sz="2800"/>
                    </a:p>
                  </a:txBody>
                  <a:tcPr marL="91450" marR="91450" marT="45725" marB="45725"/>
                </a:tc>
              </a:tr>
              <a:tr h="844500">
                <a:tc>
                  <a:txBody>
                    <a:bodyPr/>
                    <a:lstStyle/>
                    <a:p>
                      <a:pPr marL="0" marR="0" lvl="0" indent="0" algn="l" rtl="0">
                        <a:spcBef>
                          <a:spcPts val="0"/>
                        </a:spcBef>
                        <a:spcAft>
                          <a:spcPts val="0"/>
                        </a:spcAft>
                        <a:buNone/>
                      </a:pPr>
                      <a:r>
                        <a:rPr lang="en-US" sz="2800"/>
                        <a:t>        B</a:t>
                      </a:r>
                      <a:endParaRPr sz="2800"/>
                    </a:p>
                  </a:txBody>
                  <a:tcPr marL="91450" marR="91450" marT="45725" marB="45725"/>
                </a:tc>
                <a:tc>
                  <a:txBody>
                    <a:bodyPr/>
                    <a:lstStyle/>
                    <a:p>
                      <a:pPr marL="0" marR="0" lvl="0" indent="0" algn="l" rtl="0">
                        <a:spcBef>
                          <a:spcPts val="0"/>
                        </a:spcBef>
                        <a:spcAft>
                          <a:spcPts val="0"/>
                        </a:spcAft>
                        <a:buNone/>
                      </a:pPr>
                      <a:r>
                        <a:rPr lang="en-US" sz="2800" dirty="0"/>
                        <a:t>128-191</a:t>
                      </a:r>
                      <a:endParaRPr sz="2800" dirty="0"/>
                    </a:p>
                  </a:txBody>
                  <a:tcPr marL="91450" marR="91450" marT="45725" marB="45725"/>
                </a:tc>
                <a:tc>
                  <a:txBody>
                    <a:bodyPr/>
                    <a:lstStyle/>
                    <a:p>
                      <a:pPr marL="0" marR="0" lvl="0" indent="0" algn="l" rtl="0">
                        <a:spcBef>
                          <a:spcPts val="0"/>
                        </a:spcBef>
                        <a:spcAft>
                          <a:spcPts val="0"/>
                        </a:spcAft>
                        <a:buNone/>
                      </a:pPr>
                      <a:r>
                        <a:rPr lang="en-US" sz="2800" dirty="0"/>
                        <a:t>N.N.H.H</a:t>
                      </a:r>
                      <a:endParaRPr sz="2800" dirty="0"/>
                    </a:p>
                  </a:txBody>
                  <a:tcPr marL="91450" marR="91450" marT="45725" marB="45725"/>
                </a:tc>
                <a:tc>
                  <a:txBody>
                    <a:bodyPr/>
                    <a:lstStyle/>
                    <a:p>
                      <a:pPr marL="0" marR="0" lvl="0" indent="0" algn="l" rtl="0">
                        <a:spcBef>
                          <a:spcPts val="0"/>
                        </a:spcBef>
                        <a:spcAft>
                          <a:spcPts val="0"/>
                        </a:spcAft>
                        <a:buNone/>
                      </a:pPr>
                      <a:r>
                        <a:rPr lang="en-US" sz="2800"/>
                        <a:t>255.255.0.0</a:t>
                      </a:r>
                      <a:endParaRPr sz="2800"/>
                    </a:p>
                  </a:txBody>
                  <a:tcPr marL="91450" marR="91450" marT="45725" marB="45725"/>
                </a:tc>
              </a:tr>
              <a:tr h="844500">
                <a:tc>
                  <a:txBody>
                    <a:bodyPr/>
                    <a:lstStyle/>
                    <a:p>
                      <a:pPr marL="0" marR="0" lvl="0" indent="0" algn="l" rtl="0">
                        <a:spcBef>
                          <a:spcPts val="0"/>
                        </a:spcBef>
                        <a:spcAft>
                          <a:spcPts val="0"/>
                        </a:spcAft>
                        <a:buNone/>
                      </a:pPr>
                      <a:r>
                        <a:rPr lang="en-US" sz="2800" dirty="0"/>
                        <a:t>        C</a:t>
                      </a:r>
                      <a:endParaRPr sz="2800" dirty="0"/>
                    </a:p>
                  </a:txBody>
                  <a:tcPr marL="91450" marR="91450" marT="45725" marB="45725"/>
                </a:tc>
                <a:tc>
                  <a:txBody>
                    <a:bodyPr/>
                    <a:lstStyle/>
                    <a:p>
                      <a:pPr marL="0" marR="0" lvl="0" indent="0" algn="l" rtl="0">
                        <a:spcBef>
                          <a:spcPts val="0"/>
                        </a:spcBef>
                        <a:spcAft>
                          <a:spcPts val="0"/>
                        </a:spcAft>
                        <a:buNone/>
                      </a:pPr>
                      <a:r>
                        <a:rPr lang="en-US" sz="2800"/>
                        <a:t>192-223</a:t>
                      </a:r>
                      <a:endParaRPr sz="2800"/>
                    </a:p>
                  </a:txBody>
                  <a:tcPr marL="91450" marR="91450" marT="45725" marB="45725"/>
                </a:tc>
                <a:tc>
                  <a:txBody>
                    <a:bodyPr/>
                    <a:lstStyle/>
                    <a:p>
                      <a:pPr marL="0" marR="0" lvl="0" indent="0" algn="l" rtl="0">
                        <a:spcBef>
                          <a:spcPts val="0"/>
                        </a:spcBef>
                        <a:spcAft>
                          <a:spcPts val="0"/>
                        </a:spcAft>
                        <a:buNone/>
                      </a:pPr>
                      <a:r>
                        <a:rPr lang="en-US" sz="2800" dirty="0"/>
                        <a:t>N.N.N.H</a:t>
                      </a:r>
                      <a:endParaRPr sz="2800" dirty="0"/>
                    </a:p>
                  </a:txBody>
                  <a:tcPr marL="91450" marR="91450" marT="45725" marB="45725"/>
                </a:tc>
                <a:tc>
                  <a:txBody>
                    <a:bodyPr/>
                    <a:lstStyle/>
                    <a:p>
                      <a:pPr marL="0" marR="0" lvl="0" indent="0" algn="l" rtl="0">
                        <a:spcBef>
                          <a:spcPts val="0"/>
                        </a:spcBef>
                        <a:spcAft>
                          <a:spcPts val="0"/>
                        </a:spcAft>
                        <a:buNone/>
                      </a:pPr>
                      <a:r>
                        <a:rPr lang="en-US" sz="2800"/>
                        <a:t>255.255.255.0</a:t>
                      </a:r>
                      <a:endParaRPr sz="2800"/>
                    </a:p>
                  </a:txBody>
                  <a:tcPr marL="91450" marR="91450" marT="45725" marB="45725"/>
                </a:tc>
              </a:tr>
              <a:tr h="844500">
                <a:tc>
                  <a:txBody>
                    <a:bodyPr/>
                    <a:lstStyle/>
                    <a:p>
                      <a:pPr marL="0" marR="0" lvl="0" indent="0" algn="l" rtl="0">
                        <a:spcBef>
                          <a:spcPts val="0"/>
                        </a:spcBef>
                        <a:spcAft>
                          <a:spcPts val="0"/>
                        </a:spcAft>
                        <a:buNone/>
                      </a:pPr>
                      <a:r>
                        <a:rPr lang="en-US" sz="2800" dirty="0"/>
                        <a:t>        D</a:t>
                      </a:r>
                      <a:endParaRPr sz="2800" dirty="0"/>
                    </a:p>
                  </a:txBody>
                  <a:tcPr marL="91450" marR="91450" marT="45725" marB="45725"/>
                </a:tc>
                <a:tc>
                  <a:txBody>
                    <a:bodyPr/>
                    <a:lstStyle/>
                    <a:p>
                      <a:pPr marL="0" marR="0" lvl="0" indent="0" algn="l" rtl="0">
                        <a:spcBef>
                          <a:spcPts val="0"/>
                        </a:spcBef>
                        <a:spcAft>
                          <a:spcPts val="0"/>
                        </a:spcAft>
                        <a:buNone/>
                      </a:pPr>
                      <a:r>
                        <a:rPr lang="en-US" sz="2800" dirty="0"/>
                        <a:t>224-239</a:t>
                      </a:r>
                      <a:endParaRPr sz="2800"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t>                Multi </a:t>
                      </a:r>
                      <a:r>
                        <a:rPr lang="en-US" sz="2800" dirty="0" smtClean="0"/>
                        <a:t>cast</a:t>
                      </a:r>
                    </a:p>
                  </a:txBody>
                  <a:tcPr marL="91450" marR="91450" marT="45725" marB="45725"/>
                </a:tc>
                <a:tc>
                  <a:txBody>
                    <a:bodyPr/>
                    <a:lstStyle/>
                    <a:p>
                      <a:pPr marL="0" marR="0" lvl="0" indent="0" algn="l" rtl="0">
                        <a:spcBef>
                          <a:spcPts val="0"/>
                        </a:spcBef>
                        <a:spcAft>
                          <a:spcPts val="0"/>
                        </a:spcAft>
                        <a:buNone/>
                      </a:pPr>
                      <a:endParaRPr sz="2800" dirty="0"/>
                    </a:p>
                  </a:txBody>
                  <a:tcPr marL="91450" marR="91450" marT="45725" marB="45725"/>
                </a:tc>
              </a:tr>
              <a:tr h="844500">
                <a:tc>
                  <a:txBody>
                    <a:bodyPr/>
                    <a:lstStyle/>
                    <a:p>
                      <a:pPr marL="0" marR="0" lvl="0" indent="0" algn="l" rtl="0">
                        <a:spcBef>
                          <a:spcPts val="0"/>
                        </a:spcBef>
                        <a:spcAft>
                          <a:spcPts val="0"/>
                        </a:spcAft>
                        <a:buNone/>
                      </a:pPr>
                      <a:r>
                        <a:rPr lang="en-US" sz="2800"/>
                        <a:t>         E</a:t>
                      </a:r>
                      <a:endParaRPr sz="2800"/>
                    </a:p>
                  </a:txBody>
                  <a:tcPr marL="91450" marR="91450" marT="45725" marB="45725"/>
                </a:tc>
                <a:tc>
                  <a:txBody>
                    <a:bodyPr/>
                    <a:lstStyle/>
                    <a:p>
                      <a:pPr marL="0" marR="0" lvl="0" indent="0" algn="l" rtl="0">
                        <a:spcBef>
                          <a:spcPts val="0"/>
                        </a:spcBef>
                        <a:spcAft>
                          <a:spcPts val="0"/>
                        </a:spcAft>
                        <a:buNone/>
                      </a:pPr>
                      <a:r>
                        <a:rPr lang="en-US" sz="2800"/>
                        <a:t>240-255</a:t>
                      </a:r>
                      <a:endParaRPr sz="280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t>               </a:t>
                      </a:r>
                      <a:r>
                        <a:rPr lang="en-US" sz="2800" dirty="0" smtClean="0"/>
                        <a:t>Board cast</a:t>
                      </a:r>
                    </a:p>
                  </a:txBody>
                  <a:tcPr marL="91450" marR="91450" marT="45725" marB="45725"/>
                </a:tc>
                <a:tc>
                  <a:txBody>
                    <a:bodyPr/>
                    <a:lstStyle/>
                    <a:p>
                      <a:pPr marL="0" marR="0" lvl="0" indent="0" algn="l" rtl="0">
                        <a:spcBef>
                          <a:spcPts val="0"/>
                        </a:spcBef>
                        <a:spcAft>
                          <a:spcPts val="0"/>
                        </a:spcAft>
                        <a:buNone/>
                      </a:pPr>
                      <a:endParaRPr sz="2800" dirty="0"/>
                    </a:p>
                  </a:txBody>
                  <a:tcPr marL="91450" marR="91450" marT="45725" marB="457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SPECIAL IP IN IPV4</a:t>
            </a:r>
            <a:endParaRPr/>
          </a:p>
        </p:txBody>
      </p:sp>
      <p:sp>
        <p:nvSpPr>
          <p:cNvPr id="326" name="Google Shape;326;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Char char="•"/>
            </a:pPr>
            <a:r>
              <a:rPr lang="en-US" dirty="0"/>
              <a:t>The IP address range 127.0. 0.0 – 127.255. 255.255 is reserved for loopback, i.e. a Host's self-address, also known as localhost address. This loopback IP address is managed entirely by and within the operating system.</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CIDR CALCULATION</a:t>
            </a:r>
            <a:endParaRPr/>
          </a:p>
        </p:txBody>
      </p:sp>
      <p:sp>
        <p:nvSpPr>
          <p:cNvPr id="332" name="Google Shape;332;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CIDR (Under Classless Inter-Domain Routing), IP address appends a suffix value stating the number of network address prefix bits to a normal IP address. For example, 192.0. 2.0/24 is an IPv4 CIDR address where the first 24 bits, or 192.0. 2, is the network address.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38"/>
          <p:cNvSpPr txBox="1">
            <a:spLocks noGrp="1"/>
          </p:cNvSpPr>
          <p:nvPr>
            <p:ph type="ctrTitle"/>
          </p:nvPr>
        </p:nvSpPr>
        <p:spPr>
          <a:xfrm>
            <a:off x="539552" y="188641"/>
            <a:ext cx="7772400" cy="57606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Decimal to Binary</a:t>
            </a:r>
            <a:endParaRPr/>
          </a:p>
        </p:txBody>
      </p:sp>
      <p:sp>
        <p:nvSpPr>
          <p:cNvPr id="338" name="Google Shape;338;p38"/>
          <p:cNvSpPr txBox="1">
            <a:spLocks noGrp="1"/>
          </p:cNvSpPr>
          <p:nvPr>
            <p:ph type="subTitle" idx="1"/>
          </p:nvPr>
        </p:nvSpPr>
        <p:spPr>
          <a:xfrm>
            <a:off x="1403648" y="908720"/>
            <a:ext cx="6400800" cy="5832648"/>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ct val="100000"/>
              <a:buNone/>
            </a:pPr>
            <a:r>
              <a:rPr lang="en-US">
                <a:solidFill>
                  <a:schemeClr val="dk1"/>
                </a:solidFill>
              </a:rPr>
              <a:t>      The simplest method of converting between decimal and binary the following table</a:t>
            </a:r>
            <a:endParaRPr/>
          </a:p>
          <a:p>
            <a:pPr marL="0" lvl="0" indent="0" algn="l" rtl="0">
              <a:spcBef>
                <a:spcPts val="592"/>
              </a:spcBef>
              <a:spcAft>
                <a:spcPts val="0"/>
              </a:spcAft>
              <a:buClr>
                <a:schemeClr val="dk1"/>
              </a:buClr>
              <a:buSzPct val="100000"/>
              <a:buNone/>
            </a:pPr>
            <a:r>
              <a:rPr lang="en-US">
                <a:solidFill>
                  <a:schemeClr val="dk1"/>
                </a:solidFill>
              </a:rPr>
              <a:t> </a:t>
            </a:r>
            <a:endParaRPr/>
          </a:p>
          <a:p>
            <a:pPr marL="0" lvl="0" indent="0" algn="l" rtl="0">
              <a:spcBef>
                <a:spcPts val="592"/>
              </a:spcBef>
              <a:spcAft>
                <a:spcPts val="0"/>
              </a:spcAft>
              <a:buClr>
                <a:schemeClr val="dk1"/>
              </a:buClr>
              <a:buSzPct val="100000"/>
              <a:buNone/>
            </a:pPr>
            <a:r>
              <a:rPr lang="en-US">
                <a:solidFill>
                  <a:schemeClr val="dk1"/>
                </a:solidFill>
              </a:rPr>
              <a:t>    Convert a decimal number 172 to binary</a:t>
            </a:r>
            <a:endParaRPr/>
          </a:p>
          <a:p>
            <a:pPr marL="0" lvl="0" indent="0" algn="l" rtl="0">
              <a:spcBef>
                <a:spcPts val="592"/>
              </a:spcBef>
              <a:spcAft>
                <a:spcPts val="0"/>
              </a:spcAft>
              <a:buClr>
                <a:schemeClr val="dk1"/>
              </a:buClr>
              <a:buSzPct val="100000"/>
              <a:buNone/>
            </a:pPr>
            <a:r>
              <a:rPr lang="en-US">
                <a:solidFill>
                  <a:schemeClr val="dk1"/>
                </a:solidFill>
              </a:rPr>
              <a:t>              128+32+8+4=172</a:t>
            </a:r>
            <a:endParaRPr/>
          </a:p>
          <a:p>
            <a:pPr marL="0" lvl="0" indent="0" algn="l" rtl="0">
              <a:spcBef>
                <a:spcPts val="592"/>
              </a:spcBef>
              <a:spcAft>
                <a:spcPts val="0"/>
              </a:spcAft>
              <a:buClr>
                <a:srgbClr val="888888"/>
              </a:buClr>
              <a:buSzPct val="100000"/>
              <a:buNone/>
            </a:pPr>
            <a:endParaRPr>
              <a:solidFill>
                <a:schemeClr val="dk1"/>
              </a:solidFill>
            </a:endParaRPr>
          </a:p>
          <a:p>
            <a:pPr marL="0" lvl="0" indent="0" algn="l" rtl="0">
              <a:spcBef>
                <a:spcPts val="592"/>
              </a:spcBef>
              <a:spcAft>
                <a:spcPts val="0"/>
              </a:spcAft>
              <a:buClr>
                <a:srgbClr val="888888"/>
              </a:buClr>
              <a:buSzPct val="100000"/>
              <a:buNone/>
            </a:pPr>
            <a:endParaRPr>
              <a:solidFill>
                <a:schemeClr val="dk1"/>
              </a:solidFill>
            </a:endParaRPr>
          </a:p>
          <a:p>
            <a:pPr marL="0" lvl="0" indent="0" algn="l" rtl="0">
              <a:spcBef>
                <a:spcPts val="592"/>
              </a:spcBef>
              <a:spcAft>
                <a:spcPts val="0"/>
              </a:spcAft>
              <a:buClr>
                <a:schemeClr val="dk1"/>
              </a:buClr>
              <a:buSzPct val="100000"/>
              <a:buNone/>
            </a:pPr>
            <a:r>
              <a:rPr lang="en-US">
                <a:solidFill>
                  <a:schemeClr val="dk1"/>
                </a:solidFill>
              </a:rPr>
              <a:t>     The binary equivalent for the given decimal number 172 is 10101100</a:t>
            </a:r>
            <a:endParaRPr>
              <a:solidFill>
                <a:schemeClr val="dk1"/>
              </a:solidFill>
            </a:endParaRPr>
          </a:p>
          <a:p>
            <a:pPr marL="0" lvl="0" indent="0" algn="l" rtl="0">
              <a:spcBef>
                <a:spcPts val="592"/>
              </a:spcBef>
              <a:spcAft>
                <a:spcPts val="0"/>
              </a:spcAft>
              <a:buClr>
                <a:srgbClr val="888888"/>
              </a:buClr>
              <a:buSzPct val="100000"/>
              <a:buNone/>
            </a:pPr>
            <a:endParaRPr>
              <a:solidFill>
                <a:schemeClr val="dk1"/>
              </a:solidFill>
            </a:endParaRPr>
          </a:p>
          <a:p>
            <a:pPr marL="0" lvl="0" indent="0" algn="l" rtl="0">
              <a:spcBef>
                <a:spcPts val="592"/>
              </a:spcBef>
              <a:spcAft>
                <a:spcPts val="0"/>
              </a:spcAft>
              <a:buClr>
                <a:srgbClr val="888888"/>
              </a:buClr>
              <a:buSzPct val="100000"/>
              <a:buNone/>
            </a:pPr>
            <a:endParaRPr>
              <a:solidFill>
                <a:schemeClr val="dk1"/>
              </a:solidFill>
            </a:endParaRPr>
          </a:p>
        </p:txBody>
      </p:sp>
      <p:graphicFrame>
        <p:nvGraphicFramePr>
          <p:cNvPr id="339" name="Google Shape;339;p38"/>
          <p:cNvGraphicFramePr/>
          <p:nvPr>
            <p:extLst>
              <p:ext uri="{D42A27DB-BD31-4B8C-83A1-F6EECF244321}">
                <p14:modId xmlns:p14="http://schemas.microsoft.com/office/powerpoint/2010/main" val="1002796568"/>
              </p:ext>
            </p:extLst>
          </p:nvPr>
        </p:nvGraphicFramePr>
        <p:xfrm>
          <a:off x="2076328" y="2343150"/>
          <a:ext cx="5664000" cy="365770"/>
        </p:xfrm>
        <a:graphic>
          <a:graphicData uri="http://schemas.openxmlformats.org/drawingml/2006/table">
            <a:tbl>
              <a:tblPr firstRow="1" bandRow="1">
                <a:noFill/>
                <a:tableStyleId>{07945435-0B42-4836-8C0C-70F372444576}</a:tableStyleId>
              </a:tblPr>
              <a:tblGrid>
                <a:gridCol w="708000"/>
                <a:gridCol w="708000"/>
                <a:gridCol w="708000"/>
                <a:gridCol w="708000"/>
                <a:gridCol w="708000"/>
                <a:gridCol w="708000"/>
                <a:gridCol w="708000"/>
                <a:gridCol w="708000"/>
              </a:tblGrid>
              <a:tr h="298825">
                <a:tc>
                  <a:txBody>
                    <a:bodyPr/>
                    <a:lstStyle/>
                    <a:p>
                      <a:pPr marL="0" marR="0" lvl="0" indent="0" algn="l" rtl="0">
                        <a:spcBef>
                          <a:spcPts val="0"/>
                        </a:spcBef>
                        <a:spcAft>
                          <a:spcPts val="0"/>
                        </a:spcAft>
                        <a:buNone/>
                      </a:pPr>
                      <a:r>
                        <a:rPr lang="en-US" sz="1800"/>
                        <a:t>128</a:t>
                      </a:r>
                      <a:endParaRPr sz="1800"/>
                    </a:p>
                  </a:txBody>
                  <a:tcPr marL="91450" marR="91450" marT="45725" marB="45725"/>
                </a:tc>
                <a:tc>
                  <a:txBody>
                    <a:bodyPr/>
                    <a:lstStyle/>
                    <a:p>
                      <a:pPr marL="0" marR="0" lvl="0" indent="0" algn="l" rtl="0">
                        <a:spcBef>
                          <a:spcPts val="0"/>
                        </a:spcBef>
                        <a:spcAft>
                          <a:spcPts val="0"/>
                        </a:spcAft>
                        <a:buNone/>
                      </a:pPr>
                      <a:r>
                        <a:rPr lang="en-US" sz="1800"/>
                        <a:t>64</a:t>
                      </a:r>
                      <a:endParaRPr sz="1800"/>
                    </a:p>
                  </a:txBody>
                  <a:tcPr marL="91450" marR="91450" marT="45725" marB="45725"/>
                </a:tc>
                <a:tc>
                  <a:txBody>
                    <a:bodyPr/>
                    <a:lstStyle/>
                    <a:p>
                      <a:pPr marL="0" marR="0" lvl="0" indent="0" algn="l" rtl="0">
                        <a:spcBef>
                          <a:spcPts val="0"/>
                        </a:spcBef>
                        <a:spcAft>
                          <a:spcPts val="0"/>
                        </a:spcAft>
                        <a:buNone/>
                      </a:pPr>
                      <a:r>
                        <a:rPr lang="en-US" sz="1800"/>
                        <a:t>32</a:t>
                      </a:r>
                      <a:endParaRPr sz="1800"/>
                    </a:p>
                  </a:txBody>
                  <a:tcPr marL="91450" marR="91450" marT="45725" marB="45725"/>
                </a:tc>
                <a:tc>
                  <a:txBody>
                    <a:bodyPr/>
                    <a:lstStyle/>
                    <a:p>
                      <a:pPr marL="0" marR="0" lvl="0" indent="0" algn="l" rtl="0">
                        <a:spcBef>
                          <a:spcPts val="0"/>
                        </a:spcBef>
                        <a:spcAft>
                          <a:spcPts val="0"/>
                        </a:spcAft>
                        <a:buNone/>
                      </a:pPr>
                      <a:r>
                        <a:rPr lang="en-US" sz="1800"/>
                        <a:t>16</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dirty="0"/>
                        <a:t>1</a:t>
                      </a:r>
                      <a:endParaRPr sz="1800" dirty="0"/>
                    </a:p>
                  </a:txBody>
                  <a:tcPr marL="91450" marR="91450" marT="45725" marB="45725"/>
                </a:tc>
              </a:tr>
            </a:tbl>
          </a:graphicData>
        </a:graphic>
      </p:graphicFrame>
      <p:graphicFrame>
        <p:nvGraphicFramePr>
          <p:cNvPr id="340" name="Google Shape;340;p38"/>
          <p:cNvGraphicFramePr/>
          <p:nvPr/>
        </p:nvGraphicFramePr>
        <p:xfrm>
          <a:off x="2123728" y="4509120"/>
          <a:ext cx="5616600" cy="822420"/>
        </p:xfrm>
        <a:graphic>
          <a:graphicData uri="http://schemas.openxmlformats.org/drawingml/2006/table">
            <a:tbl>
              <a:tblPr firstRow="1" bandRow="1">
                <a:noFill/>
                <a:tableStyleId>{07945435-0B42-4836-8C0C-70F372444576}</a:tableStyleId>
              </a:tblPr>
              <a:tblGrid>
                <a:gridCol w="702075"/>
                <a:gridCol w="702075"/>
                <a:gridCol w="702075"/>
                <a:gridCol w="702075"/>
                <a:gridCol w="702075"/>
                <a:gridCol w="702075"/>
                <a:gridCol w="702075"/>
                <a:gridCol w="702075"/>
              </a:tblGrid>
              <a:tr h="456650">
                <a:tc>
                  <a:txBody>
                    <a:bodyPr/>
                    <a:lstStyle/>
                    <a:p>
                      <a:pPr marL="0" marR="0" lvl="0" indent="0" algn="l" rtl="0">
                        <a:spcBef>
                          <a:spcPts val="0"/>
                        </a:spcBef>
                        <a:spcAft>
                          <a:spcPts val="0"/>
                        </a:spcAft>
                        <a:buNone/>
                      </a:pPr>
                      <a:r>
                        <a:rPr lang="en-US" sz="1800"/>
                        <a:t>128</a:t>
                      </a:r>
                      <a:endParaRPr sz="1800"/>
                    </a:p>
                  </a:txBody>
                  <a:tcPr marL="91450" marR="91450" marT="45725" marB="45725"/>
                </a:tc>
                <a:tc>
                  <a:txBody>
                    <a:bodyPr/>
                    <a:lstStyle/>
                    <a:p>
                      <a:pPr marL="0" marR="0" lvl="0" indent="0" algn="l" rtl="0">
                        <a:spcBef>
                          <a:spcPts val="0"/>
                        </a:spcBef>
                        <a:spcAft>
                          <a:spcPts val="0"/>
                        </a:spcAft>
                        <a:buNone/>
                      </a:pPr>
                      <a:r>
                        <a:rPr lang="en-US" sz="1800"/>
                        <a:t>64</a:t>
                      </a:r>
                      <a:endParaRPr sz="1800"/>
                    </a:p>
                  </a:txBody>
                  <a:tcPr marL="91450" marR="91450" marT="45725" marB="45725"/>
                </a:tc>
                <a:tc>
                  <a:txBody>
                    <a:bodyPr/>
                    <a:lstStyle/>
                    <a:p>
                      <a:pPr marL="0" marR="0" lvl="0" indent="0" algn="l" rtl="0">
                        <a:spcBef>
                          <a:spcPts val="0"/>
                        </a:spcBef>
                        <a:spcAft>
                          <a:spcPts val="0"/>
                        </a:spcAft>
                        <a:buNone/>
                      </a:pPr>
                      <a:r>
                        <a:rPr lang="en-US" sz="1800"/>
                        <a:t>32</a:t>
                      </a:r>
                      <a:endParaRPr sz="1800"/>
                    </a:p>
                  </a:txBody>
                  <a:tcPr marL="91450" marR="91450" marT="45725" marB="45725"/>
                </a:tc>
                <a:tc>
                  <a:txBody>
                    <a:bodyPr/>
                    <a:lstStyle/>
                    <a:p>
                      <a:pPr marL="0" marR="0" lvl="0" indent="0" algn="l" rtl="0">
                        <a:spcBef>
                          <a:spcPts val="0"/>
                        </a:spcBef>
                        <a:spcAft>
                          <a:spcPts val="0"/>
                        </a:spcAft>
                        <a:buNone/>
                      </a:pPr>
                      <a:r>
                        <a:rPr lang="en-US" sz="1800"/>
                        <a:t>16</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r>
              <a:tr h="263425">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9"/>
          <p:cNvSpPr txBox="1">
            <a:spLocks noGrp="1"/>
          </p:cNvSpPr>
          <p:nvPr>
            <p:ph type="ctrTitle"/>
          </p:nvPr>
        </p:nvSpPr>
        <p:spPr>
          <a:xfrm>
            <a:off x="685800" y="332657"/>
            <a:ext cx="7772400" cy="64807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Binary to Decimal</a:t>
            </a:r>
            <a:endParaRPr/>
          </a:p>
        </p:txBody>
      </p:sp>
      <p:sp>
        <p:nvSpPr>
          <p:cNvPr id="346" name="Google Shape;346;p39"/>
          <p:cNvSpPr txBox="1">
            <a:spLocks noGrp="1"/>
          </p:cNvSpPr>
          <p:nvPr>
            <p:ph type="subTitle" idx="1"/>
          </p:nvPr>
        </p:nvSpPr>
        <p:spPr>
          <a:xfrm>
            <a:off x="539552" y="1340768"/>
            <a:ext cx="8064896" cy="54006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3200"/>
              <a:buNone/>
            </a:pPr>
            <a:r>
              <a:rPr lang="en-US">
                <a:solidFill>
                  <a:schemeClr val="dk1"/>
                </a:solidFill>
              </a:rPr>
              <a:t>      convert from binary back to decimal is ever simpler</a:t>
            </a:r>
            <a:endParaRPr/>
          </a:p>
          <a:p>
            <a:pPr marL="0" lvl="0" indent="0" algn="l" rtl="0">
              <a:spcBef>
                <a:spcPts val="640"/>
              </a:spcBef>
              <a:spcAft>
                <a:spcPts val="0"/>
              </a:spcAft>
              <a:buClr>
                <a:schemeClr val="dk1"/>
              </a:buClr>
              <a:buSzPts val="3200"/>
              <a:buNone/>
            </a:pPr>
            <a:r>
              <a:rPr lang="en-US">
                <a:solidFill>
                  <a:schemeClr val="dk1"/>
                </a:solidFill>
              </a:rPr>
              <a:t>       Apply the binary number to the conversion table</a:t>
            </a:r>
            <a:endParaRPr/>
          </a:p>
          <a:p>
            <a:pPr marL="0" lvl="0" indent="0" algn="l" rtl="0">
              <a:spcBef>
                <a:spcPts val="640"/>
              </a:spcBef>
              <a:spcAft>
                <a:spcPts val="0"/>
              </a:spcAft>
              <a:buClr>
                <a:schemeClr val="dk1"/>
              </a:buClr>
              <a:buSzPts val="3200"/>
              <a:buNone/>
            </a:pPr>
            <a:r>
              <a:rPr lang="en-US">
                <a:solidFill>
                  <a:schemeClr val="dk1"/>
                </a:solidFill>
              </a:rPr>
              <a:t>       Add up any columns with binary number bit set 0 to 1</a:t>
            </a:r>
            <a:endParaRPr/>
          </a:p>
          <a:p>
            <a:pPr marL="0" lvl="0" indent="0" algn="l" rtl="0">
              <a:spcBef>
                <a:spcPts val="640"/>
              </a:spcBef>
              <a:spcAft>
                <a:spcPts val="0"/>
              </a:spcAft>
              <a:buClr>
                <a:schemeClr val="dk1"/>
              </a:buClr>
              <a:buSzPts val="3200"/>
              <a:buNone/>
            </a:pPr>
            <a:r>
              <a:rPr lang="en-US">
                <a:solidFill>
                  <a:schemeClr val="dk1"/>
                </a:solidFill>
              </a:rPr>
              <a:t>       consider the binary number 11110001</a:t>
            </a:r>
            <a:endParaRPr/>
          </a:p>
          <a:p>
            <a:pPr marL="0" lvl="0" indent="0" algn="l" rtl="0">
              <a:spcBef>
                <a:spcPts val="640"/>
              </a:spcBef>
              <a:spcAft>
                <a:spcPts val="0"/>
              </a:spcAft>
              <a:buClr>
                <a:srgbClr val="888888"/>
              </a:buClr>
              <a:buSzPts val="3200"/>
              <a:buNone/>
            </a:pPr>
            <a:endParaRPr>
              <a:solidFill>
                <a:schemeClr val="dk1"/>
              </a:solidFill>
            </a:endParaRPr>
          </a:p>
          <a:p>
            <a:pPr marL="0" lvl="0" indent="0" algn="l" rtl="0">
              <a:spcBef>
                <a:spcPts val="640"/>
              </a:spcBef>
              <a:spcAft>
                <a:spcPts val="0"/>
              </a:spcAft>
              <a:buClr>
                <a:srgbClr val="888888"/>
              </a:buClr>
              <a:buSzPts val="3200"/>
              <a:buNone/>
            </a:pPr>
            <a:endParaRPr>
              <a:solidFill>
                <a:schemeClr val="dk1"/>
              </a:solidFill>
            </a:endParaRPr>
          </a:p>
          <a:p>
            <a:pPr marL="0" lvl="0" indent="0" algn="l" rtl="0">
              <a:spcBef>
                <a:spcPts val="640"/>
              </a:spcBef>
              <a:spcAft>
                <a:spcPts val="0"/>
              </a:spcAft>
              <a:buClr>
                <a:schemeClr val="dk1"/>
              </a:buClr>
              <a:buSzPts val="3200"/>
              <a:buNone/>
            </a:pPr>
            <a:r>
              <a:rPr lang="en-US">
                <a:solidFill>
                  <a:schemeClr val="dk1"/>
                </a:solidFill>
              </a:rPr>
              <a:t>                     128+64+32+16+1=241</a:t>
            </a:r>
            <a:endParaRPr/>
          </a:p>
          <a:p>
            <a:pPr marL="0" lvl="0" indent="0" algn="l" rtl="0">
              <a:spcBef>
                <a:spcPts val="640"/>
              </a:spcBef>
              <a:spcAft>
                <a:spcPts val="0"/>
              </a:spcAft>
              <a:buClr>
                <a:srgbClr val="888888"/>
              </a:buClr>
              <a:buSzPts val="3200"/>
              <a:buNone/>
            </a:pPr>
            <a:endParaRPr>
              <a:solidFill>
                <a:schemeClr val="dk1"/>
              </a:solidFill>
            </a:endParaRPr>
          </a:p>
          <a:p>
            <a:pPr marL="0" lvl="0" indent="0" algn="l" rtl="0">
              <a:spcBef>
                <a:spcPts val="640"/>
              </a:spcBef>
              <a:spcAft>
                <a:spcPts val="0"/>
              </a:spcAft>
              <a:buClr>
                <a:srgbClr val="888888"/>
              </a:buClr>
              <a:buSzPts val="3200"/>
              <a:buNone/>
            </a:pPr>
            <a:endParaRPr>
              <a:solidFill>
                <a:schemeClr val="dk1"/>
              </a:solidFill>
            </a:endParaRPr>
          </a:p>
        </p:txBody>
      </p:sp>
      <p:graphicFrame>
        <p:nvGraphicFramePr>
          <p:cNvPr id="347" name="Google Shape;347;p39"/>
          <p:cNvGraphicFramePr/>
          <p:nvPr/>
        </p:nvGraphicFramePr>
        <p:xfrm>
          <a:off x="1331888" y="4869413"/>
          <a:ext cx="6096000" cy="741700"/>
        </p:xfrm>
        <a:graphic>
          <a:graphicData uri="http://schemas.openxmlformats.org/drawingml/2006/table">
            <a:tbl>
              <a:tblPr firstRow="1" bandRow="1">
                <a:noFill/>
                <a:tableStyleId>{07945435-0B42-4836-8C0C-70F372444576}</a:tableStyleId>
              </a:tblPr>
              <a:tblGrid>
                <a:gridCol w="762000"/>
                <a:gridCol w="762000"/>
                <a:gridCol w="762000"/>
                <a:gridCol w="762000"/>
                <a:gridCol w="762000"/>
                <a:gridCol w="762000"/>
                <a:gridCol w="762000"/>
                <a:gridCol w="762000"/>
              </a:tblGrid>
              <a:tr h="370850">
                <a:tc>
                  <a:txBody>
                    <a:bodyPr/>
                    <a:lstStyle/>
                    <a:p>
                      <a:pPr marL="0" marR="0" lvl="0" indent="0" algn="l" rtl="0">
                        <a:spcBef>
                          <a:spcPts val="0"/>
                        </a:spcBef>
                        <a:spcAft>
                          <a:spcPts val="0"/>
                        </a:spcAft>
                        <a:buNone/>
                      </a:pPr>
                      <a:r>
                        <a:rPr lang="en-US" sz="1800"/>
                        <a:t>128</a:t>
                      </a:r>
                      <a:endParaRPr sz="1800"/>
                    </a:p>
                  </a:txBody>
                  <a:tcPr marL="91450" marR="91450" marT="45725" marB="45725"/>
                </a:tc>
                <a:tc>
                  <a:txBody>
                    <a:bodyPr/>
                    <a:lstStyle/>
                    <a:p>
                      <a:pPr marL="0" marR="0" lvl="0" indent="0" algn="l" rtl="0">
                        <a:spcBef>
                          <a:spcPts val="0"/>
                        </a:spcBef>
                        <a:spcAft>
                          <a:spcPts val="0"/>
                        </a:spcAft>
                        <a:buNone/>
                      </a:pPr>
                      <a:r>
                        <a:rPr lang="en-US" sz="1800"/>
                        <a:t>64</a:t>
                      </a:r>
                      <a:endParaRPr sz="1800"/>
                    </a:p>
                  </a:txBody>
                  <a:tcPr marL="91450" marR="91450" marT="45725" marB="45725"/>
                </a:tc>
                <a:tc>
                  <a:txBody>
                    <a:bodyPr/>
                    <a:lstStyle/>
                    <a:p>
                      <a:pPr marL="0" marR="0" lvl="0" indent="0" algn="l" rtl="0">
                        <a:spcBef>
                          <a:spcPts val="0"/>
                        </a:spcBef>
                        <a:spcAft>
                          <a:spcPts val="0"/>
                        </a:spcAft>
                        <a:buNone/>
                      </a:pPr>
                      <a:r>
                        <a:rPr lang="en-US" sz="1800"/>
                        <a:t>32</a:t>
                      </a:r>
                      <a:endParaRPr sz="1800"/>
                    </a:p>
                  </a:txBody>
                  <a:tcPr marL="91450" marR="91450" marT="45725" marB="45725"/>
                </a:tc>
                <a:tc>
                  <a:txBody>
                    <a:bodyPr/>
                    <a:lstStyle/>
                    <a:p>
                      <a:pPr marL="0" marR="0" lvl="0" indent="0" algn="l" rtl="0">
                        <a:spcBef>
                          <a:spcPts val="0"/>
                        </a:spcBef>
                        <a:spcAft>
                          <a:spcPts val="0"/>
                        </a:spcAft>
                        <a:buNone/>
                      </a:pPr>
                      <a:r>
                        <a:rPr lang="en-US" sz="1800"/>
                        <a:t>16</a:t>
                      </a:r>
                      <a:endParaRPr sz="1800"/>
                    </a:p>
                  </a:txBody>
                  <a:tcPr marL="91450" marR="91450" marT="45725" marB="45725"/>
                </a:tc>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r>
              <a:tr h="370850">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0"/>
          <p:cNvSpPr txBox="1">
            <a:spLocks noGrp="1"/>
          </p:cNvSpPr>
          <p:nvPr>
            <p:ph type="subTitle" idx="1"/>
          </p:nvPr>
        </p:nvSpPr>
        <p:spPr>
          <a:xfrm>
            <a:off x="360680" y="386715"/>
            <a:ext cx="8388985" cy="630364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u="sng" dirty="0">
                <a:solidFill>
                  <a:schemeClr val="dk1"/>
                </a:solidFill>
              </a:rPr>
              <a:t>Static IP address:</a:t>
            </a:r>
            <a:endParaRPr dirty="0"/>
          </a:p>
          <a:p>
            <a:pPr marL="457200" lvl="0" indent="-457200" algn="l" rtl="0">
              <a:spcBef>
                <a:spcPts val="640"/>
              </a:spcBef>
              <a:spcAft>
                <a:spcPts val="0"/>
              </a:spcAft>
              <a:buClr>
                <a:schemeClr val="dk1"/>
              </a:buClr>
              <a:buSzPts val="3200"/>
              <a:buFont typeface="Arial"/>
              <a:buChar char="•"/>
            </a:pPr>
            <a:r>
              <a:rPr lang="en-US" dirty="0" smtClean="0">
                <a:solidFill>
                  <a:schemeClr val="dk1"/>
                </a:solidFill>
              </a:rPr>
              <a:t>These </a:t>
            </a:r>
            <a:r>
              <a:rPr lang="en-US" dirty="0">
                <a:solidFill>
                  <a:schemeClr val="dk1"/>
                </a:solidFill>
              </a:rPr>
              <a:t>are the address to host devices manually</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Static IP address are fixed</a:t>
            </a:r>
            <a:endParaRPr dirty="0"/>
          </a:p>
          <a:p>
            <a:pPr marL="0" lvl="0" indent="0" algn="l" rtl="0">
              <a:spcBef>
                <a:spcPts val="640"/>
              </a:spcBef>
              <a:spcAft>
                <a:spcPts val="0"/>
              </a:spcAft>
              <a:buClr>
                <a:schemeClr val="dk1"/>
              </a:buClr>
              <a:buSzPts val="3200"/>
              <a:buFont typeface="Arial"/>
              <a:buNone/>
            </a:pPr>
            <a:r>
              <a:rPr lang="en-US" b="1" u="sng" dirty="0">
                <a:solidFill>
                  <a:schemeClr val="dk1"/>
                </a:solidFill>
              </a:rPr>
              <a:t>Dynamic IP address:</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These are the IP address provided to host devices </a:t>
            </a:r>
            <a:r>
              <a:rPr lang="en-US" dirty="0" smtClean="0">
                <a:solidFill>
                  <a:schemeClr val="dk1"/>
                </a:solidFill>
              </a:rPr>
              <a:t>automatically</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These IP address are assigned with a help of protocols called(DHCP).Dynamic Host Configuration protocols.</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41"/>
          <p:cNvSpPr txBox="1">
            <a:spLocks noGrp="1"/>
          </p:cNvSpPr>
          <p:nvPr>
            <p:ph type="subTitle" idx="1"/>
          </p:nvPr>
        </p:nvSpPr>
        <p:spPr>
          <a:xfrm>
            <a:off x="567690" y="493395"/>
            <a:ext cx="8047990" cy="6000115"/>
          </a:xfrm>
          <a:prstGeom prst="rect">
            <a:avLst/>
          </a:prstGeom>
          <a:noFill/>
          <a:ln>
            <a:noFill/>
          </a:ln>
        </p:spPr>
        <p:txBody>
          <a:bodyPr spcFirstLastPara="1" wrap="square" lIns="91425" tIns="45700" rIns="91425" bIns="45700" anchor="t" anchorCtr="0">
            <a:normAutofit fontScale="90000" lnSpcReduction="20000"/>
          </a:bodyPr>
          <a:lstStyle/>
          <a:p>
            <a:pPr marL="0" lvl="0" indent="0" algn="l" rtl="0">
              <a:spcBef>
                <a:spcPts val="0"/>
              </a:spcBef>
              <a:spcAft>
                <a:spcPts val="0"/>
              </a:spcAft>
              <a:buClr>
                <a:schemeClr val="dk1"/>
              </a:buClr>
              <a:buSzPct val="100000"/>
              <a:buNone/>
            </a:pPr>
            <a:r>
              <a:rPr lang="en-US" b="1" u="sng" dirty="0">
                <a:solidFill>
                  <a:schemeClr val="dk1"/>
                </a:solidFill>
              </a:rPr>
              <a:t>Private IP address:</a:t>
            </a:r>
            <a:endParaRPr dirty="0"/>
          </a:p>
          <a:p>
            <a:pPr marL="457200" lvl="0" indent="-457200" algn="l" rtl="0">
              <a:spcBef>
                <a:spcPts val="432"/>
              </a:spcBef>
              <a:spcAft>
                <a:spcPts val="0"/>
              </a:spcAft>
              <a:buClr>
                <a:schemeClr val="dk1"/>
              </a:buClr>
              <a:buSzPct val="100000"/>
              <a:buFont typeface="Arial"/>
              <a:buChar char="•"/>
            </a:pPr>
            <a:r>
              <a:rPr lang="en-US" sz="2400" dirty="0">
                <a:solidFill>
                  <a:schemeClr val="dk1"/>
                </a:solidFill>
              </a:rPr>
              <a:t>IP address which are assigned to L</a:t>
            </a:r>
            <a:r>
              <a:rPr lang="en-US" sz="2400" dirty="0" smtClean="0">
                <a:solidFill>
                  <a:schemeClr val="dk1"/>
                </a:solidFill>
              </a:rPr>
              <a:t>ocal Area </a:t>
            </a:r>
            <a:r>
              <a:rPr lang="en-US" sz="2400" dirty="0">
                <a:solidFill>
                  <a:schemeClr val="dk1"/>
                </a:solidFill>
              </a:rPr>
              <a:t>N</a:t>
            </a:r>
            <a:r>
              <a:rPr lang="en-US" sz="2400" dirty="0" smtClean="0">
                <a:solidFill>
                  <a:schemeClr val="dk1"/>
                </a:solidFill>
              </a:rPr>
              <a:t>etwork</a:t>
            </a:r>
            <a:endParaRPr dirty="0"/>
          </a:p>
          <a:p>
            <a:pPr marL="457200" lvl="0" indent="-457200" algn="l" rtl="0">
              <a:spcBef>
                <a:spcPts val="432"/>
              </a:spcBef>
              <a:spcAft>
                <a:spcPts val="0"/>
              </a:spcAft>
              <a:buClr>
                <a:schemeClr val="dk1"/>
              </a:buClr>
              <a:buSzPct val="100000"/>
              <a:buFont typeface="Arial"/>
              <a:buChar char="•"/>
            </a:pPr>
            <a:r>
              <a:rPr lang="en-US" sz="2400" dirty="0">
                <a:solidFill>
                  <a:schemeClr val="dk1"/>
                </a:solidFill>
              </a:rPr>
              <a:t>Private IP are </a:t>
            </a:r>
            <a:r>
              <a:rPr lang="en-US" sz="2400" dirty="0" smtClean="0">
                <a:solidFill>
                  <a:schemeClr val="dk1"/>
                </a:solidFill>
              </a:rPr>
              <a:t>non-purchasable</a:t>
            </a:r>
            <a:endParaRPr sz="2400" dirty="0">
              <a:solidFill>
                <a:schemeClr val="dk1"/>
              </a:solidFill>
            </a:endParaRPr>
          </a:p>
          <a:p>
            <a:pPr marL="457200" lvl="0" indent="-274320" algn="l" rtl="0">
              <a:spcBef>
                <a:spcPts val="576"/>
              </a:spcBef>
              <a:spcAft>
                <a:spcPts val="0"/>
              </a:spcAft>
              <a:buClr>
                <a:srgbClr val="888888"/>
              </a:buClr>
              <a:buSzPct val="100000"/>
              <a:buFont typeface="Arial"/>
              <a:buNone/>
            </a:pPr>
            <a:endParaRPr dirty="0">
              <a:solidFill>
                <a:schemeClr val="dk1"/>
              </a:solidFill>
            </a:endParaRPr>
          </a:p>
          <a:p>
            <a:pPr marL="457200" lvl="0" indent="-274320" algn="l" rtl="0">
              <a:spcBef>
                <a:spcPts val="576"/>
              </a:spcBef>
              <a:spcAft>
                <a:spcPts val="0"/>
              </a:spcAft>
              <a:buClr>
                <a:srgbClr val="888888"/>
              </a:buClr>
              <a:buSzPct val="100000"/>
              <a:buFont typeface="Arial"/>
              <a:buNone/>
            </a:pPr>
            <a:endParaRPr dirty="0">
              <a:solidFill>
                <a:schemeClr val="dk1"/>
              </a:solidFill>
            </a:endParaRPr>
          </a:p>
          <a:p>
            <a:pPr marL="457200" lvl="0" indent="-274320" algn="l" rtl="0">
              <a:spcBef>
                <a:spcPts val="576"/>
              </a:spcBef>
              <a:spcAft>
                <a:spcPts val="0"/>
              </a:spcAft>
              <a:buClr>
                <a:srgbClr val="888888"/>
              </a:buClr>
              <a:buSzPct val="100000"/>
              <a:buFont typeface="Arial"/>
              <a:buNone/>
            </a:pPr>
            <a:endParaRPr dirty="0">
              <a:solidFill>
                <a:schemeClr val="dk1"/>
              </a:solidFill>
            </a:endParaRPr>
          </a:p>
          <a:p>
            <a:pPr marL="0" lvl="0" indent="0" algn="l" rtl="0">
              <a:spcBef>
                <a:spcPts val="576"/>
              </a:spcBef>
              <a:spcAft>
                <a:spcPts val="0"/>
              </a:spcAft>
              <a:buClr>
                <a:srgbClr val="888888"/>
              </a:buClr>
              <a:buSzPct val="100000"/>
              <a:buFont typeface="Arial"/>
              <a:buNone/>
            </a:pPr>
            <a:endParaRPr dirty="0">
              <a:solidFill>
                <a:schemeClr val="dk1"/>
              </a:solidFill>
            </a:endParaRPr>
          </a:p>
          <a:p>
            <a:pPr marL="0" lvl="0" indent="0" algn="l" rtl="0">
              <a:spcBef>
                <a:spcPts val="576"/>
              </a:spcBef>
              <a:spcAft>
                <a:spcPts val="0"/>
              </a:spcAft>
              <a:buClr>
                <a:schemeClr val="dk1"/>
              </a:buClr>
              <a:buSzPct val="100000"/>
              <a:buFont typeface="Arial"/>
              <a:buNone/>
            </a:pPr>
            <a:r>
              <a:rPr lang="en-US" dirty="0">
                <a:solidFill>
                  <a:schemeClr val="dk1"/>
                </a:solidFill>
              </a:rPr>
              <a:t>Public IP address:</a:t>
            </a:r>
            <a:endParaRPr dirty="0"/>
          </a:p>
          <a:p>
            <a:pPr marL="457200" lvl="0" indent="-457200" algn="l" rtl="0">
              <a:spcBef>
                <a:spcPts val="576"/>
              </a:spcBef>
              <a:spcAft>
                <a:spcPts val="0"/>
              </a:spcAft>
              <a:buClr>
                <a:schemeClr val="dk1"/>
              </a:buClr>
              <a:buSzPct val="100000"/>
              <a:buFont typeface="Arial"/>
              <a:buChar char="•"/>
            </a:pPr>
            <a:r>
              <a:rPr lang="en-US" dirty="0">
                <a:solidFill>
                  <a:schemeClr val="dk1"/>
                </a:solidFill>
              </a:rPr>
              <a:t>Public IP address are purchasable</a:t>
            </a:r>
            <a:endParaRPr dirty="0"/>
          </a:p>
          <a:p>
            <a:pPr marL="457200" lvl="0" indent="-457200" algn="l" rtl="0">
              <a:spcBef>
                <a:spcPts val="576"/>
              </a:spcBef>
              <a:spcAft>
                <a:spcPts val="0"/>
              </a:spcAft>
              <a:buClr>
                <a:schemeClr val="dk1"/>
              </a:buClr>
              <a:buSzPct val="100000"/>
              <a:buFont typeface="Arial"/>
              <a:buChar char="•"/>
            </a:pPr>
            <a:r>
              <a:rPr lang="en-US" dirty="0">
                <a:solidFill>
                  <a:schemeClr val="dk1"/>
                </a:solidFill>
              </a:rPr>
              <a:t>Used in wan</a:t>
            </a:r>
            <a:endParaRPr dirty="0"/>
          </a:p>
          <a:p>
            <a:pPr marL="457200" lvl="0" indent="-457200" algn="l" rtl="0">
              <a:spcBef>
                <a:spcPts val="576"/>
              </a:spcBef>
              <a:spcAft>
                <a:spcPts val="0"/>
              </a:spcAft>
              <a:buClr>
                <a:schemeClr val="dk1"/>
              </a:buClr>
              <a:buSzPct val="100000"/>
              <a:buFont typeface="Arial"/>
              <a:buChar char="•"/>
            </a:pPr>
            <a:r>
              <a:rPr lang="en-US" dirty="0">
                <a:solidFill>
                  <a:schemeClr val="dk1"/>
                </a:solidFill>
              </a:rPr>
              <a:t>a public </a:t>
            </a:r>
            <a:r>
              <a:rPr lang="en-US" dirty="0" err="1">
                <a:solidFill>
                  <a:schemeClr val="dk1"/>
                </a:solidFill>
              </a:rPr>
              <a:t>ip</a:t>
            </a:r>
            <a:r>
              <a:rPr lang="en-US" dirty="0">
                <a:solidFill>
                  <a:schemeClr val="dk1"/>
                </a:solidFill>
              </a:rPr>
              <a:t> address is an </a:t>
            </a:r>
            <a:r>
              <a:rPr lang="en-US" dirty="0" err="1">
                <a:solidFill>
                  <a:schemeClr val="dk1"/>
                </a:solidFill>
              </a:rPr>
              <a:t>ip</a:t>
            </a:r>
            <a:r>
              <a:rPr lang="en-US" dirty="0">
                <a:solidFill>
                  <a:schemeClr val="dk1"/>
                </a:solidFill>
              </a:rPr>
              <a:t> address that can be accessed directly over internet</a:t>
            </a:r>
            <a:endParaRPr dirty="0"/>
          </a:p>
          <a:p>
            <a:pPr marL="457200" lvl="0" indent="-457200" algn="l" rtl="0">
              <a:spcBef>
                <a:spcPts val="576"/>
              </a:spcBef>
              <a:spcAft>
                <a:spcPts val="0"/>
              </a:spcAft>
              <a:buClr>
                <a:schemeClr val="dk1"/>
              </a:buClr>
              <a:buSzPct val="100000"/>
              <a:buFont typeface="Arial"/>
              <a:buChar char="•"/>
            </a:pPr>
            <a:r>
              <a:rPr lang="en-US" dirty="0">
                <a:solidFill>
                  <a:schemeClr val="dk1"/>
                </a:solidFill>
              </a:rPr>
              <a:t>Assigned to the network router by the  ISP(internet service provider)</a:t>
            </a:r>
            <a:endParaRPr dirty="0"/>
          </a:p>
          <a:p>
            <a:pPr marL="457200" lvl="0" indent="-274320" algn="l" rtl="0">
              <a:spcBef>
                <a:spcPts val="576"/>
              </a:spcBef>
              <a:spcAft>
                <a:spcPts val="0"/>
              </a:spcAft>
              <a:buClr>
                <a:srgbClr val="888888"/>
              </a:buClr>
              <a:buSzPct val="100000"/>
              <a:buFont typeface="Arial"/>
              <a:buNone/>
            </a:pPr>
            <a:endParaRPr dirty="0">
              <a:solidFill>
                <a:schemeClr val="dk1"/>
              </a:solidFill>
            </a:endParaRPr>
          </a:p>
          <a:p>
            <a:pPr marL="0" lvl="0" indent="0" algn="l" rtl="0">
              <a:spcBef>
                <a:spcPts val="576"/>
              </a:spcBef>
              <a:spcAft>
                <a:spcPts val="0"/>
              </a:spcAft>
              <a:buClr>
                <a:srgbClr val="888888"/>
              </a:buClr>
              <a:buSzPct val="100000"/>
              <a:buFont typeface="Arial"/>
              <a:buNone/>
            </a:pPr>
            <a:endParaRPr dirty="0">
              <a:solidFill>
                <a:schemeClr val="dk1"/>
              </a:solidFill>
            </a:endParaRPr>
          </a:p>
        </p:txBody>
      </p:sp>
      <p:graphicFrame>
        <p:nvGraphicFramePr>
          <p:cNvPr id="358" name="Google Shape;358;p41"/>
          <p:cNvGraphicFramePr/>
          <p:nvPr/>
        </p:nvGraphicFramePr>
        <p:xfrm>
          <a:off x="1187450" y="1701165"/>
          <a:ext cx="7369800" cy="1543710"/>
        </p:xfrm>
        <a:graphic>
          <a:graphicData uri="http://schemas.openxmlformats.org/drawingml/2006/table">
            <a:tbl>
              <a:tblPr firstRow="1" bandRow="1">
                <a:noFill/>
                <a:tableStyleId>{07945435-0B42-4836-8C0C-70F372444576}</a:tableStyleId>
              </a:tblPr>
              <a:tblGrid>
                <a:gridCol w="3806825"/>
                <a:gridCol w="3562975"/>
              </a:tblGrid>
              <a:tr h="356225">
                <a:tc>
                  <a:txBody>
                    <a:bodyPr/>
                    <a:lstStyle/>
                    <a:p>
                      <a:pPr marL="0" marR="0" lvl="0" indent="0" algn="l" rtl="0">
                        <a:spcBef>
                          <a:spcPts val="0"/>
                        </a:spcBef>
                        <a:spcAft>
                          <a:spcPts val="0"/>
                        </a:spcAft>
                        <a:buClr>
                          <a:schemeClr val="dk1"/>
                        </a:buClr>
                        <a:buSzPts val="1800"/>
                        <a:buFont typeface="Calibri"/>
                        <a:buNone/>
                      </a:pPr>
                      <a:r>
                        <a:rPr lang="en-US" sz="1800" dirty="0"/>
                        <a:t>IP address range</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a:t>Number of possible address</a:t>
                      </a:r>
                      <a:endParaRPr/>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10.0.0.0 TO 10.255.255.255</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dirty="0"/>
                        <a:t>16,777,216</a:t>
                      </a:r>
                      <a:endParaRPr dirty="0"/>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172.16.0.0 TO 172.16.255.255</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dirty="0"/>
                        <a:t>1,048,576</a:t>
                      </a:r>
                      <a:endParaRPr dirty="0"/>
                    </a:p>
                  </a:txBody>
                  <a:tcPr marL="91450" marR="91450" marT="45725" marB="45725"/>
                </a:tc>
              </a:tr>
              <a:tr h="446400">
                <a:tc>
                  <a:txBody>
                    <a:bodyPr/>
                    <a:lstStyle/>
                    <a:p>
                      <a:pPr marL="0" marR="0" lvl="0" indent="0" algn="l" rtl="0">
                        <a:spcBef>
                          <a:spcPts val="0"/>
                        </a:spcBef>
                        <a:spcAft>
                          <a:spcPts val="0"/>
                        </a:spcAft>
                        <a:buClr>
                          <a:schemeClr val="dk1"/>
                        </a:buClr>
                        <a:buSzPts val="1800"/>
                        <a:buFont typeface="Calibri"/>
                        <a:buNone/>
                      </a:pPr>
                      <a:r>
                        <a:rPr lang="en-US" sz="1800" dirty="0"/>
                        <a:t>192.168.0.0 TO 192.168.255.255</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dirty="0"/>
                        <a:t>65,536</a:t>
                      </a:r>
                      <a:endParaRPr dirty="0"/>
                    </a:p>
                  </a:txBody>
                  <a:tcPr marL="91450" marR="91450" marT="45725" marB="45725"/>
                </a:tc>
              </a:tr>
            </a:tbl>
          </a:graphicData>
        </a:graphic>
      </p:graphicFrame>
      <p:sp>
        <p:nvSpPr>
          <p:cNvPr id="359" name="Google Shape;359;p41"/>
          <p:cNvSpPr txBox="1"/>
          <p:nvPr/>
        </p:nvSpPr>
        <p:spPr>
          <a:xfrm>
            <a:off x="655320" y="4568190"/>
            <a:ext cx="309880" cy="36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2"/>
          <p:cNvSpPr txBox="1">
            <a:spLocks noGrp="1"/>
          </p:cNvSpPr>
          <p:nvPr>
            <p:ph type="body" idx="1"/>
          </p:nvPr>
        </p:nvSpPr>
        <p:spPr>
          <a:xfrm>
            <a:off x="457200" y="533400"/>
            <a:ext cx="8229600" cy="55927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dirty="0"/>
              <a:t>UNICAST:</a:t>
            </a:r>
            <a:endParaRPr sz="2400" b="1" dirty="0"/>
          </a:p>
          <a:p>
            <a:pPr marL="342900" lvl="0" indent="-342900" algn="l" rtl="0">
              <a:spcBef>
                <a:spcPts val="640"/>
              </a:spcBef>
              <a:spcAft>
                <a:spcPts val="0"/>
              </a:spcAft>
              <a:buClr>
                <a:schemeClr val="dk1"/>
              </a:buClr>
              <a:buSzPts val="2400"/>
              <a:buNone/>
            </a:pPr>
            <a:r>
              <a:rPr lang="en-US" sz="2400" dirty="0"/>
              <a:t>            	</a:t>
            </a:r>
            <a:r>
              <a:rPr lang="en-US" dirty="0"/>
              <a:t>A unicast address represents a single device in the network</a:t>
            </a:r>
            <a:endParaRPr dirty="0"/>
          </a:p>
          <a:p>
            <a:pPr marL="342900" lvl="0" indent="-342900" algn="l" rtl="0">
              <a:spcBef>
                <a:spcPts val="640"/>
              </a:spcBef>
              <a:spcAft>
                <a:spcPts val="0"/>
              </a:spcAft>
              <a:buClr>
                <a:schemeClr val="dk1"/>
              </a:buClr>
              <a:buSzPts val="3200"/>
              <a:buChar char="•"/>
            </a:pPr>
            <a:r>
              <a:rPr lang="en-US" b="1" dirty="0"/>
              <a:t>MULTICAST:</a:t>
            </a:r>
            <a:endParaRPr b="1" dirty="0"/>
          </a:p>
          <a:p>
            <a:pPr marL="342900" lvl="0" indent="-342900" algn="l" rtl="0">
              <a:spcBef>
                <a:spcPts val="640"/>
              </a:spcBef>
              <a:spcAft>
                <a:spcPts val="0"/>
              </a:spcAft>
              <a:buClr>
                <a:schemeClr val="dk1"/>
              </a:buClr>
              <a:buSzPts val="3200"/>
              <a:buNone/>
            </a:pPr>
            <a:r>
              <a:rPr lang="en-US" dirty="0"/>
              <a:t>          A multicast address represents a group of devices in the network</a:t>
            </a:r>
            <a:endParaRPr dirty="0"/>
          </a:p>
          <a:p>
            <a:pPr marL="342900" lvl="0" indent="-342900" algn="l" rtl="0">
              <a:spcBef>
                <a:spcPts val="640"/>
              </a:spcBef>
              <a:spcAft>
                <a:spcPts val="0"/>
              </a:spcAft>
              <a:buClr>
                <a:schemeClr val="dk1"/>
              </a:buClr>
              <a:buSzPts val="3200"/>
              <a:buChar char="•"/>
            </a:pPr>
            <a:r>
              <a:rPr lang="en-US" b="1" dirty="0"/>
              <a:t>BROADCAST</a:t>
            </a:r>
            <a:endParaRPr b="1" dirty="0"/>
          </a:p>
          <a:p>
            <a:pPr marL="342900" lvl="0" indent="-342900" algn="l" rtl="0">
              <a:spcBef>
                <a:spcPts val="640"/>
              </a:spcBef>
              <a:spcAft>
                <a:spcPts val="0"/>
              </a:spcAft>
              <a:buClr>
                <a:schemeClr val="dk1"/>
              </a:buClr>
              <a:buSzPts val="3200"/>
              <a:buNone/>
            </a:pPr>
            <a:r>
              <a:rPr lang="en-US" dirty="0"/>
              <a:t>             A broadcast address represents all devices in the network</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5"/>
          <p:cNvSpPr txBox="1">
            <a:spLocks noGrp="1"/>
          </p:cNvSpPr>
          <p:nvPr>
            <p:ph type="ctrTitle"/>
          </p:nvPr>
        </p:nvSpPr>
        <p:spPr>
          <a:xfrm>
            <a:off x="685800" y="404665"/>
            <a:ext cx="7772400" cy="1008111"/>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Subnetting</a:t>
            </a:r>
            <a:endParaRPr/>
          </a:p>
        </p:txBody>
      </p:sp>
      <p:sp>
        <p:nvSpPr>
          <p:cNvPr id="389" name="Google Shape;389;p45"/>
          <p:cNvSpPr txBox="1">
            <a:spLocks noGrp="1"/>
          </p:cNvSpPr>
          <p:nvPr>
            <p:ph type="subTitle" idx="1"/>
          </p:nvPr>
        </p:nvSpPr>
        <p:spPr>
          <a:xfrm>
            <a:off x="539552" y="1556792"/>
            <a:ext cx="7992888" cy="4968552"/>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Clr>
                <a:schemeClr val="dk1"/>
              </a:buClr>
              <a:buSzPts val="4000"/>
              <a:buFont typeface="Arial"/>
              <a:buChar char="•"/>
            </a:pPr>
            <a:r>
              <a:rPr lang="en-US" sz="4000">
                <a:solidFill>
                  <a:schemeClr val="dk1"/>
                </a:solidFill>
              </a:rPr>
              <a:t>Subnetting is a combination of two words...., i.e. Sub and Netting.</a:t>
            </a:r>
            <a:endParaRPr/>
          </a:p>
          <a:p>
            <a:pPr marL="457200" lvl="0" indent="-457200" algn="l" rtl="0">
              <a:spcBef>
                <a:spcPts val="800"/>
              </a:spcBef>
              <a:spcAft>
                <a:spcPts val="0"/>
              </a:spcAft>
              <a:buClr>
                <a:schemeClr val="dk1"/>
              </a:buClr>
              <a:buSzPts val="4000"/>
              <a:buFont typeface="Arial"/>
              <a:buChar char="•"/>
            </a:pPr>
            <a:r>
              <a:rPr lang="en-US" sz="4000">
                <a:solidFill>
                  <a:schemeClr val="dk1"/>
                </a:solidFill>
              </a:rPr>
              <a:t>Avoid IP wastage</a:t>
            </a:r>
            <a:endParaRPr/>
          </a:p>
          <a:p>
            <a:pPr marL="457200" lvl="0" indent="-457200" algn="l" rtl="0">
              <a:spcBef>
                <a:spcPts val="800"/>
              </a:spcBef>
              <a:spcAft>
                <a:spcPts val="0"/>
              </a:spcAft>
              <a:buClr>
                <a:schemeClr val="dk1"/>
              </a:buClr>
              <a:buSzPts val="4000"/>
              <a:buFont typeface="Arial"/>
              <a:buChar char="•"/>
            </a:pPr>
            <a:r>
              <a:rPr lang="en-US" sz="4000">
                <a:solidFill>
                  <a:schemeClr val="dk1"/>
                </a:solidFill>
              </a:rPr>
              <a:t>Implements network security</a:t>
            </a:r>
            <a:endParaRPr/>
          </a:p>
          <a:p>
            <a:pPr marL="457200" lvl="0" indent="-457200" algn="l" rtl="0">
              <a:spcBef>
                <a:spcPts val="800"/>
              </a:spcBef>
              <a:spcAft>
                <a:spcPts val="0"/>
              </a:spcAft>
              <a:buClr>
                <a:schemeClr val="dk1"/>
              </a:buClr>
              <a:buSzPts val="4000"/>
              <a:buFont typeface="Arial"/>
              <a:buChar char="•"/>
            </a:pPr>
            <a:r>
              <a:rPr lang="en-US" sz="4000">
                <a:solidFill>
                  <a:schemeClr val="dk1"/>
                </a:solidFill>
              </a:rPr>
              <a:t>Avoid network traffic</a:t>
            </a:r>
            <a:endParaRPr/>
          </a:p>
          <a:p>
            <a:pPr marL="457200" lvl="0" indent="-457200" algn="l" rtl="0">
              <a:spcBef>
                <a:spcPts val="800"/>
              </a:spcBef>
              <a:spcAft>
                <a:spcPts val="0"/>
              </a:spcAft>
              <a:buClr>
                <a:schemeClr val="dk1"/>
              </a:buClr>
              <a:buSzPts val="4000"/>
              <a:buFont typeface="Arial"/>
              <a:buChar char="•"/>
            </a:pPr>
            <a:r>
              <a:rPr lang="en-US" sz="4000">
                <a:solidFill>
                  <a:schemeClr val="dk1"/>
                </a:solidFill>
              </a:rPr>
              <a:t>Simplified adminisitration through network</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Calculation</a:t>
            </a:r>
            <a:endParaRPr/>
          </a:p>
        </p:txBody>
      </p:sp>
      <p:sp>
        <p:nvSpPr>
          <p:cNvPr id="395" name="Google Shape;395;p4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u="sng" dirty="0"/>
              <a:t>Class C</a:t>
            </a:r>
            <a:endParaRPr dirty="0"/>
          </a:p>
          <a:p>
            <a:pPr marL="342900" lvl="0" indent="-342900" algn="l" rtl="0">
              <a:spcBef>
                <a:spcPts val="640"/>
              </a:spcBef>
              <a:spcAft>
                <a:spcPts val="0"/>
              </a:spcAft>
              <a:buClr>
                <a:schemeClr val="dk1"/>
              </a:buClr>
              <a:buSzPts val="3200"/>
              <a:buNone/>
            </a:pPr>
            <a:r>
              <a:rPr lang="en-US" dirty="0"/>
              <a:t>192.168.20.0</a:t>
            </a: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r>
              <a:rPr lang="en-US" dirty="0"/>
              <a:t>255.255.255.0  -N </a:t>
            </a:r>
            <a:r>
              <a:rPr lang="en-US" dirty="0" err="1"/>
              <a:t>N</a:t>
            </a:r>
            <a:r>
              <a:rPr lang="en-US" dirty="0"/>
              <a:t> </a:t>
            </a:r>
            <a:r>
              <a:rPr lang="en-US" dirty="0" err="1"/>
              <a:t>N</a:t>
            </a:r>
            <a:r>
              <a:rPr lang="en-US" dirty="0"/>
              <a:t> H</a:t>
            </a:r>
            <a:endParaRPr dirty="0"/>
          </a:p>
          <a:p>
            <a:pPr marL="342900" lvl="0" indent="-342900" algn="l" rtl="0">
              <a:spcBef>
                <a:spcPts val="640"/>
              </a:spcBef>
              <a:spcAft>
                <a:spcPts val="0"/>
              </a:spcAft>
              <a:buClr>
                <a:schemeClr val="dk1"/>
              </a:buClr>
              <a:buSzPts val="3200"/>
              <a:buNone/>
            </a:pPr>
            <a:r>
              <a:rPr lang="en-US" dirty="0"/>
              <a:t>1111 1111.1111 11111.1111 1111.0000 0000</a:t>
            </a:r>
            <a:endParaRPr dirty="0"/>
          </a:p>
          <a:p>
            <a:pPr marL="342900" lvl="0" indent="-342900" algn="l" rtl="0">
              <a:spcBef>
                <a:spcPts val="640"/>
              </a:spcBef>
              <a:spcAft>
                <a:spcPts val="0"/>
              </a:spcAft>
              <a:buClr>
                <a:schemeClr val="dk1"/>
              </a:buClr>
              <a:buSzPts val="3200"/>
              <a:buNone/>
            </a:pPr>
            <a:r>
              <a:rPr lang="en-US" dirty="0"/>
              <a:t>One bit moved</a:t>
            </a:r>
            <a:endParaRPr dirty="0"/>
          </a:p>
          <a:p>
            <a:pPr marL="342900" lvl="0" indent="-342900" algn="l" rtl="0">
              <a:spcBef>
                <a:spcPts val="640"/>
              </a:spcBef>
              <a:spcAft>
                <a:spcPts val="0"/>
              </a:spcAft>
              <a:buClr>
                <a:schemeClr val="dk1"/>
              </a:buClr>
              <a:buSzPts val="3200"/>
              <a:buNone/>
            </a:pPr>
            <a:r>
              <a:rPr lang="en-US" dirty="0"/>
              <a:t>1111 1111. 1111 1111. 1111 1111.1000 0000</a:t>
            </a: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7"/>
          <p:cNvSpPr txBox="1">
            <a:spLocks noGrp="1"/>
          </p:cNvSpPr>
          <p:nvPr>
            <p:ph type="body" idx="1"/>
          </p:nvPr>
        </p:nvSpPr>
        <p:spPr>
          <a:xfrm>
            <a:off x="457200" y="609600"/>
            <a:ext cx="8229600" cy="55165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None/>
            </a:pPr>
            <a:r>
              <a:rPr lang="en-US"/>
              <a:t>Step-1:</a:t>
            </a:r>
            <a:endParaRPr/>
          </a:p>
          <a:p>
            <a:pPr marL="342900" lvl="0" indent="-342900" algn="l" rtl="0">
              <a:spcBef>
                <a:spcPts val="592"/>
              </a:spcBef>
              <a:spcAft>
                <a:spcPts val="0"/>
              </a:spcAft>
              <a:buClr>
                <a:schemeClr val="dk1"/>
              </a:buClr>
              <a:buSzPct val="100000"/>
              <a:buNone/>
            </a:pPr>
            <a:r>
              <a:rPr lang="en-US"/>
              <a:t>      No.of bit moved N =1</a:t>
            </a:r>
            <a:endParaRPr/>
          </a:p>
          <a:p>
            <a:pPr marL="342900" lvl="0" indent="-342900" algn="l" rtl="0">
              <a:spcBef>
                <a:spcPts val="592"/>
              </a:spcBef>
              <a:spcAft>
                <a:spcPts val="0"/>
              </a:spcAft>
              <a:buClr>
                <a:schemeClr val="dk1"/>
              </a:buClr>
              <a:buSzPct val="100000"/>
              <a:buNone/>
            </a:pPr>
            <a:r>
              <a:rPr lang="en-US"/>
              <a:t>      No.of bit Non moved=7</a:t>
            </a:r>
            <a:endParaRPr/>
          </a:p>
          <a:p>
            <a:pPr marL="342900" lvl="0" indent="-342900" algn="l" rtl="0">
              <a:spcBef>
                <a:spcPts val="592"/>
              </a:spcBef>
              <a:spcAft>
                <a:spcPts val="0"/>
              </a:spcAft>
              <a:buClr>
                <a:schemeClr val="dk1"/>
              </a:buClr>
              <a:buSzPct val="100000"/>
              <a:buNone/>
            </a:pPr>
            <a:r>
              <a:rPr lang="en-US"/>
              <a:t>Step-2:</a:t>
            </a:r>
            <a:endParaRPr/>
          </a:p>
          <a:p>
            <a:pPr marL="342900" lvl="0" indent="-342900" algn="l" rtl="0">
              <a:spcBef>
                <a:spcPts val="592"/>
              </a:spcBef>
              <a:spcAft>
                <a:spcPts val="0"/>
              </a:spcAft>
              <a:buClr>
                <a:schemeClr val="dk1"/>
              </a:buClr>
              <a:buSzPct val="100000"/>
              <a:buNone/>
            </a:pPr>
            <a:r>
              <a:rPr lang="en-US"/>
              <a:t>      No of subnet work = 2^N</a:t>
            </a:r>
            <a:endParaRPr/>
          </a:p>
          <a:p>
            <a:pPr marL="342900" lvl="0" indent="-342900" algn="l" rtl="0">
              <a:spcBef>
                <a:spcPts val="592"/>
              </a:spcBef>
              <a:spcAft>
                <a:spcPts val="0"/>
              </a:spcAft>
              <a:buClr>
                <a:schemeClr val="dk1"/>
              </a:buClr>
              <a:buSzPct val="100000"/>
              <a:buNone/>
            </a:pPr>
            <a:r>
              <a:rPr lang="en-US"/>
              <a:t>                                        = 2^1</a:t>
            </a:r>
            <a:endParaRPr/>
          </a:p>
          <a:p>
            <a:pPr marL="342900" lvl="0" indent="-342900" algn="l" rtl="0">
              <a:spcBef>
                <a:spcPts val="592"/>
              </a:spcBef>
              <a:spcAft>
                <a:spcPts val="0"/>
              </a:spcAft>
              <a:buClr>
                <a:schemeClr val="dk1"/>
              </a:buClr>
              <a:buSzPct val="100000"/>
              <a:buNone/>
            </a:pPr>
            <a:r>
              <a:rPr lang="en-US"/>
              <a:t>                                        =2.</a:t>
            </a:r>
            <a:endParaRPr/>
          </a:p>
          <a:p>
            <a:pPr marL="342900" lvl="0" indent="-342900" algn="l" rtl="0">
              <a:spcBef>
                <a:spcPts val="592"/>
              </a:spcBef>
              <a:spcAft>
                <a:spcPts val="0"/>
              </a:spcAft>
              <a:buClr>
                <a:schemeClr val="dk1"/>
              </a:buClr>
              <a:buSzPct val="100000"/>
              <a:buNone/>
            </a:pPr>
            <a:r>
              <a:rPr lang="en-US"/>
              <a:t>Step-3:</a:t>
            </a:r>
            <a:endParaRPr/>
          </a:p>
          <a:p>
            <a:pPr marL="342900" lvl="0" indent="-342900" algn="l" rtl="0">
              <a:spcBef>
                <a:spcPts val="592"/>
              </a:spcBef>
              <a:spcAft>
                <a:spcPts val="0"/>
              </a:spcAft>
              <a:buClr>
                <a:schemeClr val="dk1"/>
              </a:buClr>
              <a:buSzPct val="100000"/>
              <a:buNone/>
            </a:pPr>
            <a:r>
              <a:rPr lang="en-US"/>
              <a:t>       No.of host per subnet= 2^H-2</a:t>
            </a:r>
            <a:endParaRPr/>
          </a:p>
          <a:p>
            <a:pPr marL="342900" lvl="0" indent="-342900" algn="l" rtl="0">
              <a:spcBef>
                <a:spcPts val="592"/>
              </a:spcBef>
              <a:spcAft>
                <a:spcPts val="0"/>
              </a:spcAft>
              <a:buClr>
                <a:schemeClr val="dk1"/>
              </a:buClr>
              <a:buSzPct val="100000"/>
              <a:buNone/>
            </a:pPr>
            <a:r>
              <a:rPr lang="en-US"/>
              <a:t>                                              = 2^7-2</a:t>
            </a:r>
            <a:endParaRPr/>
          </a:p>
          <a:p>
            <a:pPr marL="342900" lvl="0" indent="-342900" algn="l" rtl="0">
              <a:spcBef>
                <a:spcPts val="592"/>
              </a:spcBef>
              <a:spcAft>
                <a:spcPts val="0"/>
              </a:spcAft>
              <a:buClr>
                <a:schemeClr val="dk1"/>
              </a:buClr>
              <a:buSzPct val="100000"/>
              <a:buNone/>
            </a:pPr>
            <a:r>
              <a:rPr lang="en-US"/>
              <a:t>                                              = 128-2</a:t>
            </a:r>
            <a:endParaRPr/>
          </a:p>
          <a:p>
            <a:pPr marL="342900" lvl="0" indent="-342900" algn="l" rtl="0">
              <a:spcBef>
                <a:spcPts val="592"/>
              </a:spcBef>
              <a:spcAft>
                <a:spcPts val="0"/>
              </a:spcAft>
              <a:buClr>
                <a:schemeClr val="dk1"/>
              </a:buClr>
              <a:buSzPct val="100000"/>
              <a:buNone/>
            </a:pPr>
            <a:r>
              <a:rPr lang="en-US"/>
              <a:t>                                              = 126.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8"/>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a:t>Step-4:</a:t>
            </a:r>
            <a:endParaRPr/>
          </a:p>
          <a:p>
            <a:pPr marL="342900" lvl="0" indent="-342900" algn="l" rtl="0">
              <a:spcBef>
                <a:spcPts val="592"/>
              </a:spcBef>
              <a:spcAft>
                <a:spcPts val="0"/>
              </a:spcAft>
              <a:buClr>
                <a:schemeClr val="dk1"/>
              </a:buClr>
              <a:buSzPct val="100000"/>
              <a:buNone/>
            </a:pPr>
            <a:r>
              <a:rPr lang="en-US"/>
              <a:t>         Change in subnet = 2^8-2^H</a:t>
            </a:r>
            <a:endParaRPr/>
          </a:p>
          <a:p>
            <a:pPr marL="342900" lvl="0" indent="-342900" algn="l" rtl="0">
              <a:spcBef>
                <a:spcPts val="592"/>
              </a:spcBef>
              <a:spcAft>
                <a:spcPts val="0"/>
              </a:spcAft>
              <a:buClr>
                <a:schemeClr val="dk1"/>
              </a:buClr>
              <a:buSzPct val="100000"/>
              <a:buNone/>
            </a:pPr>
            <a:r>
              <a:rPr lang="en-US"/>
              <a:t>                                         =2^8-2^7</a:t>
            </a:r>
            <a:endParaRPr/>
          </a:p>
          <a:p>
            <a:pPr marL="342900" lvl="0" indent="-342900" algn="l" rtl="0">
              <a:spcBef>
                <a:spcPts val="592"/>
              </a:spcBef>
              <a:spcAft>
                <a:spcPts val="0"/>
              </a:spcAft>
              <a:buClr>
                <a:schemeClr val="dk1"/>
              </a:buClr>
              <a:buSzPct val="100000"/>
              <a:buNone/>
            </a:pPr>
            <a:r>
              <a:rPr lang="en-US"/>
              <a:t>                                         =256-128</a:t>
            </a:r>
            <a:endParaRPr/>
          </a:p>
          <a:p>
            <a:pPr marL="342900" lvl="0" indent="-342900" algn="l" rtl="0">
              <a:spcBef>
                <a:spcPts val="592"/>
              </a:spcBef>
              <a:spcAft>
                <a:spcPts val="0"/>
              </a:spcAft>
              <a:buClr>
                <a:schemeClr val="dk1"/>
              </a:buClr>
              <a:buSzPct val="100000"/>
              <a:buNone/>
            </a:pPr>
            <a:r>
              <a:rPr lang="en-US"/>
              <a:t>                                         =128.</a:t>
            </a:r>
            <a:endParaRPr/>
          </a:p>
          <a:p>
            <a:pPr marL="342900" lvl="0" indent="-342900" algn="l" rtl="0">
              <a:spcBef>
                <a:spcPts val="592"/>
              </a:spcBef>
              <a:spcAft>
                <a:spcPts val="0"/>
              </a:spcAft>
              <a:buClr>
                <a:schemeClr val="dk1"/>
              </a:buClr>
              <a:buSzPct val="100000"/>
              <a:buNone/>
            </a:pPr>
            <a:r>
              <a:rPr lang="en-US"/>
              <a:t>Step-5:</a:t>
            </a:r>
            <a:endParaRPr/>
          </a:p>
          <a:p>
            <a:pPr marL="342900" lvl="0" indent="-342900" algn="l" rtl="0">
              <a:spcBef>
                <a:spcPts val="592"/>
              </a:spcBef>
              <a:spcAft>
                <a:spcPts val="0"/>
              </a:spcAft>
              <a:buClr>
                <a:schemeClr val="dk1"/>
              </a:buClr>
              <a:buSzPct val="100000"/>
              <a:buNone/>
            </a:pPr>
            <a:r>
              <a:rPr lang="en-US"/>
              <a:t>        New subnet mask</a:t>
            </a:r>
            <a:endParaRPr/>
          </a:p>
          <a:p>
            <a:pPr marL="342900" lvl="0" indent="-342900" algn="l" rtl="0">
              <a:spcBef>
                <a:spcPts val="592"/>
              </a:spcBef>
              <a:spcAft>
                <a:spcPts val="0"/>
              </a:spcAft>
              <a:buClr>
                <a:schemeClr val="dk1"/>
              </a:buClr>
              <a:buSzPct val="100000"/>
              <a:buNone/>
            </a:pPr>
            <a:r>
              <a:rPr lang="en-US"/>
              <a:t>        255.255.255.128</a:t>
            </a:r>
            <a:endParaRPr/>
          </a:p>
          <a:p>
            <a:pPr marL="342900" lvl="0" indent="-342900" algn="l" rtl="0">
              <a:spcBef>
                <a:spcPts val="592"/>
              </a:spcBef>
              <a:spcAft>
                <a:spcPts val="0"/>
              </a:spcAft>
              <a:buClr>
                <a:schemeClr val="dk1"/>
              </a:buClr>
              <a:buSzPct val="100000"/>
              <a:buNone/>
            </a:pPr>
            <a:r>
              <a:rPr lang="en-US"/>
              <a:t>IP address:                                add one from (step3)                               </a:t>
            </a:r>
            <a:endParaRPr/>
          </a:p>
          <a:p>
            <a:pPr marL="342900" lvl="0" indent="-342900" algn="l" rtl="0">
              <a:spcBef>
                <a:spcPts val="592"/>
              </a:spcBef>
              <a:spcAft>
                <a:spcPts val="0"/>
              </a:spcAft>
              <a:buClr>
                <a:schemeClr val="dk1"/>
              </a:buClr>
              <a:buSzPct val="100000"/>
              <a:buNone/>
            </a:pPr>
            <a:r>
              <a:rPr lang="en-US"/>
              <a:t>        192.168.20.0  to 192.168.20.127 </a:t>
            </a:r>
            <a:endParaRPr/>
          </a:p>
          <a:p>
            <a:pPr marL="342900" lvl="0" indent="-342900" algn="l" rtl="0">
              <a:spcBef>
                <a:spcPts val="592"/>
              </a:spcBef>
              <a:spcAft>
                <a:spcPts val="0"/>
              </a:spcAft>
              <a:buClr>
                <a:schemeClr val="dk1"/>
              </a:buClr>
              <a:buSzPct val="100000"/>
              <a:buNone/>
            </a:pPr>
            <a:r>
              <a:rPr lang="en-US"/>
              <a:t>        192.168.20.128  to 192.168.20.255</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9"/>
          <p:cNvSpPr txBox="1">
            <a:spLocks noGrp="1"/>
          </p:cNvSpPr>
          <p:nvPr>
            <p:ph type="ctrTitle"/>
          </p:nvPr>
        </p:nvSpPr>
        <p:spPr>
          <a:xfrm>
            <a:off x="683568" y="404664"/>
            <a:ext cx="7772400" cy="6048672"/>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en-US" sz="3600" b="1"/>
              <a:t>Network Architeture and Topology:</a:t>
            </a:r>
            <a:br>
              <a:rPr lang="en-US" sz="3600" b="1"/>
            </a:br>
            <a:r>
              <a:rPr lang="en-US" sz="3600"/>
              <a:t>    Computer Network architecture is define as the physical and logical design  of the software and harware, protocols and media of the transmission of data. Simply we can say that how computer are organsized and how tasks are allocated to the computer</a:t>
            </a:r>
            <a:br>
              <a:rPr lang="en-US" sz="3600"/>
            </a:br>
            <a:r>
              <a:rPr lang="en-US" sz="3600"/>
              <a:t>    A network topology is the physical and logical arragement of nodes and connection in  a network.</a:t>
            </a:r>
            <a:endParaRPr sz="3600" b="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50"/>
          <p:cNvSpPr txBox="1">
            <a:spLocks noGrp="1"/>
          </p:cNvSpPr>
          <p:nvPr>
            <p:ph type="subTitle" idx="1"/>
          </p:nvPr>
        </p:nvSpPr>
        <p:spPr>
          <a:xfrm>
            <a:off x="755576" y="404664"/>
            <a:ext cx="7448872" cy="604867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a:solidFill>
                  <a:schemeClr val="dk1"/>
                </a:solidFill>
              </a:rPr>
              <a:t>Peer to Peer network:</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    A network in which all computer linked together</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This network with all the nodes acting as both servers and clients</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Equal privilge and responsibility</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Work for small enviornments</a:t>
            </a:r>
            <a:endParaRPr>
              <a:solidFill>
                <a:schemeClr val="dk1"/>
              </a:solidFill>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No dedicated server</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Each pc is used as client and server</a:t>
            </a:r>
            <a:endParaRPr/>
          </a:p>
          <a:p>
            <a:pPr marL="457200" lvl="0" indent="-457200" algn="l" rtl="0">
              <a:spcBef>
                <a:spcPts val="640"/>
              </a:spcBef>
              <a:spcAft>
                <a:spcPts val="0"/>
              </a:spcAft>
              <a:buClr>
                <a:schemeClr val="dk1"/>
              </a:buClr>
              <a:buSzPts val="3200"/>
              <a:buFont typeface="Noto Sans Symbols"/>
              <a:buChar char="▪"/>
            </a:pPr>
            <a:r>
              <a:rPr lang="en-US">
                <a:solidFill>
                  <a:schemeClr val="dk1"/>
                </a:solidFill>
              </a:rPr>
              <a:t>Less costly ,easy to setup</a:t>
            </a:r>
            <a:endParaRPr/>
          </a:p>
          <a:p>
            <a:pPr marL="457200" lvl="0" indent="-254000" algn="l" rtl="0">
              <a:spcBef>
                <a:spcPts val="640"/>
              </a:spcBef>
              <a:spcAft>
                <a:spcPts val="0"/>
              </a:spcAft>
              <a:buClr>
                <a:srgbClr val="888888"/>
              </a:buClr>
              <a:buSzPts val="3200"/>
              <a:buFont typeface="Noto Sans Symbols"/>
              <a:buNone/>
            </a:pPr>
            <a:endParaRPr>
              <a:solidFill>
                <a:schemeClr val="dk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0" name="Google Shape;420;p51"/>
          <p:cNvPicPr preferRelativeResize="0"/>
          <p:nvPr/>
        </p:nvPicPr>
        <p:blipFill rotWithShape="1">
          <a:blip r:embed="rId3">
            <a:alphaModFix/>
          </a:blip>
          <a:srcRect/>
          <a:stretch/>
        </p:blipFill>
        <p:spPr>
          <a:xfrm>
            <a:off x="1524000" y="776287"/>
            <a:ext cx="6096000" cy="53054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BUS TOPOLOGY</a:t>
            </a:r>
            <a:endParaRPr/>
          </a:p>
        </p:txBody>
      </p:sp>
      <p:sp>
        <p:nvSpPr>
          <p:cNvPr id="426" name="Google Shape;426;p5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Bus topology is the line or horizontal topology in the network. It is the simplest physical orientation of nodes in the network. This topology is most used in local area networks where the link between each node is a single connection line or a cable through an interface.</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5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BUS</a:t>
            </a:r>
            <a:endParaRPr/>
          </a:p>
        </p:txBody>
      </p:sp>
      <p:pic>
        <p:nvPicPr>
          <p:cNvPr id="432" name="Google Shape;432;p53" descr="bus-topology.png"/>
          <p:cNvPicPr preferRelativeResize="0">
            <a:picLocks noGrp="1"/>
          </p:cNvPicPr>
          <p:nvPr>
            <p:ph type="body" idx="1"/>
          </p:nvPr>
        </p:nvPicPr>
        <p:blipFill rotWithShape="1">
          <a:blip r:embed="rId3">
            <a:alphaModFix/>
          </a:blip>
          <a:srcRect/>
          <a:stretch/>
        </p:blipFill>
        <p:spPr>
          <a:xfrm>
            <a:off x="1000125" y="2310606"/>
            <a:ext cx="7143750" cy="31051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MESH TOPOLOGY</a:t>
            </a:r>
            <a:endParaRPr/>
          </a:p>
        </p:txBody>
      </p:sp>
      <p:sp>
        <p:nvSpPr>
          <p:cNvPr id="438" name="Google Shape;438;p5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mesh topology is a type of computer network in which each node (computer or other device) is connected to every other node in the network. This type of network is often used in large organisations or companies because it can handle a large amount of data traffic and can be easily expanded.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MESH</a:t>
            </a:r>
            <a:endParaRPr/>
          </a:p>
        </p:txBody>
      </p:sp>
      <p:pic>
        <p:nvPicPr>
          <p:cNvPr id="444" name="Google Shape;444;p55" descr="what-is-mesh-topology.jpg"/>
          <p:cNvPicPr preferRelativeResize="0">
            <a:picLocks noGrp="1"/>
          </p:cNvPicPr>
          <p:nvPr>
            <p:ph type="body" idx="1"/>
          </p:nvPr>
        </p:nvPicPr>
        <p:blipFill rotWithShape="1">
          <a:blip r:embed="rId3">
            <a:alphaModFix/>
          </a:blip>
          <a:srcRect/>
          <a:stretch/>
        </p:blipFill>
        <p:spPr>
          <a:xfrm>
            <a:off x="3067050" y="2196306"/>
            <a:ext cx="3009900" cy="33337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RING TOPOLOGY</a:t>
            </a:r>
            <a:endParaRPr/>
          </a:p>
        </p:txBody>
      </p:sp>
      <p:sp>
        <p:nvSpPr>
          <p:cNvPr id="450" name="Google Shape;450;p5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Ring topology is a type of network configuration in which each device on the network is connected to two other devices, forming a “ring.” Data travels around the ring in one direction only, from device to device, until it reaches its destination.</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RING</a:t>
            </a:r>
            <a:endParaRPr/>
          </a:p>
        </p:txBody>
      </p:sp>
      <p:pic>
        <p:nvPicPr>
          <p:cNvPr id="456" name="Google Shape;456;p57" descr="Ring-Topology.jpg"/>
          <p:cNvPicPr preferRelativeResize="0">
            <a:picLocks noGrp="1"/>
          </p:cNvPicPr>
          <p:nvPr>
            <p:ph type="body" idx="1"/>
          </p:nvPr>
        </p:nvPicPr>
        <p:blipFill rotWithShape="1">
          <a:blip r:embed="rId3">
            <a:alphaModFix/>
          </a:blip>
          <a:srcRect/>
          <a:stretch/>
        </p:blipFill>
        <p:spPr>
          <a:xfrm>
            <a:off x="1828800" y="1981200"/>
            <a:ext cx="5334000" cy="373379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5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STAR TOPOLOGY</a:t>
            </a:r>
            <a:endParaRPr/>
          </a:p>
        </p:txBody>
      </p:sp>
      <p:sp>
        <p:nvSpPr>
          <p:cNvPr id="462" name="Google Shape;462;p5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star network is a local area network (LAN) topology in which all nodes -- personal computers (PCs), workstations or other devices -- are directly connected to a common central computer that is often referred to as a hub. Therefore, a star network is often referred to as a hub-and-spoke network topology.</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STAR</a:t>
            </a:r>
            <a:endParaRPr/>
          </a:p>
        </p:txBody>
      </p:sp>
      <p:pic>
        <p:nvPicPr>
          <p:cNvPr id="468" name="Google Shape;468;p59" descr="star-Topology.jpg"/>
          <p:cNvPicPr preferRelativeResize="0">
            <a:picLocks noGrp="1"/>
          </p:cNvPicPr>
          <p:nvPr>
            <p:ph type="body" idx="1"/>
          </p:nvPr>
        </p:nvPicPr>
        <p:blipFill rotWithShape="1">
          <a:blip r:embed="rId3">
            <a:alphaModFix/>
          </a:blip>
          <a:srcRect/>
          <a:stretch/>
        </p:blipFill>
        <p:spPr>
          <a:xfrm>
            <a:off x="457200" y="1805781"/>
            <a:ext cx="8229600" cy="41148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 DIFFERENT BETWEEN 4 NETWORKS</a:t>
            </a:r>
            <a:endParaRPr/>
          </a:p>
        </p:txBody>
      </p:sp>
      <p:graphicFrame>
        <p:nvGraphicFramePr>
          <p:cNvPr id="474" name="Google Shape;474;p60"/>
          <p:cNvGraphicFramePr/>
          <p:nvPr/>
        </p:nvGraphicFramePr>
        <p:xfrm>
          <a:off x="457200" y="1600200"/>
          <a:ext cx="8229625" cy="3484930"/>
        </p:xfrm>
        <a:graphic>
          <a:graphicData uri="http://schemas.openxmlformats.org/drawingml/2006/table">
            <a:tbl>
              <a:tblPr firstRow="1" bandRow="1">
                <a:noFill/>
                <a:tableStyleId>{A332DE6A-0728-4951-BA95-FBE1D94F13F9}</a:tableStyleId>
              </a:tblPr>
              <a:tblGrid>
                <a:gridCol w="1645925"/>
                <a:gridCol w="1645925"/>
                <a:gridCol w="1645925"/>
                <a:gridCol w="1645925"/>
                <a:gridCol w="1645925"/>
              </a:tblGrid>
              <a:tr h="370850">
                <a:tc>
                  <a:txBody>
                    <a:bodyPr/>
                    <a:lstStyle/>
                    <a:p>
                      <a:pPr marL="0" marR="0" lvl="0" indent="0" algn="l" rtl="0">
                        <a:spcBef>
                          <a:spcPts val="0"/>
                        </a:spcBef>
                        <a:spcAft>
                          <a:spcPts val="0"/>
                        </a:spcAft>
                        <a:buNone/>
                      </a:pPr>
                      <a:r>
                        <a:rPr lang="en-US" sz="1800"/>
                        <a:t>    CRITERIA</a:t>
                      </a:r>
                      <a:endParaRPr sz="1800"/>
                    </a:p>
                  </a:txBody>
                  <a:tcPr marL="91450" marR="91450" marT="45725" marB="45725"/>
                </a:tc>
                <a:tc>
                  <a:txBody>
                    <a:bodyPr/>
                    <a:lstStyle/>
                    <a:p>
                      <a:pPr marL="0" marR="0" lvl="0" indent="0" algn="l" rtl="0">
                        <a:spcBef>
                          <a:spcPts val="0"/>
                        </a:spcBef>
                        <a:spcAft>
                          <a:spcPts val="0"/>
                        </a:spcAft>
                        <a:buNone/>
                      </a:pPr>
                      <a:r>
                        <a:rPr lang="en-US" sz="1800"/>
                        <a:t>       MESS</a:t>
                      </a:r>
                      <a:endParaRPr sz="1800"/>
                    </a:p>
                  </a:txBody>
                  <a:tcPr marL="91450" marR="91450" marT="45725" marB="45725"/>
                </a:tc>
                <a:tc>
                  <a:txBody>
                    <a:bodyPr/>
                    <a:lstStyle/>
                    <a:p>
                      <a:pPr marL="0" marR="0" lvl="0" indent="0" algn="l" rtl="0">
                        <a:spcBef>
                          <a:spcPts val="0"/>
                        </a:spcBef>
                        <a:spcAft>
                          <a:spcPts val="0"/>
                        </a:spcAft>
                        <a:buNone/>
                      </a:pPr>
                      <a:r>
                        <a:rPr lang="en-US" sz="1800"/>
                        <a:t>         BUS</a:t>
                      </a:r>
                      <a:endParaRPr sz="1800"/>
                    </a:p>
                  </a:txBody>
                  <a:tcPr marL="91450" marR="91450" marT="45725" marB="45725"/>
                </a:tc>
                <a:tc>
                  <a:txBody>
                    <a:bodyPr/>
                    <a:lstStyle/>
                    <a:p>
                      <a:pPr marL="0" marR="0" lvl="0" indent="0" algn="l" rtl="0">
                        <a:spcBef>
                          <a:spcPts val="0"/>
                        </a:spcBef>
                        <a:spcAft>
                          <a:spcPts val="0"/>
                        </a:spcAft>
                        <a:buNone/>
                      </a:pPr>
                      <a:r>
                        <a:rPr lang="en-US" sz="1800"/>
                        <a:t>         RING</a:t>
                      </a:r>
                      <a:endParaRPr sz="1800"/>
                    </a:p>
                  </a:txBody>
                  <a:tcPr marL="91450" marR="91450" marT="45725" marB="45725"/>
                </a:tc>
                <a:tc>
                  <a:txBody>
                    <a:bodyPr/>
                    <a:lstStyle/>
                    <a:p>
                      <a:pPr marL="0" marR="0" lvl="0" indent="0" algn="l" rtl="0">
                        <a:spcBef>
                          <a:spcPts val="0"/>
                        </a:spcBef>
                        <a:spcAft>
                          <a:spcPts val="0"/>
                        </a:spcAft>
                        <a:buNone/>
                      </a:pPr>
                      <a:r>
                        <a:rPr lang="en-US" sz="1800"/>
                        <a:t>         STAR</a:t>
                      </a:r>
                      <a:endParaRPr sz="1800"/>
                    </a:p>
                  </a:txBody>
                  <a:tcPr marL="91450" marR="91450" marT="45725" marB="45725"/>
                </a:tc>
              </a:tr>
              <a:tr h="370850">
                <a:tc>
                  <a:txBody>
                    <a:bodyPr/>
                    <a:lstStyle/>
                    <a:p>
                      <a:pPr marL="0" marR="0" lvl="0" indent="0" algn="l" rtl="0">
                        <a:spcBef>
                          <a:spcPts val="0"/>
                        </a:spcBef>
                        <a:spcAft>
                          <a:spcPts val="0"/>
                        </a:spcAft>
                        <a:buNone/>
                      </a:pPr>
                      <a:r>
                        <a:rPr lang="en-US" sz="1800"/>
                        <a:t>  Connectivity</a:t>
                      </a:r>
                      <a:endParaRPr sz="1800"/>
                    </a:p>
                  </a:txBody>
                  <a:tcPr marL="91450" marR="91450" marT="45725" marB="45725"/>
                </a:tc>
                <a:tc>
                  <a:txBody>
                    <a:bodyPr/>
                    <a:lstStyle/>
                    <a:p>
                      <a:pPr marL="0" marR="0" lvl="0" indent="0" algn="l" rtl="0">
                        <a:spcBef>
                          <a:spcPts val="0"/>
                        </a:spcBef>
                        <a:spcAft>
                          <a:spcPts val="0"/>
                        </a:spcAft>
                        <a:buNone/>
                      </a:pPr>
                      <a:r>
                        <a:rPr lang="en-US" sz="1800"/>
                        <a:t>Connected to all device</a:t>
                      </a:r>
                      <a:endParaRPr sz="1800"/>
                    </a:p>
                  </a:txBody>
                  <a:tcPr marL="91450" marR="91450" marT="45725" marB="45725"/>
                </a:tc>
                <a:tc>
                  <a:txBody>
                    <a:bodyPr/>
                    <a:lstStyle/>
                    <a:p>
                      <a:pPr marL="0" marR="0" lvl="0" indent="0" algn="l" rtl="0">
                        <a:spcBef>
                          <a:spcPts val="0"/>
                        </a:spcBef>
                        <a:spcAft>
                          <a:spcPts val="0"/>
                        </a:spcAft>
                        <a:buNone/>
                      </a:pPr>
                      <a:r>
                        <a:rPr lang="en-US" sz="1800"/>
                        <a:t>Connected to single cable</a:t>
                      </a:r>
                      <a:endParaRPr sz="1800"/>
                    </a:p>
                  </a:txBody>
                  <a:tcPr marL="91450" marR="91450" marT="45725" marB="45725"/>
                </a:tc>
                <a:tc>
                  <a:txBody>
                    <a:bodyPr/>
                    <a:lstStyle/>
                    <a:p>
                      <a:pPr marL="0" marR="0" lvl="0" indent="0" algn="l" rtl="0">
                        <a:spcBef>
                          <a:spcPts val="0"/>
                        </a:spcBef>
                        <a:spcAft>
                          <a:spcPts val="0"/>
                        </a:spcAft>
                        <a:buNone/>
                      </a:pPr>
                      <a:r>
                        <a:rPr lang="en-US" sz="1800"/>
                        <a:t>Connected to left and right side device</a:t>
                      </a:r>
                      <a:endParaRPr sz="1800"/>
                    </a:p>
                  </a:txBody>
                  <a:tcPr marL="91450" marR="91450" marT="45725" marB="45725"/>
                </a:tc>
                <a:tc>
                  <a:txBody>
                    <a:bodyPr/>
                    <a:lstStyle/>
                    <a:p>
                      <a:pPr marL="0" marR="0" lvl="0" indent="0" algn="l" rtl="0">
                        <a:spcBef>
                          <a:spcPts val="0"/>
                        </a:spcBef>
                        <a:spcAft>
                          <a:spcPts val="0"/>
                        </a:spcAft>
                        <a:buNone/>
                      </a:pPr>
                      <a:r>
                        <a:rPr lang="en-US" sz="1800"/>
                        <a:t>Connected to a centre device</a:t>
                      </a:r>
                      <a:endParaRPr sz="1800"/>
                    </a:p>
                  </a:txBody>
                  <a:tcPr marL="91450" marR="91450" marT="45725" marB="45725"/>
                </a:tc>
              </a:tr>
              <a:tr h="370850">
                <a:tc>
                  <a:txBody>
                    <a:bodyPr/>
                    <a:lstStyle/>
                    <a:p>
                      <a:pPr marL="0" marR="0" lvl="0" indent="0" algn="l" rtl="0">
                        <a:spcBef>
                          <a:spcPts val="0"/>
                        </a:spcBef>
                        <a:spcAft>
                          <a:spcPts val="0"/>
                        </a:spcAft>
                        <a:buNone/>
                      </a:pPr>
                      <a:r>
                        <a:rPr lang="en-US" sz="1800"/>
                        <a:t>Security</a:t>
                      </a:r>
                      <a:endParaRPr sz="1800"/>
                    </a:p>
                  </a:txBody>
                  <a:tcPr marL="91450" marR="91450" marT="45725" marB="45725"/>
                </a:tc>
                <a:tc>
                  <a:txBody>
                    <a:bodyPr/>
                    <a:lstStyle/>
                    <a:p>
                      <a:pPr marL="0" marR="0" lvl="0" indent="0" algn="l" rtl="0">
                        <a:spcBef>
                          <a:spcPts val="0"/>
                        </a:spcBef>
                        <a:spcAft>
                          <a:spcPts val="0"/>
                        </a:spcAft>
                        <a:buNone/>
                      </a:pPr>
                      <a:r>
                        <a:rPr lang="en-US" sz="1800"/>
                        <a:t>Low</a:t>
                      </a:r>
                      <a:endParaRPr sz="1800"/>
                    </a:p>
                  </a:txBody>
                  <a:tcPr marL="91450" marR="91450" marT="45725" marB="45725"/>
                </a:tc>
                <a:tc>
                  <a:txBody>
                    <a:bodyPr/>
                    <a:lstStyle/>
                    <a:p>
                      <a:pPr marL="0" marR="0" lvl="0" indent="0" algn="l" rtl="0">
                        <a:spcBef>
                          <a:spcPts val="0"/>
                        </a:spcBef>
                        <a:spcAft>
                          <a:spcPts val="0"/>
                        </a:spcAft>
                        <a:buNone/>
                      </a:pPr>
                      <a:r>
                        <a:rPr lang="en-US" sz="1800"/>
                        <a:t>Low</a:t>
                      </a:r>
                      <a:endParaRPr sz="1800"/>
                    </a:p>
                  </a:txBody>
                  <a:tcPr marL="91450" marR="91450" marT="45725" marB="45725"/>
                </a:tc>
                <a:tc>
                  <a:txBody>
                    <a:bodyPr/>
                    <a:lstStyle/>
                    <a:p>
                      <a:pPr marL="0" marR="0" lvl="0" indent="0" algn="l" rtl="0">
                        <a:spcBef>
                          <a:spcPts val="0"/>
                        </a:spcBef>
                        <a:spcAft>
                          <a:spcPts val="0"/>
                        </a:spcAft>
                        <a:buNone/>
                      </a:pPr>
                      <a:r>
                        <a:rPr lang="en-US" sz="1800"/>
                        <a:t>Low</a:t>
                      </a:r>
                      <a:endParaRPr sz="1800"/>
                    </a:p>
                  </a:txBody>
                  <a:tcPr marL="91450" marR="91450" marT="45725" marB="45725"/>
                </a:tc>
                <a:tc>
                  <a:txBody>
                    <a:bodyPr/>
                    <a:lstStyle/>
                    <a:p>
                      <a:pPr marL="0" marR="0" lvl="0" indent="0" algn="l" rtl="0">
                        <a:spcBef>
                          <a:spcPts val="0"/>
                        </a:spcBef>
                        <a:spcAft>
                          <a:spcPts val="0"/>
                        </a:spcAft>
                        <a:buNone/>
                      </a:pPr>
                      <a:r>
                        <a:rPr lang="en-US" sz="1800"/>
                        <a:t>High</a:t>
                      </a:r>
                      <a:endParaRPr sz="1800"/>
                    </a:p>
                  </a:txBody>
                  <a:tcPr marL="91450" marR="91450" marT="45725" marB="45725"/>
                </a:tc>
              </a:tr>
              <a:tr h="370850">
                <a:tc>
                  <a:txBody>
                    <a:bodyPr/>
                    <a:lstStyle/>
                    <a:p>
                      <a:pPr marL="0" marR="0" lvl="0" indent="0" algn="l" rtl="0">
                        <a:spcBef>
                          <a:spcPts val="0"/>
                        </a:spcBef>
                        <a:spcAft>
                          <a:spcPts val="0"/>
                        </a:spcAft>
                        <a:buNone/>
                      </a:pPr>
                      <a:r>
                        <a:rPr lang="en-US" sz="1800"/>
                        <a:t>Direction </a:t>
                      </a:r>
                      <a:endParaRPr sz="1800"/>
                    </a:p>
                  </a:txBody>
                  <a:tcPr marL="91450" marR="91450" marT="45725" marB="45725"/>
                </a:tc>
                <a:tc>
                  <a:txBody>
                    <a:bodyPr/>
                    <a:lstStyle/>
                    <a:p>
                      <a:pPr marL="0" marR="0" lvl="0" indent="0" algn="l" rtl="0">
                        <a:spcBef>
                          <a:spcPts val="0"/>
                        </a:spcBef>
                        <a:spcAft>
                          <a:spcPts val="0"/>
                        </a:spcAft>
                        <a:buNone/>
                      </a:pPr>
                      <a:r>
                        <a:rPr lang="en-US" sz="1800"/>
                        <a:t>Bi directional</a:t>
                      </a:r>
                      <a:endParaRPr sz="1800"/>
                    </a:p>
                  </a:txBody>
                  <a:tcPr marL="91450" marR="91450" marT="45725" marB="45725"/>
                </a:tc>
                <a:tc>
                  <a:txBody>
                    <a:bodyPr/>
                    <a:lstStyle/>
                    <a:p>
                      <a:pPr marL="0" marR="0" lvl="0" indent="0" algn="l" rtl="0">
                        <a:spcBef>
                          <a:spcPts val="0"/>
                        </a:spcBef>
                        <a:spcAft>
                          <a:spcPts val="0"/>
                        </a:spcAft>
                        <a:buNone/>
                      </a:pPr>
                      <a:r>
                        <a:rPr lang="en-US" sz="1800"/>
                        <a:t>Bi directional</a:t>
                      </a:r>
                      <a:endParaRPr sz="1800"/>
                    </a:p>
                  </a:txBody>
                  <a:tcPr marL="91450" marR="91450" marT="45725" marB="45725"/>
                </a:tc>
                <a:tc>
                  <a:txBody>
                    <a:bodyPr/>
                    <a:lstStyle/>
                    <a:p>
                      <a:pPr marL="0" marR="0" lvl="0" indent="0" algn="l" rtl="0">
                        <a:spcBef>
                          <a:spcPts val="0"/>
                        </a:spcBef>
                        <a:spcAft>
                          <a:spcPts val="0"/>
                        </a:spcAft>
                        <a:buNone/>
                      </a:pPr>
                      <a:r>
                        <a:rPr lang="en-US" sz="1800"/>
                        <a:t>Bi/Uni directional</a:t>
                      </a:r>
                      <a:endParaRPr sz="1800"/>
                    </a:p>
                  </a:txBody>
                  <a:tcPr marL="91450" marR="91450" marT="45725" marB="45725"/>
                </a:tc>
                <a:tc>
                  <a:txBody>
                    <a:bodyPr/>
                    <a:lstStyle/>
                    <a:p>
                      <a:pPr marL="0" marR="0" lvl="0" indent="0" algn="l" rtl="0">
                        <a:spcBef>
                          <a:spcPts val="0"/>
                        </a:spcBef>
                        <a:spcAft>
                          <a:spcPts val="0"/>
                        </a:spcAft>
                        <a:buNone/>
                      </a:pPr>
                      <a:r>
                        <a:rPr lang="en-US" sz="1800"/>
                        <a:t>Uni directional</a:t>
                      </a:r>
                      <a:endParaRPr sz="1800"/>
                    </a:p>
                  </a:txBody>
                  <a:tcPr marL="91450" marR="91450" marT="45725" marB="45725"/>
                </a:tc>
              </a:tr>
              <a:tr h="370850">
                <a:tc>
                  <a:txBody>
                    <a:bodyPr/>
                    <a:lstStyle/>
                    <a:p>
                      <a:pPr marL="0" marR="0" lvl="0" indent="0" algn="l" rtl="0">
                        <a:spcBef>
                          <a:spcPts val="0"/>
                        </a:spcBef>
                        <a:spcAft>
                          <a:spcPts val="0"/>
                        </a:spcAft>
                        <a:buNone/>
                      </a:pPr>
                      <a:r>
                        <a:rPr lang="en-US" sz="1800"/>
                        <a:t>Fault performance</a:t>
                      </a:r>
                      <a:endParaRPr sz="1800"/>
                    </a:p>
                  </a:txBody>
                  <a:tcPr marL="91450" marR="91450" marT="45725" marB="45725"/>
                </a:tc>
                <a:tc>
                  <a:txBody>
                    <a:bodyPr/>
                    <a:lstStyle/>
                    <a:p>
                      <a:pPr marL="0" marR="0" lvl="0" indent="0" algn="l" rtl="0">
                        <a:spcBef>
                          <a:spcPts val="0"/>
                        </a:spcBef>
                        <a:spcAft>
                          <a:spcPts val="0"/>
                        </a:spcAft>
                        <a:buNone/>
                      </a:pPr>
                      <a:r>
                        <a:rPr lang="en-US" sz="1800"/>
                        <a:t>Don’t affect full network</a:t>
                      </a:r>
                      <a:endParaRPr sz="1800"/>
                    </a:p>
                  </a:txBody>
                  <a:tcPr marL="91450" marR="91450" marT="45725" marB="45725"/>
                </a:tc>
                <a:tc>
                  <a:txBody>
                    <a:bodyPr/>
                    <a:lstStyle/>
                    <a:p>
                      <a:pPr marL="0" marR="0" lvl="0" indent="0" algn="l" rtl="0">
                        <a:spcBef>
                          <a:spcPts val="0"/>
                        </a:spcBef>
                        <a:spcAft>
                          <a:spcPts val="0"/>
                        </a:spcAft>
                        <a:buNone/>
                      </a:pPr>
                      <a:r>
                        <a:rPr lang="en-US" sz="1800"/>
                        <a:t>Whole network goes down</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Don’t affect full network</a:t>
                      </a:r>
                      <a:endParaRPr/>
                    </a:p>
                  </a:txBody>
                  <a:tcPr marL="91450" marR="91450" marT="45725" marB="45725"/>
                </a:tc>
                <a:tc>
                  <a:txBody>
                    <a:bodyPr/>
                    <a:lstStyle/>
                    <a:p>
                      <a:pPr marL="0" marR="0" lvl="0" indent="0" algn="l" rtl="0">
                        <a:spcBef>
                          <a:spcPts val="0"/>
                        </a:spcBef>
                        <a:spcAft>
                          <a:spcPts val="0"/>
                        </a:spcAft>
                        <a:buNone/>
                      </a:pPr>
                      <a:r>
                        <a:rPr lang="en-US" sz="1800"/>
                        <a:t>If the middle server down, whole network goes down</a:t>
                      </a:r>
                      <a:endParaRPr sz="1800"/>
                    </a:p>
                  </a:txBody>
                  <a:tcPr marL="91450" marR="91450" marT="45725" marB="45725"/>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TREE TOPOLOGY</a:t>
            </a:r>
            <a:endParaRPr/>
          </a:p>
        </p:txBody>
      </p:sp>
      <p:sp>
        <p:nvSpPr>
          <p:cNvPr id="480" name="Google Shape;480;p6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Tree topology is a type of network topology that resembles a tree. In a tree topology, there is one central node (the “trunk”), and each node is connected to the central node through a single path. Nodes can be thought of as branches coming off of the trunk.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2"/>
          <p:cNvSpPr txBox="1">
            <a:spLocks noGrp="1"/>
          </p:cNvSpPr>
          <p:nvPr>
            <p:ph type="title"/>
          </p:nvPr>
        </p:nvSpPr>
        <p:spPr>
          <a:xfrm>
            <a:off x="457200" y="304800"/>
            <a:ext cx="8229600" cy="111283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TREE</a:t>
            </a:r>
            <a:endParaRPr/>
          </a:p>
        </p:txBody>
      </p:sp>
      <p:pic>
        <p:nvPicPr>
          <p:cNvPr id="486" name="Google Shape;486;p62" descr="Untitled-Diagram122.png"/>
          <p:cNvPicPr preferRelativeResize="0">
            <a:picLocks noGrp="1"/>
          </p:cNvPicPr>
          <p:nvPr>
            <p:ph type="body" idx="1"/>
          </p:nvPr>
        </p:nvPicPr>
        <p:blipFill rotWithShape="1">
          <a:blip r:embed="rId3">
            <a:alphaModFix/>
          </a:blip>
          <a:srcRect/>
          <a:stretch/>
        </p:blipFill>
        <p:spPr>
          <a:xfrm>
            <a:off x="1233487" y="2191544"/>
            <a:ext cx="6677025" cy="33432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ADVANTAGES AND DISADVANTAGES</a:t>
            </a:r>
            <a:endParaRPr/>
          </a:p>
        </p:txBody>
      </p:sp>
      <p:sp>
        <p:nvSpPr>
          <p:cNvPr id="492" name="Google Shape;492;p6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a:t>Advantages</a:t>
            </a:r>
            <a:endParaRPr/>
          </a:p>
          <a:p>
            <a:pPr marL="342900" lvl="0" indent="-342900" algn="l" rtl="0">
              <a:spcBef>
                <a:spcPts val="640"/>
              </a:spcBef>
              <a:spcAft>
                <a:spcPts val="0"/>
              </a:spcAft>
              <a:buClr>
                <a:schemeClr val="dk1"/>
              </a:buClr>
              <a:buSzPts val="3200"/>
              <a:buChar char="•"/>
            </a:pPr>
            <a:r>
              <a:rPr lang="en-US"/>
              <a:t>Easy error deduction</a:t>
            </a:r>
            <a:endParaRPr/>
          </a:p>
          <a:p>
            <a:pPr marL="342900" lvl="0" indent="-342900" algn="l" rtl="0">
              <a:spcBef>
                <a:spcPts val="640"/>
              </a:spcBef>
              <a:spcAft>
                <a:spcPts val="0"/>
              </a:spcAft>
              <a:buClr>
                <a:schemeClr val="dk1"/>
              </a:buClr>
              <a:buSzPts val="3200"/>
              <a:buChar char="•"/>
            </a:pPr>
            <a:r>
              <a:rPr lang="en-US"/>
              <a:t>Failure of single node will not affect whole network.</a:t>
            </a:r>
            <a:endParaRPr/>
          </a:p>
          <a:p>
            <a:pPr marL="342900" lvl="0" indent="-342900" algn="l" rtl="0">
              <a:spcBef>
                <a:spcPts val="640"/>
              </a:spcBef>
              <a:spcAft>
                <a:spcPts val="0"/>
              </a:spcAft>
              <a:buClr>
                <a:schemeClr val="dk1"/>
              </a:buClr>
              <a:buSzPts val="3200"/>
              <a:buNone/>
            </a:pPr>
            <a:r>
              <a:rPr lang="en-US"/>
              <a:t>Disadvantages:</a:t>
            </a:r>
            <a:endParaRPr/>
          </a:p>
          <a:p>
            <a:pPr marL="342900" lvl="0" indent="-342900" algn="l" rtl="0">
              <a:spcBef>
                <a:spcPts val="640"/>
              </a:spcBef>
              <a:spcAft>
                <a:spcPts val="0"/>
              </a:spcAft>
              <a:buClr>
                <a:schemeClr val="dk1"/>
              </a:buClr>
              <a:buSzPts val="3200"/>
              <a:buChar char="•"/>
            </a:pPr>
            <a:r>
              <a:rPr lang="en-US"/>
              <a:t>Maintenance configuration difficult</a:t>
            </a:r>
            <a:endParaRPr/>
          </a:p>
          <a:p>
            <a:pPr marL="342900" lvl="0" indent="-342900" algn="l" rtl="0">
              <a:spcBef>
                <a:spcPts val="640"/>
              </a:spcBef>
              <a:spcAft>
                <a:spcPts val="0"/>
              </a:spcAft>
              <a:buClr>
                <a:schemeClr val="dk1"/>
              </a:buClr>
              <a:buSzPts val="3200"/>
              <a:buChar char="•"/>
            </a:pPr>
            <a:r>
              <a:rPr lang="en-US"/>
              <a:t>Difficulty of installation</a:t>
            </a: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HYBRID TOPOLOGY</a:t>
            </a:r>
            <a:endParaRPr/>
          </a:p>
        </p:txBody>
      </p:sp>
      <p:sp>
        <p:nvSpPr>
          <p:cNvPr id="498" name="Google Shape;498;p6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Hybrid topology is a type of network topology in which two or more different topologies are integrated or combined to lay out a network. In layman's terms, hybrid topology is the combination of two or more networks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6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HYBRID</a:t>
            </a:r>
            <a:endParaRPr/>
          </a:p>
        </p:txBody>
      </p:sp>
      <p:pic>
        <p:nvPicPr>
          <p:cNvPr id="504" name="Google Shape;504;p65" descr="download.jpg"/>
          <p:cNvPicPr preferRelativeResize="0">
            <a:picLocks noGrp="1"/>
          </p:cNvPicPr>
          <p:nvPr>
            <p:ph type="body" idx="1"/>
          </p:nvPr>
        </p:nvPicPr>
        <p:blipFill rotWithShape="1">
          <a:blip r:embed="rId3">
            <a:alphaModFix/>
          </a:blip>
          <a:srcRect/>
          <a:stretch/>
        </p:blipFill>
        <p:spPr>
          <a:xfrm>
            <a:off x="2438400" y="2286000"/>
            <a:ext cx="4572000" cy="312419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Advantage / Disadvantage</a:t>
            </a:r>
            <a:endParaRPr/>
          </a:p>
        </p:txBody>
      </p:sp>
      <p:pic>
        <p:nvPicPr>
          <p:cNvPr id="510" name="Google Shape;510;p66" descr="37.jpg"/>
          <p:cNvPicPr preferRelativeResize="0">
            <a:picLocks noGrp="1"/>
          </p:cNvPicPr>
          <p:nvPr>
            <p:ph type="body" idx="1"/>
          </p:nvPr>
        </p:nvPicPr>
        <p:blipFill rotWithShape="1">
          <a:blip r:embed="rId3">
            <a:alphaModFix/>
          </a:blip>
          <a:srcRect/>
          <a:stretch/>
        </p:blipFill>
        <p:spPr>
          <a:xfrm>
            <a:off x="992221" y="2010062"/>
            <a:ext cx="7159557" cy="370623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5690" y="0"/>
            <a:ext cx="7772400" cy="600501"/>
          </a:xfrm>
        </p:spPr>
        <p:txBody>
          <a:bodyPr>
            <a:normAutofit fontScale="90000"/>
          </a:bodyPr>
          <a:lstStyle/>
          <a:p>
            <a:r>
              <a:rPr lang="en-US" dirty="0"/>
              <a:t>Uses of Flash Port in a Router</a:t>
            </a:r>
            <a:endParaRPr lang="en-IN" dirty="0"/>
          </a:p>
        </p:txBody>
      </p:sp>
      <p:sp>
        <p:nvSpPr>
          <p:cNvPr id="18" name="Rectangle 13"/>
          <p:cNvSpPr>
            <a:spLocks noGrp="1" noChangeArrowheads="1"/>
          </p:cNvSpPr>
          <p:nvPr>
            <p:ph type="subTitle" idx="1"/>
          </p:nvPr>
        </p:nvSpPr>
        <p:spPr bwMode="auto">
          <a:xfrm>
            <a:off x="252484" y="779412"/>
            <a:ext cx="861856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Operating System Storage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The router’s </a:t>
            </a:r>
            <a:r>
              <a:rPr kumimoji="0" lang="en-US" altLang="en-US" sz="1800" b="1" i="0" u="none" strike="noStrike" cap="none" normalizeH="0" baseline="0" dirty="0" smtClean="0">
                <a:ln>
                  <a:noFill/>
                </a:ln>
                <a:solidFill>
                  <a:schemeClr val="tx1"/>
                </a:solidFill>
                <a:effectLst/>
                <a:latin typeface="Arial" panose="020B0604020202020204" pitchFamily="34" charset="0"/>
              </a:rPr>
              <a:t>IOS (Internetwork Operating System)</a:t>
            </a:r>
            <a:r>
              <a:rPr kumimoji="0" lang="en-US" altLang="en-US" sz="1800" b="0" i="0" u="none" strike="noStrike" cap="none" normalizeH="0" baseline="0" dirty="0" smtClean="0">
                <a:ln>
                  <a:noFill/>
                </a:ln>
                <a:solidFill>
                  <a:schemeClr val="tx1"/>
                </a:solidFill>
                <a:effectLst/>
                <a:latin typeface="Arial" panose="020B0604020202020204" pitchFamily="34" charset="0"/>
              </a:rPr>
              <a:t> or firmware is stored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in flash memory.</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Flash port allows upgrading/replacing the OS easily.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Configuration Backup</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Stores startup configuration files (so after reboot, router reloads the same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settings).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Firmware/Software Upgrade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You can insert a flash card (or use USB/flash port) to update the router’s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software.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Extra Storage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For additional modules, log files, or system images.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Resilience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If the router OS crashes, you can reload from flash memory without </a:t>
            </a:r>
          </a:p>
          <a:p>
            <a:pPr marL="0" marR="0" lvl="0" indent="0" algn="l" defTabSz="914400" rtl="0" eaLnBrk="0" fontAlgn="base" latinLnBrk="0" hangingPunct="0">
              <a:lnSpc>
                <a:spcPct val="100000"/>
              </a:lnSpc>
              <a:spcBef>
                <a:spcPct val="0"/>
              </a:spcBef>
              <a:spcAft>
                <a:spcPct val="0"/>
              </a:spcAft>
              <a:buClrTx/>
              <a:buSzTx/>
              <a:tabLst/>
            </a:pPr>
            <a:r>
              <a:rPr lang="en-US" altLang="en-US" sz="1800" dirty="0">
                <a:solidFill>
                  <a:schemeClr val="tx1"/>
                </a:solidFill>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Arial" panose="020B0604020202020204" pitchFamily="34" charset="0"/>
              </a:rPr>
              <a:t>needing a TFTP server.</a:t>
            </a:r>
          </a:p>
          <a:p>
            <a:pPr algn="l"/>
            <a:endParaRPr lang="en-US" sz="1800" b="1" dirty="0" smtClean="0">
              <a:solidFill>
                <a:schemeClr val="tx1"/>
              </a:solidFill>
            </a:endParaRPr>
          </a:p>
          <a:p>
            <a:pPr algn="l"/>
            <a:r>
              <a:rPr lang="en-US" sz="1800" b="1" dirty="0" smtClean="0">
                <a:solidFill>
                  <a:schemeClr val="tx1"/>
                </a:solidFill>
              </a:rPr>
              <a:t>Important </a:t>
            </a:r>
            <a:r>
              <a:rPr lang="en-US" sz="1800" b="1" dirty="0">
                <a:solidFill>
                  <a:schemeClr val="tx1"/>
                </a:solidFill>
              </a:rPr>
              <a:t>Notes</a:t>
            </a:r>
          </a:p>
          <a:p>
            <a:pPr algn="l"/>
            <a:r>
              <a:rPr lang="en-US" sz="1800" b="1" dirty="0">
                <a:solidFill>
                  <a:schemeClr val="tx1"/>
                </a:solidFill>
              </a:rPr>
              <a:t>Flash memory is non-volatile</a:t>
            </a:r>
            <a:r>
              <a:rPr lang="en-US" sz="1800" dirty="0">
                <a:solidFill>
                  <a:schemeClr val="tx1"/>
                </a:solidFill>
              </a:rPr>
              <a:t> → Data is not lost when power is turned off.</a:t>
            </a:r>
          </a:p>
          <a:p>
            <a:pPr algn="l"/>
            <a:r>
              <a:rPr lang="en-US" sz="1800" dirty="0" smtClean="0">
                <a:solidFill>
                  <a:schemeClr val="tx1"/>
                </a:solidFill>
              </a:rPr>
              <a:t>Modern </a:t>
            </a:r>
            <a:r>
              <a:rPr lang="en-US" sz="1800" dirty="0">
                <a:solidFill>
                  <a:schemeClr val="tx1"/>
                </a:solidFill>
              </a:rPr>
              <a:t>routers often use </a:t>
            </a:r>
            <a:r>
              <a:rPr lang="en-US" sz="1800" b="1" dirty="0">
                <a:solidFill>
                  <a:schemeClr val="tx1"/>
                </a:solidFill>
              </a:rPr>
              <a:t>USB flash ports</a:t>
            </a:r>
            <a:r>
              <a:rPr lang="en-US" sz="1800" dirty="0">
                <a:solidFill>
                  <a:schemeClr val="tx1"/>
                </a:solidFill>
              </a:rPr>
              <a:t> instead of older PCMCIA-type flash cards.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49610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635631564"/>
              </p:ext>
            </p:extLst>
          </p:nvPr>
        </p:nvGraphicFramePr>
        <p:xfrm>
          <a:off x="423080" y="300254"/>
          <a:ext cx="8352429" cy="6451712"/>
        </p:xfrm>
        <a:graphic>
          <a:graphicData uri="http://schemas.openxmlformats.org/drawingml/2006/table">
            <a:tbl>
              <a:tblPr>
                <a:tableStyleId>{A332DE6A-0728-4951-BA95-FBE1D94F13F9}</a:tableStyleId>
              </a:tblPr>
              <a:tblGrid>
                <a:gridCol w="1705971"/>
                <a:gridCol w="2388358"/>
                <a:gridCol w="4258100"/>
              </a:tblGrid>
              <a:tr h="394051">
                <a:tc>
                  <a:txBody>
                    <a:bodyPr/>
                    <a:lstStyle/>
                    <a:p>
                      <a:pPr algn="ctr"/>
                      <a:r>
                        <a:rPr lang="en-IN" sz="2000" b="1" dirty="0"/>
                        <a:t>Vendor</a:t>
                      </a:r>
                    </a:p>
                  </a:txBody>
                  <a:tcPr marL="84862" marR="84862" marT="42431" marB="42431" anchor="ctr">
                    <a:solidFill>
                      <a:schemeClr val="bg1">
                        <a:lumMod val="85000"/>
                        <a:alpha val="0"/>
                      </a:schemeClr>
                    </a:solidFill>
                  </a:tcPr>
                </a:tc>
                <a:tc>
                  <a:txBody>
                    <a:bodyPr/>
                    <a:lstStyle/>
                    <a:p>
                      <a:pPr algn="ctr"/>
                      <a:r>
                        <a:rPr lang="en-IN" sz="2000" b="1" dirty="0"/>
                        <a:t>Default Router OS</a:t>
                      </a:r>
                    </a:p>
                  </a:txBody>
                  <a:tcPr marL="84862" marR="84862" marT="42431" marB="42431" anchor="ctr">
                    <a:solidFill>
                      <a:schemeClr val="bg1">
                        <a:lumMod val="85000"/>
                        <a:alpha val="0"/>
                      </a:schemeClr>
                    </a:solidFill>
                  </a:tcPr>
                </a:tc>
                <a:tc>
                  <a:txBody>
                    <a:bodyPr/>
                    <a:lstStyle/>
                    <a:p>
                      <a:pPr algn="ctr"/>
                      <a:r>
                        <a:rPr lang="en-IN" sz="2000" b="1" dirty="0"/>
                        <a:t>Notes</a:t>
                      </a:r>
                    </a:p>
                  </a:txBody>
                  <a:tcPr marL="84862" marR="84862" marT="42431" marB="42431" anchor="ctr">
                    <a:solidFill>
                      <a:schemeClr val="bg1">
                        <a:lumMod val="85000"/>
                        <a:alpha val="0"/>
                      </a:schemeClr>
                    </a:solidFill>
                  </a:tcPr>
                </a:tc>
              </a:tr>
              <a:tr h="945812">
                <a:tc>
                  <a:txBody>
                    <a:bodyPr/>
                    <a:lstStyle/>
                    <a:p>
                      <a:r>
                        <a:rPr lang="en-IN" sz="1600" b="1" dirty="0"/>
                        <a:t>Cisco</a:t>
                      </a:r>
                    </a:p>
                  </a:txBody>
                  <a:tcPr marL="84862" marR="84862" marT="42431" marB="42431" anchor="ctr"/>
                </a:tc>
                <a:tc>
                  <a:txBody>
                    <a:bodyPr/>
                    <a:lstStyle/>
                    <a:p>
                      <a:r>
                        <a:rPr lang="en-IN" sz="1600"/>
                        <a:t>Cisco IOS (Internetwork Operating System)</a:t>
                      </a:r>
                    </a:p>
                  </a:txBody>
                  <a:tcPr marL="84862" marR="84862" marT="42431" marB="42431" anchor="ctr"/>
                </a:tc>
                <a:tc>
                  <a:txBody>
                    <a:bodyPr/>
                    <a:lstStyle/>
                    <a:p>
                      <a:r>
                        <a:rPr lang="en-US" sz="1600"/>
                        <a:t>Most widely used in enterprises; also has IOS XE (Linux-based) and NX-OS (for data centers).</a:t>
                      </a:r>
                    </a:p>
                  </a:txBody>
                  <a:tcPr marL="84862" marR="84862" marT="42431" marB="42431" anchor="ctr"/>
                </a:tc>
              </a:tr>
              <a:tr h="669931">
                <a:tc>
                  <a:txBody>
                    <a:bodyPr/>
                    <a:lstStyle/>
                    <a:p>
                      <a:r>
                        <a:rPr lang="en-IN" sz="1600" b="1" dirty="0"/>
                        <a:t>Juniper</a:t>
                      </a:r>
                    </a:p>
                  </a:txBody>
                  <a:tcPr marL="84862" marR="84862" marT="42431" marB="42431" anchor="ctr"/>
                </a:tc>
                <a:tc>
                  <a:txBody>
                    <a:bodyPr/>
                    <a:lstStyle/>
                    <a:p>
                      <a:r>
                        <a:rPr lang="en-IN" sz="1600"/>
                        <a:t>JUNOS</a:t>
                      </a:r>
                    </a:p>
                  </a:txBody>
                  <a:tcPr marL="84862" marR="84862" marT="42431" marB="42431" anchor="ctr"/>
                </a:tc>
                <a:tc>
                  <a:txBody>
                    <a:bodyPr/>
                    <a:lstStyle/>
                    <a:p>
                      <a:r>
                        <a:rPr lang="en-US" sz="1600"/>
                        <a:t>Based on FreeBSD; very stable and modular.</a:t>
                      </a:r>
                    </a:p>
                  </a:txBody>
                  <a:tcPr marL="84862" marR="84862" marT="42431" marB="42431" anchor="ctr"/>
                </a:tc>
              </a:tr>
              <a:tr h="669931">
                <a:tc>
                  <a:txBody>
                    <a:bodyPr/>
                    <a:lstStyle/>
                    <a:p>
                      <a:r>
                        <a:rPr lang="en-IN" sz="1600" b="1"/>
                        <a:t>MikroTik</a:t>
                      </a:r>
                    </a:p>
                  </a:txBody>
                  <a:tcPr marL="84862" marR="84862" marT="42431" marB="42431" anchor="ctr"/>
                </a:tc>
                <a:tc>
                  <a:txBody>
                    <a:bodyPr/>
                    <a:lstStyle/>
                    <a:p>
                      <a:r>
                        <a:rPr lang="en-IN" sz="1600" dirty="0" err="1"/>
                        <a:t>RouterOS</a:t>
                      </a:r>
                      <a:endParaRPr lang="en-IN" sz="1600" dirty="0"/>
                    </a:p>
                  </a:txBody>
                  <a:tcPr marL="84862" marR="84862" marT="42431" marB="42431" anchor="ctr"/>
                </a:tc>
                <a:tc>
                  <a:txBody>
                    <a:bodyPr/>
                    <a:lstStyle/>
                    <a:p>
                      <a:r>
                        <a:rPr lang="en-US" sz="1600"/>
                        <a:t>Popular for ISPs and small businesses; very customizable.</a:t>
                      </a:r>
                    </a:p>
                  </a:txBody>
                  <a:tcPr marL="84862" marR="84862" marT="42431" marB="42431" anchor="ctr"/>
                </a:tc>
              </a:tr>
              <a:tr h="945812">
                <a:tc>
                  <a:txBody>
                    <a:bodyPr/>
                    <a:lstStyle/>
                    <a:p>
                      <a:r>
                        <a:rPr lang="en-IN" sz="1600" b="1"/>
                        <a:t>Aruba (HPE)</a:t>
                      </a:r>
                    </a:p>
                  </a:txBody>
                  <a:tcPr marL="84862" marR="84862" marT="42431" marB="42431" anchor="ctr"/>
                </a:tc>
                <a:tc>
                  <a:txBody>
                    <a:bodyPr/>
                    <a:lstStyle/>
                    <a:p>
                      <a:r>
                        <a:rPr lang="en-IN" sz="1600"/>
                        <a:t>ArubaOS</a:t>
                      </a:r>
                    </a:p>
                  </a:txBody>
                  <a:tcPr marL="84862" marR="84862" marT="42431" marB="42431" anchor="ctr"/>
                </a:tc>
                <a:tc>
                  <a:txBody>
                    <a:bodyPr/>
                    <a:lstStyle/>
                    <a:p>
                      <a:r>
                        <a:rPr lang="en-US" sz="1600"/>
                        <a:t>Designed for wireless controllers and edge networking.</a:t>
                      </a:r>
                    </a:p>
                  </a:txBody>
                  <a:tcPr marL="84862" marR="84862" marT="42431" marB="42431" anchor="ctr"/>
                </a:tc>
              </a:tr>
              <a:tr h="669931">
                <a:tc>
                  <a:txBody>
                    <a:bodyPr/>
                    <a:lstStyle/>
                    <a:p>
                      <a:r>
                        <a:rPr lang="en-IN" sz="1600" b="1"/>
                        <a:t>Fortinet</a:t>
                      </a:r>
                    </a:p>
                  </a:txBody>
                  <a:tcPr marL="84862" marR="84862" marT="42431" marB="42431" anchor="ctr"/>
                </a:tc>
                <a:tc>
                  <a:txBody>
                    <a:bodyPr/>
                    <a:lstStyle/>
                    <a:p>
                      <a:r>
                        <a:rPr lang="en-IN" sz="1600" dirty="0" err="1"/>
                        <a:t>FortiOS</a:t>
                      </a:r>
                      <a:endParaRPr lang="en-IN" sz="1600" dirty="0"/>
                    </a:p>
                  </a:txBody>
                  <a:tcPr marL="84862" marR="84862" marT="42431" marB="42431" anchor="ctr"/>
                </a:tc>
                <a:tc>
                  <a:txBody>
                    <a:bodyPr/>
                    <a:lstStyle/>
                    <a:p>
                      <a:r>
                        <a:rPr lang="en-US" sz="1600"/>
                        <a:t>Security-focused router OS (firewall + routing).</a:t>
                      </a:r>
                    </a:p>
                  </a:txBody>
                  <a:tcPr marL="84862" marR="84862" marT="42431" marB="42431" anchor="ctr"/>
                </a:tc>
              </a:tr>
              <a:tr h="669931">
                <a:tc>
                  <a:txBody>
                    <a:bodyPr/>
                    <a:lstStyle/>
                    <a:p>
                      <a:r>
                        <a:rPr lang="en-IN" sz="1600" b="1"/>
                        <a:t>Ubiquiti</a:t>
                      </a:r>
                    </a:p>
                  </a:txBody>
                  <a:tcPr marL="84862" marR="84862" marT="42431" marB="42431" anchor="ctr"/>
                </a:tc>
                <a:tc>
                  <a:txBody>
                    <a:bodyPr/>
                    <a:lstStyle/>
                    <a:p>
                      <a:r>
                        <a:rPr lang="en-IN" sz="1600"/>
                        <a:t>EdgeOS / UniFi OS</a:t>
                      </a:r>
                    </a:p>
                  </a:txBody>
                  <a:tcPr marL="84862" marR="84862" marT="42431" marB="42431" anchor="ctr"/>
                </a:tc>
                <a:tc>
                  <a:txBody>
                    <a:bodyPr/>
                    <a:lstStyle/>
                    <a:p>
                      <a:r>
                        <a:rPr lang="en-US" sz="1600"/>
                        <a:t>For EdgeRouters and UniFi devices.</a:t>
                      </a:r>
                    </a:p>
                  </a:txBody>
                  <a:tcPr marL="84862" marR="84862" marT="42431" marB="42431" anchor="ctr"/>
                </a:tc>
              </a:tr>
              <a:tr h="669931">
                <a:tc>
                  <a:txBody>
                    <a:bodyPr/>
                    <a:lstStyle/>
                    <a:p>
                      <a:r>
                        <a:rPr lang="en-IN" sz="1600" b="1"/>
                        <a:t>Huawei</a:t>
                      </a:r>
                    </a:p>
                  </a:txBody>
                  <a:tcPr marL="84862" marR="84862" marT="42431" marB="42431" anchor="ctr"/>
                </a:tc>
                <a:tc>
                  <a:txBody>
                    <a:bodyPr/>
                    <a:lstStyle/>
                    <a:p>
                      <a:r>
                        <a:rPr lang="en-IN" sz="1600"/>
                        <a:t>VRP (Versatile Routing Platform)</a:t>
                      </a:r>
                    </a:p>
                  </a:txBody>
                  <a:tcPr marL="84862" marR="84862" marT="42431" marB="42431" anchor="ctr"/>
                </a:tc>
                <a:tc>
                  <a:txBody>
                    <a:bodyPr/>
                    <a:lstStyle/>
                    <a:p>
                      <a:r>
                        <a:rPr lang="en-US" sz="1600"/>
                        <a:t>Used in enterprise and telecom routers.</a:t>
                      </a:r>
                    </a:p>
                  </a:txBody>
                  <a:tcPr marL="84862" marR="84862" marT="42431" marB="42431" anchor="ctr"/>
                </a:tc>
              </a:tr>
              <a:tr h="669931">
                <a:tc>
                  <a:txBody>
                    <a:bodyPr/>
                    <a:lstStyle/>
                    <a:p>
                      <a:r>
                        <a:rPr lang="en-US" sz="1600" b="1" dirty="0"/>
                        <a:t>TP-Link / </a:t>
                      </a:r>
                      <a:r>
                        <a:rPr lang="en-US" sz="1600" b="1" dirty="0" err="1"/>
                        <a:t>Netgear</a:t>
                      </a:r>
                      <a:r>
                        <a:rPr lang="en-US" sz="1600" b="1" dirty="0"/>
                        <a:t> / D-Link (Home Routers)</a:t>
                      </a:r>
                    </a:p>
                  </a:txBody>
                  <a:tcPr marL="84862" marR="84862" marT="42431" marB="42431" anchor="ctr"/>
                </a:tc>
                <a:tc>
                  <a:txBody>
                    <a:bodyPr/>
                    <a:lstStyle/>
                    <a:p>
                      <a:r>
                        <a:rPr lang="en-IN" sz="1600"/>
                        <a:t>Custom lightweight Linux-based OS</a:t>
                      </a:r>
                    </a:p>
                  </a:txBody>
                  <a:tcPr marL="84862" marR="84862" marT="42431" marB="42431" anchor="ctr"/>
                </a:tc>
                <a:tc>
                  <a:txBody>
                    <a:bodyPr/>
                    <a:lstStyle/>
                    <a:p>
                      <a:r>
                        <a:rPr lang="en-US" sz="1600" dirty="0"/>
                        <a:t>Usually web-interface driven; limited CLI.</a:t>
                      </a:r>
                    </a:p>
                  </a:txBody>
                  <a:tcPr marL="84862" marR="84862" marT="42431" marB="42431" anchor="ctr"/>
                </a:tc>
              </a:tr>
            </a:tbl>
          </a:graphicData>
        </a:graphic>
      </p:graphicFrame>
    </p:spTree>
    <p:extLst>
      <p:ext uri="{BB962C8B-B14F-4D97-AF65-F5344CB8AC3E}">
        <p14:creationId xmlns:p14="http://schemas.microsoft.com/office/powerpoint/2010/main" val="29283399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subTitle" idx="1"/>
          </p:nvPr>
        </p:nvSpPr>
        <p:spPr bwMode="auto">
          <a:xfrm>
            <a:off x="341195" y="124323"/>
            <a:ext cx="8639032" cy="6494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Arial" panose="020B0604020202020204" pitchFamily="34" charset="0"/>
              </a:rPr>
              <a:t>📂 Files in a Router Flash Card</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none" strike="noStrike" cap="none" normalizeH="0" baseline="0" dirty="0" smtClean="0">
                <a:ln>
                  <a:noFill/>
                </a:ln>
                <a:solidFill>
                  <a:schemeClr val="tx1"/>
                </a:solidFill>
                <a:effectLst/>
                <a:latin typeface="Arial" panose="020B0604020202020204" pitchFamily="34" charset="0"/>
              </a:rPr>
              <a:t>Router Operating System (IOS image)</a:t>
            </a:r>
            <a:endParaRPr kumimoji="0" lang="en-US" altLang="en-US" sz="4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Example: </a:t>
            </a:r>
            <a:r>
              <a:rPr kumimoji="0" lang="en-US" altLang="en-US" sz="1600" b="0" i="0" u="none" strike="noStrike" cap="none" normalizeH="0" baseline="0" dirty="0" smtClean="0">
                <a:ln>
                  <a:noFill/>
                </a:ln>
                <a:solidFill>
                  <a:schemeClr val="tx1"/>
                </a:solidFill>
                <a:effectLst/>
                <a:latin typeface="Arial Unicode MS" panose="020B0604020202020204" pitchFamily="34" charset="-128"/>
              </a:rPr>
              <a:t>c1900-universalk9-mz.SPA.154-3.M3.bin</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This is the </a:t>
            </a:r>
            <a:r>
              <a:rPr kumimoji="0" lang="en-US" altLang="en-US" sz="1800" b="1" i="0" u="none" strike="noStrike" cap="none" normalizeH="0" baseline="0" dirty="0" smtClean="0">
                <a:ln>
                  <a:noFill/>
                </a:ln>
                <a:solidFill>
                  <a:schemeClr val="tx1"/>
                </a:solidFill>
                <a:effectLst/>
                <a:latin typeface="Arial" panose="020B0604020202020204" pitchFamily="34" charset="0"/>
              </a:rPr>
              <a:t>Cisco IOS binary file</a:t>
            </a:r>
            <a:r>
              <a:rPr kumimoji="0" lang="en-US" altLang="en-US" sz="1800" b="0" i="0" u="none" strike="noStrike" cap="none" normalizeH="0" baseline="0" dirty="0" smtClean="0">
                <a:ln>
                  <a:noFill/>
                </a:ln>
                <a:solidFill>
                  <a:schemeClr val="tx1"/>
                </a:solidFill>
                <a:effectLst/>
                <a:latin typeface="Arial" panose="020B0604020202020204" pitchFamily="34" charset="0"/>
              </a:rPr>
              <a:t> the router boots from.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Without this file, the router can’t run.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Configuration Files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Unicode MS" panose="020B0604020202020204" pitchFamily="34" charset="-128"/>
              </a:rPr>
              <a:t>startup-</a:t>
            </a:r>
            <a:r>
              <a:rPr kumimoji="0" lang="en-US" altLang="en-US" sz="1600" b="0" i="0" u="none" strike="noStrike" cap="none" normalizeH="0" baseline="0" dirty="0" err="1" smtClean="0">
                <a:ln>
                  <a:noFill/>
                </a:ln>
                <a:solidFill>
                  <a:schemeClr val="tx1"/>
                </a:solidFill>
                <a:effectLst/>
                <a:latin typeface="Arial Unicode MS" panose="020B0604020202020204" pitchFamily="34" charset="-128"/>
              </a:rPr>
              <a:t>config</a:t>
            </a:r>
            <a:r>
              <a:rPr kumimoji="0" lang="en-US" altLang="en-US" sz="1200" b="0" i="0" u="none" strike="noStrike" cap="none" normalizeH="0" baseline="0" dirty="0" smtClean="0">
                <a:ln>
                  <a:noFill/>
                </a:ln>
                <a:solidFill>
                  <a:schemeClr val="tx1"/>
                </a:solidFill>
                <a:effectLst/>
              </a:rPr>
              <a:t> (saved </a:t>
            </a:r>
            <a:r>
              <a:rPr kumimoji="0" lang="en-US" altLang="en-US" sz="1200" b="0" i="0" u="none" strike="noStrike" cap="none" normalizeH="0" baseline="0" dirty="0" err="1" smtClean="0">
                <a:ln>
                  <a:noFill/>
                </a:ln>
                <a:solidFill>
                  <a:schemeClr val="tx1"/>
                </a:solidFill>
                <a:effectLst/>
              </a:rPr>
              <a:t>config</a:t>
            </a:r>
            <a:r>
              <a:rPr kumimoji="0" lang="en-US" altLang="en-US" sz="1200" b="0" i="0" u="none" strike="noStrike" cap="none" normalizeH="0" baseline="0" dirty="0" smtClean="0">
                <a:ln>
                  <a:noFill/>
                </a:ln>
                <a:solidFill>
                  <a:schemeClr val="tx1"/>
                </a:solidFill>
                <a:effectLst/>
              </a:rPr>
              <a:t> loaded at boot).</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smtClean="0">
                <a:ln>
                  <a:noFill/>
                </a:ln>
                <a:solidFill>
                  <a:schemeClr val="tx1"/>
                </a:solidFill>
                <a:effectLst/>
                <a:latin typeface="Arial Unicode MS" panose="020B0604020202020204" pitchFamily="34" charset="-128"/>
              </a:rPr>
              <a:t>running-</a:t>
            </a:r>
            <a:r>
              <a:rPr kumimoji="0" lang="en-US" altLang="en-US" sz="1600" b="0" i="0" u="none" strike="noStrike" cap="none" normalizeH="0" baseline="0" dirty="0" err="1" smtClean="0">
                <a:ln>
                  <a:noFill/>
                </a:ln>
                <a:solidFill>
                  <a:schemeClr val="tx1"/>
                </a:solidFill>
                <a:effectLst/>
                <a:latin typeface="Arial Unicode MS" panose="020B0604020202020204" pitchFamily="34" charset="-128"/>
              </a:rPr>
              <a:t>config</a:t>
            </a:r>
            <a:r>
              <a:rPr kumimoji="0" lang="en-US" altLang="en-US" sz="1200" b="0" i="0" u="none" strike="noStrike" cap="none" normalizeH="0" baseline="0" dirty="0" smtClean="0">
                <a:ln>
                  <a:noFill/>
                </a:ln>
                <a:solidFill>
                  <a:schemeClr val="tx1"/>
                </a:solidFill>
                <a:effectLst/>
              </a:rPr>
              <a:t> (active </a:t>
            </a:r>
            <a:r>
              <a:rPr kumimoji="0" lang="en-US" altLang="en-US" sz="1200" b="0" i="0" u="none" strike="noStrike" cap="none" normalizeH="0" baseline="0" dirty="0" err="1" smtClean="0">
                <a:ln>
                  <a:noFill/>
                </a:ln>
                <a:solidFill>
                  <a:schemeClr val="tx1"/>
                </a:solidFill>
                <a:effectLst/>
              </a:rPr>
              <a:t>config</a:t>
            </a:r>
            <a:r>
              <a:rPr kumimoji="0" lang="en-US" altLang="en-US" sz="1200" b="0" i="0" u="none" strike="noStrike" cap="none" normalizeH="0" baseline="0" dirty="0" smtClean="0">
                <a:ln>
                  <a:noFill/>
                </a:ln>
                <a:solidFill>
                  <a:schemeClr val="tx1"/>
                </a:solidFill>
                <a:effectLst/>
              </a:rPr>
              <a:t> in RAM, but not usually stored directly in flash unless saved).</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smtClean="0">
                <a:ln>
                  <a:noFill/>
                </a:ln>
                <a:solidFill>
                  <a:schemeClr val="tx1"/>
                </a:solidFill>
                <a:effectLst/>
                <a:latin typeface="Arial" panose="020B0604020202020204" pitchFamily="34" charset="0"/>
              </a:rPr>
              <a:t>Bootloader / Boot Helper Files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Example: </a:t>
            </a:r>
            <a:r>
              <a:rPr kumimoji="0" lang="en-US" altLang="en-US" sz="1600" b="0" i="0" u="none" strike="noStrike" cap="none" normalizeH="0" baseline="0" dirty="0" err="1" smtClean="0">
                <a:ln>
                  <a:noFill/>
                </a:ln>
                <a:solidFill>
                  <a:schemeClr val="tx1"/>
                </a:solidFill>
                <a:effectLst/>
                <a:latin typeface="Arial Unicode MS" panose="020B0604020202020204" pitchFamily="34" charset="-128"/>
              </a:rPr>
              <a:t>rommon</a:t>
            </a:r>
            <a:r>
              <a:rPr kumimoji="0" lang="en-US" altLang="en-US" sz="1200" b="0" i="0" u="none" strike="noStrike" cap="none" normalizeH="0" baseline="0" dirty="0" smtClean="0">
                <a:ln>
                  <a:noFill/>
                </a:ln>
                <a:solidFill>
                  <a:schemeClr val="tx1"/>
                </a:solidFill>
                <a:effectLst/>
              </a:rPr>
              <a:t> or </a:t>
            </a:r>
            <a:r>
              <a:rPr kumimoji="0" lang="en-US" altLang="en-US" sz="1600" b="0" i="0" u="none" strike="noStrike" cap="none" normalizeH="0" baseline="0" dirty="0" err="1" smtClean="0">
                <a:ln>
                  <a:noFill/>
                </a:ln>
                <a:solidFill>
                  <a:schemeClr val="tx1"/>
                </a:solidFill>
                <a:effectLst/>
                <a:latin typeface="Arial Unicode MS" panose="020B0604020202020204" pitchFamily="34" charset="-128"/>
              </a:rPr>
              <a:t>bootldr</a:t>
            </a:r>
            <a:r>
              <a:rPr kumimoji="0" lang="en-US" altLang="en-US" sz="1200" b="0" i="0" u="none" strike="noStrike" cap="none" normalizeH="0" baseline="0" dirty="0" smtClean="0">
                <a:ln>
                  <a:noFill/>
                </a:ln>
                <a:solidFill>
                  <a:schemeClr val="tx1"/>
                </a:solidFill>
                <a:effectLst/>
              </a:rPr>
              <a:t> image.</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Helps the router boot if the main IOS is corrupted.</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Licensing Files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For newer Cisco routers, license keys or feature activation files may be stored.</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1" i="0" u="none" strike="noStrike" cap="none" normalizeH="0" baseline="0" dirty="0" smtClean="0">
                <a:ln>
                  <a:noFill/>
                </a:ln>
                <a:solidFill>
                  <a:schemeClr val="tx1"/>
                </a:solidFill>
                <a:effectLst/>
                <a:latin typeface="Arial" panose="020B0604020202020204" pitchFamily="34" charset="0"/>
              </a:rPr>
              <a:t>VLAN Database Files (on some devices)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Example: </a:t>
            </a:r>
            <a:r>
              <a:rPr kumimoji="0" lang="en-US" altLang="en-US" sz="1600" b="0" i="0" u="none" strike="noStrike" cap="none" normalizeH="0" baseline="0" dirty="0" smtClean="0">
                <a:ln>
                  <a:noFill/>
                </a:ln>
                <a:solidFill>
                  <a:schemeClr val="tx1"/>
                </a:solidFill>
                <a:effectLst/>
                <a:latin typeface="Arial Unicode MS" panose="020B0604020202020204" pitchFamily="34" charset="-128"/>
              </a:rPr>
              <a:t>vlan.dat</a:t>
            </a:r>
            <a:r>
              <a:rPr kumimoji="0" lang="en-US" altLang="en-US" sz="1200" b="0" i="0" u="none" strike="noStrike" cap="none" normalizeH="0" baseline="0" dirty="0" smtClean="0">
                <a:ln>
                  <a:noFill/>
                </a:ln>
                <a:solidFill>
                  <a:schemeClr val="tx1"/>
                </a:solidFill>
                <a:effectLst/>
              </a:rPr>
              <a:t> — contains VLAN information.</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1" i="0" u="none" strike="noStrike" cap="none" normalizeH="0" baseline="0" dirty="0" smtClean="0">
                <a:ln>
                  <a:noFill/>
                </a:ln>
                <a:solidFill>
                  <a:schemeClr val="tx1"/>
                </a:solidFill>
                <a:effectLst/>
                <a:latin typeface="Arial" panose="020B0604020202020204" pitchFamily="34" charset="0"/>
              </a:rPr>
              <a:t>Log Files or </a:t>
            </a:r>
            <a:r>
              <a:rPr kumimoji="0" lang="en-US" altLang="en-US" sz="1800" b="1" i="0" u="none" strike="noStrike" cap="none" normalizeH="0" baseline="0" dirty="0" err="1" smtClean="0">
                <a:ln>
                  <a:noFill/>
                </a:ln>
                <a:solidFill>
                  <a:schemeClr val="tx1"/>
                </a:solidFill>
                <a:effectLst/>
                <a:latin typeface="Arial" panose="020B0604020202020204" pitchFamily="34" charset="0"/>
              </a:rPr>
              <a:t>Crashinfo</a:t>
            </a:r>
            <a:r>
              <a:rPr kumimoji="0" lang="en-US" altLang="en-US" sz="1800" b="1" i="0" u="none" strike="noStrike" cap="none" normalizeH="0" baseline="0" dirty="0" smtClean="0">
                <a:ln>
                  <a:noFill/>
                </a:ln>
                <a:solidFill>
                  <a:schemeClr val="tx1"/>
                </a:solidFill>
                <a:effectLst/>
                <a:latin typeface="Arial" panose="020B0604020202020204" pitchFamily="34" charset="0"/>
              </a:rPr>
              <a:t> Files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Example: </a:t>
            </a:r>
            <a:r>
              <a:rPr kumimoji="0" lang="en-US" altLang="en-US" sz="1600" b="0" i="0" u="none" strike="noStrike" cap="none" normalizeH="0" baseline="0" dirty="0" smtClean="0">
                <a:ln>
                  <a:noFill/>
                </a:ln>
                <a:solidFill>
                  <a:schemeClr val="tx1"/>
                </a:solidFill>
                <a:effectLst/>
                <a:latin typeface="Arial Unicode MS" panose="020B0604020202020204" pitchFamily="34" charset="-128"/>
              </a:rPr>
              <a:t>crashinfo_20230801-120011</a:t>
            </a:r>
            <a:endParaRPr kumimoji="0" lang="en-US" altLang="en-US" sz="1200" b="0" i="0" u="none" strike="noStrike" cap="none" normalizeH="0" baseline="0" dirty="0" smtClean="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Saved if the router crashes, useful for troubleshooting.</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1" i="0" u="none" strike="noStrike" cap="none" normalizeH="0" baseline="0" dirty="0" smtClean="0">
                <a:ln>
                  <a:noFill/>
                </a:ln>
                <a:solidFill>
                  <a:schemeClr val="tx1"/>
                </a:solidFill>
                <a:effectLst/>
                <a:latin typeface="Arial" panose="020B0604020202020204" pitchFamily="34" charset="0"/>
              </a:rPr>
              <a:t>Other Optional Files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Backup IOS images (for redundancy).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Scripts, security certificates, or custom packages.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33632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8364" y="255896"/>
            <a:ext cx="8775511" cy="6363268"/>
          </a:xfrm>
        </p:spPr>
        <p:txBody>
          <a:bodyPr>
            <a:normAutofit/>
          </a:bodyPr>
          <a:lstStyle/>
          <a:p>
            <a:pPr marL="482600" indent="-457200" algn="l">
              <a:buFont typeface="Wingdings" panose="05000000000000000000" pitchFamily="2" charset="2"/>
              <a:buChar char="q"/>
            </a:pPr>
            <a:r>
              <a:rPr lang="en-US" b="1" dirty="0" smtClean="0">
                <a:solidFill>
                  <a:schemeClr val="tx1"/>
                </a:solidFill>
              </a:rPr>
              <a:t>Gateway</a:t>
            </a:r>
            <a:r>
              <a:rPr lang="en-US" dirty="0" smtClean="0">
                <a:solidFill>
                  <a:schemeClr val="tx1"/>
                </a:solidFill>
              </a:rPr>
              <a:t> 	– Connectivity path between </a:t>
            </a:r>
          </a:p>
          <a:p>
            <a:pPr marL="25400" indent="0" algn="l"/>
            <a:r>
              <a:rPr lang="en-US" dirty="0">
                <a:solidFill>
                  <a:schemeClr val="tx1"/>
                </a:solidFill>
              </a:rPr>
              <a:t>	</a:t>
            </a:r>
            <a:r>
              <a:rPr lang="en-US" dirty="0" smtClean="0">
                <a:solidFill>
                  <a:schemeClr val="tx1"/>
                </a:solidFill>
              </a:rPr>
              <a:t>			Router and Switch</a:t>
            </a:r>
          </a:p>
          <a:p>
            <a:pPr marL="482600" indent="-457200" algn="l">
              <a:buFont typeface="Wingdings" panose="05000000000000000000" pitchFamily="2" charset="2"/>
              <a:buChar char="q"/>
            </a:pPr>
            <a:r>
              <a:rPr lang="en-US" b="1" dirty="0" smtClean="0">
                <a:solidFill>
                  <a:schemeClr val="tx1"/>
                </a:solidFill>
              </a:rPr>
              <a:t>Giga Port</a:t>
            </a:r>
            <a:r>
              <a:rPr lang="en-US" dirty="0" smtClean="0">
                <a:solidFill>
                  <a:schemeClr val="tx1"/>
                </a:solidFill>
              </a:rPr>
              <a:t>	 – Router to Switch</a:t>
            </a:r>
          </a:p>
          <a:p>
            <a:pPr marL="482600" indent="-457200" algn="l">
              <a:buFont typeface="Wingdings" panose="05000000000000000000" pitchFamily="2" charset="2"/>
              <a:buChar char="q"/>
            </a:pPr>
            <a:r>
              <a:rPr lang="en-US" b="1" dirty="0" smtClean="0">
                <a:solidFill>
                  <a:schemeClr val="tx1"/>
                </a:solidFill>
              </a:rPr>
              <a:t>Serial Port </a:t>
            </a:r>
            <a:r>
              <a:rPr lang="en-US" dirty="0" smtClean="0">
                <a:solidFill>
                  <a:schemeClr val="tx1"/>
                </a:solidFill>
              </a:rPr>
              <a:t>	– Router to Router</a:t>
            </a:r>
          </a:p>
          <a:p>
            <a:pPr marL="482600" indent="-457200" algn="l">
              <a:buFont typeface="Wingdings" panose="05000000000000000000" pitchFamily="2" charset="2"/>
              <a:buChar char="q"/>
            </a:pPr>
            <a:r>
              <a:rPr lang="en-US" b="1" dirty="0" smtClean="0">
                <a:solidFill>
                  <a:schemeClr val="tx1"/>
                </a:solidFill>
              </a:rPr>
              <a:t>Hope Address </a:t>
            </a:r>
            <a:r>
              <a:rPr lang="en-US" dirty="0" smtClean="0">
                <a:solidFill>
                  <a:schemeClr val="tx1"/>
                </a:solidFill>
              </a:rPr>
              <a:t>– Router to Router Line</a:t>
            </a:r>
          </a:p>
          <a:p>
            <a:pPr marL="482600" indent="-457200" algn="l">
              <a:buFont typeface="Wingdings" panose="05000000000000000000" pitchFamily="2" charset="2"/>
              <a:buChar char="q"/>
            </a:pPr>
            <a:r>
              <a:rPr lang="en-US" b="1" dirty="0" smtClean="0">
                <a:solidFill>
                  <a:schemeClr val="tx1"/>
                </a:solidFill>
              </a:rPr>
              <a:t>Line Up</a:t>
            </a:r>
            <a:r>
              <a:rPr lang="en-US" dirty="0" smtClean="0">
                <a:solidFill>
                  <a:schemeClr val="tx1"/>
                </a:solidFill>
              </a:rPr>
              <a:t>		 – Gateway has to give / no shut</a:t>
            </a:r>
          </a:p>
          <a:p>
            <a:pPr marL="482600" indent="-457200" algn="l">
              <a:buFont typeface="Wingdings" panose="05000000000000000000" pitchFamily="2" charset="2"/>
              <a:buChar char="q"/>
            </a:pPr>
            <a:r>
              <a:rPr lang="en-US" b="1" dirty="0" smtClean="0">
                <a:solidFill>
                  <a:schemeClr val="tx1"/>
                </a:solidFill>
              </a:rPr>
              <a:t>Route</a:t>
            </a:r>
            <a:r>
              <a:rPr lang="en-US" dirty="0" smtClean="0">
                <a:solidFill>
                  <a:schemeClr val="tx1"/>
                </a:solidFill>
              </a:rPr>
              <a:t> 		– NT Address has to give /do </a:t>
            </a:r>
            <a:r>
              <a:rPr lang="en-US" dirty="0" err="1" smtClean="0">
                <a:solidFill>
                  <a:schemeClr val="tx1"/>
                </a:solidFill>
              </a:rPr>
              <a:t>wr</a:t>
            </a:r>
            <a:endParaRPr lang="en-US" dirty="0" smtClean="0">
              <a:solidFill>
                <a:schemeClr val="tx1"/>
              </a:solidFill>
            </a:endParaRPr>
          </a:p>
          <a:p>
            <a:pPr marL="25400" indent="0" algn="l"/>
            <a:endParaRPr lang="en-US" dirty="0" smtClean="0">
              <a:solidFill>
                <a:schemeClr val="tx1"/>
              </a:solidFill>
            </a:endParaRPr>
          </a:p>
          <a:p>
            <a:pPr marL="482600" indent="-457200" algn="l">
              <a:buFont typeface="Wingdings" panose="05000000000000000000" pitchFamily="2" charset="2"/>
              <a:buChar char="q"/>
            </a:pPr>
            <a:endParaRPr lang="en-IN" dirty="0">
              <a:solidFill>
                <a:schemeClr val="tx1"/>
              </a:solidFill>
            </a:endParaRPr>
          </a:p>
        </p:txBody>
      </p:sp>
    </p:spTree>
    <p:extLst>
      <p:ext uri="{BB962C8B-B14F-4D97-AF65-F5344CB8AC3E}">
        <p14:creationId xmlns:p14="http://schemas.microsoft.com/office/powerpoint/2010/main" val="29621696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Line up Router command</a:t>
            </a:r>
            <a:endParaRPr/>
          </a:p>
        </p:txBody>
      </p:sp>
      <p:sp>
        <p:nvSpPr>
          <p:cNvPr id="370" name="Google Shape;370;p4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Char char="•"/>
            </a:pPr>
            <a:r>
              <a:rPr lang="en-US"/>
              <a:t>User mode</a:t>
            </a:r>
            <a:endParaRPr/>
          </a:p>
          <a:p>
            <a:pPr marL="342900" lvl="0" indent="-342900" algn="l" rtl="0">
              <a:spcBef>
                <a:spcPts val="448"/>
              </a:spcBef>
              <a:spcAft>
                <a:spcPts val="0"/>
              </a:spcAft>
              <a:buClr>
                <a:schemeClr val="dk1"/>
              </a:buClr>
              <a:buSzPct val="100000"/>
              <a:buNone/>
            </a:pPr>
            <a:r>
              <a:rPr lang="en-US"/>
              <a:t>          &gt; enable</a:t>
            </a:r>
            <a:endParaRPr/>
          </a:p>
          <a:p>
            <a:pPr marL="342900" lvl="0" indent="-342900" algn="l" rtl="0">
              <a:spcBef>
                <a:spcPts val="448"/>
              </a:spcBef>
              <a:spcAft>
                <a:spcPts val="0"/>
              </a:spcAft>
              <a:buClr>
                <a:schemeClr val="dk1"/>
              </a:buClr>
              <a:buSzPct val="100000"/>
              <a:buChar char="•"/>
            </a:pPr>
            <a:r>
              <a:rPr lang="en-US"/>
              <a:t>Previlage mode</a:t>
            </a:r>
            <a:endParaRPr/>
          </a:p>
          <a:p>
            <a:pPr marL="342900" lvl="0" indent="-342900" algn="l" rtl="0">
              <a:spcBef>
                <a:spcPts val="448"/>
              </a:spcBef>
              <a:spcAft>
                <a:spcPts val="0"/>
              </a:spcAft>
              <a:buClr>
                <a:schemeClr val="dk1"/>
              </a:buClr>
              <a:buSzPct val="100000"/>
              <a:buNone/>
            </a:pPr>
            <a:r>
              <a:rPr lang="en-US"/>
              <a:t>          #config t</a:t>
            </a:r>
            <a:endParaRPr/>
          </a:p>
          <a:p>
            <a:pPr marL="342900" lvl="0" indent="-342900" algn="l" rtl="0">
              <a:spcBef>
                <a:spcPts val="448"/>
              </a:spcBef>
              <a:spcAft>
                <a:spcPts val="0"/>
              </a:spcAft>
              <a:buClr>
                <a:schemeClr val="dk1"/>
              </a:buClr>
              <a:buSzPct val="100000"/>
              <a:buChar char="•"/>
            </a:pPr>
            <a:r>
              <a:rPr lang="en-US"/>
              <a:t>Configure mode</a:t>
            </a:r>
            <a:endParaRPr/>
          </a:p>
          <a:p>
            <a:pPr marL="342900" lvl="0" indent="-342900" algn="l" rtl="0">
              <a:spcBef>
                <a:spcPts val="448"/>
              </a:spcBef>
              <a:spcAft>
                <a:spcPts val="0"/>
              </a:spcAft>
              <a:buClr>
                <a:schemeClr val="dk1"/>
              </a:buClr>
              <a:buSzPct val="100000"/>
              <a:buNone/>
            </a:pPr>
            <a:r>
              <a:rPr lang="en-US"/>
              <a:t>          (config)#</a:t>
            </a:r>
            <a:endParaRPr/>
          </a:p>
          <a:p>
            <a:pPr marL="342900" lvl="0" indent="-342900" algn="l" rtl="0">
              <a:spcBef>
                <a:spcPts val="448"/>
              </a:spcBef>
              <a:spcAft>
                <a:spcPts val="0"/>
              </a:spcAft>
              <a:buClr>
                <a:schemeClr val="dk1"/>
              </a:buClr>
              <a:buSzPct val="100000"/>
              <a:buNone/>
            </a:pPr>
            <a:endParaRPr/>
          </a:p>
          <a:p>
            <a:pPr marL="342900" lvl="0" indent="-342900" algn="l" rtl="0">
              <a:spcBef>
                <a:spcPts val="448"/>
              </a:spcBef>
              <a:spcAft>
                <a:spcPts val="0"/>
              </a:spcAft>
              <a:buClr>
                <a:schemeClr val="dk1"/>
              </a:buClr>
              <a:buSzPct val="100000"/>
              <a:buNone/>
            </a:pPr>
            <a:r>
              <a:rPr lang="en-US"/>
              <a:t>Command:</a:t>
            </a:r>
            <a:endParaRPr/>
          </a:p>
          <a:p>
            <a:pPr marL="342900" lvl="0" indent="-342900" algn="l" rtl="0">
              <a:spcBef>
                <a:spcPts val="448"/>
              </a:spcBef>
              <a:spcAft>
                <a:spcPts val="0"/>
              </a:spcAft>
              <a:buClr>
                <a:schemeClr val="dk1"/>
              </a:buClr>
              <a:buSzPct val="100000"/>
              <a:buNone/>
            </a:pPr>
            <a:r>
              <a:rPr lang="en-US"/>
              <a:t>  Interface gigabitethernet 0/0/0</a:t>
            </a:r>
            <a:endParaRPr/>
          </a:p>
          <a:p>
            <a:pPr marL="342900" lvl="0" indent="-342900" algn="l" rtl="0">
              <a:spcBef>
                <a:spcPts val="448"/>
              </a:spcBef>
              <a:spcAft>
                <a:spcPts val="0"/>
              </a:spcAft>
              <a:buClr>
                <a:schemeClr val="dk1"/>
              </a:buClr>
              <a:buSzPct val="100000"/>
              <a:buNone/>
            </a:pPr>
            <a:r>
              <a:rPr lang="en-US"/>
              <a:t>  ip address 192.168.1.1  255.255.255.0</a:t>
            </a:r>
            <a:endParaRPr/>
          </a:p>
          <a:p>
            <a:pPr marL="342900" lvl="0" indent="-342900" algn="l" rtl="0">
              <a:spcBef>
                <a:spcPts val="448"/>
              </a:spcBef>
              <a:spcAft>
                <a:spcPts val="0"/>
              </a:spcAft>
              <a:buClr>
                <a:schemeClr val="dk1"/>
              </a:buClr>
              <a:buSzPct val="100000"/>
              <a:buNone/>
            </a:pPr>
            <a:r>
              <a:rPr lang="en-US"/>
              <a:t>  No shutdown</a:t>
            </a:r>
            <a:endParaRPr/>
          </a:p>
          <a:p>
            <a:pPr marL="342900" lvl="0" indent="-342900" algn="l" rtl="0">
              <a:spcBef>
                <a:spcPts val="448"/>
              </a:spcBef>
              <a:spcAft>
                <a:spcPts val="0"/>
              </a:spcAft>
              <a:buClr>
                <a:schemeClr val="dk1"/>
              </a:buClr>
              <a:buSzPct val="100000"/>
              <a:buNone/>
            </a:pPr>
            <a:r>
              <a:rPr lang="en-US"/>
              <a:t>  exit</a:t>
            </a:r>
            <a:endParaRPr/>
          </a:p>
        </p:txBody>
      </p:sp>
      <p:sp>
        <p:nvSpPr>
          <p:cNvPr id="371" name="Google Shape;371;p43"/>
          <p:cNvSpPr/>
          <p:nvPr/>
        </p:nvSpPr>
        <p:spPr>
          <a:xfrm>
            <a:off x="6248400" y="14478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2" name="Google Shape;372;p43"/>
          <p:cNvSpPr/>
          <p:nvPr/>
        </p:nvSpPr>
        <p:spPr>
          <a:xfrm>
            <a:off x="6096000" y="28194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3" name="Google Shape;373;p43"/>
          <p:cNvSpPr/>
          <p:nvPr/>
        </p:nvSpPr>
        <p:spPr>
          <a:xfrm>
            <a:off x="5791200" y="41148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4" name="Google Shape;374;p43"/>
          <p:cNvSpPr/>
          <p:nvPr/>
        </p:nvSpPr>
        <p:spPr>
          <a:xfrm>
            <a:off x="7162800" y="41910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375" name="Google Shape;375;p43"/>
          <p:cNvCxnSpPr>
            <a:stCxn id="371" idx="4"/>
            <a:endCxn id="372" idx="0"/>
          </p:cNvCxnSpPr>
          <p:nvPr/>
        </p:nvCxnSpPr>
        <p:spPr>
          <a:xfrm flipH="1">
            <a:off x="6553200" y="2057400"/>
            <a:ext cx="38100" cy="762000"/>
          </a:xfrm>
          <a:prstGeom prst="straightConnector1">
            <a:avLst/>
          </a:prstGeom>
          <a:noFill/>
          <a:ln w="9525" cap="flat" cmpd="sng">
            <a:solidFill>
              <a:srgbClr val="4A7DBA"/>
            </a:solidFill>
            <a:prstDash val="solid"/>
            <a:round/>
            <a:headEnd type="none" w="sm" len="sm"/>
            <a:tailEnd type="none" w="sm" len="sm"/>
          </a:ln>
        </p:spPr>
      </p:cxnSp>
      <p:cxnSp>
        <p:nvCxnSpPr>
          <p:cNvPr id="376" name="Google Shape;376;p43"/>
          <p:cNvCxnSpPr>
            <a:stCxn id="372" idx="2"/>
            <a:endCxn id="373" idx="0"/>
          </p:cNvCxnSpPr>
          <p:nvPr/>
        </p:nvCxnSpPr>
        <p:spPr>
          <a:xfrm flipH="1">
            <a:off x="6057900" y="3124200"/>
            <a:ext cx="495300" cy="990600"/>
          </a:xfrm>
          <a:prstGeom prst="straightConnector1">
            <a:avLst/>
          </a:prstGeom>
          <a:noFill/>
          <a:ln w="9525" cap="flat" cmpd="sng">
            <a:solidFill>
              <a:srgbClr val="4A7DBA"/>
            </a:solidFill>
            <a:prstDash val="solid"/>
            <a:round/>
            <a:headEnd type="none" w="sm" len="sm"/>
            <a:tailEnd type="none" w="sm" len="sm"/>
          </a:ln>
        </p:spPr>
      </p:cxnSp>
      <p:cxnSp>
        <p:nvCxnSpPr>
          <p:cNvPr id="377" name="Google Shape;377;p43"/>
          <p:cNvCxnSpPr>
            <a:stCxn id="372" idx="2"/>
            <a:endCxn id="374" idx="0"/>
          </p:cNvCxnSpPr>
          <p:nvPr/>
        </p:nvCxnSpPr>
        <p:spPr>
          <a:xfrm>
            <a:off x="6553200" y="3124200"/>
            <a:ext cx="876300" cy="10668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ROUTING</a:t>
            </a:r>
            <a:endParaRPr/>
          </a:p>
        </p:txBody>
      </p:sp>
      <p:sp>
        <p:nvSpPr>
          <p:cNvPr id="516" name="Google Shape;516;p6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Routing is a process that is performed by layer 3 (or network layer) devices in order to deliver the packet by choosing an optimal path from one network to another. </a:t>
            </a:r>
            <a:endParaRPr/>
          </a:p>
          <a:p>
            <a:pPr marL="342900" lvl="0" indent="-342900" algn="l" rtl="0">
              <a:spcBef>
                <a:spcPts val="640"/>
              </a:spcBef>
              <a:spcAft>
                <a:spcPts val="0"/>
              </a:spcAft>
              <a:buClr>
                <a:schemeClr val="dk1"/>
              </a:buClr>
              <a:buSzPts val="3200"/>
              <a:buNone/>
            </a:pPr>
            <a:r>
              <a:rPr lang="en-US"/>
              <a:t>TYPES OF ROUTING:</a:t>
            </a:r>
            <a:endParaRPr/>
          </a:p>
          <a:p>
            <a:pPr marL="342900" lvl="0" indent="-342900" algn="l" rtl="0">
              <a:spcBef>
                <a:spcPts val="640"/>
              </a:spcBef>
              <a:spcAft>
                <a:spcPts val="0"/>
              </a:spcAft>
              <a:buClr>
                <a:schemeClr val="dk1"/>
              </a:buClr>
              <a:buSzPts val="3200"/>
              <a:buNone/>
            </a:pPr>
            <a:r>
              <a:rPr lang="en-US"/>
              <a:t>       1.Static routing</a:t>
            </a:r>
            <a:endParaRPr/>
          </a:p>
          <a:p>
            <a:pPr marL="342900" lvl="0" indent="-342900" algn="l" rtl="0">
              <a:spcBef>
                <a:spcPts val="640"/>
              </a:spcBef>
              <a:spcAft>
                <a:spcPts val="0"/>
              </a:spcAft>
              <a:buClr>
                <a:schemeClr val="dk1"/>
              </a:buClr>
              <a:buSzPts val="3200"/>
              <a:buNone/>
            </a:pPr>
            <a:r>
              <a:rPr lang="en-US"/>
              <a:t>       2.Dynamic routing</a:t>
            </a:r>
            <a:endParaRPr/>
          </a:p>
          <a:p>
            <a:pPr marL="342900" lvl="0" indent="-342900" algn="l" rtl="0">
              <a:spcBef>
                <a:spcPts val="640"/>
              </a:spcBef>
              <a:spcAft>
                <a:spcPts val="0"/>
              </a:spcAft>
              <a:buClr>
                <a:schemeClr val="dk1"/>
              </a:buClr>
              <a:buSzPts val="3200"/>
              <a:buNone/>
            </a:pPr>
            <a:r>
              <a:rPr lang="en-US"/>
              <a:t>       3.Default routing</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STATIC ROUTING</a:t>
            </a:r>
            <a:endParaRPr/>
          </a:p>
        </p:txBody>
      </p:sp>
      <p:sp>
        <p:nvSpPr>
          <p:cNvPr id="522" name="Google Shape;522;p6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a:t>PROGRAM</a:t>
            </a:r>
            <a:endParaRPr/>
          </a:p>
          <a:p>
            <a:pPr marL="342900" lvl="0" indent="-342900" algn="l" rtl="0">
              <a:spcBef>
                <a:spcPts val="448"/>
              </a:spcBef>
              <a:spcAft>
                <a:spcPts val="0"/>
              </a:spcAft>
              <a:buClr>
                <a:schemeClr val="dk1"/>
              </a:buClr>
              <a:buSzPct val="100000"/>
              <a:buNone/>
            </a:pPr>
            <a:r>
              <a:rPr lang="en-US"/>
              <a:t>&gt;ena</a:t>
            </a:r>
            <a:endParaRPr/>
          </a:p>
          <a:p>
            <a:pPr marL="342900" lvl="0" indent="-342900" algn="l" rtl="0">
              <a:spcBef>
                <a:spcPts val="448"/>
              </a:spcBef>
              <a:spcAft>
                <a:spcPts val="0"/>
              </a:spcAft>
              <a:buClr>
                <a:schemeClr val="dk1"/>
              </a:buClr>
              <a:buSzPct val="100000"/>
              <a:buNone/>
            </a:pPr>
            <a:r>
              <a:rPr lang="en-US"/>
              <a:t>#config t</a:t>
            </a:r>
            <a:endParaRPr/>
          </a:p>
          <a:p>
            <a:pPr marL="342900" lvl="0" indent="-342900" algn="l" rtl="0">
              <a:spcBef>
                <a:spcPts val="448"/>
              </a:spcBef>
              <a:spcAft>
                <a:spcPts val="0"/>
              </a:spcAft>
              <a:buClr>
                <a:schemeClr val="dk1"/>
              </a:buClr>
              <a:buSzPct val="100000"/>
              <a:buNone/>
            </a:pPr>
            <a:r>
              <a:rPr lang="en-US"/>
              <a:t># interface gig0/0/0</a:t>
            </a:r>
            <a:endParaRPr/>
          </a:p>
          <a:p>
            <a:pPr marL="342900" lvl="0" indent="-342900" algn="l" rtl="0">
              <a:spcBef>
                <a:spcPts val="448"/>
              </a:spcBef>
              <a:spcAft>
                <a:spcPts val="0"/>
              </a:spcAft>
              <a:buClr>
                <a:schemeClr val="dk1"/>
              </a:buClr>
              <a:buSzPct val="100000"/>
              <a:buNone/>
            </a:pPr>
            <a:r>
              <a:rPr lang="en-US"/>
              <a:t>#ip address 192.168.1.1 255.255.255.0</a:t>
            </a:r>
            <a:endParaRPr/>
          </a:p>
          <a:p>
            <a:pPr marL="342900" lvl="0" indent="-342900" algn="l" rtl="0">
              <a:spcBef>
                <a:spcPts val="448"/>
              </a:spcBef>
              <a:spcAft>
                <a:spcPts val="0"/>
              </a:spcAft>
              <a:buClr>
                <a:schemeClr val="dk1"/>
              </a:buClr>
              <a:buSzPct val="100000"/>
              <a:buNone/>
            </a:pPr>
            <a:r>
              <a:rPr lang="en-US"/>
              <a:t>#no shutdown</a:t>
            </a:r>
            <a:endParaRPr/>
          </a:p>
          <a:p>
            <a:pPr marL="342900" lvl="0" indent="-342900" algn="l" rtl="0">
              <a:spcBef>
                <a:spcPts val="448"/>
              </a:spcBef>
              <a:spcAft>
                <a:spcPts val="0"/>
              </a:spcAft>
              <a:buClr>
                <a:schemeClr val="dk1"/>
              </a:buClr>
              <a:buSzPct val="100000"/>
              <a:buNone/>
            </a:pPr>
            <a:r>
              <a:rPr lang="en-US"/>
              <a:t>#exit</a:t>
            </a:r>
            <a:endParaRPr/>
          </a:p>
          <a:p>
            <a:pPr marL="342900" lvl="0" indent="-342900" algn="l" rtl="0">
              <a:spcBef>
                <a:spcPts val="448"/>
              </a:spcBef>
              <a:spcAft>
                <a:spcPts val="0"/>
              </a:spcAft>
              <a:buClr>
                <a:schemeClr val="dk1"/>
              </a:buClr>
              <a:buSzPct val="100000"/>
              <a:buNone/>
            </a:pPr>
            <a:r>
              <a:rPr lang="en-US"/>
              <a:t>R2</a:t>
            </a:r>
            <a:endParaRPr/>
          </a:p>
          <a:p>
            <a:pPr marL="342900" lvl="0" indent="-342900" algn="l" rtl="0">
              <a:spcBef>
                <a:spcPts val="448"/>
              </a:spcBef>
              <a:spcAft>
                <a:spcPts val="0"/>
              </a:spcAft>
              <a:buClr>
                <a:schemeClr val="dk1"/>
              </a:buClr>
              <a:buSzPct val="100000"/>
              <a:buNone/>
            </a:pPr>
            <a:r>
              <a:rPr lang="en-US"/>
              <a:t>&gt;ena</a:t>
            </a:r>
            <a:endParaRPr/>
          </a:p>
          <a:p>
            <a:pPr marL="342900" lvl="0" indent="-342900" algn="l" rtl="0">
              <a:spcBef>
                <a:spcPts val="448"/>
              </a:spcBef>
              <a:spcAft>
                <a:spcPts val="0"/>
              </a:spcAft>
              <a:buClr>
                <a:schemeClr val="dk1"/>
              </a:buClr>
              <a:buSzPct val="100000"/>
              <a:buNone/>
            </a:pPr>
            <a:r>
              <a:rPr lang="en-US"/>
              <a:t>#config t</a:t>
            </a:r>
            <a:endParaRPr/>
          </a:p>
          <a:p>
            <a:pPr marL="342900" lvl="0" indent="-342900" algn="l" rtl="0">
              <a:spcBef>
                <a:spcPts val="448"/>
              </a:spcBef>
              <a:spcAft>
                <a:spcPts val="0"/>
              </a:spcAft>
              <a:buClr>
                <a:schemeClr val="dk1"/>
              </a:buClr>
              <a:buSzPct val="100000"/>
              <a:buNone/>
            </a:pPr>
            <a:r>
              <a:rPr lang="en-US"/>
              <a:t>#interface gig0/0/0</a:t>
            </a:r>
            <a:endParaRPr/>
          </a:p>
          <a:p>
            <a:pPr marL="342900" lvl="0" indent="-342900" algn="l" rtl="0">
              <a:spcBef>
                <a:spcPts val="448"/>
              </a:spcBef>
              <a:spcAft>
                <a:spcPts val="0"/>
              </a:spcAft>
              <a:buClr>
                <a:schemeClr val="dk1"/>
              </a:buClr>
              <a:buSzPct val="100000"/>
              <a:buNone/>
            </a:pPr>
            <a:r>
              <a:rPr lang="en-US"/>
              <a:t>#ip address 192.168.2.1 255.255.255.0</a:t>
            </a:r>
            <a:endParaRPr/>
          </a:p>
          <a:p>
            <a:pPr marL="342900" lvl="0" indent="-342900" algn="l" rtl="0">
              <a:spcBef>
                <a:spcPts val="448"/>
              </a:spcBef>
              <a:spcAft>
                <a:spcPts val="0"/>
              </a:spcAft>
              <a:buClr>
                <a:schemeClr val="dk1"/>
              </a:buClr>
              <a:buSzPct val="100000"/>
              <a:buNone/>
            </a:pPr>
            <a:r>
              <a:rPr lang="en-US"/>
              <a:t>#no shutdown</a:t>
            </a:r>
            <a:endParaRPr/>
          </a:p>
          <a:p>
            <a:pPr marL="342900" lvl="0" indent="-200660" algn="l" rtl="0">
              <a:spcBef>
                <a:spcPts val="448"/>
              </a:spcBef>
              <a:spcAft>
                <a:spcPts val="0"/>
              </a:spcAft>
              <a:buClr>
                <a:schemeClr val="dk1"/>
              </a:buClr>
              <a:buSzPct val="100000"/>
              <a:buNone/>
            </a:pPr>
            <a:endParaRPr/>
          </a:p>
        </p:txBody>
      </p:sp>
      <p:sp>
        <p:nvSpPr>
          <p:cNvPr id="523" name="Google Shape;523;p68"/>
          <p:cNvSpPr/>
          <p:nvPr/>
        </p:nvSpPr>
        <p:spPr>
          <a:xfrm>
            <a:off x="5638800" y="1600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4" name="Google Shape;524;p68"/>
          <p:cNvSpPr/>
          <p:nvPr/>
        </p:nvSpPr>
        <p:spPr>
          <a:xfrm>
            <a:off x="5486400" y="28194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5" name="Google Shape;525;p68"/>
          <p:cNvSpPr/>
          <p:nvPr/>
        </p:nvSpPr>
        <p:spPr>
          <a:xfrm>
            <a:off x="5219700" y="37719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6" name="Google Shape;526;p68"/>
          <p:cNvSpPr/>
          <p:nvPr/>
        </p:nvSpPr>
        <p:spPr>
          <a:xfrm>
            <a:off x="6400800" y="38100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7" name="Google Shape;527;p68"/>
          <p:cNvSpPr/>
          <p:nvPr/>
        </p:nvSpPr>
        <p:spPr>
          <a:xfrm>
            <a:off x="7620000" y="15240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8" name="Google Shape;528;p68"/>
          <p:cNvSpPr/>
          <p:nvPr/>
        </p:nvSpPr>
        <p:spPr>
          <a:xfrm>
            <a:off x="7467600" y="27432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9" name="Google Shape;529;p68"/>
          <p:cNvSpPr/>
          <p:nvPr/>
        </p:nvSpPr>
        <p:spPr>
          <a:xfrm>
            <a:off x="7239000" y="37338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0" name="Google Shape;530;p68"/>
          <p:cNvSpPr/>
          <p:nvPr/>
        </p:nvSpPr>
        <p:spPr>
          <a:xfrm>
            <a:off x="8382000" y="37338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531" name="Google Shape;531;p68"/>
          <p:cNvCxnSpPr>
            <a:stCxn id="523" idx="6"/>
          </p:cNvCxnSpPr>
          <p:nvPr/>
        </p:nvCxnSpPr>
        <p:spPr>
          <a:xfrm>
            <a:off x="6324600" y="1905000"/>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532" name="Google Shape;532;p68"/>
          <p:cNvCxnSpPr>
            <a:stCxn id="523" idx="4"/>
            <a:endCxn id="524" idx="0"/>
          </p:cNvCxnSpPr>
          <p:nvPr/>
        </p:nvCxnSpPr>
        <p:spPr>
          <a:xfrm flipH="1">
            <a:off x="5943600" y="22098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533" name="Google Shape;533;p68"/>
          <p:cNvCxnSpPr>
            <a:stCxn id="527" idx="4"/>
            <a:endCxn id="528" idx="0"/>
          </p:cNvCxnSpPr>
          <p:nvPr/>
        </p:nvCxnSpPr>
        <p:spPr>
          <a:xfrm flipH="1">
            <a:off x="7924800" y="21336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534" name="Google Shape;534;p68"/>
          <p:cNvCxnSpPr>
            <a:stCxn id="524" idx="2"/>
            <a:endCxn id="525" idx="0"/>
          </p:cNvCxnSpPr>
          <p:nvPr/>
        </p:nvCxnSpPr>
        <p:spPr>
          <a:xfrm flipH="1">
            <a:off x="5486400" y="3124200"/>
            <a:ext cx="457200" cy="647700"/>
          </a:xfrm>
          <a:prstGeom prst="straightConnector1">
            <a:avLst/>
          </a:prstGeom>
          <a:noFill/>
          <a:ln w="9525" cap="flat" cmpd="sng">
            <a:solidFill>
              <a:srgbClr val="4A7DBA"/>
            </a:solidFill>
            <a:prstDash val="solid"/>
            <a:round/>
            <a:headEnd type="none" w="sm" len="sm"/>
            <a:tailEnd type="none" w="sm" len="sm"/>
          </a:ln>
        </p:spPr>
      </p:cxnSp>
      <p:cxnSp>
        <p:nvCxnSpPr>
          <p:cNvPr id="535" name="Google Shape;535;p68"/>
          <p:cNvCxnSpPr>
            <a:stCxn id="524" idx="2"/>
            <a:endCxn id="526" idx="0"/>
          </p:cNvCxnSpPr>
          <p:nvPr/>
        </p:nvCxnSpPr>
        <p:spPr>
          <a:xfrm>
            <a:off x="5943600" y="3124200"/>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536" name="Google Shape;536;p68"/>
          <p:cNvCxnSpPr>
            <a:stCxn id="528" idx="2"/>
            <a:endCxn id="529" idx="0"/>
          </p:cNvCxnSpPr>
          <p:nvPr/>
        </p:nvCxnSpPr>
        <p:spPr>
          <a:xfrm flipH="1">
            <a:off x="7505700" y="30480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537" name="Google Shape;537;p68"/>
          <p:cNvCxnSpPr>
            <a:stCxn id="528" idx="2"/>
            <a:endCxn id="530" idx="0"/>
          </p:cNvCxnSpPr>
          <p:nvPr/>
        </p:nvCxnSpPr>
        <p:spPr>
          <a:xfrm>
            <a:off x="7924800" y="3048000"/>
            <a:ext cx="723900" cy="6858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69"/>
          <p:cNvSpPr txBox="1">
            <a:spLocks noGrp="1"/>
          </p:cNvSpPr>
          <p:nvPr>
            <p:ph type="body" idx="1"/>
          </p:nvPr>
        </p:nvSpPr>
        <p:spPr>
          <a:xfrm>
            <a:off x="457200" y="838200"/>
            <a:ext cx="8229600" cy="5287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None/>
            </a:pPr>
            <a:r>
              <a:rPr lang="en-US"/>
              <a:t>R1</a:t>
            </a:r>
            <a:endParaRPr/>
          </a:p>
          <a:p>
            <a:pPr marL="342900" lvl="0" indent="-342900" algn="l" rtl="0">
              <a:spcBef>
                <a:spcPts val="544"/>
              </a:spcBef>
              <a:spcAft>
                <a:spcPts val="0"/>
              </a:spcAft>
              <a:buClr>
                <a:schemeClr val="dk1"/>
              </a:buClr>
              <a:buSzPct val="100000"/>
              <a:buNone/>
            </a:pPr>
            <a:r>
              <a:rPr lang="en-US"/>
              <a:t>#interface se0/2/0</a:t>
            </a:r>
            <a:endParaRPr/>
          </a:p>
          <a:p>
            <a:pPr marL="342900" lvl="0" indent="-342900" algn="l" rtl="0">
              <a:spcBef>
                <a:spcPts val="544"/>
              </a:spcBef>
              <a:spcAft>
                <a:spcPts val="0"/>
              </a:spcAft>
              <a:buClr>
                <a:schemeClr val="dk1"/>
              </a:buClr>
              <a:buSzPct val="100000"/>
              <a:buNone/>
            </a:pPr>
            <a:r>
              <a:rPr lang="en-US"/>
              <a:t>#ip address 10.0.0.1 255.0.0.0</a:t>
            </a:r>
            <a:endParaRPr/>
          </a:p>
          <a:p>
            <a:pPr marL="342900" lvl="0" indent="-342900" algn="l" rtl="0">
              <a:spcBef>
                <a:spcPts val="544"/>
              </a:spcBef>
              <a:spcAft>
                <a:spcPts val="0"/>
              </a:spcAft>
              <a:buClr>
                <a:schemeClr val="dk1"/>
              </a:buClr>
              <a:buSzPct val="100000"/>
              <a:buNone/>
            </a:pPr>
            <a:r>
              <a:rPr lang="en-US"/>
              <a:t>#no shutdown</a:t>
            </a:r>
            <a:endParaRPr/>
          </a:p>
          <a:p>
            <a:pPr marL="342900" lvl="0" indent="-342900" algn="l" rtl="0">
              <a:spcBef>
                <a:spcPts val="544"/>
              </a:spcBef>
              <a:spcAft>
                <a:spcPts val="0"/>
              </a:spcAft>
              <a:buClr>
                <a:schemeClr val="dk1"/>
              </a:buClr>
              <a:buSzPct val="100000"/>
              <a:buNone/>
            </a:pPr>
            <a:r>
              <a:rPr lang="en-US"/>
              <a:t>R2</a:t>
            </a:r>
            <a:endParaRPr/>
          </a:p>
          <a:p>
            <a:pPr marL="342900" lvl="0" indent="-342900" algn="l" rtl="0">
              <a:spcBef>
                <a:spcPts val="544"/>
              </a:spcBef>
              <a:spcAft>
                <a:spcPts val="0"/>
              </a:spcAft>
              <a:buClr>
                <a:schemeClr val="dk1"/>
              </a:buClr>
              <a:buSzPct val="100000"/>
              <a:buNone/>
            </a:pPr>
            <a:r>
              <a:rPr lang="en-US"/>
              <a:t>#interface se0/2/0</a:t>
            </a:r>
            <a:endParaRPr/>
          </a:p>
          <a:p>
            <a:pPr marL="342900" lvl="0" indent="-342900" algn="l" rtl="0">
              <a:spcBef>
                <a:spcPts val="544"/>
              </a:spcBef>
              <a:spcAft>
                <a:spcPts val="0"/>
              </a:spcAft>
              <a:buClr>
                <a:schemeClr val="dk1"/>
              </a:buClr>
              <a:buSzPct val="100000"/>
              <a:buNone/>
            </a:pPr>
            <a:r>
              <a:rPr lang="en-US"/>
              <a:t>#ip address 10.0.0.2 255.0.0.0</a:t>
            </a:r>
            <a:endParaRPr/>
          </a:p>
          <a:p>
            <a:pPr marL="342900" lvl="0" indent="-342900" algn="l" rtl="0">
              <a:spcBef>
                <a:spcPts val="544"/>
              </a:spcBef>
              <a:spcAft>
                <a:spcPts val="0"/>
              </a:spcAft>
              <a:buClr>
                <a:schemeClr val="dk1"/>
              </a:buClr>
              <a:buSzPct val="100000"/>
              <a:buNone/>
            </a:pPr>
            <a:r>
              <a:rPr lang="en-US"/>
              <a:t>#no shutdown</a:t>
            </a:r>
            <a:endParaRPr/>
          </a:p>
          <a:p>
            <a:pPr marL="342900" lvl="0" indent="-342900" algn="l" rtl="0">
              <a:spcBef>
                <a:spcPts val="544"/>
              </a:spcBef>
              <a:spcAft>
                <a:spcPts val="0"/>
              </a:spcAft>
              <a:buClr>
                <a:schemeClr val="dk1"/>
              </a:buClr>
              <a:buSzPct val="100000"/>
              <a:buNone/>
            </a:pPr>
            <a:r>
              <a:rPr lang="en-US"/>
              <a:t>R1</a:t>
            </a:r>
            <a:endParaRPr/>
          </a:p>
          <a:p>
            <a:pPr marL="342900" lvl="0" indent="-342900" algn="l" rtl="0">
              <a:spcBef>
                <a:spcPts val="544"/>
              </a:spcBef>
              <a:spcAft>
                <a:spcPts val="0"/>
              </a:spcAft>
              <a:buClr>
                <a:schemeClr val="dk1"/>
              </a:buClr>
              <a:buSzPct val="100000"/>
              <a:buNone/>
            </a:pPr>
            <a:r>
              <a:rPr lang="en-US"/>
              <a:t>Ip route 192.168.2.0 255.255.255.0 10.0.0.2</a:t>
            </a:r>
            <a:endParaRPr/>
          </a:p>
          <a:p>
            <a:pPr marL="342900" lvl="0" indent="-342900" algn="l" rtl="0">
              <a:spcBef>
                <a:spcPts val="544"/>
              </a:spcBef>
              <a:spcAft>
                <a:spcPts val="0"/>
              </a:spcAft>
              <a:buClr>
                <a:schemeClr val="dk1"/>
              </a:buClr>
              <a:buSzPct val="100000"/>
              <a:buNone/>
            </a:pPr>
            <a:r>
              <a:rPr lang="en-US"/>
              <a:t>R2</a:t>
            </a:r>
            <a:endParaRPr/>
          </a:p>
          <a:p>
            <a:pPr marL="342900" lvl="0" indent="-342900" algn="l" rtl="0">
              <a:spcBef>
                <a:spcPts val="544"/>
              </a:spcBef>
              <a:spcAft>
                <a:spcPts val="0"/>
              </a:spcAft>
              <a:buClr>
                <a:schemeClr val="dk1"/>
              </a:buClr>
              <a:buSzPct val="100000"/>
              <a:buNone/>
            </a:pPr>
            <a:r>
              <a:rPr lang="en-US"/>
              <a:t>Ip route 192.168.1.0 255.255.255.0 10.0.0.1</a:t>
            </a:r>
            <a:endParaRPr/>
          </a:p>
          <a:p>
            <a:pPr marL="342900" lvl="0" indent="-342900" algn="l" rtl="0">
              <a:spcBef>
                <a:spcPts val="544"/>
              </a:spcBef>
              <a:spcAft>
                <a:spcPts val="0"/>
              </a:spcAft>
              <a:buClr>
                <a:schemeClr val="dk1"/>
              </a:buClr>
              <a:buSzPct val="100000"/>
              <a:buNone/>
            </a:pPr>
            <a:endParaRPr/>
          </a:p>
          <a:p>
            <a:pPr marL="342900" lvl="0" indent="-342900" algn="l" rtl="0">
              <a:spcBef>
                <a:spcPts val="544"/>
              </a:spcBef>
              <a:spcAft>
                <a:spcPts val="0"/>
              </a:spcAft>
              <a:buClr>
                <a:schemeClr val="dk1"/>
              </a:buClr>
              <a:buSzPct val="100000"/>
              <a:buNone/>
            </a:pPr>
            <a:endParaRPr/>
          </a:p>
          <a:p>
            <a:pPr marL="342900" lvl="0" indent="-170180" algn="l" rtl="0">
              <a:spcBef>
                <a:spcPts val="544"/>
              </a:spcBef>
              <a:spcAft>
                <a:spcPts val="0"/>
              </a:spcAft>
              <a:buClr>
                <a:schemeClr val="dk1"/>
              </a:buClr>
              <a:buSzPct val="100000"/>
              <a:buNone/>
            </a:pP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70"/>
          <p:cNvSpPr txBox="1">
            <a:spLocks noGrp="1"/>
          </p:cNvSpPr>
          <p:nvPr>
            <p:ph type="title"/>
          </p:nvPr>
        </p:nvSpPr>
        <p:spPr>
          <a:xfrm>
            <a:off x="457200" y="2104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DYNAMIC ROUTING</a:t>
            </a:r>
            <a:endParaRPr dirty="0"/>
          </a:p>
        </p:txBody>
      </p:sp>
      <p:sp>
        <p:nvSpPr>
          <p:cNvPr id="548" name="Google Shape;548;p70"/>
          <p:cNvSpPr txBox="1">
            <a:spLocks noGrp="1"/>
          </p:cNvSpPr>
          <p:nvPr>
            <p:ph type="body" idx="1"/>
          </p:nvPr>
        </p:nvSpPr>
        <p:spPr>
          <a:xfrm>
            <a:off x="313899" y="1296538"/>
            <a:ext cx="8516202" cy="5349922"/>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Char char="•"/>
            </a:pPr>
            <a:r>
              <a:rPr lang="en-US" dirty="0"/>
              <a:t>Dynamic routing makes automatic adjustments of the routes according to the current state of the route in the routing table</a:t>
            </a:r>
            <a:r>
              <a:rPr lang="en-US" dirty="0" smtClean="0"/>
              <a:t>. But cannot communicate between router</a:t>
            </a:r>
            <a:endParaRPr dirty="0"/>
          </a:p>
          <a:p>
            <a:pPr marL="342900" lvl="0" indent="-231140" algn="l" rtl="0">
              <a:spcBef>
                <a:spcPts val="352"/>
              </a:spcBef>
              <a:spcAft>
                <a:spcPts val="0"/>
              </a:spcAft>
              <a:buClr>
                <a:schemeClr val="dk1"/>
              </a:buClr>
              <a:buSzPct val="100000"/>
              <a:buNone/>
            </a:pPr>
            <a:endParaRPr dirty="0"/>
          </a:p>
          <a:p>
            <a:pPr marL="342900" lvl="0" indent="-342900" algn="l" rtl="0">
              <a:spcBef>
                <a:spcPts val="352"/>
              </a:spcBef>
              <a:spcAft>
                <a:spcPts val="0"/>
              </a:spcAft>
              <a:buClr>
                <a:schemeClr val="dk1"/>
              </a:buClr>
              <a:buSzPct val="100000"/>
              <a:buChar char="•"/>
            </a:pPr>
            <a:r>
              <a:rPr lang="en-US" dirty="0"/>
              <a:t>PROGRAM</a:t>
            </a:r>
            <a:endParaRPr dirty="0"/>
          </a:p>
          <a:p>
            <a:pPr marL="342900" lvl="0" indent="-342900" algn="l" rtl="0">
              <a:spcBef>
                <a:spcPts val="352"/>
              </a:spcBef>
              <a:spcAft>
                <a:spcPts val="0"/>
              </a:spcAft>
              <a:buClr>
                <a:schemeClr val="dk1"/>
              </a:buClr>
              <a:buSzPct val="100000"/>
              <a:buNone/>
            </a:pPr>
            <a:r>
              <a:rPr lang="en-US" dirty="0"/>
              <a:t>&gt;</a:t>
            </a:r>
            <a:r>
              <a:rPr lang="en-US" dirty="0" err="1"/>
              <a:t>ena</a:t>
            </a:r>
            <a:endParaRPr dirty="0"/>
          </a:p>
          <a:p>
            <a:pPr marL="342900" lvl="0" indent="-342900" algn="l" rtl="0">
              <a:spcBef>
                <a:spcPts val="352"/>
              </a:spcBef>
              <a:spcAft>
                <a:spcPts val="0"/>
              </a:spcAft>
              <a:buClr>
                <a:schemeClr val="dk1"/>
              </a:buClr>
              <a:buSzPct val="100000"/>
              <a:buNone/>
            </a:pPr>
            <a:r>
              <a:rPr lang="en-US" dirty="0"/>
              <a:t>#</a:t>
            </a:r>
            <a:r>
              <a:rPr lang="en-US" dirty="0" err="1"/>
              <a:t>config</a:t>
            </a:r>
            <a:r>
              <a:rPr lang="en-US" dirty="0"/>
              <a:t> t</a:t>
            </a:r>
            <a:endParaRPr dirty="0"/>
          </a:p>
          <a:p>
            <a:pPr marL="342900" lvl="0" indent="-342900" algn="l" rtl="0">
              <a:spcBef>
                <a:spcPts val="352"/>
              </a:spcBef>
              <a:spcAft>
                <a:spcPts val="0"/>
              </a:spcAft>
              <a:buClr>
                <a:schemeClr val="dk1"/>
              </a:buClr>
              <a:buSzPct val="100000"/>
              <a:buNone/>
            </a:pPr>
            <a:r>
              <a:rPr lang="en-US" dirty="0"/>
              <a:t># interface gig0/0/0</a:t>
            </a:r>
            <a:endParaRPr dirty="0"/>
          </a:p>
          <a:p>
            <a:pPr marL="342900" lvl="0" indent="-342900" algn="l" rtl="0">
              <a:spcBef>
                <a:spcPts val="352"/>
              </a:spcBef>
              <a:spcAft>
                <a:spcPts val="0"/>
              </a:spcAft>
              <a:buClr>
                <a:schemeClr val="dk1"/>
              </a:buClr>
              <a:buSzPct val="100000"/>
              <a:buNone/>
            </a:pPr>
            <a:r>
              <a:rPr lang="en-US" dirty="0"/>
              <a:t>#</a:t>
            </a:r>
            <a:r>
              <a:rPr lang="en-US" dirty="0" err="1"/>
              <a:t>ip</a:t>
            </a:r>
            <a:r>
              <a:rPr lang="en-US" dirty="0"/>
              <a:t> address 192.168.1.1 255.255.255.0</a:t>
            </a:r>
            <a:endParaRPr dirty="0"/>
          </a:p>
          <a:p>
            <a:pPr marL="342900" lvl="0" indent="-342900" algn="l" rtl="0">
              <a:spcBef>
                <a:spcPts val="352"/>
              </a:spcBef>
              <a:spcAft>
                <a:spcPts val="0"/>
              </a:spcAft>
              <a:buClr>
                <a:schemeClr val="dk1"/>
              </a:buClr>
              <a:buSzPct val="100000"/>
              <a:buNone/>
            </a:pPr>
            <a:r>
              <a:rPr lang="en-US" dirty="0"/>
              <a:t>#no shutdown</a:t>
            </a:r>
            <a:endParaRPr dirty="0"/>
          </a:p>
          <a:p>
            <a:pPr marL="342900" lvl="0" indent="-342900" algn="l" rtl="0">
              <a:spcBef>
                <a:spcPts val="352"/>
              </a:spcBef>
              <a:spcAft>
                <a:spcPts val="0"/>
              </a:spcAft>
              <a:buClr>
                <a:schemeClr val="dk1"/>
              </a:buClr>
              <a:buSzPct val="100000"/>
              <a:buNone/>
            </a:pPr>
            <a:r>
              <a:rPr lang="en-US" dirty="0"/>
              <a:t>#exit</a:t>
            </a:r>
            <a:endParaRPr dirty="0"/>
          </a:p>
          <a:p>
            <a:pPr marL="342900" lvl="0" indent="-342900" algn="l" rtl="0">
              <a:spcBef>
                <a:spcPts val="352"/>
              </a:spcBef>
              <a:spcAft>
                <a:spcPts val="0"/>
              </a:spcAft>
              <a:buClr>
                <a:schemeClr val="dk1"/>
              </a:buClr>
              <a:buSzPct val="100000"/>
              <a:buNone/>
            </a:pPr>
            <a:r>
              <a:rPr lang="en-US" dirty="0"/>
              <a:t>R2</a:t>
            </a:r>
            <a:endParaRPr dirty="0"/>
          </a:p>
          <a:p>
            <a:pPr marL="342900" lvl="0" indent="-342900" algn="l" rtl="0">
              <a:spcBef>
                <a:spcPts val="352"/>
              </a:spcBef>
              <a:spcAft>
                <a:spcPts val="0"/>
              </a:spcAft>
              <a:buClr>
                <a:schemeClr val="dk1"/>
              </a:buClr>
              <a:buSzPct val="100000"/>
              <a:buNone/>
            </a:pPr>
            <a:r>
              <a:rPr lang="en-US" dirty="0"/>
              <a:t>&gt;</a:t>
            </a:r>
            <a:r>
              <a:rPr lang="en-US" dirty="0" err="1"/>
              <a:t>ena</a:t>
            </a:r>
            <a:endParaRPr dirty="0"/>
          </a:p>
          <a:p>
            <a:pPr marL="342900" lvl="0" indent="-342900" algn="l" rtl="0">
              <a:spcBef>
                <a:spcPts val="352"/>
              </a:spcBef>
              <a:spcAft>
                <a:spcPts val="0"/>
              </a:spcAft>
              <a:buClr>
                <a:schemeClr val="dk1"/>
              </a:buClr>
              <a:buSzPct val="100000"/>
              <a:buNone/>
            </a:pPr>
            <a:r>
              <a:rPr lang="en-US" dirty="0"/>
              <a:t>#</a:t>
            </a:r>
            <a:r>
              <a:rPr lang="en-US" dirty="0" err="1"/>
              <a:t>config</a:t>
            </a:r>
            <a:r>
              <a:rPr lang="en-US" dirty="0"/>
              <a:t> t</a:t>
            </a:r>
            <a:endParaRPr dirty="0"/>
          </a:p>
          <a:p>
            <a:pPr marL="342900" lvl="0" indent="-342900" algn="l" rtl="0">
              <a:spcBef>
                <a:spcPts val="352"/>
              </a:spcBef>
              <a:spcAft>
                <a:spcPts val="0"/>
              </a:spcAft>
              <a:buClr>
                <a:schemeClr val="dk1"/>
              </a:buClr>
              <a:buSzPct val="100000"/>
              <a:buNone/>
            </a:pPr>
            <a:r>
              <a:rPr lang="en-US" dirty="0"/>
              <a:t>#interface gig0/0/0</a:t>
            </a:r>
            <a:endParaRPr dirty="0"/>
          </a:p>
          <a:p>
            <a:pPr marL="342900" lvl="0" indent="-342900" algn="l" rtl="0">
              <a:spcBef>
                <a:spcPts val="352"/>
              </a:spcBef>
              <a:spcAft>
                <a:spcPts val="0"/>
              </a:spcAft>
              <a:buClr>
                <a:schemeClr val="dk1"/>
              </a:buClr>
              <a:buSzPct val="100000"/>
              <a:buNone/>
            </a:pPr>
            <a:r>
              <a:rPr lang="en-US" dirty="0"/>
              <a:t>#</a:t>
            </a:r>
            <a:r>
              <a:rPr lang="en-US" dirty="0" err="1"/>
              <a:t>ip</a:t>
            </a:r>
            <a:r>
              <a:rPr lang="en-US" dirty="0"/>
              <a:t> address 192.168.2.1 255.255.255.0</a:t>
            </a:r>
            <a:endParaRPr dirty="0"/>
          </a:p>
          <a:p>
            <a:pPr marL="342900" lvl="0" indent="-342900" algn="l" rtl="0">
              <a:spcBef>
                <a:spcPts val="352"/>
              </a:spcBef>
              <a:spcAft>
                <a:spcPts val="0"/>
              </a:spcAft>
              <a:buClr>
                <a:schemeClr val="dk1"/>
              </a:buClr>
              <a:buSzPct val="100000"/>
              <a:buNone/>
            </a:pPr>
            <a:r>
              <a:rPr lang="en-US" dirty="0"/>
              <a:t>#no shutdown</a:t>
            </a:r>
            <a:endParaRPr dirty="0"/>
          </a:p>
          <a:p>
            <a:pPr marL="342900" lvl="0" indent="-342900" algn="l" rtl="0">
              <a:spcBef>
                <a:spcPts val="352"/>
              </a:spcBef>
              <a:spcAft>
                <a:spcPts val="0"/>
              </a:spcAft>
              <a:buClr>
                <a:schemeClr val="dk1"/>
              </a:buClr>
              <a:buSzPct val="100000"/>
              <a:buNone/>
            </a:pPr>
            <a:endParaRPr dirty="0"/>
          </a:p>
        </p:txBody>
      </p:sp>
      <p:sp>
        <p:nvSpPr>
          <p:cNvPr id="549" name="Google Shape;549;p70"/>
          <p:cNvSpPr/>
          <p:nvPr/>
        </p:nvSpPr>
        <p:spPr>
          <a:xfrm>
            <a:off x="5410200" y="2362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0" name="Google Shape;550;p70"/>
          <p:cNvSpPr/>
          <p:nvPr/>
        </p:nvSpPr>
        <p:spPr>
          <a:xfrm>
            <a:off x="5257800" y="35814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1" name="Google Shape;551;p70"/>
          <p:cNvSpPr/>
          <p:nvPr/>
        </p:nvSpPr>
        <p:spPr>
          <a:xfrm>
            <a:off x="5029200" y="45720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2" name="Google Shape;552;p70"/>
          <p:cNvSpPr/>
          <p:nvPr/>
        </p:nvSpPr>
        <p:spPr>
          <a:xfrm>
            <a:off x="6172200" y="45720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3" name="Google Shape;553;p70"/>
          <p:cNvSpPr/>
          <p:nvPr/>
        </p:nvSpPr>
        <p:spPr>
          <a:xfrm>
            <a:off x="7391400" y="22860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4" name="Google Shape;554;p70"/>
          <p:cNvSpPr/>
          <p:nvPr/>
        </p:nvSpPr>
        <p:spPr>
          <a:xfrm>
            <a:off x="7239000" y="35052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p70"/>
          <p:cNvSpPr/>
          <p:nvPr/>
        </p:nvSpPr>
        <p:spPr>
          <a:xfrm>
            <a:off x="7010400" y="44958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6" name="Google Shape;556;p70"/>
          <p:cNvSpPr/>
          <p:nvPr/>
        </p:nvSpPr>
        <p:spPr>
          <a:xfrm>
            <a:off x="8153400" y="44958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557" name="Google Shape;557;p70"/>
          <p:cNvCxnSpPr>
            <a:stCxn id="549" idx="6"/>
          </p:cNvCxnSpPr>
          <p:nvPr/>
        </p:nvCxnSpPr>
        <p:spPr>
          <a:xfrm>
            <a:off x="6096000" y="2667000"/>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558" name="Google Shape;558;p70"/>
          <p:cNvCxnSpPr>
            <a:stCxn id="549" idx="4"/>
            <a:endCxn id="550" idx="0"/>
          </p:cNvCxnSpPr>
          <p:nvPr/>
        </p:nvCxnSpPr>
        <p:spPr>
          <a:xfrm flipH="1">
            <a:off x="5715000" y="29718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559" name="Google Shape;559;p70"/>
          <p:cNvCxnSpPr>
            <a:stCxn id="553" idx="4"/>
            <a:endCxn id="554" idx="0"/>
          </p:cNvCxnSpPr>
          <p:nvPr/>
        </p:nvCxnSpPr>
        <p:spPr>
          <a:xfrm flipH="1">
            <a:off x="7696200" y="28956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560" name="Google Shape;560;p70"/>
          <p:cNvCxnSpPr>
            <a:stCxn id="550" idx="2"/>
            <a:endCxn id="551" idx="0"/>
          </p:cNvCxnSpPr>
          <p:nvPr/>
        </p:nvCxnSpPr>
        <p:spPr>
          <a:xfrm flipH="1">
            <a:off x="5295900" y="38862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561" name="Google Shape;561;p70"/>
          <p:cNvCxnSpPr>
            <a:stCxn id="550" idx="2"/>
            <a:endCxn id="552" idx="0"/>
          </p:cNvCxnSpPr>
          <p:nvPr/>
        </p:nvCxnSpPr>
        <p:spPr>
          <a:xfrm>
            <a:off x="5715000" y="3886200"/>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562" name="Google Shape;562;p70"/>
          <p:cNvCxnSpPr>
            <a:stCxn id="554" idx="2"/>
            <a:endCxn id="555" idx="0"/>
          </p:cNvCxnSpPr>
          <p:nvPr/>
        </p:nvCxnSpPr>
        <p:spPr>
          <a:xfrm flipH="1">
            <a:off x="7277100" y="38100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563" name="Google Shape;563;p70"/>
          <p:cNvCxnSpPr>
            <a:stCxn id="554" idx="2"/>
            <a:endCxn id="556" idx="0"/>
          </p:cNvCxnSpPr>
          <p:nvPr/>
        </p:nvCxnSpPr>
        <p:spPr>
          <a:xfrm>
            <a:off x="7696200" y="3810000"/>
            <a:ext cx="723900" cy="6858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71"/>
          <p:cNvSpPr txBox="1">
            <a:spLocks noGrp="1"/>
          </p:cNvSpPr>
          <p:nvPr>
            <p:ph type="body" idx="1"/>
          </p:nvPr>
        </p:nvSpPr>
        <p:spPr>
          <a:xfrm>
            <a:off x="457200" y="0"/>
            <a:ext cx="8229600" cy="61261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None/>
            </a:pPr>
            <a:r>
              <a:rPr lang="en-US" dirty="0"/>
              <a:t>R1</a:t>
            </a:r>
            <a:endParaRPr dirty="0"/>
          </a:p>
          <a:p>
            <a:pPr marL="342900" lvl="0" indent="-342900" algn="l" rtl="0">
              <a:spcBef>
                <a:spcPts val="400"/>
              </a:spcBef>
              <a:spcAft>
                <a:spcPts val="0"/>
              </a:spcAft>
              <a:buClr>
                <a:schemeClr val="dk1"/>
              </a:buClr>
              <a:buSzPct val="100000"/>
              <a:buNone/>
            </a:pPr>
            <a:r>
              <a:rPr lang="en-US" dirty="0"/>
              <a:t>#interface </a:t>
            </a:r>
            <a:r>
              <a:rPr lang="en-US" dirty="0" smtClean="0"/>
              <a:t>se0/1/0</a:t>
            </a:r>
            <a:endParaRPr dirty="0"/>
          </a:p>
          <a:p>
            <a:pPr marL="342900" lvl="0" indent="-342900" algn="l" rtl="0">
              <a:spcBef>
                <a:spcPts val="400"/>
              </a:spcBef>
              <a:spcAft>
                <a:spcPts val="0"/>
              </a:spcAft>
              <a:buClr>
                <a:schemeClr val="dk1"/>
              </a:buClr>
              <a:buSzPct val="100000"/>
              <a:buNone/>
            </a:pPr>
            <a:r>
              <a:rPr lang="en-US" dirty="0"/>
              <a:t>#</a:t>
            </a:r>
            <a:r>
              <a:rPr lang="en-US" dirty="0" err="1"/>
              <a:t>ip</a:t>
            </a:r>
            <a:r>
              <a:rPr lang="en-US" dirty="0"/>
              <a:t> address 10.0.0.1 255.0.0.0</a:t>
            </a:r>
            <a:endParaRPr dirty="0"/>
          </a:p>
          <a:p>
            <a:pPr marL="342900" lvl="0" indent="-342900" algn="l" rtl="0">
              <a:spcBef>
                <a:spcPts val="400"/>
              </a:spcBef>
              <a:spcAft>
                <a:spcPts val="0"/>
              </a:spcAft>
              <a:buClr>
                <a:schemeClr val="dk1"/>
              </a:buClr>
              <a:buSzPct val="100000"/>
              <a:buNone/>
            </a:pPr>
            <a:r>
              <a:rPr lang="en-US" dirty="0"/>
              <a:t>#no shutdown</a:t>
            </a:r>
            <a:endParaRPr dirty="0"/>
          </a:p>
          <a:p>
            <a:pPr marL="342900" lvl="0" indent="-342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r>
              <a:rPr lang="en-US" dirty="0"/>
              <a:t>R2</a:t>
            </a:r>
            <a:endParaRPr dirty="0"/>
          </a:p>
          <a:p>
            <a:pPr marL="342900" lvl="0" indent="-342900" algn="l" rtl="0">
              <a:spcBef>
                <a:spcPts val="400"/>
              </a:spcBef>
              <a:spcAft>
                <a:spcPts val="0"/>
              </a:spcAft>
              <a:buClr>
                <a:schemeClr val="dk1"/>
              </a:buClr>
              <a:buSzPct val="100000"/>
              <a:buNone/>
            </a:pPr>
            <a:r>
              <a:rPr lang="en-US" dirty="0"/>
              <a:t>#interface </a:t>
            </a:r>
            <a:r>
              <a:rPr lang="en-US" dirty="0" smtClean="0"/>
              <a:t>se0/1/0</a:t>
            </a:r>
            <a:endParaRPr dirty="0"/>
          </a:p>
          <a:p>
            <a:pPr marL="342900" lvl="0" indent="-342900" algn="l" rtl="0">
              <a:spcBef>
                <a:spcPts val="400"/>
              </a:spcBef>
              <a:spcAft>
                <a:spcPts val="0"/>
              </a:spcAft>
              <a:buClr>
                <a:schemeClr val="dk1"/>
              </a:buClr>
              <a:buSzPct val="100000"/>
              <a:buNone/>
            </a:pPr>
            <a:r>
              <a:rPr lang="en-US" dirty="0"/>
              <a:t>#</a:t>
            </a:r>
            <a:r>
              <a:rPr lang="en-US" dirty="0" err="1"/>
              <a:t>ip</a:t>
            </a:r>
            <a:r>
              <a:rPr lang="en-US" dirty="0"/>
              <a:t> address 10.0.0.2 255.0.0.0</a:t>
            </a:r>
            <a:endParaRPr dirty="0"/>
          </a:p>
          <a:p>
            <a:pPr marL="342900" lvl="0" indent="-342900" algn="l" rtl="0">
              <a:spcBef>
                <a:spcPts val="400"/>
              </a:spcBef>
              <a:spcAft>
                <a:spcPts val="0"/>
              </a:spcAft>
              <a:buClr>
                <a:schemeClr val="dk1"/>
              </a:buClr>
              <a:buSzPct val="100000"/>
              <a:buNone/>
            </a:pPr>
            <a:r>
              <a:rPr lang="en-US" dirty="0"/>
              <a:t>#no shutdown</a:t>
            </a:r>
            <a:endParaRPr dirty="0"/>
          </a:p>
          <a:p>
            <a:pPr marL="342900" lvl="0" indent="-342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r>
              <a:rPr lang="en-US" dirty="0"/>
              <a:t>R1</a:t>
            </a:r>
            <a:endParaRPr dirty="0"/>
          </a:p>
          <a:p>
            <a:pPr marL="342900" lvl="0" indent="-342900" algn="l" rtl="0">
              <a:spcBef>
                <a:spcPts val="400"/>
              </a:spcBef>
              <a:spcAft>
                <a:spcPts val="0"/>
              </a:spcAft>
              <a:buClr>
                <a:schemeClr val="dk1"/>
              </a:buClr>
              <a:buSzPct val="100000"/>
              <a:buNone/>
            </a:pPr>
            <a:r>
              <a:rPr lang="en-US" dirty="0" err="1"/>
              <a:t>Ip</a:t>
            </a:r>
            <a:r>
              <a:rPr lang="en-US" dirty="0"/>
              <a:t> </a:t>
            </a:r>
            <a:r>
              <a:rPr lang="en-US" dirty="0" err="1"/>
              <a:t>dhcp</a:t>
            </a:r>
            <a:r>
              <a:rPr lang="en-US" dirty="0"/>
              <a:t> pool dee</a:t>
            </a:r>
            <a:endParaRPr dirty="0"/>
          </a:p>
          <a:p>
            <a:pPr marL="342900" lvl="0" indent="-342900" algn="l" rtl="0">
              <a:spcBef>
                <a:spcPts val="400"/>
              </a:spcBef>
              <a:spcAft>
                <a:spcPts val="0"/>
              </a:spcAft>
              <a:buClr>
                <a:schemeClr val="dk1"/>
              </a:buClr>
              <a:buSzPct val="100000"/>
              <a:buNone/>
            </a:pPr>
            <a:r>
              <a:rPr lang="en-US" dirty="0"/>
              <a:t>Network 192.168.1.0 255.255.255.0</a:t>
            </a:r>
            <a:endParaRPr dirty="0"/>
          </a:p>
          <a:p>
            <a:pPr marL="342900" lvl="0" indent="-342900" algn="l" rtl="0">
              <a:spcBef>
                <a:spcPts val="400"/>
              </a:spcBef>
              <a:spcAft>
                <a:spcPts val="0"/>
              </a:spcAft>
              <a:buClr>
                <a:schemeClr val="dk1"/>
              </a:buClr>
              <a:buSzPct val="100000"/>
              <a:buNone/>
            </a:pPr>
            <a:r>
              <a:rPr lang="en-US" dirty="0"/>
              <a:t>Default-router  192.168.1.1</a:t>
            </a:r>
            <a:endParaRPr dirty="0"/>
          </a:p>
          <a:p>
            <a:pPr marL="342900" lvl="0" indent="-342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r>
              <a:rPr lang="en-US" dirty="0"/>
              <a:t>R2</a:t>
            </a:r>
            <a:endParaRPr dirty="0"/>
          </a:p>
          <a:p>
            <a:pPr marL="342900" lvl="0" indent="-342900" algn="l" rtl="0">
              <a:spcBef>
                <a:spcPts val="400"/>
              </a:spcBef>
              <a:spcAft>
                <a:spcPts val="0"/>
              </a:spcAft>
              <a:buClr>
                <a:schemeClr val="dk1"/>
              </a:buClr>
              <a:buSzPct val="100000"/>
              <a:buNone/>
            </a:pPr>
            <a:r>
              <a:rPr lang="en-US" dirty="0" err="1"/>
              <a:t>Ip</a:t>
            </a:r>
            <a:r>
              <a:rPr lang="en-US" dirty="0"/>
              <a:t> </a:t>
            </a:r>
            <a:r>
              <a:rPr lang="en-US" dirty="0" err="1"/>
              <a:t>dhcp</a:t>
            </a:r>
            <a:r>
              <a:rPr lang="en-US" dirty="0"/>
              <a:t> pool </a:t>
            </a:r>
            <a:r>
              <a:rPr lang="en-US" dirty="0" err="1"/>
              <a:t>mee</a:t>
            </a:r>
            <a:endParaRPr dirty="0"/>
          </a:p>
          <a:p>
            <a:pPr marL="342900" lvl="0" indent="-342900" algn="l" rtl="0">
              <a:spcBef>
                <a:spcPts val="400"/>
              </a:spcBef>
              <a:spcAft>
                <a:spcPts val="0"/>
              </a:spcAft>
              <a:buClr>
                <a:schemeClr val="dk1"/>
              </a:buClr>
              <a:buSzPct val="100000"/>
              <a:buNone/>
            </a:pPr>
            <a:r>
              <a:rPr lang="en-US" dirty="0"/>
              <a:t>Network 192.168.2.0 255.255.255.0</a:t>
            </a:r>
            <a:endParaRPr dirty="0"/>
          </a:p>
          <a:p>
            <a:pPr marL="342900" lvl="0" indent="-342900" algn="l" rtl="0">
              <a:spcBef>
                <a:spcPts val="400"/>
              </a:spcBef>
              <a:spcAft>
                <a:spcPts val="0"/>
              </a:spcAft>
              <a:buClr>
                <a:schemeClr val="dk1"/>
              </a:buClr>
              <a:buSzPct val="100000"/>
              <a:buNone/>
            </a:pPr>
            <a:r>
              <a:rPr lang="en-US" dirty="0"/>
              <a:t>Default-router  192.168.2.1</a:t>
            </a:r>
            <a:endParaRPr dirty="0"/>
          </a:p>
          <a:p>
            <a:pPr marL="342900" lvl="0" indent="-342900" algn="l" rtl="0">
              <a:spcBef>
                <a:spcPts val="400"/>
              </a:spcBef>
              <a:spcAft>
                <a:spcPts val="0"/>
              </a:spcAft>
              <a:buClr>
                <a:schemeClr val="dk1"/>
              </a:buClr>
              <a:buSzPct val="100000"/>
              <a:buNone/>
            </a:pPr>
            <a:endParaRPr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59809" y="1757148"/>
            <a:ext cx="7547212" cy="3456295"/>
          </a:xfrm>
        </p:spPr>
        <p:txBody>
          <a:bodyPr>
            <a:normAutofit fontScale="92500" lnSpcReduction="10000"/>
          </a:bodyPr>
          <a:lstStyle/>
          <a:p>
            <a:pPr marL="539750" indent="-514350" algn="l">
              <a:buFont typeface="+mj-lt"/>
              <a:buAutoNum type="arabicParenR"/>
            </a:pPr>
            <a:r>
              <a:rPr lang="en-US" b="1" dirty="0" smtClean="0">
                <a:solidFill>
                  <a:schemeClr val="tx1"/>
                </a:solidFill>
              </a:rPr>
              <a:t>Line Up </a:t>
            </a:r>
            <a:r>
              <a:rPr lang="en-US" b="1" dirty="0">
                <a:solidFill>
                  <a:schemeClr val="tx1"/>
                </a:solidFill>
              </a:rPr>
              <a:t>– All Router</a:t>
            </a:r>
            <a:endParaRPr lang="en-IN" b="1" dirty="0" smtClean="0">
              <a:solidFill>
                <a:schemeClr val="tx1"/>
              </a:solidFill>
            </a:endParaRPr>
          </a:p>
          <a:p>
            <a:pPr marL="539750" indent="-514350" algn="l">
              <a:buFont typeface="+mj-lt"/>
              <a:buAutoNum type="arabicParenR"/>
            </a:pPr>
            <a:r>
              <a:rPr lang="en-US" b="1" dirty="0" smtClean="0">
                <a:solidFill>
                  <a:schemeClr val="tx1"/>
                </a:solidFill>
              </a:rPr>
              <a:t>NT Route </a:t>
            </a:r>
            <a:r>
              <a:rPr lang="en-US" b="1" dirty="0">
                <a:solidFill>
                  <a:schemeClr val="tx1"/>
                </a:solidFill>
              </a:rPr>
              <a:t>– All </a:t>
            </a:r>
            <a:r>
              <a:rPr lang="en-US" b="1" dirty="0" smtClean="0">
                <a:solidFill>
                  <a:schemeClr val="tx1"/>
                </a:solidFill>
              </a:rPr>
              <a:t>Router</a:t>
            </a:r>
          </a:p>
          <a:p>
            <a:pPr marL="539750" indent="-514350" algn="l">
              <a:buFont typeface="+mj-lt"/>
              <a:buAutoNum type="arabicParenR"/>
            </a:pPr>
            <a:r>
              <a:rPr lang="en-US" b="1" dirty="0" smtClean="0">
                <a:solidFill>
                  <a:schemeClr val="tx1"/>
                </a:solidFill>
              </a:rPr>
              <a:t>Server IP Set</a:t>
            </a:r>
          </a:p>
          <a:p>
            <a:pPr marL="539750" indent="-514350" algn="l">
              <a:buFont typeface="+mj-lt"/>
              <a:buAutoNum type="arabicParenR"/>
            </a:pPr>
            <a:r>
              <a:rPr lang="en-US" b="1" dirty="0" smtClean="0">
                <a:solidFill>
                  <a:schemeClr val="tx1"/>
                </a:solidFill>
              </a:rPr>
              <a:t>Pool Creation – Server</a:t>
            </a:r>
          </a:p>
          <a:p>
            <a:pPr marL="539750" indent="-514350" algn="l">
              <a:buFont typeface="+mj-lt"/>
              <a:buAutoNum type="arabicParenR"/>
            </a:pPr>
            <a:r>
              <a:rPr lang="en-US" b="1" dirty="0" smtClean="0">
                <a:solidFill>
                  <a:schemeClr val="tx1"/>
                </a:solidFill>
              </a:rPr>
              <a:t>IP Helper – All Router </a:t>
            </a:r>
          </a:p>
          <a:p>
            <a:pPr lvl="0" indent="-457200" algn="l">
              <a:spcBef>
                <a:spcPts val="352"/>
              </a:spcBef>
              <a:buClr>
                <a:schemeClr val="dk1"/>
              </a:buClr>
              <a:buSzPct val="100000"/>
              <a:buFont typeface="Wingdings" panose="05000000000000000000" pitchFamily="2" charset="2"/>
              <a:buChar char="§"/>
            </a:pPr>
            <a:r>
              <a:rPr lang="en-US" dirty="0">
                <a:solidFill>
                  <a:schemeClr val="tx1"/>
                </a:solidFill>
              </a:rPr>
              <a:t>Interface </a:t>
            </a:r>
            <a:r>
              <a:rPr lang="en-US" dirty="0" smtClean="0">
                <a:solidFill>
                  <a:schemeClr val="tx1"/>
                </a:solidFill>
              </a:rPr>
              <a:t>gig0/0/0 (Router to Switch)</a:t>
            </a:r>
            <a:endParaRPr lang="en-US" dirty="0">
              <a:solidFill>
                <a:schemeClr val="tx1"/>
              </a:solidFill>
            </a:endParaRPr>
          </a:p>
          <a:p>
            <a:pPr lvl="0" indent="-457200" algn="l">
              <a:spcBef>
                <a:spcPts val="352"/>
              </a:spcBef>
              <a:buClr>
                <a:schemeClr val="dk1"/>
              </a:buClr>
              <a:buSzPct val="100000"/>
              <a:buFont typeface="Wingdings" panose="05000000000000000000" pitchFamily="2" charset="2"/>
              <a:buChar char="§"/>
            </a:pPr>
            <a:r>
              <a:rPr lang="en-US" dirty="0" err="1">
                <a:solidFill>
                  <a:schemeClr val="tx1"/>
                </a:solidFill>
              </a:rPr>
              <a:t>Ip</a:t>
            </a:r>
            <a:r>
              <a:rPr lang="en-US" dirty="0">
                <a:solidFill>
                  <a:schemeClr val="tx1"/>
                </a:solidFill>
              </a:rPr>
              <a:t> helper-address </a:t>
            </a:r>
            <a:r>
              <a:rPr lang="en-US" dirty="0" smtClean="0">
                <a:solidFill>
                  <a:schemeClr val="tx1"/>
                </a:solidFill>
              </a:rPr>
              <a:t>192.168._._(server IP)</a:t>
            </a:r>
            <a:endParaRPr lang="en-US" dirty="0">
              <a:solidFill>
                <a:schemeClr val="tx1"/>
              </a:solidFill>
            </a:endParaRPr>
          </a:p>
          <a:p>
            <a:pPr marL="539750" indent="-514350" algn="l">
              <a:buFont typeface="+mj-lt"/>
              <a:buAutoNum type="arabicParenR"/>
            </a:pPr>
            <a:endParaRPr lang="en-US" b="1" dirty="0" smtClean="0">
              <a:solidFill>
                <a:schemeClr val="tx1"/>
              </a:solidFill>
            </a:endParaRPr>
          </a:p>
        </p:txBody>
      </p:sp>
      <p:sp>
        <p:nvSpPr>
          <p:cNvPr id="4" name="Google Shape;573;p72"/>
          <p:cNvSpPr txBox="1">
            <a:spLocks/>
          </p:cNvSpPr>
          <p:nvPr/>
        </p:nvSpPr>
        <p:spPr>
          <a:xfrm>
            <a:off x="457200" y="274638"/>
            <a:ext cx="8229600" cy="1143000"/>
          </a:xfrm>
          <a:prstGeom prst="rect">
            <a:avLst/>
          </a:prstGeom>
          <a:noFill/>
          <a:ln>
            <a:noFill/>
          </a:ln>
        </p:spPr>
        <p:txBody>
          <a:bodyPr spcFirstLastPara="1" wrap="square" lIns="91425" tIns="45700" rIns="91425" bIns="45700" anchor="ctr" anchorCtr="0">
            <a:normAutofit fontScale="850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b="1" dirty="0" smtClean="0"/>
              <a:t>DHCP SERVER MODE</a:t>
            </a:r>
          </a:p>
          <a:p>
            <a:pPr>
              <a:buSzPts val="4400"/>
            </a:pPr>
            <a:r>
              <a:rPr lang="en-US" b="1" dirty="0"/>
              <a:t>Automatic Private IP Addressing (APIPA)</a:t>
            </a:r>
          </a:p>
        </p:txBody>
      </p:sp>
    </p:spTree>
    <p:extLst>
      <p:ext uri="{BB962C8B-B14F-4D97-AF65-F5344CB8AC3E}">
        <p14:creationId xmlns:p14="http://schemas.microsoft.com/office/powerpoint/2010/main" val="38393116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7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DHCP SERVER MODE</a:t>
            </a:r>
            <a:endParaRPr dirty="0"/>
          </a:p>
        </p:txBody>
      </p:sp>
      <p:sp>
        <p:nvSpPr>
          <p:cNvPr id="574" name="Google Shape;574;p7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dirty="0"/>
              <a:t>PROGRAM</a:t>
            </a:r>
            <a:endParaRPr dirty="0"/>
          </a:p>
          <a:p>
            <a:pPr marL="342900" lvl="0" indent="-342900" algn="l" rtl="0">
              <a:spcBef>
                <a:spcPts val="448"/>
              </a:spcBef>
              <a:spcAft>
                <a:spcPts val="0"/>
              </a:spcAft>
              <a:buClr>
                <a:schemeClr val="dk1"/>
              </a:buClr>
              <a:buSzPct val="100000"/>
              <a:buNone/>
            </a:pPr>
            <a:r>
              <a:rPr lang="en-US" dirty="0"/>
              <a:t>&gt;</a:t>
            </a:r>
            <a:r>
              <a:rPr lang="en-US" dirty="0" err="1"/>
              <a:t>ena</a:t>
            </a:r>
            <a:endParaRPr dirty="0"/>
          </a:p>
          <a:p>
            <a:pPr marL="342900" lvl="0" indent="-342900" algn="l" rtl="0">
              <a:spcBef>
                <a:spcPts val="448"/>
              </a:spcBef>
              <a:spcAft>
                <a:spcPts val="0"/>
              </a:spcAft>
              <a:buClr>
                <a:schemeClr val="dk1"/>
              </a:buClr>
              <a:buSzPct val="100000"/>
              <a:buNone/>
            </a:pPr>
            <a:r>
              <a:rPr lang="en-US" dirty="0"/>
              <a:t>#</a:t>
            </a:r>
            <a:r>
              <a:rPr lang="en-US" dirty="0" err="1"/>
              <a:t>config</a:t>
            </a:r>
            <a:r>
              <a:rPr lang="en-US" dirty="0"/>
              <a:t> t</a:t>
            </a:r>
            <a:endParaRPr dirty="0"/>
          </a:p>
          <a:p>
            <a:pPr marL="342900" lvl="0" indent="-342900" algn="l" rtl="0">
              <a:spcBef>
                <a:spcPts val="448"/>
              </a:spcBef>
              <a:spcAft>
                <a:spcPts val="0"/>
              </a:spcAft>
              <a:buClr>
                <a:schemeClr val="dk1"/>
              </a:buClr>
              <a:buSzPct val="100000"/>
              <a:buNone/>
            </a:pPr>
            <a:r>
              <a:rPr lang="en-US" dirty="0"/>
              <a:t># interface gig0/0/0</a:t>
            </a:r>
            <a:endParaRPr dirty="0"/>
          </a:p>
          <a:p>
            <a:pPr marL="342900" lvl="0" indent="-342900" algn="l" rtl="0">
              <a:spcBef>
                <a:spcPts val="448"/>
              </a:spcBef>
              <a:spcAft>
                <a:spcPts val="0"/>
              </a:spcAft>
              <a:buClr>
                <a:schemeClr val="dk1"/>
              </a:buClr>
              <a:buSzPct val="100000"/>
              <a:buNone/>
            </a:pPr>
            <a:r>
              <a:rPr lang="en-US" dirty="0"/>
              <a:t>#</a:t>
            </a:r>
            <a:r>
              <a:rPr lang="en-US" dirty="0" err="1"/>
              <a:t>ip</a:t>
            </a:r>
            <a:r>
              <a:rPr lang="en-US" dirty="0"/>
              <a:t> address 192.168.1.1 255.255.255.0</a:t>
            </a:r>
            <a:endParaRPr dirty="0"/>
          </a:p>
          <a:p>
            <a:pPr marL="342900" lvl="0" indent="-342900" algn="l" rtl="0">
              <a:spcBef>
                <a:spcPts val="448"/>
              </a:spcBef>
              <a:spcAft>
                <a:spcPts val="0"/>
              </a:spcAft>
              <a:buClr>
                <a:schemeClr val="dk1"/>
              </a:buClr>
              <a:buSzPct val="100000"/>
              <a:buNone/>
            </a:pPr>
            <a:r>
              <a:rPr lang="en-US" dirty="0"/>
              <a:t>#no shutdown</a:t>
            </a:r>
            <a:endParaRPr dirty="0"/>
          </a:p>
          <a:p>
            <a:pPr marL="342900" lvl="0" indent="-342900" algn="l" rtl="0">
              <a:spcBef>
                <a:spcPts val="448"/>
              </a:spcBef>
              <a:spcAft>
                <a:spcPts val="0"/>
              </a:spcAft>
              <a:buClr>
                <a:schemeClr val="dk1"/>
              </a:buClr>
              <a:buSzPct val="100000"/>
              <a:buNone/>
            </a:pPr>
            <a:r>
              <a:rPr lang="en-US" dirty="0"/>
              <a:t>#exit</a:t>
            </a:r>
            <a:endParaRPr dirty="0"/>
          </a:p>
          <a:p>
            <a:pPr marL="342900" lvl="0" indent="-342900" algn="l" rtl="0">
              <a:spcBef>
                <a:spcPts val="448"/>
              </a:spcBef>
              <a:spcAft>
                <a:spcPts val="0"/>
              </a:spcAft>
              <a:buClr>
                <a:schemeClr val="dk1"/>
              </a:buClr>
              <a:buSzPct val="100000"/>
              <a:buNone/>
            </a:pPr>
            <a:r>
              <a:rPr lang="en-US" dirty="0"/>
              <a:t>R2</a:t>
            </a:r>
            <a:endParaRPr dirty="0"/>
          </a:p>
          <a:p>
            <a:pPr marL="342900" lvl="0" indent="-342900" algn="l" rtl="0">
              <a:spcBef>
                <a:spcPts val="448"/>
              </a:spcBef>
              <a:spcAft>
                <a:spcPts val="0"/>
              </a:spcAft>
              <a:buClr>
                <a:schemeClr val="dk1"/>
              </a:buClr>
              <a:buSzPct val="100000"/>
              <a:buNone/>
            </a:pPr>
            <a:r>
              <a:rPr lang="en-US" dirty="0"/>
              <a:t>&gt;</a:t>
            </a:r>
            <a:r>
              <a:rPr lang="en-US" dirty="0" err="1"/>
              <a:t>ena</a:t>
            </a:r>
            <a:endParaRPr dirty="0"/>
          </a:p>
          <a:p>
            <a:pPr marL="342900" lvl="0" indent="-342900" algn="l" rtl="0">
              <a:spcBef>
                <a:spcPts val="448"/>
              </a:spcBef>
              <a:spcAft>
                <a:spcPts val="0"/>
              </a:spcAft>
              <a:buClr>
                <a:schemeClr val="dk1"/>
              </a:buClr>
              <a:buSzPct val="100000"/>
              <a:buNone/>
            </a:pPr>
            <a:r>
              <a:rPr lang="en-US" dirty="0"/>
              <a:t>#</a:t>
            </a:r>
            <a:r>
              <a:rPr lang="en-US" dirty="0" err="1"/>
              <a:t>config</a:t>
            </a:r>
            <a:r>
              <a:rPr lang="en-US" dirty="0"/>
              <a:t> t</a:t>
            </a:r>
            <a:endParaRPr dirty="0"/>
          </a:p>
          <a:p>
            <a:pPr marL="342900" lvl="0" indent="-342900" algn="l" rtl="0">
              <a:spcBef>
                <a:spcPts val="448"/>
              </a:spcBef>
              <a:spcAft>
                <a:spcPts val="0"/>
              </a:spcAft>
              <a:buClr>
                <a:schemeClr val="dk1"/>
              </a:buClr>
              <a:buSzPct val="100000"/>
              <a:buNone/>
            </a:pPr>
            <a:r>
              <a:rPr lang="en-US" dirty="0"/>
              <a:t>#interface gig0/0/0</a:t>
            </a:r>
            <a:endParaRPr dirty="0"/>
          </a:p>
          <a:p>
            <a:pPr marL="342900" lvl="0" indent="-342900" algn="l" rtl="0">
              <a:spcBef>
                <a:spcPts val="448"/>
              </a:spcBef>
              <a:spcAft>
                <a:spcPts val="0"/>
              </a:spcAft>
              <a:buClr>
                <a:schemeClr val="dk1"/>
              </a:buClr>
              <a:buSzPct val="100000"/>
              <a:buNone/>
            </a:pPr>
            <a:r>
              <a:rPr lang="en-US" dirty="0"/>
              <a:t>#</a:t>
            </a:r>
            <a:r>
              <a:rPr lang="en-US" dirty="0" err="1"/>
              <a:t>ip</a:t>
            </a:r>
            <a:r>
              <a:rPr lang="en-US" dirty="0"/>
              <a:t> address 192.168.2.1 255.255.255.0</a:t>
            </a:r>
            <a:endParaRPr dirty="0"/>
          </a:p>
          <a:p>
            <a:pPr marL="342900" lvl="0" indent="-342900" algn="l" rtl="0">
              <a:spcBef>
                <a:spcPts val="448"/>
              </a:spcBef>
              <a:spcAft>
                <a:spcPts val="0"/>
              </a:spcAft>
              <a:buClr>
                <a:schemeClr val="dk1"/>
              </a:buClr>
              <a:buSzPct val="100000"/>
              <a:buNone/>
            </a:pPr>
            <a:r>
              <a:rPr lang="en-US" dirty="0"/>
              <a:t>#no shutdown</a:t>
            </a:r>
            <a:endParaRPr dirty="0"/>
          </a:p>
          <a:p>
            <a:pPr marL="342900" lvl="0" indent="-200660" algn="l" rtl="0">
              <a:spcBef>
                <a:spcPts val="448"/>
              </a:spcBef>
              <a:spcAft>
                <a:spcPts val="0"/>
              </a:spcAft>
              <a:buClr>
                <a:schemeClr val="dk1"/>
              </a:buClr>
              <a:buSzPct val="100000"/>
              <a:buNone/>
            </a:pPr>
            <a:endParaRPr dirty="0"/>
          </a:p>
        </p:txBody>
      </p:sp>
      <p:sp>
        <p:nvSpPr>
          <p:cNvPr id="575" name="Google Shape;575;p72"/>
          <p:cNvSpPr/>
          <p:nvPr/>
        </p:nvSpPr>
        <p:spPr>
          <a:xfrm>
            <a:off x="5638800" y="1600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6" name="Google Shape;576;p72"/>
          <p:cNvSpPr/>
          <p:nvPr/>
        </p:nvSpPr>
        <p:spPr>
          <a:xfrm>
            <a:off x="5486400" y="28194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smtClean="0">
                <a:solidFill>
                  <a:schemeClr val="lt1"/>
                </a:solidFill>
                <a:latin typeface="Calibri"/>
                <a:ea typeface="Calibri"/>
                <a:cs typeface="Calibri"/>
                <a:sym typeface="Calibri"/>
              </a:rPr>
              <a:t>192.168.1.1</a:t>
            </a:r>
            <a:endParaRPr sz="1100" dirty="0">
              <a:solidFill>
                <a:schemeClr val="lt1"/>
              </a:solidFill>
              <a:latin typeface="Calibri"/>
              <a:ea typeface="Calibri"/>
              <a:cs typeface="Calibri"/>
              <a:sym typeface="Calibri"/>
            </a:endParaRPr>
          </a:p>
        </p:txBody>
      </p:sp>
      <p:sp>
        <p:nvSpPr>
          <p:cNvPr id="577" name="Google Shape;577;p72"/>
          <p:cNvSpPr/>
          <p:nvPr/>
        </p:nvSpPr>
        <p:spPr>
          <a:xfrm>
            <a:off x="5257800" y="38100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8" name="Google Shape;578;p72"/>
          <p:cNvSpPr/>
          <p:nvPr/>
        </p:nvSpPr>
        <p:spPr>
          <a:xfrm>
            <a:off x="6400800" y="38100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9" name="Google Shape;579;p72"/>
          <p:cNvSpPr/>
          <p:nvPr/>
        </p:nvSpPr>
        <p:spPr>
          <a:xfrm>
            <a:off x="7620000" y="15240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0" name="Google Shape;580;p72"/>
          <p:cNvSpPr/>
          <p:nvPr/>
        </p:nvSpPr>
        <p:spPr>
          <a:xfrm>
            <a:off x="7467600" y="27432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dirty="0" smtClean="0">
                <a:solidFill>
                  <a:schemeClr val="lt1"/>
                </a:solidFill>
                <a:latin typeface="Calibri"/>
                <a:ea typeface="Calibri"/>
                <a:cs typeface="Calibri"/>
                <a:sym typeface="Calibri"/>
              </a:rPr>
              <a:t>192.168.2.1</a:t>
            </a:r>
            <a:endParaRPr sz="1100" dirty="0">
              <a:solidFill>
                <a:schemeClr val="lt1"/>
              </a:solidFill>
              <a:latin typeface="Calibri"/>
              <a:ea typeface="Calibri"/>
              <a:cs typeface="Calibri"/>
              <a:sym typeface="Calibri"/>
            </a:endParaRPr>
          </a:p>
        </p:txBody>
      </p:sp>
      <p:sp>
        <p:nvSpPr>
          <p:cNvPr id="581" name="Google Shape;581;p72"/>
          <p:cNvSpPr/>
          <p:nvPr/>
        </p:nvSpPr>
        <p:spPr>
          <a:xfrm>
            <a:off x="7239000" y="37338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2" name="Google Shape;582;p72"/>
          <p:cNvSpPr/>
          <p:nvPr/>
        </p:nvSpPr>
        <p:spPr>
          <a:xfrm>
            <a:off x="8382000" y="37338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583" name="Google Shape;583;p72"/>
          <p:cNvCxnSpPr>
            <a:stCxn id="575" idx="6"/>
          </p:cNvCxnSpPr>
          <p:nvPr/>
        </p:nvCxnSpPr>
        <p:spPr>
          <a:xfrm>
            <a:off x="6324600" y="1905000"/>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584" name="Google Shape;584;p72"/>
          <p:cNvCxnSpPr>
            <a:stCxn id="575" idx="4"/>
            <a:endCxn id="576" idx="0"/>
          </p:cNvCxnSpPr>
          <p:nvPr/>
        </p:nvCxnSpPr>
        <p:spPr>
          <a:xfrm flipH="1">
            <a:off x="5943600" y="22098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585" name="Google Shape;585;p72"/>
          <p:cNvCxnSpPr>
            <a:stCxn id="579" idx="4"/>
            <a:endCxn id="580" idx="0"/>
          </p:cNvCxnSpPr>
          <p:nvPr/>
        </p:nvCxnSpPr>
        <p:spPr>
          <a:xfrm flipH="1">
            <a:off x="7924800" y="21336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586" name="Google Shape;586;p72"/>
          <p:cNvCxnSpPr>
            <a:stCxn id="576" idx="2"/>
            <a:endCxn id="577" idx="0"/>
          </p:cNvCxnSpPr>
          <p:nvPr/>
        </p:nvCxnSpPr>
        <p:spPr>
          <a:xfrm flipH="1">
            <a:off x="5524500" y="31242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587" name="Google Shape;587;p72"/>
          <p:cNvCxnSpPr>
            <a:stCxn id="576" idx="2"/>
            <a:endCxn id="578" idx="0"/>
          </p:cNvCxnSpPr>
          <p:nvPr/>
        </p:nvCxnSpPr>
        <p:spPr>
          <a:xfrm>
            <a:off x="5943600" y="3124200"/>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588" name="Google Shape;588;p72"/>
          <p:cNvCxnSpPr>
            <a:stCxn id="580" idx="2"/>
            <a:endCxn id="581" idx="0"/>
          </p:cNvCxnSpPr>
          <p:nvPr/>
        </p:nvCxnSpPr>
        <p:spPr>
          <a:xfrm flipH="1">
            <a:off x="7505700" y="30480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589" name="Google Shape;589;p72"/>
          <p:cNvCxnSpPr>
            <a:stCxn id="580" idx="2"/>
            <a:endCxn id="582" idx="0"/>
          </p:cNvCxnSpPr>
          <p:nvPr/>
        </p:nvCxnSpPr>
        <p:spPr>
          <a:xfrm>
            <a:off x="7924800" y="3048000"/>
            <a:ext cx="723900" cy="685800"/>
          </a:xfrm>
          <a:prstGeom prst="straightConnector1">
            <a:avLst/>
          </a:prstGeom>
          <a:noFill/>
          <a:ln w="9525" cap="flat" cmpd="sng">
            <a:solidFill>
              <a:srgbClr val="4A7DBA"/>
            </a:solidFill>
            <a:prstDash val="solid"/>
            <a:round/>
            <a:headEnd type="none" w="sm" len="sm"/>
            <a:tailEnd type="none" w="sm" len="sm"/>
          </a:ln>
        </p:spPr>
      </p:cxnSp>
      <p:sp>
        <p:nvSpPr>
          <p:cNvPr id="590" name="Google Shape;590;p72"/>
          <p:cNvSpPr/>
          <p:nvPr/>
        </p:nvSpPr>
        <p:spPr>
          <a:xfrm>
            <a:off x="4343400" y="1752600"/>
            <a:ext cx="457200" cy="914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smtClean="0">
                <a:solidFill>
                  <a:schemeClr val="lt1"/>
                </a:solidFill>
                <a:latin typeface="Calibri"/>
                <a:ea typeface="Calibri"/>
                <a:cs typeface="Calibri"/>
                <a:sym typeface="Calibri"/>
              </a:rPr>
              <a:t>192.168.3.2</a:t>
            </a:r>
            <a:endParaRPr sz="1200" dirty="0">
              <a:solidFill>
                <a:schemeClr val="lt1"/>
              </a:solidFill>
              <a:latin typeface="Calibri"/>
              <a:ea typeface="Calibri"/>
              <a:cs typeface="Calibri"/>
              <a:sym typeface="Calibri"/>
            </a:endParaRPr>
          </a:p>
        </p:txBody>
      </p:sp>
      <p:cxnSp>
        <p:nvCxnSpPr>
          <p:cNvPr id="591" name="Google Shape;591;p72"/>
          <p:cNvCxnSpPr>
            <a:endCxn id="575" idx="2"/>
          </p:cNvCxnSpPr>
          <p:nvPr/>
        </p:nvCxnSpPr>
        <p:spPr>
          <a:xfrm flipV="1">
            <a:off x="4800600" y="1905000"/>
            <a:ext cx="838200" cy="415119"/>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73"/>
          <p:cNvSpPr txBox="1">
            <a:spLocks noGrp="1"/>
          </p:cNvSpPr>
          <p:nvPr>
            <p:ph type="body" idx="1"/>
          </p:nvPr>
        </p:nvSpPr>
        <p:spPr>
          <a:xfrm>
            <a:off x="457200" y="0"/>
            <a:ext cx="8229600" cy="6629400"/>
          </a:xfrm>
          <a:prstGeom prst="rect">
            <a:avLst/>
          </a:prstGeom>
          <a:noFill/>
          <a:ln>
            <a:noFill/>
          </a:ln>
        </p:spPr>
        <p:txBody>
          <a:bodyPr spcFirstLastPara="1" wrap="square" lIns="91425" tIns="45700" rIns="91425" bIns="45700" anchor="t" anchorCtr="0">
            <a:normAutofit fontScale="55000" lnSpcReduction="20000"/>
          </a:bodyPr>
          <a:lstStyle/>
          <a:p>
            <a:pPr marL="342900" lvl="0" indent="-342900" algn="l" rtl="0">
              <a:spcBef>
                <a:spcPts val="0"/>
              </a:spcBef>
              <a:spcAft>
                <a:spcPts val="0"/>
              </a:spcAft>
              <a:buClr>
                <a:schemeClr val="dk1"/>
              </a:buClr>
              <a:buSzPct val="100000"/>
              <a:buNone/>
            </a:pPr>
            <a:r>
              <a:rPr lang="en-US" dirty="0"/>
              <a:t>R1</a:t>
            </a:r>
            <a:endParaRPr dirty="0"/>
          </a:p>
          <a:p>
            <a:pPr marL="342900" lvl="0" indent="-342900" algn="l" rtl="0">
              <a:spcBef>
                <a:spcPts val="352"/>
              </a:spcBef>
              <a:spcAft>
                <a:spcPts val="0"/>
              </a:spcAft>
              <a:buClr>
                <a:schemeClr val="dk1"/>
              </a:buClr>
              <a:buSzPct val="100000"/>
              <a:buNone/>
            </a:pPr>
            <a:r>
              <a:rPr lang="en-US" dirty="0"/>
              <a:t>#interface se0/2/0</a:t>
            </a:r>
            <a:endParaRPr dirty="0"/>
          </a:p>
          <a:p>
            <a:pPr marL="342900" lvl="0" indent="-342900" algn="l" rtl="0">
              <a:spcBef>
                <a:spcPts val="352"/>
              </a:spcBef>
              <a:spcAft>
                <a:spcPts val="0"/>
              </a:spcAft>
              <a:buClr>
                <a:schemeClr val="dk1"/>
              </a:buClr>
              <a:buSzPct val="100000"/>
              <a:buNone/>
            </a:pPr>
            <a:r>
              <a:rPr lang="en-US" dirty="0"/>
              <a:t>#</a:t>
            </a:r>
            <a:r>
              <a:rPr lang="en-US" dirty="0" err="1"/>
              <a:t>ip</a:t>
            </a:r>
            <a:r>
              <a:rPr lang="en-US" dirty="0"/>
              <a:t> address 10.0.0.1 255.0.0.0</a:t>
            </a:r>
            <a:endParaRPr dirty="0"/>
          </a:p>
          <a:p>
            <a:pPr marL="342900" lvl="0" indent="-342900" algn="l" rtl="0">
              <a:spcBef>
                <a:spcPts val="352"/>
              </a:spcBef>
              <a:spcAft>
                <a:spcPts val="0"/>
              </a:spcAft>
              <a:buClr>
                <a:schemeClr val="dk1"/>
              </a:buClr>
              <a:buSzPct val="100000"/>
              <a:buNone/>
            </a:pPr>
            <a:r>
              <a:rPr lang="en-US" dirty="0"/>
              <a:t>#no shutdown</a:t>
            </a:r>
            <a:endParaRPr dirty="0"/>
          </a:p>
          <a:p>
            <a:pPr marL="342900" lvl="0" indent="-342900" algn="l" rtl="0">
              <a:spcBef>
                <a:spcPts val="352"/>
              </a:spcBef>
              <a:spcAft>
                <a:spcPts val="0"/>
              </a:spcAft>
              <a:buClr>
                <a:schemeClr val="dk1"/>
              </a:buClr>
              <a:buSzPct val="100000"/>
              <a:buNone/>
            </a:pPr>
            <a:r>
              <a:rPr lang="en-US" dirty="0"/>
              <a:t>R2</a:t>
            </a:r>
            <a:endParaRPr dirty="0"/>
          </a:p>
          <a:p>
            <a:pPr marL="342900" lvl="0" indent="-342900" algn="l" rtl="0">
              <a:spcBef>
                <a:spcPts val="352"/>
              </a:spcBef>
              <a:spcAft>
                <a:spcPts val="0"/>
              </a:spcAft>
              <a:buClr>
                <a:schemeClr val="dk1"/>
              </a:buClr>
              <a:buSzPct val="100000"/>
              <a:buNone/>
            </a:pPr>
            <a:r>
              <a:rPr lang="en-US" dirty="0"/>
              <a:t>#interface se0/2/0</a:t>
            </a:r>
            <a:endParaRPr dirty="0"/>
          </a:p>
          <a:p>
            <a:pPr marL="342900" lvl="0" indent="-342900" algn="l" rtl="0">
              <a:spcBef>
                <a:spcPts val="352"/>
              </a:spcBef>
              <a:spcAft>
                <a:spcPts val="0"/>
              </a:spcAft>
              <a:buClr>
                <a:schemeClr val="dk1"/>
              </a:buClr>
              <a:buSzPct val="100000"/>
              <a:buNone/>
            </a:pPr>
            <a:r>
              <a:rPr lang="en-US" dirty="0"/>
              <a:t>#</a:t>
            </a:r>
            <a:r>
              <a:rPr lang="en-US" dirty="0" err="1"/>
              <a:t>ip</a:t>
            </a:r>
            <a:r>
              <a:rPr lang="en-US" dirty="0"/>
              <a:t> address 10.0.0.2 255.0.0.0</a:t>
            </a:r>
            <a:endParaRPr dirty="0"/>
          </a:p>
          <a:p>
            <a:pPr marL="342900" lvl="0" indent="-342900" algn="l" rtl="0">
              <a:spcBef>
                <a:spcPts val="352"/>
              </a:spcBef>
              <a:spcAft>
                <a:spcPts val="0"/>
              </a:spcAft>
              <a:buClr>
                <a:schemeClr val="dk1"/>
              </a:buClr>
              <a:buSzPct val="100000"/>
              <a:buNone/>
            </a:pPr>
            <a:r>
              <a:rPr lang="en-US" dirty="0"/>
              <a:t>#no shutdown</a:t>
            </a:r>
            <a:endParaRPr dirty="0"/>
          </a:p>
          <a:p>
            <a:pPr marL="342900" lvl="0" indent="-342900" algn="l" rtl="0">
              <a:spcBef>
                <a:spcPts val="352"/>
              </a:spcBef>
              <a:spcAft>
                <a:spcPts val="0"/>
              </a:spcAft>
              <a:buClr>
                <a:schemeClr val="dk1"/>
              </a:buClr>
              <a:buSzPct val="100000"/>
              <a:buNone/>
            </a:pPr>
            <a:endParaRPr dirty="0"/>
          </a:p>
          <a:p>
            <a:pPr marL="342900" lvl="0" indent="-342900" algn="l" rtl="0">
              <a:spcBef>
                <a:spcPts val="352"/>
              </a:spcBef>
              <a:spcAft>
                <a:spcPts val="0"/>
              </a:spcAft>
              <a:buClr>
                <a:schemeClr val="dk1"/>
              </a:buClr>
              <a:buSzPct val="100000"/>
              <a:buNone/>
            </a:pPr>
            <a:r>
              <a:rPr lang="en-US" dirty="0"/>
              <a:t>Static routing:</a:t>
            </a:r>
            <a:endParaRPr dirty="0"/>
          </a:p>
          <a:p>
            <a:pPr marL="342900" lvl="0" indent="-342900" algn="l" rtl="0">
              <a:spcBef>
                <a:spcPts val="352"/>
              </a:spcBef>
              <a:spcAft>
                <a:spcPts val="0"/>
              </a:spcAft>
              <a:buClr>
                <a:schemeClr val="dk1"/>
              </a:buClr>
              <a:buSzPct val="100000"/>
              <a:buNone/>
            </a:pPr>
            <a:r>
              <a:rPr lang="en-US" dirty="0"/>
              <a:t>R1-Ip route 192.168.2.0 255.255.255.0 10.0.0.2</a:t>
            </a:r>
            <a:endParaRPr dirty="0"/>
          </a:p>
          <a:p>
            <a:pPr marL="342900" lvl="0" indent="-342900" algn="l" rtl="0">
              <a:spcBef>
                <a:spcPts val="352"/>
              </a:spcBef>
              <a:spcAft>
                <a:spcPts val="0"/>
              </a:spcAft>
              <a:buClr>
                <a:schemeClr val="dk1"/>
              </a:buClr>
              <a:buSzPct val="100000"/>
              <a:buNone/>
            </a:pPr>
            <a:r>
              <a:rPr lang="en-US" dirty="0"/>
              <a:t>R2-ip route 192.168.1.0 255.255.255.0 10.0.0.1</a:t>
            </a:r>
            <a:endParaRPr dirty="0"/>
          </a:p>
          <a:p>
            <a:pPr marL="342900" lvl="0" indent="-342900" algn="l" rtl="0">
              <a:spcBef>
                <a:spcPts val="352"/>
              </a:spcBef>
              <a:spcAft>
                <a:spcPts val="0"/>
              </a:spcAft>
              <a:buClr>
                <a:schemeClr val="dk1"/>
              </a:buClr>
              <a:buSzPct val="100000"/>
              <a:buNone/>
            </a:pPr>
            <a:r>
              <a:rPr lang="en-US" dirty="0"/>
              <a:t>      </a:t>
            </a:r>
            <a:r>
              <a:rPr lang="en-US" dirty="0" err="1"/>
              <a:t>ip</a:t>
            </a:r>
            <a:r>
              <a:rPr lang="en-US" dirty="0"/>
              <a:t> route 192.168.3.0 255.255.255.0 10.0.0.1</a:t>
            </a:r>
            <a:endParaRPr dirty="0"/>
          </a:p>
          <a:p>
            <a:pPr marL="342900" lvl="0" indent="-342900" algn="l" rtl="0">
              <a:spcBef>
                <a:spcPts val="352"/>
              </a:spcBef>
              <a:spcAft>
                <a:spcPts val="0"/>
              </a:spcAft>
              <a:buClr>
                <a:schemeClr val="dk1"/>
              </a:buClr>
              <a:buSzPct val="100000"/>
              <a:buNone/>
            </a:pPr>
            <a:endParaRPr dirty="0"/>
          </a:p>
          <a:p>
            <a:pPr marL="342900" lvl="0" indent="-342900" algn="l" rtl="0">
              <a:spcBef>
                <a:spcPts val="352"/>
              </a:spcBef>
              <a:spcAft>
                <a:spcPts val="0"/>
              </a:spcAft>
              <a:buClr>
                <a:schemeClr val="dk1"/>
              </a:buClr>
              <a:buSzPct val="100000"/>
              <a:buNone/>
            </a:pPr>
            <a:r>
              <a:rPr lang="en-US" dirty="0"/>
              <a:t>Server </a:t>
            </a:r>
            <a:r>
              <a:rPr lang="en-US" dirty="0" err="1"/>
              <a:t>ip</a:t>
            </a:r>
            <a:r>
              <a:rPr lang="en-US" dirty="0"/>
              <a:t> set:</a:t>
            </a:r>
            <a:endParaRPr dirty="0"/>
          </a:p>
          <a:p>
            <a:pPr marL="342900" lvl="0" indent="-342900" algn="l" rtl="0">
              <a:spcBef>
                <a:spcPts val="352"/>
              </a:spcBef>
              <a:spcAft>
                <a:spcPts val="0"/>
              </a:spcAft>
              <a:buClr>
                <a:schemeClr val="dk1"/>
              </a:buClr>
              <a:buSzPct val="100000"/>
              <a:buNone/>
            </a:pPr>
            <a:r>
              <a:rPr lang="en-US" dirty="0"/>
              <a:t>Server pool create:</a:t>
            </a:r>
            <a:endParaRPr dirty="0"/>
          </a:p>
          <a:p>
            <a:pPr marL="342900" lvl="0" indent="-342900" algn="l" rtl="0">
              <a:spcBef>
                <a:spcPts val="352"/>
              </a:spcBef>
              <a:spcAft>
                <a:spcPts val="0"/>
              </a:spcAft>
              <a:buClr>
                <a:schemeClr val="dk1"/>
              </a:buClr>
              <a:buSzPct val="100000"/>
              <a:buNone/>
            </a:pPr>
            <a:endParaRPr dirty="0"/>
          </a:p>
          <a:p>
            <a:pPr marL="342900" lvl="0" indent="-342900" algn="l" rtl="0">
              <a:spcBef>
                <a:spcPts val="352"/>
              </a:spcBef>
              <a:spcAft>
                <a:spcPts val="0"/>
              </a:spcAft>
              <a:buClr>
                <a:schemeClr val="dk1"/>
              </a:buClr>
              <a:buSzPct val="100000"/>
              <a:buNone/>
            </a:pPr>
            <a:r>
              <a:rPr lang="en-US" dirty="0"/>
              <a:t>R1</a:t>
            </a:r>
            <a:endParaRPr dirty="0"/>
          </a:p>
          <a:p>
            <a:pPr marL="342900" lvl="0" indent="-342900" algn="l" rtl="0">
              <a:spcBef>
                <a:spcPts val="352"/>
              </a:spcBef>
              <a:spcAft>
                <a:spcPts val="0"/>
              </a:spcAft>
              <a:buClr>
                <a:schemeClr val="dk1"/>
              </a:buClr>
              <a:buSzPct val="100000"/>
              <a:buNone/>
            </a:pPr>
            <a:r>
              <a:rPr lang="en-US" dirty="0"/>
              <a:t>Interface gig0/0/0</a:t>
            </a:r>
            <a:endParaRPr dirty="0"/>
          </a:p>
          <a:p>
            <a:pPr marL="342900" lvl="0" indent="-342900" algn="l" rtl="0">
              <a:spcBef>
                <a:spcPts val="352"/>
              </a:spcBef>
              <a:spcAft>
                <a:spcPts val="0"/>
              </a:spcAft>
              <a:buClr>
                <a:schemeClr val="dk1"/>
              </a:buClr>
              <a:buSzPct val="100000"/>
              <a:buNone/>
            </a:pPr>
            <a:r>
              <a:rPr lang="en-US" dirty="0" err="1"/>
              <a:t>Ip</a:t>
            </a:r>
            <a:r>
              <a:rPr lang="en-US" dirty="0"/>
              <a:t> helper-address </a:t>
            </a:r>
            <a:r>
              <a:rPr lang="en-US" dirty="0" smtClean="0"/>
              <a:t>192.168.3.2</a:t>
            </a:r>
            <a:endParaRPr dirty="0"/>
          </a:p>
          <a:p>
            <a:pPr marL="342900" lvl="0" indent="-342900" algn="l" rtl="0">
              <a:spcBef>
                <a:spcPts val="352"/>
              </a:spcBef>
              <a:spcAft>
                <a:spcPts val="0"/>
              </a:spcAft>
              <a:buClr>
                <a:schemeClr val="dk1"/>
              </a:buClr>
              <a:buSzPct val="100000"/>
              <a:buNone/>
            </a:pPr>
            <a:endParaRPr dirty="0"/>
          </a:p>
          <a:p>
            <a:pPr marL="342900" lvl="0" indent="-342900" algn="l" rtl="0">
              <a:spcBef>
                <a:spcPts val="352"/>
              </a:spcBef>
              <a:spcAft>
                <a:spcPts val="0"/>
              </a:spcAft>
              <a:buClr>
                <a:schemeClr val="dk1"/>
              </a:buClr>
              <a:buSzPct val="100000"/>
              <a:buNone/>
            </a:pPr>
            <a:r>
              <a:rPr lang="en-US" dirty="0"/>
              <a:t>R2</a:t>
            </a:r>
            <a:endParaRPr dirty="0"/>
          </a:p>
          <a:p>
            <a:pPr marL="342900" lvl="0" indent="-342900" algn="l" rtl="0">
              <a:spcBef>
                <a:spcPts val="352"/>
              </a:spcBef>
              <a:spcAft>
                <a:spcPts val="0"/>
              </a:spcAft>
              <a:buClr>
                <a:schemeClr val="dk1"/>
              </a:buClr>
              <a:buSzPct val="100000"/>
              <a:buNone/>
            </a:pPr>
            <a:r>
              <a:rPr lang="en-US" dirty="0"/>
              <a:t>Interface gig0/0/0</a:t>
            </a:r>
            <a:endParaRPr dirty="0"/>
          </a:p>
          <a:p>
            <a:pPr marL="342900" lvl="0" indent="-342900" algn="l" rtl="0">
              <a:spcBef>
                <a:spcPts val="352"/>
              </a:spcBef>
              <a:spcAft>
                <a:spcPts val="0"/>
              </a:spcAft>
              <a:buClr>
                <a:schemeClr val="dk1"/>
              </a:buClr>
              <a:buSzPct val="100000"/>
              <a:buNone/>
            </a:pPr>
            <a:r>
              <a:rPr lang="en-US" dirty="0" err="1"/>
              <a:t>Ip</a:t>
            </a:r>
            <a:r>
              <a:rPr lang="en-US" dirty="0"/>
              <a:t> helper-address </a:t>
            </a:r>
            <a:r>
              <a:rPr lang="en-US" dirty="0" smtClean="0"/>
              <a:t>192.168.3.2</a:t>
            </a:r>
            <a:endParaRPr dirty="0"/>
          </a:p>
          <a:p>
            <a:pPr marL="342900" lvl="0" indent="-342900" algn="l" rtl="0">
              <a:spcBef>
                <a:spcPts val="352"/>
              </a:spcBef>
              <a:spcAft>
                <a:spcPts val="0"/>
              </a:spcAft>
              <a:buClr>
                <a:schemeClr val="dk1"/>
              </a:buClr>
              <a:buSzPct val="100000"/>
              <a:buNone/>
            </a:pPr>
            <a:endParaRPr dirty="0"/>
          </a:p>
          <a:p>
            <a:pPr marL="342900" lvl="0" indent="-342900" algn="l" rtl="0">
              <a:spcBef>
                <a:spcPts val="352"/>
              </a:spcBef>
              <a:spcAft>
                <a:spcPts val="0"/>
              </a:spcAft>
              <a:buClr>
                <a:schemeClr val="dk1"/>
              </a:buClr>
              <a:buSzPct val="100000"/>
              <a:buNone/>
            </a:pPr>
            <a:endParaRPr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1416;p171"/>
          <p:cNvSpPr txBox="1">
            <a:spLocks/>
          </p:cNvSpPr>
          <p:nvPr/>
        </p:nvSpPr>
        <p:spPr>
          <a:xfrm>
            <a:off x="484495" y="685800"/>
            <a:ext cx="8209128" cy="578323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342900" indent="-342900" algn="l">
              <a:spcBef>
                <a:spcPts val="0"/>
              </a:spcBef>
              <a:buClr>
                <a:schemeClr val="dk1"/>
              </a:buClr>
              <a:buSzPct val="100000"/>
            </a:pPr>
            <a:r>
              <a:rPr lang="en-US" b="1" dirty="0" smtClean="0">
                <a:solidFill>
                  <a:schemeClr val="tx1"/>
                </a:solidFill>
              </a:rPr>
              <a:t>All router line up</a:t>
            </a:r>
          </a:p>
          <a:p>
            <a:pPr marL="342900" indent="-342900" algn="l">
              <a:spcBef>
                <a:spcPts val="592"/>
              </a:spcBef>
              <a:buClr>
                <a:schemeClr val="dk1"/>
              </a:buClr>
              <a:buSzPct val="100000"/>
            </a:pPr>
            <a:endParaRPr lang="en-US" dirty="0" smtClean="0">
              <a:solidFill>
                <a:schemeClr val="tx1"/>
              </a:solidFill>
            </a:endParaRPr>
          </a:p>
          <a:p>
            <a:pPr marL="342900" indent="-342900" algn="l">
              <a:spcBef>
                <a:spcPts val="592"/>
              </a:spcBef>
              <a:buClr>
                <a:schemeClr val="dk1"/>
              </a:buClr>
              <a:buSzPct val="100000"/>
            </a:pPr>
            <a:r>
              <a:rPr lang="en-US" dirty="0" smtClean="0">
                <a:solidFill>
                  <a:schemeClr val="tx1"/>
                </a:solidFill>
              </a:rPr>
              <a:t>Default routing:</a:t>
            </a:r>
          </a:p>
          <a:p>
            <a:pPr marL="342900" indent="-342900" algn="l">
              <a:spcBef>
                <a:spcPts val="592"/>
              </a:spcBef>
              <a:buClr>
                <a:schemeClr val="dk1"/>
              </a:buClr>
              <a:buSzPct val="100000"/>
            </a:pPr>
            <a:r>
              <a:rPr lang="en-US" dirty="0" smtClean="0">
                <a:solidFill>
                  <a:schemeClr val="tx1"/>
                </a:solidFill>
              </a:rPr>
              <a:t>R1:</a:t>
            </a:r>
          </a:p>
          <a:p>
            <a:pPr marL="342900" indent="-342900" algn="l">
              <a:spcBef>
                <a:spcPts val="592"/>
              </a:spcBef>
              <a:buClr>
                <a:schemeClr val="dk1"/>
              </a:buClr>
              <a:buSzPct val="100000"/>
            </a:pPr>
            <a:r>
              <a:rPr lang="en-US" dirty="0" smtClean="0">
                <a:solidFill>
                  <a:schemeClr val="tx1"/>
                </a:solidFill>
              </a:rPr>
              <a:t>#</a:t>
            </a:r>
            <a:r>
              <a:rPr lang="en-US" dirty="0" err="1" smtClean="0">
                <a:solidFill>
                  <a:schemeClr val="tx1"/>
                </a:solidFill>
              </a:rPr>
              <a:t>Ip</a:t>
            </a:r>
            <a:r>
              <a:rPr lang="en-US" dirty="0" smtClean="0">
                <a:solidFill>
                  <a:schemeClr val="tx1"/>
                </a:solidFill>
              </a:rPr>
              <a:t> route 0.0.0.0  0.0.0.0 </a:t>
            </a:r>
          </a:p>
          <a:p>
            <a:pPr marL="342900" indent="-342900" algn="l">
              <a:spcBef>
                <a:spcPts val="592"/>
              </a:spcBef>
              <a:buClr>
                <a:schemeClr val="dk1"/>
              </a:buClr>
              <a:buSzPct val="100000"/>
            </a:pPr>
            <a:r>
              <a:rPr lang="en-US" dirty="0" smtClean="0">
                <a:solidFill>
                  <a:schemeClr val="tx1"/>
                </a:solidFill>
              </a:rPr>
              <a:t>10.0.0.2</a:t>
            </a:r>
          </a:p>
          <a:p>
            <a:pPr marL="342900" indent="-342900" algn="l">
              <a:spcBef>
                <a:spcPts val="592"/>
              </a:spcBef>
              <a:buClr>
                <a:schemeClr val="dk1"/>
              </a:buClr>
              <a:buSzPct val="100000"/>
            </a:pPr>
            <a:r>
              <a:rPr lang="en-US" dirty="0" smtClean="0">
                <a:solidFill>
                  <a:schemeClr val="tx1"/>
                </a:solidFill>
              </a:rPr>
              <a:t>R2:</a:t>
            </a:r>
          </a:p>
          <a:p>
            <a:pPr marL="342900" indent="-342900" algn="l">
              <a:spcBef>
                <a:spcPts val="592"/>
              </a:spcBef>
              <a:buClr>
                <a:schemeClr val="dk1"/>
              </a:buClr>
              <a:buSzPct val="100000"/>
            </a:pPr>
            <a:r>
              <a:rPr lang="en-US" dirty="0" smtClean="0">
                <a:solidFill>
                  <a:schemeClr val="tx1"/>
                </a:solidFill>
              </a:rPr>
              <a:t>#</a:t>
            </a:r>
            <a:r>
              <a:rPr lang="en-US" dirty="0" err="1" smtClean="0">
                <a:solidFill>
                  <a:schemeClr val="tx1"/>
                </a:solidFill>
              </a:rPr>
              <a:t>Ip</a:t>
            </a:r>
            <a:r>
              <a:rPr lang="en-US" dirty="0" smtClean="0">
                <a:solidFill>
                  <a:schemeClr val="tx1"/>
                </a:solidFill>
              </a:rPr>
              <a:t> route 0.0.0.0  0.0.0.0 </a:t>
            </a:r>
          </a:p>
          <a:p>
            <a:pPr marL="342900" indent="-342900" algn="l">
              <a:spcBef>
                <a:spcPts val="592"/>
              </a:spcBef>
              <a:buClr>
                <a:schemeClr val="dk1"/>
              </a:buClr>
              <a:buSzPct val="100000"/>
            </a:pPr>
            <a:r>
              <a:rPr lang="en-US" dirty="0" smtClean="0">
                <a:solidFill>
                  <a:schemeClr val="tx1"/>
                </a:solidFill>
              </a:rPr>
              <a:t>10.0.0.1</a:t>
            </a:r>
            <a:endParaRPr lang="en-US" dirty="0">
              <a:solidFill>
                <a:schemeClr val="tx1"/>
              </a:solidFill>
            </a:endParaRPr>
          </a:p>
        </p:txBody>
      </p:sp>
      <p:sp>
        <p:nvSpPr>
          <p:cNvPr id="7" name="TextBox 6"/>
          <p:cNvSpPr txBox="1"/>
          <p:nvPr/>
        </p:nvSpPr>
        <p:spPr>
          <a:xfrm>
            <a:off x="2855251" y="39469"/>
            <a:ext cx="3467616" cy="646331"/>
          </a:xfrm>
          <a:prstGeom prst="rect">
            <a:avLst/>
          </a:prstGeom>
          <a:noFill/>
        </p:spPr>
        <p:txBody>
          <a:bodyPr wrap="none" rtlCol="0">
            <a:spAutoFit/>
          </a:bodyPr>
          <a:lstStyle/>
          <a:p>
            <a:r>
              <a:rPr lang="en-US" sz="3600" b="1" dirty="0">
                <a:solidFill>
                  <a:schemeClr val="tx1"/>
                </a:solidFill>
              </a:rPr>
              <a:t>Default routing</a:t>
            </a:r>
            <a:endParaRPr lang="en-IN" sz="3600" b="1" dirty="0"/>
          </a:p>
        </p:txBody>
      </p:sp>
      <p:sp>
        <p:nvSpPr>
          <p:cNvPr id="8" name="Google Shape;1443;p173"/>
          <p:cNvSpPr/>
          <p:nvPr/>
        </p:nvSpPr>
        <p:spPr>
          <a:xfrm>
            <a:off x="5417023" y="1408331"/>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Google Shape;1444;p173"/>
          <p:cNvSpPr/>
          <p:nvPr/>
        </p:nvSpPr>
        <p:spPr>
          <a:xfrm>
            <a:off x="5264623" y="2627531"/>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 name="Google Shape;1445;p173"/>
          <p:cNvSpPr/>
          <p:nvPr/>
        </p:nvSpPr>
        <p:spPr>
          <a:xfrm>
            <a:off x="5036023" y="3618131"/>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 name="Google Shape;1446;p173"/>
          <p:cNvSpPr/>
          <p:nvPr/>
        </p:nvSpPr>
        <p:spPr>
          <a:xfrm>
            <a:off x="6179023" y="3618131"/>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 name="Google Shape;1447;p173"/>
          <p:cNvSpPr/>
          <p:nvPr/>
        </p:nvSpPr>
        <p:spPr>
          <a:xfrm>
            <a:off x="7398223" y="1332131"/>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 name="Google Shape;1448;p173"/>
          <p:cNvSpPr/>
          <p:nvPr/>
        </p:nvSpPr>
        <p:spPr>
          <a:xfrm>
            <a:off x="7245823" y="2551331"/>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 name="Google Shape;1449;p173"/>
          <p:cNvSpPr/>
          <p:nvPr/>
        </p:nvSpPr>
        <p:spPr>
          <a:xfrm>
            <a:off x="7017223" y="3541931"/>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 name="Google Shape;1450;p173"/>
          <p:cNvSpPr/>
          <p:nvPr/>
        </p:nvSpPr>
        <p:spPr>
          <a:xfrm>
            <a:off x="8160223" y="3541931"/>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6" name="Google Shape;1451;p173"/>
          <p:cNvCxnSpPr>
            <a:stCxn id="8" idx="6"/>
          </p:cNvCxnSpPr>
          <p:nvPr/>
        </p:nvCxnSpPr>
        <p:spPr>
          <a:xfrm>
            <a:off x="6102823" y="1713131"/>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17" name="Google Shape;1452;p173"/>
          <p:cNvCxnSpPr>
            <a:stCxn id="8" idx="4"/>
            <a:endCxn id="9" idx="0"/>
          </p:cNvCxnSpPr>
          <p:nvPr/>
        </p:nvCxnSpPr>
        <p:spPr>
          <a:xfrm flipH="1">
            <a:off x="5721823" y="2017931"/>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8" name="Google Shape;1453;p173"/>
          <p:cNvCxnSpPr>
            <a:stCxn id="12" idx="4"/>
            <a:endCxn id="13" idx="0"/>
          </p:cNvCxnSpPr>
          <p:nvPr/>
        </p:nvCxnSpPr>
        <p:spPr>
          <a:xfrm flipH="1">
            <a:off x="7703023" y="1941731"/>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9" name="Google Shape;1454;p173"/>
          <p:cNvCxnSpPr>
            <a:stCxn id="9" idx="2"/>
            <a:endCxn id="10" idx="0"/>
          </p:cNvCxnSpPr>
          <p:nvPr/>
        </p:nvCxnSpPr>
        <p:spPr>
          <a:xfrm flipH="1">
            <a:off x="5302723" y="2932331"/>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20" name="Google Shape;1455;p173"/>
          <p:cNvCxnSpPr>
            <a:stCxn id="9" idx="2"/>
            <a:endCxn id="11" idx="0"/>
          </p:cNvCxnSpPr>
          <p:nvPr/>
        </p:nvCxnSpPr>
        <p:spPr>
          <a:xfrm>
            <a:off x="5721823" y="2932331"/>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21" name="Google Shape;1456;p173"/>
          <p:cNvCxnSpPr>
            <a:stCxn id="13" idx="2"/>
            <a:endCxn id="14" idx="0"/>
          </p:cNvCxnSpPr>
          <p:nvPr/>
        </p:nvCxnSpPr>
        <p:spPr>
          <a:xfrm flipH="1">
            <a:off x="7283923" y="2856131"/>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22" name="Google Shape;1457;p173"/>
          <p:cNvCxnSpPr>
            <a:stCxn id="13" idx="2"/>
            <a:endCxn id="15" idx="0"/>
          </p:cNvCxnSpPr>
          <p:nvPr/>
        </p:nvCxnSpPr>
        <p:spPr>
          <a:xfrm>
            <a:off x="7703023" y="2856131"/>
            <a:ext cx="723900" cy="685800"/>
          </a:xfrm>
          <a:prstGeom prst="straightConnector1">
            <a:avLst/>
          </a:prstGeom>
          <a:noFill/>
          <a:ln w="9525" cap="flat" cmpd="sng">
            <a:solidFill>
              <a:srgbClr val="4A7DBA"/>
            </a:solidFill>
            <a:prstDash val="solid"/>
            <a:round/>
            <a:headEnd type="none" w="sm" len="sm"/>
            <a:tailEnd type="none" w="sm" len="sm"/>
          </a:ln>
        </p:spPr>
      </p:cxnSp>
      <p:sp>
        <p:nvSpPr>
          <p:cNvPr id="23" name="TextBox 22"/>
          <p:cNvSpPr txBox="1"/>
          <p:nvPr/>
        </p:nvSpPr>
        <p:spPr>
          <a:xfrm>
            <a:off x="5932375" y="1285573"/>
            <a:ext cx="780983" cy="307777"/>
          </a:xfrm>
          <a:prstGeom prst="rect">
            <a:avLst/>
          </a:prstGeom>
          <a:noFill/>
        </p:spPr>
        <p:txBody>
          <a:bodyPr wrap="none" rtlCol="0">
            <a:spAutoFit/>
          </a:bodyPr>
          <a:lstStyle/>
          <a:p>
            <a:r>
              <a:rPr lang="en-US" dirty="0" smtClean="0"/>
              <a:t>10.0.01</a:t>
            </a:r>
            <a:endParaRPr lang="en-IN" dirty="0"/>
          </a:p>
        </p:txBody>
      </p:sp>
      <p:sp>
        <p:nvSpPr>
          <p:cNvPr id="24" name="TextBox 23"/>
          <p:cNvSpPr txBox="1"/>
          <p:nvPr/>
        </p:nvSpPr>
        <p:spPr>
          <a:xfrm>
            <a:off x="6758117" y="1260889"/>
            <a:ext cx="830677" cy="307777"/>
          </a:xfrm>
          <a:prstGeom prst="rect">
            <a:avLst/>
          </a:prstGeom>
          <a:noFill/>
        </p:spPr>
        <p:txBody>
          <a:bodyPr wrap="none" rtlCol="0">
            <a:spAutoFit/>
          </a:bodyPr>
          <a:lstStyle/>
          <a:p>
            <a:r>
              <a:rPr lang="en-US" dirty="0" smtClean="0"/>
              <a:t>10.0.0.2</a:t>
            </a:r>
            <a:endParaRPr lang="en-IN" dirty="0"/>
          </a:p>
        </p:txBody>
      </p:sp>
      <p:sp>
        <p:nvSpPr>
          <p:cNvPr id="25" name="TextBox 24"/>
          <p:cNvSpPr txBox="1"/>
          <p:nvPr/>
        </p:nvSpPr>
        <p:spPr>
          <a:xfrm>
            <a:off x="5306676" y="2239681"/>
            <a:ext cx="1128835" cy="307777"/>
          </a:xfrm>
          <a:prstGeom prst="rect">
            <a:avLst/>
          </a:prstGeom>
          <a:noFill/>
        </p:spPr>
        <p:txBody>
          <a:bodyPr wrap="none" rtlCol="0">
            <a:spAutoFit/>
          </a:bodyPr>
          <a:lstStyle/>
          <a:p>
            <a:r>
              <a:rPr lang="en-US" dirty="0" smtClean="0"/>
              <a:t>192.168.1.1</a:t>
            </a:r>
            <a:endParaRPr lang="en-IN" dirty="0"/>
          </a:p>
        </p:txBody>
      </p:sp>
      <p:sp>
        <p:nvSpPr>
          <p:cNvPr id="26" name="TextBox 25"/>
          <p:cNvSpPr txBox="1"/>
          <p:nvPr/>
        </p:nvSpPr>
        <p:spPr>
          <a:xfrm>
            <a:off x="7157655" y="2171066"/>
            <a:ext cx="1128835" cy="307777"/>
          </a:xfrm>
          <a:prstGeom prst="rect">
            <a:avLst/>
          </a:prstGeom>
          <a:noFill/>
        </p:spPr>
        <p:txBody>
          <a:bodyPr wrap="none" rtlCol="0">
            <a:spAutoFit/>
          </a:bodyPr>
          <a:lstStyle/>
          <a:p>
            <a:r>
              <a:rPr lang="en-US" dirty="0" smtClean="0"/>
              <a:t>192.168.1.2</a:t>
            </a:r>
            <a:endParaRPr lang="en-IN" dirty="0"/>
          </a:p>
        </p:txBody>
      </p:sp>
    </p:spTree>
    <p:extLst>
      <p:ext uri="{BB962C8B-B14F-4D97-AF65-F5344CB8AC3E}">
        <p14:creationId xmlns:p14="http://schemas.microsoft.com/office/powerpoint/2010/main" val="27294048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IPV6</a:t>
            </a:r>
            <a:endParaRPr/>
          </a:p>
        </p:txBody>
      </p:sp>
      <p:sp>
        <p:nvSpPr>
          <p:cNvPr id="602" name="Google Shape;602;p7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Internet Protocol version 6 (IPv6) is the most recent version of the Internet Protocol (IP), the communications protocol that provides an identification and location system for computers on networks and routes traffic across the Internet.</a:t>
            </a:r>
            <a:endParaRPr dirty="0"/>
          </a:p>
          <a:p>
            <a:pPr marL="342900" lvl="0" indent="-342900" algn="l" rtl="0">
              <a:spcBef>
                <a:spcPts val="640"/>
              </a:spcBef>
              <a:spcAft>
                <a:spcPts val="0"/>
              </a:spcAft>
              <a:buClr>
                <a:schemeClr val="dk1"/>
              </a:buClr>
              <a:buSzPts val="3200"/>
              <a:buChar char="•"/>
            </a:pPr>
            <a:r>
              <a:rPr lang="en-US" dirty="0"/>
              <a:t>Next version of ipv4</a:t>
            </a:r>
            <a:endParaRPr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75"/>
          <p:cNvSpPr txBox="1">
            <a:spLocks noGrp="1"/>
          </p:cNvSpPr>
          <p:nvPr>
            <p:ph type="body" idx="1"/>
          </p:nvPr>
        </p:nvSpPr>
        <p:spPr>
          <a:xfrm>
            <a:off x="457200" y="762000"/>
            <a:ext cx="8229600" cy="5364163"/>
          </a:xfrm>
          <a:prstGeom prst="rect">
            <a:avLst/>
          </a:prstGeom>
          <a:noFill/>
          <a:ln>
            <a:noFill/>
          </a:ln>
        </p:spPr>
        <p:txBody>
          <a:bodyPr spcFirstLastPara="1" wrap="square" lIns="91425" tIns="45700" rIns="91425" bIns="45700" anchor="t" anchorCtr="0">
            <a:normAutofit/>
          </a:bodyPr>
          <a:lstStyle/>
          <a:p>
            <a:pPr marL="342900" lvl="0" indent="-342900" algn="ctr" rtl="0">
              <a:spcBef>
                <a:spcPts val="0"/>
              </a:spcBef>
              <a:spcAft>
                <a:spcPts val="0"/>
              </a:spcAft>
              <a:buClr>
                <a:schemeClr val="dk1"/>
              </a:buClr>
              <a:buSzPts val="3200"/>
              <a:buNone/>
            </a:pPr>
            <a:r>
              <a:rPr lang="en-US" b="1" dirty="0"/>
              <a:t>IPV6 FORMAT</a:t>
            </a:r>
            <a:endParaRPr b="1" dirty="0"/>
          </a:p>
          <a:p>
            <a:pPr marL="342900" lvl="0" indent="-342900" algn="l" rtl="0">
              <a:spcBef>
                <a:spcPts val="640"/>
              </a:spcBef>
              <a:spcAft>
                <a:spcPts val="0"/>
              </a:spcAft>
              <a:buClr>
                <a:schemeClr val="dk1"/>
              </a:buClr>
              <a:buSzPts val="3200"/>
              <a:buChar char="•"/>
            </a:pPr>
            <a:r>
              <a:rPr lang="en-US" dirty="0"/>
              <a:t>IPV6 IS THE  128 BIT LONG.               </a:t>
            </a:r>
            <a:endParaRPr dirty="0"/>
          </a:p>
          <a:p>
            <a:pPr marL="342900" lvl="0" indent="-342900" algn="l" rtl="0">
              <a:spcBef>
                <a:spcPts val="640"/>
              </a:spcBef>
              <a:spcAft>
                <a:spcPts val="0"/>
              </a:spcAft>
              <a:buClr>
                <a:schemeClr val="dk1"/>
              </a:buClr>
              <a:buSzPts val="3200"/>
              <a:buChar char="•"/>
            </a:pPr>
            <a:r>
              <a:rPr lang="en-US" dirty="0"/>
              <a:t>MUCH LARGE THAN 32 BIT IPV4 ADDRESS</a:t>
            </a:r>
            <a:endParaRPr dirty="0"/>
          </a:p>
          <a:p>
            <a:pPr marL="342900" lvl="0" indent="-342900" algn="l" rtl="0">
              <a:spcBef>
                <a:spcPts val="640"/>
              </a:spcBef>
              <a:spcAft>
                <a:spcPts val="0"/>
              </a:spcAft>
              <a:buClr>
                <a:schemeClr val="dk1"/>
              </a:buClr>
              <a:buSzPts val="3200"/>
              <a:buChar char="•"/>
            </a:pPr>
            <a:r>
              <a:rPr lang="en-US" dirty="0"/>
              <a:t>IPV6 UES EIGHT GROUP OF FOUR HEXA</a:t>
            </a:r>
            <a:endParaRPr dirty="0"/>
          </a:p>
          <a:p>
            <a:pPr marL="342900" lvl="0" indent="-342900" algn="l" rtl="0">
              <a:spcBef>
                <a:spcPts val="640"/>
              </a:spcBef>
              <a:spcAft>
                <a:spcPts val="0"/>
              </a:spcAft>
              <a:buClr>
                <a:schemeClr val="dk1"/>
              </a:buClr>
              <a:buSzPts val="3200"/>
              <a:buNone/>
            </a:pPr>
            <a:r>
              <a:rPr lang="en-US" dirty="0"/>
              <a:t> DECIMAL DIGITS SEPARATED BY COLONS.(:)</a:t>
            </a:r>
            <a:endParaRPr dirty="0"/>
          </a:p>
          <a:p>
            <a:pPr marL="342900" lvl="0" indent="-342900" algn="l" rtl="0">
              <a:spcBef>
                <a:spcPts val="640"/>
              </a:spcBef>
              <a:spcAft>
                <a:spcPts val="0"/>
              </a:spcAft>
              <a:buClr>
                <a:schemeClr val="dk1"/>
              </a:buClr>
              <a:buSzPts val="3200"/>
              <a:buChar char="•"/>
            </a:pPr>
            <a:r>
              <a:rPr lang="en-US" dirty="0"/>
              <a:t>4 ACT AS A NETWORK AND 4 ACT AS A HOST</a:t>
            </a:r>
            <a:endParaRPr dirty="0"/>
          </a:p>
          <a:p>
            <a:pPr marL="342900" lvl="0" indent="-342900" algn="l" rtl="0">
              <a:spcBef>
                <a:spcPts val="640"/>
              </a:spcBef>
              <a:spcAft>
                <a:spcPts val="0"/>
              </a:spcAft>
              <a:buClr>
                <a:schemeClr val="dk1"/>
              </a:buClr>
              <a:buSzPts val="3200"/>
              <a:buNone/>
            </a:pPr>
            <a:r>
              <a:rPr lang="en-US" dirty="0"/>
              <a:t> </a:t>
            </a:r>
            <a:r>
              <a:rPr lang="en-US" dirty="0" err="1" smtClean="0"/>
              <a:t>HexaDecimal</a:t>
            </a:r>
            <a:r>
              <a:rPr lang="en-US" dirty="0" smtClean="0"/>
              <a:t> :0123456789ABCDEF (0-15)</a:t>
            </a:r>
          </a:p>
          <a:p>
            <a:pPr marL="342900" lvl="0">
              <a:spcBef>
                <a:spcPts val="640"/>
              </a:spcBef>
              <a:buSzPts val="3200"/>
              <a:buNone/>
            </a:pPr>
            <a:r>
              <a:rPr lang="en-US" dirty="0"/>
              <a:t>EX:   153A:897F:0006:0078:ABCD:4567:456F:0897</a:t>
            </a:r>
            <a:endParaRPr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Methods</a:t>
            </a:r>
            <a:endParaRPr/>
          </a:p>
        </p:txBody>
      </p:sp>
      <p:sp>
        <p:nvSpPr>
          <p:cNvPr id="614" name="Google Shape;614;p7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Addressing short method:</a:t>
            </a:r>
            <a:endParaRPr dirty="0"/>
          </a:p>
          <a:p>
            <a:pPr marL="514350" lvl="0" indent="-514350" algn="l" rtl="0">
              <a:spcBef>
                <a:spcPts val="640"/>
              </a:spcBef>
              <a:spcAft>
                <a:spcPts val="0"/>
              </a:spcAft>
              <a:buClr>
                <a:schemeClr val="dk1"/>
              </a:buClr>
              <a:buSzPts val="3200"/>
              <a:buFont typeface="Calibri"/>
              <a:buAutoNum type="arabicPeriod"/>
            </a:pPr>
            <a:r>
              <a:rPr lang="en-US" dirty="0"/>
              <a:t>Two colons</a:t>
            </a:r>
            <a:endParaRPr dirty="0"/>
          </a:p>
          <a:p>
            <a:pPr marL="514350" lvl="0" indent="-514350" algn="l" rtl="0">
              <a:spcBef>
                <a:spcPts val="640"/>
              </a:spcBef>
              <a:spcAft>
                <a:spcPts val="0"/>
              </a:spcAft>
              <a:buClr>
                <a:schemeClr val="dk1"/>
              </a:buClr>
              <a:buSzPts val="3200"/>
              <a:buNone/>
            </a:pPr>
            <a:r>
              <a:rPr lang="en-US" dirty="0"/>
              <a:t>     153A:897F:0000:0000:0000:4567:456F:0897</a:t>
            </a:r>
            <a:endParaRPr dirty="0"/>
          </a:p>
          <a:p>
            <a:pPr marL="514350" lvl="0" indent="-514350" algn="l" rtl="0">
              <a:spcBef>
                <a:spcPts val="640"/>
              </a:spcBef>
              <a:spcAft>
                <a:spcPts val="0"/>
              </a:spcAft>
              <a:buClr>
                <a:schemeClr val="dk1"/>
              </a:buClr>
              <a:buSzPts val="3200"/>
              <a:buNone/>
            </a:pPr>
            <a:r>
              <a:rPr lang="en-US" dirty="0"/>
              <a:t>      153A:897F::4567:456F:897</a:t>
            </a:r>
            <a:endParaRPr dirty="0"/>
          </a:p>
          <a:p>
            <a:pPr marL="514350" lvl="0" indent="-514350" algn="l" rtl="0">
              <a:spcBef>
                <a:spcPts val="640"/>
              </a:spcBef>
              <a:spcAft>
                <a:spcPts val="0"/>
              </a:spcAft>
              <a:buClr>
                <a:schemeClr val="dk1"/>
              </a:buClr>
              <a:buSzPts val="3200"/>
              <a:buNone/>
            </a:pPr>
            <a:r>
              <a:rPr lang="en-US" dirty="0"/>
              <a:t>2. Zero omitted</a:t>
            </a:r>
            <a:endParaRPr dirty="0"/>
          </a:p>
          <a:p>
            <a:pPr marL="514350" lvl="0" indent="-514350" algn="l" rtl="0">
              <a:spcBef>
                <a:spcPts val="640"/>
              </a:spcBef>
              <a:spcAft>
                <a:spcPts val="0"/>
              </a:spcAft>
              <a:buClr>
                <a:schemeClr val="dk1"/>
              </a:buClr>
              <a:buSzPts val="3200"/>
              <a:buNone/>
            </a:pPr>
            <a:r>
              <a:rPr lang="en-US" dirty="0"/>
              <a:t>     153A:897F:0006:0078:AB0D:4567:456F:0897</a:t>
            </a:r>
            <a:endParaRPr dirty="0"/>
          </a:p>
          <a:p>
            <a:pPr marL="514350" lvl="0" indent="-514350" algn="l" rtl="0">
              <a:spcBef>
                <a:spcPts val="640"/>
              </a:spcBef>
              <a:spcAft>
                <a:spcPts val="0"/>
              </a:spcAft>
              <a:buClr>
                <a:schemeClr val="dk1"/>
              </a:buClr>
              <a:buSzPts val="3200"/>
              <a:buNone/>
            </a:pPr>
            <a:r>
              <a:rPr lang="en-US" dirty="0"/>
              <a:t>      153A:897F:6:78:AB0D:4567:456F:897</a:t>
            </a:r>
            <a:endParaRPr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7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IPV6 CIDR</a:t>
            </a:r>
            <a:endParaRPr/>
          </a:p>
        </p:txBody>
      </p:sp>
      <p:sp>
        <p:nvSpPr>
          <p:cNvPr id="620" name="Google Shape;620;p7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Under Classless Inter-Domain Routing (CIDR), IPv6 addresses can be aggregated with prefixes of arbitrary bit length, similar to IPv4 addresses. For example, 2001:0db8:/32 is an IPv6 CIDR address, with the first 32 bits, or 2001:db8, as the network address.</a:t>
            </a:r>
            <a:endParaRPr/>
          </a:p>
          <a:p>
            <a:pPr marL="342900" lvl="0" indent="-342900" algn="l" rtl="0">
              <a:spcBef>
                <a:spcPts val="640"/>
              </a:spcBef>
              <a:spcAft>
                <a:spcPts val="0"/>
              </a:spcAft>
              <a:buClr>
                <a:schemeClr val="dk1"/>
              </a:buClr>
              <a:buSzPts val="3200"/>
              <a:buNone/>
            </a:pPr>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TYPE OF COMMUNICATION</a:t>
            </a:r>
            <a:endParaRPr/>
          </a:p>
        </p:txBody>
      </p:sp>
      <p:sp>
        <p:nvSpPr>
          <p:cNvPr id="626" name="Google Shape;626;p7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Unicast:</a:t>
            </a:r>
            <a:endParaRPr/>
          </a:p>
          <a:p>
            <a:pPr marL="342900" lvl="0" indent="-342900" algn="l" rtl="0">
              <a:spcBef>
                <a:spcPts val="640"/>
              </a:spcBef>
              <a:spcAft>
                <a:spcPts val="0"/>
              </a:spcAft>
              <a:buClr>
                <a:schemeClr val="dk1"/>
              </a:buClr>
              <a:buSzPts val="3200"/>
              <a:buNone/>
            </a:pPr>
            <a:r>
              <a:rPr lang="en-US"/>
              <a:t>         One to one communication.</a:t>
            </a:r>
            <a:endParaRPr/>
          </a:p>
          <a:p>
            <a:pPr marL="342900" lvl="0" indent="-3429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None/>
            </a:pPr>
            <a:r>
              <a:rPr lang="en-US"/>
              <a:t>   </a:t>
            </a:r>
            <a:endParaRPr/>
          </a:p>
          <a:p>
            <a:pPr marL="342900" lvl="0" indent="-342900" algn="l" rtl="0">
              <a:spcBef>
                <a:spcPts val="640"/>
              </a:spcBef>
              <a:spcAft>
                <a:spcPts val="0"/>
              </a:spcAft>
              <a:buClr>
                <a:schemeClr val="dk1"/>
              </a:buClr>
              <a:buSzPts val="3200"/>
              <a:buChar char="•"/>
            </a:pPr>
            <a:r>
              <a:rPr lang="en-US"/>
              <a:t>Multicast:</a:t>
            </a:r>
            <a:endParaRPr/>
          </a:p>
          <a:p>
            <a:pPr marL="342900" lvl="0" indent="-342900" algn="l" rtl="0">
              <a:spcBef>
                <a:spcPts val="640"/>
              </a:spcBef>
              <a:spcAft>
                <a:spcPts val="0"/>
              </a:spcAft>
              <a:buClr>
                <a:schemeClr val="dk1"/>
              </a:buClr>
              <a:buSzPts val="3200"/>
              <a:buNone/>
            </a:pPr>
            <a:r>
              <a:rPr lang="en-US"/>
              <a:t>          One to many communication</a:t>
            </a:r>
            <a:endParaRPr/>
          </a:p>
        </p:txBody>
      </p:sp>
      <p:sp>
        <p:nvSpPr>
          <p:cNvPr id="627" name="Google Shape;627;p78"/>
          <p:cNvSpPr/>
          <p:nvPr/>
        </p:nvSpPr>
        <p:spPr>
          <a:xfrm>
            <a:off x="1600200" y="3048000"/>
            <a:ext cx="6096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8" name="Google Shape;628;p78"/>
          <p:cNvSpPr/>
          <p:nvPr/>
        </p:nvSpPr>
        <p:spPr>
          <a:xfrm>
            <a:off x="4038600" y="3048000"/>
            <a:ext cx="5334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 </a:t>
            </a:r>
            <a:endParaRPr sz="1800">
              <a:solidFill>
                <a:schemeClr val="lt1"/>
              </a:solidFill>
              <a:latin typeface="Calibri"/>
              <a:ea typeface="Calibri"/>
              <a:cs typeface="Calibri"/>
              <a:sym typeface="Calibri"/>
            </a:endParaRPr>
          </a:p>
        </p:txBody>
      </p:sp>
      <p:cxnSp>
        <p:nvCxnSpPr>
          <p:cNvPr id="629" name="Google Shape;629;p78"/>
          <p:cNvCxnSpPr>
            <a:stCxn id="627" idx="3"/>
            <a:endCxn id="628" idx="1"/>
          </p:cNvCxnSpPr>
          <p:nvPr/>
        </p:nvCxnSpPr>
        <p:spPr>
          <a:xfrm>
            <a:off x="2209800" y="3276600"/>
            <a:ext cx="1828800" cy="0"/>
          </a:xfrm>
          <a:prstGeom prst="straightConnector1">
            <a:avLst/>
          </a:prstGeom>
          <a:noFill/>
          <a:ln w="9525" cap="flat" cmpd="sng">
            <a:solidFill>
              <a:srgbClr val="4A7DBA"/>
            </a:solidFill>
            <a:prstDash val="solid"/>
            <a:round/>
            <a:headEnd type="none" w="sm" len="sm"/>
            <a:tailEnd type="none" w="sm" len="sm"/>
          </a:ln>
        </p:spPr>
      </p:cxnSp>
      <p:sp>
        <p:nvSpPr>
          <p:cNvPr id="630" name="Google Shape;630;p78"/>
          <p:cNvSpPr/>
          <p:nvPr/>
        </p:nvSpPr>
        <p:spPr>
          <a:xfrm>
            <a:off x="2438400" y="5410200"/>
            <a:ext cx="533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1" name="Google Shape;631;p78"/>
          <p:cNvSpPr/>
          <p:nvPr/>
        </p:nvSpPr>
        <p:spPr>
          <a:xfrm>
            <a:off x="4191000" y="5029200"/>
            <a:ext cx="6096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2" name="Google Shape;632;p78"/>
          <p:cNvSpPr/>
          <p:nvPr/>
        </p:nvSpPr>
        <p:spPr>
          <a:xfrm>
            <a:off x="4191000" y="5410200"/>
            <a:ext cx="6096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3" name="Google Shape;633;p78"/>
          <p:cNvSpPr/>
          <p:nvPr/>
        </p:nvSpPr>
        <p:spPr>
          <a:xfrm>
            <a:off x="4191000" y="5867400"/>
            <a:ext cx="6096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634" name="Google Shape;634;p78"/>
          <p:cNvCxnSpPr>
            <a:stCxn id="630" idx="3"/>
            <a:endCxn id="633" idx="1"/>
          </p:cNvCxnSpPr>
          <p:nvPr/>
        </p:nvCxnSpPr>
        <p:spPr>
          <a:xfrm>
            <a:off x="2971800" y="5600700"/>
            <a:ext cx="1219200" cy="419100"/>
          </a:xfrm>
          <a:prstGeom prst="straightConnector1">
            <a:avLst/>
          </a:prstGeom>
          <a:noFill/>
          <a:ln w="9525" cap="flat" cmpd="sng">
            <a:solidFill>
              <a:srgbClr val="4A7DBA"/>
            </a:solidFill>
            <a:prstDash val="solid"/>
            <a:round/>
            <a:headEnd type="none" w="sm" len="sm"/>
            <a:tailEnd type="none" w="sm" len="sm"/>
          </a:ln>
        </p:spPr>
      </p:cxnSp>
      <p:cxnSp>
        <p:nvCxnSpPr>
          <p:cNvPr id="635" name="Google Shape;635;p78"/>
          <p:cNvCxnSpPr>
            <a:stCxn id="630" idx="3"/>
          </p:cNvCxnSpPr>
          <p:nvPr/>
        </p:nvCxnSpPr>
        <p:spPr>
          <a:xfrm rot="10800000" flipH="1">
            <a:off x="2971800" y="5257800"/>
            <a:ext cx="1295400" cy="342900"/>
          </a:xfrm>
          <a:prstGeom prst="straightConnector1">
            <a:avLst/>
          </a:prstGeom>
          <a:noFill/>
          <a:ln w="9525" cap="flat" cmpd="sng">
            <a:solidFill>
              <a:srgbClr val="4A7DBA"/>
            </a:solidFill>
            <a:prstDash val="solid"/>
            <a:round/>
            <a:headEnd type="none" w="sm" len="sm"/>
            <a:tailEnd type="none" w="sm" len="sm"/>
          </a:ln>
        </p:spPr>
      </p:cxnSp>
      <p:cxnSp>
        <p:nvCxnSpPr>
          <p:cNvPr id="636" name="Google Shape;636;p78"/>
          <p:cNvCxnSpPr>
            <a:stCxn id="630" idx="3"/>
          </p:cNvCxnSpPr>
          <p:nvPr/>
        </p:nvCxnSpPr>
        <p:spPr>
          <a:xfrm rot="10800000" flipH="1">
            <a:off x="2971800" y="5562600"/>
            <a:ext cx="1447800" cy="381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79"/>
          <p:cNvSpPr txBox="1">
            <a:spLocks noGrp="1"/>
          </p:cNvSpPr>
          <p:nvPr>
            <p:ph type="body" idx="1"/>
          </p:nvPr>
        </p:nvSpPr>
        <p:spPr>
          <a:xfrm>
            <a:off x="457200" y="533400"/>
            <a:ext cx="8229600" cy="55927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Any cast</a:t>
            </a:r>
            <a:endParaRPr/>
          </a:p>
          <a:p>
            <a:pPr marL="342900" lvl="0" indent="-342900" algn="l" rtl="0">
              <a:spcBef>
                <a:spcPts val="640"/>
              </a:spcBef>
              <a:spcAft>
                <a:spcPts val="0"/>
              </a:spcAft>
              <a:buClr>
                <a:schemeClr val="dk1"/>
              </a:buClr>
              <a:buSzPts val="3200"/>
              <a:buNone/>
            </a:pPr>
            <a:r>
              <a:rPr lang="en-US"/>
              <a:t>            A packet sent to an anycast address is delivered to the closest interface</a:t>
            </a:r>
            <a:endParaRPr/>
          </a:p>
        </p:txBody>
      </p:sp>
      <p:sp>
        <p:nvSpPr>
          <p:cNvPr id="642" name="Google Shape;642;p79"/>
          <p:cNvSpPr/>
          <p:nvPr/>
        </p:nvSpPr>
        <p:spPr>
          <a:xfrm>
            <a:off x="1219200" y="3886200"/>
            <a:ext cx="609600" cy="533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3" name="Google Shape;643;p79"/>
          <p:cNvSpPr/>
          <p:nvPr/>
        </p:nvSpPr>
        <p:spPr>
          <a:xfrm>
            <a:off x="3581400" y="3962400"/>
            <a:ext cx="609600" cy="533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4" name="Google Shape;644;p79"/>
          <p:cNvSpPr/>
          <p:nvPr/>
        </p:nvSpPr>
        <p:spPr>
          <a:xfrm>
            <a:off x="6477000" y="5562600"/>
            <a:ext cx="609600" cy="533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5" name="Google Shape;645;p79"/>
          <p:cNvSpPr/>
          <p:nvPr/>
        </p:nvSpPr>
        <p:spPr>
          <a:xfrm>
            <a:off x="6400800" y="4114800"/>
            <a:ext cx="609600" cy="533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6" name="Google Shape;646;p79"/>
          <p:cNvSpPr/>
          <p:nvPr/>
        </p:nvSpPr>
        <p:spPr>
          <a:xfrm>
            <a:off x="6477000" y="2590800"/>
            <a:ext cx="609600" cy="533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647" name="Google Shape;647;p79"/>
          <p:cNvCxnSpPr>
            <a:stCxn id="642" idx="3"/>
            <a:endCxn id="643" idx="1"/>
          </p:cNvCxnSpPr>
          <p:nvPr/>
        </p:nvCxnSpPr>
        <p:spPr>
          <a:xfrm>
            <a:off x="1828800" y="4152900"/>
            <a:ext cx="1752600" cy="76200"/>
          </a:xfrm>
          <a:prstGeom prst="straightConnector1">
            <a:avLst/>
          </a:prstGeom>
          <a:noFill/>
          <a:ln w="9525" cap="flat" cmpd="sng">
            <a:solidFill>
              <a:srgbClr val="4A7DBA"/>
            </a:solidFill>
            <a:prstDash val="solid"/>
            <a:round/>
            <a:headEnd type="none" w="sm" len="sm"/>
            <a:tailEnd type="none" w="sm" len="sm"/>
          </a:ln>
        </p:spPr>
      </p:cxnSp>
      <p:cxnSp>
        <p:nvCxnSpPr>
          <p:cNvPr id="648" name="Google Shape;648;p79"/>
          <p:cNvCxnSpPr/>
          <p:nvPr/>
        </p:nvCxnSpPr>
        <p:spPr>
          <a:xfrm>
            <a:off x="4191000" y="4495800"/>
            <a:ext cx="2209800" cy="1219200"/>
          </a:xfrm>
          <a:prstGeom prst="straightConnector1">
            <a:avLst/>
          </a:prstGeom>
          <a:noFill/>
          <a:ln w="9525" cap="flat" cmpd="sng">
            <a:solidFill>
              <a:srgbClr val="4A7DBA"/>
            </a:solidFill>
            <a:prstDash val="solid"/>
            <a:round/>
            <a:headEnd type="none" w="sm" len="sm"/>
            <a:tailEnd type="none" w="sm" len="sm"/>
          </a:ln>
        </p:spPr>
      </p:cxnSp>
      <p:cxnSp>
        <p:nvCxnSpPr>
          <p:cNvPr id="649" name="Google Shape;649;p79"/>
          <p:cNvCxnSpPr>
            <a:stCxn id="643" idx="3"/>
          </p:cNvCxnSpPr>
          <p:nvPr/>
        </p:nvCxnSpPr>
        <p:spPr>
          <a:xfrm>
            <a:off x="4191000" y="4229100"/>
            <a:ext cx="2286000" cy="190500"/>
          </a:xfrm>
          <a:prstGeom prst="straightConnector1">
            <a:avLst/>
          </a:prstGeom>
          <a:noFill/>
          <a:ln w="9525" cap="flat" cmpd="sng">
            <a:solidFill>
              <a:srgbClr val="4A7DBA"/>
            </a:solidFill>
            <a:prstDash val="solid"/>
            <a:round/>
            <a:headEnd type="none" w="sm" len="sm"/>
            <a:tailEnd type="none" w="sm" len="sm"/>
          </a:ln>
        </p:spPr>
      </p:cxnSp>
      <p:cxnSp>
        <p:nvCxnSpPr>
          <p:cNvPr id="650" name="Google Shape;650;p79"/>
          <p:cNvCxnSpPr>
            <a:endCxn id="646" idx="1"/>
          </p:cNvCxnSpPr>
          <p:nvPr/>
        </p:nvCxnSpPr>
        <p:spPr>
          <a:xfrm rot="10800000" flipH="1">
            <a:off x="4267200" y="2857500"/>
            <a:ext cx="2209800" cy="12573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CABLING IN NETWORK</a:t>
            </a:r>
            <a:endParaRPr/>
          </a:p>
        </p:txBody>
      </p:sp>
      <p:sp>
        <p:nvSpPr>
          <p:cNvPr id="656" name="Google Shape;656;p8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Communications cables are used to interconnect, connect and transfer data and information between computers, routers, switches and storage area networks .</a:t>
            </a: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Char char="•"/>
            </a:pPr>
            <a:r>
              <a:rPr lang="en-US" dirty="0"/>
              <a:t> These cables are essentially the carrier or media through which data flows.</a:t>
            </a:r>
            <a:endParaRPr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8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COAXIAL CABLING</a:t>
            </a:r>
            <a:endParaRPr/>
          </a:p>
        </p:txBody>
      </p:sp>
      <p:sp>
        <p:nvSpPr>
          <p:cNvPr id="662" name="Google Shape;662;p8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coaxial cable is an electrical cable with a copper conductor and an insulator shielding around it and a braided metal mesh that prevents signal interference and cross talk. Coaxial cable is also known as </a:t>
            </a:r>
            <a:r>
              <a:rPr lang="en-US" b="1"/>
              <a:t>coax.</a:t>
            </a:r>
            <a:endParaRPr/>
          </a:p>
        </p:txBody>
      </p:sp>
      <p:pic>
        <p:nvPicPr>
          <p:cNvPr id="663" name="Google Shape;663;p81" descr="Coaxial-Cable.jpg"/>
          <p:cNvPicPr preferRelativeResize="0"/>
          <p:nvPr/>
        </p:nvPicPr>
        <p:blipFill rotWithShape="1">
          <a:blip r:embed="rId3">
            <a:alphaModFix/>
          </a:blip>
          <a:srcRect/>
          <a:stretch/>
        </p:blipFill>
        <p:spPr>
          <a:xfrm>
            <a:off x="2667000" y="4191000"/>
            <a:ext cx="3333750" cy="23622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TYPE OF COAXIAL</a:t>
            </a:r>
            <a:endParaRPr/>
          </a:p>
        </p:txBody>
      </p:sp>
      <p:pic>
        <p:nvPicPr>
          <p:cNvPr id="669" name="Google Shape;669;p82" descr="thicknetVsthinnet.jpg"/>
          <p:cNvPicPr preferRelativeResize="0">
            <a:picLocks noGrp="1"/>
          </p:cNvPicPr>
          <p:nvPr>
            <p:ph type="body" idx="1"/>
          </p:nvPr>
        </p:nvPicPr>
        <p:blipFill rotWithShape="1">
          <a:blip r:embed="rId3">
            <a:alphaModFix/>
          </a:blip>
          <a:srcRect/>
          <a:stretch/>
        </p:blipFill>
        <p:spPr>
          <a:xfrm>
            <a:off x="457200" y="1675236"/>
            <a:ext cx="8229600" cy="4115963"/>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TWISTED PAIR</a:t>
            </a:r>
            <a:endParaRPr/>
          </a:p>
        </p:txBody>
      </p:sp>
      <p:sp>
        <p:nvSpPr>
          <p:cNvPr id="675" name="Google Shape;675;p8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Twisted pair is the ordinary copper wire that connects home and business computers to the telephone company. To reduce crosstalk or electromagnetic interconnection between pairs of wires, two insulated copper wires are twisted around each other</a:t>
            </a:r>
            <a:endParaRPr/>
          </a:p>
        </p:txBody>
      </p:sp>
      <p:pic>
        <p:nvPicPr>
          <p:cNvPr id="676" name="Google Shape;676;p83" descr="twistedCable.jpg"/>
          <p:cNvPicPr preferRelativeResize="0"/>
          <p:nvPr/>
        </p:nvPicPr>
        <p:blipFill rotWithShape="1">
          <a:blip r:embed="rId3">
            <a:alphaModFix/>
          </a:blip>
          <a:srcRect/>
          <a:stretch/>
        </p:blipFill>
        <p:spPr>
          <a:xfrm>
            <a:off x="2895600" y="4648200"/>
            <a:ext cx="3581400" cy="1981200"/>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CLASSIFICATION OF TWISTED PAIR</a:t>
            </a:r>
            <a:endParaRPr/>
          </a:p>
        </p:txBody>
      </p:sp>
      <p:pic>
        <p:nvPicPr>
          <p:cNvPr id="682" name="Google Shape;682;p84" descr="1973_1.jpg"/>
          <p:cNvPicPr preferRelativeResize="0">
            <a:picLocks noGrp="1"/>
          </p:cNvPicPr>
          <p:nvPr>
            <p:ph type="body" idx="1"/>
          </p:nvPr>
        </p:nvPicPr>
        <p:blipFill rotWithShape="1">
          <a:blip r:embed="rId3">
            <a:alphaModFix/>
          </a:blip>
          <a:srcRect/>
          <a:stretch/>
        </p:blipFill>
        <p:spPr>
          <a:xfrm>
            <a:off x="457200" y="1702911"/>
            <a:ext cx="8229600" cy="432054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8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FIBER OPTIC CABLING</a:t>
            </a:r>
            <a:endParaRPr/>
          </a:p>
        </p:txBody>
      </p:sp>
      <p:sp>
        <p:nvSpPr>
          <p:cNvPr id="688" name="Google Shape;688;p8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 fiber optic cable is made of glass or plastic and transmits signals in the structure of light signals. It involves an inner glass core surrounded by a glass cladding that reflects the light into the core. Each fiber is encircled by a plastic jacket.</a:t>
            </a:r>
            <a:endParaRPr/>
          </a:p>
        </p:txBody>
      </p:sp>
      <p:pic>
        <p:nvPicPr>
          <p:cNvPr id="689" name="Google Shape;689;p85" descr="ofc-full-form.png"/>
          <p:cNvPicPr preferRelativeResize="0"/>
          <p:nvPr/>
        </p:nvPicPr>
        <p:blipFill rotWithShape="1">
          <a:blip r:embed="rId3">
            <a:alphaModFix/>
          </a:blip>
          <a:srcRect/>
          <a:stretch/>
        </p:blipFill>
        <p:spPr>
          <a:xfrm>
            <a:off x="4038600" y="4343400"/>
            <a:ext cx="4191000" cy="251460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8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Classification of Fiber </a:t>
            </a:r>
            <a:endParaRPr/>
          </a:p>
        </p:txBody>
      </p:sp>
      <p:pic>
        <p:nvPicPr>
          <p:cNvPr id="695" name="Google Shape;695;p86" descr="fiber-optic-cable-modes.png"/>
          <p:cNvPicPr preferRelativeResize="0">
            <a:picLocks noGrp="1"/>
          </p:cNvPicPr>
          <p:nvPr>
            <p:ph type="body" idx="1"/>
          </p:nvPr>
        </p:nvPicPr>
        <p:blipFill rotWithShape="1">
          <a:blip r:embed="rId3">
            <a:alphaModFix/>
          </a:blip>
          <a:srcRect/>
          <a:stretch/>
        </p:blipFill>
        <p:spPr>
          <a:xfrm>
            <a:off x="685800" y="1524000"/>
            <a:ext cx="7543800" cy="472440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Connection Type</a:t>
            </a:r>
            <a:endParaRPr/>
          </a:p>
        </p:txBody>
      </p:sp>
      <p:sp>
        <p:nvSpPr>
          <p:cNvPr id="701" name="Google Shape;701;p8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1.Stright throught Cable:</a:t>
            </a:r>
            <a:endParaRPr/>
          </a:p>
          <a:p>
            <a:pPr marL="342900" lvl="0" indent="-342900" algn="l" rtl="0">
              <a:spcBef>
                <a:spcPts val="640"/>
              </a:spcBef>
              <a:spcAft>
                <a:spcPts val="0"/>
              </a:spcAft>
              <a:buClr>
                <a:schemeClr val="dk1"/>
              </a:buClr>
              <a:buSzPts val="3200"/>
              <a:buNone/>
            </a:pPr>
            <a:r>
              <a:rPr lang="en-US"/>
              <a:t>                </a:t>
            </a:r>
            <a:r>
              <a:rPr lang="en-US" i="1"/>
              <a:t>straight through</a:t>
            </a:r>
            <a:r>
              <a:rPr lang="en-US"/>
              <a:t> patch cables are used to connect devices of </a:t>
            </a:r>
            <a:r>
              <a:rPr lang="en-US" i="1"/>
              <a:t>different types</a:t>
            </a:r>
            <a:r>
              <a:rPr lang="en-US"/>
              <a:t>, such as a computer to a network switch.</a:t>
            </a:r>
            <a:endParaRPr/>
          </a:p>
        </p:txBody>
      </p:sp>
      <p:pic>
        <p:nvPicPr>
          <p:cNvPr id="702" name="Google Shape;702;p87" descr="StraightThrough1.jpg"/>
          <p:cNvPicPr preferRelativeResize="0"/>
          <p:nvPr/>
        </p:nvPicPr>
        <p:blipFill rotWithShape="1">
          <a:blip r:embed="rId3">
            <a:alphaModFix/>
          </a:blip>
          <a:srcRect/>
          <a:stretch/>
        </p:blipFill>
        <p:spPr>
          <a:xfrm>
            <a:off x="1447800" y="3810000"/>
            <a:ext cx="6324600" cy="2857500"/>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88"/>
          <p:cNvSpPr txBox="1">
            <a:spLocks noGrp="1"/>
          </p:cNvSpPr>
          <p:nvPr>
            <p:ph type="body" idx="1"/>
          </p:nvPr>
        </p:nvSpPr>
        <p:spPr>
          <a:xfrm>
            <a:off x="457200" y="457200"/>
            <a:ext cx="8229600" cy="640080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An </a:t>
            </a:r>
            <a:r>
              <a:rPr lang="en-US" b="1"/>
              <a:t>Ethernet crossover cable</a:t>
            </a:r>
            <a:r>
              <a:rPr lang="en-US"/>
              <a:t> is a crossover cable for Ethernet used to connect computing devices together directly. It is most often used to connect two devices of the same type, e.g. two computers.</a:t>
            </a:r>
            <a:endParaRPr/>
          </a:p>
        </p:txBody>
      </p:sp>
      <p:pic>
        <p:nvPicPr>
          <p:cNvPr id="708" name="Google Shape;708;p88" descr="_1573024232_I7qO4uoRQQ.jpg"/>
          <p:cNvPicPr preferRelativeResize="0"/>
          <p:nvPr/>
        </p:nvPicPr>
        <p:blipFill rotWithShape="1">
          <a:blip r:embed="rId3">
            <a:alphaModFix/>
          </a:blip>
          <a:srcRect/>
          <a:stretch/>
        </p:blipFill>
        <p:spPr>
          <a:xfrm>
            <a:off x="1219200" y="2971800"/>
            <a:ext cx="6667500" cy="3619500"/>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89"/>
          <p:cNvSpPr txBox="1">
            <a:spLocks noGrp="1"/>
          </p:cNvSpPr>
          <p:nvPr>
            <p:ph type="body" idx="1"/>
          </p:nvPr>
        </p:nvSpPr>
        <p:spPr>
          <a:xfrm>
            <a:off x="457200" y="609600"/>
            <a:ext cx="8229600" cy="55165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Roll over Cable:</a:t>
            </a:r>
            <a:endParaRPr/>
          </a:p>
          <a:p>
            <a:pPr marL="342900" lvl="0" indent="-342900" algn="l" rtl="0">
              <a:spcBef>
                <a:spcPts val="640"/>
              </a:spcBef>
              <a:spcAft>
                <a:spcPts val="0"/>
              </a:spcAft>
              <a:buClr>
                <a:schemeClr val="dk1"/>
              </a:buClr>
              <a:buSzPts val="3200"/>
              <a:buNone/>
            </a:pPr>
            <a:r>
              <a:rPr lang="en-US"/>
              <a:t>            A rollover cable (also known as a Yost cable, Cisco cable, or a Console cable) is a type of null-modem cable that is used to connect a computer terminal to a router's console port.</a:t>
            </a:r>
            <a:endParaRPr/>
          </a:p>
        </p:txBody>
      </p:sp>
      <p:pic>
        <p:nvPicPr>
          <p:cNvPr id="714" name="Google Shape;714;p89" descr="roll.jpg"/>
          <p:cNvPicPr preferRelativeResize="0"/>
          <p:nvPr/>
        </p:nvPicPr>
        <p:blipFill rotWithShape="1">
          <a:blip r:embed="rId3">
            <a:alphaModFix/>
          </a:blip>
          <a:srcRect/>
          <a:stretch/>
        </p:blipFill>
        <p:spPr>
          <a:xfrm>
            <a:off x="1143000" y="3429000"/>
            <a:ext cx="6248400" cy="289560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9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THREE LAYERS IN NETWORKING</a:t>
            </a:r>
            <a:endParaRPr/>
          </a:p>
        </p:txBody>
      </p:sp>
      <p:pic>
        <p:nvPicPr>
          <p:cNvPr id="720" name="Google Shape;720;p90" descr="AccessLayer.png"/>
          <p:cNvPicPr preferRelativeResize="0">
            <a:picLocks noGrp="1"/>
          </p:cNvPicPr>
          <p:nvPr>
            <p:ph type="body" idx="1"/>
          </p:nvPr>
        </p:nvPicPr>
        <p:blipFill rotWithShape="1">
          <a:blip r:embed="rId3">
            <a:alphaModFix/>
          </a:blip>
          <a:srcRect/>
          <a:stretch/>
        </p:blipFill>
        <p:spPr>
          <a:xfrm>
            <a:off x="2309018" y="1600200"/>
            <a:ext cx="4525963" cy="4525963"/>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724"/>
        <p:cNvGrpSpPr/>
        <p:nvPr/>
      </p:nvGrpSpPr>
      <p:grpSpPr>
        <a:xfrm>
          <a:off x="0" y="0"/>
          <a:ext cx="0" cy="0"/>
          <a:chOff x="0" y="0"/>
          <a:chExt cx="0" cy="0"/>
        </a:xfrm>
      </p:grpSpPr>
      <p:sp>
        <p:nvSpPr>
          <p:cNvPr id="725" name="Google Shape;725;p91"/>
          <p:cNvSpPr txBox="1">
            <a:spLocks noGrp="1"/>
          </p:cNvSpPr>
          <p:nvPr>
            <p:ph type="body" idx="1"/>
          </p:nvPr>
        </p:nvSpPr>
        <p:spPr>
          <a:xfrm>
            <a:off x="457200" y="304800"/>
            <a:ext cx="8229600" cy="58213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a:t>Access Layer:</a:t>
            </a:r>
            <a:endParaRPr/>
          </a:p>
          <a:p>
            <a:pPr marL="342900" lvl="0" indent="-342900" algn="l" rtl="0">
              <a:spcBef>
                <a:spcPts val="544"/>
              </a:spcBef>
              <a:spcAft>
                <a:spcPts val="0"/>
              </a:spcAft>
              <a:buClr>
                <a:schemeClr val="dk1"/>
              </a:buClr>
              <a:buSzPct val="100000"/>
              <a:buNone/>
            </a:pPr>
            <a:r>
              <a:rPr lang="en-US"/>
              <a:t>                  The Access Layer is the part of the network which enables the users to connect to the wired Ethernet Network. It enables the users to share data and resources on the local network. The devices used in this layer include </a:t>
            </a:r>
            <a:r>
              <a:rPr lang="en-US" u="sng"/>
              <a:t>Ethernet</a:t>
            </a:r>
            <a:r>
              <a:rPr lang="en-US"/>
              <a:t> Switches and Hubs.</a:t>
            </a:r>
            <a:endParaRPr/>
          </a:p>
          <a:p>
            <a:pPr marL="342900" lvl="0" indent="-342900" algn="l" rtl="0">
              <a:spcBef>
                <a:spcPts val="544"/>
              </a:spcBef>
              <a:spcAft>
                <a:spcPts val="0"/>
              </a:spcAft>
              <a:buClr>
                <a:schemeClr val="dk1"/>
              </a:buClr>
              <a:buSzPct val="100000"/>
              <a:buNone/>
            </a:pPr>
            <a:endParaRPr/>
          </a:p>
          <a:p>
            <a:pPr marL="342900" lvl="0" indent="-342900" algn="l" rtl="0">
              <a:spcBef>
                <a:spcPts val="544"/>
              </a:spcBef>
              <a:spcAft>
                <a:spcPts val="0"/>
              </a:spcAft>
              <a:buClr>
                <a:schemeClr val="dk1"/>
              </a:buClr>
              <a:buSzPct val="100000"/>
              <a:buNone/>
            </a:pPr>
            <a:r>
              <a:rPr lang="en-US"/>
              <a:t>Distribute Layer:</a:t>
            </a:r>
            <a:endParaRPr/>
          </a:p>
          <a:p>
            <a:pPr marL="342900" lvl="0" indent="-342900" algn="l" rtl="0">
              <a:spcBef>
                <a:spcPts val="544"/>
              </a:spcBef>
              <a:spcAft>
                <a:spcPts val="0"/>
              </a:spcAft>
              <a:buClr>
                <a:schemeClr val="dk1"/>
              </a:buClr>
              <a:buSzPct val="100000"/>
              <a:buNone/>
            </a:pPr>
            <a:r>
              <a:rPr lang="en-US"/>
              <a:t>                 It must be divided into multiple local (Access Layer) networks. the distribution layer connects these networks together. It ensures that local traffic remains confined to local networks. This layer also acts as an intermediary between the Access Layer.</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92"/>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Core Layer:</a:t>
            </a:r>
            <a:endParaRPr/>
          </a:p>
          <a:p>
            <a:pPr marL="342900" lvl="0" indent="-342900" algn="l" rtl="0">
              <a:spcBef>
                <a:spcPts val="640"/>
              </a:spcBef>
              <a:spcAft>
                <a:spcPts val="0"/>
              </a:spcAft>
              <a:buClr>
                <a:schemeClr val="dk1"/>
              </a:buClr>
              <a:buSzPts val="3200"/>
              <a:buNone/>
            </a:pPr>
            <a:r>
              <a:rPr lang="en-US"/>
              <a:t>                 This layer is considered the backbone of a network, as it is used to connect multiple Distribution Layer devices together. This layer uses the most powerful devices to manage the traffic between the networks.</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9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TYPE OF PORT</a:t>
            </a:r>
            <a:endParaRPr/>
          </a:p>
        </p:txBody>
      </p:sp>
      <p:sp>
        <p:nvSpPr>
          <p:cNvPr id="736" name="Google Shape;736;p9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Serial Port:</a:t>
            </a:r>
            <a:endParaRPr/>
          </a:p>
          <a:p>
            <a:pPr marL="342900" lvl="0" indent="-342900" algn="l" rtl="0">
              <a:spcBef>
                <a:spcPts val="544"/>
              </a:spcBef>
              <a:spcAft>
                <a:spcPts val="0"/>
              </a:spcAft>
              <a:buClr>
                <a:schemeClr val="dk1"/>
              </a:buClr>
              <a:buSzPct val="100000"/>
              <a:buNone/>
            </a:pPr>
            <a:r>
              <a:rPr lang="en-US"/>
              <a:t>                   Typically </a:t>
            </a:r>
            <a:r>
              <a:rPr lang="en-US" b="1"/>
              <a:t>Serial ports</a:t>
            </a:r>
            <a:r>
              <a:rPr lang="en-US"/>
              <a:t> are used to connect </a:t>
            </a:r>
            <a:r>
              <a:rPr lang="en-US" b="1"/>
              <a:t>routers</a:t>
            </a:r>
            <a:r>
              <a:rPr lang="en-US"/>
              <a:t> together.</a:t>
            </a:r>
            <a:endParaRPr/>
          </a:p>
          <a:p>
            <a:pPr marL="342900" lvl="0" indent="-342900" algn="l" rtl="0">
              <a:spcBef>
                <a:spcPts val="544"/>
              </a:spcBef>
              <a:spcAft>
                <a:spcPts val="0"/>
              </a:spcAft>
              <a:buClr>
                <a:schemeClr val="dk1"/>
              </a:buClr>
              <a:buSzPct val="100000"/>
              <a:buNone/>
            </a:pPr>
            <a:r>
              <a:rPr lang="en-US"/>
              <a:t>Auxiliary Port:</a:t>
            </a:r>
            <a:endParaRPr/>
          </a:p>
          <a:p>
            <a:pPr marL="342900" lvl="0" indent="-342900" algn="l" rtl="0">
              <a:spcBef>
                <a:spcPts val="544"/>
              </a:spcBef>
              <a:spcAft>
                <a:spcPts val="0"/>
              </a:spcAft>
              <a:buClr>
                <a:schemeClr val="dk1"/>
              </a:buClr>
              <a:buSzPct val="100000"/>
              <a:buNone/>
            </a:pPr>
            <a:r>
              <a:rPr lang="en-US"/>
              <a:t>         The router's auxiliary (AUX) port functions as a backup async port. It is most commonly used as a backup console port.</a:t>
            </a:r>
            <a:endParaRPr/>
          </a:p>
          <a:p>
            <a:pPr marL="342900" lvl="0" indent="-342900" algn="l" rtl="0">
              <a:spcBef>
                <a:spcPts val="544"/>
              </a:spcBef>
              <a:spcAft>
                <a:spcPts val="0"/>
              </a:spcAft>
              <a:buClr>
                <a:schemeClr val="dk1"/>
              </a:buClr>
              <a:buSzPct val="100000"/>
              <a:buNone/>
            </a:pPr>
            <a:r>
              <a:rPr lang="en-US"/>
              <a:t>Console Port:</a:t>
            </a:r>
            <a:endParaRPr/>
          </a:p>
          <a:p>
            <a:pPr marL="342900" lvl="0" indent="-342900" algn="l" rtl="0">
              <a:spcBef>
                <a:spcPts val="544"/>
              </a:spcBef>
              <a:spcAft>
                <a:spcPts val="0"/>
              </a:spcAft>
              <a:buClr>
                <a:schemeClr val="dk1"/>
              </a:buClr>
              <a:buSzPct val="100000"/>
              <a:buChar char="•"/>
            </a:pPr>
            <a:r>
              <a:rPr lang="en-US"/>
              <a:t>The console port is used to access the router and is located on the front panel of the Route Processor.</a:t>
            </a:r>
            <a:endParaRPr/>
          </a:p>
          <a:p>
            <a:pPr marL="342900" lvl="0" indent="-342900" algn="l" rtl="0">
              <a:spcBef>
                <a:spcPts val="544"/>
              </a:spcBef>
              <a:spcAft>
                <a:spcPts val="0"/>
              </a:spcAft>
              <a:buClr>
                <a:schemeClr val="dk1"/>
              </a:buClr>
              <a:buSzPct val="100000"/>
              <a:buNone/>
            </a:pP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94"/>
          <p:cNvSpPr txBox="1">
            <a:spLocks noGrp="1"/>
          </p:cNvSpPr>
          <p:nvPr>
            <p:ph type="body" idx="1"/>
          </p:nvPr>
        </p:nvSpPr>
        <p:spPr>
          <a:xfrm>
            <a:off x="457200" y="152400"/>
            <a:ext cx="8229600" cy="59737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b="1"/>
              <a:t>Volatile Memory:</a:t>
            </a:r>
            <a:endParaRPr/>
          </a:p>
          <a:p>
            <a:pPr marL="342900" lvl="0" indent="-342900" algn="l" rtl="0">
              <a:spcBef>
                <a:spcPts val="640"/>
              </a:spcBef>
              <a:spcAft>
                <a:spcPts val="0"/>
              </a:spcAft>
              <a:buClr>
                <a:schemeClr val="dk1"/>
              </a:buClr>
              <a:buSzPts val="3200"/>
              <a:buNone/>
            </a:pPr>
            <a:r>
              <a:rPr lang="en-US" b="1"/>
              <a:t>              Volatile memory</a:t>
            </a:r>
            <a:r>
              <a:rPr lang="en-US"/>
              <a:t> is computer memory that requires power to maintain the stored information; it retains its contents while powered on but when the power is interrupted, the stored data is quickly lost.</a:t>
            </a:r>
            <a:endParaRPr/>
          </a:p>
          <a:p>
            <a:pPr marL="342900" lvl="0" indent="-342900" algn="l" rtl="0">
              <a:spcBef>
                <a:spcPts val="640"/>
              </a:spcBef>
              <a:spcAft>
                <a:spcPts val="0"/>
              </a:spcAft>
              <a:buClr>
                <a:schemeClr val="dk1"/>
              </a:buClr>
              <a:buSzPts val="3200"/>
              <a:buNone/>
            </a:pPr>
            <a:r>
              <a:rPr lang="en-US"/>
              <a:t>Non Volatile Memory:</a:t>
            </a:r>
            <a:endParaRPr/>
          </a:p>
          <a:p>
            <a:pPr marL="342900" lvl="0" indent="-342900" algn="l" rtl="0">
              <a:spcBef>
                <a:spcPts val="640"/>
              </a:spcBef>
              <a:spcAft>
                <a:spcPts val="0"/>
              </a:spcAft>
              <a:buClr>
                <a:schemeClr val="dk1"/>
              </a:buClr>
              <a:buSzPts val="3200"/>
              <a:buNone/>
            </a:pPr>
            <a:r>
              <a:rPr lang="en-US" b="1"/>
              <a:t>         Non-volatile memory</a:t>
            </a:r>
            <a:r>
              <a:rPr lang="en-US"/>
              <a:t> (</a:t>
            </a:r>
            <a:r>
              <a:rPr lang="en-US" b="1"/>
              <a:t>NVM</a:t>
            </a:r>
            <a:r>
              <a:rPr lang="en-US"/>
              <a:t>) or </a:t>
            </a:r>
            <a:r>
              <a:rPr lang="en-US" b="1"/>
              <a:t>non-volatile storage</a:t>
            </a:r>
            <a:r>
              <a:rPr lang="en-US"/>
              <a:t> is a type of computer memory that can retain stored information even after power is removed.</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95"/>
          <p:cNvSpPr txBox="1">
            <a:spLocks noGrp="1"/>
          </p:cNvSpPr>
          <p:nvPr>
            <p:ph type="body" idx="1"/>
          </p:nvPr>
        </p:nvSpPr>
        <p:spPr>
          <a:xfrm>
            <a:off x="457200" y="381000"/>
            <a:ext cx="8229600" cy="57451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a:t>ROM:</a:t>
            </a:r>
            <a:endParaRPr/>
          </a:p>
          <a:p>
            <a:pPr marL="342900" lvl="0" indent="-342900" algn="l" rtl="0">
              <a:spcBef>
                <a:spcPts val="592"/>
              </a:spcBef>
              <a:spcAft>
                <a:spcPts val="0"/>
              </a:spcAft>
              <a:buClr>
                <a:schemeClr val="dk1"/>
              </a:buClr>
              <a:buSzPct val="100000"/>
              <a:buNone/>
            </a:pPr>
            <a:r>
              <a:rPr lang="en-US"/>
              <a:t>          ROM stands for Read-Only Memory. It is a non volatile memory that is used to store important information which is used to operate the system. As its name refers to read-only memory, we can only read the programs and data stored on it.</a:t>
            </a:r>
            <a:endParaRPr/>
          </a:p>
          <a:p>
            <a:pPr marL="342900" lvl="0" indent="-342900" algn="l" rtl="0">
              <a:spcBef>
                <a:spcPts val="592"/>
              </a:spcBef>
              <a:spcAft>
                <a:spcPts val="0"/>
              </a:spcAft>
              <a:buClr>
                <a:schemeClr val="dk1"/>
              </a:buClr>
              <a:buSzPct val="100000"/>
              <a:buNone/>
            </a:pPr>
            <a:endParaRPr/>
          </a:p>
          <a:p>
            <a:pPr marL="342900" lvl="0" indent="-342900" algn="l" rtl="0">
              <a:spcBef>
                <a:spcPts val="592"/>
              </a:spcBef>
              <a:spcAft>
                <a:spcPts val="0"/>
              </a:spcAft>
              <a:buClr>
                <a:schemeClr val="dk1"/>
              </a:buClr>
              <a:buSzPct val="100000"/>
              <a:buChar char="•"/>
            </a:pPr>
            <a:r>
              <a:rPr lang="en-US"/>
              <a:t>RAM:</a:t>
            </a:r>
            <a:endParaRPr/>
          </a:p>
          <a:p>
            <a:pPr marL="342900" lvl="0" indent="-342900" algn="l" rtl="0">
              <a:spcBef>
                <a:spcPts val="592"/>
              </a:spcBef>
              <a:spcAft>
                <a:spcPts val="0"/>
              </a:spcAft>
              <a:buClr>
                <a:schemeClr val="dk1"/>
              </a:buClr>
              <a:buSzPct val="100000"/>
              <a:buNone/>
            </a:pPr>
            <a:r>
              <a:rPr lang="en-US"/>
              <a:t>             RAM (Random Access Memory) is the hardware in a computing device where the operating system (OS), application programs and data in current use are kept so they can be quickly reached by the device's processor. RAM is the main memory in a computer.</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96"/>
          <p:cNvSpPr txBox="1">
            <a:spLocks noGrp="1"/>
          </p:cNvSpPr>
          <p:nvPr>
            <p:ph type="body" idx="1"/>
          </p:nvPr>
        </p:nvSpPr>
        <p:spPr>
          <a:xfrm>
            <a:off x="457200" y="152400"/>
            <a:ext cx="8229600" cy="59737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Flash Memory:</a:t>
            </a:r>
            <a:endParaRPr/>
          </a:p>
          <a:p>
            <a:pPr marL="342900" lvl="0" indent="-342900" algn="l" rtl="0">
              <a:spcBef>
                <a:spcPts val="640"/>
              </a:spcBef>
              <a:spcAft>
                <a:spcPts val="0"/>
              </a:spcAft>
              <a:buClr>
                <a:schemeClr val="dk1"/>
              </a:buClr>
              <a:buSzPts val="3200"/>
              <a:buNone/>
            </a:pPr>
            <a:r>
              <a:rPr lang="en-US" b="1"/>
              <a:t>               Flash memory</a:t>
            </a:r>
            <a:r>
              <a:rPr lang="en-US"/>
              <a:t> is an electronic non-volatile computer memory storage medium that can be electrically erased and reprogrammed.</a:t>
            </a:r>
            <a:endParaRPr/>
          </a:p>
          <a:p>
            <a:pPr marL="342900" lvl="0" indent="-342900" algn="l" rtl="0">
              <a:spcBef>
                <a:spcPts val="640"/>
              </a:spcBef>
              <a:spcAft>
                <a:spcPts val="0"/>
              </a:spcAft>
              <a:buClr>
                <a:schemeClr val="dk1"/>
              </a:buClr>
              <a:buSzPts val="3200"/>
              <a:buNone/>
            </a:pPr>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55"/>
        <p:cNvGrpSpPr/>
        <p:nvPr/>
      </p:nvGrpSpPr>
      <p:grpSpPr>
        <a:xfrm>
          <a:off x="0" y="0"/>
          <a:ext cx="0" cy="0"/>
          <a:chOff x="0" y="0"/>
          <a:chExt cx="0" cy="0"/>
        </a:xfrm>
      </p:grpSpPr>
      <p:sp>
        <p:nvSpPr>
          <p:cNvPr id="756" name="Google Shape;756;p9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ROUTING CONCEPT</a:t>
            </a:r>
            <a:endParaRPr/>
          </a:p>
        </p:txBody>
      </p:sp>
      <p:sp>
        <p:nvSpPr>
          <p:cNvPr id="757" name="Google Shape;757;p9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dirty="0"/>
              <a:t>Routing:</a:t>
            </a:r>
            <a:endParaRPr dirty="0"/>
          </a:p>
          <a:p>
            <a:pPr marL="342900" lvl="0" indent="-342900" algn="l" rtl="0">
              <a:spcBef>
                <a:spcPts val="544"/>
              </a:spcBef>
              <a:spcAft>
                <a:spcPts val="0"/>
              </a:spcAft>
              <a:buClr>
                <a:schemeClr val="dk1"/>
              </a:buClr>
              <a:buSzPct val="100000"/>
              <a:buNone/>
            </a:pPr>
            <a:r>
              <a:rPr lang="en-US" dirty="0"/>
              <a:t>           Network routing is the process of selecting a path across one or more networks.</a:t>
            </a: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r>
              <a:rPr lang="en-US" dirty="0"/>
              <a:t>Types of Routing:</a:t>
            </a:r>
            <a:endParaRPr dirty="0"/>
          </a:p>
          <a:p>
            <a:pPr marL="514350" lvl="0" indent="-514350" algn="l" rtl="0">
              <a:spcBef>
                <a:spcPts val="544"/>
              </a:spcBef>
              <a:spcAft>
                <a:spcPts val="0"/>
              </a:spcAft>
              <a:buClr>
                <a:schemeClr val="dk1"/>
              </a:buClr>
              <a:buSzPct val="100000"/>
              <a:buFont typeface="Calibri"/>
              <a:buAutoNum type="arabicPeriod"/>
            </a:pPr>
            <a:r>
              <a:rPr lang="en-US" dirty="0"/>
              <a:t>Static Routing</a:t>
            </a:r>
            <a:endParaRPr dirty="0"/>
          </a:p>
          <a:p>
            <a:pPr marL="514350" lvl="0" indent="-514350" algn="l" rtl="0">
              <a:spcBef>
                <a:spcPts val="544"/>
              </a:spcBef>
              <a:spcAft>
                <a:spcPts val="0"/>
              </a:spcAft>
              <a:buClr>
                <a:schemeClr val="dk1"/>
              </a:buClr>
              <a:buSzPct val="100000"/>
              <a:buFont typeface="Calibri"/>
              <a:buAutoNum type="arabicPeriod"/>
            </a:pPr>
            <a:r>
              <a:rPr lang="en-US" dirty="0"/>
              <a:t>Dynamic Routing</a:t>
            </a:r>
            <a:endParaRPr dirty="0"/>
          </a:p>
          <a:p>
            <a:pPr marL="514350" lvl="0" indent="-514350" algn="l" rtl="0">
              <a:spcBef>
                <a:spcPts val="544"/>
              </a:spcBef>
              <a:spcAft>
                <a:spcPts val="0"/>
              </a:spcAft>
              <a:buClr>
                <a:schemeClr val="dk1"/>
              </a:buClr>
              <a:buSzPct val="100000"/>
              <a:buNone/>
            </a:pPr>
            <a:endParaRPr dirty="0"/>
          </a:p>
          <a:p>
            <a:pPr marL="514350" lvl="0" indent="-514350" algn="l" rtl="0">
              <a:spcBef>
                <a:spcPts val="544"/>
              </a:spcBef>
              <a:spcAft>
                <a:spcPts val="0"/>
              </a:spcAft>
              <a:buClr>
                <a:schemeClr val="dk1"/>
              </a:buClr>
              <a:buSzPct val="100000"/>
              <a:buNone/>
            </a:pPr>
            <a:r>
              <a:rPr lang="en-US" dirty="0"/>
              <a:t>Static Routing:</a:t>
            </a:r>
            <a:endParaRPr dirty="0"/>
          </a:p>
          <a:p>
            <a:pPr marL="514350" lvl="0" indent="-514350" algn="l" rtl="0">
              <a:spcBef>
                <a:spcPts val="544"/>
              </a:spcBef>
              <a:spcAft>
                <a:spcPts val="0"/>
              </a:spcAft>
              <a:buClr>
                <a:schemeClr val="dk1"/>
              </a:buClr>
              <a:buSzPct val="100000"/>
              <a:buNone/>
            </a:pPr>
            <a:r>
              <a:rPr lang="en-US" b="1" dirty="0"/>
              <a:t>               Manually:</a:t>
            </a:r>
            <a:r>
              <a:rPr lang="en-US" dirty="0"/>
              <a:t> Remote networks are manually</a:t>
            </a:r>
            <a:endParaRPr dirty="0"/>
          </a:p>
          <a:p>
            <a:pPr marL="514350" lvl="0" indent="-514350" algn="l" rtl="0">
              <a:spcBef>
                <a:spcPts val="544"/>
              </a:spcBef>
              <a:spcAft>
                <a:spcPts val="0"/>
              </a:spcAft>
              <a:buClr>
                <a:schemeClr val="dk1"/>
              </a:buClr>
              <a:buSzPct val="100000"/>
              <a:buNone/>
            </a:pPr>
            <a:r>
              <a:rPr lang="en-US" dirty="0"/>
              <a:t>entered into the route table using static routes.</a:t>
            </a:r>
            <a:endParaRPr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98"/>
          <p:cNvSpPr txBox="1">
            <a:spLocks noGrp="1"/>
          </p:cNvSpPr>
          <p:nvPr>
            <p:ph type="body" idx="1"/>
          </p:nvPr>
        </p:nvSpPr>
        <p:spPr>
          <a:xfrm>
            <a:off x="457200" y="609600"/>
            <a:ext cx="8229600" cy="55165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dirty="0"/>
              <a:t>Dynamic Routing:</a:t>
            </a:r>
            <a:endParaRPr dirty="0"/>
          </a:p>
          <a:p>
            <a:pPr marL="342900" lvl="0" indent="-342900" algn="l" rtl="0">
              <a:spcBef>
                <a:spcPts val="544"/>
              </a:spcBef>
              <a:spcAft>
                <a:spcPts val="0"/>
              </a:spcAft>
              <a:buClr>
                <a:schemeClr val="dk1"/>
              </a:buClr>
              <a:buSzPct val="100000"/>
              <a:buNone/>
            </a:pPr>
            <a:r>
              <a:rPr lang="en-US" dirty="0"/>
              <a:t>                </a:t>
            </a:r>
            <a:r>
              <a:rPr lang="en-US" b="1" dirty="0"/>
              <a:t>Dynamically:</a:t>
            </a:r>
            <a:r>
              <a:rPr lang="en-US" dirty="0"/>
              <a:t> Remote routes are automatically learned using a dynamic routing protocol.</a:t>
            </a:r>
            <a:endParaRPr dirty="0"/>
          </a:p>
          <a:p>
            <a:pPr marL="342900" lvl="0" indent="-342900" algn="l" rtl="0">
              <a:spcBef>
                <a:spcPts val="544"/>
              </a:spcBef>
              <a:spcAft>
                <a:spcPts val="0"/>
              </a:spcAft>
              <a:buClr>
                <a:schemeClr val="dk1"/>
              </a:buClr>
              <a:buSzPct val="100000"/>
              <a:buNone/>
            </a:pPr>
            <a:r>
              <a:rPr lang="en-US" dirty="0"/>
              <a:t> </a:t>
            </a:r>
            <a:endParaRPr dirty="0"/>
          </a:p>
          <a:p>
            <a:pPr marL="342900" lvl="0" indent="-342900" algn="l" rtl="0">
              <a:spcBef>
                <a:spcPts val="544"/>
              </a:spcBef>
              <a:spcAft>
                <a:spcPts val="0"/>
              </a:spcAft>
              <a:buClr>
                <a:schemeClr val="dk1"/>
              </a:buClr>
              <a:buSzPct val="100000"/>
              <a:buNone/>
            </a:pPr>
            <a:r>
              <a:rPr lang="en-US" dirty="0"/>
              <a:t>Types :</a:t>
            </a:r>
            <a:endParaRPr dirty="0"/>
          </a:p>
          <a:p>
            <a:pPr marL="514350" lvl="0" indent="-514350" algn="l" rtl="0">
              <a:spcBef>
                <a:spcPts val="544"/>
              </a:spcBef>
              <a:spcAft>
                <a:spcPts val="0"/>
              </a:spcAft>
              <a:buClr>
                <a:schemeClr val="dk1"/>
              </a:buClr>
              <a:buSzPct val="100000"/>
              <a:buNone/>
            </a:pPr>
            <a:r>
              <a:rPr lang="en-US" dirty="0"/>
              <a:t>1. IGP</a:t>
            </a:r>
            <a:endParaRPr dirty="0"/>
          </a:p>
          <a:p>
            <a:pPr marL="514350" lvl="0" indent="-514350" algn="l" rtl="0">
              <a:spcBef>
                <a:spcPts val="544"/>
              </a:spcBef>
              <a:spcAft>
                <a:spcPts val="0"/>
              </a:spcAft>
              <a:buClr>
                <a:schemeClr val="dk1"/>
              </a:buClr>
              <a:buSzPct val="100000"/>
              <a:buNone/>
            </a:pPr>
            <a:r>
              <a:rPr lang="en-US" dirty="0"/>
              <a:t>            Distance Vector-RIP,EIGRP</a:t>
            </a:r>
            <a:endParaRPr dirty="0"/>
          </a:p>
          <a:p>
            <a:pPr marL="514350" lvl="0" indent="-514350" algn="l" rtl="0">
              <a:spcBef>
                <a:spcPts val="544"/>
              </a:spcBef>
              <a:spcAft>
                <a:spcPts val="0"/>
              </a:spcAft>
              <a:buClr>
                <a:schemeClr val="dk1"/>
              </a:buClr>
              <a:buSzPct val="100000"/>
              <a:buNone/>
            </a:pPr>
            <a:r>
              <a:rPr lang="en-US" dirty="0"/>
              <a:t>            Link State- OSPF, IS-IS</a:t>
            </a:r>
            <a:endParaRPr dirty="0"/>
          </a:p>
          <a:p>
            <a:pPr marL="514350" lvl="0" indent="-514350" algn="l" rtl="0">
              <a:spcBef>
                <a:spcPts val="544"/>
              </a:spcBef>
              <a:spcAft>
                <a:spcPts val="0"/>
              </a:spcAft>
              <a:buClr>
                <a:schemeClr val="dk1"/>
              </a:buClr>
              <a:buSzPct val="100000"/>
              <a:buAutoNum type="arabicPeriod" startAt="2"/>
            </a:pPr>
            <a:r>
              <a:rPr lang="en-US" dirty="0"/>
              <a:t>EGP</a:t>
            </a:r>
            <a:endParaRPr dirty="0"/>
          </a:p>
          <a:p>
            <a:pPr marL="514350" lvl="0" indent="-514350" algn="l" rtl="0">
              <a:spcBef>
                <a:spcPts val="544"/>
              </a:spcBef>
              <a:spcAft>
                <a:spcPts val="0"/>
              </a:spcAft>
              <a:buClr>
                <a:schemeClr val="dk1"/>
              </a:buClr>
              <a:buSzPct val="100000"/>
              <a:buNone/>
            </a:pPr>
            <a:r>
              <a:rPr lang="en-US" dirty="0"/>
              <a:t>           Path Vector</a:t>
            </a:r>
            <a:endParaRPr dirty="0"/>
          </a:p>
          <a:p>
            <a:pPr marL="514350" lvl="0" indent="-514350" algn="l" rtl="0">
              <a:spcBef>
                <a:spcPts val="544"/>
              </a:spcBef>
              <a:spcAft>
                <a:spcPts val="0"/>
              </a:spcAft>
              <a:buClr>
                <a:schemeClr val="dk1"/>
              </a:buClr>
              <a:buSzPct val="100000"/>
              <a:buNone/>
            </a:pPr>
            <a:r>
              <a:rPr lang="en-US" dirty="0"/>
              <a:t>                   BGP-Internal BGP</a:t>
            </a:r>
            <a:endParaRPr dirty="0"/>
          </a:p>
          <a:p>
            <a:pPr marL="514350" lvl="0" indent="-514350" algn="l" rtl="0">
              <a:spcBef>
                <a:spcPts val="544"/>
              </a:spcBef>
              <a:spcAft>
                <a:spcPts val="0"/>
              </a:spcAft>
              <a:buClr>
                <a:schemeClr val="dk1"/>
              </a:buClr>
              <a:buSzPct val="100000"/>
              <a:buNone/>
            </a:pPr>
            <a:r>
              <a:rPr lang="en-US" dirty="0"/>
              <a:t>                            External BGP</a:t>
            </a:r>
            <a:endParaRPr dirty="0"/>
          </a:p>
          <a:p>
            <a:pPr marL="514350" lvl="0" indent="-514350" algn="l" rtl="0">
              <a:spcBef>
                <a:spcPts val="544"/>
              </a:spcBef>
              <a:spcAft>
                <a:spcPts val="0"/>
              </a:spcAft>
              <a:buClr>
                <a:schemeClr val="dk1"/>
              </a:buClr>
              <a:buSzPct val="100000"/>
              <a:buNone/>
            </a:pPr>
            <a:endParaRPr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pic>
        <p:nvPicPr>
          <p:cNvPr id="767" name="Google Shape;767;p99" descr="34101035.jpg"/>
          <p:cNvPicPr preferRelativeResize="0">
            <a:picLocks noGrp="1"/>
          </p:cNvPicPr>
          <p:nvPr>
            <p:ph type="body" idx="1"/>
          </p:nvPr>
        </p:nvPicPr>
        <p:blipFill rotWithShape="1">
          <a:blip r:embed="rId3">
            <a:alphaModFix/>
          </a:blip>
          <a:srcRect/>
          <a:stretch/>
        </p:blipFill>
        <p:spPr>
          <a:xfrm>
            <a:off x="882778" y="457200"/>
            <a:ext cx="7378444" cy="5668963"/>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100"/>
          <p:cNvSpPr txBox="1">
            <a:spLocks noGrp="1"/>
          </p:cNvSpPr>
          <p:nvPr>
            <p:ph type="subTitle" idx="1"/>
          </p:nvPr>
        </p:nvSpPr>
        <p:spPr>
          <a:xfrm>
            <a:off x="539552" y="188640"/>
            <a:ext cx="8136904" cy="648072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3200"/>
              <a:buNone/>
            </a:pPr>
            <a:r>
              <a:rPr lang="en-US" b="1" u="sng" dirty="0">
                <a:solidFill>
                  <a:schemeClr val="dk1"/>
                </a:solidFill>
              </a:rPr>
              <a:t>RIP(Routing Information Protocols):</a:t>
            </a:r>
            <a:endParaRPr dirty="0"/>
          </a:p>
          <a:p>
            <a:pPr marL="457200" lvl="0" indent="-457200" algn="l" rtl="0">
              <a:spcBef>
                <a:spcPts val="520"/>
              </a:spcBef>
              <a:spcAft>
                <a:spcPts val="0"/>
              </a:spcAft>
              <a:buClr>
                <a:schemeClr val="dk1"/>
              </a:buClr>
              <a:buSzPts val="2600"/>
              <a:buFont typeface="Noto Sans Symbols"/>
              <a:buChar char="▪"/>
            </a:pPr>
            <a:r>
              <a:rPr lang="en-US" sz="2600" dirty="0">
                <a:solidFill>
                  <a:schemeClr val="dk1"/>
                </a:solidFill>
              </a:rPr>
              <a:t>It’s a dynamic routing protocol that uses hop count as a routing metric to find the best path between the source and the destination networks</a:t>
            </a:r>
            <a:endParaRPr dirty="0"/>
          </a:p>
          <a:p>
            <a:pPr marL="457200" lvl="0" indent="-457200" algn="l" rtl="0">
              <a:spcBef>
                <a:spcPts val="520"/>
              </a:spcBef>
              <a:spcAft>
                <a:spcPts val="0"/>
              </a:spcAft>
              <a:buClr>
                <a:schemeClr val="dk1"/>
              </a:buClr>
              <a:buSzPts val="2600"/>
              <a:buFont typeface="Noto Sans Symbols"/>
              <a:buChar char="▪"/>
            </a:pPr>
            <a:r>
              <a:rPr lang="en-US" sz="2600" dirty="0">
                <a:solidFill>
                  <a:schemeClr val="dk1"/>
                </a:solidFill>
              </a:rPr>
              <a:t>HOP count is the number of router </a:t>
            </a:r>
            <a:r>
              <a:rPr lang="en-US" sz="2600" dirty="0" smtClean="0">
                <a:solidFill>
                  <a:schemeClr val="dk1"/>
                </a:solidFill>
              </a:rPr>
              <a:t>occurring </a:t>
            </a:r>
            <a:r>
              <a:rPr lang="en-US" sz="2600" dirty="0">
                <a:solidFill>
                  <a:schemeClr val="dk1"/>
                </a:solidFill>
              </a:rPr>
              <a:t>in between the source and destination network</a:t>
            </a:r>
            <a:endParaRPr dirty="0"/>
          </a:p>
          <a:p>
            <a:pPr marL="457200" lvl="0" indent="-457200" algn="l" rtl="0">
              <a:spcBef>
                <a:spcPts val="520"/>
              </a:spcBef>
              <a:spcAft>
                <a:spcPts val="0"/>
              </a:spcAft>
              <a:buClr>
                <a:schemeClr val="dk1"/>
              </a:buClr>
              <a:buSzPts val="2600"/>
              <a:buFont typeface="Noto Sans Symbols"/>
              <a:buChar char="▪"/>
            </a:pPr>
            <a:r>
              <a:rPr lang="en-US" sz="2600" dirty="0">
                <a:solidFill>
                  <a:schemeClr val="dk1"/>
                </a:solidFill>
              </a:rPr>
              <a:t>The path with the lowest hop count is considered as the best route to reach a network and therefore placed in the routing table</a:t>
            </a:r>
            <a:endParaRPr dirty="0"/>
          </a:p>
          <a:p>
            <a:pPr marL="457200" lvl="0" indent="-457200" algn="l" rtl="0">
              <a:spcBef>
                <a:spcPts val="520"/>
              </a:spcBef>
              <a:spcAft>
                <a:spcPts val="0"/>
              </a:spcAft>
              <a:buClr>
                <a:schemeClr val="dk1"/>
              </a:buClr>
              <a:buSzPts val="2600"/>
              <a:buFont typeface="Noto Sans Symbols"/>
              <a:buChar char="▪"/>
            </a:pPr>
            <a:r>
              <a:rPr lang="en-US" sz="2600" dirty="0">
                <a:solidFill>
                  <a:schemeClr val="dk1"/>
                </a:solidFill>
              </a:rPr>
              <a:t>The maximum hop count allowed for RIP is 15 and a hop count 16 is considered as networks unreachable</a:t>
            </a:r>
            <a:endParaRPr dirty="0"/>
          </a:p>
          <a:p>
            <a:pPr marL="457200" lvl="0" indent="-457200" algn="l" rtl="0">
              <a:spcBef>
                <a:spcPts val="520"/>
              </a:spcBef>
              <a:spcAft>
                <a:spcPts val="0"/>
              </a:spcAft>
              <a:buClr>
                <a:schemeClr val="dk1"/>
              </a:buClr>
              <a:buSzPts val="2600"/>
              <a:buFont typeface="Noto Sans Symbols"/>
              <a:buChar char="▪"/>
            </a:pPr>
            <a:r>
              <a:rPr lang="en-US" sz="2600" dirty="0">
                <a:solidFill>
                  <a:schemeClr val="dk1"/>
                </a:solidFill>
              </a:rPr>
              <a:t>So RIP cannot be used for large networks</a:t>
            </a:r>
            <a:endParaRPr dirty="0"/>
          </a:p>
          <a:p>
            <a:pPr marL="457200" lvl="0" indent="-457200" algn="l" rtl="0">
              <a:spcBef>
                <a:spcPts val="520"/>
              </a:spcBef>
              <a:spcAft>
                <a:spcPts val="0"/>
              </a:spcAft>
              <a:buClr>
                <a:schemeClr val="dk1"/>
              </a:buClr>
              <a:buSzPts val="2600"/>
              <a:buFont typeface="Noto Sans Symbols"/>
              <a:buChar char="▪"/>
            </a:pPr>
            <a:r>
              <a:rPr lang="en-US" sz="2600" dirty="0">
                <a:solidFill>
                  <a:schemeClr val="dk1"/>
                </a:solidFill>
              </a:rPr>
              <a:t>RIP has three version</a:t>
            </a:r>
            <a:endParaRPr dirty="0"/>
          </a:p>
          <a:p>
            <a:pPr marL="457200" lvl="0" indent="-457200" algn="ctr" rtl="0">
              <a:spcBef>
                <a:spcPts val="520"/>
              </a:spcBef>
              <a:spcAft>
                <a:spcPts val="0"/>
              </a:spcAft>
              <a:buClr>
                <a:schemeClr val="dk1"/>
              </a:buClr>
              <a:buSzPts val="2600"/>
              <a:buFont typeface="Arial"/>
              <a:buChar char="•"/>
            </a:pPr>
            <a:r>
              <a:rPr lang="en-US" sz="2600" dirty="0">
                <a:solidFill>
                  <a:schemeClr val="dk1"/>
                </a:solidFill>
              </a:rPr>
              <a:t>            RIPV1     &amp;    RIPV2   (user  for     IPV4    )</a:t>
            </a:r>
            <a:endParaRPr dirty="0"/>
          </a:p>
          <a:p>
            <a:pPr marL="457200" lvl="0" indent="-457200" algn="ctr" rtl="0">
              <a:spcBef>
                <a:spcPts val="520"/>
              </a:spcBef>
              <a:spcAft>
                <a:spcPts val="0"/>
              </a:spcAft>
              <a:buClr>
                <a:schemeClr val="dk1"/>
              </a:buClr>
              <a:buSzPts val="2600"/>
              <a:buFont typeface="Arial"/>
              <a:buChar char="•"/>
            </a:pPr>
            <a:r>
              <a:rPr lang="en-US" sz="2600" dirty="0">
                <a:solidFill>
                  <a:schemeClr val="dk1"/>
                </a:solidFill>
              </a:rPr>
              <a:t>RIP </a:t>
            </a:r>
            <a:r>
              <a:rPr lang="en-US" sz="2600" dirty="0" smtClean="0">
                <a:solidFill>
                  <a:schemeClr val="dk1"/>
                </a:solidFill>
              </a:rPr>
              <a:t>NG(RIP </a:t>
            </a:r>
            <a:r>
              <a:rPr lang="en-US" sz="2600" dirty="0">
                <a:solidFill>
                  <a:schemeClr val="dk1"/>
                </a:solidFill>
              </a:rPr>
              <a:t>used </a:t>
            </a:r>
            <a:r>
              <a:rPr lang="en-US" sz="2600" dirty="0" smtClean="0">
                <a:solidFill>
                  <a:schemeClr val="dk1"/>
                </a:solidFill>
              </a:rPr>
              <a:t>Next </a:t>
            </a:r>
            <a:r>
              <a:rPr lang="en-US" sz="2600" dirty="0">
                <a:solidFill>
                  <a:schemeClr val="dk1"/>
                </a:solidFill>
              </a:rPr>
              <a:t>G</a:t>
            </a:r>
            <a:r>
              <a:rPr lang="en-US" sz="2600" dirty="0" smtClean="0">
                <a:solidFill>
                  <a:schemeClr val="dk1"/>
                </a:solidFill>
              </a:rPr>
              <a:t>eneration</a:t>
            </a:r>
            <a:r>
              <a:rPr lang="en-US" sz="2600" dirty="0">
                <a:solidFill>
                  <a:schemeClr val="dk1"/>
                </a:solidFill>
              </a:rPr>
              <a:t>)(used for IPV6)</a:t>
            </a:r>
            <a:endParaRPr sz="2600" dirty="0">
              <a:solidFill>
                <a:schemeClr val="dk1"/>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101"/>
          <p:cNvSpPr txBox="1">
            <a:spLocks noGrp="1"/>
          </p:cNvSpPr>
          <p:nvPr>
            <p:ph type="title"/>
          </p:nvPr>
        </p:nvSpPr>
        <p:spPr>
          <a:xfrm>
            <a:off x="457200" y="53431"/>
            <a:ext cx="8229600" cy="5254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PROGRAM</a:t>
            </a:r>
            <a:endParaRPr dirty="0"/>
          </a:p>
        </p:txBody>
      </p:sp>
      <p:sp>
        <p:nvSpPr>
          <p:cNvPr id="778" name="Google Shape;778;p101"/>
          <p:cNvSpPr txBox="1">
            <a:spLocks noGrp="1"/>
          </p:cNvSpPr>
          <p:nvPr>
            <p:ph type="body" idx="1"/>
          </p:nvPr>
        </p:nvSpPr>
        <p:spPr>
          <a:xfrm>
            <a:off x="457200" y="682388"/>
            <a:ext cx="8229600" cy="5947012"/>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dirty="0"/>
              <a:t>R1:</a:t>
            </a:r>
            <a:endParaRPr dirty="0"/>
          </a:p>
          <a:p>
            <a:pPr marL="342900" lvl="0" indent="-342900" algn="l" rtl="0">
              <a:spcBef>
                <a:spcPts val="544"/>
              </a:spcBef>
              <a:spcAft>
                <a:spcPts val="0"/>
              </a:spcAft>
              <a:buClr>
                <a:schemeClr val="dk1"/>
              </a:buClr>
              <a:buSzPct val="100000"/>
              <a:buNone/>
            </a:pPr>
            <a:r>
              <a:rPr lang="en-US" dirty="0"/>
              <a:t>#router rip</a:t>
            </a:r>
            <a:endParaRPr dirty="0"/>
          </a:p>
          <a:p>
            <a:pPr marL="342900" lvl="0" indent="-342900" algn="l" rtl="0">
              <a:spcBef>
                <a:spcPts val="544"/>
              </a:spcBef>
              <a:spcAft>
                <a:spcPts val="0"/>
              </a:spcAft>
              <a:buClr>
                <a:schemeClr val="dk1"/>
              </a:buClr>
              <a:buSzPct val="100000"/>
              <a:buNone/>
            </a:pPr>
            <a:r>
              <a:rPr lang="en-US" dirty="0"/>
              <a:t>#network 192.168.1.0</a:t>
            </a:r>
            <a:endParaRPr dirty="0"/>
          </a:p>
          <a:p>
            <a:pPr marL="342900" lvl="0" indent="-342900" algn="l" rtl="0">
              <a:spcBef>
                <a:spcPts val="544"/>
              </a:spcBef>
              <a:spcAft>
                <a:spcPts val="0"/>
              </a:spcAft>
              <a:buClr>
                <a:schemeClr val="dk1"/>
              </a:buClr>
              <a:buSzPct val="100000"/>
              <a:buNone/>
            </a:pPr>
            <a:r>
              <a:rPr lang="en-US" dirty="0"/>
              <a:t>#network 10.0.0.0</a:t>
            </a:r>
            <a:endParaRPr dirty="0"/>
          </a:p>
          <a:p>
            <a:pPr marL="342900" lvl="0" indent="-342900" algn="l" rtl="0">
              <a:spcBef>
                <a:spcPts val="544"/>
              </a:spcBef>
              <a:spcAft>
                <a:spcPts val="0"/>
              </a:spcAft>
              <a:buClr>
                <a:schemeClr val="dk1"/>
              </a:buClr>
              <a:buSzPct val="100000"/>
              <a:buNone/>
            </a:pPr>
            <a:r>
              <a:rPr lang="en-US" dirty="0"/>
              <a:t>#network 30.0.0.0</a:t>
            </a:r>
            <a:endParaRPr dirty="0"/>
          </a:p>
          <a:p>
            <a:pPr marL="342900" lvl="0" indent="-342900" algn="l" rtl="0">
              <a:spcBef>
                <a:spcPts val="544"/>
              </a:spcBef>
              <a:spcAft>
                <a:spcPts val="0"/>
              </a:spcAft>
              <a:buClr>
                <a:schemeClr val="dk1"/>
              </a:buClr>
              <a:buSzPct val="100000"/>
              <a:buNone/>
            </a:pPr>
            <a:r>
              <a:rPr lang="en-US" dirty="0"/>
              <a:t>R2</a:t>
            </a:r>
            <a:r>
              <a:rPr lang="en-US" dirty="0" smtClean="0"/>
              <a:t>:</a:t>
            </a:r>
          </a:p>
          <a:p>
            <a:pPr marL="342900">
              <a:spcBef>
                <a:spcPts val="544"/>
              </a:spcBef>
              <a:buSzPct val="100000"/>
              <a:buNone/>
            </a:pPr>
            <a:r>
              <a:rPr lang="en-US" dirty="0"/>
              <a:t>#router rip</a:t>
            </a:r>
          </a:p>
          <a:p>
            <a:pPr marL="342900" lvl="0" indent="-342900" algn="l" rtl="0">
              <a:spcBef>
                <a:spcPts val="544"/>
              </a:spcBef>
              <a:spcAft>
                <a:spcPts val="0"/>
              </a:spcAft>
              <a:buClr>
                <a:schemeClr val="dk1"/>
              </a:buClr>
              <a:buSzPct val="100000"/>
              <a:buNone/>
            </a:pPr>
            <a:r>
              <a:rPr lang="en-US" dirty="0" smtClean="0"/>
              <a:t>#</a:t>
            </a:r>
            <a:r>
              <a:rPr lang="en-US" dirty="0"/>
              <a:t>network 10.0.0.0</a:t>
            </a:r>
            <a:endParaRPr dirty="0"/>
          </a:p>
          <a:p>
            <a:pPr marL="342900" lvl="0" indent="-342900" algn="l" rtl="0">
              <a:spcBef>
                <a:spcPts val="544"/>
              </a:spcBef>
              <a:spcAft>
                <a:spcPts val="0"/>
              </a:spcAft>
              <a:buClr>
                <a:schemeClr val="dk1"/>
              </a:buClr>
              <a:buSzPct val="100000"/>
              <a:buNone/>
            </a:pPr>
            <a:r>
              <a:rPr lang="en-US" dirty="0"/>
              <a:t>#network 20.0.0.0</a:t>
            </a:r>
            <a:endParaRPr dirty="0"/>
          </a:p>
          <a:p>
            <a:pPr marL="342900" lvl="0" indent="-342900" algn="l" rtl="0">
              <a:spcBef>
                <a:spcPts val="544"/>
              </a:spcBef>
              <a:spcAft>
                <a:spcPts val="0"/>
              </a:spcAft>
              <a:buClr>
                <a:schemeClr val="dk1"/>
              </a:buClr>
              <a:buSzPct val="100000"/>
              <a:buNone/>
            </a:pPr>
            <a:r>
              <a:rPr lang="en-US" dirty="0"/>
              <a:t>R3</a:t>
            </a:r>
            <a:r>
              <a:rPr lang="en-US" dirty="0" smtClean="0"/>
              <a:t>:</a:t>
            </a:r>
          </a:p>
          <a:p>
            <a:pPr marL="342900">
              <a:spcBef>
                <a:spcPts val="544"/>
              </a:spcBef>
              <a:buSzPct val="100000"/>
              <a:buNone/>
            </a:pPr>
            <a:r>
              <a:rPr lang="en-US" dirty="0"/>
              <a:t>#router rip</a:t>
            </a:r>
          </a:p>
          <a:p>
            <a:pPr marL="342900" lvl="0" indent="-342900" algn="l" rtl="0">
              <a:spcBef>
                <a:spcPts val="544"/>
              </a:spcBef>
              <a:spcAft>
                <a:spcPts val="0"/>
              </a:spcAft>
              <a:buClr>
                <a:schemeClr val="dk1"/>
              </a:buClr>
              <a:buSzPct val="100000"/>
              <a:buNone/>
            </a:pPr>
            <a:r>
              <a:rPr lang="en-US" dirty="0" smtClean="0"/>
              <a:t>#</a:t>
            </a:r>
            <a:r>
              <a:rPr lang="en-US" dirty="0"/>
              <a:t>network 192.168.2.0</a:t>
            </a:r>
            <a:endParaRPr dirty="0"/>
          </a:p>
          <a:p>
            <a:pPr marL="342900" lvl="0" indent="-342900" algn="l" rtl="0">
              <a:spcBef>
                <a:spcPts val="544"/>
              </a:spcBef>
              <a:spcAft>
                <a:spcPts val="0"/>
              </a:spcAft>
              <a:buClr>
                <a:schemeClr val="dk1"/>
              </a:buClr>
              <a:buSzPct val="100000"/>
              <a:buNone/>
            </a:pPr>
            <a:r>
              <a:rPr lang="en-US" dirty="0"/>
              <a:t>#network 20.0.0.0</a:t>
            </a:r>
            <a:endParaRPr dirty="0"/>
          </a:p>
          <a:p>
            <a:pPr marL="342900" lvl="0" indent="-342900" algn="l" rtl="0">
              <a:spcBef>
                <a:spcPts val="544"/>
              </a:spcBef>
              <a:spcAft>
                <a:spcPts val="0"/>
              </a:spcAft>
              <a:buClr>
                <a:schemeClr val="dk1"/>
              </a:buClr>
              <a:buSzPct val="100000"/>
              <a:buNone/>
            </a:pPr>
            <a:r>
              <a:rPr lang="en-US" dirty="0"/>
              <a:t>#network 30.0.0.0</a:t>
            </a: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p:txBody>
      </p:sp>
      <p:sp>
        <p:nvSpPr>
          <p:cNvPr id="779" name="Google Shape;779;p101"/>
          <p:cNvSpPr/>
          <p:nvPr/>
        </p:nvSpPr>
        <p:spPr>
          <a:xfrm>
            <a:off x="6172200" y="20574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smtClean="0">
                <a:solidFill>
                  <a:schemeClr val="lt1"/>
                </a:solidFill>
                <a:latin typeface="Calibri"/>
                <a:ea typeface="Calibri"/>
                <a:cs typeface="Calibri"/>
                <a:sym typeface="Calibri"/>
              </a:rPr>
              <a:t>R2</a:t>
            </a:r>
            <a:endParaRPr dirty="0">
              <a:solidFill>
                <a:schemeClr val="lt1"/>
              </a:solidFill>
              <a:latin typeface="Calibri"/>
              <a:ea typeface="Calibri"/>
              <a:cs typeface="Calibri"/>
              <a:sym typeface="Calibri"/>
            </a:endParaRPr>
          </a:p>
        </p:txBody>
      </p:sp>
      <p:sp>
        <p:nvSpPr>
          <p:cNvPr id="780" name="Google Shape;780;p101"/>
          <p:cNvSpPr/>
          <p:nvPr/>
        </p:nvSpPr>
        <p:spPr>
          <a:xfrm>
            <a:off x="7315200" y="35052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smtClean="0">
                <a:solidFill>
                  <a:schemeClr val="lt1"/>
                </a:solidFill>
                <a:latin typeface="Calibri"/>
                <a:ea typeface="Calibri"/>
                <a:cs typeface="Calibri"/>
                <a:sym typeface="Calibri"/>
              </a:rPr>
              <a:t>R3</a:t>
            </a:r>
            <a:endParaRPr dirty="0">
              <a:solidFill>
                <a:schemeClr val="lt1"/>
              </a:solidFill>
              <a:latin typeface="Calibri"/>
              <a:ea typeface="Calibri"/>
              <a:cs typeface="Calibri"/>
              <a:sym typeface="Calibri"/>
            </a:endParaRPr>
          </a:p>
        </p:txBody>
      </p:sp>
      <p:sp>
        <p:nvSpPr>
          <p:cNvPr id="781" name="Google Shape;781;p101"/>
          <p:cNvSpPr/>
          <p:nvPr/>
        </p:nvSpPr>
        <p:spPr>
          <a:xfrm>
            <a:off x="5105400" y="35052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solidFill>
                  <a:schemeClr val="lt1"/>
                </a:solidFill>
                <a:latin typeface="Calibri"/>
                <a:ea typeface="Calibri"/>
                <a:cs typeface="Calibri"/>
                <a:sym typeface="Calibri"/>
              </a:rPr>
              <a:t>R</a:t>
            </a:r>
            <a:r>
              <a:rPr lang="en-US" dirty="0" smtClean="0">
                <a:solidFill>
                  <a:schemeClr val="lt1"/>
                </a:solidFill>
                <a:latin typeface="Calibri"/>
                <a:ea typeface="Calibri"/>
                <a:cs typeface="Calibri"/>
                <a:sym typeface="Calibri"/>
              </a:rPr>
              <a:t>1</a:t>
            </a:r>
            <a:endParaRPr dirty="0">
              <a:solidFill>
                <a:schemeClr val="lt1"/>
              </a:solidFill>
              <a:latin typeface="Calibri"/>
              <a:ea typeface="Calibri"/>
              <a:cs typeface="Calibri"/>
              <a:sym typeface="Calibri"/>
            </a:endParaRPr>
          </a:p>
        </p:txBody>
      </p:sp>
      <p:sp>
        <p:nvSpPr>
          <p:cNvPr id="782" name="Google Shape;782;p101"/>
          <p:cNvSpPr/>
          <p:nvPr/>
        </p:nvSpPr>
        <p:spPr>
          <a:xfrm>
            <a:off x="4800600" y="5029200"/>
            <a:ext cx="914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3" name="Google Shape;783;p101"/>
          <p:cNvSpPr/>
          <p:nvPr/>
        </p:nvSpPr>
        <p:spPr>
          <a:xfrm>
            <a:off x="7239000" y="5029200"/>
            <a:ext cx="914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4" name="Google Shape;784;p101"/>
          <p:cNvSpPr/>
          <p:nvPr/>
        </p:nvSpPr>
        <p:spPr>
          <a:xfrm>
            <a:off x="57912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5" name="Google Shape;785;p101"/>
          <p:cNvSpPr/>
          <p:nvPr/>
        </p:nvSpPr>
        <p:spPr>
          <a:xfrm>
            <a:off x="43434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6" name="Google Shape;786;p101"/>
          <p:cNvSpPr/>
          <p:nvPr/>
        </p:nvSpPr>
        <p:spPr>
          <a:xfrm>
            <a:off x="82296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7" name="Google Shape;787;p101"/>
          <p:cNvSpPr/>
          <p:nvPr/>
        </p:nvSpPr>
        <p:spPr>
          <a:xfrm>
            <a:off x="69342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88" name="Google Shape;788;p101"/>
          <p:cNvCxnSpPr>
            <a:stCxn id="779" idx="3"/>
            <a:endCxn id="781" idx="0"/>
          </p:cNvCxnSpPr>
          <p:nvPr/>
        </p:nvCxnSpPr>
        <p:spPr>
          <a:xfrm flipH="1">
            <a:off x="5372215" y="2512685"/>
            <a:ext cx="878100" cy="992400"/>
          </a:xfrm>
          <a:prstGeom prst="straightConnector1">
            <a:avLst/>
          </a:prstGeom>
          <a:noFill/>
          <a:ln w="9525" cap="flat" cmpd="sng">
            <a:solidFill>
              <a:srgbClr val="4A7DBA"/>
            </a:solidFill>
            <a:prstDash val="solid"/>
            <a:round/>
            <a:headEnd type="none" w="sm" len="sm"/>
            <a:tailEnd type="none" w="sm" len="sm"/>
          </a:ln>
        </p:spPr>
      </p:cxnSp>
      <p:cxnSp>
        <p:nvCxnSpPr>
          <p:cNvPr id="789" name="Google Shape;789;p101"/>
          <p:cNvCxnSpPr>
            <a:stCxn id="779" idx="5"/>
            <a:endCxn id="780" idx="0"/>
          </p:cNvCxnSpPr>
          <p:nvPr/>
        </p:nvCxnSpPr>
        <p:spPr>
          <a:xfrm>
            <a:off x="6627485" y="2512685"/>
            <a:ext cx="954300" cy="992400"/>
          </a:xfrm>
          <a:prstGeom prst="straightConnector1">
            <a:avLst/>
          </a:prstGeom>
          <a:noFill/>
          <a:ln w="9525" cap="flat" cmpd="sng">
            <a:solidFill>
              <a:srgbClr val="4A7DBA"/>
            </a:solidFill>
            <a:prstDash val="solid"/>
            <a:round/>
            <a:headEnd type="none" w="sm" len="sm"/>
            <a:tailEnd type="none" w="sm" len="sm"/>
          </a:ln>
        </p:spPr>
      </p:cxnSp>
      <p:cxnSp>
        <p:nvCxnSpPr>
          <p:cNvPr id="790" name="Google Shape;790;p101"/>
          <p:cNvCxnSpPr>
            <a:stCxn id="780" idx="2"/>
            <a:endCxn id="781" idx="6"/>
          </p:cNvCxnSpPr>
          <p:nvPr/>
        </p:nvCxnSpPr>
        <p:spPr>
          <a:xfrm rot="10800000">
            <a:off x="5638800" y="3771900"/>
            <a:ext cx="1676400" cy="0"/>
          </a:xfrm>
          <a:prstGeom prst="straightConnector1">
            <a:avLst/>
          </a:prstGeom>
          <a:noFill/>
          <a:ln w="9525" cap="flat" cmpd="sng">
            <a:solidFill>
              <a:srgbClr val="4A7DBA"/>
            </a:solidFill>
            <a:prstDash val="solid"/>
            <a:round/>
            <a:headEnd type="none" w="sm" len="sm"/>
            <a:tailEnd type="none" w="sm" len="sm"/>
          </a:ln>
        </p:spPr>
      </p:cxnSp>
      <p:cxnSp>
        <p:nvCxnSpPr>
          <p:cNvPr id="791" name="Google Shape;791;p101"/>
          <p:cNvCxnSpPr>
            <a:stCxn id="781" idx="4"/>
            <a:endCxn id="782" idx="0"/>
          </p:cNvCxnSpPr>
          <p:nvPr/>
        </p:nvCxnSpPr>
        <p:spPr>
          <a:xfrm flipH="1">
            <a:off x="5257800" y="4038600"/>
            <a:ext cx="114300" cy="990600"/>
          </a:xfrm>
          <a:prstGeom prst="straightConnector1">
            <a:avLst/>
          </a:prstGeom>
          <a:noFill/>
          <a:ln w="9525" cap="flat" cmpd="sng">
            <a:solidFill>
              <a:srgbClr val="4A7DBA"/>
            </a:solidFill>
            <a:prstDash val="solid"/>
            <a:round/>
            <a:headEnd type="none" w="sm" len="sm"/>
            <a:tailEnd type="none" w="sm" len="sm"/>
          </a:ln>
        </p:spPr>
      </p:cxnSp>
      <p:cxnSp>
        <p:nvCxnSpPr>
          <p:cNvPr id="792" name="Google Shape;792;p101"/>
          <p:cNvCxnSpPr>
            <a:stCxn id="780" idx="4"/>
            <a:endCxn id="783" idx="0"/>
          </p:cNvCxnSpPr>
          <p:nvPr/>
        </p:nvCxnSpPr>
        <p:spPr>
          <a:xfrm>
            <a:off x="7581900" y="4038600"/>
            <a:ext cx="114300" cy="990600"/>
          </a:xfrm>
          <a:prstGeom prst="straightConnector1">
            <a:avLst/>
          </a:prstGeom>
          <a:noFill/>
          <a:ln w="9525" cap="flat" cmpd="sng">
            <a:solidFill>
              <a:srgbClr val="4A7DBA"/>
            </a:solidFill>
            <a:prstDash val="solid"/>
            <a:round/>
            <a:headEnd type="none" w="sm" len="sm"/>
            <a:tailEnd type="none" w="sm" len="sm"/>
          </a:ln>
        </p:spPr>
      </p:cxnSp>
      <p:cxnSp>
        <p:nvCxnSpPr>
          <p:cNvPr id="793" name="Google Shape;793;p101"/>
          <p:cNvCxnSpPr>
            <a:stCxn id="782" idx="2"/>
            <a:endCxn id="785" idx="0"/>
          </p:cNvCxnSpPr>
          <p:nvPr/>
        </p:nvCxnSpPr>
        <p:spPr>
          <a:xfrm flipH="1">
            <a:off x="4572000" y="5334000"/>
            <a:ext cx="685800" cy="838200"/>
          </a:xfrm>
          <a:prstGeom prst="straightConnector1">
            <a:avLst/>
          </a:prstGeom>
          <a:noFill/>
          <a:ln w="9525" cap="flat" cmpd="sng">
            <a:solidFill>
              <a:srgbClr val="4A7DBA"/>
            </a:solidFill>
            <a:prstDash val="solid"/>
            <a:round/>
            <a:headEnd type="none" w="sm" len="sm"/>
            <a:tailEnd type="none" w="sm" len="sm"/>
          </a:ln>
        </p:spPr>
      </p:cxnSp>
      <p:cxnSp>
        <p:nvCxnSpPr>
          <p:cNvPr id="794" name="Google Shape;794;p101"/>
          <p:cNvCxnSpPr>
            <a:stCxn id="782" idx="2"/>
            <a:endCxn id="784" idx="0"/>
          </p:cNvCxnSpPr>
          <p:nvPr/>
        </p:nvCxnSpPr>
        <p:spPr>
          <a:xfrm>
            <a:off x="5257800" y="5334000"/>
            <a:ext cx="762000" cy="838200"/>
          </a:xfrm>
          <a:prstGeom prst="straightConnector1">
            <a:avLst/>
          </a:prstGeom>
          <a:noFill/>
          <a:ln w="9525" cap="flat" cmpd="sng">
            <a:solidFill>
              <a:srgbClr val="4A7DBA"/>
            </a:solidFill>
            <a:prstDash val="solid"/>
            <a:round/>
            <a:headEnd type="none" w="sm" len="sm"/>
            <a:tailEnd type="none" w="sm" len="sm"/>
          </a:ln>
        </p:spPr>
      </p:cxnSp>
      <p:cxnSp>
        <p:nvCxnSpPr>
          <p:cNvPr id="795" name="Google Shape;795;p101"/>
          <p:cNvCxnSpPr>
            <a:stCxn id="783" idx="2"/>
            <a:endCxn id="787" idx="0"/>
          </p:cNvCxnSpPr>
          <p:nvPr/>
        </p:nvCxnSpPr>
        <p:spPr>
          <a:xfrm flipH="1">
            <a:off x="7162800" y="5334000"/>
            <a:ext cx="533400" cy="838200"/>
          </a:xfrm>
          <a:prstGeom prst="straightConnector1">
            <a:avLst/>
          </a:prstGeom>
          <a:noFill/>
          <a:ln w="9525" cap="flat" cmpd="sng">
            <a:solidFill>
              <a:srgbClr val="4A7DBA"/>
            </a:solidFill>
            <a:prstDash val="solid"/>
            <a:round/>
            <a:headEnd type="none" w="sm" len="sm"/>
            <a:tailEnd type="none" w="sm" len="sm"/>
          </a:ln>
        </p:spPr>
      </p:cxnSp>
      <p:cxnSp>
        <p:nvCxnSpPr>
          <p:cNvPr id="796" name="Google Shape;796;p101"/>
          <p:cNvCxnSpPr>
            <a:stCxn id="783" idx="2"/>
            <a:endCxn id="786" idx="1"/>
          </p:cNvCxnSpPr>
          <p:nvPr/>
        </p:nvCxnSpPr>
        <p:spPr>
          <a:xfrm>
            <a:off x="7696200" y="5334000"/>
            <a:ext cx="533400" cy="1028700"/>
          </a:xfrm>
          <a:prstGeom prst="straightConnector1">
            <a:avLst/>
          </a:prstGeom>
          <a:noFill/>
          <a:ln w="9525" cap="flat" cmpd="sng">
            <a:solidFill>
              <a:srgbClr val="4A7DBA"/>
            </a:solidFill>
            <a:prstDash val="solid"/>
            <a:round/>
            <a:headEnd type="none" w="sm" len="sm"/>
            <a:tailEnd type="none" w="sm" len="sm"/>
          </a:ln>
        </p:spPr>
      </p:cxnSp>
      <p:sp>
        <p:nvSpPr>
          <p:cNvPr id="2" name="TextBox 1"/>
          <p:cNvSpPr txBox="1"/>
          <p:nvPr/>
        </p:nvSpPr>
        <p:spPr>
          <a:xfrm>
            <a:off x="4329493" y="3131954"/>
            <a:ext cx="830677" cy="307777"/>
          </a:xfrm>
          <a:prstGeom prst="rect">
            <a:avLst/>
          </a:prstGeom>
          <a:noFill/>
        </p:spPr>
        <p:txBody>
          <a:bodyPr wrap="none" rtlCol="0">
            <a:spAutoFit/>
          </a:bodyPr>
          <a:lstStyle/>
          <a:p>
            <a:r>
              <a:rPr lang="en-US" dirty="0" smtClean="0"/>
              <a:t>10.0.0.1</a:t>
            </a:r>
            <a:endParaRPr lang="en-IN" dirty="0"/>
          </a:p>
        </p:txBody>
      </p:sp>
      <p:sp>
        <p:nvSpPr>
          <p:cNvPr id="23" name="TextBox 22"/>
          <p:cNvSpPr txBox="1"/>
          <p:nvPr/>
        </p:nvSpPr>
        <p:spPr>
          <a:xfrm>
            <a:off x="7017367" y="4361463"/>
            <a:ext cx="1128835" cy="307777"/>
          </a:xfrm>
          <a:prstGeom prst="rect">
            <a:avLst/>
          </a:prstGeom>
          <a:noFill/>
        </p:spPr>
        <p:txBody>
          <a:bodyPr wrap="none" rtlCol="0">
            <a:spAutoFit/>
          </a:bodyPr>
          <a:lstStyle/>
          <a:p>
            <a:r>
              <a:rPr lang="en-US" dirty="0" smtClean="0"/>
              <a:t>192.168.2.1</a:t>
            </a:r>
            <a:endParaRPr lang="en-IN" dirty="0"/>
          </a:p>
        </p:txBody>
      </p:sp>
      <p:sp>
        <p:nvSpPr>
          <p:cNvPr id="24" name="TextBox 23"/>
          <p:cNvSpPr txBox="1"/>
          <p:nvPr/>
        </p:nvSpPr>
        <p:spPr>
          <a:xfrm>
            <a:off x="4960082" y="4567535"/>
            <a:ext cx="1128835" cy="307777"/>
          </a:xfrm>
          <a:prstGeom prst="rect">
            <a:avLst/>
          </a:prstGeom>
          <a:noFill/>
        </p:spPr>
        <p:txBody>
          <a:bodyPr wrap="none" rtlCol="0">
            <a:spAutoFit/>
          </a:bodyPr>
          <a:lstStyle/>
          <a:p>
            <a:r>
              <a:rPr lang="en-US" dirty="0" smtClean="0"/>
              <a:t>192.168.1.1</a:t>
            </a:r>
            <a:endParaRPr lang="en-IN" dirty="0"/>
          </a:p>
        </p:txBody>
      </p:sp>
      <p:sp>
        <p:nvSpPr>
          <p:cNvPr id="25" name="TextBox 24"/>
          <p:cNvSpPr txBox="1"/>
          <p:nvPr/>
        </p:nvSpPr>
        <p:spPr>
          <a:xfrm>
            <a:off x="5208115" y="2307049"/>
            <a:ext cx="830677" cy="307777"/>
          </a:xfrm>
          <a:prstGeom prst="rect">
            <a:avLst/>
          </a:prstGeom>
          <a:noFill/>
        </p:spPr>
        <p:txBody>
          <a:bodyPr wrap="none" rtlCol="0">
            <a:spAutoFit/>
          </a:bodyPr>
          <a:lstStyle/>
          <a:p>
            <a:r>
              <a:rPr lang="en-US" dirty="0" smtClean="0"/>
              <a:t>10.0.0.2</a:t>
            </a:r>
            <a:endParaRPr lang="en-IN" dirty="0"/>
          </a:p>
        </p:txBody>
      </p:sp>
      <p:sp>
        <p:nvSpPr>
          <p:cNvPr id="26" name="TextBox 25"/>
          <p:cNvSpPr txBox="1"/>
          <p:nvPr/>
        </p:nvSpPr>
        <p:spPr>
          <a:xfrm>
            <a:off x="6800412" y="2292055"/>
            <a:ext cx="830677" cy="307777"/>
          </a:xfrm>
          <a:prstGeom prst="rect">
            <a:avLst/>
          </a:prstGeom>
          <a:noFill/>
        </p:spPr>
        <p:txBody>
          <a:bodyPr wrap="none" rtlCol="0">
            <a:spAutoFit/>
          </a:bodyPr>
          <a:lstStyle/>
          <a:p>
            <a:r>
              <a:rPr lang="en-US" dirty="0"/>
              <a:t>2</a:t>
            </a:r>
            <a:r>
              <a:rPr lang="en-US" dirty="0" smtClean="0"/>
              <a:t>0.0.0.2</a:t>
            </a:r>
            <a:endParaRPr lang="en-IN" dirty="0"/>
          </a:p>
        </p:txBody>
      </p:sp>
      <p:sp>
        <p:nvSpPr>
          <p:cNvPr id="27" name="TextBox 26"/>
          <p:cNvSpPr txBox="1"/>
          <p:nvPr/>
        </p:nvSpPr>
        <p:spPr>
          <a:xfrm>
            <a:off x="7342975" y="3043534"/>
            <a:ext cx="830677" cy="307777"/>
          </a:xfrm>
          <a:prstGeom prst="rect">
            <a:avLst/>
          </a:prstGeom>
          <a:noFill/>
        </p:spPr>
        <p:txBody>
          <a:bodyPr wrap="none" rtlCol="0">
            <a:spAutoFit/>
          </a:bodyPr>
          <a:lstStyle/>
          <a:p>
            <a:r>
              <a:rPr lang="en-US" dirty="0" smtClean="0"/>
              <a:t>20.0.0.1</a:t>
            </a:r>
            <a:endParaRPr lang="en-IN" dirty="0"/>
          </a:p>
        </p:txBody>
      </p:sp>
      <p:sp>
        <p:nvSpPr>
          <p:cNvPr id="28" name="TextBox 27"/>
          <p:cNvSpPr txBox="1"/>
          <p:nvPr/>
        </p:nvSpPr>
        <p:spPr>
          <a:xfrm>
            <a:off x="5601718" y="3842757"/>
            <a:ext cx="830677" cy="307777"/>
          </a:xfrm>
          <a:prstGeom prst="rect">
            <a:avLst/>
          </a:prstGeom>
          <a:noFill/>
        </p:spPr>
        <p:txBody>
          <a:bodyPr wrap="none" rtlCol="0">
            <a:spAutoFit/>
          </a:bodyPr>
          <a:lstStyle/>
          <a:p>
            <a:r>
              <a:rPr lang="en-US" dirty="0"/>
              <a:t>3</a:t>
            </a:r>
            <a:r>
              <a:rPr lang="en-US" dirty="0" smtClean="0"/>
              <a:t>0.0.0.1</a:t>
            </a:r>
            <a:endParaRPr lang="en-IN" dirty="0"/>
          </a:p>
        </p:txBody>
      </p:sp>
      <p:sp>
        <p:nvSpPr>
          <p:cNvPr id="29" name="TextBox 28"/>
          <p:cNvSpPr txBox="1"/>
          <p:nvPr/>
        </p:nvSpPr>
        <p:spPr>
          <a:xfrm>
            <a:off x="6512298" y="3803913"/>
            <a:ext cx="830677" cy="307777"/>
          </a:xfrm>
          <a:prstGeom prst="rect">
            <a:avLst/>
          </a:prstGeom>
          <a:noFill/>
        </p:spPr>
        <p:txBody>
          <a:bodyPr wrap="none" rtlCol="0">
            <a:spAutoFit/>
          </a:bodyPr>
          <a:lstStyle/>
          <a:p>
            <a:r>
              <a:rPr lang="en-US" dirty="0" smtClean="0"/>
              <a:t>30.0.0.2</a:t>
            </a:r>
            <a:endParaRPr lang="en-IN"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p102"/>
          <p:cNvSpPr txBox="1">
            <a:spLocks noGrp="1"/>
          </p:cNvSpPr>
          <p:nvPr>
            <p:ph type="subTitle" idx="1"/>
          </p:nvPr>
        </p:nvSpPr>
        <p:spPr>
          <a:xfrm>
            <a:off x="539552" y="548680"/>
            <a:ext cx="8208912" cy="6048672"/>
          </a:xfrm>
          <a:prstGeom prst="rect">
            <a:avLst/>
          </a:prstGeom>
          <a:noFill/>
          <a:ln>
            <a:noFill/>
          </a:ln>
        </p:spPr>
        <p:txBody>
          <a:bodyPr spcFirstLastPara="1" wrap="square" lIns="91425" tIns="45700" rIns="91425" bIns="45700" anchor="t" anchorCtr="0">
            <a:normAutofit/>
          </a:bodyPr>
          <a:lstStyle/>
          <a:p>
            <a:pPr marL="457200" lvl="0" indent="-457200" algn="l" rtl="0">
              <a:spcBef>
                <a:spcPts val="0"/>
              </a:spcBef>
              <a:spcAft>
                <a:spcPts val="0"/>
              </a:spcAft>
              <a:buClr>
                <a:schemeClr val="dk1"/>
              </a:buClr>
              <a:buSzPts val="2400"/>
              <a:buFont typeface="Noto Sans Symbols"/>
              <a:buChar char="▪"/>
            </a:pPr>
            <a:r>
              <a:rPr lang="en-US" sz="2400" dirty="0">
                <a:solidFill>
                  <a:schemeClr val="dk1"/>
                </a:solidFill>
              </a:rPr>
              <a:t>RIP uses two message types</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REQUEST : to also RIP enable </a:t>
            </a:r>
            <a:r>
              <a:rPr lang="en-US" sz="2400" dirty="0" err="1">
                <a:solidFill>
                  <a:schemeClr val="dk1"/>
                </a:solidFill>
              </a:rPr>
              <a:t>neighbour</a:t>
            </a:r>
            <a:r>
              <a:rPr lang="en-US" sz="2400" dirty="0">
                <a:solidFill>
                  <a:schemeClr val="dk1"/>
                </a:solidFill>
              </a:rPr>
              <a:t> routers</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RESPONSE : to send the local router table to </a:t>
            </a:r>
            <a:r>
              <a:rPr lang="en-US" sz="2400" dirty="0" err="1">
                <a:solidFill>
                  <a:schemeClr val="dk1"/>
                </a:solidFill>
              </a:rPr>
              <a:t>neighbouring</a:t>
            </a:r>
            <a:r>
              <a:rPr lang="en-US" sz="2400" dirty="0">
                <a:solidFill>
                  <a:schemeClr val="dk1"/>
                </a:solidFill>
              </a:rPr>
              <a:t> </a:t>
            </a:r>
            <a:r>
              <a:rPr lang="en-US" sz="2400" dirty="0" smtClean="0">
                <a:solidFill>
                  <a:schemeClr val="dk1"/>
                </a:solidFill>
              </a:rPr>
              <a:t>routers.</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By default, RIP enabled router will share their routing table 30 </a:t>
            </a:r>
            <a:r>
              <a:rPr lang="en-US" sz="2400" dirty="0" smtClean="0">
                <a:solidFill>
                  <a:schemeClr val="dk1"/>
                </a:solidFill>
              </a:rPr>
              <a:t>seconds.</a:t>
            </a:r>
            <a:endParaRPr dirty="0"/>
          </a:p>
          <a:p>
            <a:pPr marL="0" lvl="0" indent="0" algn="l" rtl="0">
              <a:spcBef>
                <a:spcPts val="640"/>
              </a:spcBef>
              <a:spcAft>
                <a:spcPts val="0"/>
              </a:spcAft>
              <a:buClr>
                <a:schemeClr val="dk1"/>
              </a:buClr>
              <a:buSzPts val="3200"/>
              <a:buNone/>
            </a:pPr>
            <a:r>
              <a:rPr lang="en-US" b="1" u="sng" dirty="0">
                <a:solidFill>
                  <a:schemeClr val="dk1"/>
                </a:solidFill>
              </a:rPr>
              <a:t>EIGRP(Enhanced </a:t>
            </a:r>
            <a:r>
              <a:rPr lang="en-US" b="1" u="sng" dirty="0" smtClean="0">
                <a:solidFill>
                  <a:schemeClr val="dk1"/>
                </a:solidFill>
              </a:rPr>
              <a:t>gateway </a:t>
            </a:r>
            <a:r>
              <a:rPr lang="en-US" b="1" u="sng" dirty="0">
                <a:solidFill>
                  <a:schemeClr val="dk1"/>
                </a:solidFill>
              </a:rPr>
              <a:t>R</a:t>
            </a:r>
            <a:r>
              <a:rPr lang="en-US" b="1" u="sng" dirty="0" smtClean="0">
                <a:solidFill>
                  <a:schemeClr val="dk1"/>
                </a:solidFill>
              </a:rPr>
              <a:t>outing </a:t>
            </a:r>
            <a:r>
              <a:rPr lang="en-US" b="1" u="sng" dirty="0">
                <a:solidFill>
                  <a:schemeClr val="dk1"/>
                </a:solidFill>
              </a:rPr>
              <a:t>P</a:t>
            </a:r>
            <a:r>
              <a:rPr lang="en-US" b="1" u="sng" dirty="0" smtClean="0">
                <a:solidFill>
                  <a:schemeClr val="dk1"/>
                </a:solidFill>
              </a:rPr>
              <a:t>rotocols</a:t>
            </a:r>
            <a:r>
              <a:rPr lang="en-US" b="1" u="sng" dirty="0">
                <a:solidFill>
                  <a:schemeClr val="dk1"/>
                </a:solidFill>
              </a:rPr>
              <a:t>):                                                      </a:t>
            </a:r>
            <a:endParaRPr dirty="0"/>
          </a:p>
          <a:p>
            <a:pPr marL="342900" lvl="0" indent="-342900" algn="l" rtl="0">
              <a:spcBef>
                <a:spcPts val="480"/>
              </a:spcBef>
              <a:spcAft>
                <a:spcPts val="0"/>
              </a:spcAft>
              <a:buClr>
                <a:schemeClr val="dk1"/>
              </a:buClr>
              <a:buSzPts val="2400"/>
              <a:buFont typeface="Arial"/>
              <a:buChar char="•"/>
            </a:pPr>
            <a:r>
              <a:rPr lang="en-US" sz="2400" dirty="0">
                <a:solidFill>
                  <a:schemeClr val="dk1"/>
                </a:solidFill>
              </a:rPr>
              <a:t>Cisco designed the protocols and is available only on cisco </a:t>
            </a:r>
            <a:r>
              <a:rPr lang="en-US" sz="2400" dirty="0" smtClean="0">
                <a:solidFill>
                  <a:schemeClr val="dk1"/>
                </a:solidFill>
              </a:rPr>
              <a:t>routers</a:t>
            </a:r>
            <a:endParaRPr dirty="0"/>
          </a:p>
          <a:p>
            <a:pPr marL="342900" lvl="0" indent="-342900" algn="l" rtl="0">
              <a:spcBef>
                <a:spcPts val="480"/>
              </a:spcBef>
              <a:spcAft>
                <a:spcPts val="0"/>
              </a:spcAft>
              <a:buClr>
                <a:schemeClr val="dk1"/>
              </a:buClr>
              <a:buSzPts val="2400"/>
              <a:buFont typeface="Arial"/>
              <a:buChar char="•"/>
            </a:pPr>
            <a:r>
              <a:rPr lang="en-US" sz="2400" dirty="0" smtClean="0">
                <a:solidFill>
                  <a:schemeClr val="dk1"/>
                </a:solidFill>
              </a:rPr>
              <a:t>Minimum </a:t>
            </a:r>
            <a:r>
              <a:rPr lang="en-US" sz="2400" b="1" dirty="0" smtClean="0">
                <a:solidFill>
                  <a:schemeClr val="dk1"/>
                </a:solidFill>
              </a:rPr>
              <a:t>bandwidth</a:t>
            </a:r>
            <a:r>
              <a:rPr lang="en-US" sz="2400" dirty="0" smtClean="0">
                <a:solidFill>
                  <a:schemeClr val="dk1"/>
                </a:solidFill>
              </a:rPr>
              <a:t> is used from the source to destination and </a:t>
            </a:r>
            <a:r>
              <a:rPr lang="en-US" sz="2400" dirty="0">
                <a:solidFill>
                  <a:schemeClr val="dk1"/>
                </a:solidFill>
              </a:rPr>
              <a:t>the delay is measured using metric of the network</a:t>
            </a:r>
            <a:endParaRPr dirty="0"/>
          </a:p>
          <a:p>
            <a:pPr marL="342900" lvl="0" indent="-342900" algn="l" rtl="0">
              <a:spcBef>
                <a:spcPts val="480"/>
              </a:spcBef>
              <a:spcAft>
                <a:spcPts val="0"/>
              </a:spcAft>
              <a:buClr>
                <a:schemeClr val="dk1"/>
              </a:buClr>
              <a:buSzPts val="2400"/>
              <a:buFont typeface="Arial"/>
              <a:buChar char="•"/>
            </a:pPr>
            <a:r>
              <a:rPr lang="en-US" sz="2400" dirty="0">
                <a:solidFill>
                  <a:schemeClr val="dk1"/>
                </a:solidFill>
              </a:rPr>
              <a:t>Much faster than RIP in reacting to change in the network</a:t>
            </a:r>
            <a:endParaRPr dirty="0"/>
          </a:p>
          <a:p>
            <a:pPr marL="342900" lvl="0" indent="-342900" algn="l" rtl="0">
              <a:spcBef>
                <a:spcPts val="480"/>
              </a:spcBef>
              <a:spcAft>
                <a:spcPts val="0"/>
              </a:spcAft>
              <a:buClr>
                <a:schemeClr val="dk1"/>
              </a:buClr>
              <a:buSzPts val="2400"/>
              <a:buFont typeface="Arial"/>
              <a:buChar char="•"/>
            </a:pPr>
            <a:r>
              <a:rPr lang="en-US" sz="2400" dirty="0">
                <a:solidFill>
                  <a:schemeClr val="dk1"/>
                </a:solidFill>
              </a:rPr>
              <a:t>Does not have the 15 hop count limits of RIP.</a:t>
            </a:r>
            <a:endParaRPr sz="2400" dirty="0">
              <a:solidFill>
                <a:schemeClr val="dk1"/>
              </a:solidFill>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10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PROGRAM</a:t>
            </a:r>
            <a:endParaRPr/>
          </a:p>
        </p:txBody>
      </p:sp>
      <p:sp>
        <p:nvSpPr>
          <p:cNvPr id="807" name="Google Shape;807;p10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Char char="•"/>
            </a:pPr>
            <a:r>
              <a:rPr lang="en-US" dirty="0"/>
              <a:t>R1:</a:t>
            </a:r>
            <a:endParaRPr dirty="0"/>
          </a:p>
          <a:p>
            <a:pPr marL="342900" lvl="0" indent="-342900" algn="l" rtl="0">
              <a:spcBef>
                <a:spcPts val="400"/>
              </a:spcBef>
              <a:spcAft>
                <a:spcPts val="0"/>
              </a:spcAft>
              <a:buClr>
                <a:schemeClr val="dk1"/>
              </a:buClr>
              <a:buSzPct val="100000"/>
              <a:buNone/>
            </a:pPr>
            <a:r>
              <a:rPr lang="en-US" dirty="0"/>
              <a:t>#Router </a:t>
            </a:r>
            <a:r>
              <a:rPr lang="en-US" dirty="0" err="1"/>
              <a:t>eigrp</a:t>
            </a:r>
            <a:r>
              <a:rPr lang="en-US" dirty="0"/>
              <a:t> 100</a:t>
            </a:r>
            <a:endParaRPr dirty="0"/>
          </a:p>
          <a:p>
            <a:pPr marL="342900" lvl="0" indent="-342900" algn="l" rtl="0">
              <a:spcBef>
                <a:spcPts val="400"/>
              </a:spcBef>
              <a:spcAft>
                <a:spcPts val="0"/>
              </a:spcAft>
              <a:buClr>
                <a:schemeClr val="dk1"/>
              </a:buClr>
              <a:buSzPct val="100000"/>
              <a:buNone/>
            </a:pPr>
            <a:r>
              <a:rPr lang="en-US" dirty="0"/>
              <a:t>#network 192.168.1.0</a:t>
            </a:r>
            <a:endParaRPr dirty="0"/>
          </a:p>
          <a:p>
            <a:pPr marL="342900" lvl="0" indent="-342900" algn="l" rtl="0">
              <a:spcBef>
                <a:spcPts val="400"/>
              </a:spcBef>
              <a:spcAft>
                <a:spcPts val="0"/>
              </a:spcAft>
              <a:buClr>
                <a:schemeClr val="dk1"/>
              </a:buClr>
              <a:buSzPct val="100000"/>
              <a:buNone/>
            </a:pPr>
            <a:r>
              <a:rPr lang="en-US" dirty="0"/>
              <a:t>#network 10.0.0.0</a:t>
            </a:r>
            <a:endParaRPr dirty="0"/>
          </a:p>
          <a:p>
            <a:pPr marL="342900" lvl="0" indent="-342900" algn="l" rtl="0">
              <a:spcBef>
                <a:spcPts val="400"/>
              </a:spcBef>
              <a:spcAft>
                <a:spcPts val="0"/>
              </a:spcAft>
              <a:buClr>
                <a:schemeClr val="dk1"/>
              </a:buClr>
              <a:buSzPct val="100000"/>
              <a:buNone/>
            </a:pPr>
            <a:r>
              <a:rPr lang="en-US" dirty="0"/>
              <a:t>#network 30.0.0.0</a:t>
            </a:r>
            <a:endParaRPr dirty="0"/>
          </a:p>
          <a:p>
            <a:pPr marL="342900" lvl="0" indent="-342900" algn="l" rtl="0">
              <a:spcBef>
                <a:spcPts val="400"/>
              </a:spcBef>
              <a:spcAft>
                <a:spcPts val="0"/>
              </a:spcAft>
              <a:buClr>
                <a:schemeClr val="dk1"/>
              </a:buClr>
              <a:buSzPct val="100000"/>
              <a:buNone/>
            </a:pPr>
            <a:r>
              <a:rPr lang="en-US" dirty="0"/>
              <a:t>R2:</a:t>
            </a:r>
            <a:endParaRPr dirty="0"/>
          </a:p>
          <a:p>
            <a:pPr marL="342900" lvl="0" indent="-342900" algn="l" rtl="0">
              <a:spcBef>
                <a:spcPts val="400"/>
              </a:spcBef>
              <a:spcAft>
                <a:spcPts val="0"/>
              </a:spcAft>
              <a:buClr>
                <a:schemeClr val="dk1"/>
              </a:buClr>
              <a:buSzPct val="100000"/>
              <a:buNone/>
            </a:pPr>
            <a:r>
              <a:rPr lang="en-US" dirty="0"/>
              <a:t>#router </a:t>
            </a:r>
            <a:r>
              <a:rPr lang="en-US" dirty="0" err="1"/>
              <a:t>eigrp</a:t>
            </a:r>
            <a:r>
              <a:rPr lang="en-US" dirty="0"/>
              <a:t> 100</a:t>
            </a:r>
            <a:endParaRPr dirty="0"/>
          </a:p>
          <a:p>
            <a:pPr marL="342900" lvl="0" indent="-342900" algn="l" rtl="0">
              <a:spcBef>
                <a:spcPts val="400"/>
              </a:spcBef>
              <a:spcAft>
                <a:spcPts val="0"/>
              </a:spcAft>
              <a:buClr>
                <a:schemeClr val="dk1"/>
              </a:buClr>
              <a:buSzPct val="100000"/>
              <a:buNone/>
            </a:pPr>
            <a:r>
              <a:rPr lang="en-US" dirty="0"/>
              <a:t>#network 10.0.0.0</a:t>
            </a:r>
            <a:endParaRPr dirty="0"/>
          </a:p>
          <a:p>
            <a:pPr marL="342900" lvl="0" indent="-342900" algn="l" rtl="0">
              <a:spcBef>
                <a:spcPts val="400"/>
              </a:spcBef>
              <a:spcAft>
                <a:spcPts val="0"/>
              </a:spcAft>
              <a:buClr>
                <a:schemeClr val="dk1"/>
              </a:buClr>
              <a:buSzPct val="100000"/>
              <a:buNone/>
            </a:pPr>
            <a:r>
              <a:rPr lang="en-US" dirty="0"/>
              <a:t>#network 20.0.0.0</a:t>
            </a:r>
            <a:endParaRPr dirty="0"/>
          </a:p>
          <a:p>
            <a:pPr marL="342900" lvl="0" indent="-342900" algn="l" rtl="0">
              <a:spcBef>
                <a:spcPts val="400"/>
              </a:spcBef>
              <a:spcAft>
                <a:spcPts val="0"/>
              </a:spcAft>
              <a:buClr>
                <a:schemeClr val="dk1"/>
              </a:buClr>
              <a:buSzPct val="100000"/>
              <a:buNone/>
            </a:pPr>
            <a:r>
              <a:rPr lang="en-US" dirty="0"/>
              <a:t>R3:</a:t>
            </a:r>
            <a:endParaRPr dirty="0"/>
          </a:p>
          <a:p>
            <a:pPr marL="342900" lvl="0" indent="-342900" algn="l" rtl="0">
              <a:spcBef>
                <a:spcPts val="400"/>
              </a:spcBef>
              <a:spcAft>
                <a:spcPts val="0"/>
              </a:spcAft>
              <a:buClr>
                <a:schemeClr val="dk1"/>
              </a:buClr>
              <a:buSzPct val="100000"/>
              <a:buNone/>
            </a:pPr>
            <a:r>
              <a:rPr lang="en-US" dirty="0"/>
              <a:t>#router </a:t>
            </a:r>
            <a:r>
              <a:rPr lang="en-US" dirty="0" err="1"/>
              <a:t>eigrp</a:t>
            </a:r>
            <a:r>
              <a:rPr lang="en-US" dirty="0"/>
              <a:t> 100</a:t>
            </a:r>
            <a:endParaRPr dirty="0"/>
          </a:p>
          <a:p>
            <a:pPr marL="342900" lvl="0" indent="-342900" algn="l" rtl="0">
              <a:spcBef>
                <a:spcPts val="400"/>
              </a:spcBef>
              <a:spcAft>
                <a:spcPts val="0"/>
              </a:spcAft>
              <a:buClr>
                <a:schemeClr val="dk1"/>
              </a:buClr>
              <a:buSzPct val="100000"/>
              <a:buNone/>
            </a:pPr>
            <a:r>
              <a:rPr lang="en-US" dirty="0"/>
              <a:t>#network 192.168.2.0</a:t>
            </a:r>
            <a:endParaRPr dirty="0"/>
          </a:p>
          <a:p>
            <a:pPr marL="342900" lvl="0" indent="-342900" algn="l" rtl="0">
              <a:spcBef>
                <a:spcPts val="400"/>
              </a:spcBef>
              <a:spcAft>
                <a:spcPts val="0"/>
              </a:spcAft>
              <a:buClr>
                <a:schemeClr val="dk1"/>
              </a:buClr>
              <a:buSzPct val="100000"/>
              <a:buNone/>
            </a:pPr>
            <a:r>
              <a:rPr lang="en-US" dirty="0"/>
              <a:t>#network 20.0.0.0</a:t>
            </a:r>
            <a:endParaRPr dirty="0"/>
          </a:p>
          <a:p>
            <a:pPr marL="342900" lvl="0" indent="-342900" algn="l" rtl="0">
              <a:spcBef>
                <a:spcPts val="400"/>
              </a:spcBef>
              <a:spcAft>
                <a:spcPts val="0"/>
              </a:spcAft>
              <a:buClr>
                <a:schemeClr val="dk1"/>
              </a:buClr>
              <a:buSzPct val="100000"/>
              <a:buNone/>
            </a:pPr>
            <a:r>
              <a:rPr lang="en-US" dirty="0"/>
              <a:t>#network 30.0.0.0</a:t>
            </a:r>
            <a:endParaRPr dirty="0"/>
          </a:p>
          <a:p>
            <a:pPr marL="342900" lvl="0" indent="-342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endParaRPr dirty="0"/>
          </a:p>
        </p:txBody>
      </p:sp>
      <p:sp>
        <p:nvSpPr>
          <p:cNvPr id="808" name="Google Shape;808;p103"/>
          <p:cNvSpPr/>
          <p:nvPr/>
        </p:nvSpPr>
        <p:spPr>
          <a:xfrm>
            <a:off x="6172200" y="20574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9" name="Google Shape;809;p103"/>
          <p:cNvSpPr/>
          <p:nvPr/>
        </p:nvSpPr>
        <p:spPr>
          <a:xfrm>
            <a:off x="7315200" y="35052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0" name="Google Shape;810;p103"/>
          <p:cNvSpPr/>
          <p:nvPr/>
        </p:nvSpPr>
        <p:spPr>
          <a:xfrm>
            <a:off x="5105400" y="35052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1" name="Google Shape;811;p103"/>
          <p:cNvSpPr/>
          <p:nvPr/>
        </p:nvSpPr>
        <p:spPr>
          <a:xfrm>
            <a:off x="4800600" y="5029200"/>
            <a:ext cx="914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2" name="Google Shape;812;p103"/>
          <p:cNvSpPr/>
          <p:nvPr/>
        </p:nvSpPr>
        <p:spPr>
          <a:xfrm>
            <a:off x="7239000" y="5029200"/>
            <a:ext cx="914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3" name="Google Shape;813;p103"/>
          <p:cNvSpPr/>
          <p:nvPr/>
        </p:nvSpPr>
        <p:spPr>
          <a:xfrm>
            <a:off x="57912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4" name="Google Shape;814;p103"/>
          <p:cNvSpPr/>
          <p:nvPr/>
        </p:nvSpPr>
        <p:spPr>
          <a:xfrm>
            <a:off x="43434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5" name="Google Shape;815;p103"/>
          <p:cNvSpPr/>
          <p:nvPr/>
        </p:nvSpPr>
        <p:spPr>
          <a:xfrm>
            <a:off x="82296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6" name="Google Shape;816;p103"/>
          <p:cNvSpPr/>
          <p:nvPr/>
        </p:nvSpPr>
        <p:spPr>
          <a:xfrm>
            <a:off x="6934200" y="61722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17" name="Google Shape;817;p103"/>
          <p:cNvCxnSpPr>
            <a:stCxn id="808" idx="3"/>
            <a:endCxn id="810" idx="0"/>
          </p:cNvCxnSpPr>
          <p:nvPr/>
        </p:nvCxnSpPr>
        <p:spPr>
          <a:xfrm flipH="1">
            <a:off x="5372215" y="2512685"/>
            <a:ext cx="878100" cy="992400"/>
          </a:xfrm>
          <a:prstGeom prst="straightConnector1">
            <a:avLst/>
          </a:prstGeom>
          <a:noFill/>
          <a:ln w="9525" cap="flat" cmpd="sng">
            <a:solidFill>
              <a:srgbClr val="4A7DBA"/>
            </a:solidFill>
            <a:prstDash val="solid"/>
            <a:round/>
            <a:headEnd type="none" w="sm" len="sm"/>
            <a:tailEnd type="none" w="sm" len="sm"/>
          </a:ln>
        </p:spPr>
      </p:cxnSp>
      <p:cxnSp>
        <p:nvCxnSpPr>
          <p:cNvPr id="818" name="Google Shape;818;p103"/>
          <p:cNvCxnSpPr>
            <a:stCxn id="808" idx="5"/>
            <a:endCxn id="809" idx="0"/>
          </p:cNvCxnSpPr>
          <p:nvPr/>
        </p:nvCxnSpPr>
        <p:spPr>
          <a:xfrm>
            <a:off x="6627485" y="2512685"/>
            <a:ext cx="954300" cy="992400"/>
          </a:xfrm>
          <a:prstGeom prst="straightConnector1">
            <a:avLst/>
          </a:prstGeom>
          <a:noFill/>
          <a:ln w="9525" cap="flat" cmpd="sng">
            <a:solidFill>
              <a:srgbClr val="4A7DBA"/>
            </a:solidFill>
            <a:prstDash val="solid"/>
            <a:round/>
            <a:headEnd type="none" w="sm" len="sm"/>
            <a:tailEnd type="none" w="sm" len="sm"/>
          </a:ln>
        </p:spPr>
      </p:cxnSp>
      <p:cxnSp>
        <p:nvCxnSpPr>
          <p:cNvPr id="819" name="Google Shape;819;p103"/>
          <p:cNvCxnSpPr>
            <a:stCxn id="809" idx="2"/>
            <a:endCxn id="810" idx="6"/>
          </p:cNvCxnSpPr>
          <p:nvPr/>
        </p:nvCxnSpPr>
        <p:spPr>
          <a:xfrm rot="10800000">
            <a:off x="5638800" y="3771900"/>
            <a:ext cx="1676400" cy="0"/>
          </a:xfrm>
          <a:prstGeom prst="straightConnector1">
            <a:avLst/>
          </a:prstGeom>
          <a:noFill/>
          <a:ln w="9525" cap="flat" cmpd="sng">
            <a:solidFill>
              <a:srgbClr val="4A7DBA"/>
            </a:solidFill>
            <a:prstDash val="solid"/>
            <a:round/>
            <a:headEnd type="none" w="sm" len="sm"/>
            <a:tailEnd type="none" w="sm" len="sm"/>
          </a:ln>
        </p:spPr>
      </p:cxnSp>
      <p:cxnSp>
        <p:nvCxnSpPr>
          <p:cNvPr id="820" name="Google Shape;820;p103"/>
          <p:cNvCxnSpPr>
            <a:stCxn id="810" idx="4"/>
            <a:endCxn id="811" idx="0"/>
          </p:cNvCxnSpPr>
          <p:nvPr/>
        </p:nvCxnSpPr>
        <p:spPr>
          <a:xfrm flipH="1">
            <a:off x="5257800" y="4038600"/>
            <a:ext cx="114300" cy="990600"/>
          </a:xfrm>
          <a:prstGeom prst="straightConnector1">
            <a:avLst/>
          </a:prstGeom>
          <a:noFill/>
          <a:ln w="9525" cap="flat" cmpd="sng">
            <a:solidFill>
              <a:srgbClr val="4A7DBA"/>
            </a:solidFill>
            <a:prstDash val="solid"/>
            <a:round/>
            <a:headEnd type="none" w="sm" len="sm"/>
            <a:tailEnd type="none" w="sm" len="sm"/>
          </a:ln>
        </p:spPr>
      </p:cxnSp>
      <p:cxnSp>
        <p:nvCxnSpPr>
          <p:cNvPr id="821" name="Google Shape;821;p103"/>
          <p:cNvCxnSpPr>
            <a:stCxn id="809" idx="4"/>
            <a:endCxn id="812" idx="0"/>
          </p:cNvCxnSpPr>
          <p:nvPr/>
        </p:nvCxnSpPr>
        <p:spPr>
          <a:xfrm>
            <a:off x="7581900" y="4038600"/>
            <a:ext cx="114300" cy="990600"/>
          </a:xfrm>
          <a:prstGeom prst="straightConnector1">
            <a:avLst/>
          </a:prstGeom>
          <a:noFill/>
          <a:ln w="9525" cap="flat" cmpd="sng">
            <a:solidFill>
              <a:srgbClr val="4A7DBA"/>
            </a:solidFill>
            <a:prstDash val="solid"/>
            <a:round/>
            <a:headEnd type="none" w="sm" len="sm"/>
            <a:tailEnd type="none" w="sm" len="sm"/>
          </a:ln>
        </p:spPr>
      </p:cxnSp>
      <p:cxnSp>
        <p:nvCxnSpPr>
          <p:cNvPr id="822" name="Google Shape;822;p103"/>
          <p:cNvCxnSpPr>
            <a:stCxn id="811" idx="2"/>
            <a:endCxn id="814" idx="0"/>
          </p:cNvCxnSpPr>
          <p:nvPr/>
        </p:nvCxnSpPr>
        <p:spPr>
          <a:xfrm flipH="1">
            <a:off x="4572000" y="5334000"/>
            <a:ext cx="685800" cy="838200"/>
          </a:xfrm>
          <a:prstGeom prst="straightConnector1">
            <a:avLst/>
          </a:prstGeom>
          <a:noFill/>
          <a:ln w="9525" cap="flat" cmpd="sng">
            <a:solidFill>
              <a:srgbClr val="4A7DBA"/>
            </a:solidFill>
            <a:prstDash val="solid"/>
            <a:round/>
            <a:headEnd type="none" w="sm" len="sm"/>
            <a:tailEnd type="none" w="sm" len="sm"/>
          </a:ln>
        </p:spPr>
      </p:cxnSp>
      <p:cxnSp>
        <p:nvCxnSpPr>
          <p:cNvPr id="823" name="Google Shape;823;p103"/>
          <p:cNvCxnSpPr>
            <a:stCxn id="811" idx="2"/>
            <a:endCxn id="813" idx="0"/>
          </p:cNvCxnSpPr>
          <p:nvPr/>
        </p:nvCxnSpPr>
        <p:spPr>
          <a:xfrm>
            <a:off x="5257800" y="5334000"/>
            <a:ext cx="762000" cy="838200"/>
          </a:xfrm>
          <a:prstGeom prst="straightConnector1">
            <a:avLst/>
          </a:prstGeom>
          <a:noFill/>
          <a:ln w="9525" cap="flat" cmpd="sng">
            <a:solidFill>
              <a:srgbClr val="4A7DBA"/>
            </a:solidFill>
            <a:prstDash val="solid"/>
            <a:round/>
            <a:headEnd type="none" w="sm" len="sm"/>
            <a:tailEnd type="none" w="sm" len="sm"/>
          </a:ln>
        </p:spPr>
      </p:cxnSp>
      <p:cxnSp>
        <p:nvCxnSpPr>
          <p:cNvPr id="824" name="Google Shape;824;p103"/>
          <p:cNvCxnSpPr>
            <a:stCxn id="812" idx="2"/>
            <a:endCxn id="816" idx="0"/>
          </p:cNvCxnSpPr>
          <p:nvPr/>
        </p:nvCxnSpPr>
        <p:spPr>
          <a:xfrm flipH="1">
            <a:off x="7162800" y="5334000"/>
            <a:ext cx="533400" cy="838200"/>
          </a:xfrm>
          <a:prstGeom prst="straightConnector1">
            <a:avLst/>
          </a:prstGeom>
          <a:noFill/>
          <a:ln w="9525" cap="flat" cmpd="sng">
            <a:solidFill>
              <a:srgbClr val="4A7DBA"/>
            </a:solidFill>
            <a:prstDash val="solid"/>
            <a:round/>
            <a:headEnd type="none" w="sm" len="sm"/>
            <a:tailEnd type="none" w="sm" len="sm"/>
          </a:ln>
        </p:spPr>
      </p:cxnSp>
      <p:cxnSp>
        <p:nvCxnSpPr>
          <p:cNvPr id="825" name="Google Shape;825;p103"/>
          <p:cNvCxnSpPr>
            <a:stCxn id="812" idx="2"/>
            <a:endCxn id="815" idx="1"/>
          </p:cNvCxnSpPr>
          <p:nvPr/>
        </p:nvCxnSpPr>
        <p:spPr>
          <a:xfrm>
            <a:off x="7696200" y="5334000"/>
            <a:ext cx="533400" cy="10287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104"/>
          <p:cNvSpPr txBox="1">
            <a:spLocks noGrp="1"/>
          </p:cNvSpPr>
          <p:nvPr>
            <p:ph type="subTitle" idx="1"/>
          </p:nvPr>
        </p:nvSpPr>
        <p:spPr>
          <a:xfrm>
            <a:off x="251460" y="223520"/>
            <a:ext cx="8729345" cy="641096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3200"/>
              <a:buNone/>
            </a:pPr>
            <a:r>
              <a:rPr lang="en-US" b="1" u="sng">
                <a:solidFill>
                  <a:schemeClr val="dk1"/>
                </a:solidFill>
              </a:rPr>
              <a:t>Link state :</a:t>
            </a:r>
            <a:endParaRPr/>
          </a:p>
          <a:p>
            <a:pPr marL="457200" lvl="0" indent="-457200" algn="l" rtl="0">
              <a:spcBef>
                <a:spcPts val="560"/>
              </a:spcBef>
              <a:spcAft>
                <a:spcPts val="0"/>
              </a:spcAft>
              <a:buClr>
                <a:schemeClr val="dk1"/>
              </a:buClr>
              <a:buSzPts val="2800"/>
              <a:buFont typeface="Arial"/>
              <a:buChar char="•"/>
            </a:pPr>
            <a:r>
              <a:rPr lang="en-US" sz="2800">
                <a:solidFill>
                  <a:schemeClr val="dk1"/>
                </a:solidFill>
              </a:rPr>
              <a:t>By used this routing protocols every router create a “connectivity map” of the network.</a:t>
            </a:r>
            <a:endParaRPr/>
          </a:p>
          <a:p>
            <a:pPr marL="457200" lvl="0" indent="-457200" algn="l" rtl="0">
              <a:spcBef>
                <a:spcPts val="560"/>
              </a:spcBef>
              <a:spcAft>
                <a:spcPts val="0"/>
              </a:spcAft>
              <a:buClr>
                <a:schemeClr val="dk1"/>
              </a:buClr>
              <a:buSzPts val="2800"/>
              <a:buFont typeface="Arial"/>
              <a:buChar char="•"/>
            </a:pPr>
            <a:r>
              <a:rPr lang="en-US" sz="2800">
                <a:solidFill>
                  <a:schemeClr val="dk1"/>
                </a:solidFill>
              </a:rPr>
              <a:t>Each router adverties infromation about it interface to  its neighbours these advertisement are passed along to other router ,all routers in the network develop the same map of the network</a:t>
            </a:r>
            <a:endParaRPr/>
          </a:p>
          <a:p>
            <a:pPr marL="457200" lvl="0" indent="-457200" algn="l" rtl="0">
              <a:spcBef>
                <a:spcPts val="560"/>
              </a:spcBef>
              <a:spcAft>
                <a:spcPts val="0"/>
              </a:spcAft>
              <a:buClr>
                <a:schemeClr val="dk1"/>
              </a:buClr>
              <a:buSzPts val="2800"/>
              <a:buFont typeface="Arial"/>
              <a:buChar char="•"/>
            </a:pPr>
            <a:r>
              <a:rPr lang="en-US" sz="2800">
                <a:solidFill>
                  <a:schemeClr val="dk1"/>
                </a:solidFill>
              </a:rPr>
              <a:t>Each router independently use the map to calculate the best routes to each destination</a:t>
            </a:r>
            <a:endParaRPr/>
          </a:p>
          <a:p>
            <a:pPr marL="457200" lvl="0" indent="-457200" algn="l" rtl="0">
              <a:spcBef>
                <a:spcPts val="560"/>
              </a:spcBef>
              <a:spcAft>
                <a:spcPts val="0"/>
              </a:spcAft>
              <a:buClr>
                <a:schemeClr val="dk1"/>
              </a:buClr>
              <a:buSzPts val="2800"/>
              <a:buFont typeface="Arial"/>
              <a:buChar char="•"/>
            </a:pPr>
            <a:r>
              <a:rPr lang="en-US" sz="2800">
                <a:solidFill>
                  <a:schemeClr val="dk1"/>
                </a:solidFill>
              </a:rPr>
              <a:t>However , link state protocols tend to be faster in reading to change in the network than distance vector protocols.</a:t>
            </a:r>
            <a:endParaRPr/>
          </a:p>
          <a:p>
            <a:pPr marL="514350" lvl="0" indent="-514350" algn="l" rtl="0">
              <a:spcBef>
                <a:spcPts val="560"/>
              </a:spcBef>
              <a:spcAft>
                <a:spcPts val="0"/>
              </a:spcAft>
              <a:buClr>
                <a:schemeClr val="dk1"/>
              </a:buClr>
              <a:buSzPts val="2800"/>
              <a:buFont typeface="Calibri"/>
              <a:buAutoNum type="arabicPeriod"/>
            </a:pPr>
            <a:r>
              <a:rPr lang="en-US" sz="2800">
                <a:solidFill>
                  <a:schemeClr val="dk1"/>
                </a:solidFill>
              </a:rPr>
              <a:t>OSPF</a:t>
            </a:r>
            <a:endParaRPr/>
          </a:p>
          <a:p>
            <a:pPr marL="514350" lvl="0" indent="-514350" algn="l" rtl="0">
              <a:spcBef>
                <a:spcPts val="560"/>
              </a:spcBef>
              <a:spcAft>
                <a:spcPts val="0"/>
              </a:spcAft>
              <a:buClr>
                <a:schemeClr val="dk1"/>
              </a:buClr>
              <a:buSzPts val="2800"/>
              <a:buFont typeface="Calibri"/>
              <a:buAutoNum type="arabicPeriod"/>
            </a:pPr>
            <a:r>
              <a:rPr lang="en-US" sz="2800">
                <a:solidFill>
                  <a:schemeClr val="dk1"/>
                </a:solidFill>
              </a:rPr>
              <a:t>IS-IS</a:t>
            </a:r>
            <a:endParaRPr sz="2800">
              <a:solidFill>
                <a:schemeClr val="dk1"/>
              </a:solidFill>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105"/>
          <p:cNvSpPr txBox="1">
            <a:spLocks noGrp="1"/>
          </p:cNvSpPr>
          <p:nvPr>
            <p:ph type="subTitle" idx="1"/>
          </p:nvPr>
        </p:nvSpPr>
        <p:spPr>
          <a:xfrm>
            <a:off x="467544" y="476672"/>
            <a:ext cx="8424936" cy="6192688"/>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3200"/>
              <a:buNone/>
            </a:pPr>
            <a:r>
              <a:rPr lang="en-US" b="1" u="sng" dirty="0">
                <a:solidFill>
                  <a:schemeClr val="dk1"/>
                </a:solidFill>
              </a:rPr>
              <a:t>OSPF(Open </a:t>
            </a:r>
            <a:r>
              <a:rPr lang="en-US" b="1" u="sng" dirty="0" smtClean="0">
                <a:solidFill>
                  <a:schemeClr val="dk1"/>
                </a:solidFill>
              </a:rPr>
              <a:t>Shortest Path First</a:t>
            </a:r>
            <a:r>
              <a:rPr lang="en-US" b="1" u="sng" dirty="0">
                <a:solidFill>
                  <a:schemeClr val="dk1"/>
                </a:solidFill>
              </a:rPr>
              <a:t>):</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A link state routing protocols that was developed for IP network and is based on the shortest path first </a:t>
            </a:r>
            <a:r>
              <a:rPr lang="en-US" sz="2400" dirty="0" smtClean="0">
                <a:solidFill>
                  <a:schemeClr val="dk1"/>
                </a:solidFill>
              </a:rPr>
              <a:t>(OSPF</a:t>
            </a:r>
            <a:r>
              <a:rPr lang="en-US" sz="2400" dirty="0" smtClean="0"/>
              <a:t>)</a:t>
            </a:r>
            <a:r>
              <a:rPr lang="en-US" sz="2400" dirty="0" smtClean="0">
                <a:solidFill>
                  <a:schemeClr val="dk1"/>
                </a:solidFill>
              </a:rPr>
              <a:t> </a:t>
            </a:r>
            <a:r>
              <a:rPr lang="en-US" sz="2400" dirty="0">
                <a:solidFill>
                  <a:schemeClr val="dk1"/>
                </a:solidFill>
              </a:rPr>
              <a:t>algorithm(Dijkstra’s algorithm)</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In an OSPF network , router or system with in  the same area maintain an identical link-state database (LSDB)that describe the topology of the area</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Three version</a:t>
            </a:r>
            <a:endParaRPr dirty="0"/>
          </a:p>
          <a:p>
            <a:pPr marL="457200" lvl="0" indent="-457200" algn="l" rtl="0">
              <a:spcBef>
                <a:spcPts val="480"/>
              </a:spcBef>
              <a:spcAft>
                <a:spcPts val="0"/>
              </a:spcAft>
              <a:buClr>
                <a:schemeClr val="dk1"/>
              </a:buClr>
              <a:buSzPts val="2400"/>
              <a:buFont typeface="Calibri"/>
              <a:buAutoNum type="arabicPeriod"/>
            </a:pPr>
            <a:r>
              <a:rPr lang="en-US" sz="2400" dirty="0">
                <a:solidFill>
                  <a:schemeClr val="dk1"/>
                </a:solidFill>
              </a:rPr>
              <a:t>OSPV1 (1989) Old not is use any more.</a:t>
            </a:r>
            <a:endParaRPr dirty="0"/>
          </a:p>
          <a:p>
            <a:pPr marL="457200" lvl="0" indent="-457200" algn="l" rtl="0">
              <a:spcBef>
                <a:spcPts val="480"/>
              </a:spcBef>
              <a:spcAft>
                <a:spcPts val="0"/>
              </a:spcAft>
              <a:buClr>
                <a:schemeClr val="dk1"/>
              </a:buClr>
              <a:buSzPts val="2400"/>
              <a:buFont typeface="Calibri"/>
              <a:buAutoNum type="arabicPeriod"/>
            </a:pPr>
            <a:r>
              <a:rPr lang="en-US" sz="2400" dirty="0">
                <a:solidFill>
                  <a:schemeClr val="dk1"/>
                </a:solidFill>
              </a:rPr>
              <a:t>OSPV2 (1998) , used for IPV4.</a:t>
            </a:r>
            <a:endParaRPr dirty="0"/>
          </a:p>
          <a:p>
            <a:pPr marL="457200" lvl="0" indent="-457200" algn="l" rtl="0">
              <a:spcBef>
                <a:spcPts val="480"/>
              </a:spcBef>
              <a:spcAft>
                <a:spcPts val="0"/>
              </a:spcAft>
              <a:buClr>
                <a:schemeClr val="dk1"/>
              </a:buClr>
              <a:buSzPts val="2400"/>
              <a:buFont typeface="Calibri"/>
              <a:buAutoNum type="arabicPeriod"/>
            </a:pPr>
            <a:r>
              <a:rPr lang="en-US" sz="2400" dirty="0">
                <a:solidFill>
                  <a:schemeClr val="dk1"/>
                </a:solidFill>
              </a:rPr>
              <a:t> OSPF V3 (2008) USED FOR IPV4 &amp; IPV6.</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Router store information about the network in LSA’s (LINK STATE ADVERTISEMENT) which are </a:t>
            </a:r>
            <a:r>
              <a:rPr lang="en-US" sz="2400" dirty="0" smtClean="0">
                <a:solidFill>
                  <a:schemeClr val="dk1"/>
                </a:solidFill>
              </a:rPr>
              <a:t>organized </a:t>
            </a:r>
            <a:r>
              <a:rPr lang="en-US" sz="2400" dirty="0">
                <a:solidFill>
                  <a:schemeClr val="dk1"/>
                </a:solidFill>
              </a:rPr>
              <a:t>in a structure called the LSDB(Link state data base)</a:t>
            </a:r>
            <a:endParaRPr dirty="0"/>
          </a:p>
          <a:p>
            <a:pPr marL="457200" lvl="0" indent="-457200" algn="l" rtl="0">
              <a:spcBef>
                <a:spcPts val="480"/>
              </a:spcBef>
              <a:spcAft>
                <a:spcPts val="0"/>
              </a:spcAft>
              <a:buClr>
                <a:schemeClr val="dk1"/>
              </a:buClr>
              <a:buSzPts val="2400"/>
              <a:buFont typeface="Noto Sans Symbols"/>
              <a:buChar char="▪"/>
            </a:pPr>
            <a:r>
              <a:rPr lang="en-US" sz="2400" dirty="0">
                <a:solidFill>
                  <a:schemeClr val="dk1"/>
                </a:solidFill>
              </a:rPr>
              <a:t>Router will flood LSA’S </a:t>
            </a:r>
            <a:r>
              <a:rPr lang="en-US" sz="2400" dirty="0" smtClean="0">
                <a:solidFill>
                  <a:schemeClr val="dk1"/>
                </a:solidFill>
              </a:rPr>
              <a:t>until </a:t>
            </a:r>
            <a:r>
              <a:rPr lang="en-US" sz="2400" dirty="0">
                <a:solidFill>
                  <a:schemeClr val="dk1"/>
                </a:solidFill>
              </a:rPr>
              <a:t>all the router in the OSPF area developed the same map of the network</a:t>
            </a:r>
            <a:endParaRPr dirty="0"/>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106"/>
          <p:cNvSpPr txBox="1">
            <a:spLocks noGrp="1"/>
          </p:cNvSpPr>
          <p:nvPr>
            <p:ph type="subTitle" idx="1"/>
          </p:nvPr>
        </p:nvSpPr>
        <p:spPr>
          <a:xfrm>
            <a:off x="179512" y="332656"/>
            <a:ext cx="8784976" cy="6192688"/>
          </a:xfrm>
          <a:prstGeom prst="rect">
            <a:avLst/>
          </a:prstGeom>
          <a:noFill/>
          <a:ln>
            <a:noFill/>
          </a:ln>
        </p:spPr>
        <p:txBody>
          <a:bodyPr spcFirstLastPara="1" wrap="square" lIns="91425" tIns="45700" rIns="91425" bIns="45700" anchor="t" anchorCtr="0">
            <a:normAutofit fontScale="92500"/>
          </a:bodyPr>
          <a:lstStyle/>
          <a:p>
            <a:pPr marL="457200" lvl="0" indent="-457200" algn="l" rtl="0">
              <a:spcBef>
                <a:spcPts val="0"/>
              </a:spcBef>
              <a:spcAft>
                <a:spcPts val="0"/>
              </a:spcAft>
              <a:buClr>
                <a:schemeClr val="dk1"/>
              </a:buClr>
              <a:buSzPct val="100000"/>
              <a:buFont typeface="Noto Sans Symbols"/>
              <a:buChar char="▪"/>
            </a:pPr>
            <a:r>
              <a:rPr lang="en-US" sz="2400" dirty="0">
                <a:solidFill>
                  <a:schemeClr val="dk1"/>
                </a:solidFill>
              </a:rPr>
              <a:t>In OSPF , the are 3 step in the process of sharing LSA and determining the best route to each destination network</a:t>
            </a:r>
            <a:endParaRPr dirty="0"/>
          </a:p>
          <a:p>
            <a:pPr marL="514350" lvl="0" indent="-514350" algn="l" rtl="0">
              <a:spcBef>
                <a:spcPts val="444"/>
              </a:spcBef>
              <a:spcAft>
                <a:spcPts val="0"/>
              </a:spcAft>
              <a:buClr>
                <a:schemeClr val="dk1"/>
              </a:buClr>
              <a:buSzPct val="100000"/>
              <a:buFont typeface="Calibri"/>
              <a:buAutoNum type="arabicPeriod"/>
            </a:pPr>
            <a:r>
              <a:rPr lang="en-US" sz="2400" dirty="0">
                <a:solidFill>
                  <a:schemeClr val="dk1"/>
                </a:solidFill>
              </a:rPr>
              <a:t>Become </a:t>
            </a:r>
            <a:r>
              <a:rPr lang="en-US" sz="2400" dirty="0" smtClean="0">
                <a:solidFill>
                  <a:schemeClr val="dk1"/>
                </a:solidFill>
              </a:rPr>
              <a:t>neighbors </a:t>
            </a:r>
            <a:r>
              <a:rPr lang="en-US" sz="2400" dirty="0">
                <a:solidFill>
                  <a:schemeClr val="dk1"/>
                </a:solidFill>
              </a:rPr>
              <a:t>with other routers connected to the same </a:t>
            </a:r>
            <a:r>
              <a:rPr lang="en-US" sz="2400" dirty="0" smtClean="0">
                <a:solidFill>
                  <a:schemeClr val="dk1"/>
                </a:solidFill>
              </a:rPr>
              <a:t>segment</a:t>
            </a:r>
            <a:endParaRPr sz="2400" dirty="0">
              <a:solidFill>
                <a:schemeClr val="dk1"/>
              </a:solidFill>
            </a:endParaRPr>
          </a:p>
          <a:p>
            <a:pPr marL="514350" lvl="0" indent="-514350" algn="l" rtl="0">
              <a:spcBef>
                <a:spcPts val="444"/>
              </a:spcBef>
              <a:spcAft>
                <a:spcPts val="0"/>
              </a:spcAft>
              <a:buClr>
                <a:schemeClr val="dk1"/>
              </a:buClr>
              <a:buSzPct val="100000"/>
              <a:buFont typeface="Calibri"/>
              <a:buAutoNum type="arabicPeriod"/>
            </a:pPr>
            <a:r>
              <a:rPr lang="en-US" sz="2400" dirty="0">
                <a:solidFill>
                  <a:schemeClr val="dk1"/>
                </a:solidFill>
              </a:rPr>
              <a:t>Exchange LSA’s with </a:t>
            </a:r>
            <a:r>
              <a:rPr lang="en-US" sz="2400" dirty="0" smtClean="0">
                <a:solidFill>
                  <a:schemeClr val="dk1"/>
                </a:solidFill>
              </a:rPr>
              <a:t>neighbor </a:t>
            </a:r>
            <a:r>
              <a:rPr lang="en-US" sz="2400" dirty="0">
                <a:solidFill>
                  <a:schemeClr val="dk1"/>
                </a:solidFill>
              </a:rPr>
              <a:t>router</a:t>
            </a:r>
            <a:endParaRPr dirty="0"/>
          </a:p>
          <a:p>
            <a:pPr marL="514350" lvl="0" indent="-514350" algn="l" rtl="0">
              <a:spcBef>
                <a:spcPts val="444"/>
              </a:spcBef>
              <a:spcAft>
                <a:spcPts val="0"/>
              </a:spcAft>
              <a:buClr>
                <a:schemeClr val="dk1"/>
              </a:buClr>
              <a:buSzPct val="100000"/>
              <a:buFont typeface="Calibri"/>
              <a:buAutoNum type="arabicPeriod"/>
            </a:pPr>
            <a:r>
              <a:rPr lang="en-US" sz="2400" dirty="0">
                <a:solidFill>
                  <a:schemeClr val="dk1"/>
                </a:solidFill>
              </a:rPr>
              <a:t> Calculate the best router to each destination and insert then in to the routing table</a:t>
            </a:r>
            <a:endParaRPr dirty="0"/>
          </a:p>
          <a:p>
            <a:pPr marL="0" lvl="0" indent="0" algn="l" rtl="0">
              <a:spcBef>
                <a:spcPts val="592"/>
              </a:spcBef>
              <a:spcAft>
                <a:spcPts val="0"/>
              </a:spcAft>
              <a:buClr>
                <a:schemeClr val="dk1"/>
              </a:buClr>
              <a:buSzPct val="100000"/>
              <a:buNone/>
            </a:pPr>
            <a:r>
              <a:rPr lang="en-US" b="1" u="sng" dirty="0">
                <a:solidFill>
                  <a:schemeClr val="dk1"/>
                </a:solidFill>
              </a:rPr>
              <a:t>OSPF Area:  </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By dividing a large OSPF network in to serval small area , you can avoid the above negative effects </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An Area is a set of router and link that share the same LSDB</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The backbone area(area 0) Is an area that all other area must connect to </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 Router with all interface in the same area are called internal router</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Router with interface in multiple area are called AREA BORDER </a:t>
            </a:r>
            <a:r>
              <a:rPr lang="en-US" sz="2400" dirty="0" smtClean="0">
                <a:solidFill>
                  <a:schemeClr val="dk1"/>
                </a:solidFill>
              </a:rPr>
              <a:t>ROUTER(ABR) </a:t>
            </a:r>
            <a:endParaRPr sz="2400" dirty="0">
              <a:solidFill>
                <a:schemeClr val="dk1"/>
              </a:solidFill>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107"/>
          <p:cNvSpPr txBox="1">
            <a:spLocks noGrp="1"/>
          </p:cNvSpPr>
          <p:nvPr>
            <p:ph type="subTitle" idx="1"/>
          </p:nvPr>
        </p:nvSpPr>
        <p:spPr>
          <a:xfrm>
            <a:off x="539552" y="476672"/>
            <a:ext cx="7920880" cy="5976664"/>
          </a:xfrm>
          <a:prstGeom prst="rect">
            <a:avLst/>
          </a:prstGeom>
          <a:noFill/>
          <a:ln>
            <a:noFill/>
          </a:ln>
        </p:spPr>
        <p:txBody>
          <a:bodyPr spcFirstLastPara="1" wrap="square" lIns="91425" tIns="45700" rIns="91425" bIns="45700" anchor="t" anchorCtr="0">
            <a:normAutofit fontScale="92500"/>
          </a:bodyPr>
          <a:lstStyle/>
          <a:p>
            <a:pPr marL="342900" lvl="0" indent="-342900" algn="l" rtl="0">
              <a:spcBef>
                <a:spcPts val="0"/>
              </a:spcBef>
              <a:spcAft>
                <a:spcPts val="0"/>
              </a:spcAft>
              <a:buClr>
                <a:schemeClr val="dk1"/>
              </a:buClr>
              <a:buSzPct val="100000"/>
              <a:buFont typeface="Arial"/>
              <a:buChar char="•"/>
            </a:pPr>
            <a:r>
              <a:rPr lang="en-US" sz="2400" dirty="0">
                <a:solidFill>
                  <a:schemeClr val="dk1"/>
                </a:solidFill>
              </a:rPr>
              <a:t>Router connected to the backbone area (area 0) are called back router</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An intra-area route is a route to the destination inside the same OSPF</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An inter- area route is a route to a destination </a:t>
            </a:r>
            <a:r>
              <a:rPr lang="en-US" sz="2400" dirty="0" smtClean="0">
                <a:solidFill>
                  <a:schemeClr val="dk1"/>
                </a:solidFill>
              </a:rPr>
              <a:t>outside </a:t>
            </a:r>
            <a:r>
              <a:rPr lang="en-US" sz="2400" dirty="0">
                <a:solidFill>
                  <a:schemeClr val="dk1"/>
                </a:solidFill>
              </a:rPr>
              <a:t>the </a:t>
            </a:r>
            <a:r>
              <a:rPr lang="en-US" sz="2400" dirty="0" smtClean="0">
                <a:solidFill>
                  <a:schemeClr val="dk1"/>
                </a:solidFill>
              </a:rPr>
              <a:t>same OSPF</a:t>
            </a:r>
          </a:p>
          <a:p>
            <a:pPr marL="342900" lvl="0" indent="-342900" algn="l" rtl="0">
              <a:spcBef>
                <a:spcPts val="444"/>
              </a:spcBef>
              <a:spcAft>
                <a:spcPts val="0"/>
              </a:spcAft>
              <a:buClr>
                <a:schemeClr val="dk1"/>
              </a:buClr>
              <a:buSzPct val="100000"/>
              <a:buFont typeface="Arial"/>
              <a:buChar char="•"/>
            </a:pPr>
            <a:r>
              <a:rPr lang="en-US" sz="2400" dirty="0" smtClean="0">
                <a:solidFill>
                  <a:schemeClr val="dk1"/>
                </a:solidFill>
              </a:rPr>
              <a:t>OSPF uses area to divide up the network</a:t>
            </a:r>
            <a:endParaRPr dirty="0" smtClean="0"/>
          </a:p>
          <a:p>
            <a:pPr marL="342900" lvl="0" indent="-342900" algn="l" rtl="0">
              <a:spcBef>
                <a:spcPts val="444"/>
              </a:spcBef>
              <a:spcAft>
                <a:spcPts val="0"/>
              </a:spcAft>
              <a:buClr>
                <a:schemeClr val="dk1"/>
              </a:buClr>
              <a:buSzPct val="100000"/>
              <a:buFont typeface="Arial"/>
              <a:buChar char="•"/>
            </a:pPr>
            <a:r>
              <a:rPr lang="en-US" sz="2400" dirty="0" smtClean="0">
                <a:solidFill>
                  <a:schemeClr val="dk1"/>
                </a:solidFill>
              </a:rPr>
              <a:t>Small </a:t>
            </a:r>
            <a:r>
              <a:rPr lang="en-US" sz="2400" dirty="0">
                <a:solidFill>
                  <a:schemeClr val="dk1"/>
                </a:solidFill>
              </a:rPr>
              <a:t>network can be single area  without any negative effect on performance.</a:t>
            </a:r>
            <a:endParaRPr dirty="0"/>
          </a:p>
          <a:p>
            <a:pPr marL="342900" lvl="0" indent="-342900" algn="l" rtl="0">
              <a:spcBef>
                <a:spcPts val="444"/>
              </a:spcBef>
              <a:spcAft>
                <a:spcPts val="0"/>
              </a:spcAft>
              <a:buClr>
                <a:schemeClr val="dk1"/>
              </a:buClr>
              <a:buSzPct val="100000"/>
              <a:buFont typeface="Arial"/>
              <a:buChar char="•"/>
            </a:pPr>
            <a:r>
              <a:rPr lang="en-US" sz="2400" dirty="0">
                <a:solidFill>
                  <a:schemeClr val="dk1"/>
                </a:solidFill>
              </a:rPr>
              <a:t>In large network, a single area design can have negative effect</a:t>
            </a:r>
            <a:endParaRPr dirty="0"/>
          </a:p>
          <a:p>
            <a:pPr marL="457200" lvl="0" indent="-457200" algn="l" rtl="0">
              <a:spcBef>
                <a:spcPts val="444"/>
              </a:spcBef>
              <a:spcAft>
                <a:spcPts val="0"/>
              </a:spcAft>
              <a:buClr>
                <a:schemeClr val="dk1"/>
              </a:buClr>
              <a:buSzPct val="100000"/>
              <a:buFont typeface="Calibri"/>
              <a:buAutoNum type="arabicPeriod"/>
            </a:pPr>
            <a:r>
              <a:rPr lang="en-US" sz="2400" dirty="0" smtClean="0">
                <a:solidFill>
                  <a:schemeClr val="dk1"/>
                </a:solidFill>
              </a:rPr>
              <a:t>SPF </a:t>
            </a:r>
            <a:r>
              <a:rPr lang="en-US" sz="2400" dirty="0">
                <a:solidFill>
                  <a:schemeClr val="dk1"/>
                </a:solidFill>
              </a:rPr>
              <a:t>algorithms take more time to calculate routers</a:t>
            </a:r>
            <a:endParaRPr dirty="0"/>
          </a:p>
          <a:p>
            <a:pPr marL="457200" lvl="0" indent="-457200" algn="l" rtl="0">
              <a:spcBef>
                <a:spcPts val="444"/>
              </a:spcBef>
              <a:spcAft>
                <a:spcPts val="0"/>
              </a:spcAft>
              <a:buClr>
                <a:schemeClr val="dk1"/>
              </a:buClr>
              <a:buSzPct val="100000"/>
              <a:buFont typeface="Calibri"/>
              <a:buAutoNum type="arabicPeriod"/>
            </a:pPr>
            <a:r>
              <a:rPr lang="en-US" sz="2400" dirty="0">
                <a:solidFill>
                  <a:schemeClr val="dk1"/>
                </a:solidFill>
              </a:rPr>
              <a:t>The SPF algorithms requires exponentially more processing power on the routers</a:t>
            </a:r>
            <a:endParaRPr dirty="0"/>
          </a:p>
          <a:p>
            <a:pPr marL="457200" lvl="0" indent="-457200" algn="l" rtl="0">
              <a:spcBef>
                <a:spcPts val="444"/>
              </a:spcBef>
              <a:spcAft>
                <a:spcPts val="0"/>
              </a:spcAft>
              <a:buClr>
                <a:schemeClr val="dk1"/>
              </a:buClr>
              <a:buSzPct val="100000"/>
              <a:buFont typeface="Calibri"/>
              <a:buAutoNum type="arabicPeriod"/>
            </a:pPr>
            <a:r>
              <a:rPr lang="en-US" sz="2400" dirty="0">
                <a:solidFill>
                  <a:schemeClr val="dk1"/>
                </a:solidFill>
              </a:rPr>
              <a:t>The large LSDB take up more memory on the routers</a:t>
            </a:r>
            <a:endParaRPr dirty="0"/>
          </a:p>
          <a:p>
            <a:pPr marL="457200" lvl="0" indent="-457200" algn="l" rtl="0">
              <a:spcBef>
                <a:spcPts val="444"/>
              </a:spcBef>
              <a:spcAft>
                <a:spcPts val="0"/>
              </a:spcAft>
              <a:buClr>
                <a:schemeClr val="dk1"/>
              </a:buClr>
              <a:buSzPct val="100000"/>
              <a:buFont typeface="Calibri"/>
              <a:buAutoNum type="arabicPeriod"/>
            </a:pPr>
            <a:r>
              <a:rPr lang="en-US" sz="2400" dirty="0">
                <a:solidFill>
                  <a:schemeClr val="dk1"/>
                </a:solidFill>
              </a:rPr>
              <a:t>Any small change in the network cause every router to flood LSA’s and run the SPF algorithms again</a:t>
            </a:r>
            <a:endParaRPr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108"/>
          <p:cNvSpPr txBox="1">
            <a:spLocks noGrp="1"/>
          </p:cNvSpPr>
          <p:nvPr>
            <p:ph type="subTitle" idx="1"/>
          </p:nvPr>
        </p:nvSpPr>
        <p:spPr>
          <a:xfrm>
            <a:off x="755576" y="404664"/>
            <a:ext cx="8208912" cy="619268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Font typeface="Arial"/>
              <a:buChar char="•"/>
            </a:pPr>
            <a:r>
              <a:rPr lang="en-US" sz="2000" dirty="0">
                <a:solidFill>
                  <a:schemeClr val="dk1"/>
                </a:solidFill>
              </a:rPr>
              <a:t>OSPF area should be contiguous (each individual area should connected let divided up)</a:t>
            </a:r>
            <a:endParaRPr dirty="0"/>
          </a:p>
          <a:p>
            <a:pPr marL="342900" lvl="0" indent="-342900" algn="l" rtl="0">
              <a:spcBef>
                <a:spcPts val="400"/>
              </a:spcBef>
              <a:spcAft>
                <a:spcPts val="0"/>
              </a:spcAft>
              <a:buClr>
                <a:schemeClr val="dk1"/>
              </a:buClr>
              <a:buSzPts val="2000"/>
              <a:buFont typeface="Arial"/>
              <a:buChar char="•"/>
            </a:pPr>
            <a:r>
              <a:rPr lang="en-US" sz="2000" dirty="0">
                <a:solidFill>
                  <a:schemeClr val="dk1"/>
                </a:solidFill>
              </a:rPr>
              <a:t>An OSPF area must have at least one ABR connected to the backbone area.</a:t>
            </a:r>
            <a:endParaRPr dirty="0"/>
          </a:p>
          <a:p>
            <a:pPr marL="0" lvl="0" indent="0" algn="l" rtl="0">
              <a:spcBef>
                <a:spcPts val="640"/>
              </a:spcBef>
              <a:spcAft>
                <a:spcPts val="0"/>
              </a:spcAft>
              <a:buClr>
                <a:schemeClr val="dk1"/>
              </a:buClr>
              <a:buSzPts val="3200"/>
              <a:buNone/>
            </a:pPr>
            <a:r>
              <a:rPr lang="en-US" b="1" u="sng" dirty="0">
                <a:solidFill>
                  <a:schemeClr val="dk1"/>
                </a:solidFill>
              </a:rPr>
              <a:t>Wild card mask:</a:t>
            </a:r>
            <a:endParaRPr dirty="0"/>
          </a:p>
          <a:p>
            <a:pPr marL="342900" lvl="0" indent="-342900" algn="l" rtl="0">
              <a:spcBef>
                <a:spcPts val="400"/>
              </a:spcBef>
              <a:spcAft>
                <a:spcPts val="0"/>
              </a:spcAft>
              <a:buClr>
                <a:schemeClr val="dk1"/>
              </a:buClr>
              <a:buSzPts val="2000"/>
              <a:buFont typeface="Noto Sans Symbols"/>
              <a:buChar char="▪"/>
            </a:pPr>
            <a:r>
              <a:rPr lang="en-US" sz="2000" dirty="0">
                <a:solidFill>
                  <a:schemeClr val="dk1"/>
                </a:solidFill>
              </a:rPr>
              <a:t>Reverse  of subnet mask is called wild card mask.</a:t>
            </a:r>
            <a:endParaRPr dirty="0"/>
          </a:p>
          <a:p>
            <a:pPr marL="342900" lvl="0" indent="-342900" algn="l" rtl="0">
              <a:spcBef>
                <a:spcPts val="400"/>
              </a:spcBef>
              <a:spcAft>
                <a:spcPts val="0"/>
              </a:spcAft>
              <a:buClr>
                <a:schemeClr val="dk1"/>
              </a:buClr>
              <a:buSzPts val="2000"/>
              <a:buFont typeface="Noto Sans Symbols"/>
              <a:buChar char="▪"/>
            </a:pPr>
            <a:r>
              <a:rPr lang="en-US" sz="2000" dirty="0">
                <a:solidFill>
                  <a:schemeClr val="dk1"/>
                </a:solidFill>
              </a:rPr>
              <a:t>Network bit will be 0 and host bit will be 1</a:t>
            </a:r>
            <a:endParaRPr dirty="0"/>
          </a:p>
          <a:p>
            <a:pPr marL="342900" lvl="0" indent="-342900" algn="l" rtl="0">
              <a:spcBef>
                <a:spcPts val="400"/>
              </a:spcBef>
              <a:spcAft>
                <a:spcPts val="0"/>
              </a:spcAft>
              <a:buClr>
                <a:schemeClr val="dk1"/>
              </a:buClr>
              <a:buSzPts val="2000"/>
              <a:buFont typeface="Noto Sans Symbols"/>
              <a:buChar char="▪"/>
            </a:pPr>
            <a:r>
              <a:rPr lang="en-US" sz="2000" dirty="0" err="1">
                <a:solidFill>
                  <a:schemeClr val="dk1"/>
                </a:solidFill>
              </a:rPr>
              <a:t>Eg</a:t>
            </a:r>
            <a:r>
              <a:rPr lang="en-US" sz="2000" dirty="0">
                <a:solidFill>
                  <a:schemeClr val="dk1"/>
                </a:solidFill>
              </a:rPr>
              <a:t>: 192.168.2.0</a:t>
            </a:r>
            <a:endParaRPr dirty="0"/>
          </a:p>
          <a:p>
            <a:pPr marL="342900" lvl="0" indent="-342900" algn="l" rtl="0">
              <a:spcBef>
                <a:spcPts val="400"/>
              </a:spcBef>
              <a:spcAft>
                <a:spcPts val="0"/>
              </a:spcAft>
              <a:buClr>
                <a:schemeClr val="dk1"/>
              </a:buClr>
              <a:buSzPts val="2000"/>
              <a:buFont typeface="Noto Sans Symbols"/>
              <a:buChar char="▪"/>
            </a:pPr>
            <a:r>
              <a:rPr lang="en-US" sz="2000" b="1" dirty="0">
                <a:solidFill>
                  <a:srgbClr val="FF0000"/>
                </a:solidFill>
              </a:rPr>
              <a:t>Wild card mask = Broad cast – subnet </a:t>
            </a:r>
            <a:r>
              <a:rPr lang="en-US" sz="2000" b="1" dirty="0" smtClean="0">
                <a:solidFill>
                  <a:srgbClr val="FF0000"/>
                </a:solidFill>
              </a:rPr>
              <a:t>mask</a:t>
            </a:r>
          </a:p>
          <a:p>
            <a:pPr marL="342900" lvl="0" indent="-342900" algn="l" rtl="0">
              <a:spcBef>
                <a:spcPts val="400"/>
              </a:spcBef>
              <a:spcAft>
                <a:spcPts val="0"/>
              </a:spcAft>
              <a:buClr>
                <a:schemeClr val="dk1"/>
              </a:buClr>
              <a:buSzPts val="2000"/>
              <a:buFont typeface="Noto Sans Symbols"/>
              <a:buChar char="▪"/>
            </a:pPr>
            <a:endParaRPr lang="en-US" sz="2000" dirty="0">
              <a:solidFill>
                <a:schemeClr val="dk1"/>
              </a:solidFill>
            </a:endParaRPr>
          </a:p>
          <a:p>
            <a:pPr marL="342900" indent="-342900" algn="l">
              <a:spcBef>
                <a:spcPts val="400"/>
              </a:spcBef>
              <a:buClr>
                <a:schemeClr val="dk1"/>
              </a:buClr>
              <a:buSzPts val="2000"/>
              <a:buFont typeface="Noto Sans Symbols"/>
              <a:buChar char="▪"/>
            </a:pPr>
            <a:r>
              <a:rPr lang="en-US" sz="2000" dirty="0">
                <a:solidFill>
                  <a:schemeClr val="dk1"/>
                </a:solidFill>
              </a:rPr>
              <a:t>LSA - LINK STATE </a:t>
            </a:r>
            <a:r>
              <a:rPr lang="en-US" sz="2000" dirty="0" smtClean="0">
                <a:solidFill>
                  <a:schemeClr val="dk1"/>
                </a:solidFill>
              </a:rPr>
              <a:t>ADVERTISEMENT</a:t>
            </a:r>
          </a:p>
          <a:p>
            <a:pPr marL="342900" indent="-342900" algn="l">
              <a:spcBef>
                <a:spcPts val="400"/>
              </a:spcBef>
              <a:buClr>
                <a:schemeClr val="dk1"/>
              </a:buClr>
              <a:buSzPts val="2000"/>
              <a:buFont typeface="Noto Sans Symbols"/>
              <a:buChar char="▪"/>
            </a:pPr>
            <a:r>
              <a:rPr lang="en-US" sz="2000" dirty="0" smtClean="0">
                <a:solidFill>
                  <a:schemeClr val="dk1"/>
                </a:solidFill>
              </a:rPr>
              <a:t>LSA Stores in LSDB</a:t>
            </a:r>
            <a:endParaRPr lang="en-US" sz="2000" dirty="0">
              <a:solidFill>
                <a:schemeClr val="dk1"/>
              </a:solidFill>
            </a:endParaRPr>
          </a:p>
          <a:p>
            <a:pPr marL="342900" lvl="0" indent="-342900" algn="l">
              <a:spcBef>
                <a:spcPts val="400"/>
              </a:spcBef>
              <a:buClr>
                <a:schemeClr val="dk1"/>
              </a:buClr>
              <a:buSzPts val="2000"/>
              <a:buFont typeface="Noto Sans Symbols"/>
              <a:buChar char="▪"/>
            </a:pPr>
            <a:r>
              <a:rPr lang="en-US" sz="2000" dirty="0" smtClean="0">
                <a:solidFill>
                  <a:schemeClr val="dk1"/>
                </a:solidFill>
              </a:rPr>
              <a:t>link-state </a:t>
            </a:r>
            <a:r>
              <a:rPr lang="en-US" sz="2000" dirty="0">
                <a:solidFill>
                  <a:schemeClr val="dk1"/>
                </a:solidFill>
              </a:rPr>
              <a:t>database (LSDB</a:t>
            </a:r>
            <a:r>
              <a:rPr lang="en-US" sz="2000" dirty="0" smtClean="0">
                <a:solidFill>
                  <a:schemeClr val="dk1"/>
                </a:solidFill>
              </a:rPr>
              <a:t>)</a:t>
            </a:r>
          </a:p>
          <a:p>
            <a:pPr marL="342900" indent="-342900" algn="l">
              <a:spcBef>
                <a:spcPts val="400"/>
              </a:spcBef>
              <a:buClr>
                <a:schemeClr val="dk1"/>
              </a:buClr>
              <a:buSzPts val="2000"/>
              <a:buFont typeface="Noto Sans Symbols"/>
              <a:buChar char="▪"/>
            </a:pPr>
            <a:r>
              <a:rPr lang="en-US" sz="2000" dirty="0">
                <a:solidFill>
                  <a:schemeClr val="dk1"/>
                </a:solidFill>
              </a:rPr>
              <a:t>AREA BORDER </a:t>
            </a:r>
            <a:r>
              <a:rPr lang="en-US" sz="2000" dirty="0" smtClean="0">
                <a:solidFill>
                  <a:schemeClr val="dk1"/>
                </a:solidFill>
              </a:rPr>
              <a:t>ROUTER(ABR) </a:t>
            </a:r>
            <a:endParaRPr lang="en-US" sz="2000" dirty="0">
              <a:solidFill>
                <a:schemeClr val="dk1"/>
              </a:solidFill>
            </a:endParaRPr>
          </a:p>
          <a:p>
            <a:pPr marL="342900" lvl="0" indent="-342900" algn="l">
              <a:spcBef>
                <a:spcPts val="400"/>
              </a:spcBef>
              <a:buClr>
                <a:schemeClr val="dk1"/>
              </a:buClr>
              <a:buSzPts val="2000"/>
              <a:buFont typeface="Noto Sans Symbols"/>
              <a:buChar char="▪"/>
            </a:pPr>
            <a:endParaRPr lang="en-US" sz="2000" dirty="0" smtClean="0">
              <a:solidFill>
                <a:schemeClr val="dk1"/>
              </a:solidFill>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0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OSPF PROGRAM</a:t>
            </a:r>
            <a:endParaRPr/>
          </a:p>
        </p:txBody>
      </p:sp>
      <p:sp>
        <p:nvSpPr>
          <p:cNvPr id="856" name="Google Shape;856;p10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Char char="•"/>
            </a:pPr>
            <a:r>
              <a:rPr lang="en-US"/>
              <a:t>R1</a:t>
            </a:r>
            <a:endParaRPr/>
          </a:p>
          <a:p>
            <a:pPr marL="342900" lvl="0" indent="-342900" algn="l" rtl="0">
              <a:spcBef>
                <a:spcPts val="352"/>
              </a:spcBef>
              <a:spcAft>
                <a:spcPts val="0"/>
              </a:spcAft>
              <a:buClr>
                <a:schemeClr val="dk1"/>
              </a:buClr>
              <a:buSzPct val="100000"/>
              <a:buNone/>
            </a:pPr>
            <a:r>
              <a:rPr lang="en-US"/>
              <a:t># router ospf 1</a:t>
            </a:r>
            <a:endParaRPr/>
          </a:p>
          <a:p>
            <a:pPr marL="342900" lvl="0" indent="-342900" algn="l" rtl="0">
              <a:spcBef>
                <a:spcPts val="352"/>
              </a:spcBef>
              <a:spcAft>
                <a:spcPts val="0"/>
              </a:spcAft>
              <a:buClr>
                <a:schemeClr val="dk1"/>
              </a:buClr>
              <a:buSzPct val="100000"/>
              <a:buNone/>
            </a:pPr>
            <a:r>
              <a:rPr lang="en-US"/>
              <a:t>#network 192.168.1.0  0.0.0.255  area 0</a:t>
            </a:r>
            <a:endParaRPr/>
          </a:p>
          <a:p>
            <a:pPr marL="342900" lvl="0" indent="-342900" algn="l" rtl="0">
              <a:spcBef>
                <a:spcPts val="352"/>
              </a:spcBef>
              <a:spcAft>
                <a:spcPts val="0"/>
              </a:spcAft>
              <a:buClr>
                <a:schemeClr val="dk1"/>
              </a:buClr>
              <a:buSzPct val="100000"/>
              <a:buNone/>
            </a:pPr>
            <a:r>
              <a:rPr lang="en-US"/>
              <a:t>#network 10.0.0.0  0.255.255.255  area 0</a:t>
            </a:r>
            <a:endParaRPr/>
          </a:p>
          <a:p>
            <a:pPr marL="342900" lvl="0" indent="-342900" algn="l" rtl="0">
              <a:spcBef>
                <a:spcPts val="352"/>
              </a:spcBef>
              <a:spcAft>
                <a:spcPts val="0"/>
              </a:spcAft>
              <a:buClr>
                <a:schemeClr val="dk1"/>
              </a:buClr>
              <a:buSzPct val="100000"/>
              <a:buNone/>
            </a:pPr>
            <a:r>
              <a:rPr lang="en-US"/>
              <a:t>#network 11.0.0.0  0.255.255.255 area 0</a:t>
            </a:r>
            <a:endParaRPr/>
          </a:p>
          <a:p>
            <a:pPr marL="342900" lvl="0" indent="-342900" algn="l" rtl="0">
              <a:spcBef>
                <a:spcPts val="352"/>
              </a:spcBef>
              <a:spcAft>
                <a:spcPts val="0"/>
              </a:spcAft>
              <a:buClr>
                <a:schemeClr val="dk1"/>
              </a:buClr>
              <a:buSzPct val="100000"/>
              <a:buNone/>
            </a:pPr>
            <a:r>
              <a:rPr lang="en-US"/>
              <a:t>#no shutdown</a:t>
            </a:r>
            <a:endParaRPr/>
          </a:p>
          <a:p>
            <a:pPr marL="342900" lvl="0" indent="-342900" algn="l" rtl="0">
              <a:spcBef>
                <a:spcPts val="352"/>
              </a:spcBef>
              <a:spcAft>
                <a:spcPts val="0"/>
              </a:spcAft>
              <a:buClr>
                <a:schemeClr val="dk1"/>
              </a:buClr>
              <a:buSzPct val="100000"/>
              <a:buNone/>
            </a:pPr>
            <a:r>
              <a:rPr lang="en-US"/>
              <a:t>#do write </a:t>
            </a:r>
            <a:endParaRPr/>
          </a:p>
          <a:p>
            <a:pPr marL="342900" lvl="0" indent="-342900" algn="l" rtl="0">
              <a:spcBef>
                <a:spcPts val="352"/>
              </a:spcBef>
              <a:spcAft>
                <a:spcPts val="0"/>
              </a:spcAft>
              <a:buClr>
                <a:schemeClr val="dk1"/>
              </a:buClr>
              <a:buSzPct val="100000"/>
              <a:buNone/>
            </a:pPr>
            <a:r>
              <a:rPr lang="en-US"/>
              <a:t>#do show ip route</a:t>
            </a:r>
            <a:endParaRPr/>
          </a:p>
          <a:p>
            <a:pPr marL="342900" lvl="0" indent="-34290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r>
              <a:rPr lang="en-US"/>
              <a:t>R2:</a:t>
            </a:r>
            <a:endParaRPr/>
          </a:p>
          <a:p>
            <a:pPr marL="342900" lvl="0" indent="-342900" algn="l" rtl="0">
              <a:spcBef>
                <a:spcPts val="352"/>
              </a:spcBef>
              <a:spcAft>
                <a:spcPts val="0"/>
              </a:spcAft>
              <a:buClr>
                <a:schemeClr val="dk1"/>
              </a:buClr>
              <a:buSzPct val="100000"/>
              <a:buNone/>
            </a:pPr>
            <a:r>
              <a:rPr lang="en-US"/>
              <a:t># router ospf 2</a:t>
            </a:r>
            <a:endParaRPr/>
          </a:p>
          <a:p>
            <a:pPr marL="342900" lvl="0" indent="-342900" algn="l" rtl="0">
              <a:spcBef>
                <a:spcPts val="352"/>
              </a:spcBef>
              <a:spcAft>
                <a:spcPts val="0"/>
              </a:spcAft>
              <a:buClr>
                <a:schemeClr val="dk1"/>
              </a:buClr>
              <a:buSzPct val="100000"/>
              <a:buNone/>
            </a:pPr>
            <a:r>
              <a:rPr lang="en-US"/>
              <a:t>#network 11.0.0.0  0.255.255.255  area 0</a:t>
            </a:r>
            <a:endParaRPr/>
          </a:p>
          <a:p>
            <a:pPr marL="342900" lvl="0" indent="-342900" algn="l" rtl="0">
              <a:spcBef>
                <a:spcPts val="352"/>
              </a:spcBef>
              <a:spcAft>
                <a:spcPts val="0"/>
              </a:spcAft>
              <a:buClr>
                <a:schemeClr val="dk1"/>
              </a:buClr>
              <a:buSzPct val="100000"/>
              <a:buNone/>
            </a:pPr>
            <a:r>
              <a:rPr lang="en-US"/>
              <a:t>#network 12.0.0.0  0.255.255.255 area 0</a:t>
            </a:r>
            <a:endParaRPr/>
          </a:p>
          <a:p>
            <a:pPr marL="342900" lvl="0" indent="-342900" algn="l" rtl="0">
              <a:spcBef>
                <a:spcPts val="352"/>
              </a:spcBef>
              <a:spcAft>
                <a:spcPts val="0"/>
              </a:spcAft>
              <a:buClr>
                <a:schemeClr val="dk1"/>
              </a:buClr>
              <a:buSzPct val="100000"/>
              <a:buNone/>
            </a:pPr>
            <a:r>
              <a:rPr lang="en-US"/>
              <a:t>#do write </a:t>
            </a:r>
            <a:endParaRPr/>
          </a:p>
          <a:p>
            <a:pPr marL="342900" lvl="0" indent="-342900" algn="l" rtl="0">
              <a:spcBef>
                <a:spcPts val="352"/>
              </a:spcBef>
              <a:spcAft>
                <a:spcPts val="0"/>
              </a:spcAft>
              <a:buClr>
                <a:schemeClr val="dk1"/>
              </a:buClr>
              <a:buSzPct val="100000"/>
              <a:buNone/>
            </a:pPr>
            <a:r>
              <a:rPr lang="en-US"/>
              <a:t>#do show ip route</a:t>
            </a:r>
            <a:endParaRPr/>
          </a:p>
          <a:p>
            <a:pPr marL="342900" lvl="0" indent="-342900" algn="l" rtl="0">
              <a:spcBef>
                <a:spcPts val="352"/>
              </a:spcBef>
              <a:spcAft>
                <a:spcPts val="0"/>
              </a:spcAft>
              <a:buClr>
                <a:schemeClr val="dk1"/>
              </a:buClr>
              <a:buSzPct val="100000"/>
              <a:buNone/>
            </a:pPr>
            <a:endParaRPr/>
          </a:p>
        </p:txBody>
      </p:sp>
      <p:sp>
        <p:nvSpPr>
          <p:cNvPr id="857" name="Google Shape;857;p109"/>
          <p:cNvSpPr/>
          <p:nvPr/>
        </p:nvSpPr>
        <p:spPr>
          <a:xfrm>
            <a:off x="5943600" y="25146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8" name="Google Shape;858;p109"/>
          <p:cNvSpPr/>
          <p:nvPr/>
        </p:nvSpPr>
        <p:spPr>
          <a:xfrm>
            <a:off x="7239000" y="25146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9" name="Google Shape;859;p109"/>
          <p:cNvSpPr/>
          <p:nvPr/>
        </p:nvSpPr>
        <p:spPr>
          <a:xfrm>
            <a:off x="7162800" y="45720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0" name="Google Shape;860;p109"/>
          <p:cNvSpPr/>
          <p:nvPr/>
        </p:nvSpPr>
        <p:spPr>
          <a:xfrm>
            <a:off x="5943600" y="45720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1" name="Google Shape;861;p109"/>
          <p:cNvSpPr/>
          <p:nvPr/>
        </p:nvSpPr>
        <p:spPr>
          <a:xfrm>
            <a:off x="4572000" y="25908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2" name="Google Shape;862;p109"/>
          <p:cNvSpPr/>
          <p:nvPr/>
        </p:nvSpPr>
        <p:spPr>
          <a:xfrm>
            <a:off x="8077200" y="25908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3" name="Google Shape;863;p109"/>
          <p:cNvSpPr/>
          <p:nvPr/>
        </p:nvSpPr>
        <p:spPr>
          <a:xfrm>
            <a:off x="8305800" y="4800600"/>
            <a:ext cx="533400" cy="2286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4" name="Google Shape;864;p109"/>
          <p:cNvSpPr/>
          <p:nvPr/>
        </p:nvSpPr>
        <p:spPr>
          <a:xfrm>
            <a:off x="4724400" y="4876800"/>
            <a:ext cx="533400" cy="2286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65" name="Google Shape;865;p109"/>
          <p:cNvCxnSpPr>
            <a:stCxn id="861" idx="2"/>
            <a:endCxn id="864" idx="0"/>
          </p:cNvCxnSpPr>
          <p:nvPr/>
        </p:nvCxnSpPr>
        <p:spPr>
          <a:xfrm flipH="1">
            <a:off x="4991100" y="2895600"/>
            <a:ext cx="38100" cy="1981200"/>
          </a:xfrm>
          <a:prstGeom prst="straightConnector1">
            <a:avLst/>
          </a:prstGeom>
          <a:noFill/>
          <a:ln w="9525" cap="flat" cmpd="sng">
            <a:solidFill>
              <a:srgbClr val="4A7DBA"/>
            </a:solidFill>
            <a:prstDash val="solid"/>
            <a:round/>
            <a:headEnd type="none" w="sm" len="sm"/>
            <a:tailEnd type="none" w="sm" len="sm"/>
          </a:ln>
        </p:spPr>
      </p:cxnSp>
      <p:cxnSp>
        <p:nvCxnSpPr>
          <p:cNvPr id="866" name="Google Shape;866;p109"/>
          <p:cNvCxnSpPr>
            <a:stCxn id="861" idx="3"/>
            <a:endCxn id="857" idx="2"/>
          </p:cNvCxnSpPr>
          <p:nvPr/>
        </p:nvCxnSpPr>
        <p:spPr>
          <a:xfrm>
            <a:off x="5486400" y="2743200"/>
            <a:ext cx="457200" cy="38100"/>
          </a:xfrm>
          <a:prstGeom prst="straightConnector1">
            <a:avLst/>
          </a:prstGeom>
          <a:noFill/>
          <a:ln w="9525" cap="flat" cmpd="sng">
            <a:solidFill>
              <a:srgbClr val="4A7DBA"/>
            </a:solidFill>
            <a:prstDash val="solid"/>
            <a:round/>
            <a:headEnd type="none" w="sm" len="sm"/>
            <a:tailEnd type="none" w="sm" len="sm"/>
          </a:ln>
        </p:spPr>
      </p:cxnSp>
      <p:cxnSp>
        <p:nvCxnSpPr>
          <p:cNvPr id="867" name="Google Shape;867;p109"/>
          <p:cNvCxnSpPr/>
          <p:nvPr/>
        </p:nvCxnSpPr>
        <p:spPr>
          <a:xfrm rot="5400000">
            <a:off x="6630194" y="3885406"/>
            <a:ext cx="1676400" cy="1588"/>
          </a:xfrm>
          <a:prstGeom prst="straightConnector1">
            <a:avLst/>
          </a:prstGeom>
          <a:noFill/>
          <a:ln w="9525" cap="flat" cmpd="sng">
            <a:solidFill>
              <a:srgbClr val="4A7DBA"/>
            </a:solidFill>
            <a:prstDash val="solid"/>
            <a:round/>
            <a:headEnd type="none" w="sm" len="sm"/>
            <a:tailEnd type="none" w="sm" len="sm"/>
          </a:ln>
        </p:spPr>
      </p:cxnSp>
      <p:cxnSp>
        <p:nvCxnSpPr>
          <p:cNvPr id="868" name="Google Shape;868;p109"/>
          <p:cNvCxnSpPr>
            <a:stCxn id="857" idx="4"/>
            <a:endCxn id="860" idx="0"/>
          </p:cNvCxnSpPr>
          <p:nvPr/>
        </p:nvCxnSpPr>
        <p:spPr>
          <a:xfrm>
            <a:off x="6210300" y="3048000"/>
            <a:ext cx="0" cy="1524000"/>
          </a:xfrm>
          <a:prstGeom prst="straightConnector1">
            <a:avLst/>
          </a:prstGeom>
          <a:noFill/>
          <a:ln w="9525" cap="flat" cmpd="sng">
            <a:solidFill>
              <a:srgbClr val="4A7DBA"/>
            </a:solidFill>
            <a:prstDash val="solid"/>
            <a:round/>
            <a:headEnd type="none" w="sm" len="sm"/>
            <a:tailEnd type="none" w="sm" len="sm"/>
          </a:ln>
        </p:spPr>
      </p:cxnSp>
      <p:cxnSp>
        <p:nvCxnSpPr>
          <p:cNvPr id="869" name="Google Shape;869;p109"/>
          <p:cNvCxnSpPr>
            <a:stCxn id="858" idx="2"/>
            <a:endCxn id="857" idx="6"/>
          </p:cNvCxnSpPr>
          <p:nvPr/>
        </p:nvCxnSpPr>
        <p:spPr>
          <a:xfrm rot="10800000">
            <a:off x="6477000" y="2781300"/>
            <a:ext cx="762000" cy="0"/>
          </a:xfrm>
          <a:prstGeom prst="straightConnector1">
            <a:avLst/>
          </a:prstGeom>
          <a:noFill/>
          <a:ln w="9525" cap="flat" cmpd="sng">
            <a:solidFill>
              <a:srgbClr val="4A7DBA"/>
            </a:solidFill>
            <a:prstDash val="solid"/>
            <a:round/>
            <a:headEnd type="none" w="sm" len="sm"/>
            <a:tailEnd type="none" w="sm" len="sm"/>
          </a:ln>
        </p:spPr>
      </p:cxnSp>
      <p:cxnSp>
        <p:nvCxnSpPr>
          <p:cNvPr id="870" name="Google Shape;870;p109"/>
          <p:cNvCxnSpPr>
            <a:stCxn id="859" idx="2"/>
            <a:endCxn id="860" idx="6"/>
          </p:cNvCxnSpPr>
          <p:nvPr/>
        </p:nvCxnSpPr>
        <p:spPr>
          <a:xfrm rot="10800000">
            <a:off x="6477000" y="4838700"/>
            <a:ext cx="685800" cy="0"/>
          </a:xfrm>
          <a:prstGeom prst="straightConnector1">
            <a:avLst/>
          </a:prstGeom>
          <a:noFill/>
          <a:ln w="9525" cap="flat" cmpd="sng">
            <a:solidFill>
              <a:srgbClr val="4A7DBA"/>
            </a:solidFill>
            <a:prstDash val="solid"/>
            <a:round/>
            <a:headEnd type="none" w="sm" len="sm"/>
            <a:tailEnd type="none" w="sm" len="sm"/>
          </a:ln>
        </p:spPr>
      </p:cxnSp>
      <p:cxnSp>
        <p:nvCxnSpPr>
          <p:cNvPr id="871" name="Google Shape;871;p109"/>
          <p:cNvCxnSpPr>
            <a:stCxn id="863" idx="1"/>
            <a:endCxn id="859" idx="6"/>
          </p:cNvCxnSpPr>
          <p:nvPr/>
        </p:nvCxnSpPr>
        <p:spPr>
          <a:xfrm rot="10800000">
            <a:off x="7696200" y="4838700"/>
            <a:ext cx="609600" cy="76200"/>
          </a:xfrm>
          <a:prstGeom prst="straightConnector1">
            <a:avLst/>
          </a:prstGeom>
          <a:noFill/>
          <a:ln w="9525" cap="flat" cmpd="sng">
            <a:solidFill>
              <a:srgbClr val="4A7DBA"/>
            </a:solidFill>
            <a:prstDash val="solid"/>
            <a:round/>
            <a:headEnd type="none" w="sm" len="sm"/>
            <a:tailEnd type="none" w="sm" len="sm"/>
          </a:ln>
        </p:spPr>
      </p:cxnSp>
      <p:cxnSp>
        <p:nvCxnSpPr>
          <p:cNvPr id="872" name="Google Shape;872;p109"/>
          <p:cNvCxnSpPr>
            <a:stCxn id="862" idx="2"/>
            <a:endCxn id="863" idx="0"/>
          </p:cNvCxnSpPr>
          <p:nvPr/>
        </p:nvCxnSpPr>
        <p:spPr>
          <a:xfrm>
            <a:off x="8534400" y="2895600"/>
            <a:ext cx="38100" cy="19050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1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PROGRAM OSPF</a:t>
            </a:r>
            <a:endParaRPr/>
          </a:p>
        </p:txBody>
      </p:sp>
      <p:sp>
        <p:nvSpPr>
          <p:cNvPr id="878" name="Google Shape;878;p1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Char char="•"/>
            </a:pPr>
            <a:r>
              <a:rPr lang="en-US"/>
              <a:t>R3</a:t>
            </a:r>
            <a:endParaRPr/>
          </a:p>
          <a:p>
            <a:pPr marL="342900" lvl="0" indent="-342900" algn="l" rtl="0">
              <a:spcBef>
                <a:spcPts val="352"/>
              </a:spcBef>
              <a:spcAft>
                <a:spcPts val="0"/>
              </a:spcAft>
              <a:buClr>
                <a:schemeClr val="dk1"/>
              </a:buClr>
              <a:buSzPct val="100000"/>
              <a:buNone/>
            </a:pPr>
            <a:r>
              <a:rPr lang="en-US"/>
              <a:t># router ospf 3</a:t>
            </a:r>
            <a:endParaRPr/>
          </a:p>
          <a:p>
            <a:pPr marL="342900" lvl="0" indent="-342900" algn="l" rtl="0">
              <a:spcBef>
                <a:spcPts val="352"/>
              </a:spcBef>
              <a:spcAft>
                <a:spcPts val="0"/>
              </a:spcAft>
              <a:buClr>
                <a:schemeClr val="dk1"/>
              </a:buClr>
              <a:buSzPct val="100000"/>
              <a:buNone/>
            </a:pPr>
            <a:r>
              <a:rPr lang="en-US"/>
              <a:t>#network 192.168.2.0  0.0.0.255  area 0</a:t>
            </a:r>
            <a:endParaRPr/>
          </a:p>
          <a:p>
            <a:pPr marL="342900" lvl="0" indent="-342900" algn="l" rtl="0">
              <a:spcBef>
                <a:spcPts val="352"/>
              </a:spcBef>
              <a:spcAft>
                <a:spcPts val="0"/>
              </a:spcAft>
              <a:buClr>
                <a:schemeClr val="dk1"/>
              </a:buClr>
              <a:buSzPct val="100000"/>
              <a:buNone/>
            </a:pPr>
            <a:r>
              <a:rPr lang="en-US"/>
              <a:t>#network 12.0.0.0  0.255.255.255  area 0</a:t>
            </a:r>
            <a:endParaRPr/>
          </a:p>
          <a:p>
            <a:pPr marL="342900" lvl="0" indent="-342900" algn="l" rtl="0">
              <a:spcBef>
                <a:spcPts val="352"/>
              </a:spcBef>
              <a:spcAft>
                <a:spcPts val="0"/>
              </a:spcAft>
              <a:buClr>
                <a:schemeClr val="dk1"/>
              </a:buClr>
              <a:buSzPct val="100000"/>
              <a:buNone/>
            </a:pPr>
            <a:r>
              <a:rPr lang="en-US"/>
              <a:t>#network 13.0.0.0  0.255.255.255 area 0</a:t>
            </a:r>
            <a:endParaRPr/>
          </a:p>
          <a:p>
            <a:pPr marL="342900" lvl="0" indent="-342900" algn="l" rtl="0">
              <a:spcBef>
                <a:spcPts val="352"/>
              </a:spcBef>
              <a:spcAft>
                <a:spcPts val="0"/>
              </a:spcAft>
              <a:buClr>
                <a:schemeClr val="dk1"/>
              </a:buClr>
              <a:buSzPct val="100000"/>
              <a:buNone/>
            </a:pPr>
            <a:r>
              <a:rPr lang="en-US"/>
              <a:t>#no shutdown</a:t>
            </a:r>
            <a:endParaRPr/>
          </a:p>
          <a:p>
            <a:pPr marL="342900" lvl="0" indent="-342900" algn="l" rtl="0">
              <a:spcBef>
                <a:spcPts val="352"/>
              </a:spcBef>
              <a:spcAft>
                <a:spcPts val="0"/>
              </a:spcAft>
              <a:buClr>
                <a:schemeClr val="dk1"/>
              </a:buClr>
              <a:buSzPct val="100000"/>
              <a:buNone/>
            </a:pPr>
            <a:r>
              <a:rPr lang="en-US"/>
              <a:t>#do write </a:t>
            </a:r>
            <a:endParaRPr/>
          </a:p>
          <a:p>
            <a:pPr marL="342900" lvl="0" indent="-342900" algn="l" rtl="0">
              <a:spcBef>
                <a:spcPts val="352"/>
              </a:spcBef>
              <a:spcAft>
                <a:spcPts val="0"/>
              </a:spcAft>
              <a:buClr>
                <a:schemeClr val="dk1"/>
              </a:buClr>
              <a:buSzPct val="100000"/>
              <a:buNone/>
            </a:pPr>
            <a:r>
              <a:rPr lang="en-US"/>
              <a:t>#do show ip route</a:t>
            </a:r>
            <a:endParaRPr/>
          </a:p>
          <a:p>
            <a:pPr marL="342900" lvl="0" indent="-34290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r>
              <a:rPr lang="en-US"/>
              <a:t>R4</a:t>
            </a:r>
            <a:endParaRPr/>
          </a:p>
          <a:p>
            <a:pPr marL="342900" lvl="0" indent="-342900" algn="l" rtl="0">
              <a:spcBef>
                <a:spcPts val="352"/>
              </a:spcBef>
              <a:spcAft>
                <a:spcPts val="0"/>
              </a:spcAft>
              <a:buClr>
                <a:schemeClr val="dk1"/>
              </a:buClr>
              <a:buSzPct val="100000"/>
              <a:buNone/>
            </a:pPr>
            <a:r>
              <a:rPr lang="en-US"/>
              <a:t># router ospf 4</a:t>
            </a:r>
            <a:endParaRPr/>
          </a:p>
          <a:p>
            <a:pPr marL="342900" lvl="0" indent="-342900" algn="l" rtl="0">
              <a:spcBef>
                <a:spcPts val="352"/>
              </a:spcBef>
              <a:spcAft>
                <a:spcPts val="0"/>
              </a:spcAft>
              <a:buClr>
                <a:schemeClr val="dk1"/>
              </a:buClr>
              <a:buSzPct val="100000"/>
              <a:buNone/>
            </a:pPr>
            <a:r>
              <a:rPr lang="en-US"/>
              <a:t>#network 13.0.0.0  0.255.255.255  area 0</a:t>
            </a:r>
            <a:endParaRPr/>
          </a:p>
          <a:p>
            <a:pPr marL="342900" lvl="0" indent="-342900" algn="l" rtl="0">
              <a:spcBef>
                <a:spcPts val="352"/>
              </a:spcBef>
              <a:spcAft>
                <a:spcPts val="0"/>
              </a:spcAft>
              <a:buClr>
                <a:schemeClr val="dk1"/>
              </a:buClr>
              <a:buSzPct val="100000"/>
              <a:buNone/>
            </a:pPr>
            <a:r>
              <a:rPr lang="en-US"/>
              <a:t>#network 10.0.0.0  0.255.255.255 area 0</a:t>
            </a:r>
            <a:endParaRPr/>
          </a:p>
          <a:p>
            <a:pPr marL="342900" lvl="0" indent="-342900" algn="l" rtl="0">
              <a:spcBef>
                <a:spcPts val="352"/>
              </a:spcBef>
              <a:spcAft>
                <a:spcPts val="0"/>
              </a:spcAft>
              <a:buClr>
                <a:schemeClr val="dk1"/>
              </a:buClr>
              <a:buSzPct val="100000"/>
              <a:buNone/>
            </a:pPr>
            <a:r>
              <a:rPr lang="en-US"/>
              <a:t>#do write </a:t>
            </a:r>
            <a:endParaRPr/>
          </a:p>
          <a:p>
            <a:pPr marL="342900" lvl="0" indent="-342900" algn="l" rtl="0">
              <a:spcBef>
                <a:spcPts val="352"/>
              </a:spcBef>
              <a:spcAft>
                <a:spcPts val="0"/>
              </a:spcAft>
              <a:buClr>
                <a:schemeClr val="dk1"/>
              </a:buClr>
              <a:buSzPct val="100000"/>
              <a:buNone/>
            </a:pPr>
            <a:r>
              <a:rPr lang="en-US"/>
              <a:t>#do show ip route</a:t>
            </a:r>
            <a:endParaRPr/>
          </a:p>
          <a:p>
            <a:pPr marL="342900" lvl="0" indent="-34290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1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OSPF</a:t>
            </a:r>
            <a:endParaRPr/>
          </a:p>
        </p:txBody>
      </p:sp>
      <p:sp>
        <p:nvSpPr>
          <p:cNvPr id="884" name="Google Shape;884;p111"/>
          <p:cNvSpPr/>
          <p:nvPr/>
        </p:nvSpPr>
        <p:spPr>
          <a:xfrm>
            <a:off x="4267200" y="1295400"/>
            <a:ext cx="6096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smtClean="0">
                <a:solidFill>
                  <a:schemeClr val="lt1"/>
                </a:solidFill>
                <a:latin typeface="Calibri"/>
                <a:ea typeface="Calibri"/>
                <a:cs typeface="Calibri"/>
                <a:sym typeface="Calibri"/>
              </a:rPr>
              <a:t>R1</a:t>
            </a:r>
            <a:endParaRPr sz="1800" b="1" dirty="0">
              <a:solidFill>
                <a:schemeClr val="lt1"/>
              </a:solidFill>
              <a:latin typeface="Calibri"/>
              <a:ea typeface="Calibri"/>
              <a:cs typeface="Calibri"/>
              <a:sym typeface="Calibri"/>
            </a:endParaRPr>
          </a:p>
        </p:txBody>
      </p:sp>
      <p:sp>
        <p:nvSpPr>
          <p:cNvPr id="885" name="Google Shape;885;p111"/>
          <p:cNvSpPr/>
          <p:nvPr/>
        </p:nvSpPr>
        <p:spPr>
          <a:xfrm>
            <a:off x="2133599" y="2634018"/>
            <a:ext cx="838201" cy="642582"/>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smtClean="0">
                <a:solidFill>
                  <a:schemeClr val="lt1"/>
                </a:solidFill>
                <a:latin typeface="Calibri"/>
                <a:ea typeface="Calibri"/>
                <a:cs typeface="Calibri"/>
                <a:sym typeface="Calibri"/>
              </a:rPr>
              <a:t>ABR</a:t>
            </a:r>
            <a:endParaRPr sz="1800" b="1" dirty="0">
              <a:solidFill>
                <a:schemeClr val="lt1"/>
              </a:solidFill>
              <a:latin typeface="Calibri"/>
              <a:ea typeface="Calibri"/>
              <a:cs typeface="Calibri"/>
              <a:sym typeface="Calibri"/>
            </a:endParaRPr>
          </a:p>
        </p:txBody>
      </p:sp>
      <p:sp>
        <p:nvSpPr>
          <p:cNvPr id="886" name="Google Shape;886;p111"/>
          <p:cNvSpPr/>
          <p:nvPr/>
        </p:nvSpPr>
        <p:spPr>
          <a:xfrm>
            <a:off x="1506371" y="4038600"/>
            <a:ext cx="6096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7" name="Google Shape;887;p111"/>
          <p:cNvSpPr/>
          <p:nvPr/>
        </p:nvSpPr>
        <p:spPr>
          <a:xfrm>
            <a:off x="3276600" y="4038600"/>
            <a:ext cx="6096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8" name="Google Shape;888;p111"/>
          <p:cNvSpPr/>
          <p:nvPr/>
        </p:nvSpPr>
        <p:spPr>
          <a:xfrm>
            <a:off x="1371600" y="50292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89" name="Google Shape;889;p111"/>
          <p:cNvSpPr/>
          <p:nvPr/>
        </p:nvSpPr>
        <p:spPr>
          <a:xfrm>
            <a:off x="990600" y="5867400"/>
            <a:ext cx="6096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90" name="Google Shape;890;p111"/>
          <p:cNvSpPr/>
          <p:nvPr/>
        </p:nvSpPr>
        <p:spPr>
          <a:xfrm>
            <a:off x="2133600" y="5867400"/>
            <a:ext cx="6096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91" name="Google Shape;891;p111"/>
          <p:cNvCxnSpPr>
            <a:stCxn id="884" idx="2"/>
            <a:endCxn id="885" idx="0"/>
          </p:cNvCxnSpPr>
          <p:nvPr/>
        </p:nvCxnSpPr>
        <p:spPr>
          <a:xfrm flipH="1">
            <a:off x="2552700" y="1562100"/>
            <a:ext cx="1714500" cy="1071918"/>
          </a:xfrm>
          <a:prstGeom prst="straightConnector1">
            <a:avLst/>
          </a:prstGeom>
          <a:noFill/>
          <a:ln w="9525" cap="flat" cmpd="sng">
            <a:solidFill>
              <a:srgbClr val="4A7DBA"/>
            </a:solidFill>
            <a:prstDash val="solid"/>
            <a:round/>
            <a:headEnd type="none" w="sm" len="sm"/>
            <a:tailEnd type="none" w="sm" len="sm"/>
          </a:ln>
        </p:spPr>
      </p:cxnSp>
      <p:cxnSp>
        <p:nvCxnSpPr>
          <p:cNvPr id="892" name="Google Shape;892;p111"/>
          <p:cNvCxnSpPr>
            <a:stCxn id="884" idx="6"/>
          </p:cNvCxnSpPr>
          <p:nvPr/>
        </p:nvCxnSpPr>
        <p:spPr>
          <a:xfrm>
            <a:off x="4876800" y="1562100"/>
            <a:ext cx="1981200" cy="1257300"/>
          </a:xfrm>
          <a:prstGeom prst="straightConnector1">
            <a:avLst/>
          </a:prstGeom>
          <a:noFill/>
          <a:ln w="9525" cap="flat" cmpd="sng">
            <a:solidFill>
              <a:srgbClr val="4A7DBA"/>
            </a:solidFill>
            <a:prstDash val="solid"/>
            <a:round/>
            <a:headEnd type="none" w="sm" len="sm"/>
            <a:tailEnd type="none" w="sm" len="sm"/>
          </a:ln>
        </p:spPr>
      </p:cxnSp>
      <p:cxnSp>
        <p:nvCxnSpPr>
          <p:cNvPr id="893" name="Google Shape;893;p111"/>
          <p:cNvCxnSpPr>
            <a:stCxn id="885" idx="2"/>
            <a:endCxn id="886" idx="0"/>
          </p:cNvCxnSpPr>
          <p:nvPr/>
        </p:nvCxnSpPr>
        <p:spPr>
          <a:xfrm flipH="1">
            <a:off x="1811171" y="2955309"/>
            <a:ext cx="322428" cy="1083291"/>
          </a:xfrm>
          <a:prstGeom prst="straightConnector1">
            <a:avLst/>
          </a:prstGeom>
          <a:noFill/>
          <a:ln w="9525" cap="flat" cmpd="sng">
            <a:solidFill>
              <a:srgbClr val="4A7DBA"/>
            </a:solidFill>
            <a:prstDash val="solid"/>
            <a:round/>
            <a:headEnd type="none" w="sm" len="sm"/>
            <a:tailEnd type="none" w="sm" len="sm"/>
          </a:ln>
        </p:spPr>
      </p:cxnSp>
      <p:cxnSp>
        <p:nvCxnSpPr>
          <p:cNvPr id="894" name="Google Shape;894;p111"/>
          <p:cNvCxnSpPr>
            <a:stCxn id="886" idx="4"/>
            <a:endCxn id="888" idx="0"/>
          </p:cNvCxnSpPr>
          <p:nvPr/>
        </p:nvCxnSpPr>
        <p:spPr>
          <a:xfrm>
            <a:off x="1811171" y="4572000"/>
            <a:ext cx="17629" cy="457200"/>
          </a:xfrm>
          <a:prstGeom prst="straightConnector1">
            <a:avLst/>
          </a:prstGeom>
          <a:noFill/>
          <a:ln w="9525" cap="flat" cmpd="sng">
            <a:solidFill>
              <a:srgbClr val="4A7DBA"/>
            </a:solidFill>
            <a:prstDash val="solid"/>
            <a:round/>
            <a:headEnd type="none" w="sm" len="sm"/>
            <a:tailEnd type="none" w="sm" len="sm"/>
          </a:ln>
        </p:spPr>
      </p:cxnSp>
      <p:cxnSp>
        <p:nvCxnSpPr>
          <p:cNvPr id="895" name="Google Shape;895;p111"/>
          <p:cNvCxnSpPr>
            <a:stCxn id="887" idx="2"/>
            <a:endCxn id="886" idx="6"/>
          </p:cNvCxnSpPr>
          <p:nvPr/>
        </p:nvCxnSpPr>
        <p:spPr>
          <a:xfrm flipH="1">
            <a:off x="2115971" y="4305300"/>
            <a:ext cx="1160629" cy="0"/>
          </a:xfrm>
          <a:prstGeom prst="straightConnector1">
            <a:avLst/>
          </a:prstGeom>
          <a:noFill/>
          <a:ln w="9525" cap="flat" cmpd="sng">
            <a:solidFill>
              <a:srgbClr val="4A7DBA"/>
            </a:solidFill>
            <a:prstDash val="solid"/>
            <a:round/>
            <a:headEnd type="none" w="sm" len="sm"/>
            <a:tailEnd type="none" w="sm" len="sm"/>
          </a:ln>
        </p:spPr>
      </p:cxnSp>
      <p:cxnSp>
        <p:nvCxnSpPr>
          <p:cNvPr id="896" name="Google Shape;896;p111"/>
          <p:cNvCxnSpPr>
            <a:stCxn id="885" idx="6"/>
            <a:endCxn id="887" idx="0"/>
          </p:cNvCxnSpPr>
          <p:nvPr/>
        </p:nvCxnSpPr>
        <p:spPr>
          <a:xfrm>
            <a:off x="2971800" y="2955309"/>
            <a:ext cx="609600" cy="1083291"/>
          </a:xfrm>
          <a:prstGeom prst="straightConnector1">
            <a:avLst/>
          </a:prstGeom>
          <a:noFill/>
          <a:ln w="9525" cap="flat" cmpd="sng">
            <a:solidFill>
              <a:srgbClr val="4A7DBA"/>
            </a:solidFill>
            <a:prstDash val="solid"/>
            <a:round/>
            <a:headEnd type="none" w="sm" len="sm"/>
            <a:tailEnd type="none" w="sm" len="sm"/>
          </a:ln>
        </p:spPr>
      </p:cxnSp>
      <p:cxnSp>
        <p:nvCxnSpPr>
          <p:cNvPr id="897" name="Google Shape;897;p111"/>
          <p:cNvCxnSpPr>
            <a:stCxn id="890" idx="0"/>
            <a:endCxn id="888" idx="2"/>
          </p:cNvCxnSpPr>
          <p:nvPr/>
        </p:nvCxnSpPr>
        <p:spPr>
          <a:xfrm rot="10800000">
            <a:off x="1828800" y="5334000"/>
            <a:ext cx="609600" cy="533400"/>
          </a:xfrm>
          <a:prstGeom prst="straightConnector1">
            <a:avLst/>
          </a:prstGeom>
          <a:noFill/>
          <a:ln w="9525" cap="flat" cmpd="sng">
            <a:solidFill>
              <a:srgbClr val="4A7DBA"/>
            </a:solidFill>
            <a:prstDash val="solid"/>
            <a:round/>
            <a:headEnd type="none" w="sm" len="sm"/>
            <a:tailEnd type="none" w="sm" len="sm"/>
          </a:ln>
        </p:spPr>
      </p:cxnSp>
      <p:cxnSp>
        <p:nvCxnSpPr>
          <p:cNvPr id="898" name="Google Shape;898;p111"/>
          <p:cNvCxnSpPr>
            <a:stCxn id="888" idx="2"/>
            <a:endCxn id="889" idx="0"/>
          </p:cNvCxnSpPr>
          <p:nvPr/>
        </p:nvCxnSpPr>
        <p:spPr>
          <a:xfrm flipH="1">
            <a:off x="1295400" y="5334000"/>
            <a:ext cx="533400" cy="533400"/>
          </a:xfrm>
          <a:prstGeom prst="straightConnector1">
            <a:avLst/>
          </a:prstGeom>
          <a:noFill/>
          <a:ln w="9525" cap="flat" cmpd="sng">
            <a:solidFill>
              <a:srgbClr val="4A7DBA"/>
            </a:solidFill>
            <a:prstDash val="solid"/>
            <a:round/>
            <a:headEnd type="none" w="sm" len="sm"/>
            <a:tailEnd type="none" w="sm" len="sm"/>
          </a:ln>
        </p:spPr>
      </p:cxnSp>
      <p:sp>
        <p:nvSpPr>
          <p:cNvPr id="899" name="Google Shape;899;p111"/>
          <p:cNvSpPr/>
          <p:nvPr/>
        </p:nvSpPr>
        <p:spPr>
          <a:xfrm>
            <a:off x="6459371" y="2593358"/>
            <a:ext cx="855829" cy="759441"/>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lvl="0" algn="ctr"/>
            <a:r>
              <a:rPr lang="en-US" sz="1800" b="1" dirty="0">
                <a:solidFill>
                  <a:schemeClr val="lt1"/>
                </a:solidFill>
                <a:latin typeface="Calibri"/>
                <a:ea typeface="Calibri"/>
                <a:cs typeface="Calibri"/>
                <a:sym typeface="Calibri"/>
              </a:rPr>
              <a:t>ABR</a:t>
            </a:r>
            <a:endParaRPr sz="1800" dirty="0">
              <a:solidFill>
                <a:schemeClr val="lt1"/>
              </a:solidFill>
              <a:latin typeface="Calibri"/>
              <a:ea typeface="Calibri"/>
              <a:cs typeface="Calibri"/>
              <a:sym typeface="Calibri"/>
            </a:endParaRPr>
          </a:p>
        </p:txBody>
      </p:sp>
      <p:sp>
        <p:nvSpPr>
          <p:cNvPr id="900" name="Google Shape;900;p111"/>
          <p:cNvSpPr/>
          <p:nvPr/>
        </p:nvSpPr>
        <p:spPr>
          <a:xfrm>
            <a:off x="5715000" y="4114800"/>
            <a:ext cx="6096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1" name="Google Shape;901;p111"/>
          <p:cNvSpPr/>
          <p:nvPr/>
        </p:nvSpPr>
        <p:spPr>
          <a:xfrm>
            <a:off x="7467600" y="4114800"/>
            <a:ext cx="6096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02" name="Google Shape;902;p111"/>
          <p:cNvCxnSpPr>
            <a:stCxn id="899" idx="2"/>
            <a:endCxn id="900" idx="0"/>
          </p:cNvCxnSpPr>
          <p:nvPr/>
        </p:nvCxnSpPr>
        <p:spPr>
          <a:xfrm flipH="1">
            <a:off x="6019800" y="2973079"/>
            <a:ext cx="439571" cy="1141721"/>
          </a:xfrm>
          <a:prstGeom prst="straightConnector1">
            <a:avLst/>
          </a:prstGeom>
          <a:noFill/>
          <a:ln w="9525" cap="flat" cmpd="sng">
            <a:solidFill>
              <a:srgbClr val="4A7DBA"/>
            </a:solidFill>
            <a:prstDash val="solid"/>
            <a:round/>
            <a:headEnd type="none" w="sm" len="sm"/>
            <a:tailEnd type="none" w="sm" len="sm"/>
          </a:ln>
        </p:spPr>
      </p:cxnSp>
      <p:cxnSp>
        <p:nvCxnSpPr>
          <p:cNvPr id="903" name="Google Shape;903;p111"/>
          <p:cNvCxnSpPr>
            <a:stCxn id="901" idx="2"/>
            <a:endCxn id="900" idx="6"/>
          </p:cNvCxnSpPr>
          <p:nvPr/>
        </p:nvCxnSpPr>
        <p:spPr>
          <a:xfrm rot="10800000">
            <a:off x="6324600" y="4381500"/>
            <a:ext cx="1143000" cy="0"/>
          </a:xfrm>
          <a:prstGeom prst="straightConnector1">
            <a:avLst/>
          </a:prstGeom>
          <a:noFill/>
          <a:ln w="9525" cap="flat" cmpd="sng">
            <a:solidFill>
              <a:srgbClr val="4A7DBA"/>
            </a:solidFill>
            <a:prstDash val="solid"/>
            <a:round/>
            <a:headEnd type="none" w="sm" len="sm"/>
            <a:tailEnd type="none" w="sm" len="sm"/>
          </a:ln>
        </p:spPr>
      </p:cxnSp>
      <p:cxnSp>
        <p:nvCxnSpPr>
          <p:cNvPr id="904" name="Google Shape;904;p111"/>
          <p:cNvCxnSpPr>
            <a:stCxn id="899" idx="6"/>
            <a:endCxn id="901" idx="0"/>
          </p:cNvCxnSpPr>
          <p:nvPr/>
        </p:nvCxnSpPr>
        <p:spPr>
          <a:xfrm>
            <a:off x="7315200" y="2973079"/>
            <a:ext cx="457200" cy="1141721"/>
          </a:xfrm>
          <a:prstGeom prst="straightConnector1">
            <a:avLst/>
          </a:prstGeom>
          <a:noFill/>
          <a:ln w="9525" cap="flat" cmpd="sng">
            <a:solidFill>
              <a:srgbClr val="4A7DBA"/>
            </a:solidFill>
            <a:prstDash val="solid"/>
            <a:round/>
            <a:headEnd type="none" w="sm" len="sm"/>
            <a:tailEnd type="none" w="sm" len="sm"/>
          </a:ln>
        </p:spPr>
      </p:cxnSp>
      <p:sp>
        <p:nvSpPr>
          <p:cNvPr id="905" name="Google Shape;905;p111"/>
          <p:cNvSpPr/>
          <p:nvPr/>
        </p:nvSpPr>
        <p:spPr>
          <a:xfrm>
            <a:off x="7315200" y="51054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6" name="Google Shape;906;p111"/>
          <p:cNvSpPr/>
          <p:nvPr/>
        </p:nvSpPr>
        <p:spPr>
          <a:xfrm>
            <a:off x="6934200" y="5943600"/>
            <a:ext cx="6096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07" name="Google Shape;907;p111"/>
          <p:cNvSpPr/>
          <p:nvPr/>
        </p:nvSpPr>
        <p:spPr>
          <a:xfrm>
            <a:off x="8077200" y="5943600"/>
            <a:ext cx="6096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08" name="Google Shape;908;p111"/>
          <p:cNvCxnSpPr>
            <a:endCxn id="905" idx="0"/>
          </p:cNvCxnSpPr>
          <p:nvPr/>
        </p:nvCxnSpPr>
        <p:spPr>
          <a:xfrm flipH="1">
            <a:off x="7772400" y="4648200"/>
            <a:ext cx="1500" cy="457200"/>
          </a:xfrm>
          <a:prstGeom prst="straightConnector1">
            <a:avLst/>
          </a:prstGeom>
          <a:noFill/>
          <a:ln w="9525" cap="flat" cmpd="sng">
            <a:solidFill>
              <a:srgbClr val="4A7DBA"/>
            </a:solidFill>
            <a:prstDash val="solid"/>
            <a:round/>
            <a:headEnd type="none" w="sm" len="sm"/>
            <a:tailEnd type="none" w="sm" len="sm"/>
          </a:ln>
        </p:spPr>
      </p:cxnSp>
      <p:cxnSp>
        <p:nvCxnSpPr>
          <p:cNvPr id="909" name="Google Shape;909;p111"/>
          <p:cNvCxnSpPr>
            <a:stCxn id="907" idx="0"/>
            <a:endCxn id="905" idx="2"/>
          </p:cNvCxnSpPr>
          <p:nvPr/>
        </p:nvCxnSpPr>
        <p:spPr>
          <a:xfrm rot="10800000">
            <a:off x="7772400" y="5410200"/>
            <a:ext cx="609600" cy="533400"/>
          </a:xfrm>
          <a:prstGeom prst="straightConnector1">
            <a:avLst/>
          </a:prstGeom>
          <a:noFill/>
          <a:ln w="9525" cap="flat" cmpd="sng">
            <a:solidFill>
              <a:srgbClr val="4A7DBA"/>
            </a:solidFill>
            <a:prstDash val="solid"/>
            <a:round/>
            <a:headEnd type="none" w="sm" len="sm"/>
            <a:tailEnd type="none" w="sm" len="sm"/>
          </a:ln>
        </p:spPr>
      </p:cxnSp>
      <p:cxnSp>
        <p:nvCxnSpPr>
          <p:cNvPr id="910" name="Google Shape;910;p111"/>
          <p:cNvCxnSpPr>
            <a:stCxn id="905" idx="2"/>
            <a:endCxn id="906" idx="0"/>
          </p:cNvCxnSpPr>
          <p:nvPr/>
        </p:nvCxnSpPr>
        <p:spPr>
          <a:xfrm flipH="1">
            <a:off x="7239000" y="5410200"/>
            <a:ext cx="533400" cy="533400"/>
          </a:xfrm>
          <a:prstGeom prst="straightConnector1">
            <a:avLst/>
          </a:prstGeom>
          <a:noFill/>
          <a:ln w="9525" cap="flat" cmpd="sng">
            <a:solidFill>
              <a:srgbClr val="4A7DBA"/>
            </a:solidFill>
            <a:prstDash val="solid"/>
            <a:round/>
            <a:headEnd type="none" w="sm" len="sm"/>
            <a:tailEnd type="none" w="sm" len="sm"/>
          </a:ln>
        </p:spPr>
      </p:cxnSp>
      <p:sp>
        <p:nvSpPr>
          <p:cNvPr id="13" name="TextBox 12"/>
          <p:cNvSpPr txBox="1"/>
          <p:nvPr/>
        </p:nvSpPr>
        <p:spPr>
          <a:xfrm>
            <a:off x="3867006" y="1828800"/>
            <a:ext cx="1638590" cy="307777"/>
          </a:xfrm>
          <a:prstGeom prst="rect">
            <a:avLst/>
          </a:prstGeom>
          <a:noFill/>
        </p:spPr>
        <p:txBody>
          <a:bodyPr wrap="none" rtlCol="0">
            <a:spAutoFit/>
          </a:bodyPr>
          <a:lstStyle/>
          <a:p>
            <a:r>
              <a:rPr lang="en-US" dirty="0" smtClean="0"/>
              <a:t>Back Bone Router</a:t>
            </a:r>
            <a:endParaRPr lang="en-IN" dirty="0"/>
          </a:p>
        </p:txBody>
      </p:sp>
      <p:sp>
        <p:nvSpPr>
          <p:cNvPr id="14" name="TextBox 13"/>
          <p:cNvSpPr txBox="1"/>
          <p:nvPr/>
        </p:nvSpPr>
        <p:spPr>
          <a:xfrm>
            <a:off x="2615773" y="1855372"/>
            <a:ext cx="732893" cy="307777"/>
          </a:xfrm>
          <a:prstGeom prst="rect">
            <a:avLst/>
          </a:prstGeom>
          <a:noFill/>
        </p:spPr>
        <p:txBody>
          <a:bodyPr wrap="none" rtlCol="0">
            <a:spAutoFit/>
          </a:bodyPr>
          <a:lstStyle/>
          <a:p>
            <a:r>
              <a:rPr lang="en-US" b="1" dirty="0" smtClean="0">
                <a:solidFill>
                  <a:srgbClr val="C00000"/>
                </a:solidFill>
              </a:rPr>
              <a:t>Area 0</a:t>
            </a:r>
            <a:endParaRPr lang="en-IN" b="1" dirty="0">
              <a:solidFill>
                <a:srgbClr val="C00000"/>
              </a:solidFill>
            </a:endParaRPr>
          </a:p>
        </p:txBody>
      </p:sp>
      <p:sp>
        <p:nvSpPr>
          <p:cNvPr id="43" name="TextBox 42"/>
          <p:cNvSpPr txBox="1"/>
          <p:nvPr/>
        </p:nvSpPr>
        <p:spPr>
          <a:xfrm>
            <a:off x="5729890" y="1809252"/>
            <a:ext cx="732893" cy="307777"/>
          </a:xfrm>
          <a:prstGeom prst="rect">
            <a:avLst/>
          </a:prstGeom>
          <a:noFill/>
        </p:spPr>
        <p:txBody>
          <a:bodyPr wrap="none" rtlCol="0">
            <a:spAutoFit/>
          </a:bodyPr>
          <a:lstStyle/>
          <a:p>
            <a:r>
              <a:rPr lang="en-US" b="1" dirty="0" smtClean="0">
                <a:solidFill>
                  <a:srgbClr val="C00000"/>
                </a:solidFill>
              </a:rPr>
              <a:t>Area 0</a:t>
            </a:r>
            <a:endParaRPr lang="en-IN" b="1" dirty="0">
              <a:solidFill>
                <a:srgbClr val="C00000"/>
              </a:solidFill>
            </a:endParaRPr>
          </a:p>
        </p:txBody>
      </p:sp>
      <p:sp>
        <p:nvSpPr>
          <p:cNvPr id="47" name="TextBox 46"/>
          <p:cNvSpPr txBox="1"/>
          <p:nvPr/>
        </p:nvSpPr>
        <p:spPr>
          <a:xfrm>
            <a:off x="2251263" y="3576935"/>
            <a:ext cx="732893" cy="307777"/>
          </a:xfrm>
          <a:prstGeom prst="rect">
            <a:avLst/>
          </a:prstGeom>
          <a:noFill/>
        </p:spPr>
        <p:txBody>
          <a:bodyPr wrap="none" rtlCol="0">
            <a:spAutoFit/>
          </a:bodyPr>
          <a:lstStyle/>
          <a:p>
            <a:r>
              <a:rPr lang="en-US" b="1" dirty="0" smtClean="0">
                <a:solidFill>
                  <a:srgbClr val="C00000"/>
                </a:solidFill>
              </a:rPr>
              <a:t>Area 1</a:t>
            </a:r>
            <a:endParaRPr lang="en-IN" b="1" dirty="0">
              <a:solidFill>
                <a:srgbClr val="C00000"/>
              </a:solidFill>
            </a:endParaRPr>
          </a:p>
        </p:txBody>
      </p:sp>
      <p:sp>
        <p:nvSpPr>
          <p:cNvPr id="48" name="TextBox 47"/>
          <p:cNvSpPr txBox="1"/>
          <p:nvPr/>
        </p:nvSpPr>
        <p:spPr>
          <a:xfrm>
            <a:off x="6603146" y="3537044"/>
            <a:ext cx="732893" cy="307777"/>
          </a:xfrm>
          <a:prstGeom prst="rect">
            <a:avLst/>
          </a:prstGeom>
          <a:noFill/>
        </p:spPr>
        <p:txBody>
          <a:bodyPr wrap="none" rtlCol="0">
            <a:spAutoFit/>
          </a:bodyPr>
          <a:lstStyle/>
          <a:p>
            <a:r>
              <a:rPr lang="en-US" b="1" dirty="0" smtClean="0">
                <a:solidFill>
                  <a:srgbClr val="C00000"/>
                </a:solidFill>
              </a:rPr>
              <a:t>Area 2</a:t>
            </a:r>
            <a:endParaRPr lang="en-IN" b="1" dirty="0">
              <a:solidFill>
                <a:srgbClr val="C00000"/>
              </a:solidFill>
            </a:endParaRPr>
          </a:p>
        </p:txBody>
      </p:sp>
      <p:sp>
        <p:nvSpPr>
          <p:cNvPr id="18" name="TextBox 17"/>
          <p:cNvSpPr txBox="1"/>
          <p:nvPr/>
        </p:nvSpPr>
        <p:spPr>
          <a:xfrm>
            <a:off x="3222335" y="1274862"/>
            <a:ext cx="830677" cy="307777"/>
          </a:xfrm>
          <a:prstGeom prst="rect">
            <a:avLst/>
          </a:prstGeom>
          <a:noFill/>
        </p:spPr>
        <p:txBody>
          <a:bodyPr wrap="none" rtlCol="0">
            <a:spAutoFit/>
          </a:bodyPr>
          <a:lstStyle/>
          <a:p>
            <a:r>
              <a:rPr lang="en-US" dirty="0" smtClean="0"/>
              <a:t>10.0.0.1</a:t>
            </a:r>
            <a:endParaRPr lang="en-IN" dirty="0"/>
          </a:p>
        </p:txBody>
      </p:sp>
      <p:sp>
        <p:nvSpPr>
          <p:cNvPr id="50" name="TextBox 49"/>
          <p:cNvSpPr txBox="1"/>
          <p:nvPr/>
        </p:nvSpPr>
        <p:spPr>
          <a:xfrm>
            <a:off x="2023061" y="2217321"/>
            <a:ext cx="830677" cy="307777"/>
          </a:xfrm>
          <a:prstGeom prst="rect">
            <a:avLst/>
          </a:prstGeom>
          <a:noFill/>
        </p:spPr>
        <p:txBody>
          <a:bodyPr wrap="none" rtlCol="0">
            <a:spAutoFit/>
          </a:bodyPr>
          <a:lstStyle/>
          <a:p>
            <a:r>
              <a:rPr lang="en-US" dirty="0" smtClean="0"/>
              <a:t>10.0.0.2</a:t>
            </a:r>
            <a:endParaRPr lang="en-IN" dirty="0"/>
          </a:p>
        </p:txBody>
      </p:sp>
      <p:sp>
        <p:nvSpPr>
          <p:cNvPr id="51" name="TextBox 50"/>
          <p:cNvSpPr txBox="1"/>
          <p:nvPr/>
        </p:nvSpPr>
        <p:spPr>
          <a:xfrm>
            <a:off x="5117910" y="1315441"/>
            <a:ext cx="830677" cy="307777"/>
          </a:xfrm>
          <a:prstGeom prst="rect">
            <a:avLst/>
          </a:prstGeom>
          <a:noFill/>
        </p:spPr>
        <p:txBody>
          <a:bodyPr wrap="none" rtlCol="0">
            <a:spAutoFit/>
          </a:bodyPr>
          <a:lstStyle/>
          <a:p>
            <a:r>
              <a:rPr lang="en-US" dirty="0"/>
              <a:t>2</a:t>
            </a:r>
            <a:r>
              <a:rPr lang="en-US" dirty="0" smtClean="0"/>
              <a:t>0.0.0.1</a:t>
            </a:r>
            <a:endParaRPr lang="en-IN" dirty="0"/>
          </a:p>
        </p:txBody>
      </p:sp>
      <p:sp>
        <p:nvSpPr>
          <p:cNvPr id="52" name="TextBox 51"/>
          <p:cNvSpPr txBox="1"/>
          <p:nvPr/>
        </p:nvSpPr>
        <p:spPr>
          <a:xfrm>
            <a:off x="6408323" y="2175915"/>
            <a:ext cx="830677" cy="307777"/>
          </a:xfrm>
          <a:prstGeom prst="rect">
            <a:avLst/>
          </a:prstGeom>
          <a:noFill/>
        </p:spPr>
        <p:txBody>
          <a:bodyPr wrap="none" rtlCol="0">
            <a:spAutoFit/>
          </a:bodyPr>
          <a:lstStyle/>
          <a:p>
            <a:r>
              <a:rPr lang="en-US" dirty="0" smtClean="0"/>
              <a:t>20.0.0.2</a:t>
            </a:r>
            <a:endParaRPr lang="en-IN" dirty="0"/>
          </a:p>
        </p:txBody>
      </p:sp>
      <p:sp>
        <p:nvSpPr>
          <p:cNvPr id="53" name="TextBox 52"/>
          <p:cNvSpPr txBox="1"/>
          <p:nvPr/>
        </p:nvSpPr>
        <p:spPr>
          <a:xfrm>
            <a:off x="1276415" y="2846389"/>
            <a:ext cx="830677" cy="307777"/>
          </a:xfrm>
          <a:prstGeom prst="rect">
            <a:avLst/>
          </a:prstGeom>
          <a:noFill/>
        </p:spPr>
        <p:txBody>
          <a:bodyPr wrap="none" rtlCol="0">
            <a:spAutoFit/>
          </a:bodyPr>
          <a:lstStyle/>
          <a:p>
            <a:r>
              <a:rPr lang="en-US" dirty="0"/>
              <a:t>3</a:t>
            </a:r>
            <a:r>
              <a:rPr lang="en-US" dirty="0" smtClean="0"/>
              <a:t>0.0.0.1</a:t>
            </a:r>
            <a:endParaRPr lang="en-IN" dirty="0"/>
          </a:p>
        </p:txBody>
      </p:sp>
      <p:sp>
        <p:nvSpPr>
          <p:cNvPr id="54" name="TextBox 53"/>
          <p:cNvSpPr txBox="1"/>
          <p:nvPr/>
        </p:nvSpPr>
        <p:spPr>
          <a:xfrm>
            <a:off x="1039984" y="3631506"/>
            <a:ext cx="830677" cy="307777"/>
          </a:xfrm>
          <a:prstGeom prst="rect">
            <a:avLst/>
          </a:prstGeom>
          <a:noFill/>
        </p:spPr>
        <p:txBody>
          <a:bodyPr wrap="none" rtlCol="0">
            <a:spAutoFit/>
          </a:bodyPr>
          <a:lstStyle/>
          <a:p>
            <a:r>
              <a:rPr lang="en-US" dirty="0" smtClean="0"/>
              <a:t>30.0.0.2</a:t>
            </a:r>
            <a:endParaRPr lang="en-IN" dirty="0"/>
          </a:p>
        </p:txBody>
      </p:sp>
      <p:sp>
        <p:nvSpPr>
          <p:cNvPr id="55" name="TextBox 54"/>
          <p:cNvSpPr txBox="1"/>
          <p:nvPr/>
        </p:nvSpPr>
        <p:spPr>
          <a:xfrm>
            <a:off x="3023459" y="2811223"/>
            <a:ext cx="830677" cy="307777"/>
          </a:xfrm>
          <a:prstGeom prst="rect">
            <a:avLst/>
          </a:prstGeom>
          <a:noFill/>
        </p:spPr>
        <p:txBody>
          <a:bodyPr wrap="none" rtlCol="0">
            <a:spAutoFit/>
          </a:bodyPr>
          <a:lstStyle/>
          <a:p>
            <a:r>
              <a:rPr lang="en-US" dirty="0" smtClean="0"/>
              <a:t>50.0.0.1</a:t>
            </a:r>
            <a:endParaRPr lang="en-IN" dirty="0"/>
          </a:p>
        </p:txBody>
      </p:sp>
      <p:sp>
        <p:nvSpPr>
          <p:cNvPr id="56" name="TextBox 55"/>
          <p:cNvSpPr txBox="1"/>
          <p:nvPr/>
        </p:nvSpPr>
        <p:spPr>
          <a:xfrm>
            <a:off x="3436522" y="3570177"/>
            <a:ext cx="830677" cy="307777"/>
          </a:xfrm>
          <a:prstGeom prst="rect">
            <a:avLst/>
          </a:prstGeom>
          <a:noFill/>
        </p:spPr>
        <p:txBody>
          <a:bodyPr wrap="none" rtlCol="0">
            <a:spAutoFit/>
          </a:bodyPr>
          <a:lstStyle/>
          <a:p>
            <a:r>
              <a:rPr lang="en-US" dirty="0" smtClean="0"/>
              <a:t>50.0.0.2</a:t>
            </a:r>
            <a:endParaRPr lang="en-IN" dirty="0"/>
          </a:p>
        </p:txBody>
      </p:sp>
      <p:sp>
        <p:nvSpPr>
          <p:cNvPr id="57" name="TextBox 56"/>
          <p:cNvSpPr txBox="1"/>
          <p:nvPr/>
        </p:nvSpPr>
        <p:spPr>
          <a:xfrm>
            <a:off x="1990223" y="4382771"/>
            <a:ext cx="830677" cy="307777"/>
          </a:xfrm>
          <a:prstGeom prst="rect">
            <a:avLst/>
          </a:prstGeom>
          <a:noFill/>
        </p:spPr>
        <p:txBody>
          <a:bodyPr wrap="none" rtlCol="0">
            <a:spAutoFit/>
          </a:bodyPr>
          <a:lstStyle/>
          <a:p>
            <a:r>
              <a:rPr lang="en-US" dirty="0"/>
              <a:t>4</a:t>
            </a:r>
            <a:r>
              <a:rPr lang="en-US" dirty="0" smtClean="0"/>
              <a:t>0.0.0.1</a:t>
            </a:r>
            <a:endParaRPr lang="en-IN" dirty="0"/>
          </a:p>
        </p:txBody>
      </p:sp>
      <p:sp>
        <p:nvSpPr>
          <p:cNvPr id="58" name="TextBox 57"/>
          <p:cNvSpPr txBox="1"/>
          <p:nvPr/>
        </p:nvSpPr>
        <p:spPr>
          <a:xfrm>
            <a:off x="2806996" y="4392788"/>
            <a:ext cx="830677" cy="307777"/>
          </a:xfrm>
          <a:prstGeom prst="rect">
            <a:avLst/>
          </a:prstGeom>
          <a:noFill/>
        </p:spPr>
        <p:txBody>
          <a:bodyPr wrap="none" rtlCol="0">
            <a:spAutoFit/>
          </a:bodyPr>
          <a:lstStyle/>
          <a:p>
            <a:r>
              <a:rPr lang="en-US" dirty="0" smtClean="0"/>
              <a:t>40.0.0.2</a:t>
            </a:r>
            <a:endParaRPr lang="en-IN" dirty="0"/>
          </a:p>
        </p:txBody>
      </p:sp>
      <p:sp>
        <p:nvSpPr>
          <p:cNvPr id="59" name="TextBox 58"/>
          <p:cNvSpPr txBox="1"/>
          <p:nvPr/>
        </p:nvSpPr>
        <p:spPr>
          <a:xfrm>
            <a:off x="2336938" y="3005434"/>
            <a:ext cx="413896" cy="307777"/>
          </a:xfrm>
          <a:prstGeom prst="rect">
            <a:avLst/>
          </a:prstGeom>
          <a:noFill/>
        </p:spPr>
        <p:txBody>
          <a:bodyPr wrap="none" rtlCol="0">
            <a:spAutoFit/>
          </a:bodyPr>
          <a:lstStyle/>
          <a:p>
            <a:r>
              <a:rPr lang="en-US" b="1" dirty="0" smtClean="0"/>
              <a:t>R2</a:t>
            </a:r>
            <a:endParaRPr lang="en-IN" b="1" dirty="0"/>
          </a:p>
        </p:txBody>
      </p:sp>
      <p:sp>
        <p:nvSpPr>
          <p:cNvPr id="60" name="TextBox 59"/>
          <p:cNvSpPr txBox="1"/>
          <p:nvPr/>
        </p:nvSpPr>
        <p:spPr>
          <a:xfrm>
            <a:off x="1562100" y="4177953"/>
            <a:ext cx="413896" cy="307777"/>
          </a:xfrm>
          <a:prstGeom prst="rect">
            <a:avLst/>
          </a:prstGeom>
          <a:noFill/>
        </p:spPr>
        <p:txBody>
          <a:bodyPr wrap="none" rtlCol="0">
            <a:spAutoFit/>
          </a:bodyPr>
          <a:lstStyle/>
          <a:p>
            <a:r>
              <a:rPr lang="en-US" b="1" dirty="0" smtClean="0"/>
              <a:t>R3</a:t>
            </a:r>
            <a:endParaRPr lang="en-IN" b="1" dirty="0"/>
          </a:p>
        </p:txBody>
      </p:sp>
      <p:sp>
        <p:nvSpPr>
          <p:cNvPr id="61" name="TextBox 60"/>
          <p:cNvSpPr txBox="1"/>
          <p:nvPr/>
        </p:nvSpPr>
        <p:spPr>
          <a:xfrm>
            <a:off x="624646" y="4572000"/>
            <a:ext cx="1128835" cy="307777"/>
          </a:xfrm>
          <a:prstGeom prst="rect">
            <a:avLst/>
          </a:prstGeom>
          <a:noFill/>
        </p:spPr>
        <p:txBody>
          <a:bodyPr wrap="none" rtlCol="0">
            <a:spAutoFit/>
          </a:bodyPr>
          <a:lstStyle/>
          <a:p>
            <a:r>
              <a:rPr lang="en-US" dirty="0" smtClean="0"/>
              <a:t>192.168.1.1</a:t>
            </a:r>
            <a:endParaRPr lang="en-IN" dirty="0"/>
          </a:p>
        </p:txBody>
      </p:sp>
      <p:sp>
        <p:nvSpPr>
          <p:cNvPr id="62" name="TextBox 61"/>
          <p:cNvSpPr txBox="1"/>
          <p:nvPr/>
        </p:nvSpPr>
        <p:spPr>
          <a:xfrm>
            <a:off x="3348041" y="4151411"/>
            <a:ext cx="413896" cy="307777"/>
          </a:xfrm>
          <a:prstGeom prst="rect">
            <a:avLst/>
          </a:prstGeom>
          <a:noFill/>
        </p:spPr>
        <p:txBody>
          <a:bodyPr wrap="none" rtlCol="0">
            <a:spAutoFit/>
          </a:bodyPr>
          <a:lstStyle/>
          <a:p>
            <a:r>
              <a:rPr lang="en-US" b="1" dirty="0" smtClean="0"/>
              <a:t>R4</a:t>
            </a:r>
            <a:endParaRPr lang="en-IN" b="1" dirty="0"/>
          </a:p>
        </p:txBody>
      </p:sp>
      <p:sp>
        <p:nvSpPr>
          <p:cNvPr id="63" name="TextBox 62"/>
          <p:cNvSpPr txBox="1"/>
          <p:nvPr/>
        </p:nvSpPr>
        <p:spPr>
          <a:xfrm>
            <a:off x="6689151" y="3048436"/>
            <a:ext cx="413896" cy="307777"/>
          </a:xfrm>
          <a:prstGeom prst="rect">
            <a:avLst/>
          </a:prstGeom>
          <a:noFill/>
        </p:spPr>
        <p:txBody>
          <a:bodyPr wrap="none" rtlCol="0">
            <a:spAutoFit/>
          </a:bodyPr>
          <a:lstStyle/>
          <a:p>
            <a:r>
              <a:rPr lang="en-US" b="1" dirty="0" smtClean="0"/>
              <a:t>R5</a:t>
            </a:r>
            <a:endParaRPr lang="en-IN" b="1" dirty="0"/>
          </a:p>
        </p:txBody>
      </p:sp>
      <p:sp>
        <p:nvSpPr>
          <p:cNvPr id="64" name="TextBox 63"/>
          <p:cNvSpPr txBox="1"/>
          <p:nvPr/>
        </p:nvSpPr>
        <p:spPr>
          <a:xfrm>
            <a:off x="5598992" y="2990779"/>
            <a:ext cx="830677" cy="307777"/>
          </a:xfrm>
          <a:prstGeom prst="rect">
            <a:avLst/>
          </a:prstGeom>
          <a:noFill/>
        </p:spPr>
        <p:txBody>
          <a:bodyPr wrap="none" rtlCol="0">
            <a:spAutoFit/>
          </a:bodyPr>
          <a:lstStyle/>
          <a:p>
            <a:r>
              <a:rPr lang="en-US" dirty="0"/>
              <a:t>6</a:t>
            </a:r>
            <a:r>
              <a:rPr lang="en-US" dirty="0" smtClean="0"/>
              <a:t>0.0.0.1</a:t>
            </a:r>
            <a:endParaRPr lang="en-IN" dirty="0"/>
          </a:p>
        </p:txBody>
      </p:sp>
      <p:sp>
        <p:nvSpPr>
          <p:cNvPr id="65" name="TextBox 64"/>
          <p:cNvSpPr txBox="1"/>
          <p:nvPr/>
        </p:nvSpPr>
        <p:spPr>
          <a:xfrm>
            <a:off x="5299661" y="3784821"/>
            <a:ext cx="830677" cy="307777"/>
          </a:xfrm>
          <a:prstGeom prst="rect">
            <a:avLst/>
          </a:prstGeom>
          <a:noFill/>
        </p:spPr>
        <p:txBody>
          <a:bodyPr wrap="none" rtlCol="0">
            <a:spAutoFit/>
          </a:bodyPr>
          <a:lstStyle/>
          <a:p>
            <a:r>
              <a:rPr lang="en-US" dirty="0" smtClean="0"/>
              <a:t>60.0.0.2</a:t>
            </a:r>
            <a:endParaRPr lang="en-IN" dirty="0"/>
          </a:p>
        </p:txBody>
      </p:sp>
      <p:sp>
        <p:nvSpPr>
          <p:cNvPr id="66" name="TextBox 65"/>
          <p:cNvSpPr txBox="1"/>
          <p:nvPr/>
        </p:nvSpPr>
        <p:spPr>
          <a:xfrm>
            <a:off x="7400103" y="2979164"/>
            <a:ext cx="830677" cy="307777"/>
          </a:xfrm>
          <a:prstGeom prst="rect">
            <a:avLst/>
          </a:prstGeom>
          <a:noFill/>
        </p:spPr>
        <p:txBody>
          <a:bodyPr wrap="none" rtlCol="0">
            <a:spAutoFit/>
          </a:bodyPr>
          <a:lstStyle/>
          <a:p>
            <a:r>
              <a:rPr lang="en-US" dirty="0" smtClean="0"/>
              <a:t>80.0.0.1</a:t>
            </a:r>
            <a:endParaRPr lang="en-IN" dirty="0"/>
          </a:p>
        </p:txBody>
      </p:sp>
      <p:sp>
        <p:nvSpPr>
          <p:cNvPr id="67" name="TextBox 66"/>
          <p:cNvSpPr txBox="1"/>
          <p:nvPr/>
        </p:nvSpPr>
        <p:spPr>
          <a:xfrm>
            <a:off x="7720606" y="3744141"/>
            <a:ext cx="830677" cy="307777"/>
          </a:xfrm>
          <a:prstGeom prst="rect">
            <a:avLst/>
          </a:prstGeom>
          <a:noFill/>
        </p:spPr>
        <p:txBody>
          <a:bodyPr wrap="none" rtlCol="0">
            <a:spAutoFit/>
          </a:bodyPr>
          <a:lstStyle/>
          <a:p>
            <a:r>
              <a:rPr lang="en-US" dirty="0" smtClean="0"/>
              <a:t>80.0.0.2</a:t>
            </a:r>
            <a:endParaRPr lang="en-IN" dirty="0"/>
          </a:p>
        </p:txBody>
      </p:sp>
      <p:sp>
        <p:nvSpPr>
          <p:cNvPr id="68" name="TextBox 67"/>
          <p:cNvSpPr txBox="1"/>
          <p:nvPr/>
        </p:nvSpPr>
        <p:spPr>
          <a:xfrm>
            <a:off x="6065422" y="4563556"/>
            <a:ext cx="830677" cy="307777"/>
          </a:xfrm>
          <a:prstGeom prst="rect">
            <a:avLst/>
          </a:prstGeom>
          <a:noFill/>
        </p:spPr>
        <p:txBody>
          <a:bodyPr wrap="none" rtlCol="0">
            <a:spAutoFit/>
          </a:bodyPr>
          <a:lstStyle/>
          <a:p>
            <a:r>
              <a:rPr lang="en-US" dirty="0"/>
              <a:t>7</a:t>
            </a:r>
            <a:r>
              <a:rPr lang="en-US" dirty="0" smtClean="0"/>
              <a:t>0.0.0.1</a:t>
            </a:r>
            <a:endParaRPr lang="en-IN" dirty="0"/>
          </a:p>
        </p:txBody>
      </p:sp>
      <p:sp>
        <p:nvSpPr>
          <p:cNvPr id="69" name="TextBox 68"/>
          <p:cNvSpPr txBox="1"/>
          <p:nvPr/>
        </p:nvSpPr>
        <p:spPr>
          <a:xfrm>
            <a:off x="6969592" y="4537746"/>
            <a:ext cx="830677" cy="307777"/>
          </a:xfrm>
          <a:prstGeom prst="rect">
            <a:avLst/>
          </a:prstGeom>
          <a:noFill/>
        </p:spPr>
        <p:txBody>
          <a:bodyPr wrap="none" rtlCol="0">
            <a:spAutoFit/>
          </a:bodyPr>
          <a:lstStyle/>
          <a:p>
            <a:r>
              <a:rPr lang="en-US" dirty="0" smtClean="0"/>
              <a:t>70.0.0.2</a:t>
            </a:r>
            <a:endParaRPr lang="en-IN" dirty="0"/>
          </a:p>
        </p:txBody>
      </p:sp>
      <p:sp>
        <p:nvSpPr>
          <p:cNvPr id="70" name="TextBox 69"/>
          <p:cNvSpPr txBox="1"/>
          <p:nvPr/>
        </p:nvSpPr>
        <p:spPr>
          <a:xfrm>
            <a:off x="5804389" y="4238899"/>
            <a:ext cx="413896" cy="307777"/>
          </a:xfrm>
          <a:prstGeom prst="rect">
            <a:avLst/>
          </a:prstGeom>
          <a:noFill/>
        </p:spPr>
        <p:txBody>
          <a:bodyPr wrap="none" rtlCol="0">
            <a:spAutoFit/>
          </a:bodyPr>
          <a:lstStyle/>
          <a:p>
            <a:r>
              <a:rPr lang="en-US" b="1" dirty="0" smtClean="0"/>
              <a:t>R6</a:t>
            </a:r>
            <a:endParaRPr lang="en-IN" b="1" dirty="0"/>
          </a:p>
        </p:txBody>
      </p:sp>
      <p:sp>
        <p:nvSpPr>
          <p:cNvPr id="71" name="TextBox 70"/>
          <p:cNvSpPr txBox="1"/>
          <p:nvPr/>
        </p:nvSpPr>
        <p:spPr>
          <a:xfrm>
            <a:off x="7565451" y="4238898"/>
            <a:ext cx="413896" cy="307777"/>
          </a:xfrm>
          <a:prstGeom prst="rect">
            <a:avLst/>
          </a:prstGeom>
          <a:noFill/>
        </p:spPr>
        <p:txBody>
          <a:bodyPr wrap="none" rtlCol="0">
            <a:spAutoFit/>
          </a:bodyPr>
          <a:lstStyle/>
          <a:p>
            <a:r>
              <a:rPr lang="en-US" b="1" dirty="0" smtClean="0"/>
              <a:t>R7</a:t>
            </a:r>
            <a:endParaRPr lang="en-IN" b="1" dirty="0"/>
          </a:p>
        </p:txBody>
      </p:sp>
      <p:sp>
        <p:nvSpPr>
          <p:cNvPr id="72" name="TextBox 71"/>
          <p:cNvSpPr txBox="1"/>
          <p:nvPr/>
        </p:nvSpPr>
        <p:spPr>
          <a:xfrm>
            <a:off x="7800269" y="4670773"/>
            <a:ext cx="1128835" cy="307777"/>
          </a:xfrm>
          <a:prstGeom prst="rect">
            <a:avLst/>
          </a:prstGeom>
          <a:noFill/>
        </p:spPr>
        <p:txBody>
          <a:bodyPr wrap="none" rtlCol="0">
            <a:spAutoFit/>
          </a:bodyPr>
          <a:lstStyle/>
          <a:p>
            <a:r>
              <a:rPr lang="en-US" dirty="0" smtClean="0"/>
              <a:t>192.168.2.1</a:t>
            </a:r>
            <a:endParaRPr lang="en-IN" dirty="0"/>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112"/>
          <p:cNvSpPr txBox="1">
            <a:spLocks noGrp="1"/>
          </p:cNvSpPr>
          <p:nvPr>
            <p:ph type="body" idx="1"/>
          </p:nvPr>
        </p:nvSpPr>
        <p:spPr>
          <a:xfrm>
            <a:off x="457200" y="533400"/>
            <a:ext cx="8229600" cy="55927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b="1" dirty="0"/>
              <a:t>All router line up</a:t>
            </a:r>
            <a:endParaRPr b="1"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b="1" dirty="0"/>
              <a:t>R1:</a:t>
            </a:r>
            <a:endParaRPr b="1" dirty="0"/>
          </a:p>
          <a:p>
            <a:pPr marL="342900" lvl="0" indent="-342900" algn="l" rtl="0">
              <a:spcBef>
                <a:spcPts val="592"/>
              </a:spcBef>
              <a:spcAft>
                <a:spcPts val="0"/>
              </a:spcAft>
              <a:buClr>
                <a:schemeClr val="dk1"/>
              </a:buClr>
              <a:buSzPct val="100000"/>
              <a:buNone/>
            </a:pPr>
            <a:r>
              <a:rPr lang="en-US" dirty="0"/>
              <a:t>#router </a:t>
            </a:r>
            <a:r>
              <a:rPr lang="en-US" dirty="0" err="1"/>
              <a:t>ospf</a:t>
            </a:r>
            <a:r>
              <a:rPr lang="en-US" dirty="0"/>
              <a:t> 1</a:t>
            </a:r>
            <a:endParaRPr dirty="0"/>
          </a:p>
          <a:p>
            <a:pPr marL="342900" lvl="0" indent="-342900" algn="l" rtl="0">
              <a:spcBef>
                <a:spcPts val="592"/>
              </a:spcBef>
              <a:spcAft>
                <a:spcPts val="0"/>
              </a:spcAft>
              <a:buClr>
                <a:schemeClr val="dk1"/>
              </a:buClr>
              <a:buSzPct val="100000"/>
              <a:buNone/>
            </a:pPr>
            <a:r>
              <a:rPr lang="en-US" dirty="0"/>
              <a:t>#network 10.0.0.0  0.255.255.255 </a:t>
            </a:r>
            <a:r>
              <a:rPr lang="en-US" dirty="0" smtClean="0"/>
              <a:t>area 0 </a:t>
            </a:r>
            <a:endParaRPr dirty="0"/>
          </a:p>
          <a:p>
            <a:pPr marL="342900" lvl="0" indent="-342900" algn="l" rtl="0">
              <a:spcBef>
                <a:spcPts val="592"/>
              </a:spcBef>
              <a:spcAft>
                <a:spcPts val="0"/>
              </a:spcAft>
              <a:buClr>
                <a:schemeClr val="dk1"/>
              </a:buClr>
              <a:buSzPct val="100000"/>
              <a:buNone/>
            </a:pPr>
            <a:r>
              <a:rPr lang="en-US" dirty="0"/>
              <a:t>#network 20.0.0.0  0.255.255.255 </a:t>
            </a:r>
            <a:r>
              <a:rPr lang="en-US" dirty="0" smtClean="0"/>
              <a:t>area 0 </a:t>
            </a:r>
            <a:endParaRPr dirty="0"/>
          </a:p>
          <a:p>
            <a:pPr marL="342900" lvl="0" indent="-342900" algn="l" rtl="0">
              <a:spcBef>
                <a:spcPts val="592"/>
              </a:spcBef>
              <a:spcAft>
                <a:spcPts val="0"/>
              </a:spcAft>
              <a:buClr>
                <a:schemeClr val="dk1"/>
              </a:buClr>
              <a:buSzPct val="100000"/>
              <a:buNone/>
            </a:pPr>
            <a:r>
              <a:rPr lang="en-US" dirty="0"/>
              <a:t>R2:</a:t>
            </a:r>
            <a:endParaRPr dirty="0"/>
          </a:p>
          <a:p>
            <a:pPr marL="342900" lvl="0" indent="-342900" algn="l" rtl="0">
              <a:spcBef>
                <a:spcPts val="592"/>
              </a:spcBef>
              <a:spcAft>
                <a:spcPts val="0"/>
              </a:spcAft>
              <a:buClr>
                <a:schemeClr val="dk1"/>
              </a:buClr>
              <a:buSzPct val="100000"/>
              <a:buNone/>
            </a:pPr>
            <a:r>
              <a:rPr lang="en-US" dirty="0"/>
              <a:t>#router </a:t>
            </a:r>
            <a:r>
              <a:rPr lang="en-US" dirty="0" err="1"/>
              <a:t>ospf</a:t>
            </a:r>
            <a:r>
              <a:rPr lang="en-US" dirty="0"/>
              <a:t> 2</a:t>
            </a:r>
            <a:endParaRPr dirty="0"/>
          </a:p>
          <a:p>
            <a:pPr marL="342900" lvl="0" indent="-342900" algn="l" rtl="0">
              <a:spcBef>
                <a:spcPts val="592"/>
              </a:spcBef>
              <a:spcAft>
                <a:spcPts val="0"/>
              </a:spcAft>
              <a:buClr>
                <a:schemeClr val="dk1"/>
              </a:buClr>
              <a:buSzPct val="100000"/>
              <a:buNone/>
            </a:pPr>
            <a:r>
              <a:rPr lang="en-US" dirty="0"/>
              <a:t>#network 10.0.0.0 0.255.255.255 </a:t>
            </a:r>
            <a:r>
              <a:rPr lang="en-US" dirty="0" smtClean="0"/>
              <a:t>area 0</a:t>
            </a:r>
            <a:endParaRPr dirty="0"/>
          </a:p>
          <a:p>
            <a:pPr marL="342900" lvl="0" indent="-342900" algn="l" rtl="0">
              <a:spcBef>
                <a:spcPts val="592"/>
              </a:spcBef>
              <a:spcAft>
                <a:spcPts val="0"/>
              </a:spcAft>
              <a:buClr>
                <a:schemeClr val="dk1"/>
              </a:buClr>
              <a:buSzPct val="100000"/>
              <a:buNone/>
            </a:pPr>
            <a:r>
              <a:rPr lang="en-US" dirty="0"/>
              <a:t>#network 30.0.0.0  0.255.255.255 </a:t>
            </a:r>
            <a:r>
              <a:rPr lang="en-US" dirty="0" smtClean="0"/>
              <a:t>area 1 </a:t>
            </a:r>
            <a:endParaRPr dirty="0"/>
          </a:p>
          <a:p>
            <a:pPr marL="342900" lvl="0" indent="-342900" algn="l" rtl="0">
              <a:spcBef>
                <a:spcPts val="592"/>
              </a:spcBef>
              <a:spcAft>
                <a:spcPts val="0"/>
              </a:spcAft>
              <a:buClr>
                <a:schemeClr val="dk1"/>
              </a:buClr>
              <a:buSzPct val="100000"/>
              <a:buNone/>
            </a:pPr>
            <a:r>
              <a:rPr lang="en-US" dirty="0"/>
              <a:t>#network 50.0.0.0  0.255.255.255 </a:t>
            </a:r>
            <a:r>
              <a:rPr lang="en-US" dirty="0" smtClean="0"/>
              <a:t>area 1</a:t>
            </a:r>
            <a:endParaRPr dirty="0"/>
          </a:p>
          <a:p>
            <a:pPr marL="342900" lvl="0" indent="-342900" algn="l" rtl="0">
              <a:spcBef>
                <a:spcPts val="592"/>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113"/>
          <p:cNvSpPr txBox="1">
            <a:spLocks noGrp="1"/>
          </p:cNvSpPr>
          <p:nvPr>
            <p:ph type="body" idx="1"/>
          </p:nvPr>
        </p:nvSpPr>
        <p:spPr>
          <a:xfrm>
            <a:off x="457200" y="381000"/>
            <a:ext cx="8229600" cy="57451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dirty="0"/>
              <a:t>R3:</a:t>
            </a:r>
            <a:endParaRPr dirty="0"/>
          </a:p>
          <a:p>
            <a:pPr marL="342900" lvl="0" indent="-342900" algn="l" rtl="0">
              <a:spcBef>
                <a:spcPts val="640"/>
              </a:spcBef>
              <a:spcAft>
                <a:spcPts val="0"/>
              </a:spcAft>
              <a:buClr>
                <a:schemeClr val="dk1"/>
              </a:buClr>
              <a:buSzPts val="3200"/>
              <a:buNone/>
            </a:pPr>
            <a:r>
              <a:rPr lang="en-US" dirty="0"/>
              <a:t>#router </a:t>
            </a:r>
            <a:r>
              <a:rPr lang="en-US" dirty="0" err="1"/>
              <a:t>ospf</a:t>
            </a:r>
            <a:r>
              <a:rPr lang="en-US" dirty="0"/>
              <a:t> 3</a:t>
            </a:r>
            <a:endParaRPr dirty="0"/>
          </a:p>
          <a:p>
            <a:pPr marL="342900" lvl="0" indent="-342900" algn="l" rtl="0">
              <a:spcBef>
                <a:spcPts val="640"/>
              </a:spcBef>
              <a:spcAft>
                <a:spcPts val="0"/>
              </a:spcAft>
              <a:buClr>
                <a:schemeClr val="dk1"/>
              </a:buClr>
              <a:buSzPts val="3200"/>
              <a:buNone/>
            </a:pPr>
            <a:r>
              <a:rPr lang="en-US" dirty="0"/>
              <a:t>#network </a:t>
            </a:r>
            <a:r>
              <a:rPr lang="en-US" dirty="0" smtClean="0"/>
              <a:t>192.168.1.0   </a:t>
            </a:r>
            <a:r>
              <a:rPr lang="en-US" dirty="0"/>
              <a:t>0.0.0.255   </a:t>
            </a:r>
            <a:r>
              <a:rPr lang="en-US" dirty="0" smtClean="0"/>
              <a:t>area 1</a:t>
            </a:r>
            <a:endParaRPr dirty="0"/>
          </a:p>
          <a:p>
            <a:pPr marL="342900" lvl="0" indent="-342900" algn="l" rtl="0">
              <a:spcBef>
                <a:spcPts val="640"/>
              </a:spcBef>
              <a:spcAft>
                <a:spcPts val="0"/>
              </a:spcAft>
              <a:buClr>
                <a:schemeClr val="dk1"/>
              </a:buClr>
              <a:buSzPts val="3200"/>
              <a:buNone/>
            </a:pPr>
            <a:r>
              <a:rPr lang="en-US" dirty="0"/>
              <a:t>#network 30.0.0.0   0.255.255.255  </a:t>
            </a:r>
            <a:r>
              <a:rPr lang="en-US" dirty="0" smtClean="0"/>
              <a:t>area 1 </a:t>
            </a:r>
            <a:endParaRPr dirty="0"/>
          </a:p>
          <a:p>
            <a:pPr marL="342900" lvl="0" indent="-342900" algn="l" rtl="0">
              <a:spcBef>
                <a:spcPts val="640"/>
              </a:spcBef>
              <a:spcAft>
                <a:spcPts val="0"/>
              </a:spcAft>
              <a:buClr>
                <a:schemeClr val="dk1"/>
              </a:buClr>
              <a:buSzPts val="3200"/>
              <a:buNone/>
            </a:pPr>
            <a:r>
              <a:rPr lang="en-US" dirty="0"/>
              <a:t>#network 40.0.0.0   0.255.255.255  </a:t>
            </a:r>
            <a:r>
              <a:rPr lang="en-US" dirty="0" smtClean="0"/>
              <a:t>area 1</a:t>
            </a:r>
            <a:endParaRPr dirty="0"/>
          </a:p>
          <a:p>
            <a:pPr marL="342900" lvl="0" indent="-342900" algn="l" rtl="0">
              <a:spcBef>
                <a:spcPts val="640"/>
              </a:spcBef>
              <a:spcAft>
                <a:spcPts val="0"/>
              </a:spcAft>
              <a:buClr>
                <a:schemeClr val="dk1"/>
              </a:buClr>
              <a:buSzPts val="3200"/>
              <a:buNone/>
            </a:pPr>
            <a:r>
              <a:rPr lang="en-US" dirty="0"/>
              <a:t>R4:</a:t>
            </a:r>
            <a:endParaRPr dirty="0"/>
          </a:p>
          <a:p>
            <a:pPr marL="342900" lvl="0" indent="-342900" algn="l" rtl="0">
              <a:spcBef>
                <a:spcPts val="640"/>
              </a:spcBef>
              <a:spcAft>
                <a:spcPts val="0"/>
              </a:spcAft>
              <a:buClr>
                <a:schemeClr val="dk1"/>
              </a:buClr>
              <a:buSzPts val="3200"/>
              <a:buNone/>
            </a:pPr>
            <a:r>
              <a:rPr lang="en-US" dirty="0"/>
              <a:t>#router </a:t>
            </a:r>
            <a:r>
              <a:rPr lang="en-US" dirty="0" err="1"/>
              <a:t>ospf</a:t>
            </a:r>
            <a:r>
              <a:rPr lang="en-US" dirty="0"/>
              <a:t> 4</a:t>
            </a:r>
            <a:endParaRPr dirty="0"/>
          </a:p>
          <a:p>
            <a:pPr marL="342900" lvl="0" indent="-342900" algn="l" rtl="0">
              <a:spcBef>
                <a:spcPts val="640"/>
              </a:spcBef>
              <a:spcAft>
                <a:spcPts val="0"/>
              </a:spcAft>
              <a:buClr>
                <a:schemeClr val="dk1"/>
              </a:buClr>
              <a:buSzPts val="3200"/>
              <a:buNone/>
            </a:pPr>
            <a:r>
              <a:rPr lang="en-US" dirty="0"/>
              <a:t>#network 40.0.0.0  0.255.255.255 </a:t>
            </a:r>
            <a:r>
              <a:rPr lang="en-US" dirty="0" smtClean="0"/>
              <a:t>area 1 </a:t>
            </a:r>
            <a:endParaRPr dirty="0"/>
          </a:p>
          <a:p>
            <a:pPr marL="342900" lvl="0" indent="-342900" algn="l" rtl="0">
              <a:spcBef>
                <a:spcPts val="640"/>
              </a:spcBef>
              <a:spcAft>
                <a:spcPts val="0"/>
              </a:spcAft>
              <a:buClr>
                <a:schemeClr val="dk1"/>
              </a:buClr>
              <a:buSzPts val="3200"/>
              <a:buNone/>
            </a:pPr>
            <a:r>
              <a:rPr lang="en-US" dirty="0"/>
              <a:t>#network 50.0.0.0  0.255.255.255 </a:t>
            </a:r>
            <a:r>
              <a:rPr lang="en-US" dirty="0" smtClean="0"/>
              <a:t>area 1</a:t>
            </a:r>
            <a:endParaRPr dirty="0"/>
          </a:p>
          <a:p>
            <a:pPr marL="342900" lvl="0" indent="-342900" algn="l" rtl="0">
              <a:spcBef>
                <a:spcPts val="64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114"/>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dirty="0"/>
              <a:t>R5:</a:t>
            </a:r>
            <a:endParaRPr dirty="0"/>
          </a:p>
          <a:p>
            <a:pPr marL="342900" lvl="0" indent="-342900" algn="l" rtl="0">
              <a:spcBef>
                <a:spcPts val="640"/>
              </a:spcBef>
              <a:spcAft>
                <a:spcPts val="0"/>
              </a:spcAft>
              <a:buClr>
                <a:schemeClr val="dk1"/>
              </a:buClr>
              <a:buSzPts val="3200"/>
              <a:buNone/>
            </a:pPr>
            <a:r>
              <a:rPr lang="en-US" dirty="0"/>
              <a:t>#router </a:t>
            </a:r>
            <a:r>
              <a:rPr lang="en-US" dirty="0" err="1"/>
              <a:t>ospf</a:t>
            </a:r>
            <a:r>
              <a:rPr lang="en-US" dirty="0"/>
              <a:t> 5</a:t>
            </a:r>
            <a:endParaRPr dirty="0"/>
          </a:p>
          <a:p>
            <a:pPr marL="342900" lvl="0" indent="-342900" algn="l" rtl="0">
              <a:spcBef>
                <a:spcPts val="640"/>
              </a:spcBef>
              <a:spcAft>
                <a:spcPts val="0"/>
              </a:spcAft>
              <a:buClr>
                <a:schemeClr val="dk1"/>
              </a:buClr>
              <a:buSzPts val="3200"/>
              <a:buNone/>
            </a:pPr>
            <a:r>
              <a:rPr lang="en-US" dirty="0"/>
              <a:t>#network 20.0.0.0 0.255.255.255  </a:t>
            </a:r>
            <a:r>
              <a:rPr lang="en-US" dirty="0" smtClean="0"/>
              <a:t>area 0</a:t>
            </a:r>
            <a:endParaRPr dirty="0"/>
          </a:p>
          <a:p>
            <a:pPr marL="342900" lvl="0" indent="-342900" algn="l" rtl="0">
              <a:spcBef>
                <a:spcPts val="640"/>
              </a:spcBef>
              <a:spcAft>
                <a:spcPts val="0"/>
              </a:spcAft>
              <a:buClr>
                <a:schemeClr val="dk1"/>
              </a:buClr>
              <a:buSzPts val="3200"/>
              <a:buNone/>
            </a:pPr>
            <a:r>
              <a:rPr lang="en-US" dirty="0"/>
              <a:t>#network 60.0.0.0  0.255.255.255  </a:t>
            </a:r>
            <a:r>
              <a:rPr lang="en-US" dirty="0" smtClean="0"/>
              <a:t>area 2 </a:t>
            </a:r>
            <a:endParaRPr dirty="0"/>
          </a:p>
          <a:p>
            <a:pPr marL="342900" lvl="0" indent="-342900" algn="l" rtl="0">
              <a:spcBef>
                <a:spcPts val="640"/>
              </a:spcBef>
              <a:spcAft>
                <a:spcPts val="0"/>
              </a:spcAft>
              <a:buClr>
                <a:schemeClr val="dk1"/>
              </a:buClr>
              <a:buSzPts val="3200"/>
              <a:buNone/>
            </a:pPr>
            <a:r>
              <a:rPr lang="en-US" dirty="0"/>
              <a:t>#network 80.0.0.0  0.255.255.255  </a:t>
            </a:r>
            <a:r>
              <a:rPr lang="en-US" dirty="0" smtClean="0"/>
              <a:t>area 2</a:t>
            </a: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r>
              <a:rPr lang="en-US" dirty="0"/>
              <a:t>R6:</a:t>
            </a:r>
            <a:endParaRPr dirty="0"/>
          </a:p>
          <a:p>
            <a:pPr marL="342900" lvl="0" indent="-342900" algn="l" rtl="0">
              <a:spcBef>
                <a:spcPts val="640"/>
              </a:spcBef>
              <a:spcAft>
                <a:spcPts val="0"/>
              </a:spcAft>
              <a:buClr>
                <a:schemeClr val="dk1"/>
              </a:buClr>
              <a:buSzPts val="3200"/>
              <a:buNone/>
            </a:pPr>
            <a:r>
              <a:rPr lang="en-US" dirty="0"/>
              <a:t>#router </a:t>
            </a:r>
            <a:r>
              <a:rPr lang="en-US" dirty="0" err="1"/>
              <a:t>ospf</a:t>
            </a:r>
            <a:r>
              <a:rPr lang="en-US" dirty="0"/>
              <a:t> 6</a:t>
            </a:r>
            <a:endParaRPr dirty="0"/>
          </a:p>
          <a:p>
            <a:pPr marL="342900" lvl="0" indent="-342900" algn="l" rtl="0">
              <a:spcBef>
                <a:spcPts val="640"/>
              </a:spcBef>
              <a:spcAft>
                <a:spcPts val="0"/>
              </a:spcAft>
              <a:buClr>
                <a:schemeClr val="dk1"/>
              </a:buClr>
              <a:buSzPts val="3200"/>
              <a:buNone/>
            </a:pPr>
            <a:r>
              <a:rPr lang="en-US" dirty="0"/>
              <a:t>#network 60.0.0.0  0.255.255.255 </a:t>
            </a:r>
            <a:r>
              <a:rPr lang="en-US" dirty="0" smtClean="0"/>
              <a:t>area 2</a:t>
            </a:r>
            <a:endParaRPr dirty="0"/>
          </a:p>
          <a:p>
            <a:pPr marL="342900" lvl="0" indent="-342900" algn="l" rtl="0">
              <a:spcBef>
                <a:spcPts val="640"/>
              </a:spcBef>
              <a:spcAft>
                <a:spcPts val="0"/>
              </a:spcAft>
              <a:buClr>
                <a:schemeClr val="dk1"/>
              </a:buClr>
              <a:buSzPts val="3200"/>
              <a:buNone/>
            </a:pPr>
            <a:r>
              <a:rPr lang="en-US" dirty="0"/>
              <a:t>#network 70.0.0.0  0.255.255.255 </a:t>
            </a:r>
            <a:r>
              <a:rPr lang="en-US" dirty="0" smtClean="0"/>
              <a:t>area 2</a:t>
            </a: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dirty="0"/>
              <a:t>R7:</a:t>
            </a:r>
            <a:endParaRPr dirty="0"/>
          </a:p>
          <a:p>
            <a:pPr marL="342900" lvl="0" indent="-342900" algn="l" rtl="0">
              <a:spcBef>
                <a:spcPts val="640"/>
              </a:spcBef>
              <a:spcAft>
                <a:spcPts val="0"/>
              </a:spcAft>
              <a:buClr>
                <a:schemeClr val="dk1"/>
              </a:buClr>
              <a:buSzPts val="3200"/>
              <a:buNone/>
            </a:pPr>
            <a:r>
              <a:rPr lang="en-US" dirty="0"/>
              <a:t>#router </a:t>
            </a:r>
            <a:r>
              <a:rPr lang="en-US" dirty="0" err="1"/>
              <a:t>ospf</a:t>
            </a:r>
            <a:r>
              <a:rPr lang="en-US" dirty="0"/>
              <a:t> 7</a:t>
            </a:r>
            <a:endParaRPr dirty="0"/>
          </a:p>
          <a:p>
            <a:pPr marL="342900" lvl="0" indent="-342900" algn="l" rtl="0">
              <a:spcBef>
                <a:spcPts val="640"/>
              </a:spcBef>
              <a:spcAft>
                <a:spcPts val="0"/>
              </a:spcAft>
              <a:buClr>
                <a:schemeClr val="dk1"/>
              </a:buClr>
              <a:buSzPts val="3200"/>
              <a:buNone/>
            </a:pPr>
            <a:r>
              <a:rPr lang="en-US" dirty="0"/>
              <a:t>#network </a:t>
            </a:r>
            <a:r>
              <a:rPr lang="en-US" dirty="0" smtClean="0"/>
              <a:t>192.168.2.0  </a:t>
            </a:r>
            <a:r>
              <a:rPr lang="en-US" dirty="0"/>
              <a:t>0.0.0.255 </a:t>
            </a:r>
            <a:r>
              <a:rPr lang="en-US" dirty="0" smtClean="0"/>
              <a:t>area 2</a:t>
            </a:r>
            <a:endParaRPr dirty="0"/>
          </a:p>
          <a:p>
            <a:pPr marL="342900" lvl="0" indent="-342900" algn="l" rtl="0">
              <a:spcBef>
                <a:spcPts val="640"/>
              </a:spcBef>
              <a:spcAft>
                <a:spcPts val="0"/>
              </a:spcAft>
              <a:buClr>
                <a:schemeClr val="dk1"/>
              </a:buClr>
              <a:buSzPts val="3200"/>
              <a:buNone/>
            </a:pPr>
            <a:r>
              <a:rPr lang="en-US" dirty="0"/>
              <a:t>#network 70.0.0.0  0.255.255.255 </a:t>
            </a:r>
            <a:r>
              <a:rPr lang="en-US" dirty="0" smtClean="0"/>
              <a:t>area 2</a:t>
            </a:r>
            <a:endParaRPr dirty="0"/>
          </a:p>
          <a:p>
            <a:pPr marL="342900" lvl="0" indent="-342900" algn="l" rtl="0">
              <a:spcBef>
                <a:spcPts val="640"/>
              </a:spcBef>
              <a:spcAft>
                <a:spcPts val="0"/>
              </a:spcAft>
              <a:buClr>
                <a:schemeClr val="dk1"/>
              </a:buClr>
              <a:buSzPts val="3200"/>
              <a:buNone/>
            </a:pPr>
            <a:r>
              <a:rPr lang="en-US" dirty="0"/>
              <a:t>#network 80.0.0.0  0.255.255.255 </a:t>
            </a:r>
            <a:r>
              <a:rPr lang="en-US" dirty="0" smtClean="0"/>
              <a:t>area 2</a:t>
            </a:r>
            <a:endParaRPr dirty="0"/>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934"/>
        <p:cNvGrpSpPr/>
        <p:nvPr/>
      </p:nvGrpSpPr>
      <p:grpSpPr>
        <a:xfrm>
          <a:off x="0" y="0"/>
          <a:ext cx="0" cy="0"/>
          <a:chOff x="0" y="0"/>
          <a:chExt cx="0" cy="0"/>
        </a:xfrm>
      </p:grpSpPr>
      <p:sp>
        <p:nvSpPr>
          <p:cNvPr id="935" name="Google Shape;935;p116"/>
          <p:cNvSpPr txBox="1">
            <a:spLocks noGrp="1"/>
          </p:cNvSpPr>
          <p:nvPr>
            <p:ph type="subTitle" idx="1"/>
          </p:nvPr>
        </p:nvSpPr>
        <p:spPr>
          <a:xfrm>
            <a:off x="611505" y="489585"/>
            <a:ext cx="8245475" cy="6368415"/>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r>
              <a:rPr lang="en-US" sz="2400" b="1" u="sng" dirty="0">
                <a:solidFill>
                  <a:schemeClr val="dk1"/>
                </a:solidFill>
              </a:rPr>
              <a:t>IS-IS ( Intermediate </a:t>
            </a:r>
            <a:r>
              <a:rPr lang="en-US" sz="2400" b="1" u="sng" dirty="0" smtClean="0">
                <a:solidFill>
                  <a:schemeClr val="dk1"/>
                </a:solidFill>
              </a:rPr>
              <a:t>system To Intermediate </a:t>
            </a:r>
            <a:r>
              <a:rPr lang="en-US" sz="2400" b="1" u="sng" dirty="0">
                <a:solidFill>
                  <a:schemeClr val="dk1"/>
                </a:solidFill>
              </a:rPr>
              <a:t>system)</a:t>
            </a:r>
            <a:endParaRPr dirty="0"/>
          </a:p>
          <a:p>
            <a:pPr marL="342900" lvl="0" indent="-342900" algn="l" rtl="0">
              <a:spcBef>
                <a:spcPts val="480"/>
              </a:spcBef>
              <a:spcAft>
                <a:spcPts val="0"/>
              </a:spcAft>
              <a:buClr>
                <a:schemeClr val="dk1"/>
              </a:buClr>
              <a:buSzPts val="2400"/>
              <a:buFont typeface="Noto Sans Symbols"/>
              <a:buChar char="❖"/>
            </a:pPr>
            <a:r>
              <a:rPr lang="en-US" sz="2400" dirty="0">
                <a:solidFill>
                  <a:schemeClr val="dk1"/>
                </a:solidFill>
              </a:rPr>
              <a:t>The IS-IS protocol is an </a:t>
            </a:r>
            <a:r>
              <a:rPr lang="en-US" sz="2400" dirty="0" smtClean="0">
                <a:solidFill>
                  <a:schemeClr val="dk1"/>
                </a:solidFill>
              </a:rPr>
              <a:t>Interior Gateway Protocol </a:t>
            </a:r>
            <a:r>
              <a:rPr lang="en-US" sz="2400" dirty="0">
                <a:solidFill>
                  <a:schemeClr val="dk1"/>
                </a:solidFill>
              </a:rPr>
              <a:t>(IGP) that uses link-state information to make routing decisions.</a:t>
            </a:r>
            <a:endParaRPr dirty="0"/>
          </a:p>
          <a:p>
            <a:pPr marL="342900" lvl="0" indent="-190500" algn="l" rtl="0">
              <a:spcBef>
                <a:spcPts val="480"/>
              </a:spcBef>
              <a:spcAft>
                <a:spcPts val="0"/>
              </a:spcAft>
              <a:buClr>
                <a:srgbClr val="888888"/>
              </a:buClr>
              <a:buSzPts val="2400"/>
              <a:buFont typeface="Noto Sans Symbols"/>
              <a:buNone/>
            </a:pPr>
            <a:endParaRPr sz="2400" dirty="0">
              <a:solidFill>
                <a:schemeClr val="dk1"/>
              </a:solidFill>
            </a:endParaRPr>
          </a:p>
          <a:p>
            <a:pPr marL="342900" lvl="0" indent="-342900" algn="l" rtl="0">
              <a:spcBef>
                <a:spcPts val="480"/>
              </a:spcBef>
              <a:spcAft>
                <a:spcPts val="0"/>
              </a:spcAft>
              <a:buClr>
                <a:schemeClr val="dk1"/>
              </a:buClr>
              <a:buSzPts val="2400"/>
              <a:buFont typeface="Noto Sans Symbols"/>
              <a:buChar char="❖"/>
            </a:pPr>
            <a:r>
              <a:rPr lang="en-US" sz="2400" dirty="0">
                <a:solidFill>
                  <a:schemeClr val="dk1"/>
                </a:solidFill>
              </a:rPr>
              <a:t>IS-IS is a link-state IGP that uses the shortest-path-first (SPF) algorithm to determine routes.</a:t>
            </a:r>
            <a:endParaRPr dirty="0"/>
          </a:p>
          <a:p>
            <a:pPr marL="0" lvl="0" indent="0" algn="l" rtl="0">
              <a:spcBef>
                <a:spcPts val="480"/>
              </a:spcBef>
              <a:spcAft>
                <a:spcPts val="0"/>
              </a:spcAft>
              <a:buClr>
                <a:srgbClr val="888888"/>
              </a:buClr>
              <a:buSzPts val="2400"/>
              <a:buFont typeface="Noto Sans Symbols"/>
              <a:buNone/>
            </a:pPr>
            <a:endParaRPr sz="2400" dirty="0">
              <a:solidFill>
                <a:schemeClr val="dk1"/>
              </a:solidFill>
            </a:endParaRPr>
          </a:p>
          <a:p>
            <a:pPr marL="0" lvl="0" indent="0" algn="l" rtl="0">
              <a:spcBef>
                <a:spcPts val="480"/>
              </a:spcBef>
              <a:spcAft>
                <a:spcPts val="0"/>
              </a:spcAft>
              <a:buClr>
                <a:schemeClr val="dk1"/>
              </a:buClr>
              <a:buSzPts val="2400"/>
              <a:buFont typeface="Noto Sans Symbols"/>
              <a:buNone/>
            </a:pPr>
            <a:r>
              <a:rPr lang="en-US" sz="2400" b="1" u="sng" dirty="0">
                <a:solidFill>
                  <a:schemeClr val="dk1"/>
                </a:solidFill>
              </a:rPr>
              <a:t>EGP (Exterior Gateway Protocol)   </a:t>
            </a:r>
            <a:endParaRPr dirty="0"/>
          </a:p>
          <a:p>
            <a:pPr marL="0" lvl="0" indent="0" algn="l" rtl="0">
              <a:spcBef>
                <a:spcPts val="480"/>
              </a:spcBef>
              <a:spcAft>
                <a:spcPts val="0"/>
              </a:spcAft>
              <a:buClr>
                <a:schemeClr val="dk1"/>
              </a:buClr>
              <a:buSzPts val="2400"/>
              <a:buFont typeface="Noto Sans Symbols"/>
              <a:buNone/>
            </a:pPr>
            <a:r>
              <a:rPr lang="en-US" sz="2400" dirty="0">
                <a:solidFill>
                  <a:schemeClr val="dk1"/>
                </a:solidFill>
              </a:rPr>
              <a:t>             EGP is a routing protocols used for exchanging routing table between different autonomous system</a:t>
            </a:r>
            <a:r>
              <a:rPr lang="en-US" sz="2400" dirty="0" smtClean="0">
                <a:solidFill>
                  <a:schemeClr val="dk1"/>
                </a:solidFill>
              </a:rPr>
              <a:t>.</a:t>
            </a:r>
            <a:endParaRPr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pic>
        <p:nvPicPr>
          <p:cNvPr id="940" name="Google Shape;940;p117" descr="hq720.jpg"/>
          <p:cNvPicPr preferRelativeResize="0">
            <a:picLocks noGrp="1"/>
          </p:cNvPicPr>
          <p:nvPr>
            <p:ph type="body" idx="1"/>
          </p:nvPr>
        </p:nvPicPr>
        <p:blipFill rotWithShape="1">
          <a:blip r:embed="rId3">
            <a:alphaModFix/>
          </a:blip>
          <a:srcRect/>
          <a:stretch/>
        </p:blipFill>
        <p:spPr>
          <a:xfrm>
            <a:off x="1304924" y="1143000"/>
            <a:ext cx="7077075" cy="4724400"/>
          </a:xfrm>
          <a:prstGeom prst="rect">
            <a:avLst/>
          </a:prstGeom>
          <a:noFill/>
          <a:ln>
            <a:noFill/>
          </a:ln>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72956" y="177421"/>
            <a:ext cx="8871044" cy="6537278"/>
          </a:xfrm>
        </p:spPr>
        <p:txBody>
          <a:bodyPr>
            <a:normAutofit fontScale="70000" lnSpcReduction="20000"/>
          </a:bodyPr>
          <a:lstStyle/>
          <a:p>
            <a:pPr marL="0" lvl="0" indent="0" algn="l">
              <a:spcBef>
                <a:spcPts val="480"/>
              </a:spcBef>
              <a:buClr>
                <a:schemeClr val="dk1"/>
              </a:buClr>
              <a:buSzPts val="2400"/>
            </a:pPr>
            <a:r>
              <a:rPr lang="en-US" b="1" u="sng" dirty="0">
                <a:solidFill>
                  <a:schemeClr val="dk1"/>
                </a:solidFill>
              </a:rPr>
              <a:t>Path vector :</a:t>
            </a:r>
            <a:endParaRPr lang="en-US" dirty="0"/>
          </a:p>
          <a:p>
            <a:pPr marL="0" lvl="0" indent="0" algn="l">
              <a:spcBef>
                <a:spcPts val="480"/>
              </a:spcBef>
              <a:buClr>
                <a:schemeClr val="dk1"/>
              </a:buClr>
              <a:buSzPts val="2400"/>
            </a:pPr>
            <a:r>
              <a:rPr lang="en-US" dirty="0" smtClean="0">
                <a:solidFill>
                  <a:schemeClr val="dk1"/>
                </a:solidFill>
              </a:rPr>
              <a:t>A </a:t>
            </a:r>
            <a:r>
              <a:rPr lang="en-US" dirty="0">
                <a:solidFill>
                  <a:schemeClr val="dk1"/>
                </a:solidFill>
              </a:rPr>
              <a:t>path vector protocols is essentially a distance vector protocols that does not reply on the distance to destination to  a loop free path  but instead relies in the analysis of the path </a:t>
            </a:r>
            <a:r>
              <a:rPr lang="en-US" dirty="0" smtClean="0">
                <a:solidFill>
                  <a:schemeClr val="dk1"/>
                </a:solidFill>
              </a:rPr>
              <a:t>itself</a:t>
            </a:r>
            <a:r>
              <a:rPr lang="en-US" dirty="0">
                <a:solidFill>
                  <a:schemeClr val="dk1"/>
                </a:solidFill>
              </a:rPr>
              <a:t>. Unlike distance-vector and link-state routing, it doesn't focus on the "least cost" path but allows source nodes to select paths based on policies and security. The Border Gateway Protocol (BGP) is the primary example of a path-vector protocol used on the internet today. </a:t>
            </a:r>
            <a:endParaRPr lang="en-US" dirty="0" smtClean="0">
              <a:solidFill>
                <a:schemeClr val="dk1"/>
              </a:solidFill>
            </a:endParaRPr>
          </a:p>
          <a:p>
            <a:pPr marL="0" lvl="0" indent="0" algn="l">
              <a:spcBef>
                <a:spcPts val="480"/>
              </a:spcBef>
              <a:buClr>
                <a:schemeClr val="dk1"/>
              </a:buClr>
              <a:buSzPts val="2400"/>
            </a:pPr>
            <a:r>
              <a:rPr lang="en-US" b="1" dirty="0">
                <a:solidFill>
                  <a:schemeClr val="dk1"/>
                </a:solidFill>
              </a:rPr>
              <a:t>How Path-Vector Routing Works</a:t>
            </a:r>
          </a:p>
          <a:p>
            <a:pPr marL="0" lvl="0" indent="0" algn="l">
              <a:spcBef>
                <a:spcPts val="480"/>
              </a:spcBef>
              <a:buClr>
                <a:schemeClr val="dk1"/>
              </a:buClr>
              <a:buSzPts val="2400"/>
            </a:pPr>
            <a:r>
              <a:rPr lang="en-US" b="1" dirty="0">
                <a:solidFill>
                  <a:schemeClr val="dk1"/>
                </a:solidFill>
              </a:rPr>
              <a:t>Path Vector Creation: </a:t>
            </a:r>
            <a:r>
              <a:rPr lang="en-US" dirty="0">
                <a:solidFill>
                  <a:schemeClr val="dk1"/>
                </a:solidFill>
              </a:rPr>
              <a:t>When a router boots, it creates a path vector containing details of the path to a destination. </a:t>
            </a:r>
          </a:p>
          <a:p>
            <a:pPr marL="0" lvl="0" indent="0" algn="l">
              <a:spcBef>
                <a:spcPts val="480"/>
              </a:spcBef>
              <a:buClr>
                <a:schemeClr val="dk1"/>
              </a:buClr>
              <a:buSzPts val="2400"/>
            </a:pPr>
            <a:r>
              <a:rPr lang="en-US" dirty="0">
                <a:solidFill>
                  <a:schemeClr val="dk1"/>
                </a:solidFill>
              </a:rPr>
              <a:t>Information Sharing: Routers share these path vectors with neighboring routers. </a:t>
            </a:r>
          </a:p>
          <a:p>
            <a:pPr marL="0" lvl="0" indent="0" algn="l">
              <a:spcBef>
                <a:spcPts val="480"/>
              </a:spcBef>
              <a:buClr>
                <a:schemeClr val="dk1"/>
              </a:buClr>
              <a:buSzPts val="2400"/>
            </a:pPr>
            <a:r>
              <a:rPr lang="en-US" b="1" dirty="0">
                <a:solidFill>
                  <a:schemeClr val="dk1"/>
                </a:solidFill>
              </a:rPr>
              <a:t>Loop Prevention</a:t>
            </a:r>
            <a:r>
              <a:rPr lang="en-US" dirty="0">
                <a:solidFill>
                  <a:schemeClr val="dk1"/>
                </a:solidFill>
              </a:rPr>
              <a:t>: A router receiving a path vector checks if its own Autonomous System (AS) number is already present in the path. If it is, a loop is detected, and the message is ignored. </a:t>
            </a:r>
          </a:p>
          <a:p>
            <a:pPr marL="0" lvl="0" indent="0" algn="l">
              <a:spcBef>
                <a:spcPts val="480"/>
              </a:spcBef>
              <a:buClr>
                <a:schemeClr val="dk1"/>
              </a:buClr>
              <a:buSzPts val="2400"/>
            </a:pPr>
            <a:r>
              <a:rPr lang="en-US" b="1" dirty="0">
                <a:solidFill>
                  <a:schemeClr val="dk1"/>
                </a:solidFill>
              </a:rPr>
              <a:t>Policy-Based Routing: </a:t>
            </a:r>
            <a:r>
              <a:rPr lang="en-US" dirty="0">
                <a:solidFill>
                  <a:schemeClr val="dk1"/>
                </a:solidFill>
              </a:rPr>
              <a:t>Routers can enforce policies by checking the path vector for specific AS numbers and dropping messages that violate these policies, preventing them from being forwarded. </a:t>
            </a:r>
          </a:p>
        </p:txBody>
      </p:sp>
    </p:spTree>
    <p:extLst>
      <p:ext uri="{BB962C8B-B14F-4D97-AF65-F5344CB8AC3E}">
        <p14:creationId xmlns:p14="http://schemas.microsoft.com/office/powerpoint/2010/main" val="230011920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118"/>
          <p:cNvSpPr txBox="1">
            <a:spLocks noGrp="1"/>
          </p:cNvSpPr>
          <p:nvPr>
            <p:ph type="subTitle" idx="1"/>
          </p:nvPr>
        </p:nvSpPr>
        <p:spPr>
          <a:xfrm>
            <a:off x="467360" y="1141730"/>
            <a:ext cx="7305040" cy="449707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endParaRPr/>
          </a:p>
        </p:txBody>
      </p:sp>
      <p:pic>
        <p:nvPicPr>
          <p:cNvPr id="946" name="Google Shape;946;p118" descr="Screenshot (3)"/>
          <p:cNvPicPr preferRelativeResize="0"/>
          <p:nvPr/>
        </p:nvPicPr>
        <p:blipFill rotWithShape="1">
          <a:blip r:embed="rId3">
            <a:alphaModFix/>
          </a:blip>
          <a:srcRect r="6292" b="2012"/>
          <a:stretch/>
        </p:blipFill>
        <p:spPr>
          <a:xfrm>
            <a:off x="0" y="0"/>
            <a:ext cx="9144000" cy="6857999"/>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pic>
        <p:nvPicPr>
          <p:cNvPr id="951" name="Google Shape;951;p119" descr="Network-Components-50-768x432.png"/>
          <p:cNvPicPr preferRelativeResize="0">
            <a:picLocks noGrp="1"/>
          </p:cNvPicPr>
          <p:nvPr>
            <p:ph type="body" idx="1"/>
          </p:nvPr>
        </p:nvPicPr>
        <p:blipFill rotWithShape="1">
          <a:blip r:embed="rId3">
            <a:alphaModFix/>
          </a:blip>
          <a:srcRect/>
          <a:stretch/>
        </p:blipFill>
        <p:spPr>
          <a:xfrm>
            <a:off x="685800" y="533400"/>
            <a:ext cx="7772400" cy="5562600"/>
          </a:xfrm>
          <a:prstGeom prst="rect">
            <a:avLst/>
          </a:prstGeom>
          <a:noFill/>
          <a:ln>
            <a:noFill/>
          </a:ln>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1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BGP Program</a:t>
            </a:r>
            <a:endParaRPr/>
          </a:p>
        </p:txBody>
      </p:sp>
      <p:sp>
        <p:nvSpPr>
          <p:cNvPr id="957" name="Google Shape;957;p12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Char char="•"/>
            </a:pPr>
            <a:r>
              <a:rPr lang="en-US" dirty="0"/>
              <a:t>R1</a:t>
            </a:r>
            <a:endParaRPr dirty="0"/>
          </a:p>
          <a:p>
            <a:pPr marL="342900" lvl="0" indent="-342900" algn="l" rtl="0">
              <a:spcBef>
                <a:spcPts val="496"/>
              </a:spcBef>
              <a:spcAft>
                <a:spcPts val="0"/>
              </a:spcAft>
              <a:buClr>
                <a:schemeClr val="dk1"/>
              </a:buClr>
              <a:buSzPct val="100000"/>
              <a:buNone/>
            </a:pPr>
            <a:r>
              <a:rPr lang="en-US" dirty="0"/>
              <a:t># router BGP 10</a:t>
            </a:r>
            <a:endParaRPr dirty="0"/>
          </a:p>
          <a:p>
            <a:pPr marL="342900" lvl="0" indent="-342900" algn="l" rtl="0">
              <a:spcBef>
                <a:spcPts val="496"/>
              </a:spcBef>
              <a:spcAft>
                <a:spcPts val="0"/>
              </a:spcAft>
              <a:buClr>
                <a:schemeClr val="dk1"/>
              </a:buClr>
              <a:buSzPct val="100000"/>
              <a:buNone/>
            </a:pPr>
            <a:r>
              <a:rPr lang="en-US" dirty="0"/>
              <a:t>#Neighbor 10.0.0.2 remote-as 20</a:t>
            </a:r>
            <a:endParaRPr dirty="0"/>
          </a:p>
          <a:p>
            <a:pPr marL="342900" lvl="0" indent="-342900" algn="l" rtl="0">
              <a:spcBef>
                <a:spcPts val="496"/>
              </a:spcBef>
              <a:spcAft>
                <a:spcPts val="0"/>
              </a:spcAft>
              <a:buClr>
                <a:schemeClr val="dk1"/>
              </a:buClr>
              <a:buSzPct val="100000"/>
              <a:buNone/>
            </a:pPr>
            <a:r>
              <a:rPr lang="en-US" dirty="0"/>
              <a:t>#Network 192.168.1.0</a:t>
            </a:r>
            <a:endParaRPr dirty="0"/>
          </a:p>
          <a:p>
            <a:pPr marL="342900" lvl="0" indent="-342900" algn="l" rtl="0">
              <a:spcBef>
                <a:spcPts val="496"/>
              </a:spcBef>
              <a:spcAft>
                <a:spcPts val="0"/>
              </a:spcAft>
              <a:buClr>
                <a:schemeClr val="dk1"/>
              </a:buClr>
              <a:buSzPct val="100000"/>
              <a:buNone/>
            </a:pPr>
            <a:r>
              <a:rPr lang="en-US" dirty="0"/>
              <a:t>#Exit</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Char char="•"/>
            </a:pPr>
            <a:r>
              <a:rPr lang="en-US" dirty="0"/>
              <a:t>R2</a:t>
            </a:r>
            <a:endParaRPr dirty="0"/>
          </a:p>
          <a:p>
            <a:pPr marL="342900" lvl="0" indent="-342900" algn="l" rtl="0">
              <a:spcBef>
                <a:spcPts val="496"/>
              </a:spcBef>
              <a:spcAft>
                <a:spcPts val="0"/>
              </a:spcAft>
              <a:buClr>
                <a:schemeClr val="dk1"/>
              </a:buClr>
              <a:buSzPct val="100000"/>
              <a:buNone/>
            </a:pPr>
            <a:r>
              <a:rPr lang="en-US" dirty="0"/>
              <a:t># router BGP 20</a:t>
            </a:r>
            <a:endParaRPr dirty="0"/>
          </a:p>
          <a:p>
            <a:pPr marL="342900" lvl="0" indent="-342900" algn="l" rtl="0">
              <a:spcBef>
                <a:spcPts val="496"/>
              </a:spcBef>
              <a:spcAft>
                <a:spcPts val="0"/>
              </a:spcAft>
              <a:buClr>
                <a:schemeClr val="dk1"/>
              </a:buClr>
              <a:buSzPct val="100000"/>
              <a:buNone/>
            </a:pPr>
            <a:r>
              <a:rPr lang="en-US" dirty="0"/>
              <a:t>#Neighbor 10.0.0.1 remote-as 10</a:t>
            </a:r>
            <a:endParaRPr dirty="0"/>
          </a:p>
          <a:p>
            <a:pPr marL="342900" lvl="0" indent="-342900" algn="l" rtl="0">
              <a:spcBef>
                <a:spcPts val="496"/>
              </a:spcBef>
              <a:spcAft>
                <a:spcPts val="0"/>
              </a:spcAft>
              <a:buClr>
                <a:schemeClr val="dk1"/>
              </a:buClr>
              <a:buSzPct val="100000"/>
              <a:buNone/>
            </a:pPr>
            <a:r>
              <a:rPr lang="en-US" dirty="0"/>
              <a:t>#Network 192.168.2.0</a:t>
            </a:r>
            <a:endParaRPr dirty="0"/>
          </a:p>
          <a:p>
            <a:pPr marL="342900" lvl="0" indent="-342900" algn="l" rtl="0">
              <a:spcBef>
                <a:spcPts val="496"/>
              </a:spcBef>
              <a:spcAft>
                <a:spcPts val="0"/>
              </a:spcAft>
              <a:buClr>
                <a:schemeClr val="dk1"/>
              </a:buClr>
              <a:buSzPct val="100000"/>
              <a:buNone/>
            </a:pPr>
            <a:r>
              <a:rPr lang="en-US" dirty="0"/>
              <a:t>#Exit</a:t>
            </a:r>
            <a:endParaRPr dirty="0"/>
          </a:p>
          <a:p>
            <a:pPr marL="342900" lvl="0" indent="-342900" algn="l" rtl="0">
              <a:spcBef>
                <a:spcPts val="496"/>
              </a:spcBef>
              <a:spcAft>
                <a:spcPts val="0"/>
              </a:spcAft>
              <a:buClr>
                <a:schemeClr val="dk1"/>
              </a:buClr>
              <a:buSzPct val="100000"/>
              <a:buNone/>
            </a:pPr>
            <a:endParaRPr dirty="0"/>
          </a:p>
        </p:txBody>
      </p:sp>
      <p:sp>
        <p:nvSpPr>
          <p:cNvPr id="958" name="Google Shape;958;p120"/>
          <p:cNvSpPr/>
          <p:nvPr/>
        </p:nvSpPr>
        <p:spPr>
          <a:xfrm>
            <a:off x="5257800" y="22860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59" name="Google Shape;959;p120"/>
          <p:cNvSpPr/>
          <p:nvPr/>
        </p:nvSpPr>
        <p:spPr>
          <a:xfrm>
            <a:off x="7620000" y="22860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0" name="Google Shape;960;p120"/>
          <p:cNvSpPr/>
          <p:nvPr/>
        </p:nvSpPr>
        <p:spPr>
          <a:xfrm>
            <a:off x="5105400" y="3733800"/>
            <a:ext cx="9906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1" name="Google Shape;961;p120"/>
          <p:cNvSpPr/>
          <p:nvPr/>
        </p:nvSpPr>
        <p:spPr>
          <a:xfrm>
            <a:off x="7467600" y="3733800"/>
            <a:ext cx="9906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2" name="Google Shape;962;p120"/>
          <p:cNvSpPr/>
          <p:nvPr/>
        </p:nvSpPr>
        <p:spPr>
          <a:xfrm>
            <a:off x="5181600" y="5257800"/>
            <a:ext cx="762000" cy="6096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63" name="Google Shape;963;p120"/>
          <p:cNvSpPr/>
          <p:nvPr/>
        </p:nvSpPr>
        <p:spPr>
          <a:xfrm>
            <a:off x="7620000" y="5410200"/>
            <a:ext cx="762000" cy="5334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64" name="Google Shape;964;p120"/>
          <p:cNvCxnSpPr>
            <a:stCxn id="958" idx="4"/>
            <a:endCxn id="960" idx="0"/>
          </p:cNvCxnSpPr>
          <p:nvPr/>
        </p:nvCxnSpPr>
        <p:spPr>
          <a:xfrm>
            <a:off x="5600700" y="2895600"/>
            <a:ext cx="0" cy="838200"/>
          </a:xfrm>
          <a:prstGeom prst="straightConnector1">
            <a:avLst/>
          </a:prstGeom>
          <a:noFill/>
          <a:ln w="9525" cap="flat" cmpd="sng">
            <a:solidFill>
              <a:srgbClr val="4A7DBA"/>
            </a:solidFill>
            <a:prstDash val="solid"/>
            <a:round/>
            <a:headEnd type="none" w="sm" len="sm"/>
            <a:tailEnd type="stealth" w="med" len="med"/>
          </a:ln>
        </p:spPr>
      </p:cxnSp>
      <p:cxnSp>
        <p:nvCxnSpPr>
          <p:cNvPr id="965" name="Google Shape;965;p120"/>
          <p:cNvCxnSpPr>
            <a:endCxn id="962" idx="0"/>
          </p:cNvCxnSpPr>
          <p:nvPr/>
        </p:nvCxnSpPr>
        <p:spPr>
          <a:xfrm flipH="1">
            <a:off x="5562600" y="4114800"/>
            <a:ext cx="1500" cy="1143000"/>
          </a:xfrm>
          <a:prstGeom prst="straightConnector1">
            <a:avLst/>
          </a:prstGeom>
          <a:noFill/>
          <a:ln w="9525" cap="flat" cmpd="sng">
            <a:solidFill>
              <a:srgbClr val="4A7DBA"/>
            </a:solidFill>
            <a:prstDash val="solid"/>
            <a:round/>
            <a:headEnd type="none" w="sm" len="sm"/>
            <a:tailEnd type="stealth" w="med" len="med"/>
          </a:ln>
        </p:spPr>
      </p:cxnSp>
      <p:cxnSp>
        <p:nvCxnSpPr>
          <p:cNvPr id="966" name="Google Shape;966;p120"/>
          <p:cNvCxnSpPr/>
          <p:nvPr/>
        </p:nvCxnSpPr>
        <p:spPr>
          <a:xfrm rot="5400000">
            <a:off x="7582694" y="3313906"/>
            <a:ext cx="838200" cy="1588"/>
          </a:xfrm>
          <a:prstGeom prst="straightConnector1">
            <a:avLst/>
          </a:prstGeom>
          <a:noFill/>
          <a:ln w="9525" cap="flat" cmpd="sng">
            <a:solidFill>
              <a:srgbClr val="4A7DBA"/>
            </a:solidFill>
            <a:prstDash val="solid"/>
            <a:round/>
            <a:headEnd type="none" w="sm" len="sm"/>
            <a:tailEnd type="stealth" w="med" len="med"/>
          </a:ln>
        </p:spPr>
      </p:cxnSp>
      <p:cxnSp>
        <p:nvCxnSpPr>
          <p:cNvPr id="967" name="Google Shape;967;p120"/>
          <p:cNvCxnSpPr>
            <a:endCxn id="963" idx="0"/>
          </p:cNvCxnSpPr>
          <p:nvPr/>
        </p:nvCxnSpPr>
        <p:spPr>
          <a:xfrm flipH="1">
            <a:off x="8001000" y="4114800"/>
            <a:ext cx="1500" cy="1295400"/>
          </a:xfrm>
          <a:prstGeom prst="straightConnector1">
            <a:avLst/>
          </a:prstGeom>
          <a:noFill/>
          <a:ln w="9525" cap="flat" cmpd="sng">
            <a:solidFill>
              <a:srgbClr val="4A7DBA"/>
            </a:solidFill>
            <a:prstDash val="solid"/>
            <a:round/>
            <a:headEnd type="none" w="sm" len="sm"/>
            <a:tailEnd type="stealth" w="med" len="med"/>
          </a:ln>
        </p:spPr>
      </p:cxnSp>
      <p:cxnSp>
        <p:nvCxnSpPr>
          <p:cNvPr id="968" name="Google Shape;968;p120"/>
          <p:cNvCxnSpPr>
            <a:stCxn id="958" idx="6"/>
            <a:endCxn id="959" idx="2"/>
          </p:cNvCxnSpPr>
          <p:nvPr/>
        </p:nvCxnSpPr>
        <p:spPr>
          <a:xfrm>
            <a:off x="5943600" y="2590800"/>
            <a:ext cx="1676400" cy="0"/>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p121"/>
          <p:cNvSpPr txBox="1">
            <a:spLocks noGrp="1"/>
          </p:cNvSpPr>
          <p:nvPr>
            <p:ph type="body" idx="1"/>
          </p:nvPr>
        </p:nvSpPr>
        <p:spPr>
          <a:xfrm>
            <a:off x="457200" y="457200"/>
            <a:ext cx="8229600" cy="60198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BGP ANOTHER PROGRAM</a:t>
            </a:r>
            <a:endParaRPr dirty="0"/>
          </a:p>
        </p:txBody>
      </p:sp>
      <p:sp>
        <p:nvSpPr>
          <p:cNvPr id="974" name="Google Shape;974;p121"/>
          <p:cNvSpPr/>
          <p:nvPr/>
        </p:nvSpPr>
        <p:spPr>
          <a:xfrm>
            <a:off x="1981200" y="2590800"/>
            <a:ext cx="914400" cy="914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smtClean="0">
                <a:solidFill>
                  <a:schemeClr val="lt1"/>
                </a:solidFill>
                <a:latin typeface="Calibri"/>
                <a:ea typeface="Calibri"/>
                <a:cs typeface="Calibri"/>
                <a:sym typeface="Calibri"/>
              </a:rPr>
              <a:t>R1</a:t>
            </a:r>
            <a:endParaRPr sz="1800" b="1" dirty="0">
              <a:solidFill>
                <a:schemeClr val="lt1"/>
              </a:solidFill>
              <a:latin typeface="Calibri"/>
              <a:ea typeface="Calibri"/>
              <a:cs typeface="Calibri"/>
              <a:sym typeface="Calibri"/>
            </a:endParaRPr>
          </a:p>
        </p:txBody>
      </p:sp>
      <p:sp>
        <p:nvSpPr>
          <p:cNvPr id="975" name="Google Shape;975;p121"/>
          <p:cNvSpPr/>
          <p:nvPr/>
        </p:nvSpPr>
        <p:spPr>
          <a:xfrm>
            <a:off x="5867400" y="2590800"/>
            <a:ext cx="914400" cy="914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smtClean="0">
                <a:solidFill>
                  <a:schemeClr val="lt1"/>
                </a:solidFill>
                <a:latin typeface="Calibri"/>
                <a:ea typeface="Calibri"/>
                <a:cs typeface="Calibri"/>
                <a:sym typeface="Calibri"/>
              </a:rPr>
              <a:t>R3</a:t>
            </a:r>
            <a:endParaRPr sz="1800" b="1" dirty="0">
              <a:solidFill>
                <a:schemeClr val="lt1"/>
              </a:solidFill>
              <a:latin typeface="Calibri"/>
              <a:ea typeface="Calibri"/>
              <a:cs typeface="Calibri"/>
              <a:sym typeface="Calibri"/>
            </a:endParaRPr>
          </a:p>
        </p:txBody>
      </p:sp>
      <p:sp>
        <p:nvSpPr>
          <p:cNvPr id="976" name="Google Shape;976;p121"/>
          <p:cNvSpPr/>
          <p:nvPr/>
        </p:nvSpPr>
        <p:spPr>
          <a:xfrm>
            <a:off x="3810000" y="1143000"/>
            <a:ext cx="914400" cy="914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smtClean="0">
                <a:solidFill>
                  <a:schemeClr val="lt1"/>
                </a:solidFill>
                <a:latin typeface="Calibri"/>
                <a:ea typeface="Calibri"/>
                <a:cs typeface="Calibri"/>
                <a:sym typeface="Calibri"/>
              </a:rPr>
              <a:t>R2</a:t>
            </a:r>
            <a:endParaRPr sz="1800" b="1" dirty="0">
              <a:solidFill>
                <a:schemeClr val="lt1"/>
              </a:solidFill>
              <a:latin typeface="Calibri"/>
              <a:ea typeface="Calibri"/>
              <a:cs typeface="Calibri"/>
              <a:sym typeface="Calibri"/>
            </a:endParaRPr>
          </a:p>
        </p:txBody>
      </p:sp>
      <p:cxnSp>
        <p:nvCxnSpPr>
          <p:cNvPr id="977" name="Google Shape;977;p121"/>
          <p:cNvCxnSpPr>
            <a:stCxn id="976" idx="2"/>
            <a:endCxn id="974" idx="0"/>
          </p:cNvCxnSpPr>
          <p:nvPr/>
        </p:nvCxnSpPr>
        <p:spPr>
          <a:xfrm flipH="1">
            <a:off x="2438400" y="1600200"/>
            <a:ext cx="1371600" cy="990600"/>
          </a:xfrm>
          <a:prstGeom prst="straightConnector1">
            <a:avLst/>
          </a:prstGeom>
          <a:noFill/>
          <a:ln w="9525" cap="flat" cmpd="sng">
            <a:solidFill>
              <a:srgbClr val="4A7DBA"/>
            </a:solidFill>
            <a:prstDash val="solid"/>
            <a:round/>
            <a:headEnd type="none" w="sm" len="sm"/>
            <a:tailEnd type="stealth" w="med" len="med"/>
          </a:ln>
        </p:spPr>
      </p:cxnSp>
      <p:cxnSp>
        <p:nvCxnSpPr>
          <p:cNvPr id="978" name="Google Shape;978;p121"/>
          <p:cNvCxnSpPr>
            <a:stCxn id="976" idx="6"/>
            <a:endCxn id="975" idx="1"/>
          </p:cNvCxnSpPr>
          <p:nvPr/>
        </p:nvCxnSpPr>
        <p:spPr>
          <a:xfrm>
            <a:off x="4724400" y="1600200"/>
            <a:ext cx="1276800" cy="1124400"/>
          </a:xfrm>
          <a:prstGeom prst="straightConnector1">
            <a:avLst/>
          </a:prstGeom>
          <a:noFill/>
          <a:ln w="9525" cap="flat" cmpd="sng">
            <a:solidFill>
              <a:srgbClr val="4A7DBA"/>
            </a:solidFill>
            <a:prstDash val="solid"/>
            <a:round/>
            <a:headEnd type="none" w="sm" len="sm"/>
            <a:tailEnd type="stealth" w="med" len="med"/>
          </a:ln>
        </p:spPr>
      </p:cxnSp>
      <p:sp>
        <p:nvSpPr>
          <p:cNvPr id="979" name="Google Shape;979;p121"/>
          <p:cNvSpPr/>
          <p:nvPr/>
        </p:nvSpPr>
        <p:spPr>
          <a:xfrm>
            <a:off x="1981200" y="4572000"/>
            <a:ext cx="914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0" name="Google Shape;980;p121"/>
          <p:cNvSpPr/>
          <p:nvPr/>
        </p:nvSpPr>
        <p:spPr>
          <a:xfrm>
            <a:off x="5943600" y="4572000"/>
            <a:ext cx="914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1" name="Google Shape;981;p121"/>
          <p:cNvSpPr/>
          <p:nvPr/>
        </p:nvSpPr>
        <p:spPr>
          <a:xfrm>
            <a:off x="2057400" y="6019800"/>
            <a:ext cx="762000" cy="4572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82" name="Google Shape;982;p121"/>
          <p:cNvSpPr/>
          <p:nvPr/>
        </p:nvSpPr>
        <p:spPr>
          <a:xfrm>
            <a:off x="6096000" y="6096000"/>
            <a:ext cx="685800" cy="4572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983" name="Google Shape;983;p121"/>
          <p:cNvCxnSpPr>
            <a:stCxn id="974" idx="4"/>
            <a:endCxn id="979" idx="0"/>
          </p:cNvCxnSpPr>
          <p:nvPr/>
        </p:nvCxnSpPr>
        <p:spPr>
          <a:xfrm>
            <a:off x="2438400" y="3505200"/>
            <a:ext cx="0" cy="1066800"/>
          </a:xfrm>
          <a:prstGeom prst="straightConnector1">
            <a:avLst/>
          </a:prstGeom>
          <a:noFill/>
          <a:ln w="9525" cap="flat" cmpd="sng">
            <a:solidFill>
              <a:srgbClr val="4A7DBA"/>
            </a:solidFill>
            <a:prstDash val="solid"/>
            <a:round/>
            <a:headEnd type="none" w="sm" len="sm"/>
            <a:tailEnd type="stealth" w="med" len="med"/>
          </a:ln>
        </p:spPr>
      </p:cxnSp>
      <p:cxnSp>
        <p:nvCxnSpPr>
          <p:cNvPr id="984" name="Google Shape;984;p121"/>
          <p:cNvCxnSpPr>
            <a:stCxn id="975" idx="4"/>
            <a:endCxn id="980" idx="0"/>
          </p:cNvCxnSpPr>
          <p:nvPr/>
        </p:nvCxnSpPr>
        <p:spPr>
          <a:xfrm>
            <a:off x="6324600" y="3505200"/>
            <a:ext cx="76200" cy="1066800"/>
          </a:xfrm>
          <a:prstGeom prst="straightConnector1">
            <a:avLst/>
          </a:prstGeom>
          <a:noFill/>
          <a:ln w="9525" cap="flat" cmpd="sng">
            <a:solidFill>
              <a:srgbClr val="4A7DBA"/>
            </a:solidFill>
            <a:prstDash val="solid"/>
            <a:round/>
            <a:headEnd type="none" w="sm" len="sm"/>
            <a:tailEnd type="stealth" w="med" len="med"/>
          </a:ln>
        </p:spPr>
      </p:cxnSp>
      <p:cxnSp>
        <p:nvCxnSpPr>
          <p:cNvPr id="985" name="Google Shape;985;p121"/>
          <p:cNvCxnSpPr>
            <a:stCxn id="979" idx="2"/>
            <a:endCxn id="981" idx="0"/>
          </p:cNvCxnSpPr>
          <p:nvPr/>
        </p:nvCxnSpPr>
        <p:spPr>
          <a:xfrm>
            <a:off x="2438400" y="4953000"/>
            <a:ext cx="0" cy="1066800"/>
          </a:xfrm>
          <a:prstGeom prst="straightConnector1">
            <a:avLst/>
          </a:prstGeom>
          <a:noFill/>
          <a:ln w="9525" cap="flat" cmpd="sng">
            <a:solidFill>
              <a:srgbClr val="4A7DBA"/>
            </a:solidFill>
            <a:prstDash val="solid"/>
            <a:round/>
            <a:headEnd type="none" w="sm" len="sm"/>
            <a:tailEnd type="stealth" w="med" len="med"/>
          </a:ln>
        </p:spPr>
      </p:cxnSp>
      <p:cxnSp>
        <p:nvCxnSpPr>
          <p:cNvPr id="986" name="Google Shape;986;p121"/>
          <p:cNvCxnSpPr>
            <a:stCxn id="980" idx="2"/>
            <a:endCxn id="982" idx="0"/>
          </p:cNvCxnSpPr>
          <p:nvPr/>
        </p:nvCxnSpPr>
        <p:spPr>
          <a:xfrm>
            <a:off x="6400800" y="4953000"/>
            <a:ext cx="38100" cy="1143000"/>
          </a:xfrm>
          <a:prstGeom prst="straightConnector1">
            <a:avLst/>
          </a:prstGeom>
          <a:noFill/>
          <a:ln w="9525" cap="flat" cmpd="sng">
            <a:solidFill>
              <a:srgbClr val="4A7DBA"/>
            </a:solidFill>
            <a:prstDash val="solid"/>
            <a:round/>
            <a:headEnd type="none" w="sm" len="sm"/>
            <a:tailEnd type="stealth" w="med" len="med"/>
          </a:ln>
        </p:spPr>
      </p:cxnSp>
      <p:sp>
        <p:nvSpPr>
          <p:cNvPr id="987" name="Google Shape;987;p121"/>
          <p:cNvSpPr txBox="1"/>
          <p:nvPr/>
        </p:nvSpPr>
        <p:spPr>
          <a:xfrm>
            <a:off x="1447800" y="3200400"/>
            <a:ext cx="5357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100</a:t>
            </a:r>
            <a:endParaRPr sz="1800">
              <a:solidFill>
                <a:schemeClr val="dk1"/>
              </a:solidFill>
              <a:latin typeface="Calibri"/>
              <a:ea typeface="Calibri"/>
              <a:cs typeface="Calibri"/>
              <a:sym typeface="Calibri"/>
            </a:endParaRPr>
          </a:p>
        </p:txBody>
      </p:sp>
      <p:sp>
        <p:nvSpPr>
          <p:cNvPr id="988" name="Google Shape;988;p121"/>
          <p:cNvSpPr txBox="1"/>
          <p:nvPr/>
        </p:nvSpPr>
        <p:spPr>
          <a:xfrm>
            <a:off x="3886200" y="2286000"/>
            <a:ext cx="5357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200</a:t>
            </a:r>
            <a:endParaRPr sz="1800">
              <a:solidFill>
                <a:schemeClr val="dk1"/>
              </a:solidFill>
              <a:latin typeface="Calibri"/>
              <a:ea typeface="Calibri"/>
              <a:cs typeface="Calibri"/>
              <a:sym typeface="Calibri"/>
            </a:endParaRPr>
          </a:p>
        </p:txBody>
      </p:sp>
      <p:sp>
        <p:nvSpPr>
          <p:cNvPr id="989" name="Google Shape;989;p121"/>
          <p:cNvSpPr txBox="1"/>
          <p:nvPr/>
        </p:nvSpPr>
        <p:spPr>
          <a:xfrm>
            <a:off x="6629400" y="3505200"/>
            <a:ext cx="5357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300</a:t>
            </a:r>
            <a:endParaRPr sz="1800">
              <a:solidFill>
                <a:schemeClr val="dk1"/>
              </a:solidFill>
              <a:latin typeface="Calibri"/>
              <a:ea typeface="Calibri"/>
              <a:cs typeface="Calibri"/>
              <a:sym typeface="Calibri"/>
            </a:endParaRPr>
          </a:p>
        </p:txBody>
      </p:sp>
      <p:sp>
        <p:nvSpPr>
          <p:cNvPr id="2" name="TextBox 1"/>
          <p:cNvSpPr txBox="1"/>
          <p:nvPr/>
        </p:nvSpPr>
        <p:spPr>
          <a:xfrm>
            <a:off x="2937462" y="1370111"/>
            <a:ext cx="830677" cy="307777"/>
          </a:xfrm>
          <a:prstGeom prst="rect">
            <a:avLst/>
          </a:prstGeom>
          <a:noFill/>
        </p:spPr>
        <p:txBody>
          <a:bodyPr wrap="none" rtlCol="0">
            <a:spAutoFit/>
          </a:bodyPr>
          <a:lstStyle/>
          <a:p>
            <a:r>
              <a:rPr lang="en-US" dirty="0" smtClean="0"/>
              <a:t>10.0.0.1</a:t>
            </a:r>
            <a:endParaRPr lang="en-IN" dirty="0"/>
          </a:p>
        </p:txBody>
      </p:sp>
      <p:sp>
        <p:nvSpPr>
          <p:cNvPr id="20" name="TextBox 19"/>
          <p:cNvSpPr txBox="1"/>
          <p:nvPr/>
        </p:nvSpPr>
        <p:spPr>
          <a:xfrm>
            <a:off x="1711000" y="2198132"/>
            <a:ext cx="830677" cy="307777"/>
          </a:xfrm>
          <a:prstGeom prst="rect">
            <a:avLst/>
          </a:prstGeom>
          <a:noFill/>
        </p:spPr>
        <p:txBody>
          <a:bodyPr wrap="none" rtlCol="0">
            <a:spAutoFit/>
          </a:bodyPr>
          <a:lstStyle/>
          <a:p>
            <a:r>
              <a:rPr lang="en-US" dirty="0" smtClean="0"/>
              <a:t>10.0.0.2</a:t>
            </a:r>
            <a:endParaRPr lang="en-IN" dirty="0"/>
          </a:p>
        </p:txBody>
      </p:sp>
      <p:sp>
        <p:nvSpPr>
          <p:cNvPr id="3" name="TextBox 2"/>
          <p:cNvSpPr txBox="1"/>
          <p:nvPr/>
        </p:nvSpPr>
        <p:spPr>
          <a:xfrm>
            <a:off x="5867400" y="2263907"/>
            <a:ext cx="830677" cy="307777"/>
          </a:xfrm>
          <a:prstGeom prst="rect">
            <a:avLst/>
          </a:prstGeom>
          <a:noFill/>
        </p:spPr>
        <p:txBody>
          <a:bodyPr wrap="none" rtlCol="0">
            <a:spAutoFit/>
          </a:bodyPr>
          <a:lstStyle/>
          <a:p>
            <a:r>
              <a:rPr lang="en-US" dirty="0" smtClean="0"/>
              <a:t>20.0.0.2</a:t>
            </a:r>
            <a:endParaRPr lang="en-IN" dirty="0"/>
          </a:p>
        </p:txBody>
      </p:sp>
      <p:sp>
        <p:nvSpPr>
          <p:cNvPr id="4" name="TextBox 3"/>
          <p:cNvSpPr txBox="1"/>
          <p:nvPr/>
        </p:nvSpPr>
        <p:spPr>
          <a:xfrm>
            <a:off x="4821184" y="1431666"/>
            <a:ext cx="830677" cy="307777"/>
          </a:xfrm>
          <a:prstGeom prst="rect">
            <a:avLst/>
          </a:prstGeom>
          <a:noFill/>
        </p:spPr>
        <p:txBody>
          <a:bodyPr wrap="none" rtlCol="0">
            <a:spAutoFit/>
          </a:bodyPr>
          <a:lstStyle/>
          <a:p>
            <a:r>
              <a:rPr lang="en-US" dirty="0" smtClean="0"/>
              <a:t>20.0.0.1</a:t>
            </a:r>
            <a:endParaRPr lang="en-IN"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122"/>
          <p:cNvSpPr txBox="1">
            <a:spLocks noGrp="1"/>
          </p:cNvSpPr>
          <p:nvPr>
            <p:ph type="body" idx="1"/>
          </p:nvPr>
        </p:nvSpPr>
        <p:spPr>
          <a:xfrm>
            <a:off x="457200" y="609600"/>
            <a:ext cx="8229600" cy="55165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None/>
            </a:pPr>
            <a:r>
              <a:rPr lang="en-US" dirty="0"/>
              <a:t>R1</a:t>
            </a:r>
            <a:endParaRPr dirty="0"/>
          </a:p>
          <a:p>
            <a:pPr marL="342900" lvl="0" indent="-342900" algn="l" rtl="0">
              <a:spcBef>
                <a:spcPts val="592"/>
              </a:spcBef>
              <a:spcAft>
                <a:spcPts val="0"/>
              </a:spcAft>
              <a:buClr>
                <a:schemeClr val="dk1"/>
              </a:buClr>
              <a:buSzPct val="100000"/>
              <a:buNone/>
            </a:pPr>
            <a:r>
              <a:rPr lang="en-US" dirty="0"/>
              <a:t>router </a:t>
            </a:r>
            <a:r>
              <a:rPr lang="en-US" dirty="0" err="1"/>
              <a:t>bgp</a:t>
            </a:r>
            <a:r>
              <a:rPr lang="en-US" dirty="0"/>
              <a:t> 100</a:t>
            </a:r>
            <a:endParaRPr dirty="0"/>
          </a:p>
          <a:p>
            <a:pPr marL="342900" lvl="0" indent="-342900" algn="l" rtl="0">
              <a:spcBef>
                <a:spcPts val="592"/>
              </a:spcBef>
              <a:spcAft>
                <a:spcPts val="0"/>
              </a:spcAft>
              <a:buClr>
                <a:schemeClr val="dk1"/>
              </a:buClr>
              <a:buSzPct val="100000"/>
              <a:buNone/>
            </a:pPr>
            <a:r>
              <a:rPr lang="en-US" dirty="0"/>
              <a:t>neighbor 10.0.0.1 remote-as 200 </a:t>
            </a:r>
            <a:endParaRPr dirty="0"/>
          </a:p>
          <a:p>
            <a:pPr marL="342900" lvl="0" indent="-342900" algn="l" rtl="0">
              <a:spcBef>
                <a:spcPts val="592"/>
              </a:spcBef>
              <a:spcAft>
                <a:spcPts val="0"/>
              </a:spcAft>
              <a:buClr>
                <a:schemeClr val="dk1"/>
              </a:buClr>
              <a:buSzPct val="100000"/>
              <a:buNone/>
            </a:pPr>
            <a:r>
              <a:rPr lang="en-US" dirty="0"/>
              <a:t>Network 192.168.1.0</a:t>
            </a:r>
            <a:endParaRPr dirty="0"/>
          </a:p>
          <a:p>
            <a:pPr marL="342900" lvl="0" indent="-342900" algn="l" rtl="0">
              <a:spcBef>
                <a:spcPts val="592"/>
              </a:spcBef>
              <a:spcAft>
                <a:spcPts val="0"/>
              </a:spcAft>
              <a:buClr>
                <a:schemeClr val="dk1"/>
              </a:buClr>
              <a:buSzPct val="100000"/>
              <a:buNone/>
            </a:pPr>
            <a:r>
              <a:rPr lang="en-US" dirty="0"/>
              <a:t>R2</a:t>
            </a:r>
            <a:endParaRPr dirty="0"/>
          </a:p>
          <a:p>
            <a:pPr marL="342900" lvl="0" indent="-342900" algn="l" rtl="0">
              <a:spcBef>
                <a:spcPts val="592"/>
              </a:spcBef>
              <a:spcAft>
                <a:spcPts val="0"/>
              </a:spcAft>
              <a:buClr>
                <a:schemeClr val="dk1"/>
              </a:buClr>
              <a:buSzPct val="100000"/>
              <a:buNone/>
            </a:pPr>
            <a:r>
              <a:rPr lang="en-US" dirty="0"/>
              <a:t>router </a:t>
            </a:r>
            <a:r>
              <a:rPr lang="en-US" dirty="0" err="1"/>
              <a:t>bgp</a:t>
            </a:r>
            <a:r>
              <a:rPr lang="en-US" dirty="0"/>
              <a:t> 200 </a:t>
            </a:r>
            <a:endParaRPr dirty="0"/>
          </a:p>
          <a:p>
            <a:pPr marL="342900" lvl="0" indent="-342900" algn="l" rtl="0">
              <a:spcBef>
                <a:spcPts val="592"/>
              </a:spcBef>
              <a:spcAft>
                <a:spcPts val="0"/>
              </a:spcAft>
              <a:buClr>
                <a:schemeClr val="dk1"/>
              </a:buClr>
              <a:buSzPct val="100000"/>
              <a:buNone/>
            </a:pPr>
            <a:r>
              <a:rPr lang="en-US" dirty="0"/>
              <a:t>neighbor 10.0.0.2 remote-as 100</a:t>
            </a:r>
            <a:endParaRPr dirty="0"/>
          </a:p>
          <a:p>
            <a:pPr marL="342900" lvl="0" indent="-342900" algn="l" rtl="0">
              <a:spcBef>
                <a:spcPts val="592"/>
              </a:spcBef>
              <a:spcAft>
                <a:spcPts val="0"/>
              </a:spcAft>
              <a:buClr>
                <a:schemeClr val="dk1"/>
              </a:buClr>
              <a:buSzPct val="100000"/>
              <a:buNone/>
            </a:pPr>
            <a:r>
              <a:rPr lang="en-US" dirty="0"/>
              <a:t>neighbor 20.0.0.2 remote-as 300 </a:t>
            </a:r>
            <a:endParaRPr dirty="0"/>
          </a:p>
          <a:p>
            <a:pPr marL="342900" lvl="0" indent="-342900" algn="l" rtl="0">
              <a:spcBef>
                <a:spcPts val="592"/>
              </a:spcBef>
              <a:spcAft>
                <a:spcPts val="0"/>
              </a:spcAft>
              <a:buClr>
                <a:schemeClr val="dk1"/>
              </a:buClr>
              <a:buSzPct val="100000"/>
              <a:buNone/>
            </a:pPr>
            <a:r>
              <a:rPr lang="en-US" dirty="0"/>
              <a:t>R3</a:t>
            </a:r>
            <a:endParaRPr dirty="0"/>
          </a:p>
          <a:p>
            <a:pPr marL="342900" lvl="0" indent="-342900" algn="l" rtl="0">
              <a:spcBef>
                <a:spcPts val="592"/>
              </a:spcBef>
              <a:spcAft>
                <a:spcPts val="0"/>
              </a:spcAft>
              <a:buClr>
                <a:schemeClr val="dk1"/>
              </a:buClr>
              <a:buSzPct val="100000"/>
              <a:buNone/>
            </a:pPr>
            <a:r>
              <a:rPr lang="en-US" dirty="0"/>
              <a:t>router </a:t>
            </a:r>
            <a:r>
              <a:rPr lang="en-US" dirty="0" err="1"/>
              <a:t>bgp</a:t>
            </a:r>
            <a:r>
              <a:rPr lang="en-US"/>
              <a:t> </a:t>
            </a:r>
            <a:r>
              <a:rPr lang="en-US" smtClean="0"/>
              <a:t>300 </a:t>
            </a:r>
            <a:endParaRPr dirty="0"/>
          </a:p>
          <a:p>
            <a:pPr marL="342900" lvl="0" indent="-342900" algn="l" rtl="0">
              <a:spcBef>
                <a:spcPts val="592"/>
              </a:spcBef>
              <a:spcAft>
                <a:spcPts val="0"/>
              </a:spcAft>
              <a:buClr>
                <a:schemeClr val="dk1"/>
              </a:buClr>
              <a:buSzPct val="100000"/>
              <a:buNone/>
            </a:pPr>
            <a:r>
              <a:rPr lang="en-US" dirty="0"/>
              <a:t>neighbor 20.0.0.1 remote-as 200</a:t>
            </a:r>
            <a:endParaRPr dirty="0"/>
          </a:p>
          <a:p>
            <a:pPr marL="342900" lvl="0" indent="-342900" algn="l" rtl="0">
              <a:spcBef>
                <a:spcPts val="592"/>
              </a:spcBef>
              <a:spcAft>
                <a:spcPts val="0"/>
              </a:spcAft>
              <a:buClr>
                <a:schemeClr val="dk1"/>
              </a:buClr>
              <a:buSzPct val="100000"/>
              <a:buNone/>
            </a:pPr>
            <a:r>
              <a:rPr lang="en-US" dirty="0"/>
              <a:t>Network 192.168.2.0</a:t>
            </a:r>
            <a:endParaRPr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123"/>
          <p:cNvSpPr txBox="1">
            <a:spLocks noGrp="1"/>
          </p:cNvSpPr>
          <p:nvPr>
            <p:ph type="subTitle" idx="1"/>
          </p:nvPr>
        </p:nvSpPr>
        <p:spPr>
          <a:xfrm>
            <a:off x="234950" y="368300"/>
            <a:ext cx="8822055" cy="6260465"/>
          </a:xfrm>
          <a:prstGeom prst="rect">
            <a:avLst/>
          </a:prstGeom>
          <a:noFill/>
          <a:ln>
            <a:noFill/>
          </a:ln>
        </p:spPr>
        <p:txBody>
          <a:bodyPr spcFirstLastPara="1" wrap="square" lIns="91425" tIns="45700" rIns="91425" bIns="45700" anchor="t" anchorCtr="0">
            <a:normAutofit fontScale="90000" lnSpcReduction="10000"/>
          </a:bodyPr>
          <a:lstStyle/>
          <a:p>
            <a:pPr marL="0" lvl="0" indent="0" algn="l" rtl="0">
              <a:spcBef>
                <a:spcPts val="0"/>
              </a:spcBef>
              <a:spcAft>
                <a:spcPts val="0"/>
              </a:spcAft>
              <a:buClr>
                <a:schemeClr val="dk1"/>
              </a:buClr>
              <a:buSzPct val="100000"/>
              <a:buFont typeface="Arial"/>
              <a:buNone/>
            </a:pPr>
            <a:r>
              <a:rPr lang="en-US" b="1" dirty="0">
                <a:solidFill>
                  <a:schemeClr val="dk1"/>
                </a:solidFill>
              </a:rPr>
              <a:t>Dynamic routing protocols metric:</a:t>
            </a:r>
            <a:endParaRPr dirty="0"/>
          </a:p>
          <a:p>
            <a:pPr marL="457200" lvl="0" indent="-457200" algn="l" rtl="0">
              <a:spcBef>
                <a:spcPts val="504"/>
              </a:spcBef>
              <a:spcAft>
                <a:spcPts val="0"/>
              </a:spcAft>
              <a:buClr>
                <a:schemeClr val="dk1"/>
              </a:buClr>
              <a:buSzPct val="100000"/>
              <a:buFont typeface="Noto Sans Symbols"/>
              <a:buChar char="❖"/>
            </a:pPr>
            <a:r>
              <a:rPr lang="en-US" sz="2800" dirty="0">
                <a:solidFill>
                  <a:schemeClr val="dk1"/>
                </a:solidFill>
              </a:rPr>
              <a:t>A router’s route table contains the best route to each destination network at knows about</a:t>
            </a:r>
            <a:endParaRPr dirty="0"/>
          </a:p>
          <a:p>
            <a:pPr marL="457200" lvl="0" indent="-457200" algn="l" rtl="0">
              <a:spcBef>
                <a:spcPts val="504"/>
              </a:spcBef>
              <a:spcAft>
                <a:spcPts val="0"/>
              </a:spcAft>
              <a:buClr>
                <a:schemeClr val="dk1"/>
              </a:buClr>
              <a:buSzPct val="100000"/>
              <a:buFont typeface="Noto Sans Symbols"/>
              <a:buChar char="❖"/>
            </a:pPr>
            <a:r>
              <a:rPr lang="en-US" sz="2800" dirty="0">
                <a:solidFill>
                  <a:schemeClr val="dk1"/>
                </a:solidFill>
              </a:rPr>
              <a:t>If a router using a dynamic routing protocol learns two different routes to the same destination how does it determine which is best</a:t>
            </a:r>
            <a:endParaRPr dirty="0"/>
          </a:p>
          <a:p>
            <a:pPr marL="457200" lvl="0" indent="-457200" algn="l" rtl="0">
              <a:spcBef>
                <a:spcPts val="504"/>
              </a:spcBef>
              <a:spcAft>
                <a:spcPts val="0"/>
              </a:spcAft>
              <a:buClr>
                <a:schemeClr val="dk1"/>
              </a:buClr>
              <a:buSzPct val="100000"/>
              <a:buFont typeface="Noto Sans Symbols"/>
              <a:buChar char="❖"/>
            </a:pPr>
            <a:r>
              <a:rPr lang="en-US" sz="2800" dirty="0">
                <a:solidFill>
                  <a:schemeClr val="dk1"/>
                </a:solidFill>
              </a:rPr>
              <a:t>If uses the metric value of the routes to determine which is best</a:t>
            </a:r>
            <a:endParaRPr dirty="0"/>
          </a:p>
          <a:p>
            <a:pPr marL="0" lvl="0" indent="0" algn="l" rtl="0">
              <a:spcBef>
                <a:spcPts val="504"/>
              </a:spcBef>
              <a:spcAft>
                <a:spcPts val="0"/>
              </a:spcAft>
              <a:buClr>
                <a:srgbClr val="888888"/>
              </a:buClr>
              <a:buSzPct val="100000"/>
              <a:buFont typeface="Noto Sans Symbols"/>
              <a:buNone/>
            </a:pPr>
            <a:endParaRPr sz="2800" dirty="0">
              <a:solidFill>
                <a:schemeClr val="dk1"/>
              </a:solidFill>
            </a:endParaRPr>
          </a:p>
          <a:p>
            <a:pPr marL="0" lvl="0" indent="0" algn="l" rtl="0">
              <a:spcBef>
                <a:spcPts val="504"/>
              </a:spcBef>
              <a:spcAft>
                <a:spcPts val="0"/>
              </a:spcAft>
              <a:buClr>
                <a:schemeClr val="dk1"/>
              </a:buClr>
              <a:buSzPct val="100000"/>
              <a:buFont typeface="Noto Sans Symbols"/>
              <a:buNone/>
            </a:pPr>
            <a:r>
              <a:rPr lang="en-US" sz="2800" dirty="0">
                <a:solidFill>
                  <a:schemeClr val="dk1"/>
                </a:solidFill>
              </a:rPr>
              <a:t>                 </a:t>
            </a:r>
            <a:r>
              <a:rPr lang="en-US" sz="2800" b="1" dirty="0">
                <a:solidFill>
                  <a:schemeClr val="dk1"/>
                </a:solidFill>
              </a:rPr>
              <a:t>A  lower metric=Better</a:t>
            </a:r>
            <a:endParaRPr dirty="0"/>
          </a:p>
          <a:p>
            <a:pPr marL="0" lvl="0" indent="0" algn="l" rtl="0">
              <a:spcBef>
                <a:spcPts val="504"/>
              </a:spcBef>
              <a:spcAft>
                <a:spcPts val="0"/>
              </a:spcAft>
              <a:buClr>
                <a:srgbClr val="888888"/>
              </a:buClr>
              <a:buSzPct val="100000"/>
              <a:buFont typeface="Noto Sans Symbols"/>
              <a:buNone/>
            </a:pPr>
            <a:endParaRPr sz="2800" b="1" dirty="0">
              <a:solidFill>
                <a:schemeClr val="dk1"/>
              </a:solidFill>
            </a:endParaRPr>
          </a:p>
          <a:p>
            <a:pPr marL="457200" lvl="0" indent="-457200" algn="l" rtl="0">
              <a:spcBef>
                <a:spcPts val="504"/>
              </a:spcBef>
              <a:spcAft>
                <a:spcPts val="0"/>
              </a:spcAft>
              <a:buClr>
                <a:schemeClr val="dk1"/>
              </a:buClr>
              <a:buSzPct val="100000"/>
              <a:buFont typeface="Noto Sans Symbols"/>
              <a:buChar char="❖"/>
            </a:pPr>
            <a:r>
              <a:rPr lang="en-US" sz="2800" dirty="0">
                <a:solidFill>
                  <a:schemeClr val="dk1"/>
                </a:solidFill>
              </a:rPr>
              <a:t>Each routing uses a different metric to determine which routes is the best</a:t>
            </a:r>
            <a:endParaRPr dirty="0"/>
          </a:p>
          <a:p>
            <a:pPr marL="457200" lvl="0" indent="-457200" algn="l" rtl="0">
              <a:spcBef>
                <a:spcPts val="504"/>
              </a:spcBef>
              <a:spcAft>
                <a:spcPts val="0"/>
              </a:spcAft>
              <a:buClr>
                <a:schemeClr val="dk1"/>
              </a:buClr>
              <a:buSzPct val="100000"/>
              <a:buFont typeface="Noto Sans Symbols"/>
              <a:buChar char="❖"/>
            </a:pPr>
            <a:r>
              <a:rPr lang="en-US" sz="2800" dirty="0">
                <a:solidFill>
                  <a:schemeClr val="dk1"/>
                </a:solidFill>
              </a:rPr>
              <a:t>RIP uses hop count</a:t>
            </a:r>
            <a:r>
              <a:rPr lang="en-US" sz="2800" dirty="0" smtClean="0">
                <a:solidFill>
                  <a:schemeClr val="dk1"/>
                </a:solidFill>
              </a:rPr>
              <a:t>, EIGRP </a:t>
            </a:r>
            <a:r>
              <a:rPr lang="en-US" sz="2800" dirty="0">
                <a:solidFill>
                  <a:schemeClr val="dk1"/>
                </a:solidFill>
              </a:rPr>
              <a:t>use calculation of based of the </a:t>
            </a:r>
            <a:r>
              <a:rPr lang="en-US" sz="2800" dirty="0" smtClean="0">
                <a:solidFill>
                  <a:schemeClr val="dk1"/>
                </a:solidFill>
              </a:rPr>
              <a:t>bandwidth &amp; delay </a:t>
            </a:r>
            <a:r>
              <a:rPr lang="en-US" sz="2800" dirty="0">
                <a:solidFill>
                  <a:schemeClr val="dk1"/>
                </a:solidFill>
              </a:rPr>
              <a:t>and OSPF uses a cost based bandwidth (metric values)</a:t>
            </a:r>
            <a:endParaRPr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p124"/>
          <p:cNvSpPr txBox="1">
            <a:spLocks noGrp="1"/>
          </p:cNvSpPr>
          <p:nvPr>
            <p:ph type="subTitle" idx="1"/>
          </p:nvPr>
        </p:nvSpPr>
        <p:spPr>
          <a:xfrm>
            <a:off x="647700" y="395605"/>
            <a:ext cx="8201025" cy="60693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dirty="0">
                <a:solidFill>
                  <a:schemeClr val="dk1"/>
                </a:solidFill>
              </a:rPr>
              <a:t>Administrative Distance:</a:t>
            </a:r>
            <a:endParaRPr dirty="0"/>
          </a:p>
          <a:p>
            <a:pPr marL="0" lvl="0" indent="0" algn="l" rtl="0">
              <a:spcBef>
                <a:spcPts val="640"/>
              </a:spcBef>
              <a:spcAft>
                <a:spcPts val="0"/>
              </a:spcAft>
              <a:buClr>
                <a:schemeClr val="dk1"/>
              </a:buClr>
              <a:buSzPts val="3200"/>
              <a:buNone/>
            </a:pPr>
            <a:r>
              <a:rPr lang="en-US" dirty="0">
                <a:solidFill>
                  <a:schemeClr val="dk1"/>
                </a:solidFill>
              </a:rPr>
              <a:t>    AD is a value that routers use in  order to select the best path when there are two or more different router to the same </a:t>
            </a:r>
            <a:r>
              <a:rPr lang="en-US" dirty="0" smtClean="0">
                <a:solidFill>
                  <a:schemeClr val="dk1"/>
                </a:solidFill>
              </a:rPr>
              <a:t>destination </a:t>
            </a:r>
            <a:r>
              <a:rPr lang="en-US" dirty="0">
                <a:solidFill>
                  <a:schemeClr val="dk1"/>
                </a:solidFill>
              </a:rPr>
              <a:t>from two different routing protocols .AD counts the reliability of a routing protocols.</a:t>
            </a:r>
            <a:endParaRPr dirty="0"/>
          </a:p>
          <a:p>
            <a:pPr marL="0" lvl="0" indent="0" algn="l" rtl="0">
              <a:spcBef>
                <a:spcPts val="640"/>
              </a:spcBef>
              <a:spcAft>
                <a:spcPts val="0"/>
              </a:spcAft>
              <a:buClr>
                <a:srgbClr val="888888"/>
              </a:buClr>
              <a:buSzPts val="3200"/>
              <a:buNone/>
            </a:pPr>
            <a:endParaRPr dirty="0">
              <a:solidFill>
                <a:schemeClr val="dk1"/>
              </a:solidFill>
            </a:endParaRPr>
          </a:p>
        </p:txBody>
      </p:sp>
      <p:graphicFrame>
        <p:nvGraphicFramePr>
          <p:cNvPr id="1005" name="Google Shape;1005;p124"/>
          <p:cNvGraphicFramePr/>
          <p:nvPr/>
        </p:nvGraphicFramePr>
        <p:xfrm>
          <a:off x="1259840" y="3429000"/>
          <a:ext cx="6399550" cy="3291930"/>
        </p:xfrm>
        <a:graphic>
          <a:graphicData uri="http://schemas.openxmlformats.org/drawingml/2006/table">
            <a:tbl>
              <a:tblPr firstRow="1" bandRow="1">
                <a:noFill/>
                <a:tableStyleId>{07945435-0B42-4836-8C0C-70F372444576}</a:tableStyleId>
              </a:tblPr>
              <a:tblGrid>
                <a:gridCol w="3199775"/>
                <a:gridCol w="3199775"/>
              </a:tblGrid>
              <a:tr h="365750">
                <a:tc>
                  <a:txBody>
                    <a:bodyPr/>
                    <a:lstStyle/>
                    <a:p>
                      <a:pPr marL="0" marR="0" lvl="0" indent="0" algn="l" rtl="0">
                        <a:spcBef>
                          <a:spcPts val="0"/>
                        </a:spcBef>
                        <a:spcAft>
                          <a:spcPts val="0"/>
                        </a:spcAft>
                        <a:buClr>
                          <a:schemeClr val="dk1"/>
                        </a:buClr>
                        <a:buSzPts val="1800"/>
                        <a:buFont typeface="Calibri"/>
                        <a:buNone/>
                      </a:pPr>
                      <a:r>
                        <a:rPr lang="en-US" sz="1800" dirty="0"/>
                        <a:t>      Routing protocols</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a:t>         AD</a:t>
                      </a:r>
                      <a:endParaRPr/>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a:t>connected</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a:t>0</a:t>
                      </a:r>
                      <a:endParaRPr/>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a:t>static</a:t>
                      </a:r>
                      <a:endParaRPr/>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a:t>1</a:t>
                      </a:r>
                      <a:endParaRPr/>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BGP(external)</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dirty="0"/>
                        <a:t>20</a:t>
                      </a:r>
                      <a:endParaRPr dirty="0"/>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EIGRP</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dirty="0"/>
                        <a:t>90</a:t>
                      </a:r>
                      <a:endParaRPr dirty="0"/>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IGRP</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a:t>100</a:t>
                      </a:r>
                      <a:endParaRPr/>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OSPF</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dirty="0"/>
                        <a:t>110</a:t>
                      </a:r>
                      <a:endParaRPr dirty="0"/>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RIP</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a:t>120</a:t>
                      </a:r>
                      <a:endParaRPr/>
                    </a:p>
                  </a:txBody>
                  <a:tcPr marL="91450" marR="91450" marT="45725" marB="45725"/>
                </a:tc>
              </a:tr>
              <a:tr h="365750">
                <a:tc>
                  <a:txBody>
                    <a:bodyPr/>
                    <a:lstStyle/>
                    <a:p>
                      <a:pPr marL="0" marR="0" lvl="0" indent="0" algn="l" rtl="0">
                        <a:spcBef>
                          <a:spcPts val="0"/>
                        </a:spcBef>
                        <a:spcAft>
                          <a:spcPts val="0"/>
                        </a:spcAft>
                        <a:buClr>
                          <a:schemeClr val="dk1"/>
                        </a:buClr>
                        <a:buSzPts val="1800"/>
                        <a:buFont typeface="Calibri"/>
                        <a:buNone/>
                      </a:pPr>
                      <a:r>
                        <a:rPr lang="en-US" sz="1800" dirty="0"/>
                        <a:t>BGP(internal)</a:t>
                      </a:r>
                      <a:endParaRPr dirty="0"/>
                    </a:p>
                  </a:txBody>
                  <a:tcPr marL="91450" marR="91450" marT="45725" marB="45725"/>
                </a:tc>
                <a:tc>
                  <a:txBody>
                    <a:bodyPr/>
                    <a:lstStyle/>
                    <a:p>
                      <a:pPr marL="0" marR="0" lvl="0" indent="0" algn="l" rtl="0">
                        <a:spcBef>
                          <a:spcPts val="0"/>
                        </a:spcBef>
                        <a:spcAft>
                          <a:spcPts val="0"/>
                        </a:spcAft>
                        <a:buClr>
                          <a:schemeClr val="dk1"/>
                        </a:buClr>
                        <a:buSzPts val="1800"/>
                        <a:buFont typeface="Calibri"/>
                        <a:buNone/>
                      </a:pPr>
                      <a:r>
                        <a:rPr lang="en-US" sz="1800" dirty="0"/>
                        <a:t>200</a:t>
                      </a:r>
                      <a:endParaRPr dirty="0"/>
                    </a:p>
                  </a:txBody>
                  <a:tcPr marL="91450" marR="91450" marT="45725" marB="45725"/>
                </a:tc>
              </a:tr>
            </a:tbl>
          </a:graphicData>
        </a:graphic>
      </p:graphicFrame>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125"/>
          <p:cNvSpPr txBox="1">
            <a:spLocks noGrp="1"/>
          </p:cNvSpPr>
          <p:nvPr>
            <p:ph type="subTitle" idx="1"/>
          </p:nvPr>
        </p:nvSpPr>
        <p:spPr>
          <a:xfrm>
            <a:off x="379095" y="318135"/>
            <a:ext cx="8343900" cy="6265545"/>
          </a:xfrm>
          <a:prstGeom prst="rect">
            <a:avLst/>
          </a:prstGeom>
          <a:noFill/>
          <a:ln>
            <a:noFill/>
          </a:ln>
        </p:spPr>
        <p:txBody>
          <a:bodyPr spcFirstLastPara="1" wrap="square" lIns="91425" tIns="45700" rIns="91425" bIns="45700" anchor="t" anchorCtr="0">
            <a:normAutofit fontScale="90000" lnSpcReduction="20000"/>
          </a:bodyPr>
          <a:lstStyle/>
          <a:p>
            <a:pPr marL="0" lvl="0" indent="0" algn="l" rtl="0">
              <a:spcBef>
                <a:spcPts val="0"/>
              </a:spcBef>
              <a:spcAft>
                <a:spcPts val="0"/>
              </a:spcAft>
              <a:buClr>
                <a:schemeClr val="dk1"/>
              </a:buClr>
              <a:buSzPct val="100000"/>
              <a:buNone/>
            </a:pPr>
            <a:r>
              <a:rPr lang="en-US" b="1" u="sng" dirty="0">
                <a:solidFill>
                  <a:schemeClr val="dk1"/>
                </a:solidFill>
              </a:rPr>
              <a:t>Next hop:</a:t>
            </a:r>
            <a:endParaRPr dirty="0"/>
          </a:p>
          <a:p>
            <a:pPr marL="457200" lvl="0" indent="-457231" algn="l" rtl="0">
              <a:spcBef>
                <a:spcPts val="480"/>
              </a:spcBef>
              <a:spcAft>
                <a:spcPts val="0"/>
              </a:spcAft>
              <a:buClr>
                <a:schemeClr val="dk1"/>
              </a:buClr>
              <a:buSzPct val="100000"/>
              <a:buFont typeface="Noto Sans Symbols"/>
              <a:buChar char="❖"/>
            </a:pPr>
            <a:r>
              <a:rPr lang="en-US" sz="2665" dirty="0">
                <a:solidFill>
                  <a:schemeClr val="dk1"/>
                </a:solidFill>
              </a:rPr>
              <a:t>Next hop is routing terms that refers to the next closer router a packet can go through</a:t>
            </a:r>
            <a:endParaRPr dirty="0"/>
          </a:p>
          <a:p>
            <a:pPr marL="457200" lvl="0" indent="-457231" algn="l" rtl="0">
              <a:spcBef>
                <a:spcPts val="480"/>
              </a:spcBef>
              <a:spcAft>
                <a:spcPts val="0"/>
              </a:spcAft>
              <a:buClr>
                <a:schemeClr val="dk1"/>
              </a:buClr>
              <a:buSzPct val="100000"/>
              <a:buFont typeface="Noto Sans Symbols"/>
              <a:buChar char="❖"/>
            </a:pPr>
            <a:r>
              <a:rPr lang="en-US" sz="2665" dirty="0">
                <a:solidFill>
                  <a:schemeClr val="dk1"/>
                </a:solidFill>
              </a:rPr>
              <a:t>The next hop is among the series of routers that are connected together in a network and is the next possible destination for a data </a:t>
            </a:r>
            <a:r>
              <a:rPr lang="en-US" sz="2665" dirty="0" smtClean="0">
                <a:solidFill>
                  <a:schemeClr val="dk1"/>
                </a:solidFill>
              </a:rPr>
              <a:t>packet</a:t>
            </a:r>
            <a:endParaRPr dirty="0"/>
          </a:p>
          <a:p>
            <a:pPr marL="0" lvl="0" indent="0" algn="l" rtl="0">
              <a:spcBef>
                <a:spcPts val="576"/>
              </a:spcBef>
              <a:spcAft>
                <a:spcPts val="0"/>
              </a:spcAft>
              <a:buClr>
                <a:schemeClr val="dk1"/>
              </a:buClr>
              <a:buSzPct val="100000"/>
              <a:buFont typeface="Noto Sans Symbols"/>
              <a:buNone/>
            </a:pPr>
            <a:r>
              <a:rPr lang="en-US" b="1" u="sng" dirty="0" smtClean="0">
                <a:solidFill>
                  <a:schemeClr val="dk1"/>
                </a:solidFill>
              </a:rPr>
              <a:t>Prefix:</a:t>
            </a:r>
            <a:endParaRPr dirty="0"/>
          </a:p>
          <a:p>
            <a:pPr marL="0" lvl="0" indent="0" algn="l" rtl="0">
              <a:spcBef>
                <a:spcPts val="576"/>
              </a:spcBef>
              <a:spcAft>
                <a:spcPts val="0"/>
              </a:spcAft>
              <a:buClr>
                <a:schemeClr val="dk1"/>
              </a:buClr>
              <a:buSzPct val="100000"/>
              <a:buFont typeface="Noto Sans Symbols"/>
              <a:buNone/>
            </a:pPr>
            <a:r>
              <a:rPr lang="en-US" dirty="0">
                <a:solidFill>
                  <a:schemeClr val="dk1"/>
                </a:solidFill>
              </a:rPr>
              <a:t>   </a:t>
            </a:r>
            <a:r>
              <a:rPr lang="en-US" sz="2220" dirty="0">
                <a:solidFill>
                  <a:schemeClr val="dk1"/>
                </a:solidFill>
              </a:rPr>
              <a:t>   </a:t>
            </a:r>
            <a:r>
              <a:rPr lang="en-US" sz="2220" dirty="0" smtClean="0">
                <a:solidFill>
                  <a:schemeClr val="dk1"/>
                </a:solidFill>
              </a:rPr>
              <a:t>Prefix </a:t>
            </a:r>
            <a:r>
              <a:rPr lang="en-US" sz="2220" dirty="0">
                <a:solidFill>
                  <a:schemeClr val="dk1"/>
                </a:solidFill>
              </a:rPr>
              <a:t>part of IP address identifies as the physical network to which the computer is </a:t>
            </a:r>
            <a:r>
              <a:rPr lang="en-US" sz="2220" dirty="0" smtClean="0">
                <a:solidFill>
                  <a:schemeClr val="dk1"/>
                </a:solidFill>
              </a:rPr>
              <a:t>attached. prefix </a:t>
            </a:r>
            <a:r>
              <a:rPr lang="en-US" sz="2220" dirty="0">
                <a:solidFill>
                  <a:schemeClr val="dk1"/>
                </a:solidFill>
              </a:rPr>
              <a:t>is also known as a network address.</a:t>
            </a:r>
            <a:endParaRPr dirty="0"/>
          </a:p>
          <a:p>
            <a:pPr marL="0" lvl="0" indent="0" algn="l" rtl="0">
              <a:spcBef>
                <a:spcPts val="400"/>
              </a:spcBef>
              <a:spcAft>
                <a:spcPts val="0"/>
              </a:spcAft>
              <a:buClr>
                <a:schemeClr val="dk1"/>
              </a:buClr>
              <a:buSzPct val="100000"/>
              <a:buFont typeface="Noto Sans Symbols"/>
              <a:buNone/>
            </a:pPr>
            <a:r>
              <a:rPr lang="en-US" sz="2220" dirty="0">
                <a:solidFill>
                  <a:schemeClr val="dk1"/>
                </a:solidFill>
              </a:rPr>
              <a:t>        172.16.0.0/16</a:t>
            </a:r>
            <a:endParaRPr dirty="0"/>
          </a:p>
          <a:p>
            <a:pPr marL="0" lvl="0" indent="0" algn="l" rtl="0">
              <a:spcBef>
                <a:spcPts val="400"/>
              </a:spcBef>
              <a:spcAft>
                <a:spcPts val="0"/>
              </a:spcAft>
              <a:buClr>
                <a:schemeClr val="dk1"/>
              </a:buClr>
              <a:buSzPct val="100000"/>
              <a:buFont typeface="Noto Sans Symbols"/>
              <a:buNone/>
            </a:pPr>
            <a:r>
              <a:rPr lang="en-US" sz="2220" dirty="0">
                <a:solidFill>
                  <a:schemeClr val="dk1"/>
                </a:solidFill>
              </a:rPr>
              <a:t>         172.16.1.0/24</a:t>
            </a:r>
            <a:endParaRPr dirty="0"/>
          </a:p>
          <a:p>
            <a:pPr marL="0" lvl="0" indent="0" algn="l" rtl="0">
              <a:spcBef>
                <a:spcPts val="400"/>
              </a:spcBef>
              <a:spcAft>
                <a:spcPts val="0"/>
              </a:spcAft>
              <a:buClr>
                <a:schemeClr val="dk1"/>
              </a:buClr>
              <a:buSzPct val="100000"/>
              <a:buFont typeface="Noto Sans Symbols"/>
              <a:buNone/>
            </a:pPr>
            <a:r>
              <a:rPr lang="en-US" sz="2220" dirty="0">
                <a:solidFill>
                  <a:schemeClr val="dk1"/>
                </a:solidFill>
              </a:rPr>
              <a:t>          172.16.1.1/32</a:t>
            </a:r>
            <a:endParaRPr dirty="0"/>
          </a:p>
          <a:p>
            <a:pPr marL="0" lvl="0" indent="0" algn="l" rtl="0">
              <a:spcBef>
                <a:spcPts val="400"/>
              </a:spcBef>
              <a:spcAft>
                <a:spcPts val="0"/>
              </a:spcAft>
              <a:buClr>
                <a:schemeClr val="dk1"/>
              </a:buClr>
              <a:buSzPct val="100000"/>
              <a:buFont typeface="Noto Sans Symbols"/>
              <a:buNone/>
            </a:pPr>
            <a:r>
              <a:rPr lang="en-US" sz="2220" dirty="0">
                <a:solidFill>
                  <a:schemeClr val="dk1"/>
                </a:solidFill>
              </a:rPr>
              <a:t>           172.16.2.0/24</a:t>
            </a:r>
            <a:endParaRPr dirty="0"/>
          </a:p>
          <a:p>
            <a:pPr marL="0" lvl="0" indent="0" algn="l" rtl="0">
              <a:spcBef>
                <a:spcPts val="640"/>
              </a:spcBef>
              <a:spcAft>
                <a:spcPts val="0"/>
              </a:spcAft>
              <a:buClr>
                <a:schemeClr val="dk1"/>
              </a:buClr>
              <a:buSzPct val="100000"/>
              <a:buFont typeface="Noto Sans Symbols"/>
              <a:buNone/>
            </a:pPr>
            <a:r>
              <a:rPr lang="en-US" sz="3555" b="1" u="sng" dirty="0">
                <a:solidFill>
                  <a:schemeClr val="dk1"/>
                </a:solidFill>
              </a:rPr>
              <a:t>Metric:</a:t>
            </a:r>
            <a:endParaRPr dirty="0"/>
          </a:p>
          <a:p>
            <a:pPr marL="0" lvl="0" indent="0" algn="l" rtl="0">
              <a:spcBef>
                <a:spcPts val="400"/>
              </a:spcBef>
              <a:spcAft>
                <a:spcPts val="0"/>
              </a:spcAft>
              <a:buClr>
                <a:schemeClr val="dk1"/>
              </a:buClr>
              <a:buSzPct val="100000"/>
              <a:buFont typeface="Noto Sans Symbols"/>
              <a:buNone/>
            </a:pPr>
            <a:r>
              <a:rPr lang="en-US" sz="2220" dirty="0">
                <a:solidFill>
                  <a:schemeClr val="dk1"/>
                </a:solidFill>
              </a:rPr>
              <a:t>        The metric is a values produced by the routing protocols algorithms . The metric values determine the best path to a destination network within a routing protocols.</a:t>
            </a:r>
            <a:endParaRPr dirty="0"/>
          </a:p>
          <a:p>
            <a:pPr marL="0" lvl="0" indent="0" algn="l" rtl="0">
              <a:spcBef>
                <a:spcPts val="400"/>
              </a:spcBef>
              <a:spcAft>
                <a:spcPts val="0"/>
              </a:spcAft>
              <a:buClr>
                <a:schemeClr val="dk1"/>
              </a:buClr>
              <a:buSzPct val="100000"/>
              <a:buFont typeface="Noto Sans Symbols"/>
              <a:buNone/>
            </a:pPr>
            <a:r>
              <a:rPr lang="en-US" sz="2220" dirty="0">
                <a:solidFill>
                  <a:schemeClr val="dk1"/>
                </a:solidFill>
              </a:rPr>
              <a:t>        </a:t>
            </a:r>
            <a:endParaRPr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p126"/>
          <p:cNvSpPr txBox="1">
            <a:spLocks noGrp="1"/>
          </p:cNvSpPr>
          <p:nvPr>
            <p:ph type="title"/>
          </p:nvPr>
        </p:nvSpPr>
        <p:spPr>
          <a:xfrm>
            <a:off x="457200" y="108137"/>
            <a:ext cx="7171899" cy="32859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smtClean="0"/>
              <a:t>SECURITY </a:t>
            </a:r>
            <a:endParaRPr dirty="0"/>
          </a:p>
        </p:txBody>
      </p:sp>
      <p:pic>
        <p:nvPicPr>
          <p:cNvPr id="1017" name="Google Shape;1017;p126" descr="Screenshot (125)"/>
          <p:cNvPicPr preferRelativeResize="0"/>
          <p:nvPr/>
        </p:nvPicPr>
        <p:blipFill rotWithShape="1">
          <a:blip r:embed="rId3">
            <a:alphaModFix/>
          </a:blip>
          <a:srcRect l="995" t="28192" b="18670"/>
          <a:stretch/>
        </p:blipFill>
        <p:spPr>
          <a:xfrm>
            <a:off x="172271" y="3138985"/>
            <a:ext cx="8824436" cy="3596185"/>
          </a:xfrm>
          <a:prstGeom prst="rect">
            <a:avLst/>
          </a:prstGeom>
          <a:noFill/>
          <a:ln>
            <a:noFill/>
          </a:ln>
        </p:spPr>
      </p:pic>
      <p:sp>
        <p:nvSpPr>
          <p:cNvPr id="2" name="TextBox 1"/>
          <p:cNvSpPr txBox="1"/>
          <p:nvPr/>
        </p:nvSpPr>
        <p:spPr>
          <a:xfrm>
            <a:off x="204715" y="436729"/>
            <a:ext cx="8791991" cy="2677656"/>
          </a:xfrm>
          <a:prstGeom prst="rect">
            <a:avLst/>
          </a:prstGeom>
          <a:noFill/>
        </p:spPr>
        <p:txBody>
          <a:bodyPr wrap="square" rtlCol="0">
            <a:spAutoFit/>
          </a:bodyPr>
          <a:lstStyle/>
          <a:p>
            <a:r>
              <a:rPr lang="en-US" sz="2800" dirty="0" smtClean="0"/>
              <a:t>The </a:t>
            </a:r>
            <a:r>
              <a:rPr lang="en-US" sz="2800" dirty="0"/>
              <a:t>CIA Triad is a foundational model representing three core principles: Confidentiality, Integrity, and Availability. </a:t>
            </a:r>
            <a:r>
              <a:rPr lang="en-US" sz="2800" dirty="0" smtClean="0"/>
              <a:t>By </a:t>
            </a:r>
            <a:r>
              <a:rPr lang="en-US" sz="2800" dirty="0"/>
              <a:t>ensuring data is only accessible to authorized individuals (confidentiality), remains accurate and unaltered (integrity), and is available when needed (availability)</a:t>
            </a:r>
            <a:endParaRPr lang="en-IN" sz="2800"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1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Security Fundamentals</a:t>
            </a:r>
            <a:endParaRPr/>
          </a:p>
        </p:txBody>
      </p:sp>
      <p:sp>
        <p:nvSpPr>
          <p:cNvPr id="1034" name="Google Shape;1034;p1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55000" lnSpcReduction="20000"/>
          </a:bodyPr>
          <a:lstStyle/>
          <a:p>
            <a:pPr marL="342900" lvl="0" indent="-342900" algn="l" rtl="0">
              <a:spcBef>
                <a:spcPts val="0"/>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r>
              <a:rPr lang="en-US"/>
              <a:t>Threats:</a:t>
            </a:r>
            <a:endParaRPr/>
          </a:p>
          <a:p>
            <a:pPr marL="342900" lvl="0" indent="-342900" algn="l" rtl="0">
              <a:spcBef>
                <a:spcPts val="352"/>
              </a:spcBef>
              <a:spcAft>
                <a:spcPts val="0"/>
              </a:spcAft>
              <a:buClr>
                <a:schemeClr val="dk1"/>
              </a:buClr>
              <a:buSzPct val="100000"/>
              <a:buChar char="•"/>
            </a:pPr>
            <a:r>
              <a:rPr lang="en-US"/>
              <a:t>   Any attempt to reach your n/w and obtain access to your data is a network threats</a:t>
            </a:r>
            <a:endParaRPr/>
          </a:p>
          <a:p>
            <a:pPr marL="342900" lvl="0" indent="-23114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r>
              <a:rPr lang="en-US"/>
              <a:t>Vulnerability:</a:t>
            </a:r>
            <a:endParaRPr/>
          </a:p>
          <a:p>
            <a:pPr marL="342900" lvl="0" indent="-342900" algn="l" rtl="0">
              <a:spcBef>
                <a:spcPts val="352"/>
              </a:spcBef>
              <a:spcAft>
                <a:spcPts val="0"/>
              </a:spcAft>
              <a:buClr>
                <a:schemeClr val="dk1"/>
              </a:buClr>
              <a:buSzPct val="100000"/>
              <a:buChar char="•"/>
            </a:pPr>
            <a:r>
              <a:rPr lang="en-US"/>
              <a:t>   A n/w vulnerability is a weakness or flow in software ,hardware or organization processes which when compromised by a threat can result in a security reach.</a:t>
            </a:r>
            <a:endParaRPr/>
          </a:p>
          <a:p>
            <a:pPr marL="342900" lvl="0" indent="-23114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r>
              <a:rPr lang="en-US"/>
              <a:t>Exploits:</a:t>
            </a:r>
            <a:endParaRPr/>
          </a:p>
          <a:p>
            <a:pPr marL="342900" lvl="0" indent="-342900" algn="l" rtl="0">
              <a:spcBef>
                <a:spcPts val="352"/>
              </a:spcBef>
              <a:spcAft>
                <a:spcPts val="0"/>
              </a:spcAft>
              <a:buClr>
                <a:schemeClr val="dk1"/>
              </a:buClr>
              <a:buSzPct val="100000"/>
              <a:buChar char="•"/>
            </a:pPr>
            <a:r>
              <a:rPr lang="en-US"/>
              <a:t>   An exploit is a code that advantage of  a software vulnerability security flow .when used ,exploits allow an intruder to remotely access a network</a:t>
            </a:r>
            <a:endParaRPr/>
          </a:p>
          <a:p>
            <a:pPr marL="342900" lvl="0" indent="-231140" algn="l" rtl="0">
              <a:spcBef>
                <a:spcPts val="352"/>
              </a:spcBef>
              <a:spcAft>
                <a:spcPts val="0"/>
              </a:spcAft>
              <a:buClr>
                <a:schemeClr val="dk1"/>
              </a:buClr>
              <a:buSzPct val="100000"/>
              <a:buNone/>
            </a:pPr>
            <a:endParaRPr/>
          </a:p>
          <a:p>
            <a:pPr marL="342900" lvl="0" indent="-342900" algn="l" rtl="0">
              <a:spcBef>
                <a:spcPts val="352"/>
              </a:spcBef>
              <a:spcAft>
                <a:spcPts val="0"/>
              </a:spcAft>
              <a:buClr>
                <a:schemeClr val="dk1"/>
              </a:buClr>
              <a:buSzPct val="100000"/>
              <a:buNone/>
            </a:pPr>
            <a:r>
              <a:rPr lang="en-US"/>
              <a:t>Mitigation Techniques:</a:t>
            </a:r>
            <a:endParaRPr/>
          </a:p>
          <a:p>
            <a:pPr marL="342900" lvl="0" indent="-342900" algn="l" rtl="0">
              <a:spcBef>
                <a:spcPts val="352"/>
              </a:spcBef>
              <a:spcAft>
                <a:spcPts val="0"/>
              </a:spcAft>
              <a:buClr>
                <a:schemeClr val="dk1"/>
              </a:buClr>
              <a:buSzPct val="100000"/>
              <a:buChar char="•"/>
            </a:pPr>
            <a:r>
              <a:rPr lang="en-US"/>
              <a:t>   Mitigation is detection and protection strategy used to safeguard n/w ,server and application by it administrators in order to minimize the effect of malicious traffic and intrusion attempts while maintaining functionality for user</a:t>
            </a:r>
            <a:endParaRPr/>
          </a:p>
          <a:p>
            <a:pPr marL="342900" lvl="0" indent="-231140" algn="l" rtl="0">
              <a:spcBef>
                <a:spcPts val="352"/>
              </a:spcBef>
              <a:spcAft>
                <a:spcPts val="0"/>
              </a:spcAft>
              <a:buClr>
                <a:schemeClr val="dk1"/>
              </a:buClr>
              <a:buSzPct val="100000"/>
              <a:buNone/>
            </a:pPr>
            <a:endParaRPr/>
          </a:p>
          <a:p>
            <a:pPr marL="342900" lvl="0" indent="-231140" algn="l" rtl="0">
              <a:spcBef>
                <a:spcPts val="352"/>
              </a:spcBef>
              <a:spcAft>
                <a:spcPts val="0"/>
              </a:spcAft>
              <a:buClr>
                <a:schemeClr val="dk1"/>
              </a:buClr>
              <a:buSzPct val="100000"/>
              <a:buNone/>
            </a:pPr>
            <a:endParaRP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Router command</a:t>
            </a:r>
            <a:endParaRPr/>
          </a:p>
        </p:txBody>
      </p:sp>
      <p:sp>
        <p:nvSpPr>
          <p:cNvPr id="383" name="Google Shape;383;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dirty="0" err="1" smtClean="0"/>
              <a:t>Config</a:t>
            </a:r>
            <a:r>
              <a:rPr lang="en-US" dirty="0" smtClean="0"/>
              <a:t> t Mode</a:t>
            </a:r>
          </a:p>
          <a:p>
            <a:pPr marL="342900" lvl="0" indent="-342900" algn="l" rtl="0">
              <a:spcBef>
                <a:spcPts val="0"/>
              </a:spcBef>
              <a:spcAft>
                <a:spcPts val="0"/>
              </a:spcAft>
              <a:buClr>
                <a:schemeClr val="dk1"/>
              </a:buClr>
              <a:buSzPct val="100000"/>
              <a:buChar char="•"/>
            </a:pPr>
            <a:r>
              <a:rPr lang="en-US" b="1" dirty="0" smtClean="0"/>
              <a:t>Host </a:t>
            </a:r>
            <a:r>
              <a:rPr lang="en-US" b="1" dirty="0"/>
              <a:t>name change</a:t>
            </a:r>
            <a:endParaRPr b="1" dirty="0"/>
          </a:p>
          <a:p>
            <a:pPr marL="342900" lvl="0" indent="-342900" algn="l" rtl="0">
              <a:spcBef>
                <a:spcPts val="592"/>
              </a:spcBef>
              <a:spcAft>
                <a:spcPts val="0"/>
              </a:spcAft>
              <a:buClr>
                <a:schemeClr val="dk1"/>
              </a:buClr>
              <a:buSzPct val="100000"/>
              <a:buNone/>
            </a:pPr>
            <a:r>
              <a:rPr lang="en-US" dirty="0"/>
              <a:t>   #hostname r1</a:t>
            </a:r>
            <a:endParaRPr dirty="0"/>
          </a:p>
          <a:p>
            <a:pPr marL="342900" lvl="0" indent="-342900" algn="l" rtl="0">
              <a:spcBef>
                <a:spcPts val="592"/>
              </a:spcBef>
              <a:spcAft>
                <a:spcPts val="0"/>
              </a:spcAft>
              <a:buClr>
                <a:schemeClr val="dk1"/>
              </a:buClr>
              <a:buSzPct val="100000"/>
              <a:buChar char="•"/>
            </a:pPr>
            <a:r>
              <a:rPr lang="en-US" dirty="0"/>
              <a:t>Password</a:t>
            </a:r>
            <a:endParaRPr dirty="0"/>
          </a:p>
          <a:p>
            <a:pPr marL="342900" lvl="0" indent="-342900" algn="l" rtl="0">
              <a:spcBef>
                <a:spcPts val="592"/>
              </a:spcBef>
              <a:spcAft>
                <a:spcPts val="0"/>
              </a:spcAft>
              <a:buClr>
                <a:schemeClr val="dk1"/>
              </a:buClr>
              <a:buSzPct val="100000"/>
              <a:buNone/>
            </a:pPr>
            <a:r>
              <a:rPr lang="en-US" dirty="0"/>
              <a:t>   #enable password 123 (enable password)</a:t>
            </a:r>
            <a:endParaRPr dirty="0"/>
          </a:p>
          <a:p>
            <a:pPr marL="342900" lvl="0" indent="-342900" algn="l" rtl="0">
              <a:spcBef>
                <a:spcPts val="592"/>
              </a:spcBef>
              <a:spcAft>
                <a:spcPts val="0"/>
              </a:spcAft>
              <a:buClr>
                <a:schemeClr val="dk1"/>
              </a:buClr>
              <a:buSzPct val="100000"/>
              <a:buNone/>
            </a:pPr>
            <a:r>
              <a:rPr lang="en-US" dirty="0"/>
              <a:t>  #enable secret 456 (secret password)</a:t>
            </a:r>
            <a:endParaRPr dirty="0"/>
          </a:p>
          <a:p>
            <a:pPr marL="342900" lvl="0" indent="-342900" algn="l" rtl="0">
              <a:spcBef>
                <a:spcPts val="592"/>
              </a:spcBef>
              <a:spcAft>
                <a:spcPts val="0"/>
              </a:spcAft>
              <a:buClr>
                <a:schemeClr val="dk1"/>
              </a:buClr>
              <a:buSzPct val="100000"/>
              <a:buNone/>
            </a:pPr>
            <a:r>
              <a:rPr lang="en-US" dirty="0"/>
              <a:t>  #line console 0     (console password)</a:t>
            </a:r>
            <a:endParaRPr dirty="0"/>
          </a:p>
          <a:p>
            <a:pPr marL="342900" lvl="0" indent="-342900" algn="l" rtl="0">
              <a:spcBef>
                <a:spcPts val="592"/>
              </a:spcBef>
              <a:spcAft>
                <a:spcPts val="0"/>
              </a:spcAft>
              <a:buClr>
                <a:schemeClr val="dk1"/>
              </a:buClr>
              <a:buSzPct val="100000"/>
              <a:buNone/>
            </a:pPr>
            <a:r>
              <a:rPr lang="en-US" dirty="0"/>
              <a:t>    password </a:t>
            </a:r>
            <a:r>
              <a:rPr lang="en-US" dirty="0" err="1"/>
              <a:t>abc</a:t>
            </a:r>
            <a:endParaRPr dirty="0"/>
          </a:p>
          <a:p>
            <a:pPr marL="342900" lvl="0" indent="-342900" algn="l" rtl="0">
              <a:spcBef>
                <a:spcPts val="592"/>
              </a:spcBef>
              <a:spcAft>
                <a:spcPts val="0"/>
              </a:spcAft>
              <a:buClr>
                <a:schemeClr val="dk1"/>
              </a:buClr>
              <a:buSzPct val="100000"/>
              <a:buNone/>
            </a:pPr>
            <a:r>
              <a:rPr lang="en-US" dirty="0"/>
              <a:t>    login</a:t>
            </a:r>
            <a:endParaRPr dirty="0"/>
          </a:p>
          <a:p>
            <a:pPr marL="342900" lvl="0" indent="-342900" algn="l" rtl="0">
              <a:spcBef>
                <a:spcPts val="592"/>
              </a:spcBef>
              <a:spcAft>
                <a:spcPts val="0"/>
              </a:spcAft>
              <a:buClr>
                <a:schemeClr val="dk1"/>
              </a:buClr>
              <a:buSzPct val="100000"/>
              <a:buNone/>
            </a:pPr>
            <a:r>
              <a:rPr lang="en-US" dirty="0"/>
              <a:t>    Exit</a:t>
            </a:r>
            <a:endParaRPr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128"/>
          <p:cNvSpPr txBox="1">
            <a:spLocks noGrp="1"/>
          </p:cNvSpPr>
          <p:nvPr>
            <p:ph type="body" idx="1"/>
          </p:nvPr>
        </p:nvSpPr>
        <p:spPr>
          <a:xfrm>
            <a:off x="457200" y="533400"/>
            <a:ext cx="8229600" cy="5791200"/>
          </a:xfrm>
          <a:prstGeom prst="rect">
            <a:avLst/>
          </a:prstGeom>
          <a:noFill/>
          <a:ln>
            <a:noFill/>
          </a:ln>
        </p:spPr>
        <p:txBody>
          <a:bodyPr spcFirstLastPara="1" wrap="square" lIns="91425" tIns="45700" rIns="91425" bIns="45700" anchor="t" anchorCtr="0">
            <a:normAutofit fontScale="62500" lnSpcReduction="20000"/>
          </a:bodyPr>
          <a:lstStyle/>
          <a:p>
            <a:pPr marL="342900" lvl="0" indent="-342900" algn="l" rtl="0">
              <a:spcBef>
                <a:spcPts val="0"/>
              </a:spcBef>
              <a:spcAft>
                <a:spcPts val="0"/>
              </a:spcAft>
              <a:buClr>
                <a:schemeClr val="dk1"/>
              </a:buClr>
              <a:buSzPct val="100000"/>
              <a:buChar char="•"/>
            </a:pPr>
            <a:r>
              <a:rPr lang="en-US" dirty="0"/>
              <a:t>Telnet:</a:t>
            </a:r>
            <a:endParaRPr dirty="0"/>
          </a:p>
          <a:p>
            <a:pPr marL="342900" lvl="0" indent="-342900" algn="l" rtl="0">
              <a:spcBef>
                <a:spcPts val="400"/>
              </a:spcBef>
              <a:spcAft>
                <a:spcPts val="0"/>
              </a:spcAft>
              <a:buClr>
                <a:schemeClr val="dk1"/>
              </a:buClr>
              <a:buSzPct val="100000"/>
              <a:buNone/>
            </a:pPr>
            <a:r>
              <a:rPr lang="en-US" dirty="0"/>
              <a:t>               Telnet is n/w protocols user to virtual access a computer of remote system on LAN or the internet </a:t>
            </a:r>
            <a:endParaRPr dirty="0"/>
          </a:p>
          <a:p>
            <a:pPr marL="342900" lvl="0" indent="-342900" algn="l" rtl="0">
              <a:spcBef>
                <a:spcPts val="400"/>
              </a:spcBef>
              <a:spcAft>
                <a:spcPts val="0"/>
              </a:spcAft>
              <a:buClr>
                <a:schemeClr val="dk1"/>
              </a:buClr>
              <a:buSzPct val="100000"/>
              <a:buNone/>
            </a:pPr>
            <a:r>
              <a:rPr lang="en-US" dirty="0"/>
              <a:t>               Telnet is a client or server application protocols that provides access to virtual terminal of remote system on LAN or the internet. </a:t>
            </a:r>
            <a:endParaRPr dirty="0"/>
          </a:p>
          <a:p>
            <a:pPr marL="342900" lvl="0" indent="-215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r>
              <a:rPr lang="en-US" dirty="0"/>
              <a:t> 2 type:</a:t>
            </a:r>
            <a:endParaRPr dirty="0"/>
          </a:p>
          <a:p>
            <a:pPr marL="342900" lvl="0" indent="-342900" algn="l" rtl="0">
              <a:spcBef>
                <a:spcPts val="400"/>
              </a:spcBef>
              <a:spcAft>
                <a:spcPts val="0"/>
              </a:spcAft>
              <a:buClr>
                <a:schemeClr val="dk1"/>
              </a:buClr>
              <a:buSzPct val="100000"/>
              <a:buNone/>
            </a:pPr>
            <a:r>
              <a:rPr lang="en-US" dirty="0"/>
              <a:t>           1.with user name </a:t>
            </a:r>
            <a:endParaRPr dirty="0"/>
          </a:p>
          <a:p>
            <a:pPr marL="342900" lvl="0" indent="-342900" algn="l" rtl="0">
              <a:spcBef>
                <a:spcPts val="400"/>
              </a:spcBef>
              <a:spcAft>
                <a:spcPts val="0"/>
              </a:spcAft>
              <a:buClr>
                <a:schemeClr val="dk1"/>
              </a:buClr>
              <a:buSzPct val="100000"/>
              <a:buNone/>
            </a:pPr>
            <a:r>
              <a:rPr lang="en-US" dirty="0"/>
              <a:t>           2.without user name</a:t>
            </a:r>
            <a:endParaRPr dirty="0"/>
          </a:p>
          <a:p>
            <a:pPr marL="342900" lvl="0" indent="-215900" algn="l" rtl="0">
              <a:spcBef>
                <a:spcPts val="400"/>
              </a:spcBef>
              <a:spcAft>
                <a:spcPts val="0"/>
              </a:spcAft>
              <a:buClr>
                <a:schemeClr val="dk1"/>
              </a:buClr>
              <a:buSzPct val="100000"/>
              <a:buNone/>
            </a:pPr>
            <a:endParaRPr dirty="0"/>
          </a:p>
          <a:p>
            <a:pPr marL="342900" lvl="0" indent="-342900" algn="l" rtl="0">
              <a:spcBef>
                <a:spcPts val="400"/>
              </a:spcBef>
              <a:spcAft>
                <a:spcPts val="0"/>
              </a:spcAft>
              <a:buClr>
                <a:schemeClr val="dk1"/>
              </a:buClr>
              <a:buSzPct val="100000"/>
              <a:buNone/>
            </a:pPr>
            <a:r>
              <a:rPr lang="en-US" dirty="0"/>
              <a:t>SSH:</a:t>
            </a:r>
            <a:endParaRPr dirty="0"/>
          </a:p>
          <a:p>
            <a:pPr marL="342900" lvl="0" indent="-342900" algn="l" rtl="0">
              <a:spcBef>
                <a:spcPts val="400"/>
              </a:spcBef>
              <a:spcAft>
                <a:spcPts val="0"/>
              </a:spcAft>
              <a:buClr>
                <a:schemeClr val="dk1"/>
              </a:buClr>
              <a:buSzPct val="100000"/>
              <a:buChar char="•"/>
            </a:pPr>
            <a:r>
              <a:rPr lang="en-US" dirty="0"/>
              <a:t>   SSH is more protect than telnet</a:t>
            </a:r>
            <a:endParaRPr dirty="0"/>
          </a:p>
          <a:p>
            <a:pPr marL="342900" lvl="0" indent="-342900" algn="l" rtl="0">
              <a:spcBef>
                <a:spcPts val="400"/>
              </a:spcBef>
              <a:spcAft>
                <a:spcPts val="0"/>
              </a:spcAft>
              <a:buClr>
                <a:schemeClr val="dk1"/>
              </a:buClr>
              <a:buSzPct val="100000"/>
              <a:buChar char="•"/>
            </a:pPr>
            <a:r>
              <a:rPr lang="en-US" dirty="0"/>
              <a:t>   SSH is also known as secure shell or secure socket shell, is a n/w protocols that gives users particularly system administration a secures way to access a computer over a unsecured n/w</a:t>
            </a:r>
            <a:endParaRPr dirty="0"/>
          </a:p>
          <a:p>
            <a:pPr marL="342900" lvl="0" indent="-342900" algn="l" rtl="0">
              <a:spcBef>
                <a:spcPts val="400"/>
              </a:spcBef>
              <a:spcAft>
                <a:spcPts val="0"/>
              </a:spcAft>
              <a:buClr>
                <a:schemeClr val="dk1"/>
              </a:buClr>
              <a:buSzPct val="100000"/>
              <a:buChar char="•"/>
            </a:pPr>
            <a:r>
              <a:rPr lang="en-US" dirty="0"/>
              <a:t>   SSH or socket shell is a n/w communication protocols that enables two computer to communication  http</a:t>
            </a:r>
            <a:endParaRPr dirty="0"/>
          </a:p>
          <a:p>
            <a:pPr marL="342900" lvl="0" indent="-342900" algn="l" rtl="0">
              <a:spcBef>
                <a:spcPts val="400"/>
              </a:spcBef>
              <a:spcAft>
                <a:spcPts val="0"/>
              </a:spcAft>
              <a:buClr>
                <a:schemeClr val="dk1"/>
              </a:buClr>
              <a:buSzPct val="100000"/>
              <a:buChar char="•"/>
            </a:pPr>
            <a:r>
              <a:rPr lang="en-US" dirty="0"/>
              <a:t>(hyper text transfer protocols ) which is the protocols used to transfer hyper text such as used pages and shared data</a:t>
            </a:r>
            <a:endParaRPr dirty="0"/>
          </a:p>
          <a:p>
            <a:pPr marL="342900" lvl="0" indent="-215900" algn="l" rtl="0">
              <a:spcBef>
                <a:spcPts val="400"/>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Without User</a:t>
            </a:r>
            <a:endParaRPr/>
          </a:p>
        </p:txBody>
      </p:sp>
      <p:sp>
        <p:nvSpPr>
          <p:cNvPr id="1040" name="Google Shape;1040;p130"/>
          <p:cNvSpPr txBox="1">
            <a:spLocks noGrp="1"/>
          </p:cNvSpPr>
          <p:nvPr>
            <p:ph type="body" idx="1"/>
          </p:nvPr>
        </p:nvSpPr>
        <p:spPr>
          <a:xfrm>
            <a:off x="533400" y="1295401"/>
            <a:ext cx="8229600" cy="5562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R1:</a:t>
            </a:r>
            <a:endParaRPr dirty="0"/>
          </a:p>
          <a:p>
            <a:pPr marL="342900" lvl="0" indent="-342900" algn="l" rtl="0">
              <a:spcBef>
                <a:spcPts val="640"/>
              </a:spcBef>
              <a:spcAft>
                <a:spcPts val="0"/>
              </a:spcAft>
              <a:buClr>
                <a:schemeClr val="dk1"/>
              </a:buClr>
              <a:buSzPts val="3200"/>
              <a:buNone/>
            </a:pPr>
            <a:r>
              <a:rPr lang="en-US" dirty="0"/>
              <a:t>interface gig0/0/0</a:t>
            </a:r>
            <a:endParaRPr dirty="0"/>
          </a:p>
          <a:p>
            <a:pPr marL="342900" lvl="0" indent="-342900" algn="l" rtl="0">
              <a:spcBef>
                <a:spcPts val="640"/>
              </a:spcBef>
              <a:spcAft>
                <a:spcPts val="0"/>
              </a:spcAft>
              <a:buClr>
                <a:schemeClr val="dk1"/>
              </a:buClr>
              <a:buSzPts val="3200"/>
              <a:buNone/>
            </a:pPr>
            <a:r>
              <a:rPr lang="en-US" dirty="0" err="1"/>
              <a:t>Ip</a:t>
            </a:r>
            <a:r>
              <a:rPr lang="en-US" dirty="0"/>
              <a:t> address 192.168.1.1 255.255.255.0</a:t>
            </a:r>
            <a:endParaRPr dirty="0"/>
          </a:p>
          <a:p>
            <a:pPr marL="342900" lvl="0" indent="-342900" algn="l" rtl="0">
              <a:spcBef>
                <a:spcPts val="640"/>
              </a:spcBef>
              <a:spcAft>
                <a:spcPts val="0"/>
              </a:spcAft>
              <a:buClr>
                <a:schemeClr val="dk1"/>
              </a:buClr>
              <a:buSzPts val="3200"/>
              <a:buNone/>
            </a:pPr>
            <a:r>
              <a:rPr lang="en-US" dirty="0"/>
              <a:t>No shutdown</a:t>
            </a:r>
            <a:endParaRPr dirty="0"/>
          </a:p>
          <a:p>
            <a:pPr marL="342900" lvl="0" indent="-342900" algn="l" rtl="0">
              <a:spcBef>
                <a:spcPts val="640"/>
              </a:spcBef>
              <a:spcAft>
                <a:spcPts val="0"/>
              </a:spcAft>
              <a:buClr>
                <a:schemeClr val="dk1"/>
              </a:buClr>
              <a:buSzPts val="3200"/>
              <a:buNone/>
            </a:pPr>
            <a:r>
              <a:rPr lang="en-US" dirty="0"/>
              <a:t>Exit</a:t>
            </a:r>
            <a:endParaRPr dirty="0"/>
          </a:p>
          <a:p>
            <a:pPr marL="342900" lvl="0" indent="-342900" algn="l" rtl="0">
              <a:spcBef>
                <a:spcPts val="640"/>
              </a:spcBef>
              <a:spcAft>
                <a:spcPts val="0"/>
              </a:spcAft>
              <a:buClr>
                <a:schemeClr val="dk1"/>
              </a:buClr>
              <a:buSzPts val="3200"/>
              <a:buNone/>
            </a:pPr>
            <a:r>
              <a:rPr lang="en-US" dirty="0"/>
              <a:t>Line </a:t>
            </a:r>
            <a:r>
              <a:rPr lang="en-US" dirty="0" err="1"/>
              <a:t>vty</a:t>
            </a:r>
            <a:r>
              <a:rPr lang="en-US" dirty="0"/>
              <a:t> 0 </a:t>
            </a:r>
            <a:r>
              <a:rPr lang="en-US" dirty="0" smtClean="0"/>
              <a:t>5   </a:t>
            </a:r>
            <a:r>
              <a:rPr lang="en-US" dirty="0" smtClean="0">
                <a:solidFill>
                  <a:schemeClr val="accent6">
                    <a:lumMod val="60000"/>
                    <a:lumOff val="40000"/>
                  </a:schemeClr>
                </a:solidFill>
              </a:rPr>
              <a:t>(Virtual </a:t>
            </a:r>
            <a:r>
              <a:rPr lang="en-US" dirty="0" err="1" smtClean="0">
                <a:solidFill>
                  <a:schemeClr val="accent6">
                    <a:lumMod val="60000"/>
                    <a:lumOff val="40000"/>
                  </a:schemeClr>
                </a:solidFill>
              </a:rPr>
              <a:t>TeleType</a:t>
            </a:r>
            <a:r>
              <a:rPr lang="en-US" dirty="0" smtClean="0">
                <a:solidFill>
                  <a:schemeClr val="accent6">
                    <a:lumMod val="60000"/>
                    <a:lumOff val="40000"/>
                  </a:schemeClr>
                </a:solidFill>
              </a:rPr>
              <a:t> 0-4 or 0-15)</a:t>
            </a:r>
            <a:endParaRPr dirty="0">
              <a:solidFill>
                <a:schemeClr val="accent6">
                  <a:lumMod val="60000"/>
                  <a:lumOff val="40000"/>
                </a:schemeClr>
              </a:solidFill>
            </a:endParaRPr>
          </a:p>
          <a:p>
            <a:pPr marL="342900" lvl="0" indent="-342900" algn="l" rtl="0">
              <a:spcBef>
                <a:spcPts val="640"/>
              </a:spcBef>
              <a:spcAft>
                <a:spcPts val="0"/>
              </a:spcAft>
              <a:buClr>
                <a:schemeClr val="dk1"/>
              </a:buClr>
              <a:buSzPts val="3200"/>
              <a:buNone/>
            </a:pPr>
            <a:r>
              <a:rPr lang="en-US" dirty="0"/>
              <a:t>Password </a:t>
            </a:r>
            <a:r>
              <a:rPr lang="en-US" dirty="0" err="1"/>
              <a:t>abcd</a:t>
            </a:r>
            <a:endParaRPr dirty="0"/>
          </a:p>
          <a:p>
            <a:pPr marL="342900" lvl="0" indent="-342900" algn="l" rtl="0">
              <a:spcBef>
                <a:spcPts val="640"/>
              </a:spcBef>
              <a:spcAft>
                <a:spcPts val="0"/>
              </a:spcAft>
              <a:buClr>
                <a:schemeClr val="dk1"/>
              </a:buClr>
              <a:buSzPts val="3200"/>
              <a:buNone/>
            </a:pPr>
            <a:r>
              <a:rPr lang="en-US" dirty="0"/>
              <a:t>Login</a:t>
            </a:r>
            <a:endParaRPr dirty="0"/>
          </a:p>
          <a:p>
            <a:pPr marL="342900" lvl="0" indent="-342900" algn="l" rtl="0">
              <a:spcBef>
                <a:spcPts val="640"/>
              </a:spcBef>
              <a:spcAft>
                <a:spcPts val="0"/>
              </a:spcAft>
              <a:buClr>
                <a:schemeClr val="dk1"/>
              </a:buClr>
              <a:buSzPts val="3200"/>
              <a:buNone/>
            </a:pPr>
            <a:r>
              <a:rPr lang="en-US" dirty="0"/>
              <a:t>end</a:t>
            </a:r>
            <a:endParaRPr dirty="0"/>
          </a:p>
        </p:txBody>
      </p:sp>
      <p:sp>
        <p:nvSpPr>
          <p:cNvPr id="1041" name="Google Shape;1041;p130"/>
          <p:cNvSpPr/>
          <p:nvPr/>
        </p:nvSpPr>
        <p:spPr>
          <a:xfrm>
            <a:off x="7010400" y="1981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2" name="Google Shape;1042;p130"/>
          <p:cNvSpPr/>
          <p:nvPr/>
        </p:nvSpPr>
        <p:spPr>
          <a:xfrm>
            <a:off x="6858000" y="3505200"/>
            <a:ext cx="914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43" name="Google Shape;1043;p130"/>
          <p:cNvSpPr/>
          <p:nvPr/>
        </p:nvSpPr>
        <p:spPr>
          <a:xfrm>
            <a:off x="6934200" y="5257800"/>
            <a:ext cx="762000" cy="685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44" name="Google Shape;1044;p130"/>
          <p:cNvCxnSpPr>
            <a:stCxn id="1041" idx="4"/>
            <a:endCxn id="1042" idx="0"/>
          </p:cNvCxnSpPr>
          <p:nvPr/>
        </p:nvCxnSpPr>
        <p:spPr>
          <a:xfrm flipH="1">
            <a:off x="7315200" y="2590800"/>
            <a:ext cx="38100" cy="914400"/>
          </a:xfrm>
          <a:prstGeom prst="straightConnector1">
            <a:avLst/>
          </a:prstGeom>
          <a:noFill/>
          <a:ln w="9525" cap="flat" cmpd="sng">
            <a:solidFill>
              <a:srgbClr val="4A7DBA"/>
            </a:solidFill>
            <a:prstDash val="solid"/>
            <a:round/>
            <a:headEnd type="none" w="sm" len="sm"/>
            <a:tailEnd type="stealth" w="med" len="med"/>
          </a:ln>
        </p:spPr>
      </p:cxnSp>
      <p:cxnSp>
        <p:nvCxnSpPr>
          <p:cNvPr id="1045" name="Google Shape;1045;p130"/>
          <p:cNvCxnSpPr>
            <a:stCxn id="1042" idx="2"/>
            <a:endCxn id="1043" idx="0"/>
          </p:cNvCxnSpPr>
          <p:nvPr/>
        </p:nvCxnSpPr>
        <p:spPr>
          <a:xfrm>
            <a:off x="7315200" y="3886200"/>
            <a:ext cx="0" cy="1371600"/>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131"/>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dirty="0"/>
              <a:t> </a:t>
            </a:r>
            <a:r>
              <a:rPr lang="en-US" b="1" dirty="0"/>
              <a:t>(</a:t>
            </a:r>
            <a:r>
              <a:rPr lang="en-US" b="1" dirty="0" err="1"/>
              <a:t>config</a:t>
            </a:r>
            <a:r>
              <a:rPr lang="en-US" b="1" dirty="0"/>
              <a:t> t)#</a:t>
            </a:r>
            <a:endParaRPr b="1" dirty="0"/>
          </a:p>
          <a:p>
            <a:pPr marL="342900" lvl="0" indent="-342900" algn="l" rtl="0">
              <a:spcBef>
                <a:spcPts val="544"/>
              </a:spcBef>
              <a:spcAft>
                <a:spcPts val="0"/>
              </a:spcAft>
              <a:buClr>
                <a:schemeClr val="dk1"/>
              </a:buClr>
              <a:buSzPct val="100000"/>
              <a:buNone/>
            </a:pPr>
            <a:r>
              <a:rPr lang="en-US" dirty="0"/>
              <a:t>     Enable Password XYZ</a:t>
            </a:r>
            <a:endParaRPr dirty="0"/>
          </a:p>
          <a:p>
            <a:pPr marL="342900" lvl="0" indent="-342900" algn="l" rtl="0">
              <a:spcBef>
                <a:spcPts val="544"/>
              </a:spcBef>
              <a:spcAft>
                <a:spcPts val="0"/>
              </a:spcAft>
              <a:buClr>
                <a:schemeClr val="dk1"/>
              </a:buClr>
              <a:buSzPct val="100000"/>
              <a:buNone/>
            </a:pPr>
            <a:r>
              <a:rPr lang="en-US" dirty="0"/>
              <a:t>     do write</a:t>
            </a:r>
            <a:endParaRPr dirty="0"/>
          </a:p>
          <a:p>
            <a:pPr marL="342900" lvl="0" indent="-342900" algn="l" rtl="0">
              <a:spcBef>
                <a:spcPts val="544"/>
              </a:spcBef>
              <a:spcAft>
                <a:spcPts val="0"/>
              </a:spcAft>
              <a:buClr>
                <a:schemeClr val="dk1"/>
              </a:buClr>
              <a:buSzPct val="100000"/>
              <a:buNone/>
            </a:pPr>
            <a:r>
              <a:rPr lang="en-US" b="1" dirty="0"/>
              <a:t>Desktop</a:t>
            </a:r>
            <a:endParaRPr b="1" dirty="0"/>
          </a:p>
          <a:p>
            <a:pPr marL="342900" lvl="0" indent="-342900" algn="l" rtl="0">
              <a:spcBef>
                <a:spcPts val="544"/>
              </a:spcBef>
              <a:spcAft>
                <a:spcPts val="0"/>
              </a:spcAft>
              <a:buClr>
                <a:schemeClr val="dk1"/>
              </a:buClr>
              <a:buSzPct val="100000"/>
              <a:buNone/>
            </a:pPr>
            <a:r>
              <a:rPr lang="en-US" dirty="0"/>
              <a:t>      192.168.1.2</a:t>
            </a:r>
            <a:endParaRPr dirty="0"/>
          </a:p>
          <a:p>
            <a:pPr marL="342900" lvl="0" indent="-342900" algn="l" rtl="0">
              <a:spcBef>
                <a:spcPts val="544"/>
              </a:spcBef>
              <a:spcAft>
                <a:spcPts val="0"/>
              </a:spcAft>
              <a:buClr>
                <a:schemeClr val="dk1"/>
              </a:buClr>
              <a:buSzPct val="100000"/>
              <a:buNone/>
            </a:pPr>
            <a:r>
              <a:rPr lang="en-US" dirty="0"/>
              <a:t>      255.255.255.0</a:t>
            </a:r>
            <a:endParaRPr dirty="0"/>
          </a:p>
          <a:p>
            <a:pPr marL="342900" lvl="0" indent="-342900" algn="l" rtl="0">
              <a:spcBef>
                <a:spcPts val="544"/>
              </a:spcBef>
              <a:spcAft>
                <a:spcPts val="0"/>
              </a:spcAft>
              <a:buClr>
                <a:schemeClr val="dk1"/>
              </a:buClr>
              <a:buSzPct val="100000"/>
              <a:buNone/>
            </a:pPr>
            <a:r>
              <a:rPr lang="en-US" dirty="0"/>
              <a:t>      192.168.1.1</a:t>
            </a:r>
            <a:endParaRPr dirty="0"/>
          </a:p>
          <a:p>
            <a:pPr marL="342900" lvl="0" indent="-342900" algn="l" rtl="0">
              <a:spcBef>
                <a:spcPts val="544"/>
              </a:spcBef>
              <a:spcAft>
                <a:spcPts val="0"/>
              </a:spcAft>
              <a:buClr>
                <a:schemeClr val="dk1"/>
              </a:buClr>
              <a:buSzPct val="100000"/>
              <a:buNone/>
            </a:pPr>
            <a:r>
              <a:rPr lang="en-US" b="1" dirty="0"/>
              <a:t>Command </a:t>
            </a:r>
            <a:r>
              <a:rPr lang="en-US" b="1" dirty="0" err="1"/>
              <a:t>Promt</a:t>
            </a:r>
            <a:endParaRPr b="1" dirty="0"/>
          </a:p>
          <a:p>
            <a:pPr marL="342900" lvl="0" indent="-342900" algn="l" rtl="0">
              <a:spcBef>
                <a:spcPts val="544"/>
              </a:spcBef>
              <a:spcAft>
                <a:spcPts val="0"/>
              </a:spcAft>
              <a:buClr>
                <a:schemeClr val="dk1"/>
              </a:buClr>
              <a:buSzPct val="100000"/>
              <a:buNone/>
            </a:pPr>
            <a:r>
              <a:rPr lang="en-US" dirty="0"/>
              <a:t>      telnet 192.168.1.1</a:t>
            </a:r>
            <a:endParaRPr dirty="0"/>
          </a:p>
          <a:p>
            <a:pPr marL="342900" lvl="0" indent="-342900" algn="l" rtl="0">
              <a:spcBef>
                <a:spcPts val="544"/>
              </a:spcBef>
              <a:spcAft>
                <a:spcPts val="0"/>
              </a:spcAft>
              <a:buClr>
                <a:schemeClr val="dk1"/>
              </a:buClr>
              <a:buSzPct val="100000"/>
              <a:buNone/>
            </a:pPr>
            <a:r>
              <a:rPr lang="en-US" dirty="0"/>
              <a:t>      user access verification</a:t>
            </a:r>
            <a:endParaRPr dirty="0"/>
          </a:p>
          <a:p>
            <a:pPr marL="342900" lvl="0" indent="-342900" algn="l" rtl="0">
              <a:spcBef>
                <a:spcPts val="544"/>
              </a:spcBef>
              <a:spcAft>
                <a:spcPts val="0"/>
              </a:spcAft>
              <a:buClr>
                <a:schemeClr val="dk1"/>
              </a:buClr>
              <a:buSzPct val="100000"/>
              <a:buNone/>
            </a:pPr>
            <a:r>
              <a:rPr lang="en-US" dirty="0"/>
              <a:t>      Password : </a:t>
            </a:r>
            <a:r>
              <a:rPr lang="en-US" dirty="0" err="1"/>
              <a:t>abcd</a:t>
            </a:r>
            <a:endParaRPr dirty="0"/>
          </a:p>
          <a:p>
            <a:pPr marL="342900" lvl="0" indent="-342900" algn="l" rtl="0">
              <a:spcBef>
                <a:spcPts val="544"/>
              </a:spcBef>
              <a:spcAft>
                <a:spcPts val="0"/>
              </a:spcAft>
              <a:buClr>
                <a:schemeClr val="dk1"/>
              </a:buClr>
              <a:buSzPct val="100000"/>
              <a:buNone/>
            </a:pPr>
            <a:r>
              <a:rPr lang="en-US" dirty="0"/>
              <a:t>      Router &gt;Enable</a:t>
            </a:r>
            <a:endParaRPr dirty="0"/>
          </a:p>
          <a:p>
            <a:pPr marL="342900" lvl="0" indent="-342900" algn="l" rtl="0">
              <a:spcBef>
                <a:spcPts val="544"/>
              </a:spcBef>
              <a:spcAft>
                <a:spcPts val="0"/>
              </a:spcAft>
              <a:buClr>
                <a:schemeClr val="dk1"/>
              </a:buClr>
              <a:buSzPct val="100000"/>
              <a:buNone/>
            </a:pPr>
            <a:r>
              <a:rPr lang="en-US" dirty="0"/>
              <a:t>      Password : XYZ</a:t>
            </a:r>
            <a:endParaRPr dirty="0"/>
          </a:p>
          <a:p>
            <a:pPr marL="342900" lvl="0" indent="-342900" algn="l" rtl="0">
              <a:spcBef>
                <a:spcPts val="544"/>
              </a:spcBef>
              <a:spcAft>
                <a:spcPts val="0"/>
              </a:spcAft>
              <a:buClr>
                <a:schemeClr val="dk1"/>
              </a:buClr>
              <a:buSzPct val="100000"/>
              <a:buNone/>
            </a:pPr>
            <a:endParaRPr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1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With User</a:t>
            </a:r>
            <a:endParaRPr/>
          </a:p>
        </p:txBody>
      </p:sp>
      <p:sp>
        <p:nvSpPr>
          <p:cNvPr id="1056" name="Google Shape;1056;p1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None/>
            </a:pPr>
            <a:r>
              <a:rPr lang="en-US" dirty="0"/>
              <a:t>interface gig0/0/0</a:t>
            </a:r>
            <a:endParaRPr dirty="0"/>
          </a:p>
          <a:p>
            <a:pPr marL="342900" lvl="0" indent="-342900" algn="l" rtl="0">
              <a:spcBef>
                <a:spcPts val="448"/>
              </a:spcBef>
              <a:spcAft>
                <a:spcPts val="0"/>
              </a:spcAft>
              <a:buClr>
                <a:schemeClr val="dk1"/>
              </a:buClr>
              <a:buSzPct val="100000"/>
              <a:buNone/>
            </a:pPr>
            <a:r>
              <a:rPr lang="en-US" dirty="0" err="1"/>
              <a:t>Ip</a:t>
            </a:r>
            <a:r>
              <a:rPr lang="en-US" dirty="0"/>
              <a:t> address 192.168.1.1 255.255.255.0</a:t>
            </a:r>
            <a:endParaRPr dirty="0"/>
          </a:p>
          <a:p>
            <a:pPr marL="342900" lvl="0" indent="-342900" algn="l" rtl="0">
              <a:spcBef>
                <a:spcPts val="448"/>
              </a:spcBef>
              <a:spcAft>
                <a:spcPts val="0"/>
              </a:spcAft>
              <a:buClr>
                <a:schemeClr val="dk1"/>
              </a:buClr>
              <a:buSzPct val="100000"/>
              <a:buNone/>
            </a:pPr>
            <a:r>
              <a:rPr lang="en-US" dirty="0"/>
              <a:t>No shutdown</a:t>
            </a:r>
            <a:endParaRPr dirty="0"/>
          </a:p>
          <a:p>
            <a:pPr marL="342900" lvl="0" indent="-342900" algn="l" rtl="0">
              <a:spcBef>
                <a:spcPts val="448"/>
              </a:spcBef>
              <a:spcAft>
                <a:spcPts val="0"/>
              </a:spcAft>
              <a:buClr>
                <a:schemeClr val="dk1"/>
              </a:buClr>
              <a:buSzPct val="100000"/>
              <a:buNone/>
            </a:pPr>
            <a:r>
              <a:rPr lang="en-US" dirty="0"/>
              <a:t>Exit</a:t>
            </a:r>
            <a:endParaRPr dirty="0"/>
          </a:p>
          <a:p>
            <a:pPr marL="342900" lvl="0" indent="-342900" algn="l" rtl="0">
              <a:spcBef>
                <a:spcPts val="448"/>
              </a:spcBef>
              <a:spcAft>
                <a:spcPts val="0"/>
              </a:spcAft>
              <a:buClr>
                <a:schemeClr val="dk1"/>
              </a:buClr>
              <a:buSzPct val="100000"/>
              <a:buNone/>
            </a:pPr>
            <a:endParaRPr dirty="0"/>
          </a:p>
          <a:p>
            <a:pPr marL="342900" lvl="0" indent="-342900" algn="l" rtl="0">
              <a:spcBef>
                <a:spcPts val="448"/>
              </a:spcBef>
              <a:spcAft>
                <a:spcPts val="0"/>
              </a:spcAft>
              <a:buClr>
                <a:schemeClr val="dk1"/>
              </a:buClr>
              <a:buSzPct val="100000"/>
              <a:buNone/>
            </a:pPr>
            <a:r>
              <a:rPr lang="en-US" dirty="0"/>
              <a:t>Enable password </a:t>
            </a:r>
            <a:r>
              <a:rPr lang="en-US" dirty="0" err="1"/>
              <a:t>abcd</a:t>
            </a:r>
            <a:endParaRPr dirty="0"/>
          </a:p>
          <a:p>
            <a:pPr marL="342900" lvl="0" indent="-342900" algn="l" rtl="0">
              <a:spcBef>
                <a:spcPts val="448"/>
              </a:spcBef>
              <a:spcAft>
                <a:spcPts val="0"/>
              </a:spcAft>
              <a:buClr>
                <a:schemeClr val="dk1"/>
              </a:buClr>
              <a:buSzPct val="100000"/>
              <a:buNone/>
            </a:pPr>
            <a:r>
              <a:rPr lang="en-US" dirty="0"/>
              <a:t>Username </a:t>
            </a:r>
            <a:r>
              <a:rPr lang="en-US" dirty="0" smtClean="0"/>
              <a:t>Admin </a:t>
            </a:r>
            <a:r>
              <a:rPr lang="en-US" dirty="0"/>
              <a:t>Password XYZ</a:t>
            </a:r>
            <a:endParaRPr dirty="0"/>
          </a:p>
          <a:p>
            <a:pPr marL="342900" lvl="0" indent="-342900" algn="l" rtl="0">
              <a:spcBef>
                <a:spcPts val="448"/>
              </a:spcBef>
              <a:spcAft>
                <a:spcPts val="0"/>
              </a:spcAft>
              <a:buClr>
                <a:schemeClr val="dk1"/>
              </a:buClr>
              <a:buSzPct val="100000"/>
              <a:buNone/>
            </a:pPr>
            <a:endParaRPr dirty="0"/>
          </a:p>
          <a:p>
            <a:pPr marL="342900" lvl="0" indent="-342900" algn="l" rtl="0">
              <a:spcBef>
                <a:spcPts val="448"/>
              </a:spcBef>
              <a:spcAft>
                <a:spcPts val="0"/>
              </a:spcAft>
              <a:buClr>
                <a:schemeClr val="dk1"/>
              </a:buClr>
              <a:buSzPct val="100000"/>
              <a:buNone/>
            </a:pPr>
            <a:r>
              <a:rPr lang="en-US" dirty="0"/>
              <a:t>Line </a:t>
            </a:r>
            <a:r>
              <a:rPr lang="en-US" dirty="0" err="1"/>
              <a:t>vty</a:t>
            </a:r>
            <a:r>
              <a:rPr lang="en-US" dirty="0"/>
              <a:t> 0 1</a:t>
            </a:r>
            <a:endParaRPr dirty="0"/>
          </a:p>
          <a:p>
            <a:pPr marL="342900" lvl="0" indent="-342900" algn="l" rtl="0">
              <a:spcBef>
                <a:spcPts val="448"/>
              </a:spcBef>
              <a:spcAft>
                <a:spcPts val="0"/>
              </a:spcAft>
              <a:buClr>
                <a:schemeClr val="dk1"/>
              </a:buClr>
              <a:buSzPct val="100000"/>
              <a:buNone/>
            </a:pPr>
            <a:r>
              <a:rPr lang="en-US" dirty="0"/>
              <a:t>Login local</a:t>
            </a:r>
            <a:endParaRPr dirty="0"/>
          </a:p>
          <a:p>
            <a:pPr marL="342900" lvl="0" indent="-342900" algn="l" rtl="0">
              <a:spcBef>
                <a:spcPts val="448"/>
              </a:spcBef>
              <a:spcAft>
                <a:spcPts val="0"/>
              </a:spcAft>
              <a:buClr>
                <a:schemeClr val="dk1"/>
              </a:buClr>
              <a:buSzPct val="100000"/>
              <a:buNone/>
            </a:pPr>
            <a:r>
              <a:rPr lang="en-US" dirty="0"/>
              <a:t>Exit</a:t>
            </a:r>
            <a:endParaRPr dirty="0"/>
          </a:p>
          <a:p>
            <a:pPr marL="342900" lvl="0" indent="-342900" algn="l" rtl="0">
              <a:spcBef>
                <a:spcPts val="448"/>
              </a:spcBef>
              <a:spcAft>
                <a:spcPts val="0"/>
              </a:spcAft>
              <a:buClr>
                <a:schemeClr val="dk1"/>
              </a:buClr>
              <a:buSzPct val="100000"/>
              <a:buNone/>
            </a:pPr>
            <a:r>
              <a:rPr lang="en-US" dirty="0"/>
              <a:t>Do write</a:t>
            </a:r>
            <a:endParaRPr dirty="0"/>
          </a:p>
        </p:txBody>
      </p:sp>
      <p:sp>
        <p:nvSpPr>
          <p:cNvPr id="1057" name="Google Shape;1057;p132"/>
          <p:cNvSpPr/>
          <p:nvPr/>
        </p:nvSpPr>
        <p:spPr>
          <a:xfrm>
            <a:off x="7010400" y="1981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8" name="Google Shape;1058;p132"/>
          <p:cNvSpPr/>
          <p:nvPr/>
        </p:nvSpPr>
        <p:spPr>
          <a:xfrm>
            <a:off x="6858000" y="3505200"/>
            <a:ext cx="914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59" name="Google Shape;1059;p132"/>
          <p:cNvSpPr/>
          <p:nvPr/>
        </p:nvSpPr>
        <p:spPr>
          <a:xfrm>
            <a:off x="6934200" y="5257800"/>
            <a:ext cx="762000" cy="685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60" name="Google Shape;1060;p132"/>
          <p:cNvCxnSpPr>
            <a:stCxn id="1057" idx="4"/>
            <a:endCxn id="1058" idx="0"/>
          </p:cNvCxnSpPr>
          <p:nvPr/>
        </p:nvCxnSpPr>
        <p:spPr>
          <a:xfrm flipH="1">
            <a:off x="7315200" y="2590800"/>
            <a:ext cx="38100" cy="914400"/>
          </a:xfrm>
          <a:prstGeom prst="straightConnector1">
            <a:avLst/>
          </a:prstGeom>
          <a:noFill/>
          <a:ln w="9525" cap="flat" cmpd="sng">
            <a:solidFill>
              <a:srgbClr val="4A7DBA"/>
            </a:solidFill>
            <a:prstDash val="solid"/>
            <a:round/>
            <a:headEnd type="none" w="sm" len="sm"/>
            <a:tailEnd type="stealth" w="med" len="med"/>
          </a:ln>
        </p:spPr>
      </p:cxnSp>
      <p:cxnSp>
        <p:nvCxnSpPr>
          <p:cNvPr id="1061" name="Google Shape;1061;p132"/>
          <p:cNvCxnSpPr>
            <a:stCxn id="1058" idx="2"/>
            <a:endCxn id="1059" idx="0"/>
          </p:cNvCxnSpPr>
          <p:nvPr/>
        </p:nvCxnSpPr>
        <p:spPr>
          <a:xfrm>
            <a:off x="7315200" y="3886200"/>
            <a:ext cx="0" cy="1371600"/>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p133"/>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dirty="0"/>
              <a:t>Desktop</a:t>
            </a:r>
            <a:endParaRPr dirty="0"/>
          </a:p>
          <a:p>
            <a:pPr marL="342900" lvl="0" indent="-342900" algn="l" rtl="0">
              <a:spcBef>
                <a:spcPts val="592"/>
              </a:spcBef>
              <a:spcAft>
                <a:spcPts val="0"/>
              </a:spcAft>
              <a:buClr>
                <a:schemeClr val="dk1"/>
              </a:buClr>
              <a:buSzPct val="100000"/>
              <a:buNone/>
            </a:pPr>
            <a:r>
              <a:rPr lang="en-US" dirty="0"/>
              <a:t>       192.168.2.2</a:t>
            </a:r>
            <a:endParaRPr dirty="0"/>
          </a:p>
          <a:p>
            <a:pPr marL="342900" lvl="0" indent="-342900" algn="l" rtl="0">
              <a:spcBef>
                <a:spcPts val="592"/>
              </a:spcBef>
              <a:spcAft>
                <a:spcPts val="0"/>
              </a:spcAft>
              <a:buClr>
                <a:schemeClr val="dk1"/>
              </a:buClr>
              <a:buSzPct val="100000"/>
              <a:buNone/>
            </a:pPr>
            <a:r>
              <a:rPr lang="en-US" dirty="0"/>
              <a:t>        255.255.255.0</a:t>
            </a:r>
            <a:endParaRPr dirty="0"/>
          </a:p>
          <a:p>
            <a:pPr marL="342900" lvl="0" indent="-342900" algn="l" rtl="0">
              <a:spcBef>
                <a:spcPts val="592"/>
              </a:spcBef>
              <a:spcAft>
                <a:spcPts val="0"/>
              </a:spcAft>
              <a:buClr>
                <a:schemeClr val="dk1"/>
              </a:buClr>
              <a:buSzPct val="100000"/>
              <a:buNone/>
            </a:pPr>
            <a:r>
              <a:rPr lang="en-US" dirty="0"/>
              <a:t>       192.168.2.1</a:t>
            </a:r>
            <a:endParaRPr dirty="0"/>
          </a:p>
          <a:p>
            <a:pPr marL="342900" lvl="0" indent="-342900" algn="l" rtl="0">
              <a:spcBef>
                <a:spcPts val="592"/>
              </a:spcBef>
              <a:spcAft>
                <a:spcPts val="0"/>
              </a:spcAft>
              <a:buClr>
                <a:schemeClr val="dk1"/>
              </a:buClr>
              <a:buSzPct val="100000"/>
              <a:buNone/>
            </a:pPr>
            <a:r>
              <a:rPr lang="en-US" dirty="0"/>
              <a:t>Command </a:t>
            </a:r>
            <a:r>
              <a:rPr lang="en-US" dirty="0" err="1"/>
              <a:t>promt</a:t>
            </a:r>
            <a:endParaRPr dirty="0"/>
          </a:p>
          <a:p>
            <a:pPr marL="342900" lvl="0" indent="-342900" algn="l" rtl="0">
              <a:spcBef>
                <a:spcPts val="592"/>
              </a:spcBef>
              <a:spcAft>
                <a:spcPts val="0"/>
              </a:spcAft>
              <a:buClr>
                <a:schemeClr val="dk1"/>
              </a:buClr>
              <a:buSzPct val="100000"/>
              <a:buNone/>
            </a:pPr>
            <a:r>
              <a:rPr lang="en-US" dirty="0"/>
              <a:t>       telnet 192.168.2.1</a:t>
            </a:r>
            <a:endParaRPr dirty="0"/>
          </a:p>
          <a:p>
            <a:pPr marL="342900" lvl="0" indent="-342900" algn="l" rtl="0">
              <a:spcBef>
                <a:spcPts val="592"/>
              </a:spcBef>
              <a:spcAft>
                <a:spcPts val="0"/>
              </a:spcAft>
              <a:buClr>
                <a:schemeClr val="dk1"/>
              </a:buClr>
              <a:buSzPct val="100000"/>
              <a:buNone/>
            </a:pPr>
            <a:r>
              <a:rPr lang="en-US" dirty="0"/>
              <a:t>      user name </a:t>
            </a:r>
            <a:r>
              <a:rPr lang="en-US" dirty="0" smtClean="0"/>
              <a:t>:Admin</a:t>
            </a:r>
            <a:endParaRPr dirty="0"/>
          </a:p>
          <a:p>
            <a:pPr marL="342900" lvl="0" indent="-342900" algn="l" rtl="0">
              <a:spcBef>
                <a:spcPts val="592"/>
              </a:spcBef>
              <a:spcAft>
                <a:spcPts val="0"/>
              </a:spcAft>
              <a:buClr>
                <a:schemeClr val="dk1"/>
              </a:buClr>
              <a:buSzPct val="100000"/>
              <a:buNone/>
            </a:pPr>
            <a:r>
              <a:rPr lang="en-US" dirty="0"/>
              <a:t>       Password :XYZ</a:t>
            </a:r>
            <a:endParaRPr dirty="0"/>
          </a:p>
          <a:p>
            <a:pPr marL="342900" lvl="0" indent="-342900" algn="l" rtl="0">
              <a:spcBef>
                <a:spcPts val="592"/>
              </a:spcBef>
              <a:spcAft>
                <a:spcPts val="0"/>
              </a:spcAft>
              <a:buClr>
                <a:schemeClr val="dk1"/>
              </a:buClr>
              <a:buSzPct val="100000"/>
              <a:buNone/>
            </a:pPr>
            <a:r>
              <a:rPr lang="en-US" dirty="0"/>
              <a:t>      Router &gt;enable</a:t>
            </a:r>
            <a:endParaRPr dirty="0"/>
          </a:p>
          <a:p>
            <a:pPr marL="342900" lvl="0" indent="-342900" algn="l" rtl="0">
              <a:spcBef>
                <a:spcPts val="592"/>
              </a:spcBef>
              <a:spcAft>
                <a:spcPts val="0"/>
              </a:spcAft>
              <a:buClr>
                <a:schemeClr val="dk1"/>
              </a:buClr>
              <a:buSzPct val="100000"/>
              <a:buNone/>
            </a:pPr>
            <a:r>
              <a:rPr lang="en-US" dirty="0"/>
              <a:t>       Password :</a:t>
            </a:r>
            <a:r>
              <a:rPr lang="en-US" dirty="0" err="1"/>
              <a:t>abcd</a:t>
            </a:r>
            <a:endParaRPr dirty="0"/>
          </a:p>
          <a:p>
            <a:pPr marL="342900" lvl="0" indent="-342900" algn="l" rtl="0">
              <a:spcBef>
                <a:spcPts val="592"/>
              </a:spcBef>
              <a:spcAft>
                <a:spcPts val="0"/>
              </a:spcAft>
              <a:buClr>
                <a:schemeClr val="dk1"/>
              </a:buClr>
              <a:buSzPct val="100000"/>
              <a:buNone/>
            </a:pPr>
            <a:r>
              <a:rPr lang="en-US" dirty="0"/>
              <a:t>       </a:t>
            </a:r>
            <a:endParaRPr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8976" y="532263"/>
            <a:ext cx="7772400" cy="600501"/>
          </a:xfrm>
        </p:spPr>
        <p:txBody>
          <a:bodyPr>
            <a:normAutofit fontScale="90000"/>
          </a:bodyPr>
          <a:lstStyle/>
          <a:p>
            <a:r>
              <a:rPr lang="en-US" b="1" dirty="0" smtClean="0"/>
              <a:t>SSH - </a:t>
            </a:r>
            <a:r>
              <a:rPr lang="en-IN" b="1" dirty="0"/>
              <a:t>Secure Shell</a:t>
            </a:r>
          </a:p>
        </p:txBody>
      </p:sp>
      <p:sp>
        <p:nvSpPr>
          <p:cNvPr id="4" name="Rectangle 1"/>
          <p:cNvSpPr>
            <a:spLocks noGrp="1" noChangeArrowheads="1"/>
          </p:cNvSpPr>
          <p:nvPr>
            <p:ph type="subTitle" idx="1"/>
          </p:nvPr>
        </p:nvSpPr>
        <p:spPr bwMode="auto">
          <a:xfrm>
            <a:off x="327546" y="1827195"/>
            <a:ext cx="847526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It is a </a:t>
            </a:r>
            <a:r>
              <a:rPr kumimoji="0" lang="en-US" altLang="en-US" sz="1800" b="1" i="0" u="none" strike="noStrike" cap="none" normalizeH="0" baseline="0" dirty="0" smtClean="0">
                <a:ln>
                  <a:noFill/>
                </a:ln>
                <a:solidFill>
                  <a:schemeClr val="tx1"/>
                </a:solidFill>
                <a:effectLst/>
                <a:latin typeface="Arial" panose="020B0604020202020204" pitchFamily="34" charset="0"/>
              </a:rPr>
              <a:t>network protocol</a:t>
            </a:r>
            <a:r>
              <a:rPr kumimoji="0" lang="en-US" altLang="en-US" sz="1800" b="0" i="0" u="none" strike="noStrike" cap="none" normalizeH="0" baseline="0" dirty="0" smtClean="0">
                <a:ln>
                  <a:noFill/>
                </a:ln>
                <a:solidFill>
                  <a:schemeClr val="tx1"/>
                </a:solidFill>
                <a:effectLst/>
                <a:latin typeface="Arial" panose="020B0604020202020204" pitchFamily="34" charset="0"/>
              </a:rPr>
              <a:t> used to securely access and manage devices over an </a:t>
            </a:r>
            <a:r>
              <a:rPr kumimoji="0" lang="en-US" altLang="en-US" sz="1800" b="1" i="0" u="none" strike="noStrike" cap="none" normalizeH="0" baseline="0" dirty="0" smtClean="0">
                <a:ln>
                  <a:noFill/>
                </a:ln>
                <a:solidFill>
                  <a:schemeClr val="tx1"/>
                </a:solidFill>
                <a:effectLst/>
                <a:latin typeface="Arial" panose="020B0604020202020204" pitchFamily="34" charset="0"/>
              </a:rPr>
              <a:t>unsecured network</a:t>
            </a:r>
            <a:r>
              <a:rPr kumimoji="0" lang="en-US" altLang="en-US" sz="1800" b="0" i="0" u="none" strike="noStrike" cap="none" normalizeH="0" baseline="0" dirty="0" smtClean="0">
                <a:ln>
                  <a:noFill/>
                </a:ln>
                <a:solidFill>
                  <a:schemeClr val="tx1"/>
                </a:solidFill>
                <a:effectLst/>
                <a:latin typeface="Arial" panose="020B0604020202020204" pitchFamily="34" charset="0"/>
              </a:rPr>
              <a:t> (like the Internet).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Provides </a:t>
            </a:r>
            <a:r>
              <a:rPr kumimoji="0" lang="en-US" altLang="en-US" sz="1800" b="1" i="0" u="none" strike="noStrike" cap="none" normalizeH="0" baseline="0" dirty="0" smtClean="0">
                <a:ln>
                  <a:noFill/>
                </a:ln>
                <a:solidFill>
                  <a:schemeClr val="tx1"/>
                </a:solidFill>
                <a:effectLst/>
                <a:latin typeface="Arial" panose="020B0604020202020204" pitchFamily="34" charset="0"/>
              </a:rPr>
              <a:t>encryption</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authentication</a:t>
            </a:r>
            <a:r>
              <a:rPr kumimoji="0" lang="en-US" altLang="en-US" sz="1800" b="0" i="0" u="none" strike="noStrike" cap="none" normalizeH="0" baseline="0" dirty="0" smtClean="0">
                <a:ln>
                  <a:noFill/>
                </a:ln>
                <a:solidFill>
                  <a:schemeClr val="tx1"/>
                </a:solidFill>
                <a:effectLst/>
                <a:latin typeface="Arial" panose="020B0604020202020204" pitchFamily="34" charset="0"/>
              </a:rPr>
              <a:t>, and </a:t>
            </a:r>
            <a:r>
              <a:rPr kumimoji="0" lang="en-US" altLang="en-US" sz="1800" b="1" i="0" u="none" strike="noStrike" cap="none" normalizeH="0" baseline="0" dirty="0" smtClean="0">
                <a:ln>
                  <a:noFill/>
                </a:ln>
                <a:solidFill>
                  <a:schemeClr val="tx1"/>
                </a:solidFill>
                <a:effectLst/>
                <a:latin typeface="Arial" panose="020B0604020202020204" pitchFamily="34" charset="0"/>
              </a:rPr>
              <a:t>data integrity</a:t>
            </a:r>
            <a:r>
              <a:rPr kumimoji="0" lang="en-US" altLang="en-US" sz="1800" b="0" i="0" u="none" strike="noStrike" cap="none" normalizeH="0" baseline="0" dirty="0" smtClean="0">
                <a:ln>
                  <a:noFill/>
                </a:ln>
                <a:solidFill>
                  <a:schemeClr val="tx1"/>
                </a:solidFill>
                <a:effectLst/>
                <a:latin typeface="Arial" panose="020B0604020202020204" pitchFamily="34" charset="0"/>
              </a:rPr>
              <a:t> for remote connections.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Commonly used by </a:t>
            </a:r>
            <a:r>
              <a:rPr kumimoji="0" lang="en-US" altLang="en-US" sz="1800" b="1" i="0" u="none" strike="noStrike" cap="none" normalizeH="0" baseline="0" dirty="0" smtClean="0">
                <a:ln>
                  <a:noFill/>
                </a:ln>
                <a:solidFill>
                  <a:schemeClr val="tx1"/>
                </a:solidFill>
                <a:effectLst/>
                <a:latin typeface="Arial" panose="020B0604020202020204" pitchFamily="34" charset="0"/>
              </a:rPr>
              <a:t>network administrators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1" i="0" u="none" strike="noStrike" cap="none" normalizeH="0" baseline="0" dirty="0" smtClean="0">
                <a:ln>
                  <a:noFill/>
                </a:ln>
                <a:solidFill>
                  <a:schemeClr val="tx1"/>
                </a:solidFill>
                <a:effectLst/>
                <a:latin typeface="Arial" panose="020B0604020202020204" pitchFamily="34" charset="0"/>
              </a:rPr>
              <a:t>developers</a:t>
            </a:r>
            <a:r>
              <a:rPr kumimoji="0" lang="en-US" altLang="en-US" sz="1800" b="0" i="0" u="none" strike="noStrike" cap="none" normalizeH="0" baseline="0" dirty="0" smtClean="0">
                <a:ln>
                  <a:noFill/>
                </a:ln>
                <a:solidFill>
                  <a:schemeClr val="tx1"/>
                </a:solidFill>
                <a:effectLst/>
                <a:latin typeface="Arial" panose="020B0604020202020204" pitchFamily="34" charset="0"/>
              </a:rPr>
              <a:t>, and </a:t>
            </a:r>
            <a:r>
              <a:rPr kumimoji="0" lang="en-US" altLang="en-US" sz="1800" b="1" i="0" u="none" strike="noStrike" cap="none" normalizeH="0" baseline="0" dirty="0" smtClean="0">
                <a:ln>
                  <a:noFill/>
                </a:ln>
                <a:solidFill>
                  <a:schemeClr val="tx1"/>
                </a:solidFill>
                <a:effectLst/>
                <a:latin typeface="Arial" panose="020B0604020202020204" pitchFamily="34" charset="0"/>
              </a:rPr>
              <a:t>system engineers</a:t>
            </a: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703373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77421" y="535851"/>
            <a:ext cx="8871045" cy="5663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chemeClr val="tx1"/>
                </a:solidFill>
                <a:effectLst/>
                <a:latin typeface="Arial" panose="020B0604020202020204" pitchFamily="34" charset="0"/>
              </a:rPr>
              <a:t>Key Features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Secure Remote Login:</a:t>
            </a:r>
            <a:r>
              <a:rPr kumimoji="0" lang="en-US" altLang="en-US" sz="1800" b="0" i="0" u="none" strike="noStrike" cap="none" normalizeH="0" baseline="0" dirty="0" smtClean="0">
                <a:ln>
                  <a:noFill/>
                </a:ln>
                <a:solidFill>
                  <a:schemeClr val="tx1"/>
                </a:solidFill>
                <a:effectLst/>
                <a:latin typeface="Arial" panose="020B0604020202020204" pitchFamily="34" charset="0"/>
              </a:rPr>
              <a:t> Allows users to log into remote systems securely.</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Data Encryption:</a:t>
            </a:r>
            <a:r>
              <a:rPr kumimoji="0" lang="en-US" altLang="en-US" sz="1800" b="0" i="0" u="none" strike="noStrike" cap="none" normalizeH="0" baseline="0" dirty="0" smtClean="0">
                <a:ln>
                  <a:noFill/>
                </a:ln>
                <a:solidFill>
                  <a:schemeClr val="tx1"/>
                </a:solidFill>
                <a:effectLst/>
                <a:latin typeface="Arial" panose="020B0604020202020204" pitchFamily="34" charset="0"/>
              </a:rPr>
              <a:t> Encrypts all transmitted data, protecting it from eavesdropping or interception.</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Authentication:</a:t>
            </a:r>
            <a:r>
              <a:rPr kumimoji="0" lang="en-US" altLang="en-US" sz="1800" b="0" i="0" u="none" strike="noStrike" cap="none" normalizeH="0" baseline="0" dirty="0" smtClean="0">
                <a:ln>
                  <a:noFill/>
                </a:ln>
                <a:solidFill>
                  <a:schemeClr val="tx1"/>
                </a:solidFill>
                <a:effectLst/>
                <a:latin typeface="Arial" panose="020B0604020202020204" pitchFamily="34" charset="0"/>
              </a:rPr>
              <a:t> Supports several authentication methods (passwords, public/private keys, certificates).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Command Execution:</a:t>
            </a:r>
            <a:r>
              <a:rPr kumimoji="0" lang="en-US" altLang="en-US" sz="1800" b="0" i="0" u="none" strike="noStrike" cap="none" normalizeH="0" baseline="0" dirty="0" smtClean="0">
                <a:ln>
                  <a:noFill/>
                </a:ln>
                <a:solidFill>
                  <a:schemeClr val="tx1"/>
                </a:solidFill>
                <a:effectLst/>
                <a:latin typeface="Arial" panose="020B0604020202020204" pitchFamily="34" charset="0"/>
              </a:rPr>
              <a:t> Enables running commands on remote systems.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File Transfer:</a:t>
            </a:r>
            <a:r>
              <a:rPr kumimoji="0" lang="en-US" altLang="en-US" sz="1800" b="0" i="0" u="none" strike="noStrike" cap="none" normalizeH="0" baseline="0" dirty="0" smtClean="0">
                <a:ln>
                  <a:noFill/>
                </a:ln>
                <a:solidFill>
                  <a:schemeClr val="tx1"/>
                </a:solidFill>
                <a:effectLst/>
                <a:latin typeface="Arial" panose="020B0604020202020204" pitchFamily="34" charset="0"/>
              </a:rPr>
              <a:t> Includes tools like </a:t>
            </a:r>
            <a:r>
              <a:rPr kumimoji="0" lang="en-US" altLang="en-US" sz="1800" b="0" i="0" u="none" strike="noStrike" cap="none" normalizeH="0" baseline="0" dirty="0" smtClean="0">
                <a:ln>
                  <a:noFill/>
                </a:ln>
                <a:solidFill>
                  <a:schemeClr val="tx1"/>
                </a:solidFill>
                <a:effectLst/>
                <a:latin typeface="Arial Unicode MS" panose="020B0604020202020204" pitchFamily="34" charset="-128"/>
              </a:rPr>
              <a:t>SCP</a:t>
            </a:r>
            <a:r>
              <a:rPr kumimoji="0" lang="en-US" altLang="en-US" sz="1800" b="0" i="0" u="none" strike="noStrike" cap="none" normalizeH="0" baseline="0" dirty="0" smtClean="0">
                <a:ln>
                  <a:noFill/>
                </a:ln>
                <a:solidFill>
                  <a:schemeClr val="tx1"/>
                </a:solidFill>
                <a:effectLst/>
              </a:rPr>
              <a:t> (Secure Copy) and </a:t>
            </a:r>
            <a:r>
              <a:rPr kumimoji="0" lang="en-US" altLang="en-US" sz="1800" b="0" i="0" u="none" strike="noStrike" cap="none" normalizeH="0" baseline="0" dirty="0" smtClean="0">
                <a:ln>
                  <a:noFill/>
                </a:ln>
                <a:solidFill>
                  <a:schemeClr val="tx1"/>
                </a:solidFill>
                <a:effectLst/>
                <a:latin typeface="Arial Unicode MS" panose="020B0604020202020204" pitchFamily="34" charset="-128"/>
              </a:rPr>
              <a:t>SFTP</a:t>
            </a:r>
            <a:r>
              <a:rPr kumimoji="0" lang="en-US" altLang="en-US" sz="1800" b="0" i="0" u="none" strike="noStrike" cap="none" normalizeH="0" baseline="0" dirty="0" smtClean="0">
                <a:ln>
                  <a:noFill/>
                </a:ln>
                <a:solidFill>
                  <a:schemeClr val="tx1"/>
                </a:solidFill>
                <a:effectLst/>
              </a:rPr>
              <a:t> (Secure File Transfer Protocol).</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Port Forwarding (Tunneling):</a:t>
            </a:r>
            <a:r>
              <a:rPr kumimoji="0" lang="en-US" altLang="en-US" sz="1800" b="0" i="0" u="none" strike="noStrike" cap="none" normalizeH="0" baseline="0" dirty="0" smtClean="0">
                <a:ln>
                  <a:noFill/>
                </a:ln>
                <a:solidFill>
                  <a:schemeClr val="tx1"/>
                </a:solidFill>
                <a:effectLst/>
                <a:latin typeface="Arial" panose="020B0604020202020204" pitchFamily="34" charset="0"/>
              </a:rPr>
              <a:t> Encapsulates other protocols (like HTTP or SMTP) inside an SSH session for security.</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Session Multiplexing:</a:t>
            </a:r>
            <a:r>
              <a:rPr kumimoji="0" lang="en-US" altLang="en-US" sz="1800" b="0" i="0" u="none" strike="noStrike" cap="none" normalizeH="0" baseline="0" dirty="0" smtClean="0">
                <a:ln>
                  <a:noFill/>
                </a:ln>
                <a:solidFill>
                  <a:schemeClr val="tx1"/>
                </a:solidFill>
                <a:effectLst/>
                <a:latin typeface="Arial" panose="020B0604020202020204" pitchFamily="34" charset="0"/>
              </a:rPr>
              <a:t> Multiple sessions can be handled through one SSH connection.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073180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09434" y="532263"/>
            <a:ext cx="8366076" cy="6032310"/>
          </a:xfrm>
        </p:spPr>
        <p:txBody>
          <a:bodyPr>
            <a:normAutofit/>
          </a:bodyPr>
          <a:lstStyle/>
          <a:p>
            <a:pPr algn="l"/>
            <a:r>
              <a:rPr lang="en-US" sz="2800" b="1" dirty="0">
                <a:solidFill>
                  <a:schemeClr val="tx1"/>
                </a:solidFill>
              </a:rPr>
              <a:t>How SSH Works (Step-by-Step)</a:t>
            </a:r>
          </a:p>
          <a:p>
            <a:pPr algn="l"/>
            <a:r>
              <a:rPr lang="en-US" sz="2400" b="1" dirty="0">
                <a:solidFill>
                  <a:schemeClr val="tx1"/>
                </a:solidFill>
              </a:rPr>
              <a:t>Connection Initiation:</a:t>
            </a:r>
            <a:r>
              <a:rPr lang="en-US" sz="2400" dirty="0">
                <a:solidFill>
                  <a:schemeClr val="tx1"/>
                </a:solidFill>
              </a:rPr>
              <a:t> The SSH client contacts the SSH server (default port </a:t>
            </a:r>
            <a:r>
              <a:rPr lang="en-US" sz="2400" b="1" dirty="0">
                <a:solidFill>
                  <a:schemeClr val="tx1"/>
                </a:solidFill>
              </a:rPr>
              <a:t>22</a:t>
            </a:r>
            <a:r>
              <a:rPr lang="en-US" sz="2400" dirty="0" smtClean="0">
                <a:solidFill>
                  <a:schemeClr val="tx1"/>
                </a:solidFill>
              </a:rPr>
              <a:t>).</a:t>
            </a:r>
          </a:p>
          <a:p>
            <a:pPr algn="l"/>
            <a:endParaRPr lang="en-US" sz="2400" dirty="0">
              <a:solidFill>
                <a:schemeClr val="tx1"/>
              </a:solidFill>
            </a:endParaRPr>
          </a:p>
          <a:p>
            <a:pPr algn="l"/>
            <a:r>
              <a:rPr lang="en-US" sz="2400" b="1" dirty="0">
                <a:solidFill>
                  <a:schemeClr val="tx1"/>
                </a:solidFill>
              </a:rPr>
              <a:t>Version Exchange:</a:t>
            </a:r>
            <a:r>
              <a:rPr lang="en-US" sz="2400" dirty="0">
                <a:solidFill>
                  <a:schemeClr val="tx1"/>
                </a:solidFill>
              </a:rPr>
              <a:t> Client and server agree on protocol version and encryption algorithms</a:t>
            </a:r>
            <a:r>
              <a:rPr lang="en-US" sz="2400" dirty="0" smtClean="0">
                <a:solidFill>
                  <a:schemeClr val="tx1"/>
                </a:solidFill>
              </a:rPr>
              <a:t>.</a:t>
            </a:r>
          </a:p>
          <a:p>
            <a:pPr algn="l"/>
            <a:endParaRPr lang="en-US" sz="2400" dirty="0">
              <a:solidFill>
                <a:schemeClr val="tx1"/>
              </a:solidFill>
            </a:endParaRPr>
          </a:p>
          <a:p>
            <a:pPr algn="l"/>
            <a:r>
              <a:rPr lang="en-US" sz="2400" b="1" dirty="0">
                <a:solidFill>
                  <a:schemeClr val="tx1"/>
                </a:solidFill>
              </a:rPr>
              <a:t>Key Exchange:</a:t>
            </a:r>
            <a:r>
              <a:rPr lang="en-US" sz="2400" dirty="0">
                <a:solidFill>
                  <a:schemeClr val="tx1"/>
                </a:solidFill>
              </a:rPr>
              <a:t> A secure session key is established using asymmetric encryption (e.g., RSA, </a:t>
            </a:r>
            <a:r>
              <a:rPr lang="en-US" sz="2400" dirty="0" err="1">
                <a:solidFill>
                  <a:schemeClr val="tx1"/>
                </a:solidFill>
              </a:rPr>
              <a:t>Diffie</a:t>
            </a:r>
            <a:r>
              <a:rPr lang="en-US" sz="2400" dirty="0">
                <a:solidFill>
                  <a:schemeClr val="tx1"/>
                </a:solidFill>
              </a:rPr>
              <a:t>-Hellman).</a:t>
            </a:r>
          </a:p>
          <a:p>
            <a:pPr algn="l"/>
            <a:r>
              <a:rPr lang="en-US" sz="2400" b="1" dirty="0">
                <a:solidFill>
                  <a:schemeClr val="tx1"/>
                </a:solidFill>
              </a:rPr>
              <a:t>User Authentication:</a:t>
            </a:r>
            <a:r>
              <a:rPr lang="en-US" sz="2400" dirty="0">
                <a:solidFill>
                  <a:schemeClr val="tx1"/>
                </a:solidFill>
              </a:rPr>
              <a:t> User identity is verified (via password or public key</a:t>
            </a:r>
            <a:r>
              <a:rPr lang="en-US" sz="2400" dirty="0" smtClean="0">
                <a:solidFill>
                  <a:schemeClr val="tx1"/>
                </a:solidFill>
              </a:rPr>
              <a:t>).</a:t>
            </a:r>
          </a:p>
          <a:p>
            <a:pPr algn="l"/>
            <a:endParaRPr lang="en-US" sz="2400" dirty="0">
              <a:solidFill>
                <a:schemeClr val="tx1"/>
              </a:solidFill>
            </a:endParaRPr>
          </a:p>
          <a:p>
            <a:pPr algn="l"/>
            <a:r>
              <a:rPr lang="en-US" sz="2400" b="1" dirty="0">
                <a:solidFill>
                  <a:schemeClr val="tx1"/>
                </a:solidFill>
              </a:rPr>
              <a:t>Secure Channel Established:</a:t>
            </a:r>
            <a:r>
              <a:rPr lang="en-US" sz="2400" dirty="0">
                <a:solidFill>
                  <a:schemeClr val="tx1"/>
                </a:solidFill>
              </a:rPr>
              <a:t> Once authenticated, all communication is encrypted and integrity-protected</a:t>
            </a:r>
            <a:r>
              <a:rPr lang="en-US" sz="2400" dirty="0" smtClean="0">
                <a:solidFill>
                  <a:schemeClr val="tx1"/>
                </a:solidFill>
              </a:rPr>
              <a:t>.</a:t>
            </a:r>
            <a:endParaRPr lang="en-US" sz="2400" dirty="0">
              <a:solidFill>
                <a:schemeClr val="tx1"/>
              </a:solidFill>
            </a:endParaRPr>
          </a:p>
        </p:txBody>
      </p:sp>
    </p:spTree>
    <p:extLst>
      <p:ext uri="{BB962C8B-B14F-4D97-AF65-F5344CB8AC3E}">
        <p14:creationId xmlns:p14="http://schemas.microsoft.com/office/powerpoint/2010/main" val="359534080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64025" y="409433"/>
            <a:ext cx="7792872" cy="6005015"/>
          </a:xfrm>
        </p:spPr>
        <p:txBody>
          <a:bodyPr>
            <a:normAutofit/>
          </a:bodyPr>
          <a:lstStyle/>
          <a:p>
            <a:pPr algn="l"/>
            <a:r>
              <a:rPr lang="en-IN" b="1" dirty="0">
                <a:solidFill>
                  <a:schemeClr val="tx1"/>
                </a:solidFill>
              </a:rPr>
              <a:t>🌐 Network Usage</a:t>
            </a:r>
          </a:p>
          <a:p>
            <a:pPr algn="l"/>
            <a:r>
              <a:rPr lang="en-IN" b="1" dirty="0">
                <a:solidFill>
                  <a:schemeClr val="tx1"/>
                </a:solidFill>
              </a:rPr>
              <a:t>Default Port:</a:t>
            </a:r>
            <a:r>
              <a:rPr lang="en-IN" dirty="0">
                <a:solidFill>
                  <a:schemeClr val="tx1"/>
                </a:solidFill>
              </a:rPr>
              <a:t> TCP port </a:t>
            </a:r>
            <a:r>
              <a:rPr lang="en-IN" b="1" dirty="0">
                <a:solidFill>
                  <a:schemeClr val="tx1"/>
                </a:solidFill>
              </a:rPr>
              <a:t>22</a:t>
            </a:r>
            <a:r>
              <a:rPr lang="en-IN" dirty="0">
                <a:solidFill>
                  <a:schemeClr val="tx1"/>
                </a:solidFill>
              </a:rPr>
              <a:t>.</a:t>
            </a:r>
          </a:p>
          <a:p>
            <a:pPr algn="l"/>
            <a:r>
              <a:rPr lang="en-IN" b="1" dirty="0">
                <a:solidFill>
                  <a:schemeClr val="tx1"/>
                </a:solidFill>
              </a:rPr>
              <a:t>Protocol Type:</a:t>
            </a:r>
            <a:r>
              <a:rPr lang="en-IN" dirty="0">
                <a:solidFill>
                  <a:schemeClr val="tx1"/>
                </a:solidFill>
              </a:rPr>
              <a:t> Application-layer protocol </a:t>
            </a:r>
            <a:r>
              <a:rPr lang="en-IN" dirty="0" smtClean="0">
                <a:solidFill>
                  <a:schemeClr val="tx1"/>
                </a:solidFill>
              </a:rPr>
              <a:t>       </a:t>
            </a:r>
          </a:p>
          <a:p>
            <a:pPr algn="l"/>
            <a:r>
              <a:rPr lang="en-IN" dirty="0">
                <a:solidFill>
                  <a:schemeClr val="tx1"/>
                </a:solidFill>
              </a:rPr>
              <a:t> </a:t>
            </a:r>
            <a:r>
              <a:rPr lang="en-IN" dirty="0" smtClean="0">
                <a:solidFill>
                  <a:schemeClr val="tx1"/>
                </a:solidFill>
              </a:rPr>
              <a:t>                          (</a:t>
            </a:r>
            <a:r>
              <a:rPr lang="en-IN" dirty="0">
                <a:solidFill>
                  <a:schemeClr val="tx1"/>
                </a:solidFill>
              </a:rPr>
              <a:t>operates over TCP/IP).</a:t>
            </a:r>
          </a:p>
          <a:p>
            <a:pPr algn="l"/>
            <a:r>
              <a:rPr lang="en-IN" b="1" dirty="0">
                <a:solidFill>
                  <a:schemeClr val="tx1"/>
                </a:solidFill>
              </a:rPr>
              <a:t>Used For:</a:t>
            </a:r>
            <a:endParaRPr lang="en-IN" dirty="0">
              <a:solidFill>
                <a:schemeClr val="tx1"/>
              </a:solidFill>
            </a:endParaRPr>
          </a:p>
          <a:p>
            <a:pPr lvl="1" algn="l"/>
            <a:r>
              <a:rPr lang="en-IN" dirty="0">
                <a:solidFill>
                  <a:schemeClr val="tx1"/>
                </a:solidFill>
              </a:rPr>
              <a:t>Managing routers, switches, and firewalls remotely.</a:t>
            </a:r>
          </a:p>
          <a:p>
            <a:pPr lvl="1" algn="l"/>
            <a:r>
              <a:rPr lang="en-IN" dirty="0">
                <a:solidFill>
                  <a:schemeClr val="tx1"/>
                </a:solidFill>
              </a:rPr>
              <a:t>Logging into remote servers.</a:t>
            </a:r>
          </a:p>
          <a:p>
            <a:pPr lvl="1" algn="l"/>
            <a:r>
              <a:rPr lang="en-IN" dirty="0">
                <a:solidFill>
                  <a:schemeClr val="tx1"/>
                </a:solidFill>
              </a:rPr>
              <a:t>Securely transferring files.</a:t>
            </a:r>
          </a:p>
          <a:p>
            <a:pPr lvl="1" algn="l"/>
            <a:r>
              <a:rPr lang="en-IN" dirty="0" smtClean="0">
                <a:solidFill>
                  <a:schemeClr val="tx1"/>
                </a:solidFill>
              </a:rPr>
              <a:t>Tunnelling </a:t>
            </a:r>
            <a:r>
              <a:rPr lang="en-IN" dirty="0">
                <a:solidFill>
                  <a:schemeClr val="tx1"/>
                </a:solidFill>
              </a:rPr>
              <a:t>other protocols.</a:t>
            </a:r>
          </a:p>
          <a:p>
            <a:pPr lvl="1" algn="l"/>
            <a:r>
              <a:rPr lang="en-IN" dirty="0">
                <a:solidFill>
                  <a:schemeClr val="tx1"/>
                </a:solidFill>
              </a:rPr>
              <a:t>Automating remote operations (via scripts).</a:t>
            </a:r>
          </a:p>
          <a:p>
            <a:pPr algn="l"/>
            <a:endParaRPr lang="en-IN" dirty="0">
              <a:solidFill>
                <a:schemeClr val="tx1"/>
              </a:solidFill>
            </a:endParaRPr>
          </a:p>
        </p:txBody>
      </p:sp>
    </p:spTree>
    <p:extLst>
      <p:ext uri="{BB962C8B-B14F-4D97-AF65-F5344CB8AC3E}">
        <p14:creationId xmlns:p14="http://schemas.microsoft.com/office/powerpoint/2010/main" val="41755132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8363" y="122830"/>
            <a:ext cx="8652681" cy="6509981"/>
          </a:xfrm>
        </p:spPr>
        <p:txBody>
          <a:bodyPr>
            <a:normAutofit fontScale="85000" lnSpcReduction="10000"/>
          </a:bodyPr>
          <a:lstStyle/>
          <a:p>
            <a:pPr algn="l"/>
            <a:r>
              <a:rPr lang="en-US" b="1" dirty="0">
                <a:solidFill>
                  <a:schemeClr val="tx1"/>
                </a:solidFill>
              </a:rPr>
              <a:t>Security Advantages</a:t>
            </a:r>
          </a:p>
          <a:p>
            <a:pPr marL="482600" indent="-457200" algn="l">
              <a:buFont typeface="Wingdings" panose="05000000000000000000" pitchFamily="2" charset="2"/>
              <a:buChar char="q"/>
            </a:pPr>
            <a:r>
              <a:rPr lang="en-US" dirty="0">
                <a:solidFill>
                  <a:schemeClr val="tx1"/>
                </a:solidFill>
              </a:rPr>
              <a:t>Protects against </a:t>
            </a:r>
            <a:r>
              <a:rPr lang="en-US" b="1" dirty="0">
                <a:solidFill>
                  <a:schemeClr val="tx1"/>
                </a:solidFill>
              </a:rPr>
              <a:t>man-in-the-middle (MITM)</a:t>
            </a:r>
            <a:r>
              <a:rPr lang="en-US" dirty="0">
                <a:solidFill>
                  <a:schemeClr val="tx1"/>
                </a:solidFill>
              </a:rPr>
              <a:t> attacks.</a:t>
            </a:r>
          </a:p>
          <a:p>
            <a:pPr marL="482600" indent="-457200" algn="l">
              <a:buFont typeface="Wingdings" panose="05000000000000000000" pitchFamily="2" charset="2"/>
              <a:buChar char="q"/>
            </a:pPr>
            <a:r>
              <a:rPr lang="en-US" dirty="0">
                <a:solidFill>
                  <a:schemeClr val="tx1"/>
                </a:solidFill>
              </a:rPr>
              <a:t>Encrypts passwords and data in transit.</a:t>
            </a:r>
          </a:p>
          <a:p>
            <a:pPr marL="482600" indent="-457200" algn="l">
              <a:buFont typeface="Wingdings" panose="05000000000000000000" pitchFamily="2" charset="2"/>
              <a:buChar char="q"/>
            </a:pPr>
            <a:r>
              <a:rPr lang="en-US" dirty="0">
                <a:solidFill>
                  <a:schemeClr val="tx1"/>
                </a:solidFill>
              </a:rPr>
              <a:t>Prevents unauthorized remote access.</a:t>
            </a:r>
          </a:p>
          <a:p>
            <a:pPr marL="482600" indent="-457200" algn="l">
              <a:buFont typeface="Wingdings" panose="05000000000000000000" pitchFamily="2" charset="2"/>
              <a:buChar char="q"/>
            </a:pPr>
            <a:r>
              <a:rPr lang="en-US" dirty="0">
                <a:solidFill>
                  <a:schemeClr val="tx1"/>
                </a:solidFill>
              </a:rPr>
              <a:t>Supports strong encryption algorithms (AES, ChaCha20, RSA, etc</a:t>
            </a:r>
            <a:r>
              <a:rPr lang="en-US" dirty="0" smtClean="0">
                <a:solidFill>
                  <a:schemeClr val="tx1"/>
                </a:solidFill>
              </a:rPr>
              <a:t>.).</a:t>
            </a:r>
          </a:p>
          <a:p>
            <a:pPr algn="l"/>
            <a:r>
              <a:rPr lang="en-US" b="1" dirty="0">
                <a:solidFill>
                  <a:schemeClr val="tx1"/>
                </a:solidFill>
              </a:rPr>
              <a:t>⚠️ Security Best Practices</a:t>
            </a:r>
          </a:p>
          <a:p>
            <a:pPr marL="482600" indent="-457200" algn="l">
              <a:buFont typeface="Wingdings" panose="05000000000000000000" pitchFamily="2" charset="2"/>
              <a:buChar char="q"/>
            </a:pPr>
            <a:r>
              <a:rPr lang="en-US" dirty="0">
                <a:solidFill>
                  <a:schemeClr val="tx1"/>
                </a:solidFill>
              </a:rPr>
              <a:t>Disable password logins; use </a:t>
            </a:r>
            <a:r>
              <a:rPr lang="en-US" b="1" dirty="0">
                <a:solidFill>
                  <a:schemeClr val="tx1"/>
                </a:solidFill>
              </a:rPr>
              <a:t>SSH keys</a:t>
            </a:r>
            <a:r>
              <a:rPr lang="en-US" dirty="0">
                <a:solidFill>
                  <a:schemeClr val="tx1"/>
                </a:solidFill>
              </a:rPr>
              <a:t> instead.</a:t>
            </a:r>
          </a:p>
          <a:p>
            <a:pPr marL="482600" indent="-457200" algn="l">
              <a:buFont typeface="Wingdings" panose="05000000000000000000" pitchFamily="2" charset="2"/>
              <a:buChar char="q"/>
            </a:pPr>
            <a:r>
              <a:rPr lang="en-US" dirty="0">
                <a:solidFill>
                  <a:schemeClr val="tx1"/>
                </a:solidFill>
              </a:rPr>
              <a:t>Change the </a:t>
            </a:r>
            <a:r>
              <a:rPr lang="en-US" b="1" dirty="0">
                <a:solidFill>
                  <a:schemeClr val="tx1"/>
                </a:solidFill>
              </a:rPr>
              <a:t>default port 22</a:t>
            </a:r>
            <a:r>
              <a:rPr lang="en-US" dirty="0">
                <a:solidFill>
                  <a:schemeClr val="tx1"/>
                </a:solidFill>
              </a:rPr>
              <a:t> to a non-standard port.</a:t>
            </a:r>
          </a:p>
          <a:p>
            <a:pPr marL="482600" indent="-457200" algn="l">
              <a:buFont typeface="Wingdings" panose="05000000000000000000" pitchFamily="2" charset="2"/>
              <a:buChar char="q"/>
            </a:pPr>
            <a:r>
              <a:rPr lang="en-US" dirty="0">
                <a:solidFill>
                  <a:schemeClr val="tx1"/>
                </a:solidFill>
              </a:rPr>
              <a:t>Use </a:t>
            </a:r>
            <a:r>
              <a:rPr lang="en-US" b="1" dirty="0">
                <a:solidFill>
                  <a:schemeClr val="tx1"/>
                </a:solidFill>
              </a:rPr>
              <a:t>firewalls</a:t>
            </a:r>
            <a:r>
              <a:rPr lang="en-US" dirty="0">
                <a:solidFill>
                  <a:schemeClr val="tx1"/>
                </a:solidFill>
              </a:rPr>
              <a:t> to restrict SSH access.</a:t>
            </a:r>
          </a:p>
          <a:p>
            <a:pPr marL="482600" indent="-457200" algn="l">
              <a:buFont typeface="Wingdings" panose="05000000000000000000" pitchFamily="2" charset="2"/>
              <a:buChar char="q"/>
            </a:pPr>
            <a:r>
              <a:rPr lang="en-US" dirty="0">
                <a:solidFill>
                  <a:schemeClr val="tx1"/>
                </a:solidFill>
              </a:rPr>
              <a:t>Implement </a:t>
            </a:r>
            <a:r>
              <a:rPr lang="en-US" b="1" dirty="0">
                <a:solidFill>
                  <a:schemeClr val="tx1"/>
                </a:solidFill>
              </a:rPr>
              <a:t>Fail2Ban</a:t>
            </a:r>
            <a:r>
              <a:rPr lang="en-US" dirty="0">
                <a:solidFill>
                  <a:schemeClr val="tx1"/>
                </a:solidFill>
              </a:rPr>
              <a:t> or similar tools to block brute-force attacks.</a:t>
            </a:r>
          </a:p>
          <a:p>
            <a:pPr marL="482600" indent="-457200" algn="l">
              <a:buFont typeface="Wingdings" panose="05000000000000000000" pitchFamily="2" charset="2"/>
              <a:buChar char="q"/>
            </a:pPr>
            <a:r>
              <a:rPr lang="en-US" dirty="0">
                <a:solidFill>
                  <a:schemeClr val="tx1"/>
                </a:solidFill>
              </a:rPr>
              <a:t>Regularly </a:t>
            </a:r>
            <a:r>
              <a:rPr lang="en-US" b="1" dirty="0">
                <a:solidFill>
                  <a:schemeClr val="tx1"/>
                </a:solidFill>
              </a:rPr>
              <a:t>update </a:t>
            </a:r>
            <a:r>
              <a:rPr lang="en-US" b="1" dirty="0" err="1">
                <a:solidFill>
                  <a:schemeClr val="tx1"/>
                </a:solidFill>
              </a:rPr>
              <a:t>OpenSSH</a:t>
            </a:r>
            <a:r>
              <a:rPr lang="en-US" dirty="0">
                <a:solidFill>
                  <a:schemeClr val="tx1"/>
                </a:solidFill>
              </a:rPr>
              <a:t> and patch vulnerabilities.</a:t>
            </a:r>
          </a:p>
          <a:p>
            <a:pPr marL="482600" indent="-457200" algn="l">
              <a:buFont typeface="Wingdings" panose="05000000000000000000" pitchFamily="2" charset="2"/>
              <a:buChar char="q"/>
            </a:pPr>
            <a:r>
              <a:rPr lang="en-US" dirty="0">
                <a:solidFill>
                  <a:schemeClr val="tx1"/>
                </a:solidFill>
              </a:rPr>
              <a:t>Use </a:t>
            </a:r>
            <a:r>
              <a:rPr lang="en-US" b="1" dirty="0">
                <a:solidFill>
                  <a:schemeClr val="tx1"/>
                </a:solidFill>
              </a:rPr>
              <a:t>strong passphrases</a:t>
            </a:r>
            <a:r>
              <a:rPr lang="en-US" dirty="0">
                <a:solidFill>
                  <a:schemeClr val="tx1"/>
                </a:solidFill>
              </a:rPr>
              <a:t> for private keys.</a:t>
            </a:r>
          </a:p>
          <a:p>
            <a:pPr algn="l"/>
            <a:endParaRPr lang="en-US" dirty="0" smtClean="0">
              <a:solidFill>
                <a:schemeClr val="tx1"/>
              </a:solidFill>
            </a:endParaRPr>
          </a:p>
          <a:p>
            <a:pPr algn="l"/>
            <a:endParaRPr lang="en-US" dirty="0">
              <a:solidFill>
                <a:schemeClr val="tx1"/>
              </a:solidFill>
            </a:endParaRPr>
          </a:p>
          <a:p>
            <a:pPr algn="l"/>
            <a:endParaRPr lang="en-IN" dirty="0">
              <a:solidFill>
                <a:schemeClr val="tx1"/>
              </a:solidFill>
            </a:endParaRPr>
          </a:p>
        </p:txBody>
      </p:sp>
    </p:spTree>
    <p:extLst>
      <p:ext uri="{BB962C8B-B14F-4D97-AF65-F5344CB8AC3E}">
        <p14:creationId xmlns:p14="http://schemas.microsoft.com/office/powerpoint/2010/main" val="250603532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SSH</a:t>
            </a:r>
            <a:endParaRPr/>
          </a:p>
        </p:txBody>
      </p:sp>
      <p:sp>
        <p:nvSpPr>
          <p:cNvPr id="1072" name="Google Shape;1072;p134"/>
          <p:cNvSpPr txBox="1">
            <a:spLocks noGrp="1"/>
          </p:cNvSpPr>
          <p:nvPr>
            <p:ph type="body" idx="1"/>
          </p:nvPr>
        </p:nvSpPr>
        <p:spPr>
          <a:xfrm>
            <a:off x="313899" y="1064525"/>
            <a:ext cx="8652679" cy="5554639"/>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dirty="0"/>
              <a:t>R1:</a:t>
            </a:r>
            <a:endParaRPr dirty="0"/>
          </a:p>
          <a:p>
            <a:pPr marL="342900" lvl="0" indent="-342900" algn="l" rtl="0">
              <a:spcBef>
                <a:spcPts val="496"/>
              </a:spcBef>
              <a:spcAft>
                <a:spcPts val="0"/>
              </a:spcAft>
              <a:buClr>
                <a:schemeClr val="dk1"/>
              </a:buClr>
              <a:buSzPct val="100000"/>
              <a:buNone/>
            </a:pPr>
            <a:r>
              <a:rPr lang="en-US" dirty="0"/>
              <a:t>interface gig0/0/0</a:t>
            </a:r>
            <a:endParaRPr dirty="0"/>
          </a:p>
          <a:p>
            <a:pPr marL="342900" lvl="0" indent="-342900" algn="l" rtl="0">
              <a:spcBef>
                <a:spcPts val="496"/>
              </a:spcBef>
              <a:spcAft>
                <a:spcPts val="0"/>
              </a:spcAft>
              <a:buClr>
                <a:schemeClr val="dk1"/>
              </a:buClr>
              <a:buSzPct val="100000"/>
              <a:buNone/>
            </a:pPr>
            <a:r>
              <a:rPr lang="en-US" dirty="0" err="1"/>
              <a:t>Ip</a:t>
            </a:r>
            <a:r>
              <a:rPr lang="en-US" dirty="0"/>
              <a:t> address 192.168.1.1 255.255.255.0</a:t>
            </a:r>
            <a:endParaRPr dirty="0"/>
          </a:p>
          <a:p>
            <a:pPr marL="342900" lvl="0" indent="-342900" algn="l" rtl="0">
              <a:spcBef>
                <a:spcPts val="496"/>
              </a:spcBef>
              <a:spcAft>
                <a:spcPts val="0"/>
              </a:spcAft>
              <a:buClr>
                <a:schemeClr val="dk1"/>
              </a:buClr>
              <a:buSzPct val="100000"/>
              <a:buNone/>
            </a:pPr>
            <a:r>
              <a:rPr lang="en-US" dirty="0"/>
              <a:t>No shutdown</a:t>
            </a:r>
            <a:endParaRPr dirty="0"/>
          </a:p>
          <a:p>
            <a:pPr marL="342900" lvl="0" indent="-342900" algn="l" rtl="0">
              <a:spcBef>
                <a:spcPts val="496"/>
              </a:spcBef>
              <a:spcAft>
                <a:spcPts val="0"/>
              </a:spcAft>
              <a:buClr>
                <a:schemeClr val="dk1"/>
              </a:buClr>
              <a:buSzPct val="100000"/>
              <a:buNone/>
            </a:pPr>
            <a:r>
              <a:rPr lang="en-US" dirty="0"/>
              <a:t>Exit</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r>
              <a:rPr lang="en-US" dirty="0"/>
              <a:t>Hostname R1</a:t>
            </a:r>
            <a:endParaRPr dirty="0"/>
          </a:p>
          <a:p>
            <a:pPr marL="342900" lvl="0" indent="-342900" algn="l" rtl="0">
              <a:spcBef>
                <a:spcPts val="496"/>
              </a:spcBef>
              <a:spcAft>
                <a:spcPts val="0"/>
              </a:spcAft>
              <a:buClr>
                <a:schemeClr val="dk1"/>
              </a:buClr>
              <a:buSzPct val="100000"/>
              <a:buNone/>
            </a:pPr>
            <a:r>
              <a:rPr lang="en-US" dirty="0"/>
              <a:t>Username </a:t>
            </a:r>
            <a:r>
              <a:rPr lang="en-US" dirty="0" err="1"/>
              <a:t>abcd</a:t>
            </a:r>
            <a:r>
              <a:rPr lang="en-US" dirty="0"/>
              <a:t> Password </a:t>
            </a:r>
            <a:r>
              <a:rPr lang="en-US" dirty="0" err="1"/>
              <a:t>abc</a:t>
            </a:r>
            <a:endParaRPr dirty="0"/>
          </a:p>
          <a:p>
            <a:pPr marL="342900" lvl="0" indent="-342900" algn="l" rtl="0">
              <a:spcBef>
                <a:spcPts val="496"/>
              </a:spcBef>
              <a:spcAft>
                <a:spcPts val="0"/>
              </a:spcAft>
              <a:buClr>
                <a:schemeClr val="dk1"/>
              </a:buClr>
              <a:buSzPct val="100000"/>
              <a:buNone/>
            </a:pPr>
            <a:r>
              <a:rPr lang="en-US" dirty="0" err="1"/>
              <a:t>Ip</a:t>
            </a:r>
            <a:r>
              <a:rPr lang="en-US" dirty="0"/>
              <a:t> domain-name ns.com</a:t>
            </a:r>
            <a:endParaRPr dirty="0"/>
          </a:p>
          <a:p>
            <a:pPr marL="342900" lvl="0" indent="-342900" algn="l" rtl="0">
              <a:spcBef>
                <a:spcPts val="496"/>
              </a:spcBef>
              <a:spcAft>
                <a:spcPts val="0"/>
              </a:spcAft>
              <a:buClr>
                <a:schemeClr val="dk1"/>
              </a:buClr>
              <a:buSzPct val="100000"/>
              <a:buNone/>
            </a:pPr>
            <a:r>
              <a:rPr lang="en-US" dirty="0"/>
              <a:t>Service password-encryption</a:t>
            </a:r>
            <a:endParaRPr dirty="0"/>
          </a:p>
          <a:p>
            <a:pPr marL="342900" lvl="0" indent="-342900" algn="l" rtl="0">
              <a:spcBef>
                <a:spcPts val="496"/>
              </a:spcBef>
              <a:spcAft>
                <a:spcPts val="0"/>
              </a:spcAft>
              <a:buClr>
                <a:schemeClr val="dk1"/>
              </a:buClr>
              <a:buSzPct val="100000"/>
              <a:buNone/>
            </a:pPr>
            <a:r>
              <a:rPr lang="en-US" dirty="0"/>
              <a:t>Crypto key generate </a:t>
            </a:r>
            <a:r>
              <a:rPr lang="en-US" dirty="0" err="1"/>
              <a:t>rsa</a:t>
            </a:r>
            <a:endParaRPr dirty="0"/>
          </a:p>
          <a:p>
            <a:pPr marL="342900" lvl="0" indent="-342900" algn="l" rtl="0">
              <a:spcBef>
                <a:spcPts val="496"/>
              </a:spcBef>
              <a:spcAft>
                <a:spcPts val="0"/>
              </a:spcAft>
              <a:buClr>
                <a:schemeClr val="dk1"/>
              </a:buClr>
              <a:buSzPct val="100000"/>
              <a:buNone/>
            </a:pPr>
            <a:endParaRPr dirty="0"/>
          </a:p>
        </p:txBody>
      </p:sp>
      <p:sp>
        <p:nvSpPr>
          <p:cNvPr id="1073" name="Google Shape;1073;p134"/>
          <p:cNvSpPr/>
          <p:nvPr/>
        </p:nvSpPr>
        <p:spPr>
          <a:xfrm>
            <a:off x="7010400" y="1981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4" name="Google Shape;1074;p134"/>
          <p:cNvSpPr/>
          <p:nvPr/>
        </p:nvSpPr>
        <p:spPr>
          <a:xfrm>
            <a:off x="6858000" y="3505200"/>
            <a:ext cx="914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5" name="Google Shape;1075;p134"/>
          <p:cNvSpPr/>
          <p:nvPr/>
        </p:nvSpPr>
        <p:spPr>
          <a:xfrm>
            <a:off x="6934200" y="5257800"/>
            <a:ext cx="762000" cy="685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76" name="Google Shape;1076;p134"/>
          <p:cNvCxnSpPr>
            <a:stCxn id="1073" idx="4"/>
            <a:endCxn id="1074" idx="0"/>
          </p:cNvCxnSpPr>
          <p:nvPr/>
        </p:nvCxnSpPr>
        <p:spPr>
          <a:xfrm flipH="1">
            <a:off x="7315200" y="2590800"/>
            <a:ext cx="38100" cy="914400"/>
          </a:xfrm>
          <a:prstGeom prst="straightConnector1">
            <a:avLst/>
          </a:prstGeom>
          <a:noFill/>
          <a:ln w="9525" cap="flat" cmpd="sng">
            <a:solidFill>
              <a:srgbClr val="4A7DBA"/>
            </a:solidFill>
            <a:prstDash val="solid"/>
            <a:round/>
            <a:headEnd type="none" w="sm" len="sm"/>
            <a:tailEnd type="stealth" w="med" len="med"/>
          </a:ln>
        </p:spPr>
      </p:cxnSp>
      <p:cxnSp>
        <p:nvCxnSpPr>
          <p:cNvPr id="1077" name="Google Shape;1077;p134"/>
          <p:cNvCxnSpPr>
            <a:stCxn id="1074" idx="2"/>
            <a:endCxn id="1075" idx="0"/>
          </p:cNvCxnSpPr>
          <p:nvPr/>
        </p:nvCxnSpPr>
        <p:spPr>
          <a:xfrm>
            <a:off x="7315200" y="3886200"/>
            <a:ext cx="0" cy="1371600"/>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p135"/>
          <p:cNvSpPr txBox="1">
            <a:spLocks noGrp="1"/>
          </p:cNvSpPr>
          <p:nvPr>
            <p:ph type="body" idx="1"/>
          </p:nvPr>
        </p:nvSpPr>
        <p:spPr>
          <a:xfrm>
            <a:off x="457200" y="381000"/>
            <a:ext cx="8229600" cy="57451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None/>
            </a:pPr>
            <a:r>
              <a:rPr lang="en-US" dirty="0"/>
              <a:t>How many bits </a:t>
            </a:r>
            <a:r>
              <a:rPr lang="en-US" dirty="0" err="1"/>
              <a:t>moduls</a:t>
            </a:r>
            <a:r>
              <a:rPr lang="en-US" dirty="0"/>
              <a:t> </a:t>
            </a:r>
            <a:r>
              <a:rPr lang="en-US" dirty="0" smtClean="0"/>
              <a:t>:500</a:t>
            </a:r>
            <a:endParaRPr dirty="0"/>
          </a:p>
          <a:p>
            <a:pPr marL="342900" lvl="0" indent="-342900" algn="l" rtl="0">
              <a:spcBef>
                <a:spcPts val="496"/>
              </a:spcBef>
              <a:spcAft>
                <a:spcPts val="0"/>
              </a:spcAft>
              <a:buClr>
                <a:schemeClr val="dk1"/>
              </a:buClr>
              <a:buSzPct val="100000"/>
              <a:buNone/>
            </a:pPr>
            <a:r>
              <a:rPr lang="en-US" b="1" dirty="0">
                <a:solidFill>
                  <a:schemeClr val="tx1"/>
                </a:solidFill>
              </a:rPr>
              <a:t>Enable password xyz</a:t>
            </a:r>
            <a:endParaRPr b="1" dirty="0">
              <a:solidFill>
                <a:schemeClr val="tx1"/>
              </a:solidFill>
            </a:endParaRPr>
          </a:p>
          <a:p>
            <a:pPr marL="342900" lvl="0" indent="-342900" algn="l" rtl="0">
              <a:spcBef>
                <a:spcPts val="496"/>
              </a:spcBef>
              <a:spcAft>
                <a:spcPts val="0"/>
              </a:spcAft>
              <a:buClr>
                <a:schemeClr val="dk1"/>
              </a:buClr>
              <a:buSzPct val="100000"/>
              <a:buNone/>
            </a:pPr>
            <a:r>
              <a:rPr lang="en-US" dirty="0"/>
              <a:t>Line </a:t>
            </a:r>
            <a:r>
              <a:rPr lang="en-US" dirty="0" err="1"/>
              <a:t>vty</a:t>
            </a:r>
            <a:r>
              <a:rPr lang="en-US" dirty="0"/>
              <a:t> 0 1</a:t>
            </a:r>
            <a:endParaRPr dirty="0"/>
          </a:p>
          <a:p>
            <a:pPr marL="342900" lvl="0" indent="-342900" algn="l" rtl="0">
              <a:spcBef>
                <a:spcPts val="496"/>
              </a:spcBef>
              <a:spcAft>
                <a:spcPts val="0"/>
              </a:spcAft>
              <a:buClr>
                <a:schemeClr val="dk1"/>
              </a:buClr>
              <a:buSzPct val="100000"/>
              <a:buNone/>
            </a:pPr>
            <a:r>
              <a:rPr lang="en-US" dirty="0"/>
              <a:t>Transport input </a:t>
            </a:r>
            <a:r>
              <a:rPr lang="en-US" dirty="0" err="1"/>
              <a:t>ssh</a:t>
            </a:r>
            <a:endParaRPr dirty="0"/>
          </a:p>
          <a:p>
            <a:pPr marL="342900" lvl="0" indent="-342900" algn="l" rtl="0">
              <a:spcBef>
                <a:spcPts val="496"/>
              </a:spcBef>
              <a:spcAft>
                <a:spcPts val="0"/>
              </a:spcAft>
              <a:buClr>
                <a:schemeClr val="dk1"/>
              </a:buClr>
              <a:buSzPct val="100000"/>
              <a:buNone/>
            </a:pPr>
            <a:r>
              <a:rPr lang="en-US" dirty="0"/>
              <a:t>Login Local</a:t>
            </a:r>
            <a:endParaRPr dirty="0"/>
          </a:p>
          <a:p>
            <a:pPr marL="342900" lvl="0" indent="-342900" algn="l" rtl="0">
              <a:spcBef>
                <a:spcPts val="496"/>
              </a:spcBef>
              <a:spcAft>
                <a:spcPts val="0"/>
              </a:spcAft>
              <a:buClr>
                <a:schemeClr val="dk1"/>
              </a:buClr>
              <a:buSzPct val="100000"/>
              <a:buNone/>
            </a:pPr>
            <a:r>
              <a:rPr lang="en-US" dirty="0"/>
              <a:t>Exit</a:t>
            </a:r>
            <a:endParaRPr dirty="0"/>
          </a:p>
          <a:p>
            <a:pPr marL="342900" lvl="0" indent="-342900" algn="l" rtl="0">
              <a:spcBef>
                <a:spcPts val="496"/>
              </a:spcBef>
              <a:spcAft>
                <a:spcPts val="0"/>
              </a:spcAft>
              <a:buClr>
                <a:schemeClr val="dk1"/>
              </a:buClr>
              <a:buSzPct val="100000"/>
              <a:buNone/>
            </a:pPr>
            <a:r>
              <a:rPr lang="en-US" b="1" dirty="0"/>
              <a:t>Desktop:</a:t>
            </a:r>
            <a:endParaRPr b="1" dirty="0"/>
          </a:p>
          <a:p>
            <a:pPr marL="342900" lvl="0" indent="-342900" algn="l" rtl="0">
              <a:spcBef>
                <a:spcPts val="496"/>
              </a:spcBef>
              <a:spcAft>
                <a:spcPts val="0"/>
              </a:spcAft>
              <a:buClr>
                <a:schemeClr val="dk1"/>
              </a:buClr>
              <a:buSzPct val="100000"/>
              <a:buNone/>
            </a:pPr>
            <a:r>
              <a:rPr lang="en-US" dirty="0"/>
              <a:t>     192.168.1.2</a:t>
            </a:r>
            <a:endParaRPr dirty="0"/>
          </a:p>
          <a:p>
            <a:pPr marL="342900" lvl="0" indent="-342900" algn="l" rtl="0">
              <a:spcBef>
                <a:spcPts val="496"/>
              </a:spcBef>
              <a:spcAft>
                <a:spcPts val="0"/>
              </a:spcAft>
              <a:buClr>
                <a:schemeClr val="dk1"/>
              </a:buClr>
              <a:buSzPct val="100000"/>
              <a:buNone/>
            </a:pPr>
            <a:r>
              <a:rPr lang="en-US" dirty="0"/>
              <a:t>     255.255.255.0</a:t>
            </a:r>
            <a:endParaRPr dirty="0"/>
          </a:p>
          <a:p>
            <a:pPr marL="342900" lvl="0" indent="-342900" algn="l" rtl="0">
              <a:spcBef>
                <a:spcPts val="496"/>
              </a:spcBef>
              <a:spcAft>
                <a:spcPts val="0"/>
              </a:spcAft>
              <a:buClr>
                <a:schemeClr val="dk1"/>
              </a:buClr>
              <a:buSzPct val="100000"/>
              <a:buNone/>
            </a:pPr>
            <a:r>
              <a:rPr lang="en-US" dirty="0"/>
              <a:t>     192.168.1.1</a:t>
            </a:r>
            <a:endParaRPr dirty="0"/>
          </a:p>
          <a:p>
            <a:pPr marL="342900" lvl="0" indent="-342900" algn="l" rtl="0">
              <a:spcBef>
                <a:spcPts val="496"/>
              </a:spcBef>
              <a:spcAft>
                <a:spcPts val="0"/>
              </a:spcAft>
              <a:buClr>
                <a:schemeClr val="dk1"/>
              </a:buClr>
              <a:buSzPct val="100000"/>
              <a:buNone/>
            </a:pPr>
            <a:r>
              <a:rPr lang="en-US" b="1" dirty="0"/>
              <a:t>Command </a:t>
            </a:r>
            <a:r>
              <a:rPr lang="en-US" b="1" dirty="0" err="1"/>
              <a:t>promt</a:t>
            </a:r>
            <a:endParaRPr b="1" dirty="0"/>
          </a:p>
          <a:p>
            <a:pPr marL="342900" lvl="0" indent="-342900" algn="l" rtl="0">
              <a:spcBef>
                <a:spcPts val="496"/>
              </a:spcBef>
              <a:spcAft>
                <a:spcPts val="0"/>
              </a:spcAft>
              <a:buClr>
                <a:schemeClr val="dk1"/>
              </a:buClr>
              <a:buSzPct val="100000"/>
              <a:buNone/>
            </a:pPr>
            <a:r>
              <a:rPr lang="en-US" dirty="0"/>
              <a:t>      </a:t>
            </a:r>
            <a:r>
              <a:rPr lang="en-US" dirty="0" err="1"/>
              <a:t>ssh</a:t>
            </a:r>
            <a:r>
              <a:rPr lang="en-US" dirty="0"/>
              <a:t> –l </a:t>
            </a:r>
            <a:r>
              <a:rPr lang="en-US" dirty="0" err="1"/>
              <a:t>abcd</a:t>
            </a:r>
            <a:r>
              <a:rPr lang="en-US" dirty="0"/>
              <a:t> 192.168.1.1</a:t>
            </a:r>
            <a:endParaRPr dirty="0"/>
          </a:p>
          <a:p>
            <a:pPr marL="342900" lvl="0" indent="-342900" algn="l" rtl="0">
              <a:spcBef>
                <a:spcPts val="496"/>
              </a:spcBef>
              <a:spcAft>
                <a:spcPts val="0"/>
              </a:spcAft>
              <a:buClr>
                <a:schemeClr val="dk1"/>
              </a:buClr>
              <a:buSzPct val="100000"/>
              <a:buNone/>
            </a:pPr>
            <a:r>
              <a:rPr lang="en-US" dirty="0"/>
              <a:t>      Password :</a:t>
            </a:r>
            <a:r>
              <a:rPr lang="en-US" dirty="0" err="1"/>
              <a:t>abc</a:t>
            </a:r>
            <a:endParaRPr dirty="0"/>
          </a:p>
          <a:p>
            <a:pPr marL="342900" lvl="0" indent="-342900" algn="l" rtl="0">
              <a:spcBef>
                <a:spcPts val="496"/>
              </a:spcBef>
              <a:spcAft>
                <a:spcPts val="0"/>
              </a:spcAft>
              <a:buClr>
                <a:schemeClr val="dk1"/>
              </a:buClr>
              <a:buSzPct val="100000"/>
              <a:buNone/>
            </a:pPr>
            <a:r>
              <a:rPr lang="en-US" dirty="0"/>
              <a:t>      enable</a:t>
            </a:r>
            <a:endParaRPr dirty="0"/>
          </a:p>
          <a:p>
            <a:pPr marL="342900" lvl="0" indent="-342900" algn="l" rtl="0">
              <a:spcBef>
                <a:spcPts val="496"/>
              </a:spcBef>
              <a:spcAft>
                <a:spcPts val="0"/>
              </a:spcAft>
              <a:buClr>
                <a:schemeClr val="dk1"/>
              </a:buClr>
              <a:buSzPct val="100000"/>
              <a:buNone/>
            </a:pPr>
            <a:r>
              <a:rPr lang="en-US" dirty="0"/>
              <a:t>      Password xyz</a:t>
            </a:r>
            <a:endParaRPr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136"/>
          <p:cNvSpPr txBox="1">
            <a:spLocks noGrp="1"/>
          </p:cNvSpPr>
          <p:nvPr>
            <p:ph type="subTitle" idx="1"/>
          </p:nvPr>
        </p:nvSpPr>
        <p:spPr>
          <a:xfrm>
            <a:off x="395536" y="260648"/>
            <a:ext cx="8208912" cy="5904656"/>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3200"/>
              <a:buNone/>
            </a:pPr>
            <a:r>
              <a:rPr lang="en-US" b="1" dirty="0">
                <a:solidFill>
                  <a:schemeClr val="dk1"/>
                </a:solidFill>
              </a:rPr>
              <a:t>Access Control List (ACL)</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 ACL  refer to a specific set of rule used for filtering network traffic</a:t>
            </a:r>
            <a:r>
              <a:rPr lang="en-US" dirty="0" smtClean="0">
                <a:solidFill>
                  <a:schemeClr val="dk1"/>
                </a:solidFill>
              </a:rPr>
              <a:t>, especially </a:t>
            </a:r>
            <a:r>
              <a:rPr lang="en-US" dirty="0">
                <a:solidFill>
                  <a:schemeClr val="dk1"/>
                </a:solidFill>
              </a:rPr>
              <a:t>in computer security setting</a:t>
            </a:r>
            <a:endParaRPr dirty="0"/>
          </a:p>
          <a:p>
            <a:pPr marL="457200" lvl="0" indent="-457200" algn="l" rtl="0">
              <a:spcBef>
                <a:spcPts val="640"/>
              </a:spcBef>
              <a:spcAft>
                <a:spcPts val="0"/>
              </a:spcAft>
              <a:buClr>
                <a:schemeClr val="dk1"/>
              </a:buClr>
              <a:buSzPts val="3200"/>
              <a:buFont typeface="Arial"/>
              <a:buChar char="•"/>
            </a:pPr>
            <a:r>
              <a:rPr lang="en-US" dirty="0">
                <a:solidFill>
                  <a:schemeClr val="dk1"/>
                </a:solidFill>
              </a:rPr>
              <a:t>ACL deals with DENY or PERMIT </a:t>
            </a:r>
            <a:r>
              <a:rPr lang="en-US" sz="2800" dirty="0">
                <a:solidFill>
                  <a:schemeClr val="dk1"/>
                </a:solidFill>
              </a:rPr>
              <a:t>condition</a:t>
            </a:r>
            <a:endParaRPr sz="2800" dirty="0">
              <a:solidFill>
                <a:schemeClr val="dk1"/>
              </a:solidFill>
            </a:endParaRPr>
          </a:p>
          <a:p>
            <a:pPr marL="0" lvl="0" indent="0" algn="l" rtl="0">
              <a:spcBef>
                <a:spcPts val="560"/>
              </a:spcBef>
              <a:spcAft>
                <a:spcPts val="0"/>
              </a:spcAft>
              <a:buClr>
                <a:schemeClr val="dk1"/>
              </a:buClr>
              <a:buSzPts val="2800"/>
              <a:buNone/>
            </a:pPr>
            <a:r>
              <a:rPr lang="en-US" sz="2800" b="1" dirty="0">
                <a:solidFill>
                  <a:schemeClr val="dk1"/>
                </a:solidFill>
              </a:rPr>
              <a:t>Two types:</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Numbered ACL – set of rule identified by a numbers</a:t>
            </a:r>
            <a:endParaRPr dirty="0"/>
          </a:p>
          <a:p>
            <a:pPr marL="457200" lvl="0" indent="-457200" algn="l" rtl="0">
              <a:spcBef>
                <a:spcPts val="560"/>
              </a:spcBef>
              <a:spcAft>
                <a:spcPts val="0"/>
              </a:spcAft>
              <a:buClr>
                <a:schemeClr val="dk1"/>
              </a:buClr>
              <a:buSzPts val="2800"/>
              <a:buFont typeface="Noto Sans Symbols"/>
              <a:buChar char="❑"/>
            </a:pPr>
            <a:r>
              <a:rPr lang="en-US" sz="2800" dirty="0">
                <a:solidFill>
                  <a:schemeClr val="dk1"/>
                </a:solidFill>
              </a:rPr>
              <a:t>Named ACL – set of rule identified by a name </a:t>
            </a:r>
            <a:endParaRPr dirty="0"/>
          </a:p>
          <a:p>
            <a:pPr marL="457200" lvl="0" indent="-457200" algn="ctr" rtl="0">
              <a:spcBef>
                <a:spcPts val="560"/>
              </a:spcBef>
              <a:spcAft>
                <a:spcPts val="0"/>
              </a:spcAft>
              <a:buClr>
                <a:schemeClr val="dk1"/>
              </a:buClr>
              <a:buSzPts val="2800"/>
              <a:buFont typeface="Noto Sans Symbols"/>
              <a:buChar char="✔"/>
            </a:pPr>
            <a:r>
              <a:rPr lang="en-US" sz="2800" dirty="0">
                <a:solidFill>
                  <a:schemeClr val="dk1"/>
                </a:solidFill>
              </a:rPr>
              <a:t>Standard ACL</a:t>
            </a:r>
            <a:endParaRPr dirty="0"/>
          </a:p>
          <a:p>
            <a:pPr marL="457200" lvl="0" indent="-457200" algn="ctr" rtl="0">
              <a:spcBef>
                <a:spcPts val="560"/>
              </a:spcBef>
              <a:spcAft>
                <a:spcPts val="0"/>
              </a:spcAft>
              <a:buClr>
                <a:schemeClr val="dk1"/>
              </a:buClr>
              <a:buSzPts val="2800"/>
              <a:buFont typeface="Noto Sans Symbols"/>
              <a:buChar char="✔"/>
            </a:pPr>
            <a:r>
              <a:rPr lang="en-US" sz="2800" dirty="0">
                <a:solidFill>
                  <a:schemeClr val="dk1"/>
                </a:solidFill>
              </a:rPr>
              <a:t> Extended ACL           </a:t>
            </a:r>
            <a:endParaRPr sz="2800" dirty="0">
              <a:solidFill>
                <a:schemeClr val="dk1"/>
              </a:solidFil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137"/>
          <p:cNvSpPr txBox="1">
            <a:spLocks noGrp="1"/>
          </p:cNvSpPr>
          <p:nvPr>
            <p:ph type="subTitle" idx="1"/>
          </p:nvPr>
        </p:nvSpPr>
        <p:spPr>
          <a:xfrm>
            <a:off x="827584" y="548680"/>
            <a:ext cx="7632848" cy="5904656"/>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spcBef>
                <a:spcPts val="0"/>
              </a:spcBef>
              <a:spcAft>
                <a:spcPts val="0"/>
              </a:spcAft>
              <a:buClr>
                <a:schemeClr val="dk1"/>
              </a:buClr>
              <a:buSzPct val="100000"/>
              <a:buNone/>
            </a:pPr>
            <a:r>
              <a:rPr lang="en-US" b="1" dirty="0">
                <a:solidFill>
                  <a:schemeClr val="dk1"/>
                </a:solidFill>
              </a:rPr>
              <a:t>Standard ACL : </a:t>
            </a:r>
            <a:r>
              <a:rPr lang="en-US" dirty="0">
                <a:solidFill>
                  <a:schemeClr val="dk1"/>
                </a:solidFill>
              </a:rPr>
              <a:t>These ACL permit or deny packet based only on the source IP address</a:t>
            </a:r>
            <a:endParaRPr dirty="0"/>
          </a:p>
          <a:p>
            <a:pPr marL="0" lvl="0" indent="0" algn="l" rtl="0">
              <a:spcBef>
                <a:spcPts val="496"/>
              </a:spcBef>
              <a:spcAft>
                <a:spcPts val="0"/>
              </a:spcAft>
              <a:buClr>
                <a:schemeClr val="dk1"/>
              </a:buClr>
              <a:buSzPct val="100000"/>
              <a:buNone/>
            </a:pPr>
            <a:r>
              <a:rPr lang="en-US" b="1" dirty="0">
                <a:solidFill>
                  <a:schemeClr val="dk1"/>
                </a:solidFill>
              </a:rPr>
              <a:t>Extended ACL : </a:t>
            </a:r>
            <a:r>
              <a:rPr lang="en-US" dirty="0">
                <a:solidFill>
                  <a:schemeClr val="dk1"/>
                </a:solidFill>
              </a:rPr>
              <a:t>These ACL permit or deny packet based on the source IP address , Destination IP address , </a:t>
            </a:r>
            <a:r>
              <a:rPr lang="en-US" dirty="0" smtClean="0">
                <a:solidFill>
                  <a:schemeClr val="dk1"/>
                </a:solidFill>
              </a:rPr>
              <a:t>protocols </a:t>
            </a:r>
            <a:r>
              <a:rPr lang="en-US" dirty="0" err="1">
                <a:solidFill>
                  <a:schemeClr val="dk1"/>
                </a:solidFill>
              </a:rPr>
              <a:t>etc</a:t>
            </a:r>
            <a:r>
              <a:rPr lang="en-US" dirty="0">
                <a:solidFill>
                  <a:schemeClr val="dk1"/>
                </a:solidFill>
              </a:rPr>
              <a:t>…,</a:t>
            </a:r>
            <a:endParaRPr dirty="0"/>
          </a:p>
          <a:p>
            <a:pPr marL="0" lvl="0" indent="0" algn="l" rtl="0">
              <a:spcBef>
                <a:spcPts val="496"/>
              </a:spcBef>
              <a:spcAft>
                <a:spcPts val="0"/>
              </a:spcAft>
              <a:buClr>
                <a:schemeClr val="dk1"/>
              </a:buClr>
              <a:buSzPct val="100000"/>
              <a:buNone/>
            </a:pPr>
            <a:r>
              <a:rPr lang="en-US" dirty="0">
                <a:solidFill>
                  <a:schemeClr val="dk1"/>
                </a:solidFill>
              </a:rPr>
              <a:t>   </a:t>
            </a:r>
            <a:endParaRPr dirty="0"/>
          </a:p>
          <a:p>
            <a:pPr marL="0" lvl="0" indent="0" algn="l" rtl="0">
              <a:spcBef>
                <a:spcPts val="496"/>
              </a:spcBef>
              <a:spcAft>
                <a:spcPts val="0"/>
              </a:spcAft>
              <a:buClr>
                <a:schemeClr val="dk1"/>
              </a:buClr>
              <a:buSzPct val="100000"/>
              <a:buNone/>
            </a:pPr>
            <a:r>
              <a:rPr lang="en-US" b="1" u="sng" dirty="0">
                <a:solidFill>
                  <a:schemeClr val="dk1"/>
                </a:solidFill>
              </a:rPr>
              <a:t>Standard ACL</a:t>
            </a:r>
            <a:endParaRPr dirty="0"/>
          </a:p>
          <a:p>
            <a:pPr marL="457200" lvl="0" indent="-457200" algn="l" rtl="0">
              <a:spcBef>
                <a:spcPts val="496"/>
              </a:spcBef>
              <a:spcAft>
                <a:spcPts val="0"/>
              </a:spcAft>
              <a:buClr>
                <a:schemeClr val="dk1"/>
              </a:buClr>
              <a:buSzPct val="100000"/>
              <a:buFont typeface="Noto Sans Symbols"/>
              <a:buChar char="⮚"/>
            </a:pPr>
            <a:r>
              <a:rPr lang="en-US" dirty="0">
                <a:solidFill>
                  <a:schemeClr val="dk1"/>
                </a:solidFill>
              </a:rPr>
              <a:t>This will filter the full communication of the particular devices</a:t>
            </a:r>
            <a:endParaRPr dirty="0"/>
          </a:p>
          <a:p>
            <a:pPr marL="457200" lvl="0" indent="-457200" algn="l" rtl="0">
              <a:spcBef>
                <a:spcPts val="496"/>
              </a:spcBef>
              <a:spcAft>
                <a:spcPts val="0"/>
              </a:spcAft>
              <a:buClr>
                <a:schemeClr val="dk1"/>
              </a:buClr>
              <a:buSzPct val="100000"/>
              <a:buFont typeface="Noto Sans Symbols"/>
              <a:buChar char="⮚"/>
            </a:pPr>
            <a:r>
              <a:rPr lang="en-US" dirty="0">
                <a:solidFill>
                  <a:schemeClr val="dk1"/>
                </a:solidFill>
              </a:rPr>
              <a:t>The ACL number of standard ACL has to be between 1-99(or 1300- 1699)</a:t>
            </a:r>
            <a:endParaRPr dirty="0"/>
          </a:p>
          <a:p>
            <a:pPr marL="457200" lvl="0" indent="-457200" algn="l" rtl="0">
              <a:spcBef>
                <a:spcPts val="496"/>
              </a:spcBef>
              <a:spcAft>
                <a:spcPts val="0"/>
              </a:spcAft>
              <a:buClr>
                <a:schemeClr val="dk1"/>
              </a:buClr>
              <a:buSzPct val="100000"/>
              <a:buFont typeface="Noto Sans Symbols"/>
              <a:buChar char="⮚"/>
            </a:pPr>
            <a:r>
              <a:rPr lang="en-US" dirty="0">
                <a:solidFill>
                  <a:schemeClr val="dk1"/>
                </a:solidFill>
              </a:rPr>
              <a:t>Filtering is based on the source IP address</a:t>
            </a:r>
            <a:endParaRPr dirty="0"/>
          </a:p>
          <a:p>
            <a:pPr marL="457200" lvl="0" indent="-457200" algn="l" rtl="0">
              <a:spcBef>
                <a:spcPts val="496"/>
              </a:spcBef>
              <a:spcAft>
                <a:spcPts val="0"/>
              </a:spcAft>
              <a:buClr>
                <a:schemeClr val="dk1"/>
              </a:buClr>
              <a:buSzPct val="100000"/>
              <a:buFont typeface="Noto Sans Symbols"/>
              <a:buChar char="⮚"/>
            </a:pPr>
            <a:r>
              <a:rPr lang="en-US" dirty="0">
                <a:solidFill>
                  <a:schemeClr val="dk1"/>
                </a:solidFill>
              </a:rPr>
              <a:t>Match a network host and subnets (not selected services)</a:t>
            </a:r>
            <a:endParaRPr dirty="0"/>
          </a:p>
          <a:p>
            <a:pPr marL="457200" lvl="0" indent="-457200" algn="l" rtl="0">
              <a:spcBef>
                <a:spcPts val="496"/>
              </a:spcBef>
              <a:spcAft>
                <a:spcPts val="0"/>
              </a:spcAft>
              <a:buClr>
                <a:schemeClr val="dk1"/>
              </a:buClr>
              <a:buSzPct val="100000"/>
              <a:buFont typeface="Noto Sans Symbols"/>
              <a:buChar char="⮚"/>
            </a:pPr>
            <a:r>
              <a:rPr lang="en-US" dirty="0">
                <a:solidFill>
                  <a:schemeClr val="dk1"/>
                </a:solidFill>
              </a:rPr>
              <a:t>All services are blocked(cannot define selected services)</a:t>
            </a:r>
            <a:endParaRPr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138"/>
          <p:cNvSpPr txBox="1">
            <a:spLocks noGrp="1"/>
          </p:cNvSpPr>
          <p:nvPr>
            <p:ph type="subTitle" idx="1"/>
          </p:nvPr>
        </p:nvSpPr>
        <p:spPr>
          <a:xfrm>
            <a:off x="827584" y="620688"/>
            <a:ext cx="7632848" cy="5832648"/>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spcBef>
                <a:spcPts val="0"/>
              </a:spcBef>
              <a:spcAft>
                <a:spcPts val="0"/>
              </a:spcAft>
              <a:buClr>
                <a:schemeClr val="dk1"/>
              </a:buClr>
              <a:buSzPct val="100000"/>
              <a:buNone/>
            </a:pPr>
            <a:r>
              <a:rPr lang="en-US" b="1" u="sng" dirty="0">
                <a:solidFill>
                  <a:schemeClr val="dk1"/>
                </a:solidFill>
              </a:rPr>
              <a:t>Extended ACL:</a:t>
            </a:r>
            <a:endParaRPr dirty="0"/>
          </a:p>
          <a:p>
            <a:pPr marL="457200" lvl="0" indent="-457200" algn="l" rtl="0">
              <a:spcBef>
                <a:spcPts val="592"/>
              </a:spcBef>
              <a:spcAft>
                <a:spcPts val="0"/>
              </a:spcAft>
              <a:buClr>
                <a:schemeClr val="dk1"/>
              </a:buClr>
              <a:buSzPct val="100000"/>
              <a:buFont typeface="Noto Sans Symbols"/>
              <a:buChar char="⮚"/>
            </a:pPr>
            <a:r>
              <a:rPr lang="en-US" dirty="0">
                <a:solidFill>
                  <a:schemeClr val="dk1"/>
                </a:solidFill>
              </a:rPr>
              <a:t>Each and any protocols could be blocked when deny conditions is applied</a:t>
            </a:r>
            <a:endParaRPr dirty="0"/>
          </a:p>
          <a:p>
            <a:pPr marL="457200" lvl="0" indent="-457200" algn="l" rtl="0">
              <a:spcBef>
                <a:spcPts val="592"/>
              </a:spcBef>
              <a:spcAft>
                <a:spcPts val="0"/>
              </a:spcAft>
              <a:buClr>
                <a:schemeClr val="dk1"/>
              </a:buClr>
              <a:buSzPct val="100000"/>
              <a:buFont typeface="Noto Sans Symbols"/>
              <a:buChar char="⮚"/>
            </a:pPr>
            <a:r>
              <a:rPr lang="en-US" dirty="0">
                <a:solidFill>
                  <a:schemeClr val="dk1"/>
                </a:solidFill>
              </a:rPr>
              <a:t>Through extended ACL the particular services can be permitted / blocked</a:t>
            </a:r>
            <a:endParaRPr dirty="0"/>
          </a:p>
          <a:p>
            <a:pPr marL="457200" lvl="0" indent="-457200" algn="l" rtl="0">
              <a:spcBef>
                <a:spcPts val="592"/>
              </a:spcBef>
              <a:spcAft>
                <a:spcPts val="0"/>
              </a:spcAft>
              <a:buClr>
                <a:schemeClr val="dk1"/>
              </a:buClr>
              <a:buSzPct val="100000"/>
              <a:buFont typeface="Noto Sans Symbols"/>
              <a:buChar char="⮚"/>
            </a:pPr>
            <a:r>
              <a:rPr lang="en-US" dirty="0">
                <a:solidFill>
                  <a:schemeClr val="dk1"/>
                </a:solidFill>
              </a:rPr>
              <a:t>The ACL number for the extended ACL has to be between 100 – 199 ( OR 2000 -2699)</a:t>
            </a:r>
            <a:endParaRPr dirty="0"/>
          </a:p>
          <a:p>
            <a:pPr marL="457200" lvl="0" indent="-457200" algn="l" rtl="0">
              <a:spcBef>
                <a:spcPts val="592"/>
              </a:spcBef>
              <a:spcAft>
                <a:spcPts val="0"/>
              </a:spcAft>
              <a:buClr>
                <a:schemeClr val="dk1"/>
              </a:buClr>
              <a:buSzPct val="100000"/>
              <a:buFont typeface="Noto Sans Symbols"/>
              <a:buChar char="⮚"/>
            </a:pPr>
            <a:r>
              <a:rPr lang="en-US" dirty="0">
                <a:solidFill>
                  <a:schemeClr val="dk1"/>
                </a:solidFill>
              </a:rPr>
              <a:t> Filtering is based on source IP </a:t>
            </a:r>
            <a:r>
              <a:rPr lang="en-US" dirty="0" smtClean="0">
                <a:solidFill>
                  <a:schemeClr val="dk1"/>
                </a:solidFill>
              </a:rPr>
              <a:t>address, destination </a:t>
            </a:r>
            <a:r>
              <a:rPr lang="en-US" dirty="0">
                <a:solidFill>
                  <a:schemeClr val="dk1"/>
                </a:solidFill>
              </a:rPr>
              <a:t>IP address, protocols and ports (services)</a:t>
            </a:r>
            <a:endParaRPr dirty="0"/>
          </a:p>
          <a:p>
            <a:pPr marL="457200" lvl="0" indent="-457200" algn="l" rtl="0">
              <a:spcBef>
                <a:spcPts val="592"/>
              </a:spcBef>
              <a:spcAft>
                <a:spcPts val="0"/>
              </a:spcAft>
              <a:buClr>
                <a:schemeClr val="dk1"/>
              </a:buClr>
              <a:buSzPct val="100000"/>
              <a:buFont typeface="Noto Sans Symbols"/>
              <a:buChar char="⮚"/>
            </a:pPr>
            <a:r>
              <a:rPr lang="en-US" dirty="0">
                <a:solidFill>
                  <a:schemeClr val="dk1"/>
                </a:solidFill>
              </a:rPr>
              <a:t>Match specific network , host , subnet , and services</a:t>
            </a:r>
            <a:endParaRPr dirty="0"/>
          </a:p>
          <a:p>
            <a:pPr marL="457200" lvl="0" indent="-457200" algn="l" rtl="0">
              <a:spcBef>
                <a:spcPts val="592"/>
              </a:spcBef>
              <a:spcAft>
                <a:spcPts val="0"/>
              </a:spcAft>
              <a:buClr>
                <a:schemeClr val="dk1"/>
              </a:buClr>
              <a:buSzPct val="100000"/>
              <a:buFont typeface="Noto Sans Symbols"/>
              <a:buChar char="⮚"/>
            </a:pPr>
            <a:r>
              <a:rPr lang="en-US" dirty="0">
                <a:solidFill>
                  <a:schemeClr val="dk1"/>
                </a:solidFill>
              </a:rPr>
              <a:t> Select services can be blocked</a:t>
            </a:r>
            <a:endParaRPr dirty="0">
              <a:solidFill>
                <a:schemeClr val="dk1"/>
              </a:solidFil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139"/>
          <p:cNvSpPr txBox="1">
            <a:spLocks noGrp="1"/>
          </p:cNvSpPr>
          <p:nvPr>
            <p:ph type="title"/>
          </p:nvPr>
        </p:nvSpPr>
        <p:spPr>
          <a:xfrm>
            <a:off x="457200" y="-12092"/>
            <a:ext cx="8229600" cy="808574"/>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dirty="0"/>
              <a:t>Standard </a:t>
            </a:r>
            <a:r>
              <a:rPr lang="en-US" b="1" dirty="0" smtClean="0"/>
              <a:t>ACL</a:t>
            </a:r>
            <a:endParaRPr b="1" dirty="0"/>
          </a:p>
        </p:txBody>
      </p:sp>
      <p:sp>
        <p:nvSpPr>
          <p:cNvPr id="1103" name="Google Shape;1103;p139"/>
          <p:cNvSpPr txBox="1">
            <a:spLocks noGrp="1"/>
          </p:cNvSpPr>
          <p:nvPr>
            <p:ph type="body" idx="1"/>
          </p:nvPr>
        </p:nvSpPr>
        <p:spPr>
          <a:xfrm>
            <a:off x="457200" y="1023582"/>
            <a:ext cx="8229600" cy="5102581"/>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ct val="100000"/>
              <a:buChar char="•"/>
            </a:pPr>
            <a:r>
              <a:rPr lang="en-US" b="1" dirty="0"/>
              <a:t>DO DYNAMIC ROUTING ATOMATIC IP ALLOCATION</a:t>
            </a:r>
            <a:endParaRPr b="1" dirty="0"/>
          </a:p>
          <a:p>
            <a:pPr marL="342900" lvl="0" indent="-342900" algn="l" rtl="0">
              <a:spcBef>
                <a:spcPts val="448"/>
              </a:spcBef>
              <a:spcAft>
                <a:spcPts val="0"/>
              </a:spcAft>
              <a:buClr>
                <a:schemeClr val="dk1"/>
              </a:buClr>
              <a:buSzPct val="100000"/>
              <a:buNone/>
            </a:pPr>
            <a:r>
              <a:rPr lang="en-US" b="1" dirty="0"/>
              <a:t>R1:</a:t>
            </a:r>
            <a:endParaRPr b="1" dirty="0"/>
          </a:p>
          <a:p>
            <a:pPr marL="342900" lvl="0" indent="-342900" algn="l" rtl="0">
              <a:spcBef>
                <a:spcPts val="448"/>
              </a:spcBef>
              <a:spcAft>
                <a:spcPts val="0"/>
              </a:spcAft>
              <a:buClr>
                <a:schemeClr val="dk1"/>
              </a:buClr>
              <a:buSzPct val="100000"/>
              <a:buNone/>
            </a:pPr>
            <a:r>
              <a:rPr lang="en-US" dirty="0"/>
              <a:t>Access-list 1 deny host 192.168.1.2</a:t>
            </a:r>
            <a:endParaRPr dirty="0"/>
          </a:p>
          <a:p>
            <a:pPr marL="342900" lvl="0" indent="-342900" algn="l" rtl="0">
              <a:spcBef>
                <a:spcPts val="448"/>
              </a:spcBef>
              <a:spcAft>
                <a:spcPts val="0"/>
              </a:spcAft>
              <a:buClr>
                <a:schemeClr val="dk1"/>
              </a:buClr>
              <a:buSzPct val="100000"/>
              <a:buNone/>
            </a:pPr>
            <a:r>
              <a:rPr lang="en-US" dirty="0"/>
              <a:t>Access-list 1 permit any</a:t>
            </a:r>
            <a:endParaRPr dirty="0"/>
          </a:p>
          <a:p>
            <a:pPr marL="342900" lvl="0" indent="-342900" algn="l" rtl="0">
              <a:spcBef>
                <a:spcPts val="448"/>
              </a:spcBef>
              <a:spcAft>
                <a:spcPts val="0"/>
              </a:spcAft>
              <a:buClr>
                <a:schemeClr val="dk1"/>
              </a:buClr>
              <a:buSzPct val="100000"/>
              <a:buNone/>
            </a:pPr>
            <a:r>
              <a:rPr lang="en-US" dirty="0"/>
              <a:t>Do write</a:t>
            </a:r>
            <a:endParaRPr dirty="0"/>
          </a:p>
          <a:p>
            <a:pPr marL="342900" lvl="0" indent="-342900" algn="l" rtl="0">
              <a:spcBef>
                <a:spcPts val="448"/>
              </a:spcBef>
              <a:spcAft>
                <a:spcPts val="0"/>
              </a:spcAft>
              <a:buClr>
                <a:schemeClr val="dk1"/>
              </a:buClr>
              <a:buSzPct val="100000"/>
              <a:buNone/>
            </a:pPr>
            <a:r>
              <a:rPr lang="en-US" dirty="0"/>
              <a:t>Interface gig0/0/0</a:t>
            </a:r>
            <a:endParaRPr dirty="0"/>
          </a:p>
          <a:p>
            <a:pPr marL="342900" lvl="0" indent="-342900" algn="l" rtl="0">
              <a:spcBef>
                <a:spcPts val="448"/>
              </a:spcBef>
              <a:spcAft>
                <a:spcPts val="0"/>
              </a:spcAft>
              <a:buClr>
                <a:schemeClr val="dk1"/>
              </a:buClr>
              <a:buSzPct val="100000"/>
              <a:buNone/>
            </a:pPr>
            <a:r>
              <a:rPr lang="en-US" dirty="0" err="1"/>
              <a:t>Ip</a:t>
            </a:r>
            <a:r>
              <a:rPr lang="en-US" dirty="0"/>
              <a:t> access-group 1 in</a:t>
            </a:r>
            <a:endParaRPr dirty="0"/>
          </a:p>
          <a:p>
            <a:pPr marL="342900" lvl="0" indent="-342900" algn="l" rtl="0">
              <a:spcBef>
                <a:spcPts val="448"/>
              </a:spcBef>
              <a:spcAft>
                <a:spcPts val="0"/>
              </a:spcAft>
              <a:buClr>
                <a:schemeClr val="dk1"/>
              </a:buClr>
              <a:buSzPct val="100000"/>
              <a:buNone/>
            </a:pPr>
            <a:r>
              <a:rPr lang="en-US" dirty="0"/>
              <a:t>Do write</a:t>
            </a:r>
            <a:endParaRPr dirty="0"/>
          </a:p>
          <a:p>
            <a:pPr marL="342900" lvl="0" indent="-342900" algn="l" rtl="0">
              <a:spcBef>
                <a:spcPts val="448"/>
              </a:spcBef>
              <a:spcAft>
                <a:spcPts val="0"/>
              </a:spcAft>
              <a:buClr>
                <a:schemeClr val="dk1"/>
              </a:buClr>
              <a:buSzPct val="100000"/>
              <a:buNone/>
            </a:pPr>
            <a:r>
              <a:rPr lang="en-US" dirty="0"/>
              <a:t>Exit</a:t>
            </a:r>
            <a:endParaRPr dirty="0"/>
          </a:p>
          <a:p>
            <a:pPr marL="342900" lvl="0" indent="-342900" algn="l" rtl="0">
              <a:spcBef>
                <a:spcPts val="448"/>
              </a:spcBef>
              <a:spcAft>
                <a:spcPts val="0"/>
              </a:spcAft>
              <a:buClr>
                <a:schemeClr val="dk1"/>
              </a:buClr>
              <a:buSzPct val="100000"/>
              <a:buNone/>
            </a:pPr>
            <a:endParaRPr dirty="0"/>
          </a:p>
          <a:p>
            <a:pPr marL="342900" lvl="0" indent="-342900" algn="l" rtl="0">
              <a:spcBef>
                <a:spcPts val="448"/>
              </a:spcBef>
              <a:spcAft>
                <a:spcPts val="0"/>
              </a:spcAft>
              <a:buClr>
                <a:schemeClr val="dk1"/>
              </a:buClr>
              <a:buSzPct val="100000"/>
              <a:buNone/>
            </a:pPr>
            <a:r>
              <a:rPr lang="en-US" b="1" dirty="0" smtClean="0"/>
              <a:t>Pc1 </a:t>
            </a:r>
            <a:r>
              <a:rPr lang="en-US" b="1" dirty="0"/>
              <a:t>command </a:t>
            </a:r>
            <a:r>
              <a:rPr lang="en-US" b="1" dirty="0" smtClean="0"/>
              <a:t>prompt</a:t>
            </a:r>
            <a:endParaRPr b="1" dirty="0"/>
          </a:p>
          <a:p>
            <a:pPr marL="342900" lvl="0" indent="-342900" algn="l" rtl="0">
              <a:spcBef>
                <a:spcPts val="448"/>
              </a:spcBef>
              <a:spcAft>
                <a:spcPts val="0"/>
              </a:spcAft>
              <a:buClr>
                <a:schemeClr val="dk1"/>
              </a:buClr>
              <a:buSzPct val="100000"/>
              <a:buNone/>
            </a:pPr>
            <a:r>
              <a:rPr lang="en-US" dirty="0"/>
              <a:t>Ping </a:t>
            </a:r>
            <a:r>
              <a:rPr lang="en-US" dirty="0" smtClean="0"/>
              <a:t>192.168.2.1</a:t>
            </a:r>
            <a:endParaRPr dirty="0"/>
          </a:p>
        </p:txBody>
      </p:sp>
      <p:sp>
        <p:nvSpPr>
          <p:cNvPr id="1104" name="Google Shape;1104;p139"/>
          <p:cNvSpPr/>
          <p:nvPr/>
        </p:nvSpPr>
        <p:spPr>
          <a:xfrm>
            <a:off x="5486400" y="29718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5" name="Google Shape;1105;p139"/>
          <p:cNvSpPr/>
          <p:nvPr/>
        </p:nvSpPr>
        <p:spPr>
          <a:xfrm>
            <a:off x="5334000" y="41910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6" name="Google Shape;1106;p139"/>
          <p:cNvSpPr/>
          <p:nvPr/>
        </p:nvSpPr>
        <p:spPr>
          <a:xfrm>
            <a:off x="5105400" y="51816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7" name="Google Shape;1107;p139"/>
          <p:cNvSpPr/>
          <p:nvPr/>
        </p:nvSpPr>
        <p:spPr>
          <a:xfrm>
            <a:off x="6248400" y="51816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8" name="Google Shape;1108;p139"/>
          <p:cNvSpPr/>
          <p:nvPr/>
        </p:nvSpPr>
        <p:spPr>
          <a:xfrm>
            <a:off x="7467600" y="28956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09" name="Google Shape;1109;p139"/>
          <p:cNvSpPr/>
          <p:nvPr/>
        </p:nvSpPr>
        <p:spPr>
          <a:xfrm>
            <a:off x="7315200" y="41148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0" name="Google Shape;1110;p139"/>
          <p:cNvSpPr/>
          <p:nvPr/>
        </p:nvSpPr>
        <p:spPr>
          <a:xfrm>
            <a:off x="7086600" y="51054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1" name="Google Shape;1111;p139"/>
          <p:cNvSpPr/>
          <p:nvPr/>
        </p:nvSpPr>
        <p:spPr>
          <a:xfrm>
            <a:off x="8229600" y="51054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12" name="Google Shape;1112;p139"/>
          <p:cNvCxnSpPr>
            <a:stCxn id="1104" idx="6"/>
          </p:cNvCxnSpPr>
          <p:nvPr/>
        </p:nvCxnSpPr>
        <p:spPr>
          <a:xfrm>
            <a:off x="6172200" y="3276600"/>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1113" name="Google Shape;1113;p139"/>
          <p:cNvCxnSpPr>
            <a:stCxn id="1104" idx="4"/>
            <a:endCxn id="1105" idx="0"/>
          </p:cNvCxnSpPr>
          <p:nvPr/>
        </p:nvCxnSpPr>
        <p:spPr>
          <a:xfrm flipH="1">
            <a:off x="5791200" y="35814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114" name="Google Shape;1114;p139"/>
          <p:cNvCxnSpPr>
            <a:stCxn id="1108" idx="4"/>
            <a:endCxn id="1109" idx="0"/>
          </p:cNvCxnSpPr>
          <p:nvPr/>
        </p:nvCxnSpPr>
        <p:spPr>
          <a:xfrm flipH="1">
            <a:off x="7772400" y="35052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115" name="Google Shape;1115;p139"/>
          <p:cNvCxnSpPr>
            <a:stCxn id="1105" idx="2"/>
            <a:endCxn id="1106" idx="0"/>
          </p:cNvCxnSpPr>
          <p:nvPr/>
        </p:nvCxnSpPr>
        <p:spPr>
          <a:xfrm flipH="1">
            <a:off x="5372100" y="44958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116" name="Google Shape;1116;p139"/>
          <p:cNvCxnSpPr>
            <a:stCxn id="1105" idx="2"/>
            <a:endCxn id="1107" idx="0"/>
          </p:cNvCxnSpPr>
          <p:nvPr/>
        </p:nvCxnSpPr>
        <p:spPr>
          <a:xfrm>
            <a:off x="5791200" y="4495800"/>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1117" name="Google Shape;1117;p139"/>
          <p:cNvCxnSpPr>
            <a:stCxn id="1109" idx="2"/>
            <a:endCxn id="1110" idx="0"/>
          </p:cNvCxnSpPr>
          <p:nvPr/>
        </p:nvCxnSpPr>
        <p:spPr>
          <a:xfrm flipH="1">
            <a:off x="7353300" y="44196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118" name="Google Shape;1118;p139"/>
          <p:cNvCxnSpPr>
            <a:stCxn id="1109" idx="2"/>
            <a:endCxn id="1111" idx="0"/>
          </p:cNvCxnSpPr>
          <p:nvPr/>
        </p:nvCxnSpPr>
        <p:spPr>
          <a:xfrm>
            <a:off x="7772400" y="4419600"/>
            <a:ext cx="723900" cy="685800"/>
          </a:xfrm>
          <a:prstGeom prst="straightConnector1">
            <a:avLst/>
          </a:prstGeom>
          <a:noFill/>
          <a:ln w="9525" cap="flat" cmpd="sng">
            <a:solidFill>
              <a:srgbClr val="4A7DBA"/>
            </a:solidFill>
            <a:prstDash val="solid"/>
            <a:round/>
            <a:headEnd type="none" w="sm" len="sm"/>
            <a:tailEnd type="none" w="sm" len="sm"/>
          </a:ln>
        </p:spPr>
      </p:cxnSp>
      <p:sp>
        <p:nvSpPr>
          <p:cNvPr id="1119" name="Google Shape;1119;p139"/>
          <p:cNvSpPr/>
          <p:nvPr/>
        </p:nvSpPr>
        <p:spPr>
          <a:xfrm>
            <a:off x="4191000" y="3124200"/>
            <a:ext cx="457200" cy="914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20" name="Google Shape;1120;p139"/>
          <p:cNvCxnSpPr>
            <a:stCxn id="1119" idx="3"/>
            <a:endCxn id="1104" idx="2"/>
          </p:cNvCxnSpPr>
          <p:nvPr/>
        </p:nvCxnSpPr>
        <p:spPr>
          <a:xfrm flipV="1">
            <a:off x="4648200" y="3276600"/>
            <a:ext cx="838200" cy="304800"/>
          </a:xfrm>
          <a:prstGeom prst="straightConnector1">
            <a:avLst/>
          </a:prstGeom>
          <a:noFill/>
          <a:ln w="9525" cap="flat" cmpd="sng">
            <a:solidFill>
              <a:srgbClr val="4A7DBA"/>
            </a:solidFill>
            <a:prstDash val="solid"/>
            <a:round/>
            <a:headEnd type="none" w="sm" len="sm"/>
            <a:tailEnd type="none" w="sm" len="sm"/>
          </a:ln>
        </p:spPr>
      </p:cxnSp>
      <p:sp>
        <p:nvSpPr>
          <p:cNvPr id="3" name="TextBox 2"/>
          <p:cNvSpPr txBox="1"/>
          <p:nvPr/>
        </p:nvSpPr>
        <p:spPr>
          <a:xfrm>
            <a:off x="4807682" y="5690493"/>
            <a:ext cx="1128835" cy="307777"/>
          </a:xfrm>
          <a:prstGeom prst="rect">
            <a:avLst/>
          </a:prstGeom>
          <a:noFill/>
        </p:spPr>
        <p:txBody>
          <a:bodyPr wrap="none" rtlCol="0">
            <a:spAutoFit/>
          </a:bodyPr>
          <a:lstStyle/>
          <a:p>
            <a:r>
              <a:rPr lang="en-US" dirty="0" smtClean="0"/>
              <a:t>192.168.1.2</a:t>
            </a:r>
            <a:endParaRPr lang="en-IN" dirty="0"/>
          </a:p>
        </p:txBody>
      </p:sp>
      <p:sp>
        <p:nvSpPr>
          <p:cNvPr id="23" name="TextBox 22"/>
          <p:cNvSpPr txBox="1"/>
          <p:nvPr/>
        </p:nvSpPr>
        <p:spPr>
          <a:xfrm>
            <a:off x="5963012" y="5690492"/>
            <a:ext cx="1128835" cy="307777"/>
          </a:xfrm>
          <a:prstGeom prst="rect">
            <a:avLst/>
          </a:prstGeom>
          <a:noFill/>
        </p:spPr>
        <p:txBody>
          <a:bodyPr wrap="none" rtlCol="0">
            <a:spAutoFit/>
          </a:bodyPr>
          <a:lstStyle/>
          <a:p>
            <a:r>
              <a:rPr lang="en-US" dirty="0" smtClean="0"/>
              <a:t>192.168.1.3</a:t>
            </a:r>
            <a:endParaRPr lang="en-IN" dirty="0"/>
          </a:p>
        </p:txBody>
      </p:sp>
      <p:sp>
        <p:nvSpPr>
          <p:cNvPr id="24" name="TextBox 23"/>
          <p:cNvSpPr txBox="1"/>
          <p:nvPr/>
        </p:nvSpPr>
        <p:spPr>
          <a:xfrm>
            <a:off x="6979382" y="5651394"/>
            <a:ext cx="1128835" cy="307777"/>
          </a:xfrm>
          <a:prstGeom prst="rect">
            <a:avLst/>
          </a:prstGeom>
          <a:noFill/>
        </p:spPr>
        <p:txBody>
          <a:bodyPr wrap="none" rtlCol="0">
            <a:spAutoFit/>
          </a:bodyPr>
          <a:lstStyle/>
          <a:p>
            <a:r>
              <a:rPr lang="en-US" dirty="0" smtClean="0"/>
              <a:t>192.168.2.1</a:t>
            </a:r>
          </a:p>
        </p:txBody>
      </p:sp>
      <p:sp>
        <p:nvSpPr>
          <p:cNvPr id="25" name="TextBox 24"/>
          <p:cNvSpPr txBox="1"/>
          <p:nvPr/>
        </p:nvSpPr>
        <p:spPr>
          <a:xfrm>
            <a:off x="7993246" y="5612296"/>
            <a:ext cx="1128835" cy="307777"/>
          </a:xfrm>
          <a:prstGeom prst="rect">
            <a:avLst/>
          </a:prstGeom>
          <a:noFill/>
        </p:spPr>
        <p:txBody>
          <a:bodyPr wrap="none" rtlCol="0">
            <a:spAutoFit/>
          </a:bodyPr>
          <a:lstStyle/>
          <a:p>
            <a:r>
              <a:rPr lang="en-US" dirty="0" smtClean="0"/>
              <a:t>192.168.2.2</a:t>
            </a:r>
            <a:endParaRPr lang="en-IN" dirty="0"/>
          </a:p>
        </p:txBody>
      </p:sp>
      <p:sp>
        <p:nvSpPr>
          <p:cNvPr id="26" name="TextBox 25"/>
          <p:cNvSpPr txBox="1"/>
          <p:nvPr/>
        </p:nvSpPr>
        <p:spPr>
          <a:xfrm>
            <a:off x="3798033" y="4067273"/>
            <a:ext cx="1128835" cy="307777"/>
          </a:xfrm>
          <a:prstGeom prst="rect">
            <a:avLst/>
          </a:prstGeom>
          <a:noFill/>
        </p:spPr>
        <p:txBody>
          <a:bodyPr wrap="none" rtlCol="0">
            <a:spAutoFit/>
          </a:bodyPr>
          <a:lstStyle/>
          <a:p>
            <a:r>
              <a:rPr lang="en-US" dirty="0" smtClean="0"/>
              <a:t>192.168.3.2</a:t>
            </a:r>
            <a:endParaRPr lang="en-IN"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140"/>
          <p:cNvSpPr txBox="1">
            <a:spLocks noGrp="1"/>
          </p:cNvSpPr>
          <p:nvPr>
            <p:ph type="body" idx="1"/>
          </p:nvPr>
        </p:nvSpPr>
        <p:spPr>
          <a:xfrm>
            <a:off x="457200" y="609600"/>
            <a:ext cx="8229600" cy="5516563"/>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None/>
            </a:pPr>
            <a:r>
              <a:rPr lang="en-US" sz="5700" dirty="0"/>
              <a:t>Extended </a:t>
            </a:r>
            <a:r>
              <a:rPr lang="en-US" sz="5700" dirty="0" err="1"/>
              <a:t>Acl</a:t>
            </a:r>
            <a:r>
              <a:rPr lang="en-US" sz="5700" dirty="0"/>
              <a:t>:</a:t>
            </a:r>
            <a:endParaRPr dirty="0"/>
          </a:p>
          <a:p>
            <a:pPr marL="342900" lvl="0" indent="-342900" algn="l" rtl="0">
              <a:spcBef>
                <a:spcPts val="496"/>
              </a:spcBef>
              <a:spcAft>
                <a:spcPts val="0"/>
              </a:spcAft>
              <a:buClr>
                <a:schemeClr val="dk1"/>
              </a:buClr>
              <a:buSzPct val="100000"/>
              <a:buNone/>
            </a:pPr>
            <a:r>
              <a:rPr lang="en-US" dirty="0"/>
              <a:t>Server:</a:t>
            </a:r>
            <a:endParaRPr dirty="0"/>
          </a:p>
          <a:p>
            <a:pPr marL="342900" lvl="0" indent="-342900" algn="l" rtl="0">
              <a:spcBef>
                <a:spcPts val="496"/>
              </a:spcBef>
              <a:spcAft>
                <a:spcPts val="0"/>
              </a:spcAft>
              <a:buClr>
                <a:schemeClr val="dk1"/>
              </a:buClr>
              <a:buSzPct val="100000"/>
              <a:buNone/>
            </a:pPr>
            <a:r>
              <a:rPr lang="en-US" dirty="0"/>
              <a:t>Service -&gt;HTTP -&gt; ON</a:t>
            </a:r>
            <a:endParaRPr dirty="0"/>
          </a:p>
          <a:p>
            <a:pPr marL="342900" lvl="0" indent="-342900" algn="l" rtl="0">
              <a:spcBef>
                <a:spcPts val="496"/>
              </a:spcBef>
              <a:spcAft>
                <a:spcPts val="0"/>
              </a:spcAft>
              <a:buClr>
                <a:schemeClr val="dk1"/>
              </a:buClr>
              <a:buSzPct val="100000"/>
              <a:buNone/>
            </a:pPr>
            <a:r>
              <a:rPr lang="en-US" dirty="0"/>
              <a:t> R2:</a:t>
            </a:r>
            <a:endParaRPr dirty="0"/>
          </a:p>
          <a:p>
            <a:pPr marL="342900" lvl="0" indent="-342900" algn="l" rtl="0">
              <a:spcBef>
                <a:spcPts val="496"/>
              </a:spcBef>
              <a:spcAft>
                <a:spcPts val="0"/>
              </a:spcAft>
              <a:buClr>
                <a:schemeClr val="dk1"/>
              </a:buClr>
              <a:buSzPct val="100000"/>
              <a:buNone/>
            </a:pPr>
            <a:r>
              <a:rPr lang="en-US" dirty="0"/>
              <a:t> #access-list 100 </a:t>
            </a:r>
            <a:r>
              <a:rPr lang="en-US" dirty="0" smtClean="0"/>
              <a:t>deny </a:t>
            </a:r>
            <a:r>
              <a:rPr lang="en-US" dirty="0" err="1"/>
              <a:t>tcp</a:t>
            </a:r>
            <a:r>
              <a:rPr lang="en-US" dirty="0"/>
              <a:t> host 192.168.2.2 host 192.168.3.2 </a:t>
            </a:r>
            <a:r>
              <a:rPr lang="en-US" dirty="0" err="1" smtClean="0"/>
              <a:t>eq</a:t>
            </a:r>
            <a:r>
              <a:rPr lang="en-US" dirty="0" smtClean="0"/>
              <a:t> 80                                </a:t>
            </a:r>
            <a:r>
              <a:rPr lang="en-US" dirty="0" smtClean="0">
                <a:solidFill>
                  <a:schemeClr val="accent6">
                    <a:lumMod val="40000"/>
                    <a:lumOff val="60000"/>
                  </a:schemeClr>
                </a:solidFill>
              </a:rPr>
              <a:t>//(</a:t>
            </a:r>
            <a:r>
              <a:rPr lang="en-US" dirty="0" err="1" smtClean="0">
                <a:solidFill>
                  <a:schemeClr val="accent6">
                    <a:lumMod val="40000"/>
                    <a:lumOff val="60000"/>
                  </a:schemeClr>
                </a:solidFill>
              </a:rPr>
              <a:t>eq</a:t>
            </a:r>
            <a:r>
              <a:rPr lang="en-US" dirty="0" smtClean="0">
                <a:solidFill>
                  <a:schemeClr val="accent6">
                    <a:lumMod val="40000"/>
                    <a:lumOff val="60000"/>
                  </a:schemeClr>
                </a:solidFill>
              </a:rPr>
              <a:t>-equivalent)</a:t>
            </a:r>
            <a:endParaRPr dirty="0">
              <a:solidFill>
                <a:schemeClr val="accent6">
                  <a:lumMod val="40000"/>
                  <a:lumOff val="60000"/>
                </a:schemeClr>
              </a:solidFill>
            </a:endParaRPr>
          </a:p>
          <a:p>
            <a:pPr marL="342900" lvl="0" indent="-342900" algn="l" rtl="0">
              <a:spcBef>
                <a:spcPts val="496"/>
              </a:spcBef>
              <a:spcAft>
                <a:spcPts val="0"/>
              </a:spcAft>
              <a:buClr>
                <a:schemeClr val="dk1"/>
              </a:buClr>
              <a:buSzPct val="100000"/>
              <a:buNone/>
            </a:pPr>
            <a:r>
              <a:rPr lang="en-US" dirty="0"/>
              <a:t>#Access-list 100 permit </a:t>
            </a:r>
            <a:r>
              <a:rPr lang="en-US" dirty="0" err="1"/>
              <a:t>tcp</a:t>
            </a:r>
            <a:r>
              <a:rPr lang="en-US" dirty="0"/>
              <a:t> any host 192.168.3.2 </a:t>
            </a:r>
            <a:r>
              <a:rPr lang="en-US" dirty="0" err="1" smtClean="0"/>
              <a:t>eq</a:t>
            </a:r>
            <a:r>
              <a:rPr lang="en-US" dirty="0" smtClean="0"/>
              <a:t> 80</a:t>
            </a:r>
            <a:endParaRPr dirty="0"/>
          </a:p>
          <a:p>
            <a:pPr marL="342900" lvl="0" indent="-342900" algn="l" rtl="0">
              <a:spcBef>
                <a:spcPts val="496"/>
              </a:spcBef>
              <a:spcAft>
                <a:spcPts val="0"/>
              </a:spcAft>
              <a:buClr>
                <a:schemeClr val="dk1"/>
              </a:buClr>
              <a:buSzPct val="100000"/>
              <a:buNone/>
            </a:pPr>
            <a:r>
              <a:rPr lang="en-US" dirty="0"/>
              <a:t>#Access-list 100 permit </a:t>
            </a:r>
            <a:r>
              <a:rPr lang="en-US" dirty="0" err="1"/>
              <a:t>ip</a:t>
            </a:r>
            <a:r>
              <a:rPr lang="en-US" dirty="0"/>
              <a:t> any </a:t>
            </a:r>
            <a:r>
              <a:rPr lang="en-US" dirty="0" err="1"/>
              <a:t>any</a:t>
            </a:r>
            <a:endParaRPr dirty="0"/>
          </a:p>
          <a:p>
            <a:pPr marL="342900" lvl="0" indent="-342900" algn="l" rtl="0">
              <a:spcBef>
                <a:spcPts val="496"/>
              </a:spcBef>
              <a:spcAft>
                <a:spcPts val="0"/>
              </a:spcAft>
              <a:buClr>
                <a:schemeClr val="dk1"/>
              </a:buClr>
              <a:buSzPct val="100000"/>
              <a:buNone/>
            </a:pPr>
            <a:r>
              <a:rPr lang="en-US" dirty="0"/>
              <a:t>#interface gig0/0/0</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access-group 100 in</a:t>
            </a:r>
            <a:endParaRPr dirty="0"/>
          </a:p>
          <a:p>
            <a:pPr marL="342900" lvl="0" indent="-342900" algn="l" rtl="0">
              <a:spcBef>
                <a:spcPts val="496"/>
              </a:spcBef>
              <a:spcAft>
                <a:spcPts val="0"/>
              </a:spcAft>
              <a:buClr>
                <a:schemeClr val="dk1"/>
              </a:buClr>
              <a:buSzPct val="100000"/>
              <a:buNone/>
            </a:pPr>
            <a:r>
              <a:rPr lang="en-US" dirty="0"/>
              <a:t>#do write</a:t>
            </a:r>
            <a:endParaRPr dirty="0"/>
          </a:p>
          <a:p>
            <a:pPr marL="342900" lvl="0" indent="-342900" algn="l" rtl="0">
              <a:spcBef>
                <a:spcPts val="496"/>
              </a:spcBef>
              <a:spcAft>
                <a:spcPts val="0"/>
              </a:spcAft>
              <a:buClr>
                <a:schemeClr val="dk1"/>
              </a:buClr>
              <a:buSzPct val="100000"/>
              <a:buNone/>
            </a:pPr>
            <a:r>
              <a:rPr lang="en-US" dirty="0"/>
              <a:t>#exit</a:t>
            </a:r>
            <a:endParaRPr dirty="0"/>
          </a:p>
          <a:p>
            <a:pPr marL="342900" lvl="0" indent="-342900" algn="l" rtl="0">
              <a:spcBef>
                <a:spcPts val="496"/>
              </a:spcBef>
              <a:spcAft>
                <a:spcPts val="0"/>
              </a:spcAft>
              <a:buClr>
                <a:schemeClr val="dk1"/>
              </a:buClr>
              <a:buSzPct val="100000"/>
              <a:buNone/>
            </a:pPr>
            <a:r>
              <a:rPr lang="en-US" dirty="0"/>
              <a:t>Desktop -&gt; browser:</a:t>
            </a:r>
            <a:endParaRPr dirty="0"/>
          </a:p>
          <a:p>
            <a:pPr marL="342900" lvl="0" indent="-342900" algn="l" rtl="0">
              <a:spcBef>
                <a:spcPts val="496"/>
              </a:spcBef>
              <a:spcAft>
                <a:spcPts val="0"/>
              </a:spcAft>
              <a:buClr>
                <a:schemeClr val="dk1"/>
              </a:buClr>
              <a:buSzPct val="100000"/>
              <a:buNone/>
            </a:pPr>
            <a:r>
              <a:rPr lang="en-US" dirty="0"/>
              <a:t>192.168.3.2  -&gt;go</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endParaRPr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450441944"/>
              </p:ext>
            </p:extLst>
          </p:nvPr>
        </p:nvGraphicFramePr>
        <p:xfrm>
          <a:off x="351693" y="225085"/>
          <a:ext cx="8637561" cy="6256534"/>
        </p:xfrm>
        <a:graphic>
          <a:graphicData uri="http://schemas.openxmlformats.org/drawingml/2006/table">
            <a:tbl>
              <a:tblPr>
                <a:tableStyleId>{A332DE6A-0728-4951-BA95-FBE1D94F13F9}</a:tableStyleId>
              </a:tblPr>
              <a:tblGrid>
                <a:gridCol w="2419642"/>
                <a:gridCol w="3338732"/>
                <a:gridCol w="2879187"/>
              </a:tblGrid>
              <a:tr h="379922">
                <a:tc>
                  <a:txBody>
                    <a:bodyPr/>
                    <a:lstStyle/>
                    <a:p>
                      <a:pPr algn="ctr"/>
                      <a:r>
                        <a:rPr lang="en-IN" sz="2000" b="1" dirty="0"/>
                        <a:t>Feature</a:t>
                      </a:r>
                    </a:p>
                  </a:txBody>
                  <a:tcPr marL="67552" marR="67552" marT="33776" marB="33776" anchor="ctr"/>
                </a:tc>
                <a:tc>
                  <a:txBody>
                    <a:bodyPr/>
                    <a:lstStyle/>
                    <a:p>
                      <a:pPr algn="ctr"/>
                      <a:r>
                        <a:rPr lang="en-IN" sz="2000" b="1"/>
                        <a:t>Standard ACL</a:t>
                      </a:r>
                    </a:p>
                  </a:txBody>
                  <a:tcPr marL="67552" marR="67552" marT="33776" marB="33776" anchor="ctr"/>
                </a:tc>
                <a:tc>
                  <a:txBody>
                    <a:bodyPr/>
                    <a:lstStyle/>
                    <a:p>
                      <a:pPr algn="ctr"/>
                      <a:r>
                        <a:rPr lang="en-IN" sz="2000" b="1" dirty="0"/>
                        <a:t>Extended ACL</a:t>
                      </a:r>
                    </a:p>
                  </a:txBody>
                  <a:tcPr marL="67552" marR="67552" marT="33776" marB="33776" anchor="ctr"/>
                </a:tc>
              </a:tr>
              <a:tr h="872101">
                <a:tc>
                  <a:txBody>
                    <a:bodyPr/>
                    <a:lstStyle/>
                    <a:p>
                      <a:r>
                        <a:rPr lang="en-IN" sz="1400" dirty="0"/>
                        <a:t>Definition</a:t>
                      </a:r>
                    </a:p>
                  </a:txBody>
                  <a:tcPr marL="67552" marR="67552" marT="33776" marB="33776" anchor="ctr"/>
                </a:tc>
                <a:tc>
                  <a:txBody>
                    <a:bodyPr/>
                    <a:lstStyle/>
                    <a:p>
                      <a:r>
                        <a:rPr lang="en-US" sz="1400" dirty="0"/>
                        <a:t>Filters traffic based only on source IP address.</a:t>
                      </a:r>
                    </a:p>
                  </a:txBody>
                  <a:tcPr marL="67552" marR="67552" marT="33776" marB="33776" anchor="ctr"/>
                </a:tc>
                <a:tc>
                  <a:txBody>
                    <a:bodyPr/>
                    <a:lstStyle/>
                    <a:p>
                      <a:r>
                        <a:rPr lang="en-US" sz="1400" dirty="0"/>
                        <a:t>Filters traffic based on source and destination IP address, as well as protocols and port numbers.</a:t>
                      </a:r>
                    </a:p>
                  </a:txBody>
                  <a:tcPr marL="67552" marR="67552" marT="33776" marB="33776" anchor="ctr"/>
                </a:tc>
              </a:tr>
              <a:tr h="312782">
                <a:tc>
                  <a:txBody>
                    <a:bodyPr/>
                    <a:lstStyle/>
                    <a:p>
                      <a:r>
                        <a:rPr lang="en-IN" sz="1400"/>
                        <a:t>ACL Number Range</a:t>
                      </a:r>
                    </a:p>
                  </a:txBody>
                  <a:tcPr marL="67552" marR="67552" marT="33776" marB="33776" anchor="ctr"/>
                </a:tc>
                <a:tc>
                  <a:txBody>
                    <a:bodyPr/>
                    <a:lstStyle/>
                    <a:p>
                      <a:r>
                        <a:rPr lang="en-IN" sz="1400"/>
                        <a:t>1–99 and 1300–1999</a:t>
                      </a:r>
                    </a:p>
                  </a:txBody>
                  <a:tcPr marL="67552" marR="67552" marT="33776" marB="33776" anchor="ctr"/>
                </a:tc>
                <a:tc>
                  <a:txBody>
                    <a:bodyPr/>
                    <a:lstStyle/>
                    <a:p>
                      <a:r>
                        <a:rPr lang="en-IN" sz="1400"/>
                        <a:t>100–199 and 2000–2699</a:t>
                      </a:r>
                    </a:p>
                  </a:txBody>
                  <a:tcPr marL="67552" marR="67552" marT="33776" marB="33776" anchor="ctr"/>
                </a:tc>
              </a:tr>
              <a:tr h="531729">
                <a:tc>
                  <a:txBody>
                    <a:bodyPr/>
                    <a:lstStyle/>
                    <a:p>
                      <a:r>
                        <a:rPr lang="en-IN" sz="1400" dirty="0"/>
                        <a:t>Layer (OSI Model)</a:t>
                      </a:r>
                    </a:p>
                  </a:txBody>
                  <a:tcPr marL="67552" marR="67552" marT="33776" marB="33776" anchor="ctr"/>
                </a:tc>
                <a:tc>
                  <a:txBody>
                    <a:bodyPr/>
                    <a:lstStyle/>
                    <a:p>
                      <a:r>
                        <a:rPr lang="en-US" sz="1400"/>
                        <a:t>Operates at Layer 3 (Network layer)</a:t>
                      </a:r>
                    </a:p>
                  </a:txBody>
                  <a:tcPr marL="67552" marR="67552" marT="33776" marB="33776" anchor="ctr"/>
                </a:tc>
                <a:tc>
                  <a:txBody>
                    <a:bodyPr/>
                    <a:lstStyle/>
                    <a:p>
                      <a:r>
                        <a:rPr lang="en-US" sz="1400"/>
                        <a:t>Operates at Layer 3 and 4 (Network &amp; Transport layers)</a:t>
                      </a:r>
                    </a:p>
                  </a:txBody>
                  <a:tcPr marL="67552" marR="67552" marT="33776" marB="33776" anchor="ctr"/>
                </a:tc>
              </a:tr>
              <a:tr h="750677">
                <a:tc>
                  <a:txBody>
                    <a:bodyPr/>
                    <a:lstStyle/>
                    <a:p>
                      <a:r>
                        <a:rPr lang="en-IN" sz="1400"/>
                        <a:t>Filtering Criteria</a:t>
                      </a:r>
                    </a:p>
                  </a:txBody>
                  <a:tcPr marL="67552" marR="67552" marT="33776" marB="33776" anchor="ctr"/>
                </a:tc>
                <a:tc>
                  <a:txBody>
                    <a:bodyPr/>
                    <a:lstStyle/>
                    <a:p>
                      <a:r>
                        <a:rPr lang="en-IN" sz="1400" dirty="0"/>
                        <a:t>Source IP address only</a:t>
                      </a:r>
                    </a:p>
                  </a:txBody>
                  <a:tcPr marL="67552" marR="67552" marT="33776" marB="33776" anchor="ctr"/>
                </a:tc>
                <a:tc>
                  <a:txBody>
                    <a:bodyPr/>
                    <a:lstStyle/>
                    <a:p>
                      <a:r>
                        <a:rPr lang="en-IN" sz="1400" dirty="0"/>
                        <a:t>Source IP, Destination IP, Protocol (TCP, UDP, ICMP), Port numbers</a:t>
                      </a:r>
                    </a:p>
                  </a:txBody>
                  <a:tcPr marL="67552" marR="67552" marT="33776" marB="33776" anchor="ctr"/>
                </a:tc>
              </a:tr>
              <a:tr h="531729">
                <a:tc>
                  <a:txBody>
                    <a:bodyPr/>
                    <a:lstStyle/>
                    <a:p>
                      <a:r>
                        <a:rPr lang="en-IN" sz="1400"/>
                        <a:t>Control Level</a:t>
                      </a:r>
                    </a:p>
                  </a:txBody>
                  <a:tcPr marL="67552" marR="67552" marT="33776" marB="33776" anchor="ctr"/>
                </a:tc>
                <a:tc>
                  <a:txBody>
                    <a:bodyPr/>
                    <a:lstStyle/>
                    <a:p>
                      <a:r>
                        <a:rPr lang="en-IN" sz="1400"/>
                        <a:t>Provides basic access control</a:t>
                      </a:r>
                    </a:p>
                  </a:txBody>
                  <a:tcPr marL="67552" marR="67552" marT="33776" marB="33776" anchor="ctr"/>
                </a:tc>
                <a:tc>
                  <a:txBody>
                    <a:bodyPr/>
                    <a:lstStyle/>
                    <a:p>
                      <a:r>
                        <a:rPr lang="en-US" sz="1400"/>
                        <a:t>Provides granular and detailed access control</a:t>
                      </a:r>
                    </a:p>
                  </a:txBody>
                  <a:tcPr marL="67552" marR="67552" marT="33776" marB="33776" anchor="ctr"/>
                </a:tc>
              </a:tr>
              <a:tr h="750677">
                <a:tc>
                  <a:txBody>
                    <a:bodyPr/>
                    <a:lstStyle/>
                    <a:p>
                      <a:r>
                        <a:rPr lang="en-IN" sz="1400"/>
                        <a:t>Placement Recommendation</a:t>
                      </a:r>
                    </a:p>
                  </a:txBody>
                  <a:tcPr marL="67552" marR="67552" marT="33776" marB="33776" anchor="ctr"/>
                </a:tc>
                <a:tc>
                  <a:txBody>
                    <a:bodyPr/>
                    <a:lstStyle/>
                    <a:p>
                      <a:r>
                        <a:rPr lang="en-US" sz="1400" dirty="0"/>
                        <a:t>Should be placed close to the destination to avoid unnecessary blocking</a:t>
                      </a:r>
                    </a:p>
                  </a:txBody>
                  <a:tcPr marL="67552" marR="67552" marT="33776" marB="33776" anchor="ctr"/>
                </a:tc>
                <a:tc>
                  <a:txBody>
                    <a:bodyPr/>
                    <a:lstStyle/>
                    <a:p>
                      <a:r>
                        <a:rPr lang="en-US" sz="1400"/>
                        <a:t>Should be placed close to the source to stop unwanted traffic early</a:t>
                      </a:r>
                    </a:p>
                  </a:txBody>
                  <a:tcPr marL="67552" marR="67552" marT="33776" marB="33776" anchor="ctr"/>
                </a:tc>
              </a:tr>
              <a:tr h="531729">
                <a:tc>
                  <a:txBody>
                    <a:bodyPr/>
                    <a:lstStyle/>
                    <a:p>
                      <a:r>
                        <a:rPr lang="en-IN" sz="1400"/>
                        <a:t>Example Command</a:t>
                      </a:r>
                    </a:p>
                  </a:txBody>
                  <a:tcPr marL="67552" marR="67552" marT="33776" marB="33776" anchor="ctr"/>
                </a:tc>
                <a:tc>
                  <a:txBody>
                    <a:bodyPr/>
                    <a:lstStyle/>
                    <a:p>
                      <a:r>
                        <a:rPr lang="en-IN" sz="1400"/>
                        <a:t>access-list 10 permit 192.168.1.0 0.0.0.255</a:t>
                      </a:r>
                    </a:p>
                  </a:txBody>
                  <a:tcPr marL="67552" marR="67552" marT="33776" marB="33776" anchor="ctr"/>
                </a:tc>
                <a:tc>
                  <a:txBody>
                    <a:bodyPr/>
                    <a:lstStyle/>
                    <a:p>
                      <a:r>
                        <a:rPr lang="en-US" sz="1400"/>
                        <a:t>access-list 110 permit tcp 192.168.1.0 0.0.0.255 any eq 80</a:t>
                      </a:r>
                    </a:p>
                  </a:txBody>
                  <a:tcPr marL="67552" marR="67552" marT="33776" marB="33776" anchor="ctr"/>
                </a:tc>
              </a:tr>
              <a:tr h="750677">
                <a:tc>
                  <a:txBody>
                    <a:bodyPr/>
                    <a:lstStyle/>
                    <a:p>
                      <a:r>
                        <a:rPr lang="en-IN" sz="1400"/>
                        <a:t>Use Case</a:t>
                      </a:r>
                    </a:p>
                  </a:txBody>
                  <a:tcPr marL="67552" marR="67552" marT="33776" marB="33776" anchor="ctr"/>
                </a:tc>
                <a:tc>
                  <a:txBody>
                    <a:bodyPr/>
                    <a:lstStyle/>
                    <a:p>
                      <a:r>
                        <a:rPr lang="en-US" sz="1400"/>
                        <a:t>When you need simple traffic filtering based on source</a:t>
                      </a:r>
                    </a:p>
                  </a:txBody>
                  <a:tcPr marL="67552" marR="67552" marT="33776" marB="33776" anchor="ctr"/>
                </a:tc>
                <a:tc>
                  <a:txBody>
                    <a:bodyPr/>
                    <a:lstStyle/>
                    <a:p>
                      <a:r>
                        <a:rPr lang="en-US" sz="1400"/>
                        <a:t>When you need to filter specific traffic types (e.g., HTTP, FTP, ICMP)</a:t>
                      </a:r>
                    </a:p>
                  </a:txBody>
                  <a:tcPr marL="67552" marR="67552" marT="33776" marB="33776" anchor="ctr"/>
                </a:tc>
              </a:tr>
              <a:tr h="312782">
                <a:tc>
                  <a:txBody>
                    <a:bodyPr/>
                    <a:lstStyle/>
                    <a:p>
                      <a:r>
                        <a:rPr lang="en-IN" sz="1400"/>
                        <a:t>Complexity</a:t>
                      </a:r>
                    </a:p>
                  </a:txBody>
                  <a:tcPr marL="67552" marR="67552" marT="33776" marB="33776" anchor="ctr"/>
                </a:tc>
                <a:tc>
                  <a:txBody>
                    <a:bodyPr/>
                    <a:lstStyle/>
                    <a:p>
                      <a:r>
                        <a:rPr lang="en-US" sz="1400"/>
                        <a:t>Simple and easy to configure</a:t>
                      </a:r>
                    </a:p>
                  </a:txBody>
                  <a:tcPr marL="67552" marR="67552" marT="33776" marB="33776" anchor="ctr"/>
                </a:tc>
                <a:tc>
                  <a:txBody>
                    <a:bodyPr/>
                    <a:lstStyle/>
                    <a:p>
                      <a:r>
                        <a:rPr lang="en-IN" sz="1400"/>
                        <a:t>More complex and flexible</a:t>
                      </a:r>
                    </a:p>
                  </a:txBody>
                  <a:tcPr marL="67552" marR="67552" marT="33776" marB="33776" anchor="ctr"/>
                </a:tc>
              </a:tr>
              <a:tr h="531729">
                <a:tc>
                  <a:txBody>
                    <a:bodyPr/>
                    <a:lstStyle/>
                    <a:p>
                      <a:r>
                        <a:rPr lang="en-IN" sz="1400"/>
                        <a:t>Performance Impact</a:t>
                      </a:r>
                    </a:p>
                  </a:txBody>
                  <a:tcPr marL="67552" marR="67552" marT="33776" marB="33776" anchor="ctr"/>
                </a:tc>
                <a:tc>
                  <a:txBody>
                    <a:bodyPr/>
                    <a:lstStyle/>
                    <a:p>
                      <a:r>
                        <a:rPr lang="en-IN" sz="1400"/>
                        <a:t>Lower CPU processing</a:t>
                      </a:r>
                    </a:p>
                  </a:txBody>
                  <a:tcPr marL="67552" marR="67552" marT="33776" marB="33776" anchor="ctr"/>
                </a:tc>
                <a:tc>
                  <a:txBody>
                    <a:bodyPr/>
                    <a:lstStyle/>
                    <a:p>
                      <a:r>
                        <a:rPr lang="en-US" sz="1400" dirty="0"/>
                        <a:t>Slightly higher CPU usage due to detailed filtering</a:t>
                      </a:r>
                    </a:p>
                  </a:txBody>
                  <a:tcPr marL="67552" marR="67552" marT="33776" marB="33776" anchor="ctr"/>
                </a:tc>
              </a:tr>
            </a:tbl>
          </a:graphicData>
        </a:graphic>
      </p:graphicFrame>
    </p:spTree>
    <p:extLst>
      <p:ext uri="{BB962C8B-B14F-4D97-AF65-F5344CB8AC3E}">
        <p14:creationId xmlns:p14="http://schemas.microsoft.com/office/powerpoint/2010/main" val="272420098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1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SWITCHES</a:t>
            </a:r>
            <a:endParaRPr/>
          </a:p>
        </p:txBody>
      </p:sp>
      <p:pic>
        <p:nvPicPr>
          <p:cNvPr id="1131" name="Google Shape;1131;p141" descr="layer-2-vs-layer-3-switch.jpg"/>
          <p:cNvPicPr preferRelativeResize="0">
            <a:picLocks noGrp="1"/>
          </p:cNvPicPr>
          <p:nvPr>
            <p:ph type="body" idx="1"/>
          </p:nvPr>
        </p:nvPicPr>
        <p:blipFill rotWithShape="1">
          <a:blip r:embed="rId3">
            <a:alphaModFix/>
          </a:blip>
          <a:srcRect/>
          <a:stretch/>
        </p:blipFill>
        <p:spPr>
          <a:xfrm>
            <a:off x="1000125" y="1720056"/>
            <a:ext cx="7143750" cy="428625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102979762"/>
              </p:ext>
            </p:extLst>
          </p:nvPr>
        </p:nvGraphicFramePr>
        <p:xfrm>
          <a:off x="436728" y="81886"/>
          <a:ext cx="8488908" cy="6646532"/>
        </p:xfrm>
        <a:graphic>
          <a:graphicData uri="http://schemas.openxmlformats.org/drawingml/2006/table">
            <a:tbl>
              <a:tblPr>
                <a:tableStyleId>{A332DE6A-0728-4951-BA95-FBE1D94F13F9}</a:tableStyleId>
              </a:tblPr>
              <a:tblGrid>
                <a:gridCol w="1596788"/>
                <a:gridCol w="4062484"/>
                <a:gridCol w="2829636"/>
              </a:tblGrid>
              <a:tr h="299821">
                <a:tc>
                  <a:txBody>
                    <a:bodyPr/>
                    <a:lstStyle/>
                    <a:p>
                      <a:pPr algn="ctr"/>
                      <a:r>
                        <a:rPr lang="en-IN" sz="1600" b="1" dirty="0"/>
                        <a:t>Feature</a:t>
                      </a:r>
                    </a:p>
                  </a:txBody>
                  <a:tcPr marL="69630" marR="69630" marT="34815" marB="34815" anchor="ctr">
                    <a:solidFill>
                      <a:srgbClr val="BFBFBF">
                        <a:alpha val="0"/>
                      </a:srgbClr>
                    </a:solidFill>
                  </a:tcPr>
                </a:tc>
                <a:tc>
                  <a:txBody>
                    <a:bodyPr/>
                    <a:lstStyle/>
                    <a:p>
                      <a:pPr algn="ctr"/>
                      <a:r>
                        <a:rPr lang="en-IN" sz="1600" b="1" dirty="0"/>
                        <a:t>Multilayer Switch</a:t>
                      </a:r>
                    </a:p>
                  </a:txBody>
                  <a:tcPr marL="69630" marR="69630" marT="34815" marB="34815" anchor="ctr">
                    <a:solidFill>
                      <a:srgbClr val="BFBFBF">
                        <a:alpha val="0"/>
                      </a:srgbClr>
                    </a:solidFill>
                  </a:tcPr>
                </a:tc>
                <a:tc>
                  <a:txBody>
                    <a:bodyPr/>
                    <a:lstStyle/>
                    <a:p>
                      <a:pPr algn="ctr"/>
                      <a:r>
                        <a:rPr lang="en-IN" sz="1600" b="1" dirty="0"/>
                        <a:t>Router</a:t>
                      </a:r>
                    </a:p>
                  </a:txBody>
                  <a:tcPr marL="69630" marR="69630" marT="34815" marB="34815" anchor="ctr">
                    <a:solidFill>
                      <a:srgbClr val="BFBFBF">
                        <a:alpha val="0"/>
                      </a:srgbClr>
                    </a:solidFill>
                  </a:tcPr>
                </a:tc>
              </a:tr>
              <a:tr h="725012">
                <a:tc>
                  <a:txBody>
                    <a:bodyPr/>
                    <a:lstStyle/>
                    <a:p>
                      <a:r>
                        <a:rPr lang="en-IN" sz="1600" b="1" dirty="0"/>
                        <a:t>Definition</a:t>
                      </a:r>
                    </a:p>
                  </a:txBody>
                  <a:tcPr marL="69630" marR="69630" marT="34815" marB="34815" anchor="ctr"/>
                </a:tc>
                <a:tc>
                  <a:txBody>
                    <a:bodyPr/>
                    <a:lstStyle/>
                    <a:p>
                      <a:r>
                        <a:rPr lang="en-US" sz="1600" dirty="0"/>
                        <a:t>A network switch that works on Layer 2 (switching) and Layer 3 (routing) of the OSI model.</a:t>
                      </a:r>
                    </a:p>
                  </a:txBody>
                  <a:tcPr marL="69630" marR="69630" marT="34815" marB="34815" anchor="ctr"/>
                </a:tc>
                <a:tc>
                  <a:txBody>
                    <a:bodyPr/>
                    <a:lstStyle/>
                    <a:p>
                      <a:r>
                        <a:rPr lang="en-US" sz="1600" dirty="0"/>
                        <a:t>A device that works mainly on Layer 3 (Network Layer) to connect different networks.</a:t>
                      </a:r>
                    </a:p>
                  </a:txBody>
                  <a:tcPr marL="69630" marR="69630" marT="34815" marB="34815" anchor="ctr"/>
                </a:tc>
              </a:tr>
              <a:tr h="725012">
                <a:tc>
                  <a:txBody>
                    <a:bodyPr/>
                    <a:lstStyle/>
                    <a:p>
                      <a:r>
                        <a:rPr lang="en-IN" sz="1600" b="1" dirty="0"/>
                        <a:t>Primary Function</a:t>
                      </a:r>
                    </a:p>
                  </a:txBody>
                  <a:tcPr marL="69630" marR="69630" marT="34815" marB="34815" anchor="ctr"/>
                </a:tc>
                <a:tc>
                  <a:txBody>
                    <a:bodyPr/>
                    <a:lstStyle/>
                    <a:p>
                      <a:r>
                        <a:rPr lang="en-US" sz="1600" dirty="0"/>
                        <a:t>High-speed switching within LAN + basic routing between VLANs.</a:t>
                      </a:r>
                    </a:p>
                  </a:txBody>
                  <a:tcPr marL="69630" marR="69630" marT="34815" marB="34815" anchor="ctr"/>
                </a:tc>
                <a:tc>
                  <a:txBody>
                    <a:bodyPr/>
                    <a:lstStyle/>
                    <a:p>
                      <a:r>
                        <a:rPr lang="en-US" sz="1600" dirty="0"/>
                        <a:t>Routing data between different networks (LAN, WAN, Internet).</a:t>
                      </a:r>
                    </a:p>
                  </a:txBody>
                  <a:tcPr marL="69630" marR="69630" marT="34815" marB="34815" anchor="ctr"/>
                </a:tc>
              </a:tr>
              <a:tr h="725012">
                <a:tc>
                  <a:txBody>
                    <a:bodyPr/>
                    <a:lstStyle/>
                    <a:p>
                      <a:r>
                        <a:rPr lang="en-IN" sz="1600" b="1" dirty="0"/>
                        <a:t>Performance</a:t>
                      </a:r>
                    </a:p>
                  </a:txBody>
                  <a:tcPr marL="69630" marR="69630" marT="34815" marB="34815" anchor="ctr"/>
                </a:tc>
                <a:tc>
                  <a:txBody>
                    <a:bodyPr/>
                    <a:lstStyle/>
                    <a:p>
                      <a:r>
                        <a:rPr lang="en-US" sz="1600" dirty="0"/>
                        <a:t>Optimized for fast switching (hardware-based, ASIC chips).</a:t>
                      </a:r>
                    </a:p>
                  </a:txBody>
                  <a:tcPr marL="69630" marR="69630" marT="34815" marB="34815" anchor="ctr"/>
                </a:tc>
                <a:tc>
                  <a:txBody>
                    <a:bodyPr/>
                    <a:lstStyle/>
                    <a:p>
                      <a:r>
                        <a:rPr lang="en-US" sz="1600" dirty="0"/>
                        <a:t>Slower than switches in packet forwarding (software-based in many cases).</a:t>
                      </a:r>
                    </a:p>
                  </a:txBody>
                  <a:tcPr marL="69630" marR="69630" marT="34815" marB="34815" anchor="ctr"/>
                </a:tc>
              </a:tr>
              <a:tr h="725012">
                <a:tc>
                  <a:txBody>
                    <a:bodyPr/>
                    <a:lstStyle/>
                    <a:p>
                      <a:r>
                        <a:rPr lang="en-IN" sz="1600" b="1" dirty="0"/>
                        <a:t>Use Case</a:t>
                      </a:r>
                    </a:p>
                  </a:txBody>
                  <a:tcPr marL="69630" marR="69630" marT="34815" marB="34815" anchor="ctr"/>
                </a:tc>
                <a:tc>
                  <a:txBody>
                    <a:bodyPr/>
                    <a:lstStyle/>
                    <a:p>
                      <a:r>
                        <a:rPr lang="en-US" sz="1600" dirty="0"/>
                        <a:t>Best for large LANs with multiple VLANs needing inter-VLAN routing.</a:t>
                      </a:r>
                    </a:p>
                  </a:txBody>
                  <a:tcPr marL="69630" marR="69630" marT="34815" marB="34815" anchor="ctr"/>
                </a:tc>
                <a:tc>
                  <a:txBody>
                    <a:bodyPr/>
                    <a:lstStyle/>
                    <a:p>
                      <a:r>
                        <a:rPr lang="en-US" sz="1600" dirty="0"/>
                        <a:t>Best for WAN connections, internet access, and inter-network communication.</a:t>
                      </a:r>
                    </a:p>
                  </a:txBody>
                  <a:tcPr marL="69630" marR="69630" marT="34815" marB="34815" anchor="ctr"/>
                </a:tc>
              </a:tr>
              <a:tr h="725012">
                <a:tc>
                  <a:txBody>
                    <a:bodyPr/>
                    <a:lstStyle/>
                    <a:p>
                      <a:r>
                        <a:rPr lang="en-IN" sz="1600" b="1" dirty="0"/>
                        <a:t>Scalability</a:t>
                      </a:r>
                    </a:p>
                  </a:txBody>
                  <a:tcPr marL="69630" marR="69630" marT="34815" marB="34815" anchor="ctr"/>
                </a:tc>
                <a:tc>
                  <a:txBody>
                    <a:bodyPr/>
                    <a:lstStyle/>
                    <a:p>
                      <a:r>
                        <a:rPr lang="en-US" sz="1600" dirty="0"/>
                        <a:t>Scales well inside LAN (enterprise, data centers).</a:t>
                      </a:r>
                    </a:p>
                  </a:txBody>
                  <a:tcPr marL="69630" marR="69630" marT="34815" marB="34815" anchor="ctr"/>
                </a:tc>
                <a:tc>
                  <a:txBody>
                    <a:bodyPr/>
                    <a:lstStyle/>
                    <a:p>
                      <a:r>
                        <a:rPr lang="en-US" sz="1600" dirty="0"/>
                        <a:t>Scales well for connecting different geographical networks.</a:t>
                      </a:r>
                    </a:p>
                  </a:txBody>
                  <a:tcPr marL="69630" marR="69630" marT="34815" marB="34815" anchor="ctr"/>
                </a:tc>
              </a:tr>
              <a:tr h="725012">
                <a:tc>
                  <a:txBody>
                    <a:bodyPr/>
                    <a:lstStyle/>
                    <a:p>
                      <a:r>
                        <a:rPr lang="en-IN" sz="1600" b="1" dirty="0"/>
                        <a:t>Routing Features</a:t>
                      </a:r>
                    </a:p>
                  </a:txBody>
                  <a:tcPr marL="69630" marR="69630" marT="34815" marB="34815" anchor="ctr"/>
                </a:tc>
                <a:tc>
                  <a:txBody>
                    <a:bodyPr/>
                    <a:lstStyle/>
                    <a:p>
                      <a:r>
                        <a:rPr lang="en-US" sz="1600" dirty="0"/>
                        <a:t>Supports basic routing protocols (RIP, OSPF, EIGRP in some).</a:t>
                      </a:r>
                    </a:p>
                  </a:txBody>
                  <a:tcPr marL="69630" marR="69630" marT="34815" marB="34815" anchor="ctr"/>
                </a:tc>
                <a:tc>
                  <a:txBody>
                    <a:bodyPr/>
                    <a:lstStyle/>
                    <a:p>
                      <a:r>
                        <a:rPr lang="en-US" sz="1600" dirty="0"/>
                        <a:t>Supports advanced routing protocols (OSPF, BGP, MPLS, VPN).</a:t>
                      </a:r>
                    </a:p>
                  </a:txBody>
                  <a:tcPr marL="69630" marR="69630" marT="34815" marB="34815" anchor="ctr"/>
                </a:tc>
              </a:tr>
              <a:tr h="725012">
                <a:tc>
                  <a:txBody>
                    <a:bodyPr/>
                    <a:lstStyle/>
                    <a:p>
                      <a:r>
                        <a:rPr lang="en-IN" sz="1600" b="1" dirty="0"/>
                        <a:t>Cost</a:t>
                      </a:r>
                    </a:p>
                  </a:txBody>
                  <a:tcPr marL="69630" marR="69630" marT="34815" marB="34815" anchor="ctr"/>
                </a:tc>
                <a:tc>
                  <a:txBody>
                    <a:bodyPr/>
                    <a:lstStyle/>
                    <a:p>
                      <a:r>
                        <a:rPr lang="en-US" sz="1600" dirty="0"/>
                        <a:t>Generally cheaper than high-end routers for LAN use.</a:t>
                      </a:r>
                    </a:p>
                  </a:txBody>
                  <a:tcPr marL="69630" marR="69630" marT="34815" marB="34815" anchor="ctr"/>
                </a:tc>
                <a:tc>
                  <a:txBody>
                    <a:bodyPr/>
                    <a:lstStyle/>
                    <a:p>
                      <a:r>
                        <a:rPr lang="en-US" sz="1600" dirty="0"/>
                        <a:t>Usually more expensive, especially enterprise-grade routers.</a:t>
                      </a:r>
                    </a:p>
                  </a:txBody>
                  <a:tcPr marL="69630" marR="69630" marT="34815" marB="34815" anchor="ctr"/>
                </a:tc>
              </a:tr>
              <a:tr h="725012">
                <a:tc>
                  <a:txBody>
                    <a:bodyPr/>
                    <a:lstStyle/>
                    <a:p>
                      <a:r>
                        <a:rPr lang="en-IN" sz="1600" b="1" dirty="0"/>
                        <a:t>Example Use</a:t>
                      </a:r>
                    </a:p>
                  </a:txBody>
                  <a:tcPr marL="69630" marR="69630" marT="34815" marB="34815" anchor="ctr"/>
                </a:tc>
                <a:tc>
                  <a:txBody>
                    <a:bodyPr/>
                    <a:lstStyle/>
                    <a:p>
                      <a:r>
                        <a:rPr lang="en-US" sz="1600" dirty="0"/>
                        <a:t>Connecting VLANs inside a company office → Marketing VLAN ↔ Sales VLAN.</a:t>
                      </a:r>
                    </a:p>
                  </a:txBody>
                  <a:tcPr marL="69630" marR="69630" marT="34815" marB="34815" anchor="ctr"/>
                </a:tc>
                <a:tc>
                  <a:txBody>
                    <a:bodyPr/>
                    <a:lstStyle/>
                    <a:p>
                      <a:r>
                        <a:rPr lang="en-US" sz="1600" dirty="0"/>
                        <a:t>Connecting office LAN to the Internet or to another branch office.</a:t>
                      </a:r>
                    </a:p>
                  </a:txBody>
                  <a:tcPr marL="69630" marR="69630" marT="34815" marB="34815" anchor="ctr"/>
                </a:tc>
              </a:tr>
            </a:tbl>
          </a:graphicData>
        </a:graphic>
      </p:graphicFrame>
    </p:spTree>
    <p:extLst>
      <p:ext uri="{BB962C8B-B14F-4D97-AF65-F5344CB8AC3E}">
        <p14:creationId xmlns:p14="http://schemas.microsoft.com/office/powerpoint/2010/main" val="265443883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1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Types of switches</a:t>
            </a:r>
            <a:endParaRPr/>
          </a:p>
        </p:txBody>
      </p:sp>
      <p:sp>
        <p:nvSpPr>
          <p:cNvPr id="1137" name="Google Shape;1137;p14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Managed Switches:</a:t>
            </a:r>
            <a:endParaRPr/>
          </a:p>
          <a:p>
            <a:pPr marL="342900" lvl="0" indent="-342900" algn="l" rtl="0">
              <a:spcBef>
                <a:spcPts val="640"/>
              </a:spcBef>
              <a:spcAft>
                <a:spcPts val="0"/>
              </a:spcAft>
              <a:buClr>
                <a:schemeClr val="dk1"/>
              </a:buClr>
              <a:buSzPts val="3200"/>
              <a:buNone/>
            </a:pPr>
            <a:r>
              <a:rPr lang="en-US"/>
              <a:t>                 A managed network switch is a technology that allows Ethernet devices to communicate with each other and that contains features to configure, manage and monitor traffic on a Local Area Network (LAN). A managed network switch provides more control over how data travels over the network and who can access it.</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143"/>
          <p:cNvSpPr txBox="1">
            <a:spLocks noGrp="1"/>
          </p:cNvSpPr>
          <p:nvPr>
            <p:ph type="body" idx="1"/>
          </p:nvPr>
        </p:nvSpPr>
        <p:spPr>
          <a:xfrm>
            <a:off x="457200" y="304800"/>
            <a:ext cx="8229600" cy="58213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Unmanaged switches:</a:t>
            </a:r>
            <a:endParaRPr dirty="0"/>
          </a:p>
          <a:p>
            <a:pPr marL="342900" lvl="0" indent="-342900" algn="l" rtl="0">
              <a:spcBef>
                <a:spcPts val="640"/>
              </a:spcBef>
              <a:spcAft>
                <a:spcPts val="0"/>
              </a:spcAft>
              <a:buClr>
                <a:schemeClr val="dk1"/>
              </a:buClr>
              <a:buSzPts val="3200"/>
              <a:buNone/>
            </a:pPr>
            <a:r>
              <a:rPr lang="en-US" dirty="0"/>
              <a:t>                Unmanaged switches use </a:t>
            </a:r>
            <a:r>
              <a:rPr lang="en-US" dirty="0" smtClean="0"/>
              <a:t>auto negotiated </a:t>
            </a:r>
            <a:r>
              <a:rPr lang="en-US" dirty="0"/>
              <a:t>ports to determine parameters, such as data rates and whether to use half-duplex or full-duplex mode. Additionally, unmanaged switches have no concept of virtual LANs (VLANs). Thus, all devices belong to the same broadcast domain</a:t>
            </a:r>
            <a:endParaRPr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p144"/>
          <p:cNvSpPr txBox="1">
            <a:spLocks noGrp="1"/>
          </p:cNvSpPr>
          <p:nvPr>
            <p:ph type="title"/>
          </p:nvPr>
        </p:nvSpPr>
        <p:spPr>
          <a:xfrm>
            <a:off x="485633" y="0"/>
            <a:ext cx="8229600" cy="61414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Switch </a:t>
            </a:r>
            <a:r>
              <a:rPr lang="en-US" dirty="0" smtClean="0"/>
              <a:t>Port Security</a:t>
            </a:r>
            <a:endParaRPr dirty="0"/>
          </a:p>
        </p:txBody>
      </p:sp>
      <p:sp>
        <p:nvSpPr>
          <p:cNvPr id="1148" name="Google Shape;1148;p144"/>
          <p:cNvSpPr txBox="1">
            <a:spLocks noGrp="1"/>
          </p:cNvSpPr>
          <p:nvPr>
            <p:ph type="body" idx="1"/>
          </p:nvPr>
        </p:nvSpPr>
        <p:spPr>
          <a:xfrm>
            <a:off x="388960" y="730154"/>
            <a:ext cx="8755039" cy="5875361"/>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None/>
            </a:pPr>
            <a:r>
              <a:rPr lang="en-US" b="1" dirty="0" smtClean="0"/>
              <a:t>Switch CLI</a:t>
            </a:r>
          </a:p>
          <a:p>
            <a:pPr marL="342900" lvl="0" indent="-342900" algn="l" rtl="0">
              <a:spcBef>
                <a:spcPts val="0"/>
              </a:spcBef>
              <a:spcAft>
                <a:spcPts val="0"/>
              </a:spcAft>
              <a:buClr>
                <a:schemeClr val="dk1"/>
              </a:buClr>
              <a:buSzPct val="100000"/>
              <a:buNone/>
            </a:pPr>
            <a:r>
              <a:rPr lang="en-US" dirty="0" smtClean="0"/>
              <a:t>#</a:t>
            </a:r>
            <a:r>
              <a:rPr lang="en-US" dirty="0" err="1" smtClean="0"/>
              <a:t>en</a:t>
            </a:r>
            <a:endParaRPr lang="en-US" dirty="0" smtClean="0"/>
          </a:p>
          <a:p>
            <a:pPr marL="342900" lvl="0" indent="-342900" algn="l" rtl="0">
              <a:spcBef>
                <a:spcPts val="0"/>
              </a:spcBef>
              <a:spcAft>
                <a:spcPts val="0"/>
              </a:spcAft>
              <a:buClr>
                <a:schemeClr val="dk1"/>
              </a:buClr>
              <a:buSzPct val="100000"/>
              <a:buNone/>
            </a:pPr>
            <a:r>
              <a:rPr lang="en-US" dirty="0" smtClean="0"/>
              <a:t>#</a:t>
            </a:r>
            <a:r>
              <a:rPr lang="en-US" dirty="0" err="1" smtClean="0"/>
              <a:t>config</a:t>
            </a:r>
            <a:r>
              <a:rPr lang="en-US" dirty="0" smtClean="0"/>
              <a:t> t</a:t>
            </a:r>
          </a:p>
          <a:p>
            <a:pPr marL="342900" lvl="0" indent="-342900" algn="l" rtl="0">
              <a:spcBef>
                <a:spcPts val="0"/>
              </a:spcBef>
              <a:spcAft>
                <a:spcPts val="0"/>
              </a:spcAft>
              <a:buClr>
                <a:schemeClr val="dk1"/>
              </a:buClr>
              <a:buSzPct val="100000"/>
              <a:buNone/>
            </a:pPr>
            <a:r>
              <a:rPr lang="en-US" dirty="0" smtClean="0"/>
              <a:t>#</a:t>
            </a:r>
            <a:r>
              <a:rPr lang="en-US" dirty="0"/>
              <a:t>Do show port-security </a:t>
            </a:r>
            <a:r>
              <a:rPr lang="en-US" dirty="0" err="1"/>
              <a:t>int</a:t>
            </a:r>
            <a:r>
              <a:rPr lang="en-US" dirty="0"/>
              <a:t>  fa0/1</a:t>
            </a:r>
            <a:endParaRPr dirty="0"/>
          </a:p>
          <a:p>
            <a:pPr marL="342900" lvl="0" indent="-342900" algn="l" rtl="0">
              <a:spcBef>
                <a:spcPts val="496"/>
              </a:spcBef>
              <a:spcAft>
                <a:spcPts val="0"/>
              </a:spcAft>
              <a:buClr>
                <a:schemeClr val="dk1"/>
              </a:buClr>
              <a:buSzPct val="100000"/>
              <a:buNone/>
            </a:pPr>
            <a:r>
              <a:rPr lang="en-US" dirty="0"/>
              <a:t>#</a:t>
            </a:r>
            <a:r>
              <a:rPr lang="en-US" dirty="0" err="1"/>
              <a:t>int</a:t>
            </a:r>
            <a:r>
              <a:rPr lang="en-US" dirty="0"/>
              <a:t> fa0/1                                              </a:t>
            </a:r>
            <a:r>
              <a:rPr lang="en-US" sz="2300" dirty="0"/>
              <a:t>10.0.0.5</a:t>
            </a:r>
            <a:endParaRPr dirty="0"/>
          </a:p>
          <a:p>
            <a:pPr marL="342900" lvl="0" indent="-342900" algn="l" rtl="0">
              <a:spcBef>
                <a:spcPts val="496"/>
              </a:spcBef>
              <a:spcAft>
                <a:spcPts val="0"/>
              </a:spcAft>
              <a:buClr>
                <a:schemeClr val="dk1"/>
              </a:buClr>
              <a:buSzPct val="100000"/>
              <a:buNone/>
            </a:pPr>
            <a:r>
              <a:rPr lang="en-US" dirty="0"/>
              <a:t>#</a:t>
            </a:r>
            <a:r>
              <a:rPr lang="en-US" dirty="0" err="1"/>
              <a:t>switchport</a:t>
            </a:r>
            <a:r>
              <a:rPr lang="en-US" dirty="0"/>
              <a:t> mode access</a:t>
            </a:r>
            <a:endParaRPr dirty="0"/>
          </a:p>
          <a:p>
            <a:pPr marL="342900" lvl="0" indent="-342900" algn="l" rtl="0">
              <a:spcBef>
                <a:spcPts val="496"/>
              </a:spcBef>
              <a:spcAft>
                <a:spcPts val="0"/>
              </a:spcAft>
              <a:buClr>
                <a:schemeClr val="dk1"/>
              </a:buClr>
              <a:buSzPct val="100000"/>
              <a:buNone/>
            </a:pPr>
            <a:r>
              <a:rPr lang="en-US" dirty="0"/>
              <a:t>#</a:t>
            </a:r>
            <a:r>
              <a:rPr lang="en-US" dirty="0" err="1"/>
              <a:t>switchport</a:t>
            </a:r>
            <a:r>
              <a:rPr lang="en-US" dirty="0"/>
              <a:t>  port-security?             </a:t>
            </a:r>
            <a:r>
              <a:rPr lang="en-US" sz="2300" dirty="0"/>
              <a:t>10.0.0.4</a:t>
            </a:r>
            <a:endParaRPr dirty="0"/>
          </a:p>
          <a:p>
            <a:pPr marL="342900" lvl="0" indent="-342900" algn="l" rtl="0">
              <a:spcBef>
                <a:spcPts val="496"/>
              </a:spcBef>
              <a:spcAft>
                <a:spcPts val="0"/>
              </a:spcAft>
              <a:buClr>
                <a:schemeClr val="dk1"/>
              </a:buClr>
              <a:buSzPct val="100000"/>
              <a:buNone/>
            </a:pPr>
            <a:r>
              <a:rPr lang="en-US" dirty="0"/>
              <a:t>#enter</a:t>
            </a:r>
            <a:endParaRPr dirty="0"/>
          </a:p>
          <a:p>
            <a:pPr marL="342900" lvl="0" indent="-342900" algn="l" rtl="0">
              <a:spcBef>
                <a:spcPts val="496"/>
              </a:spcBef>
              <a:spcAft>
                <a:spcPts val="0"/>
              </a:spcAft>
              <a:buClr>
                <a:schemeClr val="dk1"/>
              </a:buClr>
              <a:buSzPct val="100000"/>
              <a:buNone/>
            </a:pPr>
            <a:r>
              <a:rPr lang="en-US" dirty="0"/>
              <a:t>#enter                                                               </a:t>
            </a:r>
            <a:r>
              <a:rPr lang="en-US" dirty="0" smtClean="0"/>
              <a:t>   </a:t>
            </a:r>
            <a:r>
              <a:rPr lang="en-US" sz="2300" dirty="0" smtClean="0"/>
              <a:t>10.0.0.1      </a:t>
            </a:r>
            <a:r>
              <a:rPr lang="en-US" dirty="0" smtClean="0"/>
              <a:t> </a:t>
            </a:r>
            <a:r>
              <a:rPr lang="en-US" sz="2300" dirty="0" smtClean="0"/>
              <a:t>10.0.0.2    </a:t>
            </a:r>
            <a:r>
              <a:rPr lang="en-US" sz="2300" dirty="0"/>
              <a:t>10.0.0.3</a:t>
            </a:r>
            <a:r>
              <a:rPr lang="en-US" dirty="0"/>
              <a:t>                                                  </a:t>
            </a:r>
            <a:endParaRPr dirty="0"/>
          </a:p>
          <a:p>
            <a:pPr marL="342900" lvl="0" indent="-342900" algn="l" rtl="0">
              <a:spcBef>
                <a:spcPts val="496"/>
              </a:spcBef>
              <a:spcAft>
                <a:spcPts val="0"/>
              </a:spcAft>
              <a:buClr>
                <a:schemeClr val="dk1"/>
              </a:buClr>
              <a:buSzPct val="100000"/>
              <a:buNone/>
            </a:pPr>
            <a:r>
              <a:rPr lang="en-US" dirty="0"/>
              <a:t># do show  port-security   </a:t>
            </a:r>
            <a:r>
              <a:rPr lang="en-US" dirty="0" err="1"/>
              <a:t>int</a:t>
            </a:r>
            <a:r>
              <a:rPr lang="en-US" dirty="0"/>
              <a:t>   fa0/1</a:t>
            </a:r>
            <a:endParaRPr dirty="0"/>
          </a:p>
          <a:p>
            <a:pPr marL="342900" lvl="0" indent="-342900" algn="l" rtl="0">
              <a:spcBef>
                <a:spcPts val="496"/>
              </a:spcBef>
              <a:spcAft>
                <a:spcPts val="0"/>
              </a:spcAft>
              <a:buClr>
                <a:schemeClr val="dk1"/>
              </a:buClr>
              <a:buSzPct val="100000"/>
              <a:buNone/>
            </a:pPr>
            <a:r>
              <a:rPr lang="en-US" dirty="0" smtClean="0"/>
              <a:t># </a:t>
            </a:r>
            <a:r>
              <a:rPr lang="en-US" dirty="0" err="1"/>
              <a:t>switchport</a:t>
            </a:r>
            <a:r>
              <a:rPr lang="en-US" dirty="0"/>
              <a:t>  port-security    maximum 2</a:t>
            </a:r>
            <a:endParaRPr dirty="0"/>
          </a:p>
          <a:p>
            <a:pPr marL="342900" lvl="0" indent="-342900" algn="l" rtl="0">
              <a:spcBef>
                <a:spcPts val="496"/>
              </a:spcBef>
              <a:spcAft>
                <a:spcPts val="0"/>
              </a:spcAft>
              <a:buClr>
                <a:schemeClr val="dk1"/>
              </a:buClr>
              <a:buSzPct val="100000"/>
              <a:buNone/>
            </a:pPr>
            <a:r>
              <a:rPr lang="en-US" dirty="0" smtClean="0"/>
              <a:t># </a:t>
            </a:r>
            <a:r>
              <a:rPr lang="en-US" dirty="0" err="1"/>
              <a:t>switchport</a:t>
            </a:r>
            <a:r>
              <a:rPr lang="en-US" dirty="0"/>
              <a:t>  port-security   violation shutdown</a:t>
            </a:r>
            <a:endParaRPr dirty="0"/>
          </a:p>
          <a:p>
            <a:pPr marL="342900" lvl="0" indent="-342900" algn="l" rtl="0">
              <a:spcBef>
                <a:spcPts val="496"/>
              </a:spcBef>
              <a:spcAft>
                <a:spcPts val="0"/>
              </a:spcAft>
              <a:buClr>
                <a:schemeClr val="dk1"/>
              </a:buClr>
              <a:buSzPct val="100000"/>
              <a:buNone/>
            </a:pPr>
            <a:r>
              <a:rPr lang="en-US" dirty="0"/>
              <a:t># </a:t>
            </a:r>
            <a:r>
              <a:rPr lang="en-US" dirty="0" err="1"/>
              <a:t>switchport</a:t>
            </a:r>
            <a:r>
              <a:rPr lang="en-US" dirty="0"/>
              <a:t>  port-security   mac-address sticky</a:t>
            </a:r>
            <a:endParaRPr dirty="0"/>
          </a:p>
          <a:p>
            <a:pPr marL="342900" lvl="0" indent="-342900" algn="l" rtl="0">
              <a:spcBef>
                <a:spcPts val="496"/>
              </a:spcBef>
              <a:spcAft>
                <a:spcPts val="0"/>
              </a:spcAft>
              <a:buClr>
                <a:schemeClr val="dk1"/>
              </a:buClr>
              <a:buSzPct val="100000"/>
              <a:buNone/>
            </a:pPr>
            <a:r>
              <a:rPr lang="en-US" dirty="0"/>
              <a:t>#do write</a:t>
            </a:r>
            <a:endParaRPr dirty="0"/>
          </a:p>
          <a:p>
            <a:pPr marL="342900" lvl="0" indent="-342900" algn="l" rtl="0">
              <a:spcBef>
                <a:spcPts val="496"/>
              </a:spcBef>
              <a:spcAft>
                <a:spcPts val="0"/>
              </a:spcAft>
              <a:buClr>
                <a:schemeClr val="dk1"/>
              </a:buClr>
              <a:buSzPct val="100000"/>
              <a:buNone/>
            </a:pPr>
            <a:r>
              <a:rPr lang="en-US" dirty="0"/>
              <a:t>#</a:t>
            </a:r>
            <a:r>
              <a:rPr lang="en-US" dirty="0" smtClean="0"/>
              <a:t>exit</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endParaRPr dirty="0"/>
          </a:p>
        </p:txBody>
      </p:sp>
      <p:sp>
        <p:nvSpPr>
          <p:cNvPr id="1149" name="Google Shape;1149;p144"/>
          <p:cNvSpPr/>
          <p:nvPr/>
        </p:nvSpPr>
        <p:spPr>
          <a:xfrm>
            <a:off x="6934200" y="1295400"/>
            <a:ext cx="914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0" name="Google Shape;1150;p144"/>
          <p:cNvSpPr/>
          <p:nvPr/>
        </p:nvSpPr>
        <p:spPr>
          <a:xfrm>
            <a:off x="5181600" y="1447800"/>
            <a:ext cx="533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1" name="Google Shape;1151;p144"/>
          <p:cNvSpPr/>
          <p:nvPr/>
        </p:nvSpPr>
        <p:spPr>
          <a:xfrm>
            <a:off x="5048250" y="2355946"/>
            <a:ext cx="533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2" name="Google Shape;1152;p144"/>
          <p:cNvSpPr/>
          <p:nvPr/>
        </p:nvSpPr>
        <p:spPr>
          <a:xfrm>
            <a:off x="5943600" y="2743200"/>
            <a:ext cx="533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3" name="Google Shape;1153;p144"/>
          <p:cNvSpPr/>
          <p:nvPr/>
        </p:nvSpPr>
        <p:spPr>
          <a:xfrm>
            <a:off x="7162800" y="2743200"/>
            <a:ext cx="533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4" name="Google Shape;1154;p144"/>
          <p:cNvSpPr/>
          <p:nvPr/>
        </p:nvSpPr>
        <p:spPr>
          <a:xfrm>
            <a:off x="8229600" y="2743200"/>
            <a:ext cx="533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155" name="Google Shape;1155;p144"/>
          <p:cNvCxnSpPr/>
          <p:nvPr/>
        </p:nvCxnSpPr>
        <p:spPr>
          <a:xfrm flipH="1">
            <a:off x="6134101" y="1676400"/>
            <a:ext cx="1162050" cy="1066800"/>
          </a:xfrm>
          <a:prstGeom prst="straightConnector1">
            <a:avLst/>
          </a:prstGeom>
          <a:noFill/>
          <a:ln w="9525" cap="flat" cmpd="sng">
            <a:solidFill>
              <a:srgbClr val="4A7DBA"/>
            </a:solidFill>
            <a:prstDash val="solid"/>
            <a:round/>
            <a:headEnd type="none" w="sm" len="sm"/>
            <a:tailEnd type="none" w="sm" len="sm"/>
          </a:ln>
        </p:spPr>
      </p:cxnSp>
      <p:cxnSp>
        <p:nvCxnSpPr>
          <p:cNvPr id="1156" name="Google Shape;1156;p144"/>
          <p:cNvCxnSpPr>
            <a:stCxn id="1149" idx="2"/>
            <a:endCxn id="1153" idx="0"/>
          </p:cNvCxnSpPr>
          <p:nvPr/>
        </p:nvCxnSpPr>
        <p:spPr>
          <a:xfrm>
            <a:off x="7391400" y="1676400"/>
            <a:ext cx="38100" cy="1066800"/>
          </a:xfrm>
          <a:prstGeom prst="straightConnector1">
            <a:avLst/>
          </a:prstGeom>
          <a:noFill/>
          <a:ln w="9525" cap="flat" cmpd="sng">
            <a:solidFill>
              <a:srgbClr val="4A7DBA"/>
            </a:solidFill>
            <a:prstDash val="solid"/>
            <a:round/>
            <a:headEnd type="none" w="sm" len="sm"/>
            <a:tailEnd type="none" w="sm" len="sm"/>
          </a:ln>
        </p:spPr>
      </p:cxnSp>
      <p:cxnSp>
        <p:nvCxnSpPr>
          <p:cNvPr id="1157" name="Google Shape;1157;p144"/>
          <p:cNvCxnSpPr>
            <a:stCxn id="1149" idx="2"/>
            <a:endCxn id="1154" idx="0"/>
          </p:cNvCxnSpPr>
          <p:nvPr/>
        </p:nvCxnSpPr>
        <p:spPr>
          <a:xfrm>
            <a:off x="7391400" y="1676400"/>
            <a:ext cx="1104900" cy="10668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2955" y="313899"/>
            <a:ext cx="8639033" cy="6063198"/>
          </a:xfrm>
          <a:prstGeom prst="rect">
            <a:avLst/>
          </a:prstGeom>
          <a:noFill/>
        </p:spPr>
        <p:txBody>
          <a:bodyPr wrap="square" rtlCol="0">
            <a:spAutoFit/>
          </a:bodyPr>
          <a:lstStyle/>
          <a:p>
            <a:pPr algn="ctr"/>
            <a:r>
              <a:rPr lang="en-US" sz="2400" b="1" dirty="0" smtClean="0"/>
              <a:t>Port </a:t>
            </a:r>
            <a:r>
              <a:rPr lang="en-US" sz="2400" b="1" dirty="0"/>
              <a:t>security violation modes</a:t>
            </a:r>
          </a:p>
          <a:p>
            <a:r>
              <a:rPr lang="en-US" sz="2400" b="1" dirty="0">
                <a:solidFill>
                  <a:schemeClr val="tx1"/>
                </a:solidFill>
                <a:hlinkClick r:id="rId2"/>
              </a:rPr>
              <a:t>Protect</a:t>
            </a:r>
            <a:r>
              <a:rPr lang="en-US" sz="2400" b="1" dirty="0">
                <a:solidFill>
                  <a:schemeClr val="tx1"/>
                </a:solidFill>
              </a:rPr>
              <a:t>:</a:t>
            </a:r>
            <a:endParaRPr lang="en-US" sz="2400" dirty="0">
              <a:solidFill>
                <a:schemeClr val="tx1"/>
              </a:solidFill>
            </a:endParaRPr>
          </a:p>
          <a:p>
            <a:pPr fontAlgn="ctr"/>
            <a:r>
              <a:rPr lang="en-US" sz="2400" dirty="0"/>
              <a:t>Drops packets from unknown source MAC addresses. </a:t>
            </a:r>
          </a:p>
          <a:p>
            <a:pPr fontAlgn="ctr"/>
            <a:r>
              <a:rPr lang="en-US" sz="2400" dirty="0"/>
              <a:t>Does not send a notification when a violation occurs. </a:t>
            </a:r>
          </a:p>
          <a:p>
            <a:pPr fontAlgn="ctr"/>
            <a:r>
              <a:rPr lang="en-US" sz="2400" dirty="0"/>
              <a:t>Allows traffic from known MAC addresses to continue. </a:t>
            </a:r>
          </a:p>
          <a:p>
            <a:r>
              <a:rPr lang="en-US" sz="2400" b="1" dirty="0">
                <a:hlinkClick r:id="rId3"/>
              </a:rPr>
              <a:t>Restrict</a:t>
            </a:r>
            <a:r>
              <a:rPr lang="en-US" sz="2400" b="1" dirty="0"/>
              <a:t>:</a:t>
            </a:r>
            <a:endParaRPr lang="en-US" sz="2400" dirty="0"/>
          </a:p>
          <a:p>
            <a:pPr fontAlgn="ctr"/>
            <a:r>
              <a:rPr lang="en-US" sz="2400" dirty="0"/>
              <a:t>Drops packets from unknown source MAC addresses. </a:t>
            </a:r>
          </a:p>
          <a:p>
            <a:pPr fontAlgn="ctr"/>
            <a:r>
              <a:rPr lang="en-US" sz="2400" dirty="0"/>
              <a:t>Increments the </a:t>
            </a:r>
            <a:r>
              <a:rPr lang="en-US" sz="2400" dirty="0" smtClean="0"/>
              <a:t>violation counter and sends </a:t>
            </a:r>
            <a:r>
              <a:rPr lang="en-US" sz="2400" dirty="0"/>
              <a:t>a notification when a violation occurs. </a:t>
            </a:r>
          </a:p>
          <a:p>
            <a:pPr fontAlgn="ctr"/>
            <a:r>
              <a:rPr lang="en-US" sz="2400" dirty="0"/>
              <a:t>Allows traffic from known MAC addresses to continue. </a:t>
            </a:r>
          </a:p>
          <a:p>
            <a:r>
              <a:rPr lang="en-US" sz="2400" b="1" dirty="0">
                <a:hlinkClick r:id="rId4"/>
              </a:rPr>
              <a:t>Shutdown</a:t>
            </a:r>
            <a:r>
              <a:rPr lang="en-US" sz="2400" b="1" dirty="0"/>
              <a:t>:</a:t>
            </a:r>
            <a:endParaRPr lang="en-US" sz="2400" dirty="0"/>
          </a:p>
          <a:p>
            <a:pPr fontAlgn="ctr"/>
            <a:r>
              <a:rPr lang="en-US" sz="2400" dirty="0"/>
              <a:t>Disables the port immediately. </a:t>
            </a:r>
          </a:p>
          <a:p>
            <a:pPr fontAlgn="ctr"/>
            <a:r>
              <a:rPr lang="en-US" sz="2400" dirty="0"/>
              <a:t>The port's LED turns off and it is moved to an error-disabled state. </a:t>
            </a:r>
          </a:p>
          <a:p>
            <a:pPr fontAlgn="ctr"/>
            <a:r>
              <a:rPr lang="en-US" sz="2400" dirty="0"/>
              <a:t>Requires manual intervention to re-enable the port. </a:t>
            </a:r>
          </a:p>
          <a:p>
            <a:r>
              <a:rPr lang="en-US" dirty="0"/>
              <a:t/>
            </a:r>
            <a:br>
              <a:rPr lang="en-US" dirty="0"/>
            </a:br>
            <a:endParaRPr lang="en-IN" dirty="0"/>
          </a:p>
        </p:txBody>
      </p:sp>
    </p:spTree>
    <p:extLst>
      <p:ext uri="{BB962C8B-B14F-4D97-AF65-F5344CB8AC3E}">
        <p14:creationId xmlns:p14="http://schemas.microsoft.com/office/powerpoint/2010/main" val="408214209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p145"/>
          <p:cNvSpPr txBox="1">
            <a:spLocks noGrp="1"/>
          </p:cNvSpPr>
          <p:nvPr>
            <p:ph type="title"/>
          </p:nvPr>
        </p:nvSpPr>
        <p:spPr>
          <a:xfrm>
            <a:off x="457200" y="0"/>
            <a:ext cx="8229600" cy="45663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b="1" u="sng" dirty="0"/>
              <a:t>VLAN</a:t>
            </a:r>
            <a:endParaRPr b="1" u="sng" dirty="0"/>
          </a:p>
        </p:txBody>
      </p:sp>
      <p:sp>
        <p:nvSpPr>
          <p:cNvPr id="1163" name="Google Shape;1163;p145"/>
          <p:cNvSpPr txBox="1">
            <a:spLocks noGrp="1"/>
          </p:cNvSpPr>
          <p:nvPr>
            <p:ph type="body" idx="1"/>
          </p:nvPr>
        </p:nvSpPr>
        <p:spPr>
          <a:xfrm>
            <a:off x="457200" y="456633"/>
            <a:ext cx="8229600" cy="6217122"/>
          </a:xfrm>
          <a:prstGeom prst="rect">
            <a:avLst/>
          </a:prstGeom>
          <a:noFill/>
          <a:ln>
            <a:noFill/>
          </a:ln>
        </p:spPr>
        <p:txBody>
          <a:bodyPr spcFirstLastPara="1" wrap="square" lIns="91425" tIns="45700" rIns="91425" bIns="45700" anchor="t" anchorCtr="0">
            <a:normAutofit fontScale="85000" lnSpcReduction="20000"/>
          </a:bodyPr>
          <a:lstStyle/>
          <a:p>
            <a:pPr lvl="0" indent="-457200">
              <a:spcBef>
                <a:spcPts val="400"/>
              </a:spcBef>
              <a:buSzPct val="100000"/>
              <a:buFont typeface="Wingdings" panose="05000000000000000000" pitchFamily="2" charset="2"/>
              <a:buChar char="q"/>
            </a:pPr>
            <a:r>
              <a:rPr lang="en-US" b="1" dirty="0" smtClean="0"/>
              <a:t>Place </a:t>
            </a:r>
            <a:r>
              <a:rPr lang="en-US" b="1" dirty="0"/>
              <a:t>Switch &amp; PC's</a:t>
            </a:r>
          </a:p>
          <a:p>
            <a:pPr lvl="0" indent="-457200">
              <a:spcBef>
                <a:spcPts val="400"/>
              </a:spcBef>
              <a:buSzPct val="100000"/>
              <a:buFont typeface="Wingdings" panose="05000000000000000000" pitchFamily="2" charset="2"/>
              <a:buChar char="q"/>
            </a:pPr>
            <a:r>
              <a:rPr lang="en-US" b="1" dirty="0"/>
              <a:t>Give IP to each </a:t>
            </a:r>
            <a:r>
              <a:rPr lang="en-US" b="1" dirty="0" smtClean="0"/>
              <a:t>PC Same Network</a:t>
            </a:r>
            <a:endParaRPr lang="en-US" b="1" dirty="0"/>
          </a:p>
          <a:p>
            <a:pPr lvl="0" indent="-457200">
              <a:spcBef>
                <a:spcPts val="400"/>
              </a:spcBef>
              <a:buSzPct val="100000"/>
              <a:buFont typeface="Wingdings" panose="05000000000000000000" pitchFamily="2" charset="2"/>
              <a:buChar char="q"/>
            </a:pPr>
            <a:r>
              <a:rPr lang="en-US" b="1" dirty="0"/>
              <a:t>No Gateway Needed</a:t>
            </a:r>
            <a:endParaRPr b="1" dirty="0"/>
          </a:p>
          <a:p>
            <a:pPr marL="342900">
              <a:spcBef>
                <a:spcPts val="400"/>
              </a:spcBef>
              <a:buSzPct val="100000"/>
              <a:buNone/>
            </a:pPr>
            <a:r>
              <a:rPr lang="en-US" b="1" dirty="0" err="1"/>
              <a:t>Config</a:t>
            </a:r>
            <a:r>
              <a:rPr lang="en-US" b="1" dirty="0"/>
              <a:t> mode:</a:t>
            </a:r>
          </a:p>
          <a:p>
            <a:pPr marL="342900" lvl="0">
              <a:spcBef>
                <a:spcPts val="400"/>
              </a:spcBef>
              <a:buSzPct val="100000"/>
              <a:buNone/>
            </a:pPr>
            <a:r>
              <a:rPr lang="en-IN" dirty="0" err="1"/>
              <a:t>en</a:t>
            </a:r>
            <a:endParaRPr lang="en-IN" dirty="0"/>
          </a:p>
          <a:p>
            <a:pPr marL="342900" lvl="0">
              <a:spcBef>
                <a:spcPts val="400"/>
              </a:spcBef>
              <a:buSzPct val="100000"/>
              <a:buNone/>
            </a:pPr>
            <a:r>
              <a:rPr lang="en-IN" dirty="0" err="1"/>
              <a:t>config</a:t>
            </a:r>
            <a:r>
              <a:rPr lang="en-IN" dirty="0"/>
              <a:t> t</a:t>
            </a:r>
          </a:p>
          <a:p>
            <a:pPr marL="342900" lvl="0">
              <a:spcBef>
                <a:spcPts val="400"/>
              </a:spcBef>
              <a:buSzPct val="100000"/>
              <a:buNone/>
            </a:pPr>
            <a:r>
              <a:rPr lang="en-IN" dirty="0" err="1"/>
              <a:t>vlan</a:t>
            </a:r>
            <a:r>
              <a:rPr lang="en-IN" dirty="0"/>
              <a:t> 10</a:t>
            </a:r>
          </a:p>
          <a:p>
            <a:pPr marL="342900" lvl="0">
              <a:spcBef>
                <a:spcPts val="400"/>
              </a:spcBef>
              <a:buSzPct val="100000"/>
              <a:buNone/>
            </a:pPr>
            <a:r>
              <a:rPr lang="en-IN" dirty="0"/>
              <a:t>name </a:t>
            </a:r>
            <a:r>
              <a:rPr lang="en-IN" dirty="0" smtClean="0"/>
              <a:t>IT</a:t>
            </a:r>
            <a:endParaRPr lang="en-IN" dirty="0"/>
          </a:p>
          <a:p>
            <a:pPr marL="342900" lvl="0">
              <a:spcBef>
                <a:spcPts val="400"/>
              </a:spcBef>
              <a:buSzPct val="100000"/>
              <a:buNone/>
            </a:pPr>
            <a:r>
              <a:rPr lang="en-IN" dirty="0"/>
              <a:t>ex</a:t>
            </a:r>
          </a:p>
          <a:p>
            <a:pPr marL="342900" lvl="0">
              <a:spcBef>
                <a:spcPts val="400"/>
              </a:spcBef>
              <a:buSzPct val="100000"/>
              <a:buNone/>
            </a:pPr>
            <a:r>
              <a:rPr lang="en-IN" dirty="0" err="1"/>
              <a:t>vlan</a:t>
            </a:r>
            <a:r>
              <a:rPr lang="en-IN" dirty="0"/>
              <a:t> 20</a:t>
            </a:r>
          </a:p>
          <a:p>
            <a:pPr marL="342900" lvl="0">
              <a:spcBef>
                <a:spcPts val="400"/>
              </a:spcBef>
              <a:buSzPct val="100000"/>
              <a:buNone/>
            </a:pPr>
            <a:r>
              <a:rPr lang="en-IN" dirty="0"/>
              <a:t>name manager</a:t>
            </a:r>
          </a:p>
          <a:p>
            <a:pPr marL="342900" lvl="0">
              <a:spcBef>
                <a:spcPts val="400"/>
              </a:spcBef>
              <a:buSzPct val="100000"/>
              <a:buNone/>
            </a:pPr>
            <a:r>
              <a:rPr lang="en-IN" dirty="0"/>
              <a:t>ex</a:t>
            </a:r>
          </a:p>
          <a:p>
            <a:pPr marL="342900" lvl="0">
              <a:spcBef>
                <a:spcPts val="400"/>
              </a:spcBef>
              <a:buSzPct val="100000"/>
              <a:buNone/>
            </a:pPr>
            <a:r>
              <a:rPr lang="en-IN" dirty="0" err="1"/>
              <a:t>vlan</a:t>
            </a:r>
            <a:r>
              <a:rPr lang="en-IN" dirty="0"/>
              <a:t> 30</a:t>
            </a:r>
          </a:p>
          <a:p>
            <a:pPr marL="342900" lvl="0">
              <a:spcBef>
                <a:spcPts val="400"/>
              </a:spcBef>
              <a:buSzPct val="100000"/>
              <a:buNone/>
            </a:pPr>
            <a:r>
              <a:rPr lang="en-IN" dirty="0"/>
              <a:t>name tech</a:t>
            </a:r>
          </a:p>
          <a:p>
            <a:pPr marL="342900" lvl="0">
              <a:spcBef>
                <a:spcPts val="400"/>
              </a:spcBef>
              <a:buSzPct val="100000"/>
              <a:buNone/>
            </a:pPr>
            <a:r>
              <a:rPr lang="en-IN" dirty="0"/>
              <a:t>ex</a:t>
            </a:r>
          </a:p>
          <a:p>
            <a:pPr marL="342900" lvl="0">
              <a:spcBef>
                <a:spcPts val="400"/>
              </a:spcBef>
              <a:buSzPct val="100000"/>
              <a:buNone/>
            </a:pPr>
            <a:r>
              <a:rPr lang="en-IN" b="1" dirty="0"/>
              <a:t>do show </a:t>
            </a:r>
            <a:r>
              <a:rPr lang="en-IN" b="1" dirty="0" err="1"/>
              <a:t>vlan</a:t>
            </a:r>
            <a:endParaRPr b="1" dirty="0"/>
          </a:p>
          <a:p>
            <a:pPr marL="342900" lvl="0" indent="-342900" algn="l" rtl="0">
              <a:spcBef>
                <a:spcPts val="400"/>
              </a:spcBef>
              <a:spcAft>
                <a:spcPts val="0"/>
              </a:spcAft>
              <a:buClr>
                <a:schemeClr val="dk1"/>
              </a:buClr>
              <a:buSzPct val="100000"/>
              <a:buNone/>
            </a:pPr>
            <a:endParaRPr dirty="0"/>
          </a:p>
        </p:txBody>
      </p:sp>
      <p:sp>
        <p:nvSpPr>
          <p:cNvPr id="1164" name="Google Shape;1164;p145"/>
          <p:cNvSpPr/>
          <p:nvPr/>
        </p:nvSpPr>
        <p:spPr>
          <a:xfrm>
            <a:off x="6610350" y="3527377"/>
            <a:ext cx="457200" cy="381000"/>
          </a:xfrm>
          <a:prstGeom prst="rect">
            <a:avLst/>
          </a:prstGeom>
          <a:ln>
            <a:headEnd type="none" w="sm" len="sm"/>
            <a:tailEnd type="none" w="sm" len="sm"/>
          </a:ln>
        </p:spPr>
        <p:style>
          <a:lnRef idx="2">
            <a:schemeClr val="accent2">
              <a:shade val="50000"/>
            </a:schemeClr>
          </a:lnRef>
          <a:fillRef idx="1">
            <a:schemeClr val="accent2"/>
          </a:fillRef>
          <a:effectRef idx="0">
            <a:schemeClr val="accent2"/>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20</a:t>
            </a:r>
            <a:endParaRPr sz="1800" dirty="0">
              <a:solidFill>
                <a:schemeClr val="lt1"/>
              </a:solidFill>
              <a:latin typeface="Calibri"/>
              <a:ea typeface="Calibri"/>
              <a:cs typeface="Calibri"/>
              <a:sym typeface="Calibri"/>
            </a:endParaRPr>
          </a:p>
        </p:txBody>
      </p:sp>
      <p:sp>
        <p:nvSpPr>
          <p:cNvPr id="1165" name="Google Shape;1165;p145"/>
          <p:cNvSpPr/>
          <p:nvPr/>
        </p:nvSpPr>
        <p:spPr>
          <a:xfrm>
            <a:off x="5562600" y="1828800"/>
            <a:ext cx="1295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SWITCH</a:t>
            </a:r>
            <a:endParaRPr sz="1800" dirty="0">
              <a:solidFill>
                <a:schemeClr val="lt1"/>
              </a:solidFill>
              <a:latin typeface="Calibri"/>
              <a:ea typeface="Calibri"/>
              <a:cs typeface="Calibri"/>
              <a:sym typeface="Calibri"/>
            </a:endParaRPr>
          </a:p>
        </p:txBody>
      </p:sp>
      <p:sp>
        <p:nvSpPr>
          <p:cNvPr id="1166" name="Google Shape;1166;p145"/>
          <p:cNvSpPr/>
          <p:nvPr/>
        </p:nvSpPr>
        <p:spPr>
          <a:xfrm>
            <a:off x="7703308" y="2362200"/>
            <a:ext cx="457200" cy="381000"/>
          </a:xfrm>
          <a:prstGeom prst="rect">
            <a:avLst/>
          </a:prstGeom>
          <a:ln>
            <a:headEnd type="none" w="sm" len="sm"/>
            <a:tailEnd type="none" w="sm" len="sm"/>
          </a:ln>
        </p:spPr>
        <p:style>
          <a:lnRef idx="2">
            <a:schemeClr val="accent3">
              <a:shade val="50000"/>
            </a:schemeClr>
          </a:lnRef>
          <a:fillRef idx="1">
            <a:schemeClr val="accent3"/>
          </a:fillRef>
          <a:effectRef idx="0">
            <a:schemeClr val="accent3"/>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30</a:t>
            </a:r>
            <a:endParaRPr sz="1800" dirty="0">
              <a:solidFill>
                <a:schemeClr val="lt1"/>
              </a:solidFill>
              <a:latin typeface="Calibri"/>
              <a:ea typeface="Calibri"/>
              <a:cs typeface="Calibri"/>
              <a:sym typeface="Calibri"/>
            </a:endParaRPr>
          </a:p>
        </p:txBody>
      </p:sp>
      <p:sp>
        <p:nvSpPr>
          <p:cNvPr id="1168" name="Google Shape;1168;p145"/>
          <p:cNvSpPr/>
          <p:nvPr/>
        </p:nvSpPr>
        <p:spPr>
          <a:xfrm>
            <a:off x="5353050" y="3565194"/>
            <a:ext cx="457200" cy="381000"/>
          </a:xfrm>
          <a:prstGeom prst="rect">
            <a:avLst/>
          </a:prstGeom>
          <a:ln>
            <a:headEnd type="none" w="sm" len="sm"/>
            <a:tailEnd type="none" w="sm" len="sm"/>
          </a:ln>
        </p:spPr>
        <p:style>
          <a:lnRef idx="2">
            <a:schemeClr val="accent2">
              <a:shade val="50000"/>
            </a:schemeClr>
          </a:lnRef>
          <a:fillRef idx="1">
            <a:schemeClr val="accent2"/>
          </a:fillRef>
          <a:effectRef idx="0">
            <a:schemeClr val="accent2"/>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20</a:t>
            </a:r>
            <a:endParaRPr sz="1800" dirty="0">
              <a:solidFill>
                <a:schemeClr val="lt1"/>
              </a:solidFill>
              <a:latin typeface="Calibri"/>
              <a:ea typeface="Calibri"/>
              <a:cs typeface="Calibri"/>
              <a:sym typeface="Calibri"/>
            </a:endParaRPr>
          </a:p>
        </p:txBody>
      </p:sp>
      <p:sp>
        <p:nvSpPr>
          <p:cNvPr id="1169" name="Google Shape;1169;p145"/>
          <p:cNvSpPr/>
          <p:nvPr/>
        </p:nvSpPr>
        <p:spPr>
          <a:xfrm>
            <a:off x="4495800" y="2362200"/>
            <a:ext cx="457200" cy="381000"/>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10</a:t>
            </a:r>
            <a:endParaRPr sz="1800" dirty="0">
              <a:solidFill>
                <a:schemeClr val="lt1"/>
              </a:solidFill>
              <a:latin typeface="Calibri"/>
              <a:ea typeface="Calibri"/>
              <a:cs typeface="Calibri"/>
              <a:sym typeface="Calibri"/>
            </a:endParaRPr>
          </a:p>
        </p:txBody>
      </p:sp>
      <p:cxnSp>
        <p:nvCxnSpPr>
          <p:cNvPr id="1171" name="Google Shape;1171;p145"/>
          <p:cNvCxnSpPr>
            <a:stCxn id="1169" idx="3"/>
            <a:endCxn id="1165" idx="2"/>
          </p:cNvCxnSpPr>
          <p:nvPr/>
        </p:nvCxnSpPr>
        <p:spPr>
          <a:xfrm rot="10800000" flipH="1">
            <a:off x="4953000" y="2209800"/>
            <a:ext cx="1257300" cy="342900"/>
          </a:xfrm>
          <a:prstGeom prst="straightConnector1">
            <a:avLst/>
          </a:prstGeom>
          <a:noFill/>
          <a:ln w="9525" cap="flat" cmpd="sng">
            <a:solidFill>
              <a:srgbClr val="4A7DBA"/>
            </a:solidFill>
            <a:prstDash val="solid"/>
            <a:round/>
            <a:headEnd type="none" w="sm" len="sm"/>
            <a:tailEnd type="none" w="sm" len="sm"/>
          </a:ln>
        </p:spPr>
      </p:cxnSp>
      <p:cxnSp>
        <p:nvCxnSpPr>
          <p:cNvPr id="1172" name="Google Shape;1172;p145"/>
          <p:cNvCxnSpPr>
            <a:stCxn id="1168" idx="0"/>
            <a:endCxn id="1165" idx="2"/>
          </p:cNvCxnSpPr>
          <p:nvPr/>
        </p:nvCxnSpPr>
        <p:spPr>
          <a:xfrm flipV="1">
            <a:off x="5581650" y="2209800"/>
            <a:ext cx="628650" cy="1355394"/>
          </a:xfrm>
          <a:prstGeom prst="straightConnector1">
            <a:avLst/>
          </a:prstGeom>
          <a:noFill/>
          <a:ln w="9525" cap="flat" cmpd="sng">
            <a:solidFill>
              <a:srgbClr val="4A7DBA"/>
            </a:solidFill>
            <a:prstDash val="solid"/>
            <a:round/>
            <a:headEnd type="none" w="sm" len="sm"/>
            <a:tailEnd type="none" w="sm" len="sm"/>
          </a:ln>
        </p:spPr>
      </p:cxnSp>
      <p:cxnSp>
        <p:nvCxnSpPr>
          <p:cNvPr id="1173" name="Google Shape;1173;p145"/>
          <p:cNvCxnSpPr>
            <a:stCxn id="1164" idx="0"/>
            <a:endCxn id="1165" idx="2"/>
          </p:cNvCxnSpPr>
          <p:nvPr/>
        </p:nvCxnSpPr>
        <p:spPr>
          <a:xfrm flipH="1" flipV="1">
            <a:off x="6210300" y="2209800"/>
            <a:ext cx="628650" cy="1317577"/>
          </a:xfrm>
          <a:prstGeom prst="straightConnector1">
            <a:avLst/>
          </a:prstGeom>
          <a:noFill/>
          <a:ln w="9525" cap="flat" cmpd="sng">
            <a:solidFill>
              <a:srgbClr val="4A7DBA"/>
            </a:solidFill>
            <a:prstDash val="solid"/>
            <a:round/>
            <a:headEnd type="none" w="sm" len="sm"/>
            <a:tailEnd type="none" w="sm" len="sm"/>
          </a:ln>
        </p:spPr>
      </p:cxnSp>
      <p:cxnSp>
        <p:nvCxnSpPr>
          <p:cNvPr id="1174" name="Google Shape;1174;p145"/>
          <p:cNvCxnSpPr>
            <a:stCxn id="1166" idx="1"/>
            <a:endCxn id="1165" idx="2"/>
          </p:cNvCxnSpPr>
          <p:nvPr/>
        </p:nvCxnSpPr>
        <p:spPr>
          <a:xfrm flipH="1" flipV="1">
            <a:off x="6210300" y="2209800"/>
            <a:ext cx="1493008" cy="342900"/>
          </a:xfrm>
          <a:prstGeom prst="straightConnector1">
            <a:avLst/>
          </a:prstGeom>
          <a:noFill/>
          <a:ln w="9525" cap="flat" cmpd="sng">
            <a:solidFill>
              <a:srgbClr val="4A7DBA"/>
            </a:solidFill>
            <a:prstDash val="solid"/>
            <a:round/>
            <a:headEnd type="none" w="sm" len="sm"/>
            <a:tailEnd type="none" w="sm" len="sm"/>
          </a:ln>
        </p:spPr>
      </p:cxnSp>
      <p:sp>
        <p:nvSpPr>
          <p:cNvPr id="6" name="TextBox 5"/>
          <p:cNvSpPr txBox="1"/>
          <p:nvPr/>
        </p:nvSpPr>
        <p:spPr>
          <a:xfrm>
            <a:off x="3848669" y="2868588"/>
            <a:ext cx="1128835" cy="307777"/>
          </a:xfrm>
          <a:prstGeom prst="rect">
            <a:avLst/>
          </a:prstGeom>
          <a:noFill/>
        </p:spPr>
        <p:txBody>
          <a:bodyPr wrap="none" rtlCol="0">
            <a:spAutoFit/>
          </a:bodyPr>
          <a:lstStyle/>
          <a:p>
            <a:r>
              <a:rPr lang="en-US" dirty="0" smtClean="0"/>
              <a:t>192.168.1.2</a:t>
            </a:r>
            <a:endParaRPr lang="en-IN" dirty="0"/>
          </a:p>
        </p:txBody>
      </p:sp>
      <p:sp>
        <p:nvSpPr>
          <p:cNvPr id="22" name="TextBox 21"/>
          <p:cNvSpPr txBox="1"/>
          <p:nvPr/>
        </p:nvSpPr>
        <p:spPr>
          <a:xfrm>
            <a:off x="5017232" y="4010734"/>
            <a:ext cx="1128835" cy="307777"/>
          </a:xfrm>
          <a:prstGeom prst="rect">
            <a:avLst/>
          </a:prstGeom>
          <a:noFill/>
        </p:spPr>
        <p:txBody>
          <a:bodyPr wrap="none" rtlCol="0">
            <a:spAutoFit/>
          </a:bodyPr>
          <a:lstStyle/>
          <a:p>
            <a:r>
              <a:rPr lang="en-US" dirty="0" smtClean="0"/>
              <a:t>192.168.1.3</a:t>
            </a:r>
            <a:endParaRPr lang="en-IN" dirty="0"/>
          </a:p>
        </p:txBody>
      </p:sp>
      <p:sp>
        <p:nvSpPr>
          <p:cNvPr id="23" name="TextBox 22"/>
          <p:cNvSpPr txBox="1"/>
          <p:nvPr/>
        </p:nvSpPr>
        <p:spPr>
          <a:xfrm>
            <a:off x="6287598" y="4009729"/>
            <a:ext cx="1128835" cy="307777"/>
          </a:xfrm>
          <a:prstGeom prst="rect">
            <a:avLst/>
          </a:prstGeom>
          <a:noFill/>
        </p:spPr>
        <p:txBody>
          <a:bodyPr wrap="none" rtlCol="0">
            <a:spAutoFit/>
          </a:bodyPr>
          <a:lstStyle/>
          <a:p>
            <a:r>
              <a:rPr lang="en-US" dirty="0" smtClean="0"/>
              <a:t>192.168.1.4</a:t>
            </a:r>
            <a:endParaRPr lang="en-IN" dirty="0"/>
          </a:p>
        </p:txBody>
      </p:sp>
      <p:sp>
        <p:nvSpPr>
          <p:cNvPr id="24" name="TextBox 23"/>
          <p:cNvSpPr txBox="1"/>
          <p:nvPr/>
        </p:nvSpPr>
        <p:spPr>
          <a:xfrm>
            <a:off x="7308184" y="2843547"/>
            <a:ext cx="1128835" cy="307777"/>
          </a:xfrm>
          <a:prstGeom prst="rect">
            <a:avLst/>
          </a:prstGeom>
          <a:noFill/>
        </p:spPr>
        <p:txBody>
          <a:bodyPr wrap="none" rtlCol="0">
            <a:spAutoFit/>
          </a:bodyPr>
          <a:lstStyle/>
          <a:p>
            <a:r>
              <a:rPr lang="en-US" dirty="0" smtClean="0"/>
              <a:t>192.168.1.5</a:t>
            </a:r>
            <a:endParaRPr lang="en-IN" dirty="0"/>
          </a:p>
        </p:txBody>
      </p:sp>
      <p:sp>
        <p:nvSpPr>
          <p:cNvPr id="7" name="TextBox 6"/>
          <p:cNvSpPr txBox="1"/>
          <p:nvPr/>
        </p:nvSpPr>
        <p:spPr>
          <a:xfrm>
            <a:off x="5340178" y="2209799"/>
            <a:ext cx="641522" cy="307777"/>
          </a:xfrm>
          <a:prstGeom prst="rect">
            <a:avLst/>
          </a:prstGeom>
          <a:noFill/>
        </p:spPr>
        <p:txBody>
          <a:bodyPr wrap="none" rtlCol="0">
            <a:spAutoFit/>
          </a:bodyPr>
          <a:lstStyle/>
          <a:p>
            <a:r>
              <a:rPr lang="en-US" dirty="0" smtClean="0"/>
              <a:t>Fa0/1</a:t>
            </a:r>
            <a:endParaRPr lang="en-IN" dirty="0"/>
          </a:p>
        </p:txBody>
      </p:sp>
      <p:sp>
        <p:nvSpPr>
          <p:cNvPr id="26" name="TextBox 25"/>
          <p:cNvSpPr txBox="1"/>
          <p:nvPr/>
        </p:nvSpPr>
        <p:spPr>
          <a:xfrm>
            <a:off x="5542155" y="2784928"/>
            <a:ext cx="641522" cy="307777"/>
          </a:xfrm>
          <a:prstGeom prst="rect">
            <a:avLst/>
          </a:prstGeom>
          <a:noFill/>
        </p:spPr>
        <p:txBody>
          <a:bodyPr wrap="none" rtlCol="0">
            <a:spAutoFit/>
          </a:bodyPr>
          <a:lstStyle/>
          <a:p>
            <a:r>
              <a:rPr lang="en-US" dirty="0" smtClean="0"/>
              <a:t>Fa0/2</a:t>
            </a:r>
            <a:endParaRPr lang="en-IN" dirty="0"/>
          </a:p>
        </p:txBody>
      </p:sp>
      <p:sp>
        <p:nvSpPr>
          <p:cNvPr id="27" name="TextBox 26"/>
          <p:cNvSpPr txBox="1"/>
          <p:nvPr/>
        </p:nvSpPr>
        <p:spPr>
          <a:xfrm>
            <a:off x="6261763" y="2760428"/>
            <a:ext cx="641522" cy="307777"/>
          </a:xfrm>
          <a:prstGeom prst="rect">
            <a:avLst/>
          </a:prstGeom>
          <a:noFill/>
        </p:spPr>
        <p:txBody>
          <a:bodyPr wrap="none" rtlCol="0">
            <a:spAutoFit/>
          </a:bodyPr>
          <a:lstStyle/>
          <a:p>
            <a:r>
              <a:rPr lang="en-US" dirty="0" smtClean="0"/>
              <a:t>Fa0/3</a:t>
            </a:r>
            <a:endParaRPr lang="en-IN" dirty="0"/>
          </a:p>
        </p:txBody>
      </p:sp>
      <p:sp>
        <p:nvSpPr>
          <p:cNvPr id="28" name="TextBox 27"/>
          <p:cNvSpPr txBox="1"/>
          <p:nvPr/>
        </p:nvSpPr>
        <p:spPr>
          <a:xfrm>
            <a:off x="6844378" y="2124187"/>
            <a:ext cx="641522" cy="307777"/>
          </a:xfrm>
          <a:prstGeom prst="rect">
            <a:avLst/>
          </a:prstGeom>
          <a:noFill/>
        </p:spPr>
        <p:txBody>
          <a:bodyPr wrap="none" rtlCol="0">
            <a:spAutoFit/>
          </a:bodyPr>
          <a:lstStyle/>
          <a:p>
            <a:r>
              <a:rPr lang="en-US" dirty="0" smtClean="0"/>
              <a:t>Fa0/4</a:t>
            </a:r>
            <a:endParaRPr lang="en-IN"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146"/>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a:bodyPr>
          <a:lstStyle/>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endParaRPr dirty="0"/>
          </a:p>
        </p:txBody>
      </p:sp>
      <p:sp>
        <p:nvSpPr>
          <p:cNvPr id="2" name="Rectangle 1"/>
          <p:cNvSpPr/>
          <p:nvPr/>
        </p:nvSpPr>
        <p:spPr>
          <a:xfrm>
            <a:off x="457200" y="259307"/>
            <a:ext cx="8229600" cy="6124754"/>
          </a:xfrm>
          <a:prstGeom prst="rect">
            <a:avLst/>
          </a:prstGeom>
        </p:spPr>
        <p:txBody>
          <a:bodyPr wrap="square">
            <a:spAutoFit/>
          </a:bodyPr>
          <a:lstStyle/>
          <a:p>
            <a:endParaRPr lang="en-IN" sz="2800" dirty="0"/>
          </a:p>
          <a:p>
            <a:r>
              <a:rPr lang="en-IN" sz="2800" dirty="0" err="1"/>
              <a:t>int</a:t>
            </a:r>
            <a:r>
              <a:rPr lang="en-IN" sz="2800" dirty="0"/>
              <a:t> fa0/1</a:t>
            </a:r>
          </a:p>
          <a:p>
            <a:r>
              <a:rPr lang="en-IN" sz="2800" dirty="0" err="1"/>
              <a:t>switchport</a:t>
            </a:r>
            <a:r>
              <a:rPr lang="en-IN" sz="2800" dirty="0"/>
              <a:t> mode access</a:t>
            </a:r>
          </a:p>
          <a:p>
            <a:r>
              <a:rPr lang="en-IN" sz="2800" dirty="0" err="1"/>
              <a:t>switchport</a:t>
            </a:r>
            <a:r>
              <a:rPr lang="en-IN" sz="2800" dirty="0"/>
              <a:t> access </a:t>
            </a:r>
            <a:r>
              <a:rPr lang="en-IN" sz="2800" dirty="0" err="1"/>
              <a:t>vlan</a:t>
            </a:r>
            <a:r>
              <a:rPr lang="en-IN" sz="2800" dirty="0"/>
              <a:t> 10</a:t>
            </a:r>
          </a:p>
          <a:p>
            <a:r>
              <a:rPr lang="en-IN" sz="2800" dirty="0"/>
              <a:t>ex</a:t>
            </a:r>
          </a:p>
          <a:p>
            <a:r>
              <a:rPr lang="en-IN" sz="2800" dirty="0" err="1"/>
              <a:t>int</a:t>
            </a:r>
            <a:r>
              <a:rPr lang="en-IN" sz="2800" dirty="0"/>
              <a:t> range fa/2-3</a:t>
            </a:r>
          </a:p>
          <a:p>
            <a:r>
              <a:rPr lang="en-IN" sz="2800" dirty="0" err="1"/>
              <a:t>switchport</a:t>
            </a:r>
            <a:r>
              <a:rPr lang="en-IN" sz="2800" dirty="0"/>
              <a:t> mode access</a:t>
            </a:r>
          </a:p>
          <a:p>
            <a:r>
              <a:rPr lang="en-IN" sz="2800" dirty="0" err="1"/>
              <a:t>switchport</a:t>
            </a:r>
            <a:r>
              <a:rPr lang="en-IN" sz="2800" dirty="0"/>
              <a:t> access </a:t>
            </a:r>
            <a:r>
              <a:rPr lang="en-IN" sz="2800" dirty="0" err="1"/>
              <a:t>vlan</a:t>
            </a:r>
            <a:r>
              <a:rPr lang="en-IN" sz="2800" dirty="0"/>
              <a:t> 20</a:t>
            </a:r>
          </a:p>
          <a:p>
            <a:r>
              <a:rPr lang="en-IN" sz="2800" dirty="0"/>
              <a:t>ex</a:t>
            </a:r>
          </a:p>
          <a:p>
            <a:r>
              <a:rPr lang="en-IN" sz="2800" dirty="0" err="1"/>
              <a:t>int</a:t>
            </a:r>
            <a:r>
              <a:rPr lang="en-IN" sz="2800" dirty="0"/>
              <a:t> fa0/4</a:t>
            </a:r>
          </a:p>
          <a:p>
            <a:r>
              <a:rPr lang="en-IN" sz="2800" dirty="0" err="1"/>
              <a:t>switchport</a:t>
            </a:r>
            <a:r>
              <a:rPr lang="en-IN" sz="2800" dirty="0"/>
              <a:t> mode access</a:t>
            </a:r>
          </a:p>
          <a:p>
            <a:r>
              <a:rPr lang="en-IN" sz="2800" dirty="0" err="1"/>
              <a:t>switchport</a:t>
            </a:r>
            <a:r>
              <a:rPr lang="en-IN" sz="2800" dirty="0"/>
              <a:t> access </a:t>
            </a:r>
            <a:r>
              <a:rPr lang="en-IN" sz="2800" dirty="0" err="1"/>
              <a:t>vlan</a:t>
            </a:r>
            <a:r>
              <a:rPr lang="en-IN" sz="2800" dirty="0"/>
              <a:t> 10</a:t>
            </a:r>
          </a:p>
          <a:p>
            <a:r>
              <a:rPr lang="en-IN" sz="2800" dirty="0"/>
              <a:t>ex</a:t>
            </a:r>
          </a:p>
          <a:p>
            <a:r>
              <a:rPr lang="en-IN" sz="2800" b="1" dirty="0" smtClean="0"/>
              <a:t>do show </a:t>
            </a:r>
            <a:r>
              <a:rPr lang="en-IN" sz="2800" b="1" dirty="0" err="1" smtClean="0"/>
              <a:t>vlan</a:t>
            </a:r>
            <a:endParaRPr lang="en-IN" sz="2800" b="1"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14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Trunk port</a:t>
            </a:r>
            <a:endParaRPr dirty="0"/>
          </a:p>
        </p:txBody>
      </p:sp>
      <p:sp>
        <p:nvSpPr>
          <p:cNvPr id="1192" name="Google Shape;1192;p148"/>
          <p:cNvSpPr txBox="1">
            <a:spLocks noGrp="1"/>
          </p:cNvSpPr>
          <p:nvPr>
            <p:ph type="body" idx="1"/>
          </p:nvPr>
        </p:nvSpPr>
        <p:spPr>
          <a:xfrm>
            <a:off x="457200" y="1600200"/>
            <a:ext cx="8229600" cy="5257800"/>
          </a:xfrm>
          <a:prstGeom prst="rect">
            <a:avLst/>
          </a:prstGeom>
          <a:noFill/>
          <a:ln>
            <a:noFill/>
          </a:ln>
        </p:spPr>
        <p:txBody>
          <a:bodyPr spcFirstLastPara="1" wrap="square" lIns="91425" tIns="45700" rIns="91425" bIns="45700" anchor="t" anchorCtr="0">
            <a:normAutofit fontScale="70000" lnSpcReduction="20000"/>
          </a:bodyPr>
          <a:lstStyle/>
          <a:p>
            <a:pPr marL="342900" lvl="0" indent="-342900" algn="l" rtl="0">
              <a:spcBef>
                <a:spcPts val="0"/>
              </a:spcBef>
              <a:spcAft>
                <a:spcPts val="0"/>
              </a:spcAft>
              <a:buClr>
                <a:schemeClr val="dk1"/>
              </a:buClr>
              <a:buSzPct val="100000"/>
              <a:buNone/>
            </a:pPr>
            <a:r>
              <a:rPr lang="en-US" dirty="0"/>
              <a:t>Switch 1</a:t>
            </a:r>
            <a:r>
              <a:rPr lang="en-US" dirty="0" smtClean="0"/>
              <a:t>: </a:t>
            </a:r>
            <a:endParaRPr dirty="0"/>
          </a:p>
          <a:p>
            <a:pPr marL="342900" lvl="0" indent="-342900" algn="l" rtl="0">
              <a:spcBef>
                <a:spcPts val="448"/>
              </a:spcBef>
              <a:spcAft>
                <a:spcPts val="0"/>
              </a:spcAft>
              <a:buClr>
                <a:schemeClr val="dk1"/>
              </a:buClr>
              <a:buSzPct val="100000"/>
              <a:buNone/>
            </a:pPr>
            <a:r>
              <a:rPr lang="en-US" dirty="0"/>
              <a:t>Interface fa0/7</a:t>
            </a:r>
            <a:endParaRPr dirty="0"/>
          </a:p>
          <a:p>
            <a:pPr marL="342900" lvl="0" indent="-342900" algn="l" rtl="0">
              <a:spcBef>
                <a:spcPts val="448"/>
              </a:spcBef>
              <a:spcAft>
                <a:spcPts val="0"/>
              </a:spcAft>
              <a:buClr>
                <a:schemeClr val="dk1"/>
              </a:buClr>
              <a:buSzPct val="100000"/>
              <a:buNone/>
            </a:pPr>
            <a:r>
              <a:rPr lang="en-US" dirty="0" err="1"/>
              <a:t>Switchport</a:t>
            </a:r>
            <a:r>
              <a:rPr lang="en-US" dirty="0"/>
              <a:t> mode trunk</a:t>
            </a:r>
            <a:endParaRPr dirty="0"/>
          </a:p>
          <a:p>
            <a:pPr marL="342900" lvl="0" indent="-342900" algn="l" rtl="0">
              <a:spcBef>
                <a:spcPts val="448"/>
              </a:spcBef>
              <a:spcAft>
                <a:spcPts val="0"/>
              </a:spcAft>
              <a:buClr>
                <a:schemeClr val="dk1"/>
              </a:buClr>
              <a:buSzPct val="100000"/>
              <a:buNone/>
            </a:pPr>
            <a:r>
              <a:rPr lang="en-US" dirty="0"/>
              <a:t>Exit</a:t>
            </a:r>
            <a:endParaRPr dirty="0"/>
          </a:p>
          <a:p>
            <a:pPr marL="342900" lvl="0" indent="-342900" algn="l" rtl="0">
              <a:spcBef>
                <a:spcPts val="448"/>
              </a:spcBef>
              <a:spcAft>
                <a:spcPts val="0"/>
              </a:spcAft>
              <a:buClr>
                <a:schemeClr val="dk1"/>
              </a:buClr>
              <a:buSzPct val="100000"/>
              <a:buNone/>
            </a:pPr>
            <a:r>
              <a:rPr lang="en-US" dirty="0" err="1"/>
              <a:t>Vtp</a:t>
            </a:r>
            <a:r>
              <a:rPr lang="en-US" dirty="0"/>
              <a:t> mode server</a:t>
            </a:r>
            <a:endParaRPr dirty="0"/>
          </a:p>
          <a:p>
            <a:pPr marL="342900" lvl="0" indent="-342900" algn="l" rtl="0">
              <a:spcBef>
                <a:spcPts val="448"/>
              </a:spcBef>
              <a:spcAft>
                <a:spcPts val="0"/>
              </a:spcAft>
              <a:buClr>
                <a:schemeClr val="dk1"/>
              </a:buClr>
              <a:buSzPct val="100000"/>
              <a:buNone/>
            </a:pPr>
            <a:r>
              <a:rPr lang="en-US" dirty="0" err="1"/>
              <a:t>Vtp</a:t>
            </a:r>
            <a:r>
              <a:rPr lang="en-US" dirty="0"/>
              <a:t> domain ns</a:t>
            </a:r>
            <a:endParaRPr dirty="0"/>
          </a:p>
          <a:p>
            <a:pPr marL="342900" lvl="0" indent="-342900" algn="l" rtl="0">
              <a:spcBef>
                <a:spcPts val="448"/>
              </a:spcBef>
              <a:spcAft>
                <a:spcPts val="0"/>
              </a:spcAft>
              <a:buClr>
                <a:schemeClr val="dk1"/>
              </a:buClr>
              <a:buSzPct val="100000"/>
              <a:buNone/>
            </a:pPr>
            <a:r>
              <a:rPr lang="en-US" dirty="0"/>
              <a:t>Do write</a:t>
            </a:r>
            <a:endParaRPr dirty="0"/>
          </a:p>
          <a:p>
            <a:pPr marL="342900" lvl="0" indent="-342900" algn="l" rtl="0">
              <a:spcBef>
                <a:spcPts val="448"/>
              </a:spcBef>
              <a:spcAft>
                <a:spcPts val="0"/>
              </a:spcAft>
              <a:buClr>
                <a:schemeClr val="dk1"/>
              </a:buClr>
              <a:buSzPct val="100000"/>
              <a:buNone/>
            </a:pPr>
            <a:endParaRPr dirty="0"/>
          </a:p>
          <a:p>
            <a:pPr marL="342900" lvl="0" indent="-342900" algn="l" rtl="0">
              <a:spcBef>
                <a:spcPts val="448"/>
              </a:spcBef>
              <a:spcAft>
                <a:spcPts val="0"/>
              </a:spcAft>
              <a:buClr>
                <a:schemeClr val="dk1"/>
              </a:buClr>
              <a:buSzPct val="100000"/>
              <a:buNone/>
            </a:pPr>
            <a:r>
              <a:rPr lang="en-US" dirty="0"/>
              <a:t>Switch2:</a:t>
            </a:r>
            <a:endParaRPr dirty="0"/>
          </a:p>
          <a:p>
            <a:pPr marL="342900" lvl="0" indent="-342900" algn="l" rtl="0">
              <a:spcBef>
                <a:spcPts val="448"/>
              </a:spcBef>
              <a:spcAft>
                <a:spcPts val="0"/>
              </a:spcAft>
              <a:buClr>
                <a:schemeClr val="dk1"/>
              </a:buClr>
              <a:buSzPct val="100000"/>
              <a:buNone/>
            </a:pPr>
            <a:r>
              <a:rPr lang="en-US" dirty="0"/>
              <a:t>Interface fa0/1</a:t>
            </a:r>
            <a:endParaRPr dirty="0"/>
          </a:p>
          <a:p>
            <a:pPr marL="342900" lvl="0" indent="-342900" algn="l" rtl="0">
              <a:spcBef>
                <a:spcPts val="448"/>
              </a:spcBef>
              <a:spcAft>
                <a:spcPts val="0"/>
              </a:spcAft>
              <a:buClr>
                <a:schemeClr val="dk1"/>
              </a:buClr>
              <a:buSzPct val="100000"/>
              <a:buNone/>
            </a:pPr>
            <a:r>
              <a:rPr lang="en-US" dirty="0" err="1"/>
              <a:t>Switchport</a:t>
            </a:r>
            <a:r>
              <a:rPr lang="en-US" dirty="0"/>
              <a:t> mode trunk</a:t>
            </a:r>
            <a:endParaRPr dirty="0"/>
          </a:p>
          <a:p>
            <a:pPr marL="342900" lvl="0" indent="-342900" algn="l" rtl="0">
              <a:spcBef>
                <a:spcPts val="448"/>
              </a:spcBef>
              <a:spcAft>
                <a:spcPts val="0"/>
              </a:spcAft>
              <a:buClr>
                <a:schemeClr val="dk1"/>
              </a:buClr>
              <a:buSzPct val="100000"/>
              <a:buNone/>
            </a:pPr>
            <a:r>
              <a:rPr lang="en-US" dirty="0"/>
              <a:t>Exit</a:t>
            </a:r>
            <a:endParaRPr dirty="0"/>
          </a:p>
          <a:p>
            <a:pPr marL="342900" lvl="0" indent="-342900" algn="l" rtl="0">
              <a:spcBef>
                <a:spcPts val="448"/>
              </a:spcBef>
              <a:spcAft>
                <a:spcPts val="0"/>
              </a:spcAft>
              <a:buClr>
                <a:schemeClr val="dk1"/>
              </a:buClr>
              <a:buSzPct val="100000"/>
              <a:buNone/>
            </a:pPr>
            <a:r>
              <a:rPr lang="en-US" dirty="0" err="1"/>
              <a:t>Vtp</a:t>
            </a:r>
            <a:r>
              <a:rPr lang="en-US" dirty="0"/>
              <a:t> mode client</a:t>
            </a:r>
            <a:endParaRPr dirty="0"/>
          </a:p>
          <a:p>
            <a:pPr marL="342900" lvl="0" indent="-342900" algn="l" rtl="0">
              <a:spcBef>
                <a:spcPts val="448"/>
              </a:spcBef>
              <a:spcAft>
                <a:spcPts val="0"/>
              </a:spcAft>
              <a:buClr>
                <a:schemeClr val="dk1"/>
              </a:buClr>
              <a:buSzPct val="100000"/>
              <a:buNone/>
            </a:pPr>
            <a:r>
              <a:rPr lang="en-US" dirty="0"/>
              <a:t>Do write</a:t>
            </a:r>
            <a:endParaRPr dirty="0"/>
          </a:p>
          <a:p>
            <a:pPr marL="342900" lvl="0" indent="-342900" algn="l" rtl="0">
              <a:spcBef>
                <a:spcPts val="448"/>
              </a:spcBef>
              <a:spcAft>
                <a:spcPts val="0"/>
              </a:spcAft>
              <a:buClr>
                <a:schemeClr val="dk1"/>
              </a:buClr>
              <a:buSzPct val="100000"/>
              <a:buNone/>
            </a:pPr>
            <a:r>
              <a:rPr lang="en-US" dirty="0"/>
              <a:t>Do show </a:t>
            </a:r>
            <a:r>
              <a:rPr lang="en-US" dirty="0" err="1"/>
              <a:t>vlan</a:t>
            </a:r>
            <a:endParaRPr dirty="0"/>
          </a:p>
        </p:txBody>
      </p:sp>
      <p:sp>
        <p:nvSpPr>
          <p:cNvPr id="1193" name="Google Shape;1193;p148"/>
          <p:cNvSpPr/>
          <p:nvPr/>
        </p:nvSpPr>
        <p:spPr>
          <a:xfrm>
            <a:off x="4343400" y="4038600"/>
            <a:ext cx="4572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4" name="Google Shape;1194;p148"/>
          <p:cNvSpPr/>
          <p:nvPr/>
        </p:nvSpPr>
        <p:spPr>
          <a:xfrm>
            <a:off x="4038600" y="2667000"/>
            <a:ext cx="1295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5" name="Google Shape;1195;p148"/>
          <p:cNvSpPr/>
          <p:nvPr/>
        </p:nvSpPr>
        <p:spPr>
          <a:xfrm>
            <a:off x="5105400" y="4038600"/>
            <a:ext cx="4572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6" name="Google Shape;1196;p148"/>
          <p:cNvSpPr/>
          <p:nvPr/>
        </p:nvSpPr>
        <p:spPr>
          <a:xfrm>
            <a:off x="5943600" y="4038600"/>
            <a:ext cx="4572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7" name="Google Shape;1197;p148"/>
          <p:cNvSpPr/>
          <p:nvPr/>
        </p:nvSpPr>
        <p:spPr>
          <a:xfrm>
            <a:off x="3429000" y="4038600"/>
            <a:ext cx="4572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8" name="Google Shape;1198;p148"/>
          <p:cNvSpPr/>
          <p:nvPr/>
        </p:nvSpPr>
        <p:spPr>
          <a:xfrm>
            <a:off x="2971800" y="3200400"/>
            <a:ext cx="4572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99" name="Google Shape;1199;p148"/>
          <p:cNvSpPr/>
          <p:nvPr/>
        </p:nvSpPr>
        <p:spPr>
          <a:xfrm>
            <a:off x="6477000" y="3124200"/>
            <a:ext cx="4572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00" name="Google Shape;1200;p148"/>
          <p:cNvCxnSpPr>
            <a:stCxn id="1198" idx="3"/>
            <a:endCxn id="1194" idx="2"/>
          </p:cNvCxnSpPr>
          <p:nvPr/>
        </p:nvCxnSpPr>
        <p:spPr>
          <a:xfrm rot="10800000" flipH="1">
            <a:off x="3429000" y="3048000"/>
            <a:ext cx="1257300" cy="342900"/>
          </a:xfrm>
          <a:prstGeom prst="straightConnector1">
            <a:avLst/>
          </a:prstGeom>
          <a:noFill/>
          <a:ln w="9525" cap="flat" cmpd="sng">
            <a:solidFill>
              <a:srgbClr val="4A7DBA"/>
            </a:solidFill>
            <a:prstDash val="solid"/>
            <a:round/>
            <a:headEnd type="none" w="sm" len="sm"/>
            <a:tailEnd type="none" w="sm" len="sm"/>
          </a:ln>
        </p:spPr>
      </p:cxnSp>
      <p:cxnSp>
        <p:nvCxnSpPr>
          <p:cNvPr id="1201" name="Google Shape;1201;p148"/>
          <p:cNvCxnSpPr>
            <a:stCxn id="1197" idx="0"/>
            <a:endCxn id="1194" idx="2"/>
          </p:cNvCxnSpPr>
          <p:nvPr/>
        </p:nvCxnSpPr>
        <p:spPr>
          <a:xfrm rot="10800000" flipH="1">
            <a:off x="3657600" y="3048000"/>
            <a:ext cx="1028700" cy="990600"/>
          </a:xfrm>
          <a:prstGeom prst="straightConnector1">
            <a:avLst/>
          </a:prstGeom>
          <a:noFill/>
          <a:ln w="9525" cap="flat" cmpd="sng">
            <a:solidFill>
              <a:srgbClr val="4A7DBA"/>
            </a:solidFill>
            <a:prstDash val="solid"/>
            <a:round/>
            <a:headEnd type="none" w="sm" len="sm"/>
            <a:tailEnd type="none" w="sm" len="sm"/>
          </a:ln>
        </p:spPr>
      </p:cxnSp>
      <p:cxnSp>
        <p:nvCxnSpPr>
          <p:cNvPr id="1202" name="Google Shape;1202;p148"/>
          <p:cNvCxnSpPr>
            <a:stCxn id="1193" idx="0"/>
          </p:cNvCxnSpPr>
          <p:nvPr/>
        </p:nvCxnSpPr>
        <p:spPr>
          <a:xfrm rot="10800000" flipH="1">
            <a:off x="4572000" y="3124200"/>
            <a:ext cx="114300" cy="914400"/>
          </a:xfrm>
          <a:prstGeom prst="straightConnector1">
            <a:avLst/>
          </a:prstGeom>
          <a:noFill/>
          <a:ln w="9525" cap="flat" cmpd="sng">
            <a:solidFill>
              <a:srgbClr val="4A7DBA"/>
            </a:solidFill>
            <a:prstDash val="solid"/>
            <a:round/>
            <a:headEnd type="none" w="sm" len="sm"/>
            <a:tailEnd type="none" w="sm" len="sm"/>
          </a:ln>
        </p:spPr>
      </p:cxnSp>
      <p:cxnSp>
        <p:nvCxnSpPr>
          <p:cNvPr id="1203" name="Google Shape;1203;p148"/>
          <p:cNvCxnSpPr>
            <a:stCxn id="1195" idx="0"/>
            <a:endCxn id="1194" idx="2"/>
          </p:cNvCxnSpPr>
          <p:nvPr/>
        </p:nvCxnSpPr>
        <p:spPr>
          <a:xfrm rot="10800000">
            <a:off x="4686300" y="3048000"/>
            <a:ext cx="647700" cy="990600"/>
          </a:xfrm>
          <a:prstGeom prst="straightConnector1">
            <a:avLst/>
          </a:prstGeom>
          <a:noFill/>
          <a:ln w="9525" cap="flat" cmpd="sng">
            <a:solidFill>
              <a:srgbClr val="4A7DBA"/>
            </a:solidFill>
            <a:prstDash val="solid"/>
            <a:round/>
            <a:headEnd type="none" w="sm" len="sm"/>
            <a:tailEnd type="none" w="sm" len="sm"/>
          </a:ln>
        </p:spPr>
      </p:cxnSp>
      <p:cxnSp>
        <p:nvCxnSpPr>
          <p:cNvPr id="1204" name="Google Shape;1204;p148"/>
          <p:cNvCxnSpPr>
            <a:stCxn id="1199" idx="1"/>
            <a:endCxn id="1194" idx="2"/>
          </p:cNvCxnSpPr>
          <p:nvPr/>
        </p:nvCxnSpPr>
        <p:spPr>
          <a:xfrm rot="10800000">
            <a:off x="4686300" y="3048000"/>
            <a:ext cx="1790700" cy="266700"/>
          </a:xfrm>
          <a:prstGeom prst="straightConnector1">
            <a:avLst/>
          </a:prstGeom>
          <a:noFill/>
          <a:ln w="9525" cap="flat" cmpd="sng">
            <a:solidFill>
              <a:srgbClr val="4A7DBA"/>
            </a:solidFill>
            <a:prstDash val="solid"/>
            <a:round/>
            <a:headEnd type="none" w="sm" len="sm"/>
            <a:tailEnd type="none" w="sm" len="sm"/>
          </a:ln>
        </p:spPr>
      </p:cxnSp>
      <p:cxnSp>
        <p:nvCxnSpPr>
          <p:cNvPr id="1205" name="Google Shape;1205;p148"/>
          <p:cNvCxnSpPr>
            <a:stCxn id="1196" idx="0"/>
            <a:endCxn id="1194" idx="2"/>
          </p:cNvCxnSpPr>
          <p:nvPr/>
        </p:nvCxnSpPr>
        <p:spPr>
          <a:xfrm rot="10800000">
            <a:off x="4686300" y="3048000"/>
            <a:ext cx="1485900" cy="990600"/>
          </a:xfrm>
          <a:prstGeom prst="straightConnector1">
            <a:avLst/>
          </a:prstGeom>
          <a:noFill/>
          <a:ln w="9525" cap="flat" cmpd="sng">
            <a:solidFill>
              <a:srgbClr val="4A7DBA"/>
            </a:solidFill>
            <a:prstDash val="solid"/>
            <a:round/>
            <a:headEnd type="none" w="sm" len="sm"/>
            <a:tailEnd type="none" w="sm" len="sm"/>
          </a:ln>
        </p:spPr>
      </p:cxnSp>
      <p:sp>
        <p:nvSpPr>
          <p:cNvPr id="1206" name="Google Shape;1206;p148"/>
          <p:cNvSpPr/>
          <p:nvPr/>
        </p:nvSpPr>
        <p:spPr>
          <a:xfrm>
            <a:off x="7467600" y="2209800"/>
            <a:ext cx="13716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207" name="Google Shape;1207;p148"/>
          <p:cNvCxnSpPr>
            <a:stCxn id="1194" idx="3"/>
            <a:endCxn id="1206" idx="1"/>
          </p:cNvCxnSpPr>
          <p:nvPr/>
        </p:nvCxnSpPr>
        <p:spPr>
          <a:xfrm rot="10800000" flipH="1">
            <a:off x="5334000" y="2400300"/>
            <a:ext cx="2133600" cy="457200"/>
          </a:xfrm>
          <a:prstGeom prst="straightConnector1">
            <a:avLst/>
          </a:prstGeom>
          <a:noFill/>
          <a:ln w="9525" cap="flat" cmpd="sng">
            <a:solidFill>
              <a:srgbClr val="4A7DBA"/>
            </a:solidFill>
            <a:prstDash val="solid"/>
            <a:round/>
            <a:headEnd type="none" w="sm" len="sm"/>
            <a:tailEnd type="none" w="sm" len="sm"/>
          </a:ln>
        </p:spPr>
      </p:cxnSp>
      <p:sp>
        <p:nvSpPr>
          <p:cNvPr id="2" name="TextBox 1"/>
          <p:cNvSpPr txBox="1"/>
          <p:nvPr/>
        </p:nvSpPr>
        <p:spPr>
          <a:xfrm>
            <a:off x="4080681" y="2209800"/>
            <a:ext cx="862737" cy="307777"/>
          </a:xfrm>
          <a:prstGeom prst="rect">
            <a:avLst/>
          </a:prstGeom>
          <a:noFill/>
        </p:spPr>
        <p:txBody>
          <a:bodyPr wrap="none" rtlCol="0">
            <a:spAutoFit/>
          </a:bodyPr>
          <a:lstStyle/>
          <a:p>
            <a:r>
              <a:rPr lang="en-US" dirty="0" smtClean="0"/>
              <a:t>Switch 1</a:t>
            </a:r>
            <a:endParaRPr lang="en-IN" dirty="0"/>
          </a:p>
        </p:txBody>
      </p:sp>
      <p:sp>
        <p:nvSpPr>
          <p:cNvPr id="21" name="TextBox 20"/>
          <p:cNvSpPr txBox="1"/>
          <p:nvPr/>
        </p:nvSpPr>
        <p:spPr>
          <a:xfrm>
            <a:off x="7704162" y="1902023"/>
            <a:ext cx="862737" cy="307777"/>
          </a:xfrm>
          <a:prstGeom prst="rect">
            <a:avLst/>
          </a:prstGeom>
          <a:noFill/>
        </p:spPr>
        <p:txBody>
          <a:bodyPr wrap="none" rtlCol="0">
            <a:spAutoFit/>
          </a:bodyPr>
          <a:lstStyle/>
          <a:p>
            <a:r>
              <a:rPr lang="en-US" dirty="0" smtClean="0"/>
              <a:t>Switch 2</a:t>
            </a:r>
            <a:endParaRPr lang="en-IN"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211"/>
        <p:cNvGrpSpPr/>
        <p:nvPr/>
      </p:nvGrpSpPr>
      <p:grpSpPr>
        <a:xfrm>
          <a:off x="0" y="0"/>
          <a:ext cx="0" cy="0"/>
          <a:chOff x="0" y="0"/>
          <a:chExt cx="0" cy="0"/>
        </a:xfrm>
      </p:grpSpPr>
      <p:sp>
        <p:nvSpPr>
          <p:cNvPr id="1212" name="Google Shape;1212;p149"/>
          <p:cNvSpPr txBox="1">
            <a:spLocks noGrp="1"/>
          </p:cNvSpPr>
          <p:nvPr>
            <p:ph type="title"/>
          </p:nvPr>
        </p:nvSpPr>
        <p:spPr>
          <a:xfrm>
            <a:off x="457200" y="64969"/>
            <a:ext cx="8229600" cy="59055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b="1" u="sng" dirty="0"/>
              <a:t>Inter </a:t>
            </a:r>
            <a:r>
              <a:rPr lang="en-US" b="1" u="sng" dirty="0" smtClean="0"/>
              <a:t>VLAN</a:t>
            </a:r>
            <a:endParaRPr b="1" u="sng" dirty="0"/>
          </a:p>
        </p:txBody>
      </p:sp>
      <p:sp>
        <p:nvSpPr>
          <p:cNvPr id="1213" name="Google Shape;1213;p149"/>
          <p:cNvSpPr txBox="1">
            <a:spLocks noGrp="1"/>
          </p:cNvSpPr>
          <p:nvPr>
            <p:ph type="body" idx="1"/>
          </p:nvPr>
        </p:nvSpPr>
        <p:spPr>
          <a:xfrm>
            <a:off x="354843" y="777922"/>
            <a:ext cx="8639032" cy="5581935"/>
          </a:xfrm>
          <a:prstGeom prst="rect">
            <a:avLst/>
          </a:prstGeom>
          <a:noFill/>
          <a:ln>
            <a:noFill/>
          </a:ln>
        </p:spPr>
        <p:txBody>
          <a:bodyPr spcFirstLastPara="1" wrap="square" lIns="91425" tIns="45700" rIns="91425" bIns="45700" anchor="t" anchorCtr="0">
            <a:normAutofit lnSpcReduction="10000"/>
          </a:bodyPr>
          <a:lstStyle/>
          <a:p>
            <a:pPr lvl="0" indent="-457200">
              <a:spcBef>
                <a:spcPts val="0"/>
              </a:spcBef>
              <a:buSzPct val="100000"/>
              <a:buFont typeface="Wingdings" panose="05000000000000000000" pitchFamily="2" charset="2"/>
              <a:buChar char="q"/>
            </a:pPr>
            <a:r>
              <a:rPr lang="en-US" sz="2800" b="1" dirty="0" smtClean="0"/>
              <a:t>Create a VLAN in switch without IP</a:t>
            </a:r>
          </a:p>
          <a:p>
            <a:pPr lvl="0" indent="-457200">
              <a:spcBef>
                <a:spcPts val="0"/>
              </a:spcBef>
              <a:buSzPct val="100000"/>
              <a:buFont typeface="Wingdings" panose="05000000000000000000" pitchFamily="2" charset="2"/>
              <a:buChar char="q"/>
            </a:pPr>
            <a:r>
              <a:rPr lang="en-US" sz="2800" b="1" dirty="0" smtClean="0"/>
              <a:t>Place </a:t>
            </a:r>
            <a:r>
              <a:rPr lang="en-US" sz="2800" b="1" dirty="0"/>
              <a:t>Router</a:t>
            </a:r>
          </a:p>
          <a:p>
            <a:pPr lvl="0" indent="-457200">
              <a:spcBef>
                <a:spcPts val="0"/>
              </a:spcBef>
              <a:buSzPct val="100000"/>
              <a:buFont typeface="Wingdings" panose="05000000000000000000" pitchFamily="2" charset="2"/>
              <a:buChar char="q"/>
            </a:pPr>
            <a:r>
              <a:rPr lang="en-US" sz="2800" b="1" dirty="0"/>
              <a:t>Just lineup </a:t>
            </a:r>
            <a:r>
              <a:rPr lang="en-US" sz="2800" b="1" dirty="0" smtClean="0"/>
              <a:t>Router without IP</a:t>
            </a:r>
            <a:endParaRPr lang="en-US" sz="2800" b="1" dirty="0"/>
          </a:p>
          <a:p>
            <a:pPr lvl="0" indent="-457200">
              <a:spcBef>
                <a:spcPts val="0"/>
              </a:spcBef>
              <a:buSzPct val="100000"/>
              <a:buFont typeface="Wingdings" panose="05000000000000000000" pitchFamily="2" charset="2"/>
              <a:buChar char="q"/>
            </a:pPr>
            <a:r>
              <a:rPr lang="en-US" sz="2800" b="1" dirty="0" smtClean="0"/>
              <a:t>Encapsulate </a:t>
            </a:r>
            <a:r>
              <a:rPr lang="en-US" sz="2800" b="1" dirty="0"/>
              <a:t>VLAN</a:t>
            </a:r>
          </a:p>
          <a:p>
            <a:pPr lvl="0" indent="-457200">
              <a:spcBef>
                <a:spcPts val="0"/>
              </a:spcBef>
              <a:buSzPct val="100000"/>
              <a:buFont typeface="Wingdings" panose="05000000000000000000" pitchFamily="2" charset="2"/>
              <a:buChar char="q"/>
            </a:pPr>
            <a:r>
              <a:rPr lang="en-US" sz="2800" b="1" dirty="0"/>
              <a:t>Assign IP </a:t>
            </a:r>
            <a:r>
              <a:rPr lang="en-US" sz="2800" b="1" dirty="0" smtClean="0"/>
              <a:t>&amp; Gateway to PC’s </a:t>
            </a:r>
            <a:r>
              <a:rPr lang="en-US" sz="2800" b="1" dirty="0"/>
              <a:t>according to encapsulation </a:t>
            </a:r>
          </a:p>
          <a:p>
            <a:pPr marL="342900" lvl="0">
              <a:spcBef>
                <a:spcPts val="0"/>
              </a:spcBef>
              <a:buSzPct val="100000"/>
              <a:buNone/>
            </a:pPr>
            <a:endParaRPr lang="en-US" dirty="0"/>
          </a:p>
          <a:p>
            <a:pPr marL="342900" lvl="0">
              <a:spcBef>
                <a:spcPts val="0"/>
              </a:spcBef>
              <a:buSzPct val="100000"/>
              <a:buNone/>
            </a:pPr>
            <a:r>
              <a:rPr lang="en-US" b="1" u="sng" dirty="0"/>
              <a:t>R1</a:t>
            </a:r>
          </a:p>
          <a:p>
            <a:pPr marL="342900" lvl="0">
              <a:spcBef>
                <a:spcPts val="0"/>
              </a:spcBef>
              <a:buSzPct val="100000"/>
              <a:buNone/>
            </a:pPr>
            <a:r>
              <a:rPr lang="en-US" dirty="0" err="1"/>
              <a:t>en</a:t>
            </a:r>
            <a:endParaRPr lang="en-US" dirty="0"/>
          </a:p>
          <a:p>
            <a:pPr marL="342900" lvl="0">
              <a:spcBef>
                <a:spcPts val="0"/>
              </a:spcBef>
              <a:buSzPct val="100000"/>
              <a:buNone/>
            </a:pPr>
            <a:r>
              <a:rPr lang="en-US" dirty="0" err="1"/>
              <a:t>config</a:t>
            </a:r>
            <a:r>
              <a:rPr lang="en-US" dirty="0"/>
              <a:t> t</a:t>
            </a:r>
          </a:p>
          <a:p>
            <a:pPr marL="342900" lvl="0">
              <a:spcBef>
                <a:spcPts val="0"/>
              </a:spcBef>
              <a:buSzPct val="100000"/>
              <a:buNone/>
            </a:pPr>
            <a:r>
              <a:rPr lang="en-US" dirty="0" err="1"/>
              <a:t>int</a:t>
            </a:r>
            <a:r>
              <a:rPr lang="en-US" dirty="0"/>
              <a:t> gig0/0/0</a:t>
            </a:r>
          </a:p>
          <a:p>
            <a:pPr marL="342900" lvl="0">
              <a:spcBef>
                <a:spcPts val="0"/>
              </a:spcBef>
              <a:buSzPct val="100000"/>
              <a:buNone/>
            </a:pPr>
            <a:r>
              <a:rPr lang="en-US" dirty="0"/>
              <a:t>no shut</a:t>
            </a:r>
          </a:p>
          <a:p>
            <a:pPr marL="342900" lvl="0">
              <a:spcBef>
                <a:spcPts val="0"/>
              </a:spcBef>
              <a:buSzPct val="100000"/>
              <a:buNone/>
            </a:pPr>
            <a:r>
              <a:rPr lang="en-US" dirty="0"/>
              <a:t>ex</a:t>
            </a:r>
            <a:endParaRPr dirty="0"/>
          </a:p>
          <a:p>
            <a:pPr marL="342900" lvl="0" indent="-342900" algn="l" rtl="0">
              <a:spcBef>
                <a:spcPts val="496"/>
              </a:spcBef>
              <a:spcAft>
                <a:spcPts val="0"/>
              </a:spcAft>
              <a:buClr>
                <a:schemeClr val="dk1"/>
              </a:buClr>
              <a:buSzPct val="100000"/>
              <a:buNone/>
            </a:pPr>
            <a:endParaRPr dirty="0"/>
          </a:p>
        </p:txBody>
      </p:sp>
      <p:sp>
        <p:nvSpPr>
          <p:cNvPr id="54" name="Google Shape;1164;p145"/>
          <p:cNvSpPr/>
          <p:nvPr/>
        </p:nvSpPr>
        <p:spPr>
          <a:xfrm>
            <a:off x="5777836" y="5206052"/>
            <a:ext cx="457200" cy="381000"/>
          </a:xfrm>
          <a:prstGeom prst="rect">
            <a:avLst/>
          </a:prstGeom>
          <a:ln>
            <a:headEnd type="none" w="sm" len="sm"/>
            <a:tailEnd type="none" w="sm" len="sm"/>
          </a:ln>
        </p:spPr>
        <p:style>
          <a:lnRef idx="2">
            <a:schemeClr val="accent2">
              <a:shade val="50000"/>
            </a:schemeClr>
          </a:lnRef>
          <a:fillRef idx="1">
            <a:schemeClr val="accent2"/>
          </a:fillRef>
          <a:effectRef idx="0">
            <a:schemeClr val="accent2"/>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20</a:t>
            </a:r>
            <a:endParaRPr sz="1800" dirty="0">
              <a:solidFill>
                <a:schemeClr val="lt1"/>
              </a:solidFill>
              <a:latin typeface="Calibri"/>
              <a:ea typeface="Calibri"/>
              <a:cs typeface="Calibri"/>
              <a:sym typeface="Calibri"/>
            </a:endParaRPr>
          </a:p>
        </p:txBody>
      </p:sp>
      <p:sp>
        <p:nvSpPr>
          <p:cNvPr id="55" name="Google Shape;1165;p145"/>
          <p:cNvSpPr/>
          <p:nvPr/>
        </p:nvSpPr>
        <p:spPr>
          <a:xfrm>
            <a:off x="4730086" y="3507475"/>
            <a:ext cx="1295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dirty="0" smtClean="0">
                <a:solidFill>
                  <a:schemeClr val="lt1"/>
                </a:solidFill>
                <a:latin typeface="Calibri"/>
                <a:ea typeface="Calibri"/>
                <a:cs typeface="Calibri"/>
                <a:sym typeface="Calibri"/>
              </a:rPr>
              <a:t>SWITCH</a:t>
            </a:r>
            <a:endParaRPr sz="1800" b="1" dirty="0">
              <a:solidFill>
                <a:schemeClr val="lt1"/>
              </a:solidFill>
              <a:latin typeface="Calibri"/>
              <a:ea typeface="Calibri"/>
              <a:cs typeface="Calibri"/>
              <a:sym typeface="Calibri"/>
            </a:endParaRPr>
          </a:p>
        </p:txBody>
      </p:sp>
      <p:sp>
        <p:nvSpPr>
          <p:cNvPr id="56" name="Google Shape;1166;p145"/>
          <p:cNvSpPr/>
          <p:nvPr/>
        </p:nvSpPr>
        <p:spPr>
          <a:xfrm>
            <a:off x="6870794" y="4040875"/>
            <a:ext cx="457200" cy="381000"/>
          </a:xfrm>
          <a:prstGeom prst="rect">
            <a:avLst/>
          </a:prstGeom>
          <a:ln>
            <a:headEnd type="none" w="sm" len="sm"/>
            <a:tailEnd type="none" w="sm" len="sm"/>
          </a:ln>
        </p:spPr>
        <p:style>
          <a:lnRef idx="2">
            <a:schemeClr val="accent3">
              <a:shade val="50000"/>
            </a:schemeClr>
          </a:lnRef>
          <a:fillRef idx="1">
            <a:schemeClr val="accent3"/>
          </a:fillRef>
          <a:effectRef idx="0">
            <a:schemeClr val="accent3"/>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30</a:t>
            </a:r>
            <a:endParaRPr sz="1800" dirty="0">
              <a:solidFill>
                <a:schemeClr val="lt1"/>
              </a:solidFill>
              <a:latin typeface="Calibri"/>
              <a:ea typeface="Calibri"/>
              <a:cs typeface="Calibri"/>
              <a:sym typeface="Calibri"/>
            </a:endParaRPr>
          </a:p>
        </p:txBody>
      </p:sp>
      <p:sp>
        <p:nvSpPr>
          <p:cNvPr id="57" name="Google Shape;1168;p145"/>
          <p:cNvSpPr/>
          <p:nvPr/>
        </p:nvSpPr>
        <p:spPr>
          <a:xfrm>
            <a:off x="4520536" y="5243869"/>
            <a:ext cx="457200" cy="381000"/>
          </a:xfrm>
          <a:prstGeom prst="rect">
            <a:avLst/>
          </a:prstGeom>
          <a:ln>
            <a:headEnd type="none" w="sm" len="sm"/>
            <a:tailEnd type="none" w="sm" len="sm"/>
          </a:ln>
        </p:spPr>
        <p:style>
          <a:lnRef idx="2">
            <a:schemeClr val="accent2">
              <a:shade val="50000"/>
            </a:schemeClr>
          </a:lnRef>
          <a:fillRef idx="1">
            <a:schemeClr val="accent2"/>
          </a:fillRef>
          <a:effectRef idx="0">
            <a:schemeClr val="accent2"/>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20</a:t>
            </a:r>
            <a:endParaRPr sz="1800" dirty="0">
              <a:solidFill>
                <a:schemeClr val="lt1"/>
              </a:solidFill>
              <a:latin typeface="Calibri"/>
              <a:ea typeface="Calibri"/>
              <a:cs typeface="Calibri"/>
              <a:sym typeface="Calibri"/>
            </a:endParaRPr>
          </a:p>
        </p:txBody>
      </p:sp>
      <p:sp>
        <p:nvSpPr>
          <p:cNvPr id="58" name="Google Shape;1169;p145"/>
          <p:cNvSpPr/>
          <p:nvPr/>
        </p:nvSpPr>
        <p:spPr>
          <a:xfrm>
            <a:off x="3663286" y="4040875"/>
            <a:ext cx="457200" cy="381000"/>
          </a:xfrm>
          <a:prstGeom prst="rect">
            <a:avLst/>
          </a:prstGeom>
          <a:ln>
            <a:headEnd type="none" w="sm" len="sm"/>
            <a:tailEnd type="none" w="sm" len="sm"/>
          </a:ln>
        </p:spPr>
        <p:style>
          <a:lnRef idx="2">
            <a:schemeClr val="accent4">
              <a:shade val="50000"/>
            </a:schemeClr>
          </a:lnRef>
          <a:fillRef idx="1">
            <a:schemeClr val="accent4"/>
          </a:fillRef>
          <a:effectRef idx="0">
            <a:schemeClr val="accent4"/>
          </a:effectRef>
          <a:fontRef idx="minor">
            <a:schemeClr val="lt1"/>
          </a:fontRef>
        </p:style>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10</a:t>
            </a:r>
            <a:endParaRPr sz="1800" dirty="0">
              <a:solidFill>
                <a:schemeClr val="lt1"/>
              </a:solidFill>
              <a:latin typeface="Calibri"/>
              <a:ea typeface="Calibri"/>
              <a:cs typeface="Calibri"/>
              <a:sym typeface="Calibri"/>
            </a:endParaRPr>
          </a:p>
        </p:txBody>
      </p:sp>
      <p:cxnSp>
        <p:nvCxnSpPr>
          <p:cNvPr id="59" name="Google Shape;1171;p145"/>
          <p:cNvCxnSpPr>
            <a:stCxn id="58" idx="3"/>
            <a:endCxn id="55" idx="2"/>
          </p:cNvCxnSpPr>
          <p:nvPr/>
        </p:nvCxnSpPr>
        <p:spPr>
          <a:xfrm rot="10800000" flipH="1">
            <a:off x="4120486" y="3888475"/>
            <a:ext cx="1257300" cy="342900"/>
          </a:xfrm>
          <a:prstGeom prst="straightConnector1">
            <a:avLst/>
          </a:prstGeom>
          <a:noFill/>
          <a:ln w="9525" cap="flat" cmpd="sng">
            <a:solidFill>
              <a:srgbClr val="4A7DBA"/>
            </a:solidFill>
            <a:prstDash val="solid"/>
            <a:round/>
            <a:headEnd type="none" w="sm" len="sm"/>
            <a:tailEnd type="none" w="sm" len="sm"/>
          </a:ln>
        </p:spPr>
      </p:cxnSp>
      <p:cxnSp>
        <p:nvCxnSpPr>
          <p:cNvPr id="60" name="Google Shape;1172;p145"/>
          <p:cNvCxnSpPr>
            <a:stCxn id="57" idx="0"/>
            <a:endCxn id="55" idx="2"/>
          </p:cNvCxnSpPr>
          <p:nvPr/>
        </p:nvCxnSpPr>
        <p:spPr>
          <a:xfrm flipV="1">
            <a:off x="4749136" y="3888475"/>
            <a:ext cx="628650" cy="1355394"/>
          </a:xfrm>
          <a:prstGeom prst="straightConnector1">
            <a:avLst/>
          </a:prstGeom>
          <a:noFill/>
          <a:ln w="9525" cap="flat" cmpd="sng">
            <a:solidFill>
              <a:srgbClr val="4A7DBA"/>
            </a:solidFill>
            <a:prstDash val="solid"/>
            <a:round/>
            <a:headEnd type="none" w="sm" len="sm"/>
            <a:tailEnd type="none" w="sm" len="sm"/>
          </a:ln>
        </p:spPr>
      </p:cxnSp>
      <p:cxnSp>
        <p:nvCxnSpPr>
          <p:cNvPr id="61" name="Google Shape;1173;p145"/>
          <p:cNvCxnSpPr>
            <a:stCxn id="54" idx="0"/>
            <a:endCxn id="55" idx="2"/>
          </p:cNvCxnSpPr>
          <p:nvPr/>
        </p:nvCxnSpPr>
        <p:spPr>
          <a:xfrm flipH="1" flipV="1">
            <a:off x="5377786" y="3888475"/>
            <a:ext cx="628650" cy="1317577"/>
          </a:xfrm>
          <a:prstGeom prst="straightConnector1">
            <a:avLst/>
          </a:prstGeom>
          <a:noFill/>
          <a:ln w="9525" cap="flat" cmpd="sng">
            <a:solidFill>
              <a:srgbClr val="4A7DBA"/>
            </a:solidFill>
            <a:prstDash val="solid"/>
            <a:round/>
            <a:headEnd type="none" w="sm" len="sm"/>
            <a:tailEnd type="none" w="sm" len="sm"/>
          </a:ln>
        </p:spPr>
      </p:cxnSp>
      <p:cxnSp>
        <p:nvCxnSpPr>
          <p:cNvPr id="62" name="Google Shape;1174;p145"/>
          <p:cNvCxnSpPr>
            <a:stCxn id="56" idx="1"/>
            <a:endCxn id="55" idx="2"/>
          </p:cNvCxnSpPr>
          <p:nvPr/>
        </p:nvCxnSpPr>
        <p:spPr>
          <a:xfrm flipH="1" flipV="1">
            <a:off x="5377786" y="3888475"/>
            <a:ext cx="1493008" cy="342900"/>
          </a:xfrm>
          <a:prstGeom prst="straightConnector1">
            <a:avLst/>
          </a:prstGeom>
          <a:noFill/>
          <a:ln w="9525" cap="flat" cmpd="sng">
            <a:solidFill>
              <a:srgbClr val="4A7DBA"/>
            </a:solidFill>
            <a:prstDash val="solid"/>
            <a:round/>
            <a:headEnd type="none" w="sm" len="sm"/>
            <a:tailEnd type="none" w="sm" len="sm"/>
          </a:ln>
        </p:spPr>
      </p:cxnSp>
      <p:sp>
        <p:nvSpPr>
          <p:cNvPr id="63" name="TextBox 62"/>
          <p:cNvSpPr txBox="1"/>
          <p:nvPr/>
        </p:nvSpPr>
        <p:spPr>
          <a:xfrm>
            <a:off x="3016155" y="4547263"/>
            <a:ext cx="1128835" cy="307777"/>
          </a:xfrm>
          <a:prstGeom prst="rect">
            <a:avLst/>
          </a:prstGeom>
          <a:noFill/>
        </p:spPr>
        <p:txBody>
          <a:bodyPr wrap="none" rtlCol="0">
            <a:spAutoFit/>
          </a:bodyPr>
          <a:lstStyle/>
          <a:p>
            <a:r>
              <a:rPr lang="en-US" dirty="0" smtClean="0"/>
              <a:t>192.168.1.2</a:t>
            </a:r>
            <a:endParaRPr lang="en-IN" dirty="0"/>
          </a:p>
        </p:txBody>
      </p:sp>
      <p:sp>
        <p:nvSpPr>
          <p:cNvPr id="64" name="TextBox 63"/>
          <p:cNvSpPr txBox="1"/>
          <p:nvPr/>
        </p:nvSpPr>
        <p:spPr>
          <a:xfrm>
            <a:off x="4184718" y="5689409"/>
            <a:ext cx="1128835" cy="307777"/>
          </a:xfrm>
          <a:prstGeom prst="rect">
            <a:avLst/>
          </a:prstGeom>
          <a:noFill/>
        </p:spPr>
        <p:txBody>
          <a:bodyPr wrap="none" rtlCol="0">
            <a:spAutoFit/>
          </a:bodyPr>
          <a:lstStyle/>
          <a:p>
            <a:r>
              <a:rPr lang="en-US" dirty="0" smtClean="0"/>
              <a:t>192.168.2.2</a:t>
            </a:r>
            <a:endParaRPr lang="en-IN" dirty="0"/>
          </a:p>
        </p:txBody>
      </p:sp>
      <p:sp>
        <p:nvSpPr>
          <p:cNvPr id="65" name="TextBox 64"/>
          <p:cNvSpPr txBox="1"/>
          <p:nvPr/>
        </p:nvSpPr>
        <p:spPr>
          <a:xfrm>
            <a:off x="5455084" y="5688404"/>
            <a:ext cx="1128835" cy="307777"/>
          </a:xfrm>
          <a:prstGeom prst="rect">
            <a:avLst/>
          </a:prstGeom>
          <a:noFill/>
        </p:spPr>
        <p:txBody>
          <a:bodyPr wrap="none" rtlCol="0">
            <a:spAutoFit/>
          </a:bodyPr>
          <a:lstStyle/>
          <a:p>
            <a:r>
              <a:rPr lang="en-US" dirty="0" smtClean="0"/>
              <a:t>192.168.2.3</a:t>
            </a:r>
            <a:endParaRPr lang="en-IN" dirty="0"/>
          </a:p>
        </p:txBody>
      </p:sp>
      <p:sp>
        <p:nvSpPr>
          <p:cNvPr id="66" name="TextBox 65"/>
          <p:cNvSpPr txBox="1"/>
          <p:nvPr/>
        </p:nvSpPr>
        <p:spPr>
          <a:xfrm>
            <a:off x="6475670" y="4522222"/>
            <a:ext cx="1128835" cy="307777"/>
          </a:xfrm>
          <a:prstGeom prst="rect">
            <a:avLst/>
          </a:prstGeom>
          <a:noFill/>
        </p:spPr>
        <p:txBody>
          <a:bodyPr wrap="none" rtlCol="0">
            <a:spAutoFit/>
          </a:bodyPr>
          <a:lstStyle/>
          <a:p>
            <a:r>
              <a:rPr lang="en-US" dirty="0" smtClean="0"/>
              <a:t>192.168.3.2</a:t>
            </a:r>
            <a:endParaRPr lang="en-IN" dirty="0"/>
          </a:p>
        </p:txBody>
      </p:sp>
      <p:sp>
        <p:nvSpPr>
          <p:cNvPr id="67" name="TextBox 66"/>
          <p:cNvSpPr txBox="1"/>
          <p:nvPr/>
        </p:nvSpPr>
        <p:spPr>
          <a:xfrm>
            <a:off x="4507664" y="3888474"/>
            <a:ext cx="641522" cy="307777"/>
          </a:xfrm>
          <a:prstGeom prst="rect">
            <a:avLst/>
          </a:prstGeom>
          <a:noFill/>
        </p:spPr>
        <p:txBody>
          <a:bodyPr wrap="none" rtlCol="0">
            <a:spAutoFit/>
          </a:bodyPr>
          <a:lstStyle/>
          <a:p>
            <a:r>
              <a:rPr lang="en-US" dirty="0" smtClean="0"/>
              <a:t>Fa0/1</a:t>
            </a:r>
            <a:endParaRPr lang="en-IN" dirty="0"/>
          </a:p>
        </p:txBody>
      </p:sp>
      <p:sp>
        <p:nvSpPr>
          <p:cNvPr id="68" name="TextBox 67"/>
          <p:cNvSpPr txBox="1"/>
          <p:nvPr/>
        </p:nvSpPr>
        <p:spPr>
          <a:xfrm>
            <a:off x="4709641" y="4463603"/>
            <a:ext cx="641522" cy="307777"/>
          </a:xfrm>
          <a:prstGeom prst="rect">
            <a:avLst/>
          </a:prstGeom>
          <a:noFill/>
        </p:spPr>
        <p:txBody>
          <a:bodyPr wrap="none" rtlCol="0">
            <a:spAutoFit/>
          </a:bodyPr>
          <a:lstStyle/>
          <a:p>
            <a:r>
              <a:rPr lang="en-US" dirty="0" smtClean="0"/>
              <a:t>Fa0/2</a:t>
            </a:r>
            <a:endParaRPr lang="en-IN" dirty="0"/>
          </a:p>
        </p:txBody>
      </p:sp>
      <p:sp>
        <p:nvSpPr>
          <p:cNvPr id="69" name="TextBox 68"/>
          <p:cNvSpPr txBox="1"/>
          <p:nvPr/>
        </p:nvSpPr>
        <p:spPr>
          <a:xfrm>
            <a:off x="5429249" y="4439103"/>
            <a:ext cx="641522" cy="307777"/>
          </a:xfrm>
          <a:prstGeom prst="rect">
            <a:avLst/>
          </a:prstGeom>
          <a:noFill/>
        </p:spPr>
        <p:txBody>
          <a:bodyPr wrap="none" rtlCol="0">
            <a:spAutoFit/>
          </a:bodyPr>
          <a:lstStyle/>
          <a:p>
            <a:r>
              <a:rPr lang="en-US" dirty="0" smtClean="0"/>
              <a:t>Fa0/3</a:t>
            </a:r>
            <a:endParaRPr lang="en-IN" dirty="0"/>
          </a:p>
        </p:txBody>
      </p:sp>
      <p:sp>
        <p:nvSpPr>
          <p:cNvPr id="70" name="TextBox 69"/>
          <p:cNvSpPr txBox="1"/>
          <p:nvPr/>
        </p:nvSpPr>
        <p:spPr>
          <a:xfrm>
            <a:off x="6011864" y="3802862"/>
            <a:ext cx="641522" cy="307777"/>
          </a:xfrm>
          <a:prstGeom prst="rect">
            <a:avLst/>
          </a:prstGeom>
          <a:noFill/>
        </p:spPr>
        <p:txBody>
          <a:bodyPr wrap="none" rtlCol="0">
            <a:spAutoFit/>
          </a:bodyPr>
          <a:lstStyle/>
          <a:p>
            <a:r>
              <a:rPr lang="en-US" dirty="0" smtClean="0"/>
              <a:t>Fa0/4</a:t>
            </a:r>
            <a:endParaRPr lang="en-IN" dirty="0"/>
          </a:p>
        </p:txBody>
      </p:sp>
      <p:sp>
        <p:nvSpPr>
          <p:cNvPr id="4" name="Oval 3"/>
          <p:cNvSpPr/>
          <p:nvPr/>
        </p:nvSpPr>
        <p:spPr>
          <a:xfrm>
            <a:off x="7614791" y="2906973"/>
            <a:ext cx="669399" cy="60050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R1</a:t>
            </a:r>
            <a:endParaRPr lang="en-IN" b="1" dirty="0"/>
          </a:p>
        </p:txBody>
      </p:sp>
      <p:cxnSp>
        <p:nvCxnSpPr>
          <p:cNvPr id="6" name="Straight Connector 5"/>
          <p:cNvCxnSpPr/>
          <p:nvPr/>
        </p:nvCxnSpPr>
        <p:spPr>
          <a:xfrm flipV="1">
            <a:off x="6006436" y="3285298"/>
            <a:ext cx="1589305" cy="222177"/>
          </a:xfrm>
          <a:prstGeom prst="line">
            <a:avLst/>
          </a:prstGeom>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6047404" y="3299212"/>
            <a:ext cx="641522" cy="307777"/>
          </a:xfrm>
          <a:prstGeom prst="rect">
            <a:avLst/>
          </a:prstGeom>
          <a:noFill/>
        </p:spPr>
        <p:txBody>
          <a:bodyPr wrap="none" rtlCol="0">
            <a:spAutoFit/>
          </a:bodyPr>
          <a:lstStyle/>
          <a:p>
            <a:r>
              <a:rPr lang="en-US" dirty="0" smtClean="0"/>
              <a:t>Fa0/5</a:t>
            </a:r>
            <a:endParaRPr lang="en-IN"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234"/>
        <p:cNvGrpSpPr/>
        <p:nvPr/>
      </p:nvGrpSpPr>
      <p:grpSpPr>
        <a:xfrm>
          <a:off x="0" y="0"/>
          <a:ext cx="0" cy="0"/>
          <a:chOff x="0" y="0"/>
          <a:chExt cx="0" cy="0"/>
        </a:xfrm>
      </p:grpSpPr>
      <p:sp>
        <p:nvSpPr>
          <p:cNvPr id="1235" name="Google Shape;1235;p150"/>
          <p:cNvSpPr txBox="1">
            <a:spLocks noGrp="1"/>
          </p:cNvSpPr>
          <p:nvPr>
            <p:ph type="body" idx="1"/>
          </p:nvPr>
        </p:nvSpPr>
        <p:spPr>
          <a:xfrm>
            <a:off x="457199" y="381000"/>
            <a:ext cx="8427493" cy="6238164"/>
          </a:xfrm>
          <a:prstGeom prst="rect">
            <a:avLst/>
          </a:prstGeom>
          <a:noFill/>
          <a:ln>
            <a:noFill/>
          </a:ln>
        </p:spPr>
        <p:txBody>
          <a:bodyPr spcFirstLastPara="1" wrap="square" lIns="91425" tIns="45700" rIns="91425" bIns="45700" anchor="t" anchorCtr="0">
            <a:normAutofit fontScale="92500" lnSpcReduction="20000"/>
          </a:bodyPr>
          <a:lstStyle/>
          <a:p>
            <a:pPr marL="342900" lvl="0">
              <a:spcBef>
                <a:spcPts val="0"/>
              </a:spcBef>
              <a:buSzPct val="100000"/>
              <a:buNone/>
            </a:pPr>
            <a:r>
              <a:rPr lang="en-US" dirty="0" err="1"/>
              <a:t>int</a:t>
            </a:r>
            <a:r>
              <a:rPr lang="en-US" dirty="0"/>
              <a:t> gig0/0/0.1</a:t>
            </a:r>
          </a:p>
          <a:p>
            <a:pPr marL="342900" lvl="0">
              <a:spcBef>
                <a:spcPts val="0"/>
              </a:spcBef>
              <a:buSzPct val="100000"/>
              <a:buNone/>
            </a:pPr>
            <a:r>
              <a:rPr lang="en-US" dirty="0"/>
              <a:t>encapsulation dot1q 10</a:t>
            </a:r>
          </a:p>
          <a:p>
            <a:pPr marL="342900" lvl="0">
              <a:spcBef>
                <a:spcPts val="0"/>
              </a:spcBef>
              <a:buSzPct val="100000"/>
              <a:buNone/>
            </a:pPr>
            <a:r>
              <a:rPr lang="en-US" dirty="0" err="1"/>
              <a:t>ip</a:t>
            </a:r>
            <a:r>
              <a:rPr lang="en-US" dirty="0"/>
              <a:t> add 192.168.1.1 255.255.255.0 </a:t>
            </a:r>
          </a:p>
          <a:p>
            <a:pPr marL="342900" lvl="0">
              <a:spcBef>
                <a:spcPts val="0"/>
              </a:spcBef>
              <a:buSzPct val="100000"/>
              <a:buNone/>
            </a:pPr>
            <a:r>
              <a:rPr lang="en-US" dirty="0"/>
              <a:t>ex</a:t>
            </a:r>
          </a:p>
          <a:p>
            <a:pPr marL="342900" lvl="0">
              <a:spcBef>
                <a:spcPts val="0"/>
              </a:spcBef>
              <a:buSzPct val="100000"/>
              <a:buNone/>
            </a:pPr>
            <a:r>
              <a:rPr lang="en-US" dirty="0" err="1"/>
              <a:t>int</a:t>
            </a:r>
            <a:r>
              <a:rPr lang="en-US" dirty="0"/>
              <a:t> gig0/0/0.2</a:t>
            </a:r>
          </a:p>
          <a:p>
            <a:pPr marL="342900" lvl="0">
              <a:spcBef>
                <a:spcPts val="0"/>
              </a:spcBef>
              <a:buSzPct val="100000"/>
              <a:buNone/>
            </a:pPr>
            <a:r>
              <a:rPr lang="en-US" dirty="0"/>
              <a:t>encapsulation dot1q 20</a:t>
            </a:r>
          </a:p>
          <a:p>
            <a:pPr marL="342900" lvl="0">
              <a:spcBef>
                <a:spcPts val="0"/>
              </a:spcBef>
              <a:buSzPct val="100000"/>
              <a:buNone/>
            </a:pPr>
            <a:r>
              <a:rPr lang="en-US" dirty="0" err="1"/>
              <a:t>ip</a:t>
            </a:r>
            <a:r>
              <a:rPr lang="en-US" dirty="0"/>
              <a:t> add 192.168.2.1 255.255.255.0 </a:t>
            </a:r>
          </a:p>
          <a:p>
            <a:pPr marL="342900" lvl="0">
              <a:spcBef>
                <a:spcPts val="0"/>
              </a:spcBef>
              <a:buSzPct val="100000"/>
              <a:buNone/>
            </a:pPr>
            <a:r>
              <a:rPr lang="en-US" dirty="0"/>
              <a:t>ex</a:t>
            </a:r>
          </a:p>
          <a:p>
            <a:pPr marL="342900" lvl="0">
              <a:spcBef>
                <a:spcPts val="0"/>
              </a:spcBef>
              <a:buSzPct val="100000"/>
              <a:buNone/>
            </a:pPr>
            <a:r>
              <a:rPr lang="en-US" dirty="0" err="1"/>
              <a:t>int</a:t>
            </a:r>
            <a:r>
              <a:rPr lang="en-US" dirty="0"/>
              <a:t> </a:t>
            </a:r>
            <a:r>
              <a:rPr lang="en-US" dirty="0" smtClean="0"/>
              <a:t>gig0/0/0.3</a:t>
            </a:r>
            <a:endParaRPr lang="en-US" dirty="0"/>
          </a:p>
          <a:p>
            <a:pPr marL="342900" lvl="0">
              <a:spcBef>
                <a:spcPts val="0"/>
              </a:spcBef>
              <a:buSzPct val="100000"/>
              <a:buNone/>
            </a:pPr>
            <a:r>
              <a:rPr lang="en-US" dirty="0"/>
              <a:t>encapsulation dot1q 30</a:t>
            </a:r>
          </a:p>
          <a:p>
            <a:pPr marL="342900" lvl="0">
              <a:spcBef>
                <a:spcPts val="0"/>
              </a:spcBef>
              <a:buSzPct val="100000"/>
              <a:buNone/>
            </a:pPr>
            <a:r>
              <a:rPr lang="en-US" dirty="0" err="1"/>
              <a:t>ip</a:t>
            </a:r>
            <a:r>
              <a:rPr lang="en-US" dirty="0"/>
              <a:t> add 192.168.3.1 255.255.255.0 </a:t>
            </a:r>
          </a:p>
          <a:p>
            <a:pPr marL="342900" lvl="0">
              <a:spcBef>
                <a:spcPts val="0"/>
              </a:spcBef>
              <a:buSzPct val="100000"/>
              <a:buNone/>
            </a:pPr>
            <a:r>
              <a:rPr lang="en-US" dirty="0"/>
              <a:t>ex</a:t>
            </a:r>
          </a:p>
          <a:p>
            <a:pPr marL="342900" lvl="0">
              <a:spcBef>
                <a:spcPts val="0"/>
              </a:spcBef>
              <a:buSzPct val="100000"/>
              <a:buNone/>
            </a:pPr>
            <a:r>
              <a:rPr lang="en-US" b="1" u="sng" dirty="0" smtClean="0"/>
              <a:t>Switch</a:t>
            </a:r>
            <a:endParaRPr lang="en-US" b="1" u="sng" dirty="0"/>
          </a:p>
          <a:p>
            <a:pPr marL="342900" lvl="0">
              <a:spcBef>
                <a:spcPts val="0"/>
              </a:spcBef>
              <a:buSzPct val="100000"/>
              <a:buNone/>
            </a:pPr>
            <a:r>
              <a:rPr lang="en-US" dirty="0" err="1"/>
              <a:t>int</a:t>
            </a:r>
            <a:r>
              <a:rPr lang="en-US" dirty="0"/>
              <a:t> fa0/5</a:t>
            </a:r>
          </a:p>
          <a:p>
            <a:pPr marL="342900" lvl="0">
              <a:spcBef>
                <a:spcPts val="0"/>
              </a:spcBef>
              <a:buSzPct val="100000"/>
              <a:buNone/>
            </a:pPr>
            <a:r>
              <a:rPr lang="en-US" dirty="0" err="1"/>
              <a:t>switchport</a:t>
            </a:r>
            <a:r>
              <a:rPr lang="en-US" dirty="0"/>
              <a:t> mode trunk</a:t>
            </a:r>
          </a:p>
          <a:p>
            <a:pPr marL="342900" lvl="0">
              <a:spcBef>
                <a:spcPts val="0"/>
              </a:spcBef>
              <a:buSzPct val="100000"/>
              <a:buNone/>
            </a:pPr>
            <a:r>
              <a:rPr lang="en-US" dirty="0"/>
              <a:t>ex</a:t>
            </a:r>
            <a:endParaRPr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20;p160"/>
          <p:cNvSpPr txBox="1">
            <a:spLocks/>
          </p:cNvSpPr>
          <p:nvPr/>
        </p:nvSpPr>
        <p:spPr>
          <a:xfrm>
            <a:off x="361667" y="124512"/>
            <a:ext cx="8229600" cy="612466"/>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dirty="0" smtClean="0"/>
              <a:t>FTP LAB</a:t>
            </a:r>
            <a:endParaRPr lang="en-US" dirty="0"/>
          </a:p>
        </p:txBody>
      </p:sp>
      <p:sp>
        <p:nvSpPr>
          <p:cNvPr id="25" name="Title 1"/>
          <p:cNvSpPr txBox="1">
            <a:spLocks/>
          </p:cNvSpPr>
          <p:nvPr/>
        </p:nvSpPr>
        <p:spPr>
          <a:xfrm>
            <a:off x="518614" y="545911"/>
            <a:ext cx="8188657" cy="613466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2800" b="1" dirty="0"/>
              <a:t>FTP (File Transfer Protocol)</a:t>
            </a:r>
            <a:r>
              <a:rPr lang="en-US" sz="2800" dirty="0"/>
              <a:t> is a </a:t>
            </a:r>
            <a:r>
              <a:rPr lang="en-US" sz="2800" b="1" dirty="0"/>
              <a:t>standard network protocol</a:t>
            </a:r>
            <a:r>
              <a:rPr lang="en-US" sz="2800" dirty="0"/>
              <a:t> used to </a:t>
            </a:r>
            <a:r>
              <a:rPr lang="en-US" sz="2800" b="1" dirty="0"/>
              <a:t>transfer files</a:t>
            </a:r>
            <a:r>
              <a:rPr lang="en-US" sz="2800" dirty="0"/>
              <a:t> between a </a:t>
            </a:r>
            <a:r>
              <a:rPr lang="en-US" sz="2800" b="1" dirty="0"/>
              <a:t>client</a:t>
            </a:r>
            <a:r>
              <a:rPr lang="en-US" sz="2800" dirty="0"/>
              <a:t> and a </a:t>
            </a:r>
            <a:r>
              <a:rPr lang="en-US" sz="2800" b="1" dirty="0"/>
              <a:t>server</a:t>
            </a:r>
            <a:r>
              <a:rPr lang="en-US" sz="2800" dirty="0"/>
              <a:t> over a </a:t>
            </a:r>
            <a:r>
              <a:rPr lang="en-US" sz="2800" b="1" dirty="0"/>
              <a:t>TCP/IP network</a:t>
            </a:r>
            <a:r>
              <a:rPr lang="en-US" sz="2800" dirty="0"/>
              <a:t> (like the Internet or a local network</a:t>
            </a:r>
            <a:r>
              <a:rPr lang="en-US" sz="2800" dirty="0" smtClean="0"/>
              <a:t>).</a:t>
            </a:r>
          </a:p>
          <a:p>
            <a:pPr algn="l"/>
            <a:endParaRPr lang="en-US" sz="2800" dirty="0"/>
          </a:p>
          <a:p>
            <a:pPr algn="l"/>
            <a:r>
              <a:rPr lang="en-US" sz="2800" b="1" dirty="0"/>
              <a:t>It runs on:</a:t>
            </a:r>
          </a:p>
          <a:p>
            <a:pPr algn="l"/>
            <a:r>
              <a:rPr lang="en-US" sz="2800" b="1" dirty="0"/>
              <a:t>Port 21</a:t>
            </a:r>
            <a:r>
              <a:rPr lang="en-US" sz="2800" dirty="0"/>
              <a:t> (command/control connection)</a:t>
            </a:r>
          </a:p>
          <a:p>
            <a:pPr algn="l"/>
            <a:r>
              <a:rPr lang="en-US" sz="2800" b="1" dirty="0"/>
              <a:t>Port 20</a:t>
            </a:r>
            <a:r>
              <a:rPr lang="en-US" sz="2800" dirty="0"/>
              <a:t> (data transfer connection — in active mode</a:t>
            </a:r>
            <a:r>
              <a:rPr lang="en-US" sz="2800" dirty="0" smtClean="0"/>
              <a:t>)</a:t>
            </a:r>
          </a:p>
          <a:p>
            <a:pPr algn="l"/>
            <a:endParaRPr lang="en-US" sz="2800" dirty="0" smtClean="0"/>
          </a:p>
          <a:p>
            <a:pPr algn="l"/>
            <a:r>
              <a:rPr lang="en-US" sz="2800" dirty="0"/>
              <a:t>An </a:t>
            </a:r>
            <a:r>
              <a:rPr lang="en-US" sz="2800" b="1" dirty="0"/>
              <a:t>FTP server</a:t>
            </a:r>
            <a:r>
              <a:rPr lang="en-US" sz="2800" dirty="0"/>
              <a:t> stores files, and </a:t>
            </a:r>
            <a:r>
              <a:rPr lang="en-US" sz="2800" b="1" dirty="0"/>
              <a:t>FTP clients</a:t>
            </a:r>
            <a:r>
              <a:rPr lang="en-US" sz="2800" dirty="0"/>
              <a:t> (like FileZilla, </a:t>
            </a:r>
            <a:r>
              <a:rPr lang="en-US" sz="2800" dirty="0" err="1"/>
              <a:t>WinSCP</a:t>
            </a:r>
            <a:r>
              <a:rPr lang="en-US" sz="2800" dirty="0"/>
              <a:t>, or command-line FTP) can:</a:t>
            </a:r>
          </a:p>
          <a:p>
            <a:pPr marL="457200" indent="-457200" algn="l">
              <a:buFont typeface="Wingdings" panose="05000000000000000000" pitchFamily="2" charset="2"/>
              <a:buChar char="§"/>
            </a:pPr>
            <a:r>
              <a:rPr lang="en-US" sz="2800" dirty="0"/>
              <a:t>Upload files to the server</a:t>
            </a:r>
          </a:p>
          <a:p>
            <a:pPr marL="457200" indent="-457200" algn="l">
              <a:buFont typeface="Wingdings" panose="05000000000000000000" pitchFamily="2" charset="2"/>
              <a:buChar char="§"/>
            </a:pPr>
            <a:r>
              <a:rPr lang="en-US" sz="2800" dirty="0"/>
              <a:t>Download files from the server</a:t>
            </a:r>
          </a:p>
          <a:p>
            <a:pPr marL="457200" indent="-457200" algn="l">
              <a:buFont typeface="Wingdings" panose="05000000000000000000" pitchFamily="2" charset="2"/>
              <a:buChar char="§"/>
            </a:pPr>
            <a:r>
              <a:rPr lang="en-US" sz="2800" dirty="0"/>
              <a:t>Delete, rename, or organize files </a:t>
            </a:r>
            <a:r>
              <a:rPr lang="en-US" sz="2800" dirty="0" smtClean="0"/>
              <a:t>remotely</a:t>
            </a:r>
            <a:endParaRPr lang="en-US" sz="2800" dirty="0"/>
          </a:p>
        </p:txBody>
      </p:sp>
    </p:spTree>
    <p:extLst>
      <p:ext uri="{BB962C8B-B14F-4D97-AF65-F5344CB8AC3E}">
        <p14:creationId xmlns:p14="http://schemas.microsoft.com/office/powerpoint/2010/main" val="3534587305"/>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319"/>
        <p:cNvGrpSpPr/>
        <p:nvPr/>
      </p:nvGrpSpPr>
      <p:grpSpPr>
        <a:xfrm>
          <a:off x="0" y="0"/>
          <a:ext cx="0" cy="0"/>
          <a:chOff x="0" y="0"/>
          <a:chExt cx="0" cy="0"/>
        </a:xfrm>
      </p:grpSpPr>
      <p:sp>
        <p:nvSpPr>
          <p:cNvPr id="1320" name="Google Shape;1320;p1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FTP LAB</a:t>
            </a:r>
            <a:endParaRPr dirty="0"/>
          </a:p>
        </p:txBody>
      </p:sp>
      <p:sp>
        <p:nvSpPr>
          <p:cNvPr id="1321" name="Google Shape;1321;p16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b="1" dirty="0"/>
              <a:t>Server</a:t>
            </a:r>
            <a:r>
              <a:rPr lang="en-US" dirty="0"/>
              <a:t>:</a:t>
            </a:r>
            <a:endParaRPr dirty="0"/>
          </a:p>
          <a:p>
            <a:pPr marL="342900" lvl="0" indent="-342900" algn="l" rtl="0">
              <a:spcBef>
                <a:spcPts val="544"/>
              </a:spcBef>
              <a:spcAft>
                <a:spcPts val="0"/>
              </a:spcAft>
              <a:buClr>
                <a:schemeClr val="dk1"/>
              </a:buClr>
              <a:buSzPct val="100000"/>
              <a:buNone/>
            </a:pPr>
            <a:r>
              <a:rPr lang="en-US" dirty="0"/>
              <a:t>       202.84.41.2</a:t>
            </a:r>
            <a:endParaRPr dirty="0"/>
          </a:p>
          <a:p>
            <a:pPr marL="342900" lvl="0" indent="-342900" algn="l" rtl="0">
              <a:spcBef>
                <a:spcPts val="544"/>
              </a:spcBef>
              <a:spcAft>
                <a:spcPts val="0"/>
              </a:spcAft>
              <a:buClr>
                <a:schemeClr val="dk1"/>
              </a:buClr>
              <a:buSzPct val="100000"/>
              <a:buNone/>
            </a:pPr>
            <a:r>
              <a:rPr lang="en-US" dirty="0"/>
              <a:t>        255.255.255.0</a:t>
            </a:r>
            <a:endParaRPr dirty="0"/>
          </a:p>
          <a:p>
            <a:pPr marL="342900" lvl="0" indent="-342900" algn="l" rtl="0">
              <a:spcBef>
                <a:spcPts val="544"/>
              </a:spcBef>
              <a:spcAft>
                <a:spcPts val="0"/>
              </a:spcAft>
              <a:buClr>
                <a:schemeClr val="dk1"/>
              </a:buClr>
              <a:buSzPct val="100000"/>
              <a:buNone/>
            </a:pPr>
            <a:r>
              <a:rPr lang="en-US" dirty="0"/>
              <a:t>        202.84.41.1</a:t>
            </a:r>
            <a:endParaRPr dirty="0"/>
          </a:p>
          <a:p>
            <a:pPr marL="342900" lvl="0" indent="-342900" algn="l" rtl="0">
              <a:spcBef>
                <a:spcPts val="544"/>
              </a:spcBef>
              <a:spcAft>
                <a:spcPts val="0"/>
              </a:spcAft>
              <a:buClr>
                <a:schemeClr val="dk1"/>
              </a:buClr>
              <a:buSzPct val="100000"/>
              <a:buNone/>
            </a:pPr>
            <a:r>
              <a:rPr lang="en-US" b="1" dirty="0"/>
              <a:t>Router</a:t>
            </a:r>
            <a:r>
              <a:rPr lang="en-US" dirty="0"/>
              <a:t>:</a:t>
            </a:r>
            <a:endParaRPr dirty="0"/>
          </a:p>
          <a:p>
            <a:pPr marL="342900" lvl="0" indent="-342900" algn="l" rtl="0">
              <a:spcBef>
                <a:spcPts val="544"/>
              </a:spcBef>
              <a:spcAft>
                <a:spcPts val="0"/>
              </a:spcAft>
              <a:buClr>
                <a:schemeClr val="dk1"/>
              </a:buClr>
              <a:buSzPct val="100000"/>
              <a:buNone/>
            </a:pPr>
            <a:r>
              <a:rPr lang="en-US" dirty="0"/>
              <a:t>     line up:192.168.1.1</a:t>
            </a:r>
            <a:endParaRPr dirty="0"/>
          </a:p>
          <a:p>
            <a:pPr marL="342900" lvl="0" indent="-342900" algn="l" rtl="0">
              <a:spcBef>
                <a:spcPts val="544"/>
              </a:spcBef>
              <a:spcAft>
                <a:spcPts val="0"/>
              </a:spcAft>
              <a:buClr>
                <a:schemeClr val="dk1"/>
              </a:buClr>
              <a:buSzPct val="100000"/>
              <a:buNone/>
            </a:pPr>
            <a:r>
              <a:rPr lang="en-US" b="1" dirty="0"/>
              <a:t>Server</a:t>
            </a:r>
            <a:r>
              <a:rPr lang="en-US" dirty="0"/>
              <a:t>:</a:t>
            </a:r>
            <a:endParaRPr dirty="0"/>
          </a:p>
          <a:p>
            <a:pPr marL="342900" lvl="0" indent="-342900" algn="l" rtl="0">
              <a:spcBef>
                <a:spcPts val="544"/>
              </a:spcBef>
              <a:spcAft>
                <a:spcPts val="0"/>
              </a:spcAft>
              <a:buClr>
                <a:schemeClr val="dk1"/>
              </a:buClr>
              <a:buSzPct val="100000"/>
              <a:buNone/>
            </a:pPr>
            <a:r>
              <a:rPr lang="en-US" dirty="0"/>
              <a:t>Service: ftp –on</a:t>
            </a:r>
            <a:endParaRPr dirty="0"/>
          </a:p>
          <a:p>
            <a:pPr marL="342900" lvl="0" indent="-342900" algn="l" rtl="0">
              <a:spcBef>
                <a:spcPts val="544"/>
              </a:spcBef>
              <a:spcAft>
                <a:spcPts val="0"/>
              </a:spcAft>
              <a:buClr>
                <a:schemeClr val="dk1"/>
              </a:buClr>
              <a:buSzPct val="100000"/>
              <a:buNone/>
            </a:pPr>
            <a:r>
              <a:rPr lang="en-US" dirty="0"/>
              <a:t>Username:  </a:t>
            </a:r>
            <a:r>
              <a:rPr lang="en-US" dirty="0" smtClean="0"/>
              <a:t>admin</a:t>
            </a:r>
            <a:endParaRPr dirty="0"/>
          </a:p>
          <a:p>
            <a:pPr marL="342900" lvl="0" indent="-342900" algn="l" rtl="0">
              <a:spcBef>
                <a:spcPts val="544"/>
              </a:spcBef>
              <a:spcAft>
                <a:spcPts val="0"/>
              </a:spcAft>
              <a:buClr>
                <a:schemeClr val="dk1"/>
              </a:buClr>
              <a:buSzPct val="100000"/>
              <a:buNone/>
            </a:pPr>
            <a:r>
              <a:rPr lang="en-US" dirty="0" smtClean="0"/>
              <a:t>Password:12345</a:t>
            </a:r>
            <a:endParaRPr dirty="0"/>
          </a:p>
        </p:txBody>
      </p:sp>
      <p:sp>
        <p:nvSpPr>
          <p:cNvPr id="1322" name="Google Shape;1322;p160"/>
          <p:cNvSpPr/>
          <p:nvPr/>
        </p:nvSpPr>
        <p:spPr>
          <a:xfrm>
            <a:off x="7086600" y="1828800"/>
            <a:ext cx="533400" cy="5334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3" name="Google Shape;1323;p160"/>
          <p:cNvSpPr/>
          <p:nvPr/>
        </p:nvSpPr>
        <p:spPr>
          <a:xfrm>
            <a:off x="6934200" y="3352800"/>
            <a:ext cx="914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4" name="Google Shape;1324;p160"/>
          <p:cNvSpPr/>
          <p:nvPr/>
        </p:nvSpPr>
        <p:spPr>
          <a:xfrm>
            <a:off x="7924800" y="44958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25" name="Google Shape;1325;p160"/>
          <p:cNvSpPr/>
          <p:nvPr/>
        </p:nvSpPr>
        <p:spPr>
          <a:xfrm>
            <a:off x="6477000" y="4495800"/>
            <a:ext cx="4572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326" name="Google Shape;1326;p160"/>
          <p:cNvCxnSpPr>
            <a:stCxn id="1322" idx="4"/>
            <a:endCxn id="1323" idx="0"/>
          </p:cNvCxnSpPr>
          <p:nvPr/>
        </p:nvCxnSpPr>
        <p:spPr>
          <a:xfrm>
            <a:off x="7353300" y="2362200"/>
            <a:ext cx="38100" cy="990600"/>
          </a:xfrm>
          <a:prstGeom prst="straightConnector1">
            <a:avLst/>
          </a:prstGeom>
          <a:noFill/>
          <a:ln w="9525" cap="flat" cmpd="sng">
            <a:solidFill>
              <a:srgbClr val="4A7DBA"/>
            </a:solidFill>
            <a:prstDash val="solid"/>
            <a:round/>
            <a:headEnd type="none" w="sm" len="sm"/>
            <a:tailEnd type="none" w="sm" len="sm"/>
          </a:ln>
        </p:spPr>
      </p:cxnSp>
      <p:cxnSp>
        <p:nvCxnSpPr>
          <p:cNvPr id="1327" name="Google Shape;1327;p160"/>
          <p:cNvCxnSpPr>
            <a:stCxn id="1323" idx="2"/>
            <a:endCxn id="1325" idx="0"/>
          </p:cNvCxnSpPr>
          <p:nvPr/>
        </p:nvCxnSpPr>
        <p:spPr>
          <a:xfrm flipH="1">
            <a:off x="6705600" y="3657600"/>
            <a:ext cx="685800" cy="838200"/>
          </a:xfrm>
          <a:prstGeom prst="straightConnector1">
            <a:avLst/>
          </a:prstGeom>
          <a:noFill/>
          <a:ln w="9525" cap="flat" cmpd="sng">
            <a:solidFill>
              <a:srgbClr val="4A7DBA"/>
            </a:solidFill>
            <a:prstDash val="solid"/>
            <a:round/>
            <a:headEnd type="none" w="sm" len="sm"/>
            <a:tailEnd type="none" w="sm" len="sm"/>
          </a:ln>
        </p:spPr>
      </p:cxnSp>
      <p:cxnSp>
        <p:nvCxnSpPr>
          <p:cNvPr id="1328" name="Google Shape;1328;p160"/>
          <p:cNvCxnSpPr>
            <a:stCxn id="1323" idx="2"/>
            <a:endCxn id="1324" idx="0"/>
          </p:cNvCxnSpPr>
          <p:nvPr/>
        </p:nvCxnSpPr>
        <p:spPr>
          <a:xfrm>
            <a:off x="7391400" y="3657600"/>
            <a:ext cx="762000" cy="838200"/>
          </a:xfrm>
          <a:prstGeom prst="straightConnector1">
            <a:avLst/>
          </a:prstGeom>
          <a:noFill/>
          <a:ln w="9525" cap="flat" cmpd="sng">
            <a:solidFill>
              <a:srgbClr val="4A7DBA"/>
            </a:solidFill>
            <a:prstDash val="solid"/>
            <a:round/>
            <a:headEnd type="none" w="sm" len="sm"/>
            <a:tailEnd type="none" w="sm" len="sm"/>
          </a:ln>
        </p:spPr>
      </p:cxnSp>
      <p:sp>
        <p:nvSpPr>
          <p:cNvPr id="1329" name="Google Shape;1329;p160"/>
          <p:cNvSpPr/>
          <p:nvPr/>
        </p:nvSpPr>
        <p:spPr>
          <a:xfrm>
            <a:off x="8382000" y="1676400"/>
            <a:ext cx="381000" cy="914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330" name="Google Shape;1330;p160"/>
          <p:cNvCxnSpPr>
            <a:stCxn id="1322" idx="6"/>
            <a:endCxn id="1329" idx="1"/>
          </p:cNvCxnSpPr>
          <p:nvPr/>
        </p:nvCxnSpPr>
        <p:spPr>
          <a:xfrm>
            <a:off x="7620000" y="2095500"/>
            <a:ext cx="762000" cy="381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334"/>
        <p:cNvGrpSpPr/>
        <p:nvPr/>
      </p:nvGrpSpPr>
      <p:grpSpPr>
        <a:xfrm>
          <a:off x="0" y="0"/>
          <a:ext cx="0" cy="0"/>
          <a:chOff x="0" y="0"/>
          <a:chExt cx="0" cy="0"/>
        </a:xfrm>
      </p:grpSpPr>
      <p:sp>
        <p:nvSpPr>
          <p:cNvPr id="1335" name="Google Shape;1335;p161"/>
          <p:cNvSpPr txBox="1">
            <a:spLocks noGrp="1"/>
          </p:cNvSpPr>
          <p:nvPr>
            <p:ph type="body" idx="1"/>
          </p:nvPr>
        </p:nvSpPr>
        <p:spPr>
          <a:xfrm>
            <a:off x="457200" y="685800"/>
            <a:ext cx="8229600" cy="54403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None/>
            </a:pPr>
            <a:r>
              <a:rPr lang="en-US" b="1" dirty="0" err="1"/>
              <a:t>Write,Read,Delete,Rename,List</a:t>
            </a:r>
            <a:r>
              <a:rPr lang="en-US" b="1" dirty="0"/>
              <a:t> ( right) –add</a:t>
            </a:r>
            <a:endParaRPr b="1" dirty="0"/>
          </a:p>
          <a:p>
            <a:pPr marL="342900" lvl="0" indent="-342900" algn="l" rtl="0">
              <a:spcBef>
                <a:spcPts val="544"/>
              </a:spcBef>
              <a:spcAft>
                <a:spcPts val="0"/>
              </a:spcAft>
              <a:buClr>
                <a:schemeClr val="dk1"/>
              </a:buClr>
              <a:buSzPct val="100000"/>
              <a:buNone/>
            </a:pPr>
            <a:r>
              <a:rPr lang="en-US" b="1" dirty="0"/>
              <a:t>Pc0</a:t>
            </a:r>
            <a:r>
              <a:rPr lang="en-US" dirty="0"/>
              <a:t>:</a:t>
            </a:r>
            <a:endParaRPr dirty="0"/>
          </a:p>
          <a:p>
            <a:pPr marL="342900" lvl="0" indent="-342900" algn="l" rtl="0">
              <a:spcBef>
                <a:spcPts val="544"/>
              </a:spcBef>
              <a:spcAft>
                <a:spcPts val="0"/>
              </a:spcAft>
              <a:buClr>
                <a:schemeClr val="dk1"/>
              </a:buClr>
              <a:buSzPct val="100000"/>
              <a:buNone/>
            </a:pPr>
            <a:r>
              <a:rPr lang="en-US" dirty="0"/>
              <a:t>192.168.1.2</a:t>
            </a:r>
            <a:endParaRPr dirty="0"/>
          </a:p>
          <a:p>
            <a:pPr marL="342900" lvl="0" indent="-342900" algn="l" rtl="0">
              <a:spcBef>
                <a:spcPts val="544"/>
              </a:spcBef>
              <a:spcAft>
                <a:spcPts val="0"/>
              </a:spcAft>
              <a:buClr>
                <a:schemeClr val="dk1"/>
              </a:buClr>
              <a:buSzPct val="100000"/>
              <a:buNone/>
            </a:pPr>
            <a:r>
              <a:rPr lang="en-US" dirty="0"/>
              <a:t>255.255.255.0</a:t>
            </a:r>
            <a:endParaRPr dirty="0"/>
          </a:p>
          <a:p>
            <a:pPr marL="342900" lvl="0" indent="-342900" algn="l" rtl="0">
              <a:spcBef>
                <a:spcPts val="544"/>
              </a:spcBef>
              <a:spcAft>
                <a:spcPts val="0"/>
              </a:spcAft>
              <a:buClr>
                <a:schemeClr val="dk1"/>
              </a:buClr>
              <a:buSzPct val="100000"/>
              <a:buNone/>
            </a:pPr>
            <a:r>
              <a:rPr lang="en-US" dirty="0"/>
              <a:t>192.168.1.1</a:t>
            </a:r>
            <a:endParaRPr dirty="0"/>
          </a:p>
          <a:p>
            <a:pPr marL="342900" lvl="0" indent="-342900" algn="l" rtl="0">
              <a:spcBef>
                <a:spcPts val="544"/>
              </a:spcBef>
              <a:spcAft>
                <a:spcPts val="0"/>
              </a:spcAft>
              <a:buClr>
                <a:schemeClr val="dk1"/>
              </a:buClr>
              <a:buSzPct val="100000"/>
              <a:buNone/>
            </a:pPr>
            <a:r>
              <a:rPr lang="en-US" b="1" dirty="0"/>
              <a:t>Pc1</a:t>
            </a:r>
            <a:r>
              <a:rPr lang="en-US" dirty="0"/>
              <a:t>:</a:t>
            </a:r>
            <a:endParaRPr dirty="0"/>
          </a:p>
          <a:p>
            <a:pPr marL="342900" lvl="0" indent="-342900" algn="l" rtl="0">
              <a:spcBef>
                <a:spcPts val="544"/>
              </a:spcBef>
              <a:spcAft>
                <a:spcPts val="0"/>
              </a:spcAft>
              <a:buClr>
                <a:schemeClr val="dk1"/>
              </a:buClr>
              <a:buSzPct val="100000"/>
              <a:buNone/>
            </a:pPr>
            <a:r>
              <a:rPr lang="en-US" dirty="0"/>
              <a:t>192.168.1.3</a:t>
            </a:r>
            <a:endParaRPr dirty="0"/>
          </a:p>
          <a:p>
            <a:pPr marL="342900" lvl="0" indent="-342900" algn="l" rtl="0">
              <a:spcBef>
                <a:spcPts val="544"/>
              </a:spcBef>
              <a:spcAft>
                <a:spcPts val="0"/>
              </a:spcAft>
              <a:buClr>
                <a:schemeClr val="dk1"/>
              </a:buClr>
              <a:buSzPct val="100000"/>
              <a:buNone/>
            </a:pPr>
            <a:r>
              <a:rPr lang="en-US" dirty="0"/>
              <a:t>255.255.255.0</a:t>
            </a:r>
            <a:endParaRPr dirty="0"/>
          </a:p>
          <a:p>
            <a:pPr marL="342900" lvl="0" indent="-342900" algn="l" rtl="0">
              <a:spcBef>
                <a:spcPts val="544"/>
              </a:spcBef>
              <a:spcAft>
                <a:spcPts val="0"/>
              </a:spcAft>
              <a:buClr>
                <a:schemeClr val="dk1"/>
              </a:buClr>
              <a:buSzPct val="100000"/>
              <a:buNone/>
            </a:pPr>
            <a:r>
              <a:rPr lang="en-US" dirty="0"/>
              <a:t>192.168.1.1</a:t>
            </a:r>
            <a:endParaRPr dirty="0"/>
          </a:p>
          <a:p>
            <a:pPr marL="342900" lvl="0" indent="-342900" algn="l" rtl="0">
              <a:spcBef>
                <a:spcPts val="544"/>
              </a:spcBef>
              <a:spcAft>
                <a:spcPts val="0"/>
              </a:spcAft>
              <a:buClr>
                <a:schemeClr val="dk1"/>
              </a:buClr>
              <a:buSzPct val="100000"/>
              <a:buNone/>
            </a:pPr>
            <a:r>
              <a:rPr lang="en-US" b="1" dirty="0"/>
              <a:t>Pc0</a:t>
            </a:r>
            <a:r>
              <a:rPr lang="en-US" dirty="0"/>
              <a:t>:</a:t>
            </a:r>
            <a:endParaRPr dirty="0"/>
          </a:p>
          <a:p>
            <a:pPr marL="342900" lvl="0" indent="-342900" algn="l" rtl="0">
              <a:spcBef>
                <a:spcPts val="544"/>
              </a:spcBef>
              <a:spcAft>
                <a:spcPts val="0"/>
              </a:spcAft>
              <a:buClr>
                <a:schemeClr val="dk1"/>
              </a:buClr>
              <a:buSzPct val="100000"/>
              <a:buNone/>
            </a:pPr>
            <a:r>
              <a:rPr lang="en-US" dirty="0"/>
              <a:t>Text editor:</a:t>
            </a:r>
            <a:endParaRPr dirty="0"/>
          </a:p>
          <a:p>
            <a:pPr marL="342900" lvl="0" indent="-342900" algn="l" rtl="0">
              <a:spcBef>
                <a:spcPts val="544"/>
              </a:spcBef>
              <a:spcAft>
                <a:spcPts val="0"/>
              </a:spcAft>
              <a:buClr>
                <a:schemeClr val="dk1"/>
              </a:buClr>
              <a:buSzPct val="100000"/>
              <a:buNone/>
            </a:pPr>
            <a:r>
              <a:rPr lang="en-US" dirty="0" smtClean="0"/>
              <a:t>Hi, This is my first FTP file.</a:t>
            </a:r>
            <a:endParaRPr dirty="0"/>
          </a:p>
          <a:p>
            <a:pPr marL="342900" lvl="0" indent="-342900" algn="l" rtl="0">
              <a:spcBef>
                <a:spcPts val="544"/>
              </a:spcBef>
              <a:spcAft>
                <a:spcPts val="0"/>
              </a:spcAft>
              <a:buClr>
                <a:schemeClr val="dk1"/>
              </a:buClr>
              <a:buSzPct val="100000"/>
              <a:buNone/>
            </a:pPr>
            <a:r>
              <a:rPr lang="en-US" dirty="0"/>
              <a:t>CLOSE tap and save(dee.txt)</a:t>
            </a:r>
            <a:endParaRPr dirty="0"/>
          </a:p>
          <a:p>
            <a:pPr marL="342900" lvl="0" indent="-342900" algn="l" rtl="0">
              <a:spcBef>
                <a:spcPts val="544"/>
              </a:spcBef>
              <a:spcAft>
                <a:spcPts val="0"/>
              </a:spcAft>
              <a:buClr>
                <a:schemeClr val="dk1"/>
              </a:buClr>
              <a:buSzPct val="100000"/>
              <a:buNone/>
            </a:pPr>
            <a:endParaRPr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162"/>
          <p:cNvSpPr txBox="1">
            <a:spLocks noGrp="1"/>
          </p:cNvSpPr>
          <p:nvPr>
            <p:ph type="body" idx="1"/>
          </p:nvPr>
        </p:nvSpPr>
        <p:spPr>
          <a:xfrm>
            <a:off x="457200" y="304800"/>
            <a:ext cx="8229600" cy="58213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dirty="0"/>
              <a:t>Pc0:</a:t>
            </a:r>
            <a:endParaRPr dirty="0"/>
          </a:p>
          <a:p>
            <a:pPr marL="342900" lvl="0" indent="-342900" algn="l" rtl="0">
              <a:spcBef>
                <a:spcPts val="592"/>
              </a:spcBef>
              <a:spcAft>
                <a:spcPts val="0"/>
              </a:spcAft>
              <a:buClr>
                <a:schemeClr val="dk1"/>
              </a:buClr>
              <a:buSzPct val="100000"/>
              <a:buNone/>
            </a:pPr>
            <a:r>
              <a:rPr lang="en-US" dirty="0"/>
              <a:t>Command prompt:</a:t>
            </a:r>
            <a:endParaRPr dirty="0"/>
          </a:p>
          <a:p>
            <a:pPr marL="342900" lvl="0" indent="-342900" algn="l" rtl="0">
              <a:spcBef>
                <a:spcPts val="592"/>
              </a:spcBef>
              <a:spcAft>
                <a:spcPts val="0"/>
              </a:spcAft>
              <a:buClr>
                <a:schemeClr val="dk1"/>
              </a:buClr>
              <a:buSzPct val="100000"/>
              <a:buNone/>
            </a:pPr>
            <a:r>
              <a:rPr lang="en-US" dirty="0"/>
              <a:t>Ping 202.84.41.2</a:t>
            </a:r>
            <a:endParaRPr dirty="0"/>
          </a:p>
          <a:p>
            <a:pPr marL="342900" lvl="0" indent="-342900" algn="l" rtl="0">
              <a:spcBef>
                <a:spcPts val="592"/>
              </a:spcBef>
              <a:spcAft>
                <a:spcPts val="0"/>
              </a:spcAft>
              <a:buClr>
                <a:schemeClr val="dk1"/>
              </a:buClr>
              <a:buSzPct val="100000"/>
              <a:buNone/>
            </a:pPr>
            <a:r>
              <a:rPr lang="en-US" u="sng" dirty="0">
                <a:solidFill>
                  <a:schemeClr val="hlink"/>
                </a:solidFill>
                <a:hlinkClick r:id="rId3"/>
              </a:rPr>
              <a:t>ftp 202.84.41.2</a:t>
            </a:r>
            <a:endParaRPr dirty="0"/>
          </a:p>
          <a:p>
            <a:pPr marL="342900" lvl="0" indent="-342900" algn="l" rtl="0">
              <a:spcBef>
                <a:spcPts val="592"/>
              </a:spcBef>
              <a:spcAft>
                <a:spcPts val="0"/>
              </a:spcAft>
              <a:buClr>
                <a:schemeClr val="dk1"/>
              </a:buClr>
              <a:buSzPct val="100000"/>
              <a:buNone/>
            </a:pPr>
            <a:r>
              <a:rPr lang="en-US" dirty="0" err="1" smtClean="0"/>
              <a:t>Username:admin</a:t>
            </a:r>
            <a:endParaRPr dirty="0"/>
          </a:p>
          <a:p>
            <a:pPr marL="342900" lvl="0" indent="-342900" algn="l" rtl="0">
              <a:spcBef>
                <a:spcPts val="592"/>
              </a:spcBef>
              <a:spcAft>
                <a:spcPts val="0"/>
              </a:spcAft>
              <a:buClr>
                <a:schemeClr val="dk1"/>
              </a:buClr>
              <a:buSzPct val="100000"/>
              <a:buNone/>
            </a:pPr>
            <a:r>
              <a:rPr lang="en-US" dirty="0" smtClean="0"/>
              <a:t>Password:12345</a:t>
            </a:r>
            <a:endParaRPr dirty="0"/>
          </a:p>
          <a:p>
            <a:pPr marL="342900" lvl="0" indent="-342900" algn="l" rtl="0">
              <a:spcBef>
                <a:spcPts val="592"/>
              </a:spcBef>
              <a:spcAft>
                <a:spcPts val="0"/>
              </a:spcAft>
              <a:buClr>
                <a:schemeClr val="dk1"/>
              </a:buClr>
              <a:buSzPct val="100000"/>
              <a:buNone/>
            </a:pPr>
            <a:r>
              <a:rPr lang="en-US" dirty="0"/>
              <a:t>Logged in</a:t>
            </a:r>
            <a:endParaRPr dirty="0"/>
          </a:p>
          <a:p>
            <a:pPr marL="342900" lvl="0" indent="-342900" algn="l" rtl="0">
              <a:spcBef>
                <a:spcPts val="592"/>
              </a:spcBef>
              <a:spcAft>
                <a:spcPts val="0"/>
              </a:spcAft>
              <a:buClr>
                <a:schemeClr val="dk1"/>
              </a:buClr>
              <a:buSzPct val="100000"/>
              <a:buNone/>
            </a:pPr>
            <a:r>
              <a:rPr lang="en-US" dirty="0"/>
              <a:t>ftp&gt; </a:t>
            </a:r>
            <a:r>
              <a:rPr lang="en-US" dirty="0" err="1"/>
              <a:t>dir</a:t>
            </a:r>
            <a:endParaRPr dirty="0"/>
          </a:p>
          <a:p>
            <a:pPr marL="342900" lvl="0" indent="-342900" algn="l" rtl="0">
              <a:spcBef>
                <a:spcPts val="592"/>
              </a:spcBef>
              <a:spcAft>
                <a:spcPts val="0"/>
              </a:spcAft>
              <a:buClr>
                <a:schemeClr val="dk1"/>
              </a:buClr>
              <a:buSzPct val="100000"/>
              <a:buNone/>
            </a:pPr>
            <a:r>
              <a:rPr lang="en-US" dirty="0"/>
              <a:t>ftp&gt; put dee.txt</a:t>
            </a:r>
            <a:endParaRPr dirty="0"/>
          </a:p>
          <a:p>
            <a:pPr marL="342900" lvl="0" indent="-342900" algn="l" rtl="0">
              <a:spcBef>
                <a:spcPts val="592"/>
              </a:spcBef>
              <a:spcAft>
                <a:spcPts val="0"/>
              </a:spcAft>
              <a:buClr>
                <a:schemeClr val="dk1"/>
              </a:buClr>
              <a:buSzPct val="100000"/>
              <a:buNone/>
            </a:pPr>
            <a:r>
              <a:rPr lang="en-US" dirty="0"/>
              <a:t>Transfer complete</a:t>
            </a:r>
            <a:endParaRPr dirty="0"/>
          </a:p>
          <a:p>
            <a:pPr marL="342900" lvl="0" indent="-342900" algn="l" rtl="0">
              <a:spcBef>
                <a:spcPts val="592"/>
              </a:spcBef>
              <a:spcAft>
                <a:spcPts val="0"/>
              </a:spcAft>
              <a:buClr>
                <a:schemeClr val="dk1"/>
              </a:buClr>
              <a:buSzPct val="100000"/>
              <a:buNone/>
            </a:pPr>
            <a:r>
              <a:rPr lang="en-US" dirty="0"/>
              <a:t>ftp&gt;</a:t>
            </a:r>
            <a:r>
              <a:rPr lang="en-US" dirty="0" err="1"/>
              <a:t>dir</a:t>
            </a:r>
            <a:endParaRPr dirty="0"/>
          </a:p>
          <a:p>
            <a:pPr marL="342900" lvl="0" indent="-342900" algn="l" rtl="0">
              <a:spcBef>
                <a:spcPts val="592"/>
              </a:spcBef>
              <a:spcAft>
                <a:spcPts val="0"/>
              </a:spcAft>
              <a:buClr>
                <a:schemeClr val="dk1"/>
              </a:buClr>
              <a:buSzPct val="100000"/>
              <a:buNone/>
            </a:pPr>
            <a:endParaRPr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344"/>
        <p:cNvGrpSpPr/>
        <p:nvPr/>
      </p:nvGrpSpPr>
      <p:grpSpPr>
        <a:xfrm>
          <a:off x="0" y="0"/>
          <a:ext cx="0" cy="0"/>
          <a:chOff x="0" y="0"/>
          <a:chExt cx="0" cy="0"/>
        </a:xfrm>
      </p:grpSpPr>
      <p:sp>
        <p:nvSpPr>
          <p:cNvPr id="1345" name="Google Shape;1345;p163"/>
          <p:cNvSpPr txBox="1">
            <a:spLocks noGrp="1"/>
          </p:cNvSpPr>
          <p:nvPr>
            <p:ph type="body" idx="1"/>
          </p:nvPr>
        </p:nvSpPr>
        <p:spPr>
          <a:xfrm>
            <a:off x="457200" y="381000"/>
            <a:ext cx="8229600" cy="57451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a:t>Pc1:</a:t>
            </a:r>
            <a:endParaRPr/>
          </a:p>
          <a:p>
            <a:pPr marL="342900" lvl="0" indent="-342900" algn="l" rtl="0">
              <a:spcBef>
                <a:spcPts val="640"/>
              </a:spcBef>
              <a:spcAft>
                <a:spcPts val="0"/>
              </a:spcAft>
              <a:buClr>
                <a:schemeClr val="dk1"/>
              </a:buClr>
              <a:buSzPts val="3200"/>
              <a:buNone/>
            </a:pPr>
            <a:r>
              <a:rPr lang="en-US"/>
              <a:t>Command prompt</a:t>
            </a:r>
            <a:endParaRPr/>
          </a:p>
          <a:p>
            <a:pPr marL="342900" lvl="0" indent="-342900" algn="l" rtl="0">
              <a:spcBef>
                <a:spcPts val="640"/>
              </a:spcBef>
              <a:spcAft>
                <a:spcPts val="0"/>
              </a:spcAft>
              <a:buClr>
                <a:schemeClr val="dk1"/>
              </a:buClr>
              <a:buSzPts val="3200"/>
              <a:buNone/>
            </a:pPr>
            <a:r>
              <a:rPr lang="en-US" u="sng">
                <a:solidFill>
                  <a:schemeClr val="hlink"/>
                </a:solidFill>
                <a:hlinkClick r:id="rId3"/>
              </a:rPr>
              <a:t>ftp 202.84.41.2</a:t>
            </a:r>
            <a:endParaRPr/>
          </a:p>
          <a:p>
            <a:pPr marL="342900" lvl="0" indent="-342900" algn="l" rtl="0">
              <a:spcBef>
                <a:spcPts val="640"/>
              </a:spcBef>
              <a:spcAft>
                <a:spcPts val="0"/>
              </a:spcAft>
              <a:buClr>
                <a:schemeClr val="dk1"/>
              </a:buClr>
              <a:buSzPts val="3200"/>
              <a:buNone/>
            </a:pPr>
            <a:r>
              <a:rPr lang="en-US"/>
              <a:t>ftp&gt;dir</a:t>
            </a:r>
            <a:endParaRPr/>
          </a:p>
          <a:p>
            <a:pPr marL="342900" lvl="0" indent="-342900" algn="l" rtl="0">
              <a:spcBef>
                <a:spcPts val="640"/>
              </a:spcBef>
              <a:spcAft>
                <a:spcPts val="0"/>
              </a:spcAft>
              <a:buClr>
                <a:schemeClr val="dk1"/>
              </a:buClr>
              <a:buSzPts val="3200"/>
              <a:buNone/>
            </a:pPr>
            <a:r>
              <a:rPr lang="en-US"/>
              <a:t>ftp&gt;get dee.txt</a:t>
            </a:r>
            <a:endParaRPr/>
          </a:p>
          <a:p>
            <a:pPr marL="342900" lvl="0" indent="-342900" algn="l" rtl="0">
              <a:spcBef>
                <a:spcPts val="640"/>
              </a:spcBef>
              <a:spcAft>
                <a:spcPts val="0"/>
              </a:spcAft>
              <a:buClr>
                <a:schemeClr val="dk1"/>
              </a:buClr>
              <a:buSzPts val="3200"/>
              <a:buNone/>
            </a:pPr>
            <a:r>
              <a:rPr lang="en-US"/>
              <a:t>ftp&gt;rename dee.txt hi</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20;p160"/>
          <p:cNvSpPr txBox="1">
            <a:spLocks/>
          </p:cNvSpPr>
          <p:nvPr/>
        </p:nvSpPr>
        <p:spPr>
          <a:xfrm>
            <a:off x="361667" y="124512"/>
            <a:ext cx="8229600" cy="612466"/>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dirty="0" smtClean="0"/>
              <a:t>TFTP</a:t>
            </a:r>
            <a:endParaRPr lang="en-US" dirty="0"/>
          </a:p>
        </p:txBody>
      </p:sp>
      <p:sp>
        <p:nvSpPr>
          <p:cNvPr id="25" name="Title 1"/>
          <p:cNvSpPr txBox="1">
            <a:spLocks/>
          </p:cNvSpPr>
          <p:nvPr/>
        </p:nvSpPr>
        <p:spPr>
          <a:xfrm>
            <a:off x="245660" y="777920"/>
            <a:ext cx="8734567" cy="1787858"/>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2800" b="1" dirty="0"/>
              <a:t>TFTP (Trivial File Transfer Protocol)</a:t>
            </a:r>
            <a:r>
              <a:rPr lang="en-US" sz="2800" dirty="0"/>
              <a:t> is a </a:t>
            </a:r>
            <a:r>
              <a:rPr lang="en-US" sz="2800" b="1" dirty="0"/>
              <a:t>simplified version of FTP</a:t>
            </a:r>
            <a:r>
              <a:rPr lang="en-US" sz="2800" dirty="0"/>
              <a:t>, used mainly for </a:t>
            </a:r>
            <a:r>
              <a:rPr lang="en-US" sz="2800" b="1" dirty="0"/>
              <a:t>transferring small files</a:t>
            </a:r>
            <a:r>
              <a:rPr lang="en-US" sz="2800" dirty="0"/>
              <a:t> between network devices — such as routers, switches, and servers</a:t>
            </a:r>
            <a:r>
              <a:rPr lang="en-US" sz="2800" dirty="0" smtClean="0"/>
              <a:t>.</a:t>
            </a:r>
          </a:p>
          <a:p>
            <a:pPr algn="l"/>
            <a:endParaRPr lang="en-US" sz="2800" dirty="0"/>
          </a:p>
        </p:txBody>
      </p:sp>
      <p:graphicFrame>
        <p:nvGraphicFramePr>
          <p:cNvPr id="2" name="Table 1"/>
          <p:cNvGraphicFramePr>
            <a:graphicFrameLocks noGrp="1"/>
          </p:cNvGraphicFramePr>
          <p:nvPr>
            <p:extLst>
              <p:ext uri="{D42A27DB-BD31-4B8C-83A1-F6EECF244321}">
                <p14:modId xmlns:p14="http://schemas.microsoft.com/office/powerpoint/2010/main" val="507742644"/>
              </p:ext>
            </p:extLst>
          </p:nvPr>
        </p:nvGraphicFramePr>
        <p:xfrm>
          <a:off x="498143" y="2606717"/>
          <a:ext cx="8250072" cy="3835025"/>
        </p:xfrm>
        <a:graphic>
          <a:graphicData uri="http://schemas.openxmlformats.org/drawingml/2006/table">
            <a:tbl>
              <a:tblPr>
                <a:tableStyleId>{A332DE6A-0728-4951-BA95-FBE1D94F13F9}</a:tableStyleId>
              </a:tblPr>
              <a:tblGrid>
                <a:gridCol w="4125036"/>
                <a:gridCol w="4125036"/>
              </a:tblGrid>
              <a:tr h="491669">
                <a:tc>
                  <a:txBody>
                    <a:bodyPr/>
                    <a:lstStyle/>
                    <a:p>
                      <a:pPr algn="ctr"/>
                      <a:r>
                        <a:rPr lang="en-IN" sz="2000" b="1" dirty="0"/>
                        <a:t>Use Case</a:t>
                      </a:r>
                    </a:p>
                  </a:txBody>
                  <a:tcPr anchor="ctr">
                    <a:solidFill>
                      <a:schemeClr val="bg1">
                        <a:lumMod val="65000"/>
                        <a:alpha val="0"/>
                      </a:schemeClr>
                    </a:solidFill>
                  </a:tcPr>
                </a:tc>
                <a:tc>
                  <a:txBody>
                    <a:bodyPr/>
                    <a:lstStyle/>
                    <a:p>
                      <a:pPr algn="ctr"/>
                      <a:r>
                        <a:rPr lang="en-IN" sz="2000" b="1" dirty="0"/>
                        <a:t>Description</a:t>
                      </a:r>
                    </a:p>
                  </a:txBody>
                  <a:tcPr anchor="ctr">
                    <a:solidFill>
                      <a:schemeClr val="bg1">
                        <a:lumMod val="65000"/>
                        <a:alpha val="0"/>
                      </a:schemeClr>
                    </a:solidFill>
                  </a:tcPr>
                </a:tc>
              </a:tr>
              <a:tr h="835839">
                <a:tc>
                  <a:txBody>
                    <a:bodyPr/>
                    <a:lstStyle/>
                    <a:p>
                      <a:r>
                        <a:rPr lang="en-IN" sz="1800" dirty="0"/>
                        <a:t>1. Backup Configurations</a:t>
                      </a:r>
                    </a:p>
                  </a:txBody>
                  <a:tcPr anchor="ctr"/>
                </a:tc>
                <a:tc>
                  <a:txBody>
                    <a:bodyPr/>
                    <a:lstStyle/>
                    <a:p>
                      <a:r>
                        <a:rPr lang="en-US" sz="1800" dirty="0"/>
                        <a:t>Network admins use TFTP to back up router/switch configuration files.</a:t>
                      </a:r>
                    </a:p>
                  </a:txBody>
                  <a:tcPr anchor="ctr"/>
                </a:tc>
              </a:tr>
              <a:tr h="835839">
                <a:tc>
                  <a:txBody>
                    <a:bodyPr/>
                    <a:lstStyle/>
                    <a:p>
                      <a:r>
                        <a:rPr lang="en-IN" sz="1800" dirty="0"/>
                        <a:t>2. Restore Configurations</a:t>
                      </a:r>
                    </a:p>
                  </a:txBody>
                  <a:tcPr anchor="ctr"/>
                </a:tc>
                <a:tc>
                  <a:txBody>
                    <a:bodyPr/>
                    <a:lstStyle/>
                    <a:p>
                      <a:r>
                        <a:rPr lang="en-US" sz="1800" dirty="0"/>
                        <a:t>Quickly restore saved </a:t>
                      </a:r>
                      <a:r>
                        <a:rPr lang="en-US" sz="1800" dirty="0" err="1"/>
                        <a:t>configs</a:t>
                      </a:r>
                      <a:r>
                        <a:rPr lang="en-US" sz="1800" dirty="0"/>
                        <a:t> to a new or reset device.</a:t>
                      </a:r>
                    </a:p>
                  </a:txBody>
                  <a:tcPr anchor="ctr"/>
                </a:tc>
              </a:tr>
              <a:tr h="835839">
                <a:tc>
                  <a:txBody>
                    <a:bodyPr/>
                    <a:lstStyle/>
                    <a:p>
                      <a:r>
                        <a:rPr lang="en-IN" sz="1800" dirty="0"/>
                        <a:t>3. IOS / Firmware Upgrades</a:t>
                      </a:r>
                    </a:p>
                  </a:txBody>
                  <a:tcPr anchor="ctr"/>
                </a:tc>
                <a:tc>
                  <a:txBody>
                    <a:bodyPr/>
                    <a:lstStyle/>
                    <a:p>
                      <a:r>
                        <a:rPr lang="en-US" sz="1800" dirty="0"/>
                        <a:t>Upload or download operating system images to routers, switches, or firewalls.</a:t>
                      </a:r>
                    </a:p>
                  </a:txBody>
                  <a:tcPr anchor="ctr"/>
                </a:tc>
              </a:tr>
              <a:tr h="835839">
                <a:tc>
                  <a:txBody>
                    <a:bodyPr/>
                    <a:lstStyle/>
                    <a:p>
                      <a:r>
                        <a:rPr lang="nl-NL" sz="1800" dirty="0"/>
                        <a:t>4. PXE Boot (Network Boot)</a:t>
                      </a:r>
                    </a:p>
                  </a:txBody>
                  <a:tcPr anchor="ctr"/>
                </a:tc>
                <a:tc>
                  <a:txBody>
                    <a:bodyPr/>
                    <a:lstStyle/>
                    <a:p>
                      <a:r>
                        <a:rPr lang="en-US" sz="1800" dirty="0"/>
                        <a:t>Computers booting over a network use TFTP to download the initial boot files.</a:t>
                      </a:r>
                    </a:p>
                  </a:txBody>
                  <a:tcPr anchor="ctr"/>
                </a:tc>
              </a:tr>
            </a:tbl>
          </a:graphicData>
        </a:graphic>
      </p:graphicFrame>
    </p:spTree>
    <p:extLst>
      <p:ext uri="{BB962C8B-B14F-4D97-AF65-F5344CB8AC3E}">
        <p14:creationId xmlns:p14="http://schemas.microsoft.com/office/powerpoint/2010/main" val="186362931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349"/>
        <p:cNvGrpSpPr/>
        <p:nvPr/>
      </p:nvGrpSpPr>
      <p:grpSpPr>
        <a:xfrm>
          <a:off x="0" y="0"/>
          <a:ext cx="0" cy="0"/>
          <a:chOff x="0" y="0"/>
          <a:chExt cx="0" cy="0"/>
        </a:xfrm>
      </p:grpSpPr>
      <p:sp>
        <p:nvSpPr>
          <p:cNvPr id="1350" name="Google Shape;1350;p164"/>
          <p:cNvSpPr txBox="1">
            <a:spLocks noGrp="1"/>
          </p:cNvSpPr>
          <p:nvPr>
            <p:ph type="title"/>
          </p:nvPr>
        </p:nvSpPr>
        <p:spPr>
          <a:xfrm>
            <a:off x="457200" y="76200"/>
            <a:ext cx="8229600" cy="674427"/>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b="1" dirty="0" smtClean="0"/>
              <a:t>TFTP LAB</a:t>
            </a:r>
            <a:endParaRPr b="1" dirty="0"/>
          </a:p>
        </p:txBody>
      </p:sp>
      <p:sp>
        <p:nvSpPr>
          <p:cNvPr id="1351" name="Google Shape;1351;p164"/>
          <p:cNvSpPr txBox="1">
            <a:spLocks noGrp="1"/>
          </p:cNvSpPr>
          <p:nvPr>
            <p:ph type="body" idx="1"/>
          </p:nvPr>
        </p:nvSpPr>
        <p:spPr>
          <a:xfrm>
            <a:off x="600500" y="941696"/>
            <a:ext cx="8086299" cy="518446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00000"/>
              <a:buNone/>
            </a:pPr>
            <a:r>
              <a:rPr lang="en-US" b="1" dirty="0"/>
              <a:t>Router(</a:t>
            </a:r>
            <a:r>
              <a:rPr lang="en-US" b="1" dirty="0" err="1"/>
              <a:t>config</a:t>
            </a:r>
            <a:r>
              <a:rPr lang="en-US" b="1" dirty="0"/>
              <a:t>):</a:t>
            </a:r>
            <a:endParaRPr b="1" dirty="0"/>
          </a:p>
          <a:p>
            <a:pPr marL="342900" lvl="0" indent="-342900" algn="l" rtl="0">
              <a:spcBef>
                <a:spcPts val="544"/>
              </a:spcBef>
              <a:spcAft>
                <a:spcPts val="0"/>
              </a:spcAft>
              <a:buClr>
                <a:schemeClr val="dk1"/>
              </a:buClr>
              <a:buSzPct val="100000"/>
              <a:buNone/>
            </a:pPr>
            <a:r>
              <a:rPr lang="en-US" dirty="0"/>
              <a:t>Hostname R1</a:t>
            </a:r>
            <a:endParaRPr dirty="0"/>
          </a:p>
          <a:p>
            <a:pPr marL="342900" lvl="0" indent="-342900" algn="l" rtl="0">
              <a:spcBef>
                <a:spcPts val="544"/>
              </a:spcBef>
              <a:spcAft>
                <a:spcPts val="0"/>
              </a:spcAft>
              <a:buClr>
                <a:schemeClr val="dk1"/>
              </a:buClr>
              <a:buSzPct val="100000"/>
              <a:buNone/>
            </a:pPr>
            <a:r>
              <a:rPr lang="en-US" dirty="0"/>
              <a:t>#enable secret 123123</a:t>
            </a:r>
            <a:endParaRPr dirty="0"/>
          </a:p>
          <a:p>
            <a:pPr marL="342900" lvl="0" indent="-342900" algn="l" rtl="0">
              <a:spcBef>
                <a:spcPts val="544"/>
              </a:spcBef>
              <a:spcAft>
                <a:spcPts val="0"/>
              </a:spcAft>
              <a:buClr>
                <a:schemeClr val="dk1"/>
              </a:buClr>
              <a:buSzPct val="100000"/>
              <a:buNone/>
            </a:pPr>
            <a:r>
              <a:rPr lang="en-US" dirty="0"/>
              <a:t>#exit</a:t>
            </a:r>
            <a:endParaRPr dirty="0"/>
          </a:p>
          <a:p>
            <a:pPr marL="342900" lvl="0" indent="-342900" algn="l" rtl="0">
              <a:spcBef>
                <a:spcPts val="544"/>
              </a:spcBef>
              <a:spcAft>
                <a:spcPts val="0"/>
              </a:spcAft>
              <a:buClr>
                <a:schemeClr val="dk1"/>
              </a:buClr>
              <a:buSzPct val="100000"/>
              <a:buNone/>
            </a:pPr>
            <a:endParaRPr lang="en-US" dirty="0" smtClean="0"/>
          </a:p>
          <a:p>
            <a:pPr marL="342900" lvl="0" indent="-342900" algn="l" rtl="0">
              <a:spcBef>
                <a:spcPts val="544"/>
              </a:spcBef>
              <a:spcAft>
                <a:spcPts val="0"/>
              </a:spcAft>
              <a:buClr>
                <a:schemeClr val="dk1"/>
              </a:buClr>
              <a:buSzPct val="100000"/>
              <a:buNone/>
            </a:pPr>
            <a:r>
              <a:rPr lang="en-US" dirty="0" smtClean="0"/>
              <a:t>R1#write</a:t>
            </a:r>
            <a:endParaRPr dirty="0"/>
          </a:p>
          <a:p>
            <a:pPr marL="342900" lvl="0" indent="-342900" algn="l" rtl="0">
              <a:spcBef>
                <a:spcPts val="544"/>
              </a:spcBef>
              <a:spcAft>
                <a:spcPts val="0"/>
              </a:spcAft>
              <a:buClr>
                <a:schemeClr val="dk1"/>
              </a:buClr>
              <a:buSzPct val="100000"/>
              <a:buNone/>
            </a:pPr>
            <a:r>
              <a:rPr lang="en-US" dirty="0" smtClean="0"/>
              <a:t>R1#copy </a:t>
            </a:r>
            <a:r>
              <a:rPr lang="en-US" dirty="0"/>
              <a:t>startup-</a:t>
            </a:r>
            <a:r>
              <a:rPr lang="en-US" dirty="0" err="1"/>
              <a:t>config</a:t>
            </a:r>
            <a:r>
              <a:rPr lang="en-US" dirty="0"/>
              <a:t> </a:t>
            </a:r>
            <a:r>
              <a:rPr lang="en-US" dirty="0" err="1"/>
              <a:t>tftp</a:t>
            </a:r>
            <a:endParaRPr dirty="0"/>
          </a:p>
          <a:p>
            <a:pPr marL="342900" lvl="0" indent="-342900" algn="l" rtl="0">
              <a:spcBef>
                <a:spcPts val="544"/>
              </a:spcBef>
              <a:spcAft>
                <a:spcPts val="0"/>
              </a:spcAft>
              <a:buClr>
                <a:schemeClr val="dk1"/>
              </a:buClr>
              <a:buSzPct val="100000"/>
              <a:buNone/>
            </a:pPr>
            <a:r>
              <a:rPr lang="en-US" dirty="0"/>
              <a:t>R1#copy startup-</a:t>
            </a:r>
            <a:r>
              <a:rPr lang="en-US" dirty="0" err="1"/>
              <a:t>config</a:t>
            </a:r>
            <a:r>
              <a:rPr lang="en-US" dirty="0"/>
              <a:t> </a:t>
            </a:r>
            <a:r>
              <a:rPr lang="en-US" dirty="0" err="1"/>
              <a:t>tftp</a:t>
            </a:r>
            <a:r>
              <a:rPr lang="en-US" dirty="0"/>
              <a:t> host []? 10.0.0.2</a:t>
            </a:r>
            <a:endParaRPr dirty="0"/>
          </a:p>
          <a:p>
            <a:pPr marL="342900" lvl="0" indent="-342900" algn="l" rtl="0">
              <a:spcBef>
                <a:spcPts val="544"/>
              </a:spcBef>
              <a:spcAft>
                <a:spcPts val="0"/>
              </a:spcAft>
              <a:buClr>
                <a:schemeClr val="dk1"/>
              </a:buClr>
              <a:buSzPct val="100000"/>
              <a:buNone/>
            </a:pPr>
            <a:r>
              <a:rPr lang="en-US" dirty="0"/>
              <a:t>enter</a:t>
            </a: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p:txBody>
      </p:sp>
      <p:sp>
        <p:nvSpPr>
          <p:cNvPr id="1352" name="Google Shape;1352;p164"/>
          <p:cNvSpPr/>
          <p:nvPr/>
        </p:nvSpPr>
        <p:spPr>
          <a:xfrm>
            <a:off x="4267200" y="1905000"/>
            <a:ext cx="533400" cy="1066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3" name="Google Shape;1353;p164"/>
          <p:cNvSpPr/>
          <p:nvPr/>
        </p:nvSpPr>
        <p:spPr>
          <a:xfrm>
            <a:off x="5943600" y="2286000"/>
            <a:ext cx="914400" cy="3810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54" name="Google Shape;1354;p164"/>
          <p:cNvSpPr/>
          <p:nvPr/>
        </p:nvSpPr>
        <p:spPr>
          <a:xfrm>
            <a:off x="7848600" y="2133600"/>
            <a:ext cx="762000" cy="685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R1</a:t>
            </a:r>
            <a:endParaRPr sz="1800" dirty="0">
              <a:solidFill>
                <a:schemeClr val="lt1"/>
              </a:solidFill>
              <a:latin typeface="Calibri"/>
              <a:ea typeface="Calibri"/>
              <a:cs typeface="Calibri"/>
              <a:sym typeface="Calibri"/>
            </a:endParaRPr>
          </a:p>
        </p:txBody>
      </p:sp>
      <p:cxnSp>
        <p:nvCxnSpPr>
          <p:cNvPr id="1355" name="Google Shape;1355;p164"/>
          <p:cNvCxnSpPr>
            <a:stCxn id="1352" idx="3"/>
            <a:endCxn id="1353" idx="1"/>
          </p:cNvCxnSpPr>
          <p:nvPr/>
        </p:nvCxnSpPr>
        <p:spPr>
          <a:xfrm>
            <a:off x="4800600" y="2438400"/>
            <a:ext cx="1143000" cy="38100"/>
          </a:xfrm>
          <a:prstGeom prst="straightConnector1">
            <a:avLst/>
          </a:prstGeom>
          <a:noFill/>
          <a:ln w="9525" cap="flat" cmpd="sng">
            <a:solidFill>
              <a:srgbClr val="4A7DBA"/>
            </a:solidFill>
            <a:prstDash val="solid"/>
            <a:round/>
            <a:headEnd type="none" w="sm" len="sm"/>
            <a:tailEnd type="none" w="sm" len="sm"/>
          </a:ln>
        </p:spPr>
      </p:cxnSp>
      <p:cxnSp>
        <p:nvCxnSpPr>
          <p:cNvPr id="1356" name="Google Shape;1356;p164"/>
          <p:cNvCxnSpPr>
            <a:stCxn id="1353" idx="3"/>
            <a:endCxn id="1354" idx="2"/>
          </p:cNvCxnSpPr>
          <p:nvPr/>
        </p:nvCxnSpPr>
        <p:spPr>
          <a:xfrm>
            <a:off x="6858000" y="2476500"/>
            <a:ext cx="990600" cy="0"/>
          </a:xfrm>
          <a:prstGeom prst="straightConnector1">
            <a:avLst/>
          </a:prstGeom>
          <a:noFill/>
          <a:ln w="9525" cap="flat" cmpd="sng">
            <a:solidFill>
              <a:srgbClr val="4A7DBA"/>
            </a:solidFill>
            <a:prstDash val="solid"/>
            <a:round/>
            <a:headEnd type="none" w="sm" len="sm"/>
            <a:tailEnd type="none" w="sm" len="sm"/>
          </a:ln>
        </p:spPr>
      </p:cxnSp>
      <p:sp>
        <p:nvSpPr>
          <p:cNvPr id="2" name="TextBox 1"/>
          <p:cNvSpPr txBox="1"/>
          <p:nvPr/>
        </p:nvSpPr>
        <p:spPr>
          <a:xfrm>
            <a:off x="4953000" y="2054423"/>
            <a:ext cx="830677" cy="307777"/>
          </a:xfrm>
          <a:prstGeom prst="rect">
            <a:avLst/>
          </a:prstGeom>
          <a:noFill/>
        </p:spPr>
        <p:txBody>
          <a:bodyPr wrap="none" rtlCol="0">
            <a:spAutoFit/>
          </a:bodyPr>
          <a:lstStyle/>
          <a:p>
            <a:r>
              <a:rPr lang="en-US" dirty="0" smtClean="0"/>
              <a:t>10.0.0.2</a:t>
            </a:r>
            <a:endParaRPr lang="en-IN"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360"/>
        <p:cNvGrpSpPr/>
        <p:nvPr/>
      </p:nvGrpSpPr>
      <p:grpSpPr>
        <a:xfrm>
          <a:off x="0" y="0"/>
          <a:ext cx="0" cy="0"/>
          <a:chOff x="0" y="0"/>
          <a:chExt cx="0" cy="0"/>
        </a:xfrm>
      </p:grpSpPr>
      <p:sp>
        <p:nvSpPr>
          <p:cNvPr id="1361" name="Google Shape;1361;p165"/>
          <p:cNvSpPr txBox="1">
            <a:spLocks noGrp="1"/>
          </p:cNvSpPr>
          <p:nvPr>
            <p:ph type="body" idx="1"/>
          </p:nvPr>
        </p:nvSpPr>
        <p:spPr>
          <a:xfrm>
            <a:off x="457200" y="304800"/>
            <a:ext cx="8454788" cy="6355307"/>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None/>
            </a:pPr>
            <a:r>
              <a:rPr lang="en-US" b="1" dirty="0"/>
              <a:t>Cut router and add router </a:t>
            </a:r>
            <a:r>
              <a:rPr lang="en-US" b="1" dirty="0" smtClean="0"/>
              <a:t>same Gateway(10.0.0.1</a:t>
            </a:r>
            <a:r>
              <a:rPr lang="en-US" b="1" dirty="0"/>
              <a:t>)</a:t>
            </a:r>
            <a:r>
              <a:rPr lang="en-US" dirty="0"/>
              <a:t> </a:t>
            </a:r>
            <a:endParaRPr lang="en-US" dirty="0" smtClean="0"/>
          </a:p>
          <a:p>
            <a:pPr marL="342900" lvl="0" indent="-342900" algn="l" rtl="0">
              <a:spcBef>
                <a:spcPts val="0"/>
              </a:spcBef>
              <a:spcAft>
                <a:spcPts val="0"/>
              </a:spcAft>
              <a:buClr>
                <a:schemeClr val="dk1"/>
              </a:buClr>
              <a:buSzPts val="3200"/>
              <a:buNone/>
            </a:pPr>
            <a:r>
              <a:rPr lang="en-US" dirty="0" smtClean="0"/>
              <a:t>lineup</a:t>
            </a:r>
            <a:endParaRPr dirty="0"/>
          </a:p>
          <a:p>
            <a:pPr marL="342900" lvl="0" indent="-342900" algn="l" rtl="0">
              <a:spcBef>
                <a:spcPts val="640"/>
              </a:spcBef>
              <a:spcAft>
                <a:spcPts val="0"/>
              </a:spcAft>
              <a:buClr>
                <a:schemeClr val="dk1"/>
              </a:buClr>
              <a:buSzPts val="3200"/>
              <a:buNone/>
            </a:pPr>
            <a:r>
              <a:rPr lang="en-US" b="1" dirty="0" smtClean="0"/>
              <a:t>New Router</a:t>
            </a:r>
            <a:r>
              <a:rPr lang="en-US" b="1" dirty="0"/>
              <a:t>:</a:t>
            </a:r>
            <a:endParaRPr b="1" dirty="0"/>
          </a:p>
          <a:p>
            <a:pPr marL="342900" lvl="0" indent="-342900" algn="l" rtl="0">
              <a:spcBef>
                <a:spcPts val="640"/>
              </a:spcBef>
              <a:spcAft>
                <a:spcPts val="0"/>
              </a:spcAft>
              <a:buClr>
                <a:schemeClr val="dk1"/>
              </a:buClr>
              <a:buSzPts val="3200"/>
              <a:buNone/>
            </a:pPr>
            <a:r>
              <a:rPr lang="en-US" b="1" dirty="0" err="1"/>
              <a:t>Previllage</a:t>
            </a:r>
            <a:r>
              <a:rPr lang="en-US" b="1" dirty="0"/>
              <a:t> </a:t>
            </a:r>
            <a:r>
              <a:rPr lang="en-US" b="1" dirty="0" smtClean="0"/>
              <a:t>mode</a:t>
            </a:r>
            <a:r>
              <a:rPr lang="en-US" b="1" dirty="0" smtClean="0">
                <a:sym typeface="Wingdings" panose="05000000000000000000" pitchFamily="2" charset="2"/>
              </a:rPr>
              <a:t>(</a:t>
            </a:r>
            <a:r>
              <a:rPr lang="en-US" b="1" dirty="0" err="1" smtClean="0">
                <a:sym typeface="Wingdings" panose="05000000000000000000" pitchFamily="2" charset="2"/>
              </a:rPr>
              <a:t>en</a:t>
            </a:r>
            <a:r>
              <a:rPr lang="en-US" b="1" dirty="0" smtClean="0">
                <a:sym typeface="Wingdings" panose="05000000000000000000" pitchFamily="2" charset="2"/>
              </a:rPr>
              <a:t>)</a:t>
            </a:r>
            <a:endParaRPr b="1" dirty="0"/>
          </a:p>
          <a:p>
            <a:pPr marL="342900" lvl="0" indent="-342900" algn="l" rtl="0">
              <a:spcBef>
                <a:spcPts val="640"/>
              </a:spcBef>
              <a:spcAft>
                <a:spcPts val="0"/>
              </a:spcAft>
              <a:buClr>
                <a:schemeClr val="dk1"/>
              </a:buClr>
              <a:buSzPts val="3200"/>
              <a:buNone/>
            </a:pPr>
            <a:r>
              <a:rPr lang="en-US" dirty="0"/>
              <a:t>#copy </a:t>
            </a:r>
            <a:r>
              <a:rPr lang="en-US" dirty="0" err="1"/>
              <a:t>tftp</a:t>
            </a:r>
            <a:r>
              <a:rPr lang="en-US" dirty="0"/>
              <a:t> startup-</a:t>
            </a:r>
            <a:r>
              <a:rPr lang="en-US" dirty="0" err="1"/>
              <a:t>config</a:t>
            </a:r>
            <a:endParaRPr dirty="0"/>
          </a:p>
          <a:p>
            <a:pPr marL="342900" lvl="0" indent="-342900" algn="l" rtl="0">
              <a:spcBef>
                <a:spcPts val="640"/>
              </a:spcBef>
              <a:spcAft>
                <a:spcPts val="0"/>
              </a:spcAft>
              <a:buClr>
                <a:schemeClr val="dk1"/>
              </a:buClr>
              <a:buSzPts val="3200"/>
              <a:buNone/>
            </a:pPr>
            <a:r>
              <a:rPr lang="en-US" dirty="0"/>
              <a:t>#host[]?10.0.0.2</a:t>
            </a:r>
            <a:endParaRPr dirty="0"/>
          </a:p>
          <a:p>
            <a:pPr marL="342900" lvl="0" indent="-342900" algn="l" rtl="0">
              <a:spcBef>
                <a:spcPts val="640"/>
              </a:spcBef>
              <a:spcAft>
                <a:spcPts val="0"/>
              </a:spcAft>
              <a:buClr>
                <a:schemeClr val="dk1"/>
              </a:buClr>
              <a:buSzPts val="3200"/>
              <a:buNone/>
            </a:pPr>
            <a:r>
              <a:rPr lang="en-US" dirty="0" smtClean="0"/>
              <a:t>#source:R1-confg </a:t>
            </a:r>
            <a:r>
              <a:rPr lang="en-US" dirty="0" smtClean="0">
                <a:solidFill>
                  <a:schemeClr val="accent6">
                    <a:lumMod val="75000"/>
                  </a:schemeClr>
                </a:solidFill>
              </a:rPr>
              <a:t>(file name)</a:t>
            </a:r>
            <a:endParaRPr dirty="0" smtClean="0">
              <a:solidFill>
                <a:schemeClr val="accent6">
                  <a:lumMod val="75000"/>
                </a:schemeClr>
              </a:solidFill>
            </a:endParaRPr>
          </a:p>
          <a:p>
            <a:pPr marL="342900" lvl="0" indent="-342900" algn="l" rtl="0">
              <a:spcBef>
                <a:spcPts val="640"/>
              </a:spcBef>
              <a:spcAft>
                <a:spcPts val="0"/>
              </a:spcAft>
              <a:buClr>
                <a:schemeClr val="dk1"/>
              </a:buClr>
              <a:buSzPts val="3200"/>
              <a:buNone/>
            </a:pPr>
            <a:r>
              <a:rPr lang="en-US" dirty="0" smtClean="0"/>
              <a:t>Enter</a:t>
            </a:r>
            <a:endParaRPr dirty="0" smtClean="0"/>
          </a:p>
          <a:p>
            <a:pPr marL="342900" lvl="0" indent="-342900" algn="l" rtl="0">
              <a:spcBef>
                <a:spcPts val="640"/>
              </a:spcBef>
              <a:spcAft>
                <a:spcPts val="0"/>
              </a:spcAft>
              <a:buClr>
                <a:schemeClr val="dk1"/>
              </a:buClr>
              <a:buSzPts val="3200"/>
              <a:buNone/>
            </a:pPr>
            <a:r>
              <a:rPr lang="en-US" dirty="0" smtClean="0"/>
              <a:t>Enter</a:t>
            </a:r>
            <a:endParaRPr dirty="0"/>
          </a:p>
          <a:p>
            <a:pPr marL="342900" lvl="0" indent="-342900" algn="l" rtl="0">
              <a:spcBef>
                <a:spcPts val="640"/>
              </a:spcBef>
              <a:spcAft>
                <a:spcPts val="0"/>
              </a:spcAft>
              <a:buClr>
                <a:schemeClr val="dk1"/>
              </a:buClr>
              <a:buSzPts val="3200"/>
              <a:buNone/>
            </a:pPr>
            <a:r>
              <a:rPr lang="en-US" dirty="0"/>
              <a:t>Router switch off and on</a:t>
            </a:r>
            <a:endParaRPr dirty="0"/>
          </a:p>
          <a:p>
            <a:pPr marL="342900" lvl="0" indent="-342900" algn="l" rtl="0">
              <a:spcBef>
                <a:spcPts val="640"/>
              </a:spcBef>
              <a:spcAft>
                <a:spcPts val="0"/>
              </a:spcAft>
              <a:buClr>
                <a:schemeClr val="dk1"/>
              </a:buClr>
              <a:buSzPts val="3200"/>
              <a:buNone/>
            </a:pPr>
            <a:endParaRPr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884269336"/>
              </p:ext>
            </p:extLst>
          </p:nvPr>
        </p:nvGraphicFramePr>
        <p:xfrm>
          <a:off x="395784" y="436729"/>
          <a:ext cx="8502555" cy="6005014"/>
        </p:xfrm>
        <a:graphic>
          <a:graphicData uri="http://schemas.openxmlformats.org/drawingml/2006/table">
            <a:tbl>
              <a:tblPr>
                <a:tableStyleId>{A332DE6A-0728-4951-BA95-FBE1D94F13F9}</a:tableStyleId>
              </a:tblPr>
              <a:tblGrid>
                <a:gridCol w="2834185"/>
                <a:gridCol w="2834185"/>
                <a:gridCol w="2834185"/>
              </a:tblGrid>
              <a:tr h="638831">
                <a:tc>
                  <a:txBody>
                    <a:bodyPr/>
                    <a:lstStyle/>
                    <a:p>
                      <a:pPr algn="ctr"/>
                      <a:r>
                        <a:rPr lang="en-IN" sz="2800" b="1" dirty="0"/>
                        <a:t>Feature</a:t>
                      </a:r>
                    </a:p>
                  </a:txBody>
                  <a:tcPr anchor="ctr">
                    <a:solidFill>
                      <a:schemeClr val="bg1">
                        <a:lumMod val="65000"/>
                        <a:alpha val="0"/>
                      </a:schemeClr>
                    </a:solidFill>
                  </a:tcPr>
                </a:tc>
                <a:tc>
                  <a:txBody>
                    <a:bodyPr/>
                    <a:lstStyle/>
                    <a:p>
                      <a:pPr algn="ctr"/>
                      <a:r>
                        <a:rPr lang="en-IN" sz="2800" b="1" dirty="0"/>
                        <a:t>TFTP</a:t>
                      </a:r>
                    </a:p>
                  </a:txBody>
                  <a:tcPr anchor="ctr">
                    <a:solidFill>
                      <a:schemeClr val="bg1">
                        <a:lumMod val="65000"/>
                        <a:alpha val="0"/>
                      </a:schemeClr>
                    </a:solidFill>
                  </a:tcPr>
                </a:tc>
                <a:tc>
                  <a:txBody>
                    <a:bodyPr/>
                    <a:lstStyle/>
                    <a:p>
                      <a:pPr algn="ctr"/>
                      <a:r>
                        <a:rPr lang="en-IN" sz="2800" b="1" dirty="0"/>
                        <a:t>FTP</a:t>
                      </a:r>
                    </a:p>
                  </a:txBody>
                  <a:tcPr anchor="ctr">
                    <a:solidFill>
                      <a:schemeClr val="bg1">
                        <a:lumMod val="65000"/>
                        <a:alpha val="0"/>
                      </a:schemeClr>
                    </a:solidFill>
                  </a:tcPr>
                </a:tc>
              </a:tr>
              <a:tr h="638831">
                <a:tc>
                  <a:txBody>
                    <a:bodyPr/>
                    <a:lstStyle/>
                    <a:p>
                      <a:r>
                        <a:rPr lang="en-IN" sz="1800" b="1" dirty="0"/>
                        <a:t>Protocol Type</a:t>
                      </a:r>
                    </a:p>
                  </a:txBody>
                  <a:tcPr anchor="ctr"/>
                </a:tc>
                <a:tc>
                  <a:txBody>
                    <a:bodyPr/>
                    <a:lstStyle/>
                    <a:p>
                      <a:r>
                        <a:rPr lang="en-IN" sz="1800" dirty="0"/>
                        <a:t>UDP (Connectionless)</a:t>
                      </a:r>
                    </a:p>
                  </a:txBody>
                  <a:tcPr anchor="ctr"/>
                </a:tc>
                <a:tc>
                  <a:txBody>
                    <a:bodyPr/>
                    <a:lstStyle/>
                    <a:p>
                      <a:r>
                        <a:rPr lang="en-IN" sz="1800" dirty="0"/>
                        <a:t>TCP (Connection-oriented)</a:t>
                      </a:r>
                    </a:p>
                  </a:txBody>
                  <a:tcPr anchor="ctr"/>
                </a:tc>
              </a:tr>
              <a:tr h="638831">
                <a:tc>
                  <a:txBody>
                    <a:bodyPr/>
                    <a:lstStyle/>
                    <a:p>
                      <a:r>
                        <a:rPr lang="en-IN" sz="1800" b="1" dirty="0"/>
                        <a:t>Default Port</a:t>
                      </a:r>
                    </a:p>
                  </a:txBody>
                  <a:tcPr anchor="ctr"/>
                </a:tc>
                <a:tc>
                  <a:txBody>
                    <a:bodyPr/>
                    <a:lstStyle/>
                    <a:p>
                      <a:r>
                        <a:rPr lang="en-IN" sz="1800" dirty="0"/>
                        <a:t>69</a:t>
                      </a:r>
                    </a:p>
                  </a:txBody>
                  <a:tcPr anchor="ctr"/>
                </a:tc>
                <a:tc>
                  <a:txBody>
                    <a:bodyPr/>
                    <a:lstStyle/>
                    <a:p>
                      <a:r>
                        <a:rPr lang="en-IN" sz="1800" dirty="0"/>
                        <a:t>21</a:t>
                      </a:r>
                    </a:p>
                  </a:txBody>
                  <a:tcPr anchor="ctr"/>
                </a:tc>
              </a:tr>
              <a:tr h="638831">
                <a:tc>
                  <a:txBody>
                    <a:bodyPr/>
                    <a:lstStyle/>
                    <a:p>
                      <a:r>
                        <a:rPr lang="en-IN" sz="1800" b="1" dirty="0"/>
                        <a:t>Authentication</a:t>
                      </a:r>
                    </a:p>
                  </a:txBody>
                  <a:tcPr anchor="ctr"/>
                </a:tc>
                <a:tc>
                  <a:txBody>
                    <a:bodyPr/>
                    <a:lstStyle/>
                    <a:p>
                      <a:r>
                        <a:rPr lang="en-IN" sz="1800" dirty="0"/>
                        <a:t>None</a:t>
                      </a:r>
                    </a:p>
                  </a:txBody>
                  <a:tcPr anchor="ctr"/>
                </a:tc>
                <a:tc>
                  <a:txBody>
                    <a:bodyPr/>
                    <a:lstStyle/>
                    <a:p>
                      <a:r>
                        <a:rPr lang="en-IN" sz="1800" dirty="0"/>
                        <a:t>Yes (username &amp; password)</a:t>
                      </a:r>
                    </a:p>
                  </a:txBody>
                  <a:tcPr anchor="ctr"/>
                </a:tc>
              </a:tr>
              <a:tr h="1086014">
                <a:tc>
                  <a:txBody>
                    <a:bodyPr/>
                    <a:lstStyle/>
                    <a:p>
                      <a:r>
                        <a:rPr lang="en-IN" sz="1800" b="1" dirty="0"/>
                        <a:t>Security</a:t>
                      </a:r>
                    </a:p>
                  </a:txBody>
                  <a:tcPr anchor="ctr"/>
                </a:tc>
                <a:tc>
                  <a:txBody>
                    <a:bodyPr/>
                    <a:lstStyle/>
                    <a:p>
                      <a:r>
                        <a:rPr lang="en-IN" sz="1800" dirty="0"/>
                        <a:t>Not secure</a:t>
                      </a:r>
                    </a:p>
                  </a:txBody>
                  <a:tcPr anchor="ctr"/>
                </a:tc>
                <a:tc>
                  <a:txBody>
                    <a:bodyPr/>
                    <a:lstStyle/>
                    <a:p>
                      <a:r>
                        <a:rPr lang="en-US" sz="1800" dirty="0"/>
                        <a:t>Can be secured with FTPS/SFTP</a:t>
                      </a:r>
                    </a:p>
                  </a:txBody>
                  <a:tcPr anchor="ctr"/>
                </a:tc>
              </a:tr>
              <a:tr h="638831">
                <a:tc>
                  <a:txBody>
                    <a:bodyPr/>
                    <a:lstStyle/>
                    <a:p>
                      <a:r>
                        <a:rPr lang="en-IN" sz="1800" b="1" dirty="0"/>
                        <a:t>Speed</a:t>
                      </a:r>
                    </a:p>
                  </a:txBody>
                  <a:tcPr anchor="ctr"/>
                </a:tc>
                <a:tc>
                  <a:txBody>
                    <a:bodyPr/>
                    <a:lstStyle/>
                    <a:p>
                      <a:r>
                        <a:rPr lang="en-IN" sz="1800" dirty="0"/>
                        <a:t>Faster (less overhead)</a:t>
                      </a:r>
                    </a:p>
                  </a:txBody>
                  <a:tcPr anchor="ctr"/>
                </a:tc>
                <a:tc>
                  <a:txBody>
                    <a:bodyPr/>
                    <a:lstStyle/>
                    <a:p>
                      <a:r>
                        <a:rPr lang="en-IN" sz="1800" dirty="0"/>
                        <a:t>Slower (more control)</a:t>
                      </a:r>
                    </a:p>
                  </a:txBody>
                  <a:tcPr anchor="ctr"/>
                </a:tc>
              </a:tr>
              <a:tr h="1086014">
                <a:tc>
                  <a:txBody>
                    <a:bodyPr/>
                    <a:lstStyle/>
                    <a:p>
                      <a:r>
                        <a:rPr lang="en-IN" sz="1800" b="1" dirty="0"/>
                        <a:t>Typical Use</a:t>
                      </a:r>
                    </a:p>
                  </a:txBody>
                  <a:tcPr anchor="ctr"/>
                </a:tc>
                <a:tc>
                  <a:txBody>
                    <a:bodyPr/>
                    <a:lstStyle/>
                    <a:p>
                      <a:r>
                        <a:rPr lang="en-IN" sz="1800" dirty="0" err="1"/>
                        <a:t>Config</a:t>
                      </a:r>
                      <a:r>
                        <a:rPr lang="en-IN" sz="1800" dirty="0"/>
                        <a:t>/firmware transfer, PXE boot</a:t>
                      </a:r>
                    </a:p>
                  </a:txBody>
                  <a:tcPr anchor="ctr"/>
                </a:tc>
                <a:tc>
                  <a:txBody>
                    <a:bodyPr/>
                    <a:lstStyle/>
                    <a:p>
                      <a:r>
                        <a:rPr lang="en-IN" sz="1800" dirty="0"/>
                        <a:t>Web file management, uploads/downloads</a:t>
                      </a:r>
                    </a:p>
                  </a:txBody>
                  <a:tcPr anchor="ctr"/>
                </a:tc>
              </a:tr>
              <a:tr h="638831">
                <a:tc>
                  <a:txBody>
                    <a:bodyPr/>
                    <a:lstStyle/>
                    <a:p>
                      <a:r>
                        <a:rPr lang="en-IN" sz="1800" b="1" dirty="0"/>
                        <a:t>Reliability</a:t>
                      </a:r>
                    </a:p>
                  </a:txBody>
                  <a:tcPr anchor="ctr"/>
                </a:tc>
                <a:tc>
                  <a:txBody>
                    <a:bodyPr/>
                    <a:lstStyle/>
                    <a:p>
                      <a:r>
                        <a:rPr lang="en-IN" sz="1800" dirty="0"/>
                        <a:t>Lower (UDP)</a:t>
                      </a:r>
                    </a:p>
                  </a:txBody>
                  <a:tcPr anchor="ctr"/>
                </a:tc>
                <a:tc>
                  <a:txBody>
                    <a:bodyPr/>
                    <a:lstStyle/>
                    <a:p>
                      <a:r>
                        <a:rPr lang="en-IN" sz="1800" dirty="0"/>
                        <a:t>Higher (TCP)</a:t>
                      </a:r>
                    </a:p>
                  </a:txBody>
                  <a:tcPr anchor="ctr"/>
                </a:tc>
              </a:tr>
            </a:tbl>
          </a:graphicData>
        </a:graphic>
      </p:graphicFrame>
    </p:spTree>
    <p:extLst>
      <p:ext uri="{BB962C8B-B14F-4D97-AF65-F5344CB8AC3E}">
        <p14:creationId xmlns:p14="http://schemas.microsoft.com/office/powerpoint/2010/main" val="168549635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365"/>
        <p:cNvGrpSpPr/>
        <p:nvPr/>
      </p:nvGrpSpPr>
      <p:grpSpPr>
        <a:xfrm>
          <a:off x="0" y="0"/>
          <a:ext cx="0" cy="0"/>
          <a:chOff x="0" y="0"/>
          <a:chExt cx="0" cy="0"/>
        </a:xfrm>
      </p:grpSpPr>
      <p:sp>
        <p:nvSpPr>
          <p:cNvPr id="1366" name="Google Shape;1366;p166"/>
          <p:cNvSpPr txBox="1">
            <a:spLocks noGrp="1"/>
          </p:cNvSpPr>
          <p:nvPr>
            <p:ph type="title"/>
          </p:nvPr>
        </p:nvSpPr>
        <p:spPr>
          <a:xfrm>
            <a:off x="457200" y="-20390"/>
            <a:ext cx="8229600" cy="55129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b="1" dirty="0" smtClean="0"/>
              <a:t>STP – </a:t>
            </a:r>
            <a:r>
              <a:rPr lang="en-US" b="1" dirty="0"/>
              <a:t>S</a:t>
            </a:r>
            <a:r>
              <a:rPr lang="en-US" b="1" dirty="0" smtClean="0"/>
              <a:t>panning Tree Protocol</a:t>
            </a:r>
            <a:endParaRPr b="1" dirty="0"/>
          </a:p>
        </p:txBody>
      </p:sp>
      <p:sp>
        <p:nvSpPr>
          <p:cNvPr id="1367" name="Google Shape;1367;p166"/>
          <p:cNvSpPr txBox="1">
            <a:spLocks noGrp="1"/>
          </p:cNvSpPr>
          <p:nvPr>
            <p:ph type="body" idx="1"/>
          </p:nvPr>
        </p:nvSpPr>
        <p:spPr>
          <a:xfrm>
            <a:off x="457199" y="668741"/>
            <a:ext cx="8670299" cy="6036860"/>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chemeClr val="dk1"/>
              </a:buClr>
              <a:buSzPts val="3200"/>
              <a:buChar char="•"/>
            </a:pPr>
            <a:r>
              <a:rPr lang="en-US" dirty="0" smtClean="0"/>
              <a:t>Route Bridge - Lowest Priority</a:t>
            </a:r>
          </a:p>
          <a:p>
            <a:pPr marL="342900" lvl="0" indent="-342900" algn="l" rtl="0">
              <a:spcBef>
                <a:spcPts val="0"/>
              </a:spcBef>
              <a:spcAft>
                <a:spcPts val="0"/>
              </a:spcAft>
              <a:buClr>
                <a:schemeClr val="dk1"/>
              </a:buClr>
              <a:buSzPts val="3200"/>
              <a:buChar char="•"/>
            </a:pPr>
            <a:r>
              <a:rPr lang="en-US" dirty="0" smtClean="0"/>
              <a:t>If priority are equal in all switch </a:t>
            </a:r>
            <a:r>
              <a:rPr lang="en-US" dirty="0"/>
              <a:t>s</a:t>
            </a:r>
            <a:r>
              <a:rPr lang="en-US" dirty="0" smtClean="0"/>
              <a:t>elect Lowest MAC Address Value</a:t>
            </a:r>
          </a:p>
          <a:p>
            <a:pPr marL="342900" lvl="0" indent="-342900" algn="l" rtl="0">
              <a:spcBef>
                <a:spcPts val="0"/>
              </a:spcBef>
              <a:spcAft>
                <a:spcPts val="0"/>
              </a:spcAft>
              <a:buClr>
                <a:schemeClr val="dk1"/>
              </a:buClr>
              <a:buSzPts val="3200"/>
              <a:buChar char="•"/>
            </a:pPr>
            <a:r>
              <a:rPr lang="en-US" dirty="0" smtClean="0"/>
              <a:t>Port connected to the route bridge is called route port</a:t>
            </a:r>
          </a:p>
          <a:p>
            <a:pPr marL="342900" lvl="0" indent="-342900" algn="l" rtl="0">
              <a:spcBef>
                <a:spcPts val="0"/>
              </a:spcBef>
              <a:spcAft>
                <a:spcPts val="0"/>
              </a:spcAft>
              <a:buClr>
                <a:schemeClr val="dk1"/>
              </a:buClr>
              <a:buSzPts val="3200"/>
              <a:buChar char="•"/>
            </a:pPr>
            <a:r>
              <a:rPr lang="en-US" dirty="0" smtClean="0"/>
              <a:t>Orange Color Mark – Blocking State ( Packet wont travel in this path)</a:t>
            </a:r>
          </a:p>
          <a:p>
            <a:pPr marL="342900" lvl="0" indent="-342900" algn="l" rtl="0">
              <a:spcBef>
                <a:spcPts val="0"/>
              </a:spcBef>
              <a:spcAft>
                <a:spcPts val="0"/>
              </a:spcAft>
              <a:buClr>
                <a:schemeClr val="dk1"/>
              </a:buClr>
              <a:buSzPts val="3200"/>
              <a:buChar char="•"/>
            </a:pPr>
            <a:r>
              <a:rPr lang="en-US" dirty="0" smtClean="0"/>
              <a:t>If the path not available choose Alternate Blocking State</a:t>
            </a:r>
          </a:p>
          <a:p>
            <a:pPr marL="342900">
              <a:spcBef>
                <a:spcPts val="0"/>
              </a:spcBef>
              <a:buSzPts val="3200"/>
            </a:pPr>
            <a:r>
              <a:rPr lang="en-US" dirty="0"/>
              <a:t>refresh program automatically </a:t>
            </a:r>
            <a:r>
              <a:rPr lang="en-US" dirty="0" smtClean="0"/>
              <a:t>lineup</a:t>
            </a:r>
          </a:p>
          <a:p>
            <a:pPr marL="342900" lvl="0" indent="-342900" algn="l" rtl="0">
              <a:spcBef>
                <a:spcPts val="0"/>
              </a:spcBef>
              <a:spcAft>
                <a:spcPts val="0"/>
              </a:spcAft>
              <a:buClr>
                <a:schemeClr val="dk1"/>
              </a:buClr>
              <a:buSzPts val="3200"/>
              <a:buChar char="•"/>
            </a:pPr>
            <a:r>
              <a:rPr lang="en-US" dirty="0" smtClean="0">
                <a:solidFill>
                  <a:schemeClr val="accent1">
                    <a:lumMod val="50000"/>
                  </a:schemeClr>
                </a:solidFill>
              </a:rPr>
              <a:t>All </a:t>
            </a:r>
            <a:r>
              <a:rPr lang="en-US" dirty="0">
                <a:solidFill>
                  <a:schemeClr val="accent1">
                    <a:lumMod val="50000"/>
                  </a:schemeClr>
                </a:solidFill>
              </a:rPr>
              <a:t>switch</a:t>
            </a:r>
            <a:endParaRPr dirty="0">
              <a:solidFill>
                <a:schemeClr val="accent1">
                  <a:lumMod val="50000"/>
                </a:schemeClr>
              </a:solidFill>
            </a:endParaRPr>
          </a:p>
          <a:p>
            <a:pPr marL="342900" lvl="0" indent="-342900" algn="l" rtl="0">
              <a:spcBef>
                <a:spcPts val="640"/>
              </a:spcBef>
              <a:spcAft>
                <a:spcPts val="0"/>
              </a:spcAft>
              <a:buClr>
                <a:schemeClr val="dk1"/>
              </a:buClr>
              <a:buSzPts val="3200"/>
              <a:buNone/>
            </a:pPr>
            <a:r>
              <a:rPr lang="en-US" dirty="0">
                <a:solidFill>
                  <a:schemeClr val="accent1">
                    <a:lumMod val="50000"/>
                  </a:schemeClr>
                </a:solidFill>
              </a:rPr>
              <a:t>Do show </a:t>
            </a:r>
            <a:r>
              <a:rPr lang="en-US" dirty="0" smtClean="0">
                <a:solidFill>
                  <a:schemeClr val="accent1">
                    <a:lumMod val="50000"/>
                  </a:schemeClr>
                </a:solidFill>
              </a:rPr>
              <a:t>spanning-tree</a:t>
            </a:r>
          </a:p>
          <a:p>
            <a:pPr marL="342900" lvl="0" indent="-342900" algn="l" rtl="0">
              <a:spcBef>
                <a:spcPts val="640"/>
              </a:spcBef>
              <a:spcAft>
                <a:spcPts val="0"/>
              </a:spcAft>
              <a:buClr>
                <a:schemeClr val="dk1"/>
              </a:buClr>
              <a:buSzPts val="3200"/>
              <a:buNone/>
            </a:pPr>
            <a:r>
              <a:rPr lang="en-US" b="1" dirty="0" smtClean="0">
                <a:solidFill>
                  <a:schemeClr val="accent1">
                    <a:lumMod val="50000"/>
                  </a:schemeClr>
                </a:solidFill>
              </a:rPr>
              <a:t>Send Packet from 2 to 3</a:t>
            </a:r>
            <a:endParaRPr b="1" dirty="0">
              <a:solidFill>
                <a:schemeClr val="accent1">
                  <a:lumMod val="50000"/>
                </a:schemeClr>
              </a:solidFill>
            </a:endParaRPr>
          </a:p>
          <a:p>
            <a:pPr marL="342900" lvl="0" indent="-342900" algn="l" rtl="0">
              <a:spcBef>
                <a:spcPts val="640"/>
              </a:spcBef>
              <a:spcAft>
                <a:spcPts val="0"/>
              </a:spcAft>
              <a:buClr>
                <a:schemeClr val="dk1"/>
              </a:buClr>
              <a:buSzPts val="3200"/>
              <a:buNone/>
            </a:pPr>
            <a:r>
              <a:rPr lang="en-US" dirty="0" err="1" smtClean="0">
                <a:solidFill>
                  <a:schemeClr val="accent1">
                    <a:lumMod val="50000"/>
                  </a:schemeClr>
                </a:solidFill>
              </a:rPr>
              <a:t>Int</a:t>
            </a:r>
            <a:r>
              <a:rPr lang="en-US" dirty="0" smtClean="0">
                <a:solidFill>
                  <a:schemeClr val="accent1">
                    <a:lumMod val="50000"/>
                  </a:schemeClr>
                </a:solidFill>
              </a:rPr>
              <a:t> </a:t>
            </a:r>
            <a:r>
              <a:rPr lang="en-US" dirty="0">
                <a:solidFill>
                  <a:schemeClr val="accent1">
                    <a:lumMod val="50000"/>
                  </a:schemeClr>
                </a:solidFill>
              </a:rPr>
              <a:t>fa 0/1</a:t>
            </a:r>
            <a:endParaRPr dirty="0">
              <a:solidFill>
                <a:schemeClr val="accent1">
                  <a:lumMod val="50000"/>
                </a:schemeClr>
              </a:solidFill>
            </a:endParaRPr>
          </a:p>
          <a:p>
            <a:pPr marL="342900" lvl="0" indent="-342900" algn="l" rtl="0">
              <a:spcBef>
                <a:spcPts val="640"/>
              </a:spcBef>
              <a:spcAft>
                <a:spcPts val="0"/>
              </a:spcAft>
              <a:buClr>
                <a:schemeClr val="dk1"/>
              </a:buClr>
              <a:buSzPts val="3200"/>
              <a:buNone/>
            </a:pPr>
            <a:r>
              <a:rPr lang="en-US" dirty="0" smtClean="0">
                <a:solidFill>
                  <a:schemeClr val="accent1">
                    <a:lumMod val="50000"/>
                  </a:schemeClr>
                </a:solidFill>
              </a:rPr>
              <a:t>Shutdown</a:t>
            </a:r>
          </a:p>
          <a:p>
            <a:pPr marL="342900">
              <a:spcBef>
                <a:spcPts val="640"/>
              </a:spcBef>
              <a:buSzPts val="3200"/>
              <a:buNone/>
            </a:pPr>
            <a:r>
              <a:rPr lang="en-US" b="1" dirty="0">
                <a:solidFill>
                  <a:schemeClr val="accent1">
                    <a:lumMod val="50000"/>
                  </a:schemeClr>
                </a:solidFill>
              </a:rPr>
              <a:t>Send Packet from 2 to 3</a:t>
            </a:r>
          </a:p>
          <a:p>
            <a:pPr marL="342900" lvl="0" indent="-342900" algn="l" rtl="0">
              <a:spcBef>
                <a:spcPts val="640"/>
              </a:spcBef>
              <a:spcAft>
                <a:spcPts val="0"/>
              </a:spcAft>
              <a:buClr>
                <a:schemeClr val="dk1"/>
              </a:buClr>
              <a:buSzPts val="3200"/>
              <a:buNone/>
            </a:pPr>
            <a:endParaRPr lang="en-US" dirty="0" smtClean="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endParaRPr dirty="0"/>
          </a:p>
        </p:txBody>
      </p:sp>
      <p:sp>
        <p:nvSpPr>
          <p:cNvPr id="1368" name="Google Shape;1368;p166"/>
          <p:cNvSpPr/>
          <p:nvPr/>
        </p:nvSpPr>
        <p:spPr>
          <a:xfrm>
            <a:off x="6248400" y="3733800"/>
            <a:ext cx="838200" cy="609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1</a:t>
            </a:r>
            <a:endParaRPr sz="1800" dirty="0">
              <a:solidFill>
                <a:schemeClr val="lt1"/>
              </a:solidFill>
              <a:latin typeface="Calibri"/>
              <a:ea typeface="Calibri"/>
              <a:cs typeface="Calibri"/>
              <a:sym typeface="Calibri"/>
            </a:endParaRPr>
          </a:p>
        </p:txBody>
      </p:sp>
      <p:sp>
        <p:nvSpPr>
          <p:cNvPr id="1369" name="Google Shape;1369;p166"/>
          <p:cNvSpPr/>
          <p:nvPr/>
        </p:nvSpPr>
        <p:spPr>
          <a:xfrm>
            <a:off x="4724400" y="6172200"/>
            <a:ext cx="7620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2</a:t>
            </a:r>
            <a:endParaRPr sz="1800" dirty="0">
              <a:solidFill>
                <a:schemeClr val="lt1"/>
              </a:solidFill>
              <a:latin typeface="Calibri"/>
              <a:ea typeface="Calibri"/>
              <a:cs typeface="Calibri"/>
              <a:sym typeface="Calibri"/>
            </a:endParaRPr>
          </a:p>
        </p:txBody>
      </p:sp>
      <p:sp>
        <p:nvSpPr>
          <p:cNvPr id="1370" name="Google Shape;1370;p166"/>
          <p:cNvSpPr/>
          <p:nvPr/>
        </p:nvSpPr>
        <p:spPr>
          <a:xfrm>
            <a:off x="7924800" y="6172200"/>
            <a:ext cx="762000" cy="533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3</a:t>
            </a:r>
            <a:endParaRPr sz="1800" dirty="0">
              <a:solidFill>
                <a:schemeClr val="lt1"/>
              </a:solidFill>
              <a:latin typeface="Calibri"/>
              <a:ea typeface="Calibri"/>
              <a:cs typeface="Calibri"/>
              <a:sym typeface="Calibri"/>
            </a:endParaRPr>
          </a:p>
        </p:txBody>
      </p:sp>
      <p:cxnSp>
        <p:nvCxnSpPr>
          <p:cNvPr id="1371" name="Google Shape;1371;p166"/>
          <p:cNvCxnSpPr>
            <a:stCxn id="1368" idx="2"/>
            <a:endCxn id="1369" idx="0"/>
          </p:cNvCxnSpPr>
          <p:nvPr/>
        </p:nvCxnSpPr>
        <p:spPr>
          <a:xfrm flipH="1">
            <a:off x="5105400" y="4343400"/>
            <a:ext cx="1562100" cy="1828800"/>
          </a:xfrm>
          <a:prstGeom prst="straightConnector1">
            <a:avLst/>
          </a:prstGeom>
          <a:noFill/>
          <a:ln w="9525" cap="flat" cmpd="sng">
            <a:solidFill>
              <a:srgbClr val="4A7DBA"/>
            </a:solidFill>
            <a:prstDash val="solid"/>
            <a:round/>
            <a:headEnd type="none" w="sm" len="sm"/>
            <a:tailEnd type="none" w="sm" len="sm"/>
          </a:ln>
        </p:spPr>
      </p:cxnSp>
      <p:cxnSp>
        <p:nvCxnSpPr>
          <p:cNvPr id="1372" name="Google Shape;1372;p166"/>
          <p:cNvCxnSpPr>
            <a:stCxn id="1368" idx="2"/>
            <a:endCxn id="1370" idx="0"/>
          </p:cNvCxnSpPr>
          <p:nvPr/>
        </p:nvCxnSpPr>
        <p:spPr>
          <a:xfrm>
            <a:off x="6667500" y="4343400"/>
            <a:ext cx="1638300" cy="1828800"/>
          </a:xfrm>
          <a:prstGeom prst="straightConnector1">
            <a:avLst/>
          </a:prstGeom>
          <a:noFill/>
          <a:ln w="9525" cap="flat" cmpd="sng">
            <a:solidFill>
              <a:srgbClr val="4A7DBA"/>
            </a:solidFill>
            <a:prstDash val="solid"/>
            <a:round/>
            <a:headEnd type="none" w="sm" len="sm"/>
            <a:tailEnd type="none" w="sm" len="sm"/>
          </a:ln>
        </p:spPr>
      </p:cxnSp>
      <p:cxnSp>
        <p:nvCxnSpPr>
          <p:cNvPr id="1373" name="Google Shape;1373;p166"/>
          <p:cNvCxnSpPr>
            <a:stCxn id="1369" idx="3"/>
            <a:endCxn id="1370" idx="1"/>
          </p:cNvCxnSpPr>
          <p:nvPr/>
        </p:nvCxnSpPr>
        <p:spPr>
          <a:xfrm>
            <a:off x="5486400" y="6400800"/>
            <a:ext cx="2438400" cy="38100"/>
          </a:xfrm>
          <a:prstGeom prst="straightConnector1">
            <a:avLst/>
          </a:prstGeom>
          <a:noFill/>
          <a:ln w="9525" cap="flat" cmpd="sng">
            <a:solidFill>
              <a:srgbClr val="4A7DBA"/>
            </a:solidFill>
            <a:prstDash val="solid"/>
            <a:round/>
            <a:headEnd type="none" w="sm" len="sm"/>
            <a:tailEnd type="none" w="sm" len="sm"/>
          </a:ln>
        </p:spPr>
      </p:cxnSp>
      <p:sp>
        <p:nvSpPr>
          <p:cNvPr id="3" name="TextBox 2"/>
          <p:cNvSpPr txBox="1"/>
          <p:nvPr/>
        </p:nvSpPr>
        <p:spPr>
          <a:xfrm>
            <a:off x="5677469" y="4667534"/>
            <a:ext cx="641522" cy="307777"/>
          </a:xfrm>
          <a:prstGeom prst="rect">
            <a:avLst/>
          </a:prstGeom>
          <a:noFill/>
        </p:spPr>
        <p:txBody>
          <a:bodyPr wrap="none" rtlCol="0">
            <a:spAutoFit/>
          </a:bodyPr>
          <a:lstStyle/>
          <a:p>
            <a:r>
              <a:rPr lang="en-US" dirty="0" smtClean="0"/>
              <a:t>Fa0/1</a:t>
            </a:r>
            <a:endParaRPr lang="en-IN" dirty="0"/>
          </a:p>
        </p:txBody>
      </p:sp>
      <p:sp>
        <p:nvSpPr>
          <p:cNvPr id="12" name="TextBox 11"/>
          <p:cNvSpPr txBox="1"/>
          <p:nvPr/>
        </p:nvSpPr>
        <p:spPr>
          <a:xfrm>
            <a:off x="7160771" y="4663687"/>
            <a:ext cx="641522" cy="307777"/>
          </a:xfrm>
          <a:prstGeom prst="rect">
            <a:avLst/>
          </a:prstGeom>
          <a:noFill/>
        </p:spPr>
        <p:txBody>
          <a:bodyPr wrap="none" rtlCol="0">
            <a:spAutoFit/>
          </a:bodyPr>
          <a:lstStyle/>
          <a:p>
            <a:r>
              <a:rPr lang="en-US" dirty="0" smtClean="0"/>
              <a:t>Fa0/2</a:t>
            </a:r>
            <a:endParaRPr lang="en-IN" dirty="0"/>
          </a:p>
        </p:txBody>
      </p:sp>
      <p:sp>
        <p:nvSpPr>
          <p:cNvPr id="13" name="TextBox 12"/>
          <p:cNvSpPr txBox="1"/>
          <p:nvPr/>
        </p:nvSpPr>
        <p:spPr>
          <a:xfrm>
            <a:off x="4700550" y="3740027"/>
            <a:ext cx="1686680" cy="523220"/>
          </a:xfrm>
          <a:prstGeom prst="rect">
            <a:avLst/>
          </a:prstGeom>
          <a:noFill/>
        </p:spPr>
        <p:txBody>
          <a:bodyPr wrap="none" rtlCol="0">
            <a:spAutoFit/>
          </a:bodyPr>
          <a:lstStyle/>
          <a:p>
            <a:r>
              <a:rPr lang="en-US" dirty="0" smtClean="0"/>
              <a:t>Priority-35</a:t>
            </a:r>
          </a:p>
          <a:p>
            <a:r>
              <a:rPr lang="en-US" dirty="0" err="1" smtClean="0"/>
              <a:t>MAC-aa:aaa:aa:aa</a:t>
            </a:r>
            <a:endParaRPr lang="en-IN" dirty="0"/>
          </a:p>
        </p:txBody>
      </p:sp>
      <p:sp>
        <p:nvSpPr>
          <p:cNvPr id="14" name="TextBox 13"/>
          <p:cNvSpPr txBox="1"/>
          <p:nvPr/>
        </p:nvSpPr>
        <p:spPr>
          <a:xfrm>
            <a:off x="4052510" y="5562540"/>
            <a:ext cx="1835759" cy="523220"/>
          </a:xfrm>
          <a:prstGeom prst="rect">
            <a:avLst/>
          </a:prstGeom>
          <a:noFill/>
        </p:spPr>
        <p:txBody>
          <a:bodyPr wrap="none" rtlCol="0">
            <a:spAutoFit/>
          </a:bodyPr>
          <a:lstStyle/>
          <a:p>
            <a:r>
              <a:rPr lang="en-US" dirty="0" smtClean="0"/>
              <a:t>Priority-35</a:t>
            </a:r>
          </a:p>
          <a:p>
            <a:r>
              <a:rPr lang="en-US" dirty="0" smtClean="0"/>
              <a:t>MAC- </a:t>
            </a:r>
            <a:r>
              <a:rPr lang="en-US" dirty="0" err="1" smtClean="0"/>
              <a:t>bb:bbb:bb:bbb</a:t>
            </a:r>
            <a:endParaRPr lang="en-IN" dirty="0"/>
          </a:p>
        </p:txBody>
      </p:sp>
      <p:sp>
        <p:nvSpPr>
          <p:cNvPr id="15" name="TextBox 14"/>
          <p:cNvSpPr txBox="1"/>
          <p:nvPr/>
        </p:nvSpPr>
        <p:spPr>
          <a:xfrm>
            <a:off x="7387920" y="5575922"/>
            <a:ext cx="1739579" cy="523220"/>
          </a:xfrm>
          <a:prstGeom prst="rect">
            <a:avLst/>
          </a:prstGeom>
          <a:noFill/>
        </p:spPr>
        <p:txBody>
          <a:bodyPr wrap="none" rtlCol="0">
            <a:spAutoFit/>
          </a:bodyPr>
          <a:lstStyle/>
          <a:p>
            <a:r>
              <a:rPr lang="en-US" dirty="0" smtClean="0"/>
              <a:t>Priority-35</a:t>
            </a:r>
          </a:p>
          <a:p>
            <a:r>
              <a:rPr lang="en-US" dirty="0" smtClean="0"/>
              <a:t>MAC- </a:t>
            </a:r>
            <a:r>
              <a:rPr lang="en-US" dirty="0" err="1" smtClean="0"/>
              <a:t>cc:ccc:cc:ccc</a:t>
            </a:r>
            <a:endParaRPr lang="en-IN" dirty="0"/>
          </a:p>
        </p:txBody>
      </p:sp>
      <p:sp>
        <p:nvSpPr>
          <p:cNvPr id="4" name="Left Arrow 3"/>
          <p:cNvSpPr/>
          <p:nvPr/>
        </p:nvSpPr>
        <p:spPr>
          <a:xfrm>
            <a:off x="5677469" y="6250886"/>
            <a:ext cx="436728" cy="337782"/>
          </a:xfrm>
          <a:prstGeom prst="lef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IN"/>
          </a:p>
        </p:txBody>
      </p:sp>
      <p:sp>
        <p:nvSpPr>
          <p:cNvPr id="17" name="TextBox 16"/>
          <p:cNvSpPr txBox="1"/>
          <p:nvPr/>
        </p:nvSpPr>
        <p:spPr>
          <a:xfrm>
            <a:off x="5582993" y="6522782"/>
            <a:ext cx="1709122" cy="307777"/>
          </a:xfrm>
          <a:prstGeom prst="rect">
            <a:avLst/>
          </a:prstGeom>
          <a:noFill/>
        </p:spPr>
        <p:txBody>
          <a:bodyPr wrap="none" rtlCol="0">
            <a:spAutoFit/>
          </a:bodyPr>
          <a:lstStyle/>
          <a:p>
            <a:r>
              <a:rPr lang="en-US" dirty="0" smtClean="0"/>
              <a:t>ALT Blocking State</a:t>
            </a:r>
            <a:endParaRPr lang="en-IN" dirty="0"/>
          </a:p>
        </p:txBody>
      </p:sp>
      <p:sp>
        <p:nvSpPr>
          <p:cNvPr id="18" name="TextBox 17"/>
          <p:cNvSpPr txBox="1"/>
          <p:nvPr/>
        </p:nvSpPr>
        <p:spPr>
          <a:xfrm>
            <a:off x="3758615" y="6589652"/>
            <a:ext cx="1786066" cy="307777"/>
          </a:xfrm>
          <a:prstGeom prst="rect">
            <a:avLst/>
          </a:prstGeom>
          <a:noFill/>
        </p:spPr>
        <p:txBody>
          <a:bodyPr wrap="none" rtlCol="0">
            <a:spAutoFit/>
          </a:bodyPr>
          <a:lstStyle/>
          <a:p>
            <a:r>
              <a:rPr lang="en-US" dirty="0" smtClean="0"/>
              <a:t>Destination Forward</a:t>
            </a:r>
            <a:endParaRPr lang="en-IN" dirty="0"/>
          </a:p>
        </p:txBody>
      </p:sp>
      <p:sp>
        <p:nvSpPr>
          <p:cNvPr id="19" name="TextBox 18"/>
          <p:cNvSpPr txBox="1"/>
          <p:nvPr/>
        </p:nvSpPr>
        <p:spPr>
          <a:xfrm>
            <a:off x="7363654" y="6576732"/>
            <a:ext cx="1786066" cy="307777"/>
          </a:xfrm>
          <a:prstGeom prst="rect">
            <a:avLst/>
          </a:prstGeom>
          <a:noFill/>
        </p:spPr>
        <p:txBody>
          <a:bodyPr wrap="none" rtlCol="0">
            <a:spAutoFit/>
          </a:bodyPr>
          <a:lstStyle/>
          <a:p>
            <a:r>
              <a:rPr lang="en-US" dirty="0" smtClean="0"/>
              <a:t>Destination Forward</a:t>
            </a:r>
            <a:endParaRPr lang="en-IN"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167"/>
          <p:cNvSpPr txBox="1">
            <a:spLocks noGrp="1"/>
          </p:cNvSpPr>
          <p:nvPr>
            <p:ph type="title"/>
          </p:nvPr>
        </p:nvSpPr>
        <p:spPr>
          <a:xfrm>
            <a:off x="457200" y="186472"/>
            <a:ext cx="8229600" cy="545365"/>
          </a:xfrm>
          <a:prstGeom prst="rect">
            <a:avLst/>
          </a:prstGeom>
          <a:noFill/>
          <a:ln>
            <a:noFill/>
          </a:ln>
        </p:spPr>
        <p:txBody>
          <a:bodyPr spcFirstLastPara="1" wrap="square" lIns="91425" tIns="45700" rIns="91425" bIns="45700" anchor="ctr" anchorCtr="0">
            <a:normAutofit fontScale="90000"/>
          </a:bodyPr>
          <a:lstStyle/>
          <a:p>
            <a:pPr lvl="0">
              <a:buSzPts val="4400"/>
            </a:pPr>
            <a:r>
              <a:rPr lang="en-US" b="1" dirty="0" smtClean="0"/>
              <a:t>RSTP - </a:t>
            </a:r>
            <a:r>
              <a:rPr lang="en-IN" b="1" dirty="0"/>
              <a:t>Rapid Spanning Tree Protocol</a:t>
            </a:r>
            <a:endParaRPr b="1" dirty="0"/>
          </a:p>
        </p:txBody>
      </p:sp>
      <p:sp>
        <p:nvSpPr>
          <p:cNvPr id="1379" name="Google Shape;1379;p16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chemeClr val="dk1"/>
              </a:buClr>
              <a:buSzPts val="3200"/>
              <a:buNone/>
            </a:pPr>
            <a:r>
              <a:rPr lang="en-US" b="1" dirty="0" smtClean="0"/>
              <a:t>All Switches</a:t>
            </a:r>
            <a:endParaRPr b="1" dirty="0"/>
          </a:p>
          <a:p>
            <a:pPr marL="342900" lvl="0">
              <a:spcBef>
                <a:spcPts val="640"/>
              </a:spcBef>
              <a:buSzPts val="3200"/>
              <a:buNone/>
            </a:pPr>
            <a:r>
              <a:rPr lang="en-US" dirty="0"/>
              <a:t>#Spanning-tree </a:t>
            </a:r>
            <a:r>
              <a:rPr lang="en-US" dirty="0" smtClean="0"/>
              <a:t>mode rapid-</a:t>
            </a:r>
            <a:r>
              <a:rPr lang="en-US" dirty="0" err="1" smtClean="0"/>
              <a:t>pvst</a:t>
            </a:r>
            <a:r>
              <a:rPr lang="en-US" dirty="0" smtClean="0"/>
              <a:t> </a:t>
            </a:r>
            <a:r>
              <a:rPr lang="en-US" sz="2600" dirty="0" smtClean="0">
                <a:solidFill>
                  <a:schemeClr val="accent6">
                    <a:lumMod val="75000"/>
                  </a:schemeClr>
                </a:solidFill>
              </a:rPr>
              <a:t>(</a:t>
            </a:r>
            <a:r>
              <a:rPr lang="en-IN" sz="2600" dirty="0">
                <a:solidFill>
                  <a:schemeClr val="accent6">
                    <a:lumMod val="75000"/>
                  </a:schemeClr>
                </a:solidFill>
              </a:rPr>
              <a:t>Rapid Per-VLAN Spanning </a:t>
            </a:r>
            <a:r>
              <a:rPr lang="en-IN" sz="2600" dirty="0" smtClean="0">
                <a:solidFill>
                  <a:schemeClr val="accent6">
                    <a:lumMod val="75000"/>
                  </a:schemeClr>
                </a:solidFill>
              </a:rPr>
              <a:t>Tree)</a:t>
            </a:r>
            <a:endParaRPr dirty="0">
              <a:solidFill>
                <a:schemeClr val="accent6">
                  <a:lumMod val="75000"/>
                </a:schemeClr>
              </a:solidFill>
            </a:endParaRPr>
          </a:p>
          <a:p>
            <a:pPr marL="342900" lvl="0" indent="-342900" algn="l" rtl="0">
              <a:spcBef>
                <a:spcPts val="640"/>
              </a:spcBef>
              <a:spcAft>
                <a:spcPts val="0"/>
              </a:spcAft>
              <a:buClr>
                <a:schemeClr val="dk1"/>
              </a:buClr>
              <a:buSzPts val="3200"/>
              <a:buNone/>
            </a:pPr>
            <a:r>
              <a:rPr lang="en-US" dirty="0"/>
              <a:t>#</a:t>
            </a:r>
            <a:r>
              <a:rPr lang="en-US" dirty="0" err="1"/>
              <a:t>int</a:t>
            </a:r>
            <a:r>
              <a:rPr lang="en-US" dirty="0"/>
              <a:t> </a:t>
            </a:r>
            <a:r>
              <a:rPr lang="en-US" dirty="0" smtClean="0"/>
              <a:t>range fa0/1-2</a:t>
            </a:r>
            <a:endParaRPr dirty="0"/>
          </a:p>
          <a:p>
            <a:pPr marL="342900" lvl="0" indent="-342900" algn="l" rtl="0">
              <a:spcBef>
                <a:spcPts val="640"/>
              </a:spcBef>
              <a:spcAft>
                <a:spcPts val="0"/>
              </a:spcAft>
              <a:buClr>
                <a:schemeClr val="dk1"/>
              </a:buClr>
              <a:buSzPts val="3200"/>
              <a:buNone/>
            </a:pPr>
            <a:r>
              <a:rPr lang="en-US" dirty="0"/>
              <a:t>#</a:t>
            </a:r>
            <a:r>
              <a:rPr lang="en-US" dirty="0" err="1"/>
              <a:t>switchport</a:t>
            </a:r>
            <a:r>
              <a:rPr lang="en-US" dirty="0"/>
              <a:t> mode trunk</a:t>
            </a:r>
            <a:endParaRPr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r>
              <a:rPr lang="en-US" dirty="0"/>
              <a:t>#</a:t>
            </a:r>
            <a:r>
              <a:rPr lang="en-US" dirty="0" err="1"/>
              <a:t>int</a:t>
            </a:r>
            <a:r>
              <a:rPr lang="en-US" dirty="0"/>
              <a:t> fa0/2</a:t>
            </a:r>
            <a:endParaRPr dirty="0"/>
          </a:p>
          <a:p>
            <a:pPr marL="342900" lvl="0" indent="-342900" algn="l" rtl="0">
              <a:spcBef>
                <a:spcPts val="640"/>
              </a:spcBef>
              <a:spcAft>
                <a:spcPts val="0"/>
              </a:spcAft>
              <a:buClr>
                <a:schemeClr val="dk1"/>
              </a:buClr>
              <a:buSzPts val="3200"/>
              <a:buNone/>
            </a:pPr>
            <a:r>
              <a:rPr lang="en-US" dirty="0" smtClean="0"/>
              <a:t>#</a:t>
            </a:r>
            <a:r>
              <a:rPr lang="en-US" dirty="0" err="1" smtClean="0"/>
              <a:t>shoutdown</a:t>
            </a:r>
            <a:endParaRPr lang="en-US" dirty="0" smtClean="0"/>
          </a:p>
          <a:p>
            <a:pPr marL="342900" lvl="0">
              <a:spcBef>
                <a:spcPts val="640"/>
              </a:spcBef>
              <a:buSzPts val="3200"/>
              <a:buNone/>
            </a:pPr>
            <a:r>
              <a:rPr lang="en-US" dirty="0"/>
              <a:t>#</a:t>
            </a:r>
            <a:r>
              <a:rPr lang="en-US" dirty="0" err="1"/>
              <a:t>int</a:t>
            </a:r>
            <a:r>
              <a:rPr lang="en-US" dirty="0"/>
              <a:t> fa0/2</a:t>
            </a:r>
          </a:p>
          <a:p>
            <a:pPr marL="342900" lvl="0">
              <a:spcBef>
                <a:spcPts val="640"/>
              </a:spcBef>
              <a:buSzPts val="3200"/>
              <a:buNone/>
            </a:pPr>
            <a:r>
              <a:rPr lang="en-US" dirty="0" smtClean="0"/>
              <a:t>#no shut</a:t>
            </a:r>
            <a:endParaRPr lang="en-US" dirty="0"/>
          </a:p>
          <a:p>
            <a:pPr marL="342900" lvl="0" indent="-342900" algn="l" rtl="0">
              <a:spcBef>
                <a:spcPts val="640"/>
              </a:spcBef>
              <a:spcAft>
                <a:spcPts val="0"/>
              </a:spcAft>
              <a:buClr>
                <a:schemeClr val="dk1"/>
              </a:buClr>
              <a:buSzPts val="3200"/>
              <a:buNone/>
            </a:pPr>
            <a:endParaRPr dirty="0"/>
          </a:p>
          <a:p>
            <a:pPr marL="342900" lvl="0" indent="-342900" algn="l" rtl="0">
              <a:spcBef>
                <a:spcPts val="640"/>
              </a:spcBef>
              <a:spcAft>
                <a:spcPts val="0"/>
              </a:spcAft>
              <a:buClr>
                <a:schemeClr val="dk1"/>
              </a:buClr>
              <a:buSzPts val="3200"/>
              <a:buNone/>
            </a:pPr>
            <a:r>
              <a:rPr lang="en-US" b="1" dirty="0"/>
              <a:t> </a:t>
            </a:r>
            <a:r>
              <a:rPr lang="en-US" b="1" dirty="0" smtClean="0"/>
              <a:t>without refresh program automatically lineup</a:t>
            </a:r>
            <a:endParaRPr b="1" dirty="0"/>
          </a:p>
        </p:txBody>
      </p:sp>
      <p:sp>
        <p:nvSpPr>
          <p:cNvPr id="1380" name="Google Shape;1380;p167"/>
          <p:cNvSpPr/>
          <p:nvPr/>
        </p:nvSpPr>
        <p:spPr>
          <a:xfrm>
            <a:off x="6724934" y="2515737"/>
            <a:ext cx="838200" cy="609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1</a:t>
            </a:r>
            <a:endParaRPr sz="1800" dirty="0">
              <a:solidFill>
                <a:schemeClr val="lt1"/>
              </a:solidFill>
              <a:latin typeface="Calibri"/>
              <a:ea typeface="Calibri"/>
              <a:cs typeface="Calibri"/>
              <a:sym typeface="Calibri"/>
            </a:endParaRPr>
          </a:p>
        </p:txBody>
      </p:sp>
      <p:sp>
        <p:nvSpPr>
          <p:cNvPr id="1381" name="Google Shape;1381;p167"/>
          <p:cNvSpPr/>
          <p:nvPr/>
        </p:nvSpPr>
        <p:spPr>
          <a:xfrm>
            <a:off x="5353334" y="4573137"/>
            <a:ext cx="7620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2</a:t>
            </a:r>
            <a:endParaRPr sz="1800" dirty="0">
              <a:solidFill>
                <a:schemeClr val="lt1"/>
              </a:solidFill>
              <a:latin typeface="Calibri"/>
              <a:ea typeface="Calibri"/>
              <a:cs typeface="Calibri"/>
              <a:sym typeface="Calibri"/>
            </a:endParaRPr>
          </a:p>
        </p:txBody>
      </p:sp>
      <p:sp>
        <p:nvSpPr>
          <p:cNvPr id="1382" name="Google Shape;1382;p167"/>
          <p:cNvSpPr/>
          <p:nvPr/>
        </p:nvSpPr>
        <p:spPr>
          <a:xfrm>
            <a:off x="8172734" y="4573137"/>
            <a:ext cx="762000" cy="5334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3</a:t>
            </a:r>
            <a:endParaRPr sz="1800" dirty="0">
              <a:solidFill>
                <a:schemeClr val="lt1"/>
              </a:solidFill>
              <a:latin typeface="Calibri"/>
              <a:ea typeface="Calibri"/>
              <a:cs typeface="Calibri"/>
              <a:sym typeface="Calibri"/>
            </a:endParaRPr>
          </a:p>
        </p:txBody>
      </p:sp>
      <p:cxnSp>
        <p:nvCxnSpPr>
          <p:cNvPr id="1383" name="Google Shape;1383;p167"/>
          <p:cNvCxnSpPr>
            <a:stCxn id="1380" idx="2"/>
            <a:endCxn id="1381" idx="0"/>
          </p:cNvCxnSpPr>
          <p:nvPr/>
        </p:nvCxnSpPr>
        <p:spPr>
          <a:xfrm flipH="1">
            <a:off x="5734334" y="3125337"/>
            <a:ext cx="1409700" cy="1447800"/>
          </a:xfrm>
          <a:prstGeom prst="straightConnector1">
            <a:avLst/>
          </a:prstGeom>
          <a:noFill/>
          <a:ln w="9525" cap="flat" cmpd="sng">
            <a:solidFill>
              <a:srgbClr val="4A7DBA"/>
            </a:solidFill>
            <a:prstDash val="solid"/>
            <a:round/>
            <a:headEnd type="none" w="sm" len="sm"/>
            <a:tailEnd type="none" w="sm" len="sm"/>
          </a:ln>
        </p:spPr>
      </p:cxnSp>
      <p:cxnSp>
        <p:nvCxnSpPr>
          <p:cNvPr id="1384" name="Google Shape;1384;p167"/>
          <p:cNvCxnSpPr>
            <a:stCxn id="1380" idx="2"/>
            <a:endCxn id="1382" idx="0"/>
          </p:cNvCxnSpPr>
          <p:nvPr/>
        </p:nvCxnSpPr>
        <p:spPr>
          <a:xfrm>
            <a:off x="7144034" y="3125337"/>
            <a:ext cx="1409700" cy="1447800"/>
          </a:xfrm>
          <a:prstGeom prst="straightConnector1">
            <a:avLst/>
          </a:prstGeom>
          <a:noFill/>
          <a:ln w="9525" cap="flat" cmpd="sng">
            <a:solidFill>
              <a:srgbClr val="4A7DBA"/>
            </a:solidFill>
            <a:prstDash val="solid"/>
            <a:round/>
            <a:headEnd type="none" w="sm" len="sm"/>
            <a:tailEnd type="none" w="sm" len="sm"/>
          </a:ln>
        </p:spPr>
      </p:cxnSp>
      <p:cxnSp>
        <p:nvCxnSpPr>
          <p:cNvPr id="1385" name="Google Shape;1385;p167"/>
          <p:cNvCxnSpPr>
            <a:stCxn id="1381" idx="3"/>
            <a:endCxn id="1382" idx="1"/>
          </p:cNvCxnSpPr>
          <p:nvPr/>
        </p:nvCxnSpPr>
        <p:spPr>
          <a:xfrm>
            <a:off x="6115334" y="4801737"/>
            <a:ext cx="2057400" cy="381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3039" y="1699397"/>
            <a:ext cx="7848600" cy="4154984"/>
          </a:xfrm>
          <a:prstGeom prst="rect">
            <a:avLst/>
          </a:prstGeom>
        </p:spPr>
        <p:txBody>
          <a:bodyPr wrap="square">
            <a:spAutoFit/>
          </a:bodyPr>
          <a:lstStyle/>
          <a:p>
            <a:r>
              <a:rPr lang="en-US" sz="2400" b="1" dirty="0" smtClean="0">
                <a:solidFill>
                  <a:srgbClr val="FF0000"/>
                </a:solidFill>
              </a:rPr>
              <a:t>The importance of time</a:t>
            </a:r>
          </a:p>
          <a:p>
            <a:pPr marL="285750" indent="-285750">
              <a:buFont typeface="Arial" panose="020B0604020202020204" pitchFamily="34" charset="0"/>
              <a:buChar char="•"/>
            </a:pPr>
            <a:r>
              <a:rPr lang="en-US" sz="2400" dirty="0" smtClean="0"/>
              <a:t>All devices have an internal clock (routers, switches, your PC, </a:t>
            </a:r>
            <a:r>
              <a:rPr lang="en-US" sz="2400" dirty="0" err="1" smtClean="0"/>
              <a:t>etc</a:t>
            </a:r>
            <a:r>
              <a:rPr lang="en-US" sz="2400" dirty="0" smtClean="0"/>
              <a:t>)</a:t>
            </a:r>
          </a:p>
          <a:p>
            <a:pPr marL="285750" indent="-285750">
              <a:buFont typeface="Arial" panose="020B0604020202020204" pitchFamily="34" charset="0"/>
              <a:buChar char="•"/>
            </a:pPr>
            <a:r>
              <a:rPr lang="en-US" sz="2400" dirty="0"/>
              <a:t>I</a:t>
            </a:r>
            <a:r>
              <a:rPr lang="en-US" sz="2400" dirty="0" smtClean="0"/>
              <a:t>n Cisco IOS, you can view the time with the show clock command.</a:t>
            </a:r>
          </a:p>
          <a:p>
            <a:r>
              <a:rPr lang="en-US" sz="2400" dirty="0" smtClean="0"/>
              <a:t>      </a:t>
            </a:r>
            <a:r>
              <a:rPr lang="en-US" sz="2400" dirty="0" smtClean="0">
                <a:solidFill>
                  <a:srgbClr val="FF0000"/>
                </a:solidFill>
              </a:rPr>
              <a:t>R1#show clock</a:t>
            </a:r>
          </a:p>
          <a:p>
            <a:r>
              <a:rPr lang="en-US" sz="2400" dirty="0" smtClean="0">
                <a:solidFill>
                  <a:srgbClr val="FF0000"/>
                </a:solidFill>
              </a:rPr>
              <a:t>      00:16:00.857 UTC Sat Dec 26 2020      </a:t>
            </a:r>
          </a:p>
          <a:p>
            <a:pPr marL="285750" indent="-285750">
              <a:buFont typeface="Arial" panose="020B0604020202020204" pitchFamily="34" charset="0"/>
              <a:buChar char="•"/>
            </a:pPr>
            <a:r>
              <a:rPr lang="en-US" sz="2400" dirty="0" smtClean="0"/>
              <a:t>If you use the show clock detail command, you can see the time source.</a:t>
            </a:r>
          </a:p>
          <a:p>
            <a:r>
              <a:rPr lang="en-US" sz="2400" dirty="0" smtClean="0"/>
              <a:t>        </a:t>
            </a:r>
            <a:r>
              <a:rPr lang="en-US" sz="2400" dirty="0" smtClean="0">
                <a:solidFill>
                  <a:srgbClr val="FF0000"/>
                </a:solidFill>
              </a:rPr>
              <a:t>R1#show clock detail </a:t>
            </a:r>
          </a:p>
          <a:p>
            <a:r>
              <a:rPr lang="en-US" sz="2400" dirty="0">
                <a:solidFill>
                  <a:srgbClr val="FF0000"/>
                </a:solidFill>
              </a:rPr>
              <a:t> </a:t>
            </a:r>
            <a:r>
              <a:rPr lang="en-US" sz="2400" dirty="0" smtClean="0">
                <a:solidFill>
                  <a:srgbClr val="FF0000"/>
                </a:solidFill>
              </a:rPr>
              <a:t>      *00:19:49.411 UTC Sat Dec 26 2020 </a:t>
            </a:r>
          </a:p>
        </p:txBody>
      </p:sp>
      <p:sp>
        <p:nvSpPr>
          <p:cNvPr id="3" name="TextBox 2"/>
          <p:cNvSpPr txBox="1"/>
          <p:nvPr/>
        </p:nvSpPr>
        <p:spPr>
          <a:xfrm>
            <a:off x="3239638" y="409433"/>
            <a:ext cx="2115402" cy="830997"/>
          </a:xfrm>
          <a:prstGeom prst="rect">
            <a:avLst/>
          </a:prstGeom>
          <a:noFill/>
        </p:spPr>
        <p:txBody>
          <a:bodyPr wrap="square" rtlCol="0">
            <a:spAutoFit/>
          </a:bodyPr>
          <a:lstStyle/>
          <a:p>
            <a:r>
              <a:rPr lang="en-US" sz="4800" b="1" dirty="0" smtClean="0"/>
              <a:t>NTP</a:t>
            </a:r>
            <a:endParaRPr lang="en-IN" b="1" dirty="0"/>
          </a:p>
        </p:txBody>
      </p:sp>
    </p:spTree>
    <p:extLst>
      <p:ext uri="{BB962C8B-B14F-4D97-AF65-F5344CB8AC3E}">
        <p14:creationId xmlns:p14="http://schemas.microsoft.com/office/powerpoint/2010/main" val="153734362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8145" y="1295400"/>
            <a:ext cx="7239000" cy="1261884"/>
          </a:xfrm>
          <a:prstGeom prst="rect">
            <a:avLst/>
          </a:prstGeom>
        </p:spPr>
        <p:txBody>
          <a:bodyPr wrap="square">
            <a:spAutoFit/>
          </a:bodyPr>
          <a:lstStyle/>
          <a:p>
            <a:r>
              <a:rPr lang="en-US" sz="2800" b="1" dirty="0" smtClean="0"/>
              <a:t>Manual Time Configuration</a:t>
            </a:r>
          </a:p>
          <a:p>
            <a:r>
              <a:rPr lang="en-US" dirty="0" smtClean="0"/>
              <a:t>• </a:t>
            </a:r>
            <a:r>
              <a:rPr lang="en-US" sz="2400" dirty="0" smtClean="0"/>
              <a:t>You can manually configure the time on the device with the clock set command.</a:t>
            </a:r>
            <a:endParaRPr lang="en-US" sz="2400"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576" t="17796" r="5455" b="17527"/>
          <a:stretch/>
        </p:blipFill>
        <p:spPr>
          <a:xfrm>
            <a:off x="387927" y="2895600"/>
            <a:ext cx="8409710" cy="3325092"/>
          </a:xfrm>
          <a:prstGeom prst="rect">
            <a:avLst/>
          </a:prstGeom>
        </p:spPr>
      </p:pic>
    </p:spTree>
    <p:extLst>
      <p:ext uri="{BB962C8B-B14F-4D97-AF65-F5344CB8AC3E}">
        <p14:creationId xmlns:p14="http://schemas.microsoft.com/office/powerpoint/2010/main" val="141853596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7982" y="381000"/>
            <a:ext cx="8365767" cy="6063198"/>
          </a:xfrm>
          <a:prstGeom prst="rect">
            <a:avLst/>
          </a:prstGeom>
        </p:spPr>
        <p:txBody>
          <a:bodyPr wrap="square">
            <a:spAutoFit/>
          </a:bodyPr>
          <a:lstStyle/>
          <a:p>
            <a:r>
              <a:rPr lang="en-US" sz="2800" b="1" dirty="0" smtClean="0">
                <a:solidFill>
                  <a:srgbClr val="FF0000"/>
                </a:solidFill>
              </a:rPr>
              <a:t>Network Time Protocol</a:t>
            </a:r>
          </a:p>
          <a:p>
            <a:pPr marL="285750" indent="-285750">
              <a:buFont typeface="Arial" panose="020B0604020202020204" pitchFamily="34" charset="0"/>
              <a:buChar char="•"/>
            </a:pPr>
            <a:r>
              <a:rPr lang="en-US" sz="2400" dirty="0" smtClean="0"/>
              <a:t>Manually configuring the time on devices is not scalable.</a:t>
            </a:r>
          </a:p>
          <a:p>
            <a:pPr marL="285750" indent="-285750">
              <a:buFont typeface="Arial" panose="020B0604020202020204" pitchFamily="34" charset="0"/>
              <a:buChar char="•"/>
            </a:pPr>
            <a:r>
              <a:rPr lang="en-US" sz="2400" dirty="0" smtClean="0"/>
              <a:t>The manually configured clocks will drift, resulting in inaccurate time.</a:t>
            </a:r>
          </a:p>
          <a:p>
            <a:pPr marL="285750" indent="-285750">
              <a:buFont typeface="Arial" panose="020B0604020202020204" pitchFamily="34" charset="0"/>
              <a:buChar char="•"/>
            </a:pPr>
            <a:r>
              <a:rPr lang="en-US" sz="2400" dirty="0" smtClean="0"/>
              <a:t>NTP (Network Time Protocol) allows automatic syncing of time over a network.</a:t>
            </a:r>
          </a:p>
          <a:p>
            <a:pPr marL="285750" indent="-285750">
              <a:buFont typeface="Arial" panose="020B0604020202020204" pitchFamily="34" charset="0"/>
              <a:buChar char="•"/>
            </a:pPr>
            <a:r>
              <a:rPr lang="en-US" sz="2400" dirty="0" smtClean="0"/>
              <a:t>NTP clients request the time from NTP servers.</a:t>
            </a:r>
          </a:p>
          <a:p>
            <a:pPr marL="285750" indent="-285750">
              <a:buFont typeface="Arial" panose="020B0604020202020204" pitchFamily="34" charset="0"/>
              <a:buChar char="•"/>
            </a:pPr>
            <a:r>
              <a:rPr lang="en-US" sz="2400" dirty="0" smtClean="0"/>
              <a:t>A device can be an NTP server and an NTP client at the same time.</a:t>
            </a:r>
          </a:p>
          <a:p>
            <a:pPr marL="285750" indent="-285750">
              <a:buFont typeface="Arial" panose="020B0604020202020204" pitchFamily="34" charset="0"/>
              <a:buChar char="•"/>
            </a:pPr>
            <a:r>
              <a:rPr lang="en-US" sz="2400" dirty="0" smtClean="0"/>
              <a:t>NTP allows accuracy of time within ~1 millisecond if the NTP server is in the same LAN, or within 50 milliseconds if connecting to the NTP server over a WAN/the Internet.</a:t>
            </a:r>
          </a:p>
          <a:p>
            <a:pPr marL="285750" indent="-285750">
              <a:buFont typeface="Arial" panose="020B0604020202020204" pitchFamily="34" charset="0"/>
              <a:buChar char="•"/>
            </a:pPr>
            <a:r>
              <a:rPr lang="en-US" sz="2400" dirty="0" smtClean="0"/>
              <a:t>Some NTP servers are 'better' than others. The 'distance' of an NTP server from the original reference clock is called stratum.</a:t>
            </a:r>
          </a:p>
          <a:p>
            <a:pPr marL="285750" indent="-285750">
              <a:buFont typeface="Arial" panose="020B0604020202020204" pitchFamily="34" charset="0"/>
              <a:buChar char="•"/>
            </a:pPr>
            <a:r>
              <a:rPr lang="en-US" sz="2400" dirty="0" smtClean="0"/>
              <a:t> NTP uses UDP port 123 to communication</a:t>
            </a:r>
            <a:endParaRPr lang="en-US" sz="2400" dirty="0"/>
          </a:p>
        </p:txBody>
      </p:sp>
    </p:spTree>
    <p:extLst>
      <p:ext uri="{BB962C8B-B14F-4D97-AF65-F5344CB8AC3E}">
        <p14:creationId xmlns:p14="http://schemas.microsoft.com/office/powerpoint/2010/main" val="37182371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1600200"/>
            <a:ext cx="7162800" cy="2739211"/>
          </a:xfrm>
          <a:prstGeom prst="rect">
            <a:avLst/>
          </a:prstGeom>
        </p:spPr>
        <p:txBody>
          <a:bodyPr wrap="square">
            <a:spAutoFit/>
          </a:bodyPr>
          <a:lstStyle/>
          <a:p>
            <a:r>
              <a:rPr lang="en-US" sz="2800" b="1" dirty="0" smtClean="0">
                <a:solidFill>
                  <a:srgbClr val="FF0000"/>
                </a:solidFill>
              </a:rPr>
              <a:t>Reference Clocks</a:t>
            </a:r>
          </a:p>
          <a:p>
            <a:r>
              <a:rPr lang="en-US" sz="2400" dirty="0" smtClean="0"/>
              <a:t>• A reference clock is usually a very accurate time device like an atomic clock or a GPS clock.</a:t>
            </a:r>
          </a:p>
          <a:p>
            <a:r>
              <a:rPr lang="en-US" sz="2400" dirty="0" smtClean="0"/>
              <a:t>• Reference clocks are stratum 0 within the NTP hierarchy.</a:t>
            </a:r>
          </a:p>
          <a:p>
            <a:r>
              <a:rPr lang="en-US" sz="2400" dirty="0" smtClean="0"/>
              <a:t>• NTP servers directly connected to reference clocks are stratum 1.</a:t>
            </a:r>
            <a:endParaRPr lang="en-US" sz="2400" dirty="0"/>
          </a:p>
        </p:txBody>
      </p:sp>
    </p:spTree>
    <p:extLst>
      <p:ext uri="{BB962C8B-B14F-4D97-AF65-F5344CB8AC3E}">
        <p14:creationId xmlns:p14="http://schemas.microsoft.com/office/powerpoint/2010/main" val="284518037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4545" t="13484" b="13754"/>
          <a:stretch/>
        </p:blipFill>
        <p:spPr>
          <a:xfrm>
            <a:off x="533400" y="685800"/>
            <a:ext cx="8229600" cy="5486400"/>
          </a:xfrm>
          <a:prstGeom prst="rect">
            <a:avLst/>
          </a:prstGeom>
        </p:spPr>
      </p:pic>
    </p:spTree>
    <p:extLst>
      <p:ext uri="{BB962C8B-B14F-4D97-AF65-F5344CB8AC3E}">
        <p14:creationId xmlns:p14="http://schemas.microsoft.com/office/powerpoint/2010/main" val="310603695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2137" y="646331"/>
            <a:ext cx="8598089" cy="5262979"/>
          </a:xfrm>
          <a:prstGeom prst="rect">
            <a:avLst/>
          </a:prstGeom>
        </p:spPr>
        <p:txBody>
          <a:bodyPr wrap="square">
            <a:spAutoFit/>
          </a:bodyPr>
          <a:lstStyle/>
          <a:p>
            <a:pPr marL="342900" indent="-342900">
              <a:buFont typeface="Arial" panose="020B0604020202020204" pitchFamily="34" charset="0"/>
              <a:buChar char="•"/>
            </a:pPr>
            <a:r>
              <a:rPr lang="en-US" sz="2800" dirty="0" smtClean="0"/>
              <a:t> Reference clocks are stratum 0.</a:t>
            </a:r>
          </a:p>
          <a:p>
            <a:pPr marL="342900" indent="-342900">
              <a:buFont typeface="Arial" panose="020B0604020202020204" pitchFamily="34" charset="0"/>
              <a:buChar char="•"/>
            </a:pPr>
            <a:r>
              <a:rPr lang="en-US" sz="2800" dirty="0" smtClean="0"/>
              <a:t> Stratum 1 NTP servers get their time from reference clocks.</a:t>
            </a:r>
          </a:p>
          <a:p>
            <a:pPr marL="342900" indent="-342900">
              <a:buFont typeface="Arial" panose="020B0604020202020204" pitchFamily="34" charset="0"/>
              <a:buChar char="•"/>
            </a:pPr>
            <a:r>
              <a:rPr lang="en-US" sz="2800" dirty="0" smtClean="0"/>
              <a:t>  Stratum 2 NTP servers get their time from stratum 1 NTP servers.</a:t>
            </a:r>
          </a:p>
          <a:p>
            <a:pPr marL="342900" indent="-342900">
              <a:buFont typeface="Arial" panose="020B0604020202020204" pitchFamily="34" charset="0"/>
              <a:buChar char="•"/>
            </a:pPr>
            <a:r>
              <a:rPr lang="en-US" sz="2800" dirty="0" smtClean="0"/>
              <a:t> Stratum 3 NTP servers get their time from stratum 2 NTP servers.</a:t>
            </a:r>
          </a:p>
          <a:p>
            <a:pPr marL="342900" indent="-342900">
              <a:buFont typeface="Arial" panose="020B0604020202020204" pitchFamily="34" charset="0"/>
              <a:buChar char="•"/>
            </a:pPr>
            <a:r>
              <a:rPr lang="en-US" sz="2800" dirty="0"/>
              <a:t> </a:t>
            </a:r>
            <a:r>
              <a:rPr lang="en-US" sz="2800" dirty="0" smtClean="0"/>
              <a:t>Stratum 15 is the maximum. Anything above that is considered unreliable.</a:t>
            </a:r>
          </a:p>
          <a:p>
            <a:pPr marL="342900" indent="-342900">
              <a:buFont typeface="Arial" panose="020B0604020202020204" pitchFamily="34" charset="0"/>
              <a:buChar char="•"/>
            </a:pPr>
            <a:r>
              <a:rPr lang="en-US" sz="2800" dirty="0" smtClean="0"/>
              <a:t>Devices can also 'peer' with devices at the same stratum to provide more accurate time.</a:t>
            </a:r>
          </a:p>
          <a:p>
            <a:pPr marL="342900" indent="-342900">
              <a:buFont typeface="Arial" panose="020B0604020202020204" pitchFamily="34" charset="0"/>
              <a:buChar char="•"/>
            </a:pPr>
            <a:r>
              <a:rPr lang="en-US" sz="2800" dirty="0" smtClean="0"/>
              <a:t>NTP client can sync to multiple NTP Servers</a:t>
            </a:r>
            <a:endParaRPr lang="en-US" sz="2800" dirty="0"/>
          </a:p>
        </p:txBody>
      </p:sp>
      <p:sp>
        <p:nvSpPr>
          <p:cNvPr id="3" name="Rectangle 2"/>
          <p:cNvSpPr/>
          <p:nvPr/>
        </p:nvSpPr>
        <p:spPr>
          <a:xfrm>
            <a:off x="2223448" y="0"/>
            <a:ext cx="4572000" cy="646331"/>
          </a:xfrm>
          <a:prstGeom prst="rect">
            <a:avLst/>
          </a:prstGeom>
        </p:spPr>
        <p:txBody>
          <a:bodyPr>
            <a:spAutoFit/>
          </a:bodyPr>
          <a:lstStyle/>
          <a:p>
            <a:r>
              <a:rPr lang="en-US" sz="3600" dirty="0" smtClean="0">
                <a:solidFill>
                  <a:srgbClr val="FF0000"/>
                </a:solidFill>
              </a:rPr>
              <a:t>NTP HIERARCHY</a:t>
            </a:r>
            <a:endParaRPr lang="en-US" sz="3600" dirty="0">
              <a:solidFill>
                <a:srgbClr val="FF0000"/>
              </a:solidFill>
            </a:endParaRPr>
          </a:p>
        </p:txBody>
      </p:sp>
    </p:spTree>
    <p:extLst>
      <p:ext uri="{BB962C8B-B14F-4D97-AF65-F5344CB8AC3E}">
        <p14:creationId xmlns:p14="http://schemas.microsoft.com/office/powerpoint/2010/main" val="10998998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5659" y="382137"/>
            <a:ext cx="8611737" cy="6209732"/>
          </a:xfrm>
        </p:spPr>
        <p:txBody>
          <a:bodyPr>
            <a:normAutofit/>
          </a:bodyPr>
          <a:lstStyle/>
          <a:p>
            <a:r>
              <a:rPr lang="en-US" b="1" dirty="0" smtClean="0">
                <a:solidFill>
                  <a:schemeClr val="tx1"/>
                </a:solidFill>
              </a:rPr>
              <a:t>PRIMARY SERVER:</a:t>
            </a:r>
          </a:p>
          <a:p>
            <a:r>
              <a:rPr lang="en-US" dirty="0" smtClean="0">
                <a:solidFill>
                  <a:schemeClr val="tx1"/>
                </a:solidFill>
              </a:rPr>
              <a:t>NTP server which get their time directly from a reference clock are also called primary server</a:t>
            </a:r>
          </a:p>
          <a:p>
            <a:endParaRPr lang="en-US" b="1" dirty="0" smtClean="0">
              <a:solidFill>
                <a:schemeClr val="tx1"/>
              </a:solidFill>
            </a:endParaRPr>
          </a:p>
          <a:p>
            <a:r>
              <a:rPr lang="en-US" b="1" dirty="0" smtClean="0">
                <a:solidFill>
                  <a:schemeClr val="tx1"/>
                </a:solidFill>
              </a:rPr>
              <a:t>SECONDARY SERVER:</a:t>
            </a:r>
          </a:p>
          <a:p>
            <a:r>
              <a:rPr lang="en-US" dirty="0" smtClean="0">
                <a:solidFill>
                  <a:schemeClr val="tx1"/>
                </a:solidFill>
              </a:rPr>
              <a:t>NTP server which get their time form other NTP server are called secondary server . THEY operates in server mode and client mode at the same time</a:t>
            </a:r>
          </a:p>
          <a:p>
            <a:endParaRPr lang="en-US" b="1" dirty="0">
              <a:solidFill>
                <a:schemeClr val="tx1"/>
              </a:solidFill>
            </a:endParaRPr>
          </a:p>
          <a:p>
            <a:endParaRPr lang="en-US" b="1" dirty="0">
              <a:solidFill>
                <a:schemeClr val="tx1"/>
              </a:solidFill>
            </a:endParaRPr>
          </a:p>
        </p:txBody>
      </p:sp>
    </p:spTree>
    <p:extLst>
      <p:ext uri="{BB962C8B-B14F-4D97-AF65-F5344CB8AC3E}">
        <p14:creationId xmlns:p14="http://schemas.microsoft.com/office/powerpoint/2010/main" val="419145552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389"/>
        <p:cNvGrpSpPr/>
        <p:nvPr/>
      </p:nvGrpSpPr>
      <p:grpSpPr>
        <a:xfrm>
          <a:off x="0" y="0"/>
          <a:ext cx="0" cy="0"/>
          <a:chOff x="0" y="0"/>
          <a:chExt cx="0" cy="0"/>
        </a:xfrm>
      </p:grpSpPr>
      <p:sp>
        <p:nvSpPr>
          <p:cNvPr id="1390" name="Google Shape;1390;p1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NTP</a:t>
            </a:r>
            <a:endParaRPr/>
          </a:p>
        </p:txBody>
      </p:sp>
      <p:sp>
        <p:nvSpPr>
          <p:cNvPr id="1391" name="Google Shape;1391;p16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None/>
            </a:pPr>
            <a:r>
              <a:rPr lang="en-US" dirty="0"/>
              <a:t>R1</a:t>
            </a:r>
            <a:endParaRPr dirty="0"/>
          </a:p>
          <a:p>
            <a:pPr marL="342900" lvl="0" indent="-342900" algn="l" rtl="0">
              <a:spcBef>
                <a:spcPts val="544"/>
              </a:spcBef>
              <a:spcAft>
                <a:spcPts val="0"/>
              </a:spcAft>
              <a:buClr>
                <a:schemeClr val="dk1"/>
              </a:buClr>
              <a:buSzPct val="100000"/>
              <a:buNone/>
            </a:pPr>
            <a:r>
              <a:rPr lang="en-US" dirty="0"/>
              <a:t>interface gig0/0/0</a:t>
            </a:r>
            <a:endParaRPr dirty="0"/>
          </a:p>
          <a:p>
            <a:pPr marL="342900" lvl="0" indent="-342900" algn="l" rtl="0">
              <a:spcBef>
                <a:spcPts val="544"/>
              </a:spcBef>
              <a:spcAft>
                <a:spcPts val="0"/>
              </a:spcAft>
              <a:buClr>
                <a:schemeClr val="dk1"/>
              </a:buClr>
              <a:buSzPct val="100000"/>
              <a:buNone/>
            </a:pPr>
            <a:r>
              <a:rPr lang="en-US" dirty="0" err="1"/>
              <a:t>Ip</a:t>
            </a:r>
            <a:r>
              <a:rPr lang="en-US" dirty="0"/>
              <a:t> address 192.168.1.1 255.255.255.0</a:t>
            </a:r>
            <a:endParaRPr dirty="0"/>
          </a:p>
          <a:p>
            <a:pPr marL="342900" lvl="0" indent="-342900" algn="l" rtl="0">
              <a:spcBef>
                <a:spcPts val="544"/>
              </a:spcBef>
              <a:spcAft>
                <a:spcPts val="0"/>
              </a:spcAft>
              <a:buClr>
                <a:schemeClr val="dk1"/>
              </a:buClr>
              <a:buSzPct val="100000"/>
              <a:buNone/>
            </a:pPr>
            <a:r>
              <a:rPr lang="en-US" dirty="0"/>
              <a:t>No shutdown</a:t>
            </a:r>
            <a:endParaRPr dirty="0"/>
          </a:p>
          <a:p>
            <a:pPr marL="342900" lvl="0" indent="-342900" algn="l" rtl="0">
              <a:spcBef>
                <a:spcPts val="544"/>
              </a:spcBef>
              <a:spcAft>
                <a:spcPts val="0"/>
              </a:spcAft>
              <a:buClr>
                <a:schemeClr val="dk1"/>
              </a:buClr>
              <a:buSzPct val="100000"/>
              <a:buNone/>
            </a:pPr>
            <a:r>
              <a:rPr lang="en-US" dirty="0"/>
              <a:t>Exit</a:t>
            </a: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r>
              <a:rPr lang="en-US" dirty="0"/>
              <a:t>interface gig0/0/1</a:t>
            </a:r>
            <a:endParaRPr dirty="0"/>
          </a:p>
          <a:p>
            <a:pPr marL="342900" lvl="0" indent="-342900" algn="l" rtl="0">
              <a:spcBef>
                <a:spcPts val="544"/>
              </a:spcBef>
              <a:spcAft>
                <a:spcPts val="0"/>
              </a:spcAft>
              <a:buClr>
                <a:schemeClr val="dk1"/>
              </a:buClr>
              <a:buSzPct val="100000"/>
              <a:buNone/>
            </a:pPr>
            <a:r>
              <a:rPr lang="en-US" dirty="0" err="1"/>
              <a:t>Ip</a:t>
            </a:r>
            <a:r>
              <a:rPr lang="en-US" dirty="0"/>
              <a:t> address 202.84.41.1  255.255.255.0</a:t>
            </a:r>
            <a:endParaRPr dirty="0"/>
          </a:p>
          <a:p>
            <a:pPr marL="342900" lvl="0" indent="-342900" algn="l" rtl="0">
              <a:spcBef>
                <a:spcPts val="544"/>
              </a:spcBef>
              <a:spcAft>
                <a:spcPts val="0"/>
              </a:spcAft>
              <a:buClr>
                <a:schemeClr val="dk1"/>
              </a:buClr>
              <a:buSzPct val="100000"/>
              <a:buNone/>
            </a:pPr>
            <a:r>
              <a:rPr lang="en-US" dirty="0"/>
              <a:t>No shutdown</a:t>
            </a:r>
            <a:endParaRPr dirty="0"/>
          </a:p>
          <a:p>
            <a:pPr marL="342900" lvl="0" indent="-342900" algn="l" rtl="0">
              <a:spcBef>
                <a:spcPts val="544"/>
              </a:spcBef>
              <a:spcAft>
                <a:spcPts val="0"/>
              </a:spcAft>
              <a:buClr>
                <a:schemeClr val="dk1"/>
              </a:buClr>
              <a:buSzPct val="100000"/>
              <a:buNone/>
            </a:pPr>
            <a:r>
              <a:rPr lang="en-US" dirty="0"/>
              <a:t>Exit</a:t>
            </a: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p:txBody>
      </p:sp>
      <p:sp>
        <p:nvSpPr>
          <p:cNvPr id="1392" name="Google Shape;1392;p168"/>
          <p:cNvSpPr/>
          <p:nvPr/>
        </p:nvSpPr>
        <p:spPr>
          <a:xfrm>
            <a:off x="6934200" y="2743200"/>
            <a:ext cx="762000" cy="685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3" name="Google Shape;1393;p168"/>
          <p:cNvSpPr/>
          <p:nvPr/>
        </p:nvSpPr>
        <p:spPr>
          <a:xfrm>
            <a:off x="6705600" y="4114800"/>
            <a:ext cx="11430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4" name="Google Shape;1394;p168"/>
          <p:cNvSpPr/>
          <p:nvPr/>
        </p:nvSpPr>
        <p:spPr>
          <a:xfrm>
            <a:off x="7848600" y="5181600"/>
            <a:ext cx="6858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5" name="Google Shape;1395;p168"/>
          <p:cNvSpPr/>
          <p:nvPr/>
        </p:nvSpPr>
        <p:spPr>
          <a:xfrm>
            <a:off x="5943600" y="5105400"/>
            <a:ext cx="7620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96" name="Google Shape;1396;p168"/>
          <p:cNvSpPr/>
          <p:nvPr/>
        </p:nvSpPr>
        <p:spPr>
          <a:xfrm>
            <a:off x="8077200" y="1676400"/>
            <a:ext cx="457200" cy="9906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397" name="Google Shape;1397;p168"/>
          <p:cNvCxnSpPr>
            <a:stCxn id="1392" idx="0"/>
            <a:endCxn id="1396" idx="1"/>
          </p:cNvCxnSpPr>
          <p:nvPr/>
        </p:nvCxnSpPr>
        <p:spPr>
          <a:xfrm rot="10800000" flipH="1">
            <a:off x="7315200" y="2171700"/>
            <a:ext cx="762000" cy="571500"/>
          </a:xfrm>
          <a:prstGeom prst="straightConnector1">
            <a:avLst/>
          </a:prstGeom>
          <a:noFill/>
          <a:ln w="9525" cap="flat" cmpd="sng">
            <a:solidFill>
              <a:srgbClr val="4A7DBA"/>
            </a:solidFill>
            <a:prstDash val="solid"/>
            <a:round/>
            <a:headEnd type="none" w="sm" len="sm"/>
            <a:tailEnd type="stealth" w="med" len="med"/>
          </a:ln>
        </p:spPr>
      </p:cxnSp>
      <p:cxnSp>
        <p:nvCxnSpPr>
          <p:cNvPr id="1398" name="Google Shape;1398;p168"/>
          <p:cNvCxnSpPr>
            <a:stCxn id="1393" idx="0"/>
            <a:endCxn id="1392" idx="4"/>
          </p:cNvCxnSpPr>
          <p:nvPr/>
        </p:nvCxnSpPr>
        <p:spPr>
          <a:xfrm rot="10800000" flipH="1">
            <a:off x="7277100" y="3429000"/>
            <a:ext cx="38100" cy="685800"/>
          </a:xfrm>
          <a:prstGeom prst="straightConnector1">
            <a:avLst/>
          </a:prstGeom>
          <a:noFill/>
          <a:ln w="9525" cap="flat" cmpd="sng">
            <a:solidFill>
              <a:srgbClr val="4A7DBA"/>
            </a:solidFill>
            <a:prstDash val="solid"/>
            <a:round/>
            <a:headEnd type="none" w="sm" len="sm"/>
            <a:tailEnd type="stealth" w="med" len="med"/>
          </a:ln>
        </p:spPr>
      </p:cxnSp>
      <p:cxnSp>
        <p:nvCxnSpPr>
          <p:cNvPr id="1399" name="Google Shape;1399;p168"/>
          <p:cNvCxnSpPr>
            <a:stCxn id="1393" idx="2"/>
            <a:endCxn id="1394" idx="0"/>
          </p:cNvCxnSpPr>
          <p:nvPr/>
        </p:nvCxnSpPr>
        <p:spPr>
          <a:xfrm>
            <a:off x="7277100" y="4572000"/>
            <a:ext cx="914400" cy="609600"/>
          </a:xfrm>
          <a:prstGeom prst="straightConnector1">
            <a:avLst/>
          </a:prstGeom>
          <a:noFill/>
          <a:ln w="9525" cap="flat" cmpd="sng">
            <a:solidFill>
              <a:srgbClr val="4A7DBA"/>
            </a:solidFill>
            <a:prstDash val="solid"/>
            <a:round/>
            <a:headEnd type="none" w="sm" len="sm"/>
            <a:tailEnd type="stealth" w="med" len="med"/>
          </a:ln>
        </p:spPr>
      </p:cxnSp>
      <p:cxnSp>
        <p:nvCxnSpPr>
          <p:cNvPr id="1400" name="Google Shape;1400;p168"/>
          <p:cNvCxnSpPr>
            <a:stCxn id="1395" idx="0"/>
            <a:endCxn id="1393" idx="2"/>
          </p:cNvCxnSpPr>
          <p:nvPr/>
        </p:nvCxnSpPr>
        <p:spPr>
          <a:xfrm rot="10800000" flipH="1">
            <a:off x="6324600" y="4572000"/>
            <a:ext cx="952500" cy="533400"/>
          </a:xfrm>
          <a:prstGeom prst="straightConnector1">
            <a:avLst/>
          </a:prstGeom>
          <a:noFill/>
          <a:ln w="9525" cap="flat" cmpd="sng">
            <a:solidFill>
              <a:srgbClr val="4A7DBA"/>
            </a:solidFill>
            <a:prstDash val="solid"/>
            <a:round/>
            <a:headEnd type="none" w="sm" len="sm"/>
            <a:tailEnd type="stealth" w="med" len="med"/>
          </a:ln>
        </p:spPr>
      </p:cxn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404"/>
        <p:cNvGrpSpPr/>
        <p:nvPr/>
      </p:nvGrpSpPr>
      <p:grpSpPr>
        <a:xfrm>
          <a:off x="0" y="0"/>
          <a:ext cx="0" cy="0"/>
          <a:chOff x="0" y="0"/>
          <a:chExt cx="0" cy="0"/>
        </a:xfrm>
      </p:grpSpPr>
      <p:sp>
        <p:nvSpPr>
          <p:cNvPr id="1405" name="Google Shape;1405;p169"/>
          <p:cNvSpPr txBox="1">
            <a:spLocks noGrp="1"/>
          </p:cNvSpPr>
          <p:nvPr>
            <p:ph type="body" idx="1"/>
          </p:nvPr>
        </p:nvSpPr>
        <p:spPr>
          <a:xfrm>
            <a:off x="457200" y="381000"/>
            <a:ext cx="8229600" cy="57451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dirty="0"/>
              <a:t>Server </a:t>
            </a:r>
            <a:endParaRPr dirty="0"/>
          </a:p>
          <a:p>
            <a:pPr marL="342900" lvl="0" indent="-342900" algn="l" rtl="0">
              <a:spcBef>
                <a:spcPts val="592"/>
              </a:spcBef>
              <a:spcAft>
                <a:spcPts val="0"/>
              </a:spcAft>
              <a:buClr>
                <a:schemeClr val="dk1"/>
              </a:buClr>
              <a:buSzPct val="100000"/>
              <a:buNone/>
            </a:pPr>
            <a:r>
              <a:rPr lang="en-US" dirty="0" err="1"/>
              <a:t>Ip</a:t>
            </a:r>
            <a:r>
              <a:rPr lang="en-US" dirty="0"/>
              <a:t> set:</a:t>
            </a:r>
            <a:endParaRPr dirty="0"/>
          </a:p>
          <a:p>
            <a:pPr marL="342900" lvl="0" indent="-342900" algn="l" rtl="0">
              <a:spcBef>
                <a:spcPts val="592"/>
              </a:spcBef>
              <a:spcAft>
                <a:spcPts val="0"/>
              </a:spcAft>
              <a:buClr>
                <a:schemeClr val="dk1"/>
              </a:buClr>
              <a:buSzPct val="100000"/>
              <a:buNone/>
            </a:pPr>
            <a:r>
              <a:rPr lang="en-US" dirty="0"/>
              <a:t>202.84.41.2</a:t>
            </a:r>
            <a:endParaRPr dirty="0"/>
          </a:p>
          <a:p>
            <a:pPr marL="342900" lvl="0" indent="-342900" algn="l" rtl="0">
              <a:spcBef>
                <a:spcPts val="592"/>
              </a:spcBef>
              <a:spcAft>
                <a:spcPts val="0"/>
              </a:spcAft>
              <a:buClr>
                <a:schemeClr val="dk1"/>
              </a:buClr>
              <a:buSzPct val="100000"/>
              <a:buNone/>
            </a:pPr>
            <a:r>
              <a:rPr lang="en-US" dirty="0"/>
              <a:t>255.255.255.0</a:t>
            </a:r>
            <a:endParaRPr dirty="0"/>
          </a:p>
          <a:p>
            <a:pPr marL="342900" lvl="0" indent="-342900" algn="l" rtl="0">
              <a:spcBef>
                <a:spcPts val="592"/>
              </a:spcBef>
              <a:spcAft>
                <a:spcPts val="0"/>
              </a:spcAft>
              <a:buClr>
                <a:schemeClr val="dk1"/>
              </a:buClr>
              <a:buSzPct val="100000"/>
              <a:buNone/>
            </a:pPr>
            <a:r>
              <a:rPr lang="en-US" dirty="0"/>
              <a:t>202.84.41.1</a:t>
            </a:r>
            <a:endParaRPr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dirty="0"/>
              <a:t>Server-service</a:t>
            </a:r>
            <a:endParaRPr dirty="0"/>
          </a:p>
          <a:p>
            <a:pPr marL="342900" lvl="0" indent="-342900" algn="l" rtl="0">
              <a:spcBef>
                <a:spcPts val="592"/>
              </a:spcBef>
              <a:spcAft>
                <a:spcPts val="0"/>
              </a:spcAft>
              <a:buClr>
                <a:schemeClr val="dk1"/>
              </a:buClr>
              <a:buSzPct val="100000"/>
              <a:buNone/>
            </a:pPr>
            <a:r>
              <a:rPr lang="en-US" dirty="0"/>
              <a:t>NTP –on</a:t>
            </a:r>
            <a:endParaRPr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dirty="0"/>
              <a:t>R1:</a:t>
            </a:r>
            <a:endParaRPr dirty="0"/>
          </a:p>
          <a:p>
            <a:pPr marL="342900" lvl="0" indent="-342900" algn="l" rtl="0">
              <a:spcBef>
                <a:spcPts val="592"/>
              </a:spcBef>
              <a:spcAft>
                <a:spcPts val="0"/>
              </a:spcAft>
              <a:buClr>
                <a:schemeClr val="dk1"/>
              </a:buClr>
              <a:buSzPct val="100000"/>
              <a:buNone/>
            </a:pPr>
            <a:r>
              <a:rPr lang="en-US" dirty="0"/>
              <a:t>Do show clock</a:t>
            </a:r>
            <a:endParaRPr dirty="0"/>
          </a:p>
          <a:p>
            <a:pPr marL="342900" lvl="0" indent="-342900" algn="l" rtl="0">
              <a:spcBef>
                <a:spcPts val="592"/>
              </a:spcBef>
              <a:spcAft>
                <a:spcPts val="0"/>
              </a:spcAft>
              <a:buClr>
                <a:schemeClr val="dk1"/>
              </a:buClr>
              <a:buSzPct val="100000"/>
              <a:buNone/>
            </a:pPr>
            <a:endParaRPr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170"/>
          <p:cNvSpPr txBox="1">
            <a:spLocks noGrp="1"/>
          </p:cNvSpPr>
          <p:nvPr>
            <p:ph type="body" idx="1"/>
          </p:nvPr>
        </p:nvSpPr>
        <p:spPr>
          <a:xfrm>
            <a:off x="457200" y="533400"/>
            <a:ext cx="8229600" cy="55927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dirty="0"/>
              <a:t>R1 </a:t>
            </a:r>
            <a:r>
              <a:rPr lang="en-US" dirty="0" err="1"/>
              <a:t>Config</a:t>
            </a:r>
            <a:r>
              <a:rPr lang="en-US" dirty="0"/>
              <a:t>:</a:t>
            </a:r>
            <a:endParaRPr dirty="0"/>
          </a:p>
          <a:p>
            <a:pPr marL="342900" lvl="0" indent="-342900" algn="l" rtl="0">
              <a:spcBef>
                <a:spcPts val="592"/>
              </a:spcBef>
              <a:spcAft>
                <a:spcPts val="0"/>
              </a:spcAft>
              <a:buClr>
                <a:schemeClr val="dk1"/>
              </a:buClr>
              <a:buSzPct val="100000"/>
              <a:buNone/>
            </a:pPr>
            <a:r>
              <a:rPr lang="en-US" dirty="0" err="1"/>
              <a:t>Ntp</a:t>
            </a:r>
            <a:r>
              <a:rPr lang="en-US" dirty="0"/>
              <a:t> server?</a:t>
            </a:r>
            <a:endParaRPr dirty="0"/>
          </a:p>
          <a:p>
            <a:pPr marL="342900" lvl="0" indent="-342900" algn="l" rtl="0">
              <a:spcBef>
                <a:spcPts val="592"/>
              </a:spcBef>
              <a:spcAft>
                <a:spcPts val="0"/>
              </a:spcAft>
              <a:buClr>
                <a:schemeClr val="dk1"/>
              </a:buClr>
              <a:buSzPct val="100000"/>
              <a:buNone/>
            </a:pPr>
            <a:r>
              <a:rPr lang="en-US" dirty="0" err="1"/>
              <a:t>Ntp</a:t>
            </a:r>
            <a:r>
              <a:rPr lang="en-US" dirty="0"/>
              <a:t> server 202.84.41.2 </a:t>
            </a:r>
            <a:endParaRPr dirty="0"/>
          </a:p>
          <a:p>
            <a:pPr marL="342900" lvl="0" indent="-342900" algn="l" rtl="0">
              <a:spcBef>
                <a:spcPts val="592"/>
              </a:spcBef>
              <a:spcAft>
                <a:spcPts val="0"/>
              </a:spcAft>
              <a:buClr>
                <a:schemeClr val="dk1"/>
              </a:buClr>
              <a:buSzPct val="100000"/>
              <a:buNone/>
            </a:pPr>
            <a:r>
              <a:rPr lang="en-US" dirty="0"/>
              <a:t>Exit</a:t>
            </a:r>
            <a:endParaRPr dirty="0"/>
          </a:p>
          <a:p>
            <a:pPr marL="342900" lvl="0" indent="-342900" algn="l" rtl="0">
              <a:spcBef>
                <a:spcPts val="592"/>
              </a:spcBef>
              <a:spcAft>
                <a:spcPts val="0"/>
              </a:spcAft>
              <a:buClr>
                <a:schemeClr val="dk1"/>
              </a:buClr>
              <a:buSzPct val="100000"/>
              <a:buNone/>
            </a:pPr>
            <a:r>
              <a:rPr lang="en-US" dirty="0"/>
              <a:t>Do show </a:t>
            </a:r>
            <a:r>
              <a:rPr lang="en-US" dirty="0" err="1"/>
              <a:t>ntp</a:t>
            </a:r>
            <a:r>
              <a:rPr lang="en-US" dirty="0"/>
              <a:t> associations</a:t>
            </a:r>
            <a:endParaRPr dirty="0"/>
          </a:p>
          <a:p>
            <a:pPr marL="342900" lvl="0" indent="-342900" algn="l" rtl="0">
              <a:spcBef>
                <a:spcPts val="592"/>
              </a:spcBef>
              <a:spcAft>
                <a:spcPts val="0"/>
              </a:spcAft>
              <a:buClr>
                <a:schemeClr val="dk1"/>
              </a:buClr>
              <a:buSzPct val="100000"/>
              <a:buNone/>
            </a:pPr>
            <a:r>
              <a:rPr lang="en-US" dirty="0"/>
              <a:t>Do show clock</a:t>
            </a:r>
            <a:endParaRPr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dirty="0"/>
              <a:t>Server: </a:t>
            </a:r>
            <a:endParaRPr dirty="0"/>
          </a:p>
          <a:p>
            <a:pPr marL="342900" lvl="0" indent="-342900" algn="l" rtl="0">
              <a:spcBef>
                <a:spcPts val="592"/>
              </a:spcBef>
              <a:spcAft>
                <a:spcPts val="0"/>
              </a:spcAft>
              <a:buClr>
                <a:schemeClr val="dk1"/>
              </a:buClr>
              <a:buSzPct val="100000"/>
              <a:buNone/>
            </a:pPr>
            <a:r>
              <a:rPr lang="en-US" dirty="0" err="1"/>
              <a:t>Ntp</a:t>
            </a:r>
            <a:r>
              <a:rPr lang="en-US" dirty="0"/>
              <a:t>- on &lt;-&gt;off        //To </a:t>
            </a:r>
            <a:r>
              <a:rPr lang="en-US" dirty="0" err="1"/>
              <a:t>chnge</a:t>
            </a:r>
            <a:r>
              <a:rPr lang="en-US" dirty="0"/>
              <a:t> the date and time</a:t>
            </a:r>
            <a:endParaRPr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dirty="0"/>
              <a:t>R1: do show clock</a:t>
            </a:r>
            <a:endParaRPr dirty="0"/>
          </a:p>
        </p:txBody>
      </p:sp>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6743" y="96910"/>
            <a:ext cx="7772400" cy="626422"/>
          </a:xfrm>
        </p:spPr>
        <p:txBody>
          <a:bodyPr>
            <a:normAutofit fontScale="90000"/>
          </a:bodyPr>
          <a:lstStyle/>
          <a:p>
            <a:r>
              <a:rPr lang="en-US" dirty="0" smtClean="0"/>
              <a:t>NAT</a:t>
            </a:r>
            <a:endParaRPr lang="en-IN" dirty="0"/>
          </a:p>
        </p:txBody>
      </p:sp>
      <p:sp>
        <p:nvSpPr>
          <p:cNvPr id="4" name="Title 1"/>
          <p:cNvSpPr txBox="1">
            <a:spLocks/>
          </p:cNvSpPr>
          <p:nvPr/>
        </p:nvSpPr>
        <p:spPr>
          <a:xfrm>
            <a:off x="518614" y="545911"/>
            <a:ext cx="8188657" cy="6134667"/>
          </a:xfrm>
          <a:prstGeom prst="rect">
            <a:avLst/>
          </a:prstGeom>
          <a:noFill/>
          <a:ln>
            <a:noFill/>
          </a:ln>
        </p:spPr>
        <p:txBody>
          <a:bodyPr spcFirstLastPara="1" wrap="square" lIns="91425" tIns="45700" rIns="91425" bIns="45700" anchor="ctr" anchorCtr="0">
            <a:normAutofit fontScale="850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lnSpc>
                <a:spcPct val="150000"/>
              </a:lnSpc>
            </a:pPr>
            <a:r>
              <a:rPr lang="en-US" sz="2800" b="1" dirty="0"/>
              <a:t>NAT (Network Address Translation)</a:t>
            </a:r>
            <a:r>
              <a:rPr lang="en-US" sz="2800" dirty="0"/>
              <a:t> is a process used by routers or firewalls to </a:t>
            </a:r>
            <a:r>
              <a:rPr lang="en-US" sz="2800" b="1" dirty="0"/>
              <a:t>translate private IP addresses</a:t>
            </a:r>
            <a:r>
              <a:rPr lang="en-US" sz="2800" dirty="0"/>
              <a:t> (used inside your network) into </a:t>
            </a:r>
            <a:r>
              <a:rPr lang="en-US" sz="2800" b="1" dirty="0"/>
              <a:t>public IP addresses</a:t>
            </a:r>
            <a:r>
              <a:rPr lang="en-US" sz="2800" dirty="0"/>
              <a:t> (used on the Internet).</a:t>
            </a:r>
          </a:p>
          <a:p>
            <a:pPr algn="l">
              <a:lnSpc>
                <a:spcPct val="150000"/>
              </a:lnSpc>
            </a:pPr>
            <a:r>
              <a:rPr lang="en-US" sz="2800" dirty="0"/>
              <a:t>It acts like a </a:t>
            </a:r>
            <a:r>
              <a:rPr lang="en-US" sz="2800" b="1" dirty="0"/>
              <a:t>bridge</a:t>
            </a:r>
            <a:r>
              <a:rPr lang="en-US" sz="2800" dirty="0"/>
              <a:t> between your private LAN and the public Internet</a:t>
            </a:r>
            <a:r>
              <a:rPr lang="en-US" sz="2800" dirty="0" smtClean="0"/>
              <a:t>.</a:t>
            </a:r>
          </a:p>
          <a:p>
            <a:pPr algn="l">
              <a:lnSpc>
                <a:spcPct val="150000"/>
              </a:lnSpc>
            </a:pPr>
            <a:r>
              <a:rPr lang="en-US" sz="2800" dirty="0"/>
              <a:t>Private IP: 192.168.1.10 → Translated to → Public IP: </a:t>
            </a:r>
            <a:r>
              <a:rPr lang="en-US" sz="2800" dirty="0" smtClean="0"/>
              <a:t>203.0.113.5</a:t>
            </a:r>
          </a:p>
          <a:p>
            <a:pPr algn="l">
              <a:lnSpc>
                <a:spcPct val="150000"/>
              </a:lnSpc>
            </a:pPr>
            <a:r>
              <a:rPr lang="en-US" sz="2800" dirty="0"/>
              <a:t>NAT </a:t>
            </a:r>
            <a:r>
              <a:rPr lang="en-US" sz="2800" b="1" dirty="0"/>
              <a:t>hides your internal network</a:t>
            </a:r>
            <a:r>
              <a:rPr lang="en-US" sz="2800" dirty="0"/>
              <a:t> from the outside world.</a:t>
            </a:r>
          </a:p>
          <a:p>
            <a:pPr algn="l">
              <a:lnSpc>
                <a:spcPct val="150000"/>
              </a:lnSpc>
            </a:pPr>
            <a:r>
              <a:rPr lang="en-US" sz="2800" dirty="0"/>
              <a:t>External users only see your </a:t>
            </a:r>
            <a:r>
              <a:rPr lang="en-US" sz="2800" b="1" dirty="0"/>
              <a:t>public IP address</a:t>
            </a:r>
            <a:r>
              <a:rPr lang="en-US" sz="2800" dirty="0"/>
              <a:t>, not your internal devices.</a:t>
            </a:r>
            <a:br>
              <a:rPr lang="en-US" sz="2800" dirty="0"/>
            </a:br>
            <a:r>
              <a:rPr lang="en-US" sz="2800" dirty="0"/>
              <a:t>This helps prevent direct access or attacks from the Internet.</a:t>
            </a:r>
          </a:p>
          <a:p>
            <a:pPr algn="l"/>
            <a:endParaRPr lang="en-US" dirty="0"/>
          </a:p>
        </p:txBody>
      </p:sp>
    </p:spTree>
    <p:extLst>
      <p:ext uri="{BB962C8B-B14F-4D97-AF65-F5344CB8AC3E}">
        <p14:creationId xmlns:p14="http://schemas.microsoft.com/office/powerpoint/2010/main" val="2890087519"/>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15;p171"/>
          <p:cNvSpPr txBox="1">
            <a:spLocks/>
          </p:cNvSpPr>
          <p:nvPr/>
        </p:nvSpPr>
        <p:spPr>
          <a:xfrm>
            <a:off x="569794" y="179102"/>
            <a:ext cx="8229600" cy="530581"/>
          </a:xfrm>
          <a:prstGeom prst="rect">
            <a:avLst/>
          </a:prstGeom>
          <a:noFill/>
          <a:ln>
            <a:noFill/>
          </a:ln>
        </p:spPr>
        <p:txBody>
          <a:bodyPr spcFirstLastPara="1" wrap="square" lIns="91425" tIns="45700" rIns="91425" bIns="45700" anchor="ctr" anchorCtr="0">
            <a:normAutofit fontScale="77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b="1" dirty="0" smtClean="0"/>
              <a:t>Static NAT</a:t>
            </a:r>
            <a:endParaRPr lang="en-US" b="1" dirty="0"/>
          </a:p>
        </p:txBody>
      </p:sp>
      <p:sp>
        <p:nvSpPr>
          <p:cNvPr id="5" name="Google Shape;1415;p171"/>
          <p:cNvSpPr txBox="1">
            <a:spLocks/>
          </p:cNvSpPr>
          <p:nvPr/>
        </p:nvSpPr>
        <p:spPr>
          <a:xfrm>
            <a:off x="414550" y="959298"/>
            <a:ext cx="8540087" cy="4349681"/>
          </a:xfrm>
          <a:prstGeom prst="rect">
            <a:avLst/>
          </a:prstGeom>
          <a:noFill/>
          <a:ln>
            <a:noFill/>
          </a:ln>
        </p:spPr>
        <p:txBody>
          <a:bodyPr spcFirstLastPara="1" wrap="square" lIns="91425" tIns="45700" rIns="91425" bIns="45700" anchor="ctr" anchorCtr="0">
            <a:normAutofit fontScale="62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571500" indent="-571500" algn="l">
              <a:lnSpc>
                <a:spcPct val="170000"/>
              </a:lnSpc>
              <a:buFont typeface="Wingdings" panose="05000000000000000000" pitchFamily="2" charset="2"/>
              <a:buChar char="q"/>
            </a:pPr>
            <a:r>
              <a:rPr lang="en-US" b="1" dirty="0"/>
              <a:t>Static NAT (Static Network Address Translation)</a:t>
            </a:r>
            <a:r>
              <a:rPr lang="en-US" dirty="0"/>
              <a:t> is a </a:t>
            </a:r>
            <a:r>
              <a:rPr lang="en-US" b="1" dirty="0"/>
              <a:t>one-to-one mapping</a:t>
            </a:r>
            <a:r>
              <a:rPr lang="en-US" dirty="0"/>
              <a:t> between a </a:t>
            </a:r>
            <a:r>
              <a:rPr lang="en-US" b="1" dirty="0"/>
              <a:t>private IP address</a:t>
            </a:r>
            <a:r>
              <a:rPr lang="en-US" dirty="0"/>
              <a:t> and a </a:t>
            </a:r>
            <a:r>
              <a:rPr lang="en-US" b="1" dirty="0"/>
              <a:t>public IP address</a:t>
            </a:r>
            <a:r>
              <a:rPr lang="en-US" dirty="0"/>
              <a:t>.</a:t>
            </a:r>
          </a:p>
          <a:p>
            <a:pPr marL="571500" indent="-571500" algn="l">
              <a:lnSpc>
                <a:spcPct val="170000"/>
              </a:lnSpc>
              <a:buFont typeface="Wingdings" panose="05000000000000000000" pitchFamily="2" charset="2"/>
              <a:buChar char="q"/>
            </a:pPr>
            <a:r>
              <a:rPr lang="en-US" dirty="0"/>
              <a:t>That means a specific internal (private) device always uses the </a:t>
            </a:r>
            <a:r>
              <a:rPr lang="en-US" b="1" dirty="0"/>
              <a:t>same public IP address</a:t>
            </a:r>
            <a:r>
              <a:rPr lang="en-US" dirty="0"/>
              <a:t> when communicating with the Internet — and vice versa.</a:t>
            </a:r>
          </a:p>
        </p:txBody>
      </p:sp>
    </p:spTree>
    <p:extLst>
      <p:ext uri="{BB962C8B-B14F-4D97-AF65-F5344CB8AC3E}">
        <p14:creationId xmlns:p14="http://schemas.microsoft.com/office/powerpoint/2010/main" val="4115251495"/>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414"/>
        <p:cNvGrpSpPr/>
        <p:nvPr/>
      </p:nvGrpSpPr>
      <p:grpSpPr>
        <a:xfrm>
          <a:off x="0" y="0"/>
          <a:ext cx="0" cy="0"/>
          <a:chOff x="0" y="0"/>
          <a:chExt cx="0" cy="0"/>
        </a:xfrm>
      </p:grpSpPr>
      <p:sp>
        <p:nvSpPr>
          <p:cNvPr id="1415" name="Google Shape;1415;p17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Static NAT</a:t>
            </a:r>
            <a:endParaRPr dirty="0"/>
          </a:p>
        </p:txBody>
      </p:sp>
      <p:sp>
        <p:nvSpPr>
          <p:cNvPr id="1416" name="Google Shape;1416;p17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dirty="0"/>
              <a:t>All router line up</a:t>
            </a:r>
            <a:endParaRPr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dirty="0"/>
              <a:t>Default routing:</a:t>
            </a:r>
            <a:endParaRPr dirty="0"/>
          </a:p>
          <a:p>
            <a:pPr marL="342900" lvl="0" indent="-342900" algn="l" rtl="0">
              <a:spcBef>
                <a:spcPts val="592"/>
              </a:spcBef>
              <a:spcAft>
                <a:spcPts val="0"/>
              </a:spcAft>
              <a:buClr>
                <a:schemeClr val="dk1"/>
              </a:buClr>
              <a:buSzPct val="100000"/>
              <a:buNone/>
            </a:pPr>
            <a:r>
              <a:rPr lang="en-US" dirty="0"/>
              <a:t>R1:</a:t>
            </a:r>
            <a:endParaRPr dirty="0"/>
          </a:p>
          <a:p>
            <a:pPr marL="342900" lvl="0" indent="-342900" algn="l" rtl="0">
              <a:spcBef>
                <a:spcPts val="592"/>
              </a:spcBef>
              <a:spcAft>
                <a:spcPts val="0"/>
              </a:spcAft>
              <a:buClr>
                <a:schemeClr val="dk1"/>
              </a:buClr>
              <a:buSzPct val="100000"/>
              <a:buNone/>
            </a:pPr>
            <a:r>
              <a:rPr lang="en-US" dirty="0"/>
              <a:t>#</a:t>
            </a:r>
            <a:r>
              <a:rPr lang="en-US" dirty="0" err="1"/>
              <a:t>Ip</a:t>
            </a:r>
            <a:r>
              <a:rPr lang="en-US" dirty="0"/>
              <a:t> route 0.0.0.0  0.0.0.0 </a:t>
            </a:r>
            <a:endParaRPr dirty="0"/>
          </a:p>
          <a:p>
            <a:pPr marL="342900" lvl="0" indent="-342900" algn="l" rtl="0">
              <a:spcBef>
                <a:spcPts val="592"/>
              </a:spcBef>
              <a:spcAft>
                <a:spcPts val="0"/>
              </a:spcAft>
              <a:buClr>
                <a:schemeClr val="dk1"/>
              </a:buClr>
              <a:buSzPct val="100000"/>
              <a:buNone/>
            </a:pPr>
            <a:r>
              <a:rPr lang="en-US" dirty="0"/>
              <a:t>10.0.0.2</a:t>
            </a:r>
            <a:endParaRPr dirty="0"/>
          </a:p>
          <a:p>
            <a:pPr marL="342900" lvl="0" indent="-342900" algn="l" rtl="0">
              <a:spcBef>
                <a:spcPts val="592"/>
              </a:spcBef>
              <a:spcAft>
                <a:spcPts val="0"/>
              </a:spcAft>
              <a:buClr>
                <a:schemeClr val="dk1"/>
              </a:buClr>
              <a:buSzPct val="100000"/>
              <a:buNone/>
            </a:pPr>
            <a:r>
              <a:rPr lang="en-US" dirty="0"/>
              <a:t>R2:</a:t>
            </a:r>
            <a:endParaRPr dirty="0"/>
          </a:p>
          <a:p>
            <a:pPr marL="342900" lvl="0" indent="-342900" algn="l" rtl="0">
              <a:spcBef>
                <a:spcPts val="592"/>
              </a:spcBef>
              <a:spcAft>
                <a:spcPts val="0"/>
              </a:spcAft>
              <a:buClr>
                <a:schemeClr val="dk1"/>
              </a:buClr>
              <a:buSzPct val="100000"/>
              <a:buNone/>
            </a:pPr>
            <a:r>
              <a:rPr lang="en-US" dirty="0"/>
              <a:t>#</a:t>
            </a:r>
            <a:r>
              <a:rPr lang="en-US" dirty="0" err="1"/>
              <a:t>Ip</a:t>
            </a:r>
            <a:r>
              <a:rPr lang="en-US" dirty="0"/>
              <a:t> route 0.0.0.0  0.0.0.0 </a:t>
            </a:r>
            <a:endParaRPr dirty="0"/>
          </a:p>
          <a:p>
            <a:pPr marL="342900" lvl="0" indent="-342900" algn="l" rtl="0">
              <a:spcBef>
                <a:spcPts val="592"/>
              </a:spcBef>
              <a:spcAft>
                <a:spcPts val="0"/>
              </a:spcAft>
              <a:buClr>
                <a:schemeClr val="dk1"/>
              </a:buClr>
              <a:buSzPct val="100000"/>
              <a:buNone/>
            </a:pPr>
            <a:r>
              <a:rPr lang="en-US" dirty="0"/>
              <a:t>10.0.0.1</a:t>
            </a:r>
            <a:endParaRPr dirty="0"/>
          </a:p>
        </p:txBody>
      </p:sp>
      <p:sp>
        <p:nvSpPr>
          <p:cNvPr id="1417" name="Google Shape;1417;p171"/>
          <p:cNvSpPr/>
          <p:nvPr/>
        </p:nvSpPr>
        <p:spPr>
          <a:xfrm>
            <a:off x="5410200" y="2362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8" name="Google Shape;1418;p171"/>
          <p:cNvSpPr/>
          <p:nvPr/>
        </p:nvSpPr>
        <p:spPr>
          <a:xfrm>
            <a:off x="5257800" y="35814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19" name="Google Shape;1419;p171"/>
          <p:cNvSpPr/>
          <p:nvPr/>
        </p:nvSpPr>
        <p:spPr>
          <a:xfrm>
            <a:off x="5029200" y="4572000"/>
            <a:ext cx="533400" cy="318448"/>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0" name="Google Shape;1420;p171"/>
          <p:cNvSpPr/>
          <p:nvPr/>
        </p:nvSpPr>
        <p:spPr>
          <a:xfrm>
            <a:off x="6172200" y="45720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1" name="Google Shape;1421;p171"/>
          <p:cNvSpPr/>
          <p:nvPr/>
        </p:nvSpPr>
        <p:spPr>
          <a:xfrm>
            <a:off x="7391400" y="22860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2" name="Google Shape;1422;p171"/>
          <p:cNvSpPr/>
          <p:nvPr/>
        </p:nvSpPr>
        <p:spPr>
          <a:xfrm>
            <a:off x="7239000" y="35052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3" name="Google Shape;1423;p171"/>
          <p:cNvSpPr/>
          <p:nvPr/>
        </p:nvSpPr>
        <p:spPr>
          <a:xfrm>
            <a:off x="7010400" y="44958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4" name="Google Shape;1424;p171"/>
          <p:cNvSpPr/>
          <p:nvPr/>
        </p:nvSpPr>
        <p:spPr>
          <a:xfrm>
            <a:off x="8153400" y="44958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425" name="Google Shape;1425;p171"/>
          <p:cNvCxnSpPr>
            <a:stCxn id="1417" idx="6"/>
          </p:cNvCxnSpPr>
          <p:nvPr/>
        </p:nvCxnSpPr>
        <p:spPr>
          <a:xfrm>
            <a:off x="6096000" y="2667000"/>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1426" name="Google Shape;1426;p171"/>
          <p:cNvCxnSpPr>
            <a:stCxn id="1417" idx="4"/>
            <a:endCxn id="1418" idx="0"/>
          </p:cNvCxnSpPr>
          <p:nvPr/>
        </p:nvCxnSpPr>
        <p:spPr>
          <a:xfrm flipH="1">
            <a:off x="5715000" y="29718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427" name="Google Shape;1427;p171"/>
          <p:cNvCxnSpPr>
            <a:stCxn id="1421" idx="4"/>
            <a:endCxn id="1422" idx="0"/>
          </p:cNvCxnSpPr>
          <p:nvPr/>
        </p:nvCxnSpPr>
        <p:spPr>
          <a:xfrm flipH="1">
            <a:off x="7696200" y="28956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428" name="Google Shape;1428;p171"/>
          <p:cNvCxnSpPr>
            <a:stCxn id="1418" idx="2"/>
            <a:endCxn id="1419" idx="0"/>
          </p:cNvCxnSpPr>
          <p:nvPr/>
        </p:nvCxnSpPr>
        <p:spPr>
          <a:xfrm flipH="1">
            <a:off x="5295900" y="38862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429" name="Google Shape;1429;p171"/>
          <p:cNvCxnSpPr>
            <a:stCxn id="1418" idx="2"/>
            <a:endCxn id="1420" idx="0"/>
          </p:cNvCxnSpPr>
          <p:nvPr/>
        </p:nvCxnSpPr>
        <p:spPr>
          <a:xfrm>
            <a:off x="5715000" y="3886200"/>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1430" name="Google Shape;1430;p171"/>
          <p:cNvCxnSpPr>
            <a:stCxn id="1422" idx="2"/>
            <a:endCxn id="1423" idx="0"/>
          </p:cNvCxnSpPr>
          <p:nvPr/>
        </p:nvCxnSpPr>
        <p:spPr>
          <a:xfrm flipH="1">
            <a:off x="7277100" y="38100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431" name="Google Shape;1431;p171"/>
          <p:cNvCxnSpPr>
            <a:stCxn id="1422" idx="2"/>
            <a:endCxn id="1424" idx="0"/>
          </p:cNvCxnSpPr>
          <p:nvPr/>
        </p:nvCxnSpPr>
        <p:spPr>
          <a:xfrm>
            <a:off x="7696200" y="3810000"/>
            <a:ext cx="723900" cy="685800"/>
          </a:xfrm>
          <a:prstGeom prst="straightConnector1">
            <a:avLst/>
          </a:prstGeom>
          <a:noFill/>
          <a:ln w="9525" cap="flat" cmpd="sng">
            <a:solidFill>
              <a:srgbClr val="4A7DBA"/>
            </a:solidFill>
            <a:prstDash val="solid"/>
            <a:round/>
            <a:headEnd type="none" w="sm" len="sm"/>
            <a:tailEnd type="none" w="sm" len="sm"/>
          </a:ln>
        </p:spPr>
      </p:cxnSp>
      <p:sp>
        <p:nvSpPr>
          <p:cNvPr id="2" name="TextBox 1"/>
          <p:cNvSpPr txBox="1"/>
          <p:nvPr/>
        </p:nvSpPr>
        <p:spPr>
          <a:xfrm>
            <a:off x="5029200" y="3207224"/>
            <a:ext cx="1128835" cy="307777"/>
          </a:xfrm>
          <a:prstGeom prst="rect">
            <a:avLst/>
          </a:prstGeom>
          <a:noFill/>
        </p:spPr>
        <p:txBody>
          <a:bodyPr wrap="none" rtlCol="0">
            <a:spAutoFit/>
          </a:bodyPr>
          <a:lstStyle/>
          <a:p>
            <a:r>
              <a:rPr lang="en-US" dirty="0" smtClean="0"/>
              <a:t>192.168.1.1</a:t>
            </a:r>
            <a:endParaRPr lang="en-IN" dirty="0"/>
          </a:p>
        </p:txBody>
      </p:sp>
      <p:sp>
        <p:nvSpPr>
          <p:cNvPr id="20" name="TextBox 19"/>
          <p:cNvSpPr txBox="1"/>
          <p:nvPr/>
        </p:nvSpPr>
        <p:spPr>
          <a:xfrm>
            <a:off x="7024565" y="3158584"/>
            <a:ext cx="1128835" cy="307777"/>
          </a:xfrm>
          <a:prstGeom prst="rect">
            <a:avLst/>
          </a:prstGeom>
          <a:noFill/>
        </p:spPr>
        <p:txBody>
          <a:bodyPr wrap="none" rtlCol="0">
            <a:spAutoFit/>
          </a:bodyPr>
          <a:lstStyle/>
          <a:p>
            <a:r>
              <a:rPr lang="en-US" dirty="0" smtClean="0"/>
              <a:t>192.168.2.1</a:t>
            </a:r>
            <a:endParaRPr lang="en-IN" dirty="0"/>
          </a:p>
        </p:txBody>
      </p:sp>
      <p:sp>
        <p:nvSpPr>
          <p:cNvPr id="21" name="TextBox 20"/>
          <p:cNvSpPr txBox="1"/>
          <p:nvPr/>
        </p:nvSpPr>
        <p:spPr>
          <a:xfrm>
            <a:off x="5750825" y="2123538"/>
            <a:ext cx="830677" cy="307777"/>
          </a:xfrm>
          <a:prstGeom prst="rect">
            <a:avLst/>
          </a:prstGeom>
          <a:noFill/>
        </p:spPr>
        <p:txBody>
          <a:bodyPr wrap="none" rtlCol="0">
            <a:spAutoFit/>
          </a:bodyPr>
          <a:lstStyle/>
          <a:p>
            <a:r>
              <a:rPr lang="en-US" dirty="0" smtClean="0"/>
              <a:t>10.0.0.1</a:t>
            </a:r>
            <a:endParaRPr lang="en-IN" dirty="0"/>
          </a:p>
        </p:txBody>
      </p:sp>
      <p:sp>
        <p:nvSpPr>
          <p:cNvPr id="22" name="TextBox 21"/>
          <p:cNvSpPr txBox="1"/>
          <p:nvPr/>
        </p:nvSpPr>
        <p:spPr>
          <a:xfrm>
            <a:off x="6823661" y="2139300"/>
            <a:ext cx="830677" cy="307777"/>
          </a:xfrm>
          <a:prstGeom prst="rect">
            <a:avLst/>
          </a:prstGeom>
          <a:noFill/>
        </p:spPr>
        <p:txBody>
          <a:bodyPr wrap="none" rtlCol="0">
            <a:spAutoFit/>
          </a:bodyPr>
          <a:lstStyle/>
          <a:p>
            <a:r>
              <a:rPr lang="en-US" dirty="0" smtClean="0"/>
              <a:t>10.0.0.2</a:t>
            </a:r>
            <a:endParaRPr lang="en-IN" dirty="0"/>
          </a:p>
        </p:txBody>
      </p:sp>
      <p:sp>
        <p:nvSpPr>
          <p:cNvPr id="23" name="TextBox 22"/>
          <p:cNvSpPr txBox="1"/>
          <p:nvPr/>
        </p:nvSpPr>
        <p:spPr>
          <a:xfrm>
            <a:off x="4757615" y="4832445"/>
            <a:ext cx="1128835" cy="307777"/>
          </a:xfrm>
          <a:prstGeom prst="rect">
            <a:avLst/>
          </a:prstGeom>
          <a:noFill/>
        </p:spPr>
        <p:txBody>
          <a:bodyPr wrap="none" rtlCol="0">
            <a:spAutoFit/>
          </a:bodyPr>
          <a:lstStyle/>
          <a:p>
            <a:r>
              <a:rPr lang="en-US" dirty="0" smtClean="0"/>
              <a:t>192.168.1.2</a:t>
            </a:r>
            <a:endParaRPr lang="en-IN" dirty="0"/>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172"/>
          <p:cNvSpPr txBox="1">
            <a:spLocks noGrp="1"/>
          </p:cNvSpPr>
          <p:nvPr>
            <p:ph type="body" idx="1"/>
          </p:nvPr>
        </p:nvSpPr>
        <p:spPr>
          <a:xfrm>
            <a:off x="457200" y="177421"/>
            <a:ext cx="8229600" cy="6528179"/>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None/>
            </a:pPr>
            <a:r>
              <a:rPr lang="en-US" b="1" dirty="0"/>
              <a:t>R1:</a:t>
            </a:r>
            <a:endParaRPr b="1" dirty="0"/>
          </a:p>
          <a:p>
            <a:pPr marL="342900" lvl="0" indent="-342900" algn="l" rtl="0">
              <a:spcBef>
                <a:spcPts val="544"/>
              </a:spcBef>
              <a:spcAft>
                <a:spcPts val="0"/>
              </a:spcAft>
              <a:buClr>
                <a:schemeClr val="dk1"/>
              </a:buClr>
              <a:buSzPct val="100000"/>
              <a:buNone/>
            </a:pPr>
            <a:r>
              <a:rPr lang="en-US" dirty="0"/>
              <a:t>#</a:t>
            </a:r>
            <a:r>
              <a:rPr lang="en-US" dirty="0" err="1"/>
              <a:t>int</a:t>
            </a:r>
            <a:r>
              <a:rPr lang="en-US" dirty="0"/>
              <a:t> gig0/0/0</a:t>
            </a:r>
            <a:endParaRPr dirty="0"/>
          </a:p>
          <a:p>
            <a:pPr marL="342900" lvl="0" indent="-342900" algn="l" rtl="0">
              <a:spcBef>
                <a:spcPts val="544"/>
              </a:spcBef>
              <a:spcAft>
                <a:spcPts val="0"/>
              </a:spcAft>
              <a:buClr>
                <a:schemeClr val="dk1"/>
              </a:buClr>
              <a:buSzPct val="100000"/>
              <a:buNone/>
            </a:pPr>
            <a:r>
              <a:rPr lang="en-US" dirty="0"/>
              <a:t>#</a:t>
            </a:r>
            <a:r>
              <a:rPr lang="en-US" dirty="0" err="1"/>
              <a:t>ip</a:t>
            </a:r>
            <a:r>
              <a:rPr lang="en-US" dirty="0"/>
              <a:t> </a:t>
            </a:r>
            <a:r>
              <a:rPr lang="en-US" dirty="0" err="1"/>
              <a:t>nat</a:t>
            </a:r>
            <a:r>
              <a:rPr lang="en-US" dirty="0"/>
              <a:t> inside</a:t>
            </a:r>
            <a:endParaRPr dirty="0"/>
          </a:p>
          <a:p>
            <a:pPr marL="342900" lvl="0" indent="-342900" algn="l" rtl="0">
              <a:spcBef>
                <a:spcPts val="544"/>
              </a:spcBef>
              <a:spcAft>
                <a:spcPts val="0"/>
              </a:spcAft>
              <a:buClr>
                <a:schemeClr val="dk1"/>
              </a:buClr>
              <a:buSzPct val="100000"/>
              <a:buNone/>
            </a:pPr>
            <a:r>
              <a:rPr lang="en-US" dirty="0"/>
              <a:t>#</a:t>
            </a:r>
            <a:r>
              <a:rPr lang="en-US" dirty="0" smtClean="0"/>
              <a:t>Exit</a:t>
            </a:r>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r>
              <a:rPr lang="en-US" dirty="0"/>
              <a:t>#</a:t>
            </a:r>
            <a:r>
              <a:rPr lang="en-US" dirty="0" err="1"/>
              <a:t>Int</a:t>
            </a:r>
            <a:r>
              <a:rPr lang="en-US" dirty="0"/>
              <a:t> </a:t>
            </a:r>
            <a:r>
              <a:rPr lang="en-US" dirty="0" smtClean="0"/>
              <a:t>se0/1/0</a:t>
            </a:r>
            <a:endParaRPr dirty="0"/>
          </a:p>
          <a:p>
            <a:pPr marL="342900" lvl="0" indent="-342900" algn="l" rtl="0">
              <a:spcBef>
                <a:spcPts val="544"/>
              </a:spcBef>
              <a:spcAft>
                <a:spcPts val="0"/>
              </a:spcAft>
              <a:buClr>
                <a:schemeClr val="dk1"/>
              </a:buClr>
              <a:buSzPct val="100000"/>
              <a:buNone/>
            </a:pPr>
            <a:r>
              <a:rPr lang="en-US" dirty="0"/>
              <a:t>#</a:t>
            </a:r>
            <a:r>
              <a:rPr lang="en-US" dirty="0" err="1"/>
              <a:t>ip</a:t>
            </a:r>
            <a:r>
              <a:rPr lang="en-US" dirty="0"/>
              <a:t> </a:t>
            </a:r>
            <a:r>
              <a:rPr lang="en-US" dirty="0" err="1"/>
              <a:t>nat</a:t>
            </a:r>
            <a:r>
              <a:rPr lang="en-US" dirty="0"/>
              <a:t> outside</a:t>
            </a:r>
            <a:endParaRPr dirty="0"/>
          </a:p>
          <a:p>
            <a:pPr marL="342900" lvl="0" indent="-342900" algn="l" rtl="0">
              <a:spcBef>
                <a:spcPts val="544"/>
              </a:spcBef>
              <a:spcAft>
                <a:spcPts val="0"/>
              </a:spcAft>
              <a:buClr>
                <a:schemeClr val="dk1"/>
              </a:buClr>
              <a:buSzPct val="100000"/>
              <a:buNone/>
            </a:pPr>
            <a:r>
              <a:rPr lang="en-US" dirty="0"/>
              <a:t>#exit            </a:t>
            </a:r>
            <a:endParaRPr lang="en-US" dirty="0" smtClean="0"/>
          </a:p>
          <a:p>
            <a:pPr marL="342900" lvl="0" indent="-342900" algn="l" rtl="0">
              <a:spcBef>
                <a:spcPts val="544"/>
              </a:spcBef>
              <a:spcAft>
                <a:spcPts val="0"/>
              </a:spcAft>
              <a:buClr>
                <a:schemeClr val="dk1"/>
              </a:buClr>
              <a:buSzPct val="100000"/>
              <a:buNone/>
            </a:pPr>
            <a:r>
              <a:rPr lang="en-US" dirty="0" smtClean="0"/>
              <a:t>           </a:t>
            </a:r>
            <a:endParaRPr dirty="0"/>
          </a:p>
          <a:p>
            <a:pPr marL="342900" lvl="0" indent="-342900" algn="l" rtl="0">
              <a:spcBef>
                <a:spcPts val="544"/>
              </a:spcBef>
              <a:spcAft>
                <a:spcPts val="0"/>
              </a:spcAft>
              <a:buClr>
                <a:schemeClr val="dk1"/>
              </a:buClr>
              <a:buSzPct val="100000"/>
              <a:buNone/>
            </a:pPr>
            <a:r>
              <a:rPr lang="en-US" dirty="0"/>
              <a:t>#</a:t>
            </a:r>
            <a:r>
              <a:rPr lang="en-US" dirty="0" err="1"/>
              <a:t>ip</a:t>
            </a:r>
            <a:r>
              <a:rPr lang="en-US" dirty="0"/>
              <a:t> </a:t>
            </a:r>
            <a:r>
              <a:rPr lang="en-US" dirty="0" err="1"/>
              <a:t>nat</a:t>
            </a:r>
            <a:r>
              <a:rPr lang="en-US" dirty="0"/>
              <a:t> inside source static 192.168.1.2(pc1) 100.0.0.2</a:t>
            </a:r>
            <a:endParaRPr dirty="0"/>
          </a:p>
          <a:p>
            <a:pPr marL="342900" lvl="0" indent="-342900" algn="l" rtl="0">
              <a:spcBef>
                <a:spcPts val="544"/>
              </a:spcBef>
              <a:spcAft>
                <a:spcPts val="0"/>
              </a:spcAft>
              <a:buClr>
                <a:schemeClr val="dk1"/>
              </a:buClr>
              <a:buSzPct val="100000"/>
              <a:buNone/>
            </a:pPr>
            <a:r>
              <a:rPr lang="en-US" dirty="0"/>
              <a:t>#do write</a:t>
            </a:r>
            <a:endParaRPr dirty="0"/>
          </a:p>
          <a:p>
            <a:pPr marL="342900" lvl="0" indent="-342900" algn="l" rtl="0">
              <a:spcBef>
                <a:spcPts val="544"/>
              </a:spcBef>
              <a:spcAft>
                <a:spcPts val="0"/>
              </a:spcAft>
              <a:buClr>
                <a:schemeClr val="dk1"/>
              </a:buClr>
              <a:buSzPct val="100000"/>
              <a:buNone/>
            </a:pPr>
            <a:r>
              <a:rPr lang="en-US" dirty="0"/>
              <a:t>#do show </a:t>
            </a:r>
            <a:r>
              <a:rPr lang="en-US" dirty="0" err="1"/>
              <a:t>ip</a:t>
            </a:r>
            <a:r>
              <a:rPr lang="en-US" dirty="0"/>
              <a:t> </a:t>
            </a:r>
            <a:r>
              <a:rPr lang="en-US" dirty="0" err="1"/>
              <a:t>nat</a:t>
            </a:r>
            <a:r>
              <a:rPr lang="en-US" dirty="0"/>
              <a:t> translation</a:t>
            </a:r>
            <a:endParaRPr dirty="0"/>
          </a:p>
          <a:p>
            <a:pPr marL="342900" lvl="0" indent="-342900" algn="l" rtl="0">
              <a:spcBef>
                <a:spcPts val="544"/>
              </a:spcBef>
              <a:spcAft>
                <a:spcPts val="0"/>
              </a:spcAft>
              <a:buClr>
                <a:schemeClr val="dk1"/>
              </a:buClr>
              <a:buSzPct val="100000"/>
              <a:buNone/>
            </a:pPr>
            <a:r>
              <a:rPr lang="en-US" dirty="0"/>
              <a:t>#exit</a:t>
            </a:r>
            <a:endParaRPr dirty="0"/>
          </a:p>
          <a:p>
            <a:pPr marL="342900" lvl="0" indent="-342900" algn="l" rtl="0">
              <a:spcBef>
                <a:spcPts val="544"/>
              </a:spcBef>
              <a:spcAft>
                <a:spcPts val="0"/>
              </a:spcAft>
              <a:buClr>
                <a:schemeClr val="dk1"/>
              </a:buClr>
              <a:buSzPct val="100000"/>
              <a:buNone/>
            </a:pPr>
            <a:r>
              <a:rPr lang="en-US" dirty="0"/>
              <a:t>#do debug </a:t>
            </a:r>
            <a:r>
              <a:rPr lang="en-US" dirty="0" err="1"/>
              <a:t>ip</a:t>
            </a:r>
            <a:r>
              <a:rPr lang="en-US" dirty="0"/>
              <a:t> </a:t>
            </a:r>
            <a:r>
              <a:rPr lang="en-US" dirty="0" err="1"/>
              <a:t>nat</a:t>
            </a: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r>
              <a:rPr lang="en-US" b="1" dirty="0" smtClean="0"/>
              <a:t>Send packet to Other Network</a:t>
            </a:r>
          </a:p>
          <a:p>
            <a:pPr marL="342900">
              <a:spcBef>
                <a:spcPts val="544"/>
              </a:spcBef>
              <a:buSzPct val="100000"/>
              <a:buNone/>
            </a:pPr>
            <a:r>
              <a:rPr lang="en-US" dirty="0"/>
              <a:t>#do show </a:t>
            </a:r>
            <a:r>
              <a:rPr lang="en-US" dirty="0" err="1"/>
              <a:t>ip</a:t>
            </a:r>
            <a:r>
              <a:rPr lang="en-US" dirty="0"/>
              <a:t> </a:t>
            </a:r>
            <a:r>
              <a:rPr lang="en-US" dirty="0" err="1"/>
              <a:t>nat</a:t>
            </a:r>
            <a:r>
              <a:rPr lang="en-US" dirty="0"/>
              <a:t> </a:t>
            </a:r>
            <a:r>
              <a:rPr lang="en-US" dirty="0" smtClean="0"/>
              <a:t>translation</a:t>
            </a:r>
            <a:endParaRPr b="1"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a:p>
            <a:pPr marL="342900" lvl="0" indent="-342900" algn="l" rtl="0">
              <a:spcBef>
                <a:spcPts val="544"/>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41;p173"/>
          <p:cNvSpPr txBox="1">
            <a:spLocks/>
          </p:cNvSpPr>
          <p:nvPr/>
        </p:nvSpPr>
        <p:spPr>
          <a:xfrm>
            <a:off x="484496" y="0"/>
            <a:ext cx="8229600" cy="912717"/>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dirty="0" smtClean="0"/>
              <a:t>Dynamic Nat</a:t>
            </a:r>
            <a:endParaRPr lang="en-US" dirty="0"/>
          </a:p>
        </p:txBody>
      </p:sp>
      <p:sp>
        <p:nvSpPr>
          <p:cNvPr id="5" name="Google Shape;1441;p173"/>
          <p:cNvSpPr txBox="1">
            <a:spLocks/>
          </p:cNvSpPr>
          <p:nvPr/>
        </p:nvSpPr>
        <p:spPr>
          <a:xfrm>
            <a:off x="377588" y="777922"/>
            <a:ext cx="8124967" cy="3398293"/>
          </a:xfrm>
          <a:prstGeom prst="rect">
            <a:avLst/>
          </a:prstGeom>
          <a:noFill/>
          <a:ln>
            <a:noFill/>
          </a:ln>
        </p:spPr>
        <p:txBody>
          <a:bodyPr spcFirstLastPara="1" wrap="square" lIns="91425" tIns="45700" rIns="91425" bIns="45700" anchor="ctr" anchorCtr="0">
            <a:normAutofit fontScale="4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lnSpc>
                <a:spcPct val="170000"/>
              </a:lnSpc>
              <a:buSzPts val="4400"/>
            </a:pPr>
            <a:r>
              <a:rPr lang="en-US" b="1" dirty="0"/>
              <a:t>@</a:t>
            </a:r>
            <a:r>
              <a:rPr lang="en-US" dirty="0" smtClean="0"/>
              <a:t>Dynamic </a:t>
            </a:r>
            <a:r>
              <a:rPr lang="en-US" dirty="0"/>
              <a:t>NAT (Network Address Translation) works by </a:t>
            </a:r>
            <a:r>
              <a:rPr lang="en-US" b="1" dirty="0"/>
              <a:t>mapping private IP addresses</a:t>
            </a:r>
            <a:r>
              <a:rPr lang="en-US" dirty="0"/>
              <a:t> (like 192.168.x.x or 10.x.x.x) to </a:t>
            </a:r>
            <a:r>
              <a:rPr lang="en-US" b="1" dirty="0"/>
              <a:t>public IP addresses</a:t>
            </a:r>
            <a:r>
              <a:rPr lang="en-US" dirty="0"/>
              <a:t> (like 203.x.x.x) when internal users access the Internet</a:t>
            </a:r>
            <a:r>
              <a:rPr lang="en-US" dirty="0" smtClean="0"/>
              <a:t>.</a:t>
            </a:r>
          </a:p>
          <a:p>
            <a:pPr algn="l">
              <a:lnSpc>
                <a:spcPct val="170000"/>
              </a:lnSpc>
              <a:buSzPts val="4400"/>
            </a:pPr>
            <a:r>
              <a:rPr lang="en-US" b="1" dirty="0" smtClean="0"/>
              <a:t>@</a:t>
            </a:r>
            <a:r>
              <a:rPr lang="en-US" dirty="0" smtClean="0"/>
              <a:t>whenever </a:t>
            </a:r>
            <a:r>
              <a:rPr lang="en-US" dirty="0"/>
              <a:t>an internal user (for example, 192.168.1.10) accesses the Internet, the router </a:t>
            </a:r>
            <a:r>
              <a:rPr lang="en-US" b="1" dirty="0"/>
              <a:t>dynamically assigns one public IP</a:t>
            </a:r>
            <a:r>
              <a:rPr lang="en-US" dirty="0"/>
              <a:t> from the pool </a:t>
            </a:r>
            <a:endParaRPr lang="en-US" dirty="0" smtClean="0"/>
          </a:p>
          <a:p>
            <a:pPr algn="l">
              <a:lnSpc>
                <a:spcPct val="170000"/>
              </a:lnSpc>
              <a:buSzPts val="4400"/>
            </a:pPr>
            <a:r>
              <a:rPr lang="en-US" b="1" dirty="0" smtClean="0"/>
              <a:t>@</a:t>
            </a:r>
            <a:r>
              <a:rPr lang="en-US" dirty="0" smtClean="0"/>
              <a:t>When </a:t>
            </a:r>
            <a:r>
              <a:rPr lang="en-US" dirty="0"/>
              <a:t>that user’s session ends, the IP is released back to the pool and can be used by another user.</a:t>
            </a:r>
          </a:p>
        </p:txBody>
      </p:sp>
      <p:graphicFrame>
        <p:nvGraphicFramePr>
          <p:cNvPr id="6" name="Table 5"/>
          <p:cNvGraphicFramePr>
            <a:graphicFrameLocks noGrp="1"/>
          </p:cNvGraphicFramePr>
          <p:nvPr>
            <p:extLst>
              <p:ext uri="{D42A27DB-BD31-4B8C-83A1-F6EECF244321}">
                <p14:modId xmlns:p14="http://schemas.microsoft.com/office/powerpoint/2010/main" val="2706635849"/>
              </p:ext>
            </p:extLst>
          </p:nvPr>
        </p:nvGraphicFramePr>
        <p:xfrm>
          <a:off x="377586" y="4012439"/>
          <a:ext cx="8466162" cy="2688612"/>
        </p:xfrm>
        <a:graphic>
          <a:graphicData uri="http://schemas.openxmlformats.org/drawingml/2006/table">
            <a:tbl>
              <a:tblPr>
                <a:tableStyleId>{A332DE6A-0728-4951-BA95-FBE1D94F13F9}</a:tableStyleId>
              </a:tblPr>
              <a:tblGrid>
                <a:gridCol w="4233081"/>
                <a:gridCol w="4233081"/>
              </a:tblGrid>
              <a:tr h="460897">
                <a:tc>
                  <a:txBody>
                    <a:bodyPr/>
                    <a:lstStyle/>
                    <a:p>
                      <a:pPr algn="ctr"/>
                      <a:r>
                        <a:rPr lang="en-IN" sz="2000" b="1" dirty="0"/>
                        <a:t>Advantage</a:t>
                      </a:r>
                    </a:p>
                  </a:txBody>
                  <a:tcPr anchor="ctr"/>
                </a:tc>
                <a:tc>
                  <a:txBody>
                    <a:bodyPr/>
                    <a:lstStyle/>
                    <a:p>
                      <a:pPr algn="ctr"/>
                      <a:r>
                        <a:rPr lang="en-IN" sz="2000" b="1" dirty="0"/>
                        <a:t>Description</a:t>
                      </a:r>
                    </a:p>
                  </a:txBody>
                  <a:tcPr anchor="ctr"/>
                </a:tc>
              </a:tr>
              <a:tr h="445543">
                <a:tc>
                  <a:txBody>
                    <a:bodyPr/>
                    <a:lstStyle/>
                    <a:p>
                      <a:r>
                        <a:rPr lang="en-IN" sz="1600"/>
                        <a:t>Efficient public IP usage</a:t>
                      </a:r>
                    </a:p>
                  </a:txBody>
                  <a:tcPr anchor="ctr"/>
                </a:tc>
                <a:tc>
                  <a:txBody>
                    <a:bodyPr/>
                    <a:lstStyle/>
                    <a:p>
                      <a:r>
                        <a:rPr lang="en-US" sz="1600" dirty="0"/>
                        <a:t>Public IPs are assigned only when needed</a:t>
                      </a:r>
                    </a:p>
                  </a:txBody>
                  <a:tcPr anchor="ctr"/>
                </a:tc>
              </a:tr>
              <a:tr h="445543">
                <a:tc>
                  <a:txBody>
                    <a:bodyPr/>
                    <a:lstStyle/>
                    <a:p>
                      <a:r>
                        <a:rPr lang="en-IN" sz="1600" dirty="0"/>
                        <a:t>Automatic translation</a:t>
                      </a:r>
                    </a:p>
                  </a:txBody>
                  <a:tcPr anchor="ctr"/>
                </a:tc>
                <a:tc>
                  <a:txBody>
                    <a:bodyPr/>
                    <a:lstStyle/>
                    <a:p>
                      <a:r>
                        <a:rPr lang="en-US" sz="1600" dirty="0"/>
                        <a:t>No need to manually create each mapping</a:t>
                      </a:r>
                    </a:p>
                  </a:txBody>
                  <a:tcPr anchor="ctr"/>
                </a:tc>
              </a:tr>
              <a:tr h="445543">
                <a:tc>
                  <a:txBody>
                    <a:bodyPr/>
                    <a:lstStyle/>
                    <a:p>
                      <a:r>
                        <a:rPr lang="en-IN" sz="1600" dirty="0"/>
                        <a:t>Better security</a:t>
                      </a:r>
                    </a:p>
                  </a:txBody>
                  <a:tcPr anchor="ctr"/>
                </a:tc>
                <a:tc>
                  <a:txBody>
                    <a:bodyPr/>
                    <a:lstStyle/>
                    <a:p>
                      <a:r>
                        <a:rPr lang="en-US" sz="1600" dirty="0"/>
                        <a:t>Internal IPs stay hidden from the Internet</a:t>
                      </a:r>
                    </a:p>
                  </a:txBody>
                  <a:tcPr anchor="ctr"/>
                </a:tc>
              </a:tr>
              <a:tr h="445543">
                <a:tc>
                  <a:txBody>
                    <a:bodyPr/>
                    <a:lstStyle/>
                    <a:p>
                      <a:r>
                        <a:rPr lang="en-IN" sz="1600" dirty="0"/>
                        <a:t>Limited by pool size</a:t>
                      </a:r>
                    </a:p>
                  </a:txBody>
                  <a:tcPr anchor="ctr"/>
                </a:tc>
                <a:tc>
                  <a:txBody>
                    <a:bodyPr/>
                    <a:lstStyle/>
                    <a:p>
                      <a:r>
                        <a:rPr lang="en-US" sz="1600" dirty="0" smtClean="0"/>
                        <a:t>If all public IPs are in use, new users must wait</a:t>
                      </a:r>
                      <a:endParaRPr lang="en-US" sz="1600" dirty="0"/>
                    </a:p>
                  </a:txBody>
                  <a:tcPr anchor="ctr"/>
                </a:tc>
              </a:tr>
              <a:tr h="445543">
                <a:tc>
                  <a:txBody>
                    <a:bodyPr/>
                    <a:lstStyle/>
                    <a:p>
                      <a:r>
                        <a:rPr lang="en-IN" sz="1600" dirty="0" smtClean="0"/>
                        <a:t>Temporary mapping</a:t>
                      </a:r>
                      <a:endParaRPr lang="en-IN" sz="1600" dirty="0"/>
                    </a:p>
                  </a:txBody>
                  <a:tcPr anchor="ctr"/>
                </a:tc>
                <a:tc>
                  <a:txBody>
                    <a:bodyPr/>
                    <a:lstStyle/>
                    <a:p>
                      <a:r>
                        <a:rPr lang="en-US" sz="1600" dirty="0" smtClean="0"/>
                        <a:t>IP changes each time, not suitable for servers</a:t>
                      </a:r>
                      <a:endParaRPr lang="en-US" sz="1600" dirty="0"/>
                    </a:p>
                  </a:txBody>
                  <a:tcPr anchor="ctr"/>
                </a:tc>
              </a:tr>
            </a:tbl>
          </a:graphicData>
        </a:graphic>
      </p:graphicFrame>
    </p:spTree>
    <p:extLst>
      <p:ext uri="{BB962C8B-B14F-4D97-AF65-F5344CB8AC3E}">
        <p14:creationId xmlns:p14="http://schemas.microsoft.com/office/powerpoint/2010/main" val="626590920"/>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440"/>
        <p:cNvGrpSpPr/>
        <p:nvPr/>
      </p:nvGrpSpPr>
      <p:grpSpPr>
        <a:xfrm>
          <a:off x="0" y="0"/>
          <a:ext cx="0" cy="0"/>
          <a:chOff x="0" y="0"/>
          <a:chExt cx="0" cy="0"/>
        </a:xfrm>
      </p:grpSpPr>
      <p:sp>
        <p:nvSpPr>
          <p:cNvPr id="1441" name="Google Shape;1441;p1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Dynamic Nat</a:t>
            </a:r>
            <a:endParaRPr dirty="0"/>
          </a:p>
        </p:txBody>
      </p:sp>
      <p:sp>
        <p:nvSpPr>
          <p:cNvPr id="1442" name="Google Shape;1442;p17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None/>
            </a:pPr>
            <a:r>
              <a:rPr lang="en-US" dirty="0"/>
              <a:t>All router line up</a:t>
            </a:r>
            <a:endParaRPr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dirty="0"/>
              <a:t>Default routing:</a:t>
            </a:r>
            <a:endParaRPr dirty="0"/>
          </a:p>
          <a:p>
            <a:pPr marL="342900" lvl="0" indent="-342900" algn="l" rtl="0">
              <a:spcBef>
                <a:spcPts val="592"/>
              </a:spcBef>
              <a:spcAft>
                <a:spcPts val="0"/>
              </a:spcAft>
              <a:buClr>
                <a:schemeClr val="dk1"/>
              </a:buClr>
              <a:buSzPct val="100000"/>
              <a:buNone/>
            </a:pPr>
            <a:r>
              <a:rPr lang="en-US" dirty="0"/>
              <a:t>R1:</a:t>
            </a:r>
            <a:endParaRPr dirty="0"/>
          </a:p>
          <a:p>
            <a:pPr marL="342900" lvl="0" indent="-342900" algn="l" rtl="0">
              <a:spcBef>
                <a:spcPts val="592"/>
              </a:spcBef>
              <a:spcAft>
                <a:spcPts val="0"/>
              </a:spcAft>
              <a:buClr>
                <a:schemeClr val="dk1"/>
              </a:buClr>
              <a:buSzPct val="100000"/>
              <a:buNone/>
            </a:pPr>
            <a:r>
              <a:rPr lang="en-US" dirty="0"/>
              <a:t>#</a:t>
            </a:r>
            <a:r>
              <a:rPr lang="en-US" dirty="0" err="1"/>
              <a:t>Ip</a:t>
            </a:r>
            <a:r>
              <a:rPr lang="en-US" dirty="0"/>
              <a:t> route 0.0.0.0  0.0.0.0 </a:t>
            </a:r>
            <a:endParaRPr dirty="0"/>
          </a:p>
          <a:p>
            <a:pPr marL="342900" lvl="0" indent="-342900" algn="l" rtl="0">
              <a:spcBef>
                <a:spcPts val="592"/>
              </a:spcBef>
              <a:spcAft>
                <a:spcPts val="0"/>
              </a:spcAft>
              <a:buClr>
                <a:schemeClr val="dk1"/>
              </a:buClr>
              <a:buSzPct val="100000"/>
              <a:buNone/>
            </a:pPr>
            <a:r>
              <a:rPr lang="en-US" dirty="0"/>
              <a:t>10.0.0.2</a:t>
            </a:r>
            <a:endParaRPr dirty="0"/>
          </a:p>
          <a:p>
            <a:pPr marL="342900" lvl="0" indent="-342900" algn="l" rtl="0">
              <a:spcBef>
                <a:spcPts val="592"/>
              </a:spcBef>
              <a:spcAft>
                <a:spcPts val="0"/>
              </a:spcAft>
              <a:buClr>
                <a:schemeClr val="dk1"/>
              </a:buClr>
              <a:buSzPct val="100000"/>
              <a:buNone/>
            </a:pPr>
            <a:r>
              <a:rPr lang="en-US" dirty="0"/>
              <a:t>R2:</a:t>
            </a:r>
            <a:endParaRPr dirty="0"/>
          </a:p>
          <a:p>
            <a:pPr marL="342900" lvl="0" indent="-342900" algn="l" rtl="0">
              <a:spcBef>
                <a:spcPts val="592"/>
              </a:spcBef>
              <a:spcAft>
                <a:spcPts val="0"/>
              </a:spcAft>
              <a:buClr>
                <a:schemeClr val="dk1"/>
              </a:buClr>
              <a:buSzPct val="100000"/>
              <a:buNone/>
            </a:pPr>
            <a:r>
              <a:rPr lang="en-US" dirty="0"/>
              <a:t>#</a:t>
            </a:r>
            <a:r>
              <a:rPr lang="en-US" dirty="0" err="1"/>
              <a:t>Ip</a:t>
            </a:r>
            <a:r>
              <a:rPr lang="en-US" dirty="0"/>
              <a:t> route 0.0.0.0  0.0.0.0 </a:t>
            </a:r>
            <a:endParaRPr dirty="0"/>
          </a:p>
          <a:p>
            <a:pPr marL="342900" lvl="0" indent="-342900" algn="l" rtl="0">
              <a:spcBef>
                <a:spcPts val="592"/>
              </a:spcBef>
              <a:spcAft>
                <a:spcPts val="0"/>
              </a:spcAft>
              <a:buClr>
                <a:schemeClr val="dk1"/>
              </a:buClr>
              <a:buSzPct val="100000"/>
              <a:buNone/>
            </a:pPr>
            <a:r>
              <a:rPr lang="en-US" dirty="0"/>
              <a:t>10.0.0.1</a:t>
            </a:r>
            <a:endParaRPr dirty="0"/>
          </a:p>
          <a:p>
            <a:pPr marL="342900" lvl="0" indent="-342900" algn="l" rtl="0">
              <a:spcBef>
                <a:spcPts val="592"/>
              </a:spcBef>
              <a:spcAft>
                <a:spcPts val="0"/>
              </a:spcAft>
              <a:buClr>
                <a:schemeClr val="dk1"/>
              </a:buClr>
              <a:buSzPct val="100000"/>
              <a:buNone/>
            </a:pPr>
            <a:endParaRPr dirty="0"/>
          </a:p>
        </p:txBody>
      </p:sp>
      <p:sp>
        <p:nvSpPr>
          <p:cNvPr id="1443" name="Google Shape;1443;p173"/>
          <p:cNvSpPr/>
          <p:nvPr/>
        </p:nvSpPr>
        <p:spPr>
          <a:xfrm>
            <a:off x="5410200" y="23622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4" name="Google Shape;1444;p173"/>
          <p:cNvSpPr/>
          <p:nvPr/>
        </p:nvSpPr>
        <p:spPr>
          <a:xfrm>
            <a:off x="5257800" y="35814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5" name="Google Shape;1445;p173"/>
          <p:cNvSpPr/>
          <p:nvPr/>
        </p:nvSpPr>
        <p:spPr>
          <a:xfrm>
            <a:off x="5029200" y="45720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6" name="Google Shape;1446;p173"/>
          <p:cNvSpPr/>
          <p:nvPr/>
        </p:nvSpPr>
        <p:spPr>
          <a:xfrm>
            <a:off x="6172200" y="45720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7" name="Google Shape;1447;p173"/>
          <p:cNvSpPr/>
          <p:nvPr/>
        </p:nvSpPr>
        <p:spPr>
          <a:xfrm>
            <a:off x="7391400" y="228600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8" name="Google Shape;1448;p173"/>
          <p:cNvSpPr/>
          <p:nvPr/>
        </p:nvSpPr>
        <p:spPr>
          <a:xfrm>
            <a:off x="7239000" y="350520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9" name="Google Shape;1449;p173"/>
          <p:cNvSpPr/>
          <p:nvPr/>
        </p:nvSpPr>
        <p:spPr>
          <a:xfrm>
            <a:off x="7010400" y="44958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50" name="Google Shape;1450;p173"/>
          <p:cNvSpPr/>
          <p:nvPr/>
        </p:nvSpPr>
        <p:spPr>
          <a:xfrm>
            <a:off x="8153400" y="449580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451" name="Google Shape;1451;p173"/>
          <p:cNvCxnSpPr>
            <a:stCxn id="1443" idx="6"/>
          </p:cNvCxnSpPr>
          <p:nvPr/>
        </p:nvCxnSpPr>
        <p:spPr>
          <a:xfrm>
            <a:off x="6096000" y="2667000"/>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1452" name="Google Shape;1452;p173"/>
          <p:cNvCxnSpPr>
            <a:stCxn id="1443" idx="4"/>
            <a:endCxn id="1444" idx="0"/>
          </p:cNvCxnSpPr>
          <p:nvPr/>
        </p:nvCxnSpPr>
        <p:spPr>
          <a:xfrm flipH="1">
            <a:off x="5715000" y="29718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453" name="Google Shape;1453;p173"/>
          <p:cNvCxnSpPr>
            <a:stCxn id="1447" idx="4"/>
            <a:endCxn id="1448" idx="0"/>
          </p:cNvCxnSpPr>
          <p:nvPr/>
        </p:nvCxnSpPr>
        <p:spPr>
          <a:xfrm flipH="1">
            <a:off x="7696200" y="289560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454" name="Google Shape;1454;p173"/>
          <p:cNvCxnSpPr>
            <a:stCxn id="1444" idx="2"/>
            <a:endCxn id="1445" idx="0"/>
          </p:cNvCxnSpPr>
          <p:nvPr/>
        </p:nvCxnSpPr>
        <p:spPr>
          <a:xfrm flipH="1">
            <a:off x="5295900" y="38862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455" name="Google Shape;1455;p173"/>
          <p:cNvCxnSpPr>
            <a:stCxn id="1444" idx="2"/>
            <a:endCxn id="1446" idx="0"/>
          </p:cNvCxnSpPr>
          <p:nvPr/>
        </p:nvCxnSpPr>
        <p:spPr>
          <a:xfrm>
            <a:off x="5715000" y="3886200"/>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1456" name="Google Shape;1456;p173"/>
          <p:cNvCxnSpPr>
            <a:stCxn id="1448" idx="2"/>
            <a:endCxn id="1449" idx="0"/>
          </p:cNvCxnSpPr>
          <p:nvPr/>
        </p:nvCxnSpPr>
        <p:spPr>
          <a:xfrm flipH="1">
            <a:off x="7277100" y="381000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457" name="Google Shape;1457;p173"/>
          <p:cNvCxnSpPr>
            <a:stCxn id="1448" idx="2"/>
            <a:endCxn id="1450" idx="0"/>
          </p:cNvCxnSpPr>
          <p:nvPr/>
        </p:nvCxnSpPr>
        <p:spPr>
          <a:xfrm>
            <a:off x="7696200" y="3810000"/>
            <a:ext cx="723900" cy="6858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1461"/>
        <p:cNvGrpSpPr/>
        <p:nvPr/>
      </p:nvGrpSpPr>
      <p:grpSpPr>
        <a:xfrm>
          <a:off x="0" y="0"/>
          <a:ext cx="0" cy="0"/>
          <a:chOff x="0" y="0"/>
          <a:chExt cx="0" cy="0"/>
        </a:xfrm>
      </p:grpSpPr>
      <p:sp>
        <p:nvSpPr>
          <p:cNvPr id="1462" name="Google Shape;1462;p174"/>
          <p:cNvSpPr txBox="1">
            <a:spLocks noGrp="1"/>
          </p:cNvSpPr>
          <p:nvPr>
            <p:ph type="body" idx="1"/>
          </p:nvPr>
        </p:nvSpPr>
        <p:spPr>
          <a:xfrm>
            <a:off x="457199" y="304800"/>
            <a:ext cx="8342243" cy="6553200"/>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None/>
            </a:pPr>
            <a:r>
              <a:rPr lang="en-US" dirty="0"/>
              <a:t>R1:</a:t>
            </a:r>
            <a:endParaRPr dirty="0"/>
          </a:p>
          <a:p>
            <a:pPr marL="342900" lvl="0" indent="-342900" algn="l" rtl="0">
              <a:spcBef>
                <a:spcPts val="496"/>
              </a:spcBef>
              <a:spcAft>
                <a:spcPts val="0"/>
              </a:spcAft>
              <a:buClr>
                <a:schemeClr val="dk1"/>
              </a:buClr>
              <a:buSzPct val="100000"/>
              <a:buNone/>
            </a:pPr>
            <a:r>
              <a:rPr lang="en-US" dirty="0"/>
              <a:t>#</a:t>
            </a:r>
            <a:r>
              <a:rPr lang="en-US" dirty="0" err="1"/>
              <a:t>int</a:t>
            </a:r>
            <a:r>
              <a:rPr lang="en-US" dirty="0"/>
              <a:t> gig0/0/0</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t>
            </a:r>
            <a:r>
              <a:rPr lang="en-US" dirty="0" err="1"/>
              <a:t>nat</a:t>
            </a:r>
            <a:r>
              <a:rPr lang="en-US" dirty="0"/>
              <a:t> inside</a:t>
            </a:r>
            <a:endParaRPr dirty="0"/>
          </a:p>
          <a:p>
            <a:pPr marL="342900" lvl="0" indent="-342900" algn="l" rtl="0">
              <a:spcBef>
                <a:spcPts val="496"/>
              </a:spcBef>
              <a:spcAft>
                <a:spcPts val="0"/>
              </a:spcAft>
              <a:buClr>
                <a:schemeClr val="dk1"/>
              </a:buClr>
              <a:buSzPct val="100000"/>
              <a:buNone/>
            </a:pPr>
            <a:r>
              <a:rPr lang="en-US" dirty="0"/>
              <a:t>#Exit</a:t>
            </a:r>
            <a:endParaRPr dirty="0"/>
          </a:p>
          <a:p>
            <a:pPr marL="342900" lvl="0" indent="-342900" algn="l" rtl="0">
              <a:spcBef>
                <a:spcPts val="496"/>
              </a:spcBef>
              <a:spcAft>
                <a:spcPts val="0"/>
              </a:spcAft>
              <a:buClr>
                <a:schemeClr val="dk1"/>
              </a:buClr>
              <a:buSzPct val="100000"/>
              <a:buNone/>
            </a:pPr>
            <a:r>
              <a:rPr lang="en-US" dirty="0"/>
              <a:t>#</a:t>
            </a:r>
            <a:r>
              <a:rPr lang="en-US" dirty="0" err="1"/>
              <a:t>Int</a:t>
            </a:r>
            <a:r>
              <a:rPr lang="en-US" dirty="0"/>
              <a:t> se0/2/0</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t>
            </a:r>
            <a:r>
              <a:rPr lang="en-US" dirty="0" err="1"/>
              <a:t>nat</a:t>
            </a:r>
            <a:r>
              <a:rPr lang="en-US" dirty="0"/>
              <a:t> outside</a:t>
            </a:r>
            <a:endParaRPr dirty="0"/>
          </a:p>
          <a:p>
            <a:pPr marL="342900" lvl="0" indent="-342900" algn="l" rtl="0">
              <a:spcBef>
                <a:spcPts val="496"/>
              </a:spcBef>
              <a:spcAft>
                <a:spcPts val="0"/>
              </a:spcAft>
              <a:buClr>
                <a:schemeClr val="dk1"/>
              </a:buClr>
              <a:buSzPct val="100000"/>
              <a:buNone/>
            </a:pPr>
            <a:r>
              <a:rPr lang="en-US" dirty="0"/>
              <a:t>#exit                       </a:t>
            </a:r>
            <a:endParaRPr dirty="0"/>
          </a:p>
          <a:p>
            <a:pPr marL="342900" lvl="0" indent="-342900" algn="l" rtl="0">
              <a:spcBef>
                <a:spcPts val="496"/>
              </a:spcBef>
              <a:spcAft>
                <a:spcPts val="0"/>
              </a:spcAft>
              <a:buClr>
                <a:schemeClr val="dk1"/>
              </a:buClr>
              <a:buSzPct val="100000"/>
              <a:buNone/>
            </a:pPr>
            <a:r>
              <a:rPr lang="en-US" dirty="0"/>
              <a:t>#access-list 20 permit 192.168.1.0 0.0.0.255</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t>
            </a:r>
            <a:r>
              <a:rPr lang="en-US" dirty="0" err="1"/>
              <a:t>nat</a:t>
            </a:r>
            <a:r>
              <a:rPr lang="en-US" dirty="0"/>
              <a:t> pool </a:t>
            </a:r>
            <a:r>
              <a:rPr lang="en-US" dirty="0" err="1"/>
              <a:t>abcd</a:t>
            </a:r>
            <a:r>
              <a:rPr lang="en-US" dirty="0"/>
              <a:t> 20.0.0.1  20.0.0.5 netmask 255.0.0.0</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t>
            </a:r>
            <a:r>
              <a:rPr lang="en-US" dirty="0" err="1"/>
              <a:t>nat</a:t>
            </a:r>
            <a:r>
              <a:rPr lang="en-US" dirty="0"/>
              <a:t> inside source list 20 pool </a:t>
            </a:r>
            <a:r>
              <a:rPr lang="en-US" dirty="0" err="1"/>
              <a:t>abcd</a:t>
            </a:r>
            <a:endParaRPr dirty="0"/>
          </a:p>
          <a:p>
            <a:pPr marL="342900" lvl="0" indent="-342900" algn="l" rtl="0">
              <a:spcBef>
                <a:spcPts val="496"/>
              </a:spcBef>
              <a:spcAft>
                <a:spcPts val="0"/>
              </a:spcAft>
              <a:buClr>
                <a:schemeClr val="dk1"/>
              </a:buClr>
              <a:buSzPct val="100000"/>
              <a:buNone/>
            </a:pPr>
            <a:r>
              <a:rPr lang="en-US" dirty="0"/>
              <a:t>#do write</a:t>
            </a:r>
            <a:endParaRPr dirty="0"/>
          </a:p>
          <a:p>
            <a:pPr marL="342900" lvl="0" indent="-342900" algn="l" rtl="0">
              <a:spcBef>
                <a:spcPts val="496"/>
              </a:spcBef>
              <a:spcAft>
                <a:spcPts val="0"/>
              </a:spcAft>
              <a:buClr>
                <a:schemeClr val="dk1"/>
              </a:buClr>
              <a:buSzPct val="100000"/>
              <a:buNone/>
            </a:pPr>
            <a:r>
              <a:rPr lang="en-US" dirty="0" smtClean="0"/>
              <a:t>#</a:t>
            </a:r>
            <a:r>
              <a:rPr lang="en-US" dirty="0"/>
              <a:t>do debug </a:t>
            </a:r>
            <a:r>
              <a:rPr lang="en-US" dirty="0" err="1"/>
              <a:t>ip</a:t>
            </a:r>
            <a:r>
              <a:rPr lang="en-US" dirty="0"/>
              <a:t> </a:t>
            </a:r>
            <a:r>
              <a:rPr lang="en-US" dirty="0" err="1" smtClean="0"/>
              <a:t>nat</a:t>
            </a:r>
            <a:endParaRPr lang="en-US" dirty="0" smtClean="0"/>
          </a:p>
          <a:p>
            <a:pPr marL="342900">
              <a:spcBef>
                <a:spcPts val="496"/>
              </a:spcBef>
              <a:buSzPct val="100000"/>
              <a:buNone/>
            </a:pPr>
            <a:r>
              <a:rPr lang="en-US" dirty="0"/>
              <a:t>#exit</a:t>
            </a:r>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415;p171"/>
          <p:cNvSpPr txBox="1">
            <a:spLocks/>
          </p:cNvSpPr>
          <p:nvPr/>
        </p:nvSpPr>
        <p:spPr>
          <a:xfrm>
            <a:off x="498144" y="0"/>
            <a:ext cx="8229600" cy="76259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b="1" dirty="0" smtClean="0"/>
              <a:t>PAT – NAT Overload</a:t>
            </a:r>
            <a:endParaRPr lang="en-US" b="1" dirty="0"/>
          </a:p>
        </p:txBody>
      </p:sp>
      <p:sp>
        <p:nvSpPr>
          <p:cNvPr id="5" name="Google Shape;1415;p171"/>
          <p:cNvSpPr txBox="1">
            <a:spLocks/>
          </p:cNvSpPr>
          <p:nvPr/>
        </p:nvSpPr>
        <p:spPr>
          <a:xfrm>
            <a:off x="368490" y="639763"/>
            <a:ext cx="8488907" cy="5979402"/>
          </a:xfrm>
          <a:prstGeom prst="rect">
            <a:avLst/>
          </a:prstGeom>
          <a:noFill/>
          <a:ln>
            <a:noFill/>
          </a:ln>
        </p:spPr>
        <p:txBody>
          <a:bodyPr spcFirstLastPara="1" wrap="square" lIns="91425" tIns="45700" rIns="91425" bIns="45700" anchor="ctr" anchorCtr="0">
            <a:normAutofit fontScale="700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571500" indent="-571500" algn="l">
              <a:buFont typeface="Wingdings" panose="05000000000000000000" pitchFamily="2" charset="2"/>
              <a:buChar char="q"/>
            </a:pPr>
            <a:r>
              <a:rPr lang="en-US" sz="4000" b="1" dirty="0"/>
              <a:t>PAT (Port Address Translation)</a:t>
            </a:r>
            <a:r>
              <a:rPr lang="en-US" sz="4000" dirty="0"/>
              <a:t> is a type of NAT that allows </a:t>
            </a:r>
            <a:r>
              <a:rPr lang="en-US" sz="4000" b="1" dirty="0"/>
              <a:t>multiple private IP addresses</a:t>
            </a:r>
            <a:r>
              <a:rPr lang="en-US" sz="4000" dirty="0"/>
              <a:t> to share </a:t>
            </a:r>
            <a:r>
              <a:rPr lang="en-US" sz="4000" b="1" dirty="0"/>
              <a:t>a single public IP address</a:t>
            </a:r>
            <a:r>
              <a:rPr lang="en-US" sz="4000" dirty="0"/>
              <a:t> by using </a:t>
            </a:r>
            <a:r>
              <a:rPr lang="en-US" sz="4000" b="1" dirty="0"/>
              <a:t>different port numbers</a:t>
            </a:r>
            <a:r>
              <a:rPr lang="en-US" sz="4000" dirty="0"/>
              <a:t> to keep the sessions unique.</a:t>
            </a:r>
          </a:p>
          <a:p>
            <a:pPr algn="l"/>
            <a:r>
              <a:rPr lang="en-US" sz="4000" dirty="0"/>
              <a:t>It’s sometimes called:</a:t>
            </a:r>
          </a:p>
          <a:p>
            <a:pPr marL="571500" indent="-571500" algn="l">
              <a:buFont typeface="Wingdings" panose="05000000000000000000" pitchFamily="2" charset="2"/>
              <a:buChar char="q"/>
            </a:pPr>
            <a:r>
              <a:rPr lang="en-US" sz="4000" b="1" dirty="0"/>
              <a:t>NAT Overload</a:t>
            </a:r>
            <a:r>
              <a:rPr lang="en-US" sz="4000" dirty="0"/>
              <a:t>, or</a:t>
            </a:r>
          </a:p>
          <a:p>
            <a:pPr marL="571500" indent="-571500" algn="l">
              <a:buFont typeface="Wingdings" panose="05000000000000000000" pitchFamily="2" charset="2"/>
              <a:buChar char="q"/>
            </a:pPr>
            <a:r>
              <a:rPr lang="en-US" sz="4000" b="1" dirty="0"/>
              <a:t>Many-to-One </a:t>
            </a:r>
            <a:r>
              <a:rPr lang="en-US" sz="4000" b="1" dirty="0" smtClean="0"/>
              <a:t>NAT</a:t>
            </a:r>
          </a:p>
          <a:p>
            <a:pPr algn="l">
              <a:lnSpc>
                <a:spcPct val="120000"/>
              </a:lnSpc>
            </a:pPr>
            <a:r>
              <a:rPr lang="en-US" sz="3800" b="1" dirty="0" smtClean="0"/>
              <a:t>The </a:t>
            </a:r>
            <a:r>
              <a:rPr lang="en-US" sz="3800" b="1" dirty="0"/>
              <a:t>router replaces:</a:t>
            </a:r>
          </a:p>
          <a:p>
            <a:pPr lvl="1">
              <a:lnSpc>
                <a:spcPct val="120000"/>
              </a:lnSpc>
            </a:pPr>
            <a:r>
              <a:rPr lang="en-US" sz="2900" dirty="0"/>
              <a:t>The </a:t>
            </a:r>
            <a:r>
              <a:rPr lang="en-US" sz="2900" b="1" dirty="0"/>
              <a:t>source private IP</a:t>
            </a:r>
            <a:r>
              <a:rPr lang="en-US" sz="2900" dirty="0"/>
              <a:t> with the </a:t>
            </a:r>
            <a:r>
              <a:rPr lang="en-US" sz="2900" b="1" dirty="0"/>
              <a:t>public IP</a:t>
            </a:r>
            <a:r>
              <a:rPr lang="en-US" sz="2900" dirty="0"/>
              <a:t>, </a:t>
            </a:r>
            <a:r>
              <a:rPr lang="en-US" sz="2900" dirty="0" smtClean="0"/>
              <a:t>and The </a:t>
            </a:r>
            <a:r>
              <a:rPr lang="en-US" sz="2900" b="1" dirty="0"/>
              <a:t>source port number</a:t>
            </a:r>
            <a:r>
              <a:rPr lang="en-US" sz="2900" dirty="0"/>
              <a:t> with a </a:t>
            </a:r>
            <a:r>
              <a:rPr lang="en-US" sz="2900" b="1" dirty="0"/>
              <a:t>unique port</a:t>
            </a:r>
            <a:r>
              <a:rPr lang="en-US" sz="2900" dirty="0"/>
              <a:t>.</a:t>
            </a:r>
          </a:p>
          <a:p>
            <a:pPr algn="l">
              <a:lnSpc>
                <a:spcPct val="120000"/>
              </a:lnSpc>
            </a:pPr>
            <a:r>
              <a:rPr lang="en-US" sz="3800" dirty="0"/>
              <a:t>When the reply comes back, the router looks at the port number to know which private device it belongs to.</a:t>
            </a:r>
          </a:p>
          <a:p>
            <a:pPr algn="l">
              <a:lnSpc>
                <a:spcPct val="120000"/>
              </a:lnSpc>
            </a:pPr>
            <a:r>
              <a:rPr lang="en-US" sz="3800" dirty="0" smtClean="0"/>
              <a:t>This </a:t>
            </a:r>
            <a:r>
              <a:rPr lang="en-US" sz="3800" dirty="0"/>
              <a:t>allows </a:t>
            </a:r>
            <a:r>
              <a:rPr lang="en-US" sz="3800" b="1" dirty="0"/>
              <a:t>hundreds (or even thousands)</a:t>
            </a:r>
            <a:r>
              <a:rPr lang="en-US" sz="3800" dirty="0"/>
              <a:t> of devices to share </a:t>
            </a:r>
            <a:r>
              <a:rPr lang="en-US" sz="3800" b="1" dirty="0"/>
              <a:t>one public IP address</a:t>
            </a:r>
            <a:r>
              <a:rPr lang="en-US" sz="3800" dirty="0"/>
              <a:t> simultaneously</a:t>
            </a:r>
            <a:r>
              <a:rPr lang="en-US" sz="3800" dirty="0" smtClean="0"/>
              <a:t>.</a:t>
            </a:r>
            <a:endParaRPr lang="en-US" sz="3800" dirty="0"/>
          </a:p>
        </p:txBody>
      </p:sp>
    </p:spTree>
    <p:extLst>
      <p:ext uri="{BB962C8B-B14F-4D97-AF65-F5344CB8AC3E}">
        <p14:creationId xmlns:p14="http://schemas.microsoft.com/office/powerpoint/2010/main" val="1862932155"/>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175"/>
          <p:cNvSpPr txBox="1">
            <a:spLocks noGrp="1"/>
          </p:cNvSpPr>
          <p:nvPr>
            <p:ph type="title"/>
          </p:nvPr>
        </p:nvSpPr>
        <p:spPr>
          <a:xfrm>
            <a:off x="470848" y="90282"/>
            <a:ext cx="8229600" cy="740464"/>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US" dirty="0"/>
              <a:t>PAT(Nat overload)</a:t>
            </a:r>
            <a:endParaRPr dirty="0"/>
          </a:p>
        </p:txBody>
      </p:sp>
      <p:sp>
        <p:nvSpPr>
          <p:cNvPr id="1468" name="Google Shape;1468;p175"/>
          <p:cNvSpPr txBox="1">
            <a:spLocks noGrp="1"/>
          </p:cNvSpPr>
          <p:nvPr>
            <p:ph type="body" idx="1"/>
          </p:nvPr>
        </p:nvSpPr>
        <p:spPr>
          <a:xfrm>
            <a:off x="602974" y="1124778"/>
            <a:ext cx="8229600" cy="537044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None/>
            </a:pPr>
            <a:r>
              <a:rPr lang="en-US" dirty="0"/>
              <a:t>All router line up</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r>
              <a:rPr lang="en-US" dirty="0"/>
              <a:t>R1:</a:t>
            </a:r>
            <a:endParaRPr dirty="0"/>
          </a:p>
          <a:p>
            <a:pPr marL="342900" lvl="0" indent="-342900" algn="l" rtl="0">
              <a:spcBef>
                <a:spcPts val="496"/>
              </a:spcBef>
              <a:spcAft>
                <a:spcPts val="0"/>
              </a:spcAft>
              <a:buClr>
                <a:schemeClr val="dk1"/>
              </a:buClr>
              <a:buSzPct val="100000"/>
              <a:buNone/>
            </a:pPr>
            <a:r>
              <a:rPr lang="en-US" dirty="0"/>
              <a:t>#</a:t>
            </a:r>
            <a:r>
              <a:rPr lang="en-US" dirty="0" err="1"/>
              <a:t>int</a:t>
            </a:r>
            <a:r>
              <a:rPr lang="en-US" dirty="0"/>
              <a:t> gig0/0/0</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t>
            </a:r>
            <a:r>
              <a:rPr lang="en-US" dirty="0" err="1"/>
              <a:t>nat</a:t>
            </a:r>
            <a:r>
              <a:rPr lang="en-US" dirty="0"/>
              <a:t> inside</a:t>
            </a:r>
            <a:endParaRPr dirty="0"/>
          </a:p>
          <a:p>
            <a:pPr marL="342900" lvl="0" indent="-342900" algn="l" rtl="0">
              <a:spcBef>
                <a:spcPts val="496"/>
              </a:spcBef>
              <a:spcAft>
                <a:spcPts val="0"/>
              </a:spcAft>
              <a:buClr>
                <a:schemeClr val="dk1"/>
              </a:buClr>
              <a:buSzPct val="100000"/>
              <a:buNone/>
            </a:pPr>
            <a:r>
              <a:rPr lang="en-US" dirty="0"/>
              <a:t>#Exit</a:t>
            </a:r>
            <a:endParaRPr dirty="0"/>
          </a:p>
          <a:p>
            <a:pPr marL="342900" lvl="0" indent="-342900" algn="l" rtl="0">
              <a:spcBef>
                <a:spcPts val="496"/>
              </a:spcBef>
              <a:spcAft>
                <a:spcPts val="0"/>
              </a:spcAft>
              <a:buClr>
                <a:schemeClr val="dk1"/>
              </a:buClr>
              <a:buSzPct val="100000"/>
              <a:buNone/>
            </a:pPr>
            <a:r>
              <a:rPr lang="en-US" dirty="0"/>
              <a:t>#</a:t>
            </a:r>
            <a:r>
              <a:rPr lang="en-US" dirty="0" err="1"/>
              <a:t>Int</a:t>
            </a:r>
            <a:r>
              <a:rPr lang="en-US" dirty="0"/>
              <a:t> se0/2/0</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t>
            </a:r>
            <a:r>
              <a:rPr lang="en-US" dirty="0" err="1"/>
              <a:t>nat</a:t>
            </a:r>
            <a:r>
              <a:rPr lang="en-US" dirty="0"/>
              <a:t> outside</a:t>
            </a:r>
            <a:endParaRPr dirty="0"/>
          </a:p>
          <a:p>
            <a:pPr marL="342900" lvl="0" indent="-342900" algn="l" rtl="0">
              <a:spcBef>
                <a:spcPts val="496"/>
              </a:spcBef>
              <a:spcAft>
                <a:spcPts val="0"/>
              </a:spcAft>
              <a:buClr>
                <a:schemeClr val="dk1"/>
              </a:buClr>
              <a:buSzPct val="100000"/>
              <a:buNone/>
            </a:pPr>
            <a:r>
              <a:rPr lang="en-US" dirty="0"/>
              <a:t>#exit                       </a:t>
            </a:r>
            <a:endParaRPr dirty="0"/>
          </a:p>
          <a:p>
            <a:pPr marL="342900" lvl="0" indent="-342900" algn="l" rtl="0">
              <a:spcBef>
                <a:spcPts val="496"/>
              </a:spcBef>
              <a:spcAft>
                <a:spcPts val="0"/>
              </a:spcAft>
              <a:buClr>
                <a:schemeClr val="dk1"/>
              </a:buClr>
              <a:buSzPct val="100000"/>
              <a:buNone/>
            </a:pPr>
            <a:r>
              <a:rPr lang="en-US" dirty="0"/>
              <a:t>#access-list1 permit  192.168.1.0   0.0.0.255 </a:t>
            </a:r>
            <a:endParaRPr dirty="0"/>
          </a:p>
          <a:p>
            <a:pPr marL="342900" lvl="0" indent="-342900" algn="l" rtl="0">
              <a:spcBef>
                <a:spcPts val="496"/>
              </a:spcBef>
              <a:spcAft>
                <a:spcPts val="0"/>
              </a:spcAft>
              <a:buClr>
                <a:schemeClr val="dk1"/>
              </a:buClr>
              <a:buSzPct val="100000"/>
              <a:buNone/>
            </a:pPr>
            <a:r>
              <a:rPr lang="en-US" dirty="0"/>
              <a:t>#</a:t>
            </a:r>
            <a:r>
              <a:rPr lang="en-US" dirty="0" err="1"/>
              <a:t>ip</a:t>
            </a:r>
            <a:r>
              <a:rPr lang="en-US" dirty="0"/>
              <a:t> </a:t>
            </a:r>
            <a:r>
              <a:rPr lang="en-US" dirty="0" err="1"/>
              <a:t>nat</a:t>
            </a:r>
            <a:r>
              <a:rPr lang="en-US" dirty="0"/>
              <a:t> inside source list1 interface </a:t>
            </a:r>
            <a:r>
              <a:rPr lang="en-US" dirty="0" smtClean="0"/>
              <a:t>se0/1/0 </a:t>
            </a:r>
            <a:r>
              <a:rPr lang="en-US" dirty="0"/>
              <a:t>overload</a:t>
            </a:r>
            <a:endParaRPr dirty="0"/>
          </a:p>
          <a:p>
            <a:pPr marL="342900" lvl="0" indent="-342900" algn="l" rtl="0">
              <a:spcBef>
                <a:spcPts val="496"/>
              </a:spcBef>
              <a:spcAft>
                <a:spcPts val="0"/>
              </a:spcAft>
              <a:buClr>
                <a:schemeClr val="dk1"/>
              </a:buClr>
              <a:buSzPct val="100000"/>
              <a:buNone/>
            </a:pPr>
            <a:r>
              <a:rPr lang="en-US" dirty="0"/>
              <a:t>#Do debug </a:t>
            </a:r>
            <a:r>
              <a:rPr lang="en-US" dirty="0" err="1"/>
              <a:t>ip</a:t>
            </a:r>
            <a:r>
              <a:rPr lang="en-US" dirty="0"/>
              <a:t> </a:t>
            </a:r>
            <a:r>
              <a:rPr lang="en-US" dirty="0" err="1"/>
              <a:t>nat</a:t>
            </a:r>
            <a:r>
              <a:rPr lang="en-US" dirty="0"/>
              <a:t> </a:t>
            </a:r>
            <a:endParaRPr dirty="0"/>
          </a:p>
          <a:p>
            <a:pPr marL="342900" lvl="0" indent="-342900" algn="l" rtl="0">
              <a:spcBef>
                <a:spcPts val="496"/>
              </a:spcBef>
              <a:spcAft>
                <a:spcPts val="0"/>
              </a:spcAft>
              <a:buClr>
                <a:schemeClr val="dk1"/>
              </a:buClr>
              <a:buSzPct val="100000"/>
              <a:buNone/>
            </a:pPr>
            <a:r>
              <a:rPr lang="en-US" dirty="0"/>
              <a:t>#Do show </a:t>
            </a:r>
            <a:r>
              <a:rPr lang="en-US" dirty="0" err="1"/>
              <a:t>ip</a:t>
            </a:r>
            <a:r>
              <a:rPr lang="en-US" dirty="0"/>
              <a:t> </a:t>
            </a:r>
            <a:r>
              <a:rPr lang="en-US" dirty="0" err="1"/>
              <a:t>nat</a:t>
            </a:r>
            <a:r>
              <a:rPr lang="en-US" dirty="0"/>
              <a:t> translation</a:t>
            </a:r>
            <a:endParaRPr dirty="0"/>
          </a:p>
        </p:txBody>
      </p:sp>
      <p:sp>
        <p:nvSpPr>
          <p:cNvPr id="1469" name="Google Shape;1469;p175"/>
          <p:cNvSpPr/>
          <p:nvPr/>
        </p:nvSpPr>
        <p:spPr>
          <a:xfrm>
            <a:off x="5251174" y="1527314"/>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0" name="Google Shape;1470;p175"/>
          <p:cNvSpPr/>
          <p:nvPr/>
        </p:nvSpPr>
        <p:spPr>
          <a:xfrm>
            <a:off x="5098774" y="2746514"/>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1" name="Google Shape;1471;p175"/>
          <p:cNvSpPr/>
          <p:nvPr/>
        </p:nvSpPr>
        <p:spPr>
          <a:xfrm>
            <a:off x="4870174" y="3737114"/>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2" name="Google Shape;1472;p175"/>
          <p:cNvSpPr/>
          <p:nvPr/>
        </p:nvSpPr>
        <p:spPr>
          <a:xfrm>
            <a:off x="6013174" y="3737114"/>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3" name="Google Shape;1473;p175"/>
          <p:cNvSpPr/>
          <p:nvPr/>
        </p:nvSpPr>
        <p:spPr>
          <a:xfrm>
            <a:off x="7232374" y="1451114"/>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4" name="Google Shape;1474;p175"/>
          <p:cNvSpPr/>
          <p:nvPr/>
        </p:nvSpPr>
        <p:spPr>
          <a:xfrm>
            <a:off x="7079974" y="2670314"/>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5" name="Google Shape;1475;p175"/>
          <p:cNvSpPr/>
          <p:nvPr/>
        </p:nvSpPr>
        <p:spPr>
          <a:xfrm>
            <a:off x="6851374" y="3660914"/>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76" name="Google Shape;1476;p175"/>
          <p:cNvSpPr/>
          <p:nvPr/>
        </p:nvSpPr>
        <p:spPr>
          <a:xfrm>
            <a:off x="7994374" y="3660914"/>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477" name="Google Shape;1477;p175"/>
          <p:cNvCxnSpPr>
            <a:stCxn id="1469" idx="6"/>
          </p:cNvCxnSpPr>
          <p:nvPr/>
        </p:nvCxnSpPr>
        <p:spPr>
          <a:xfrm>
            <a:off x="5936974" y="1832114"/>
            <a:ext cx="1371600" cy="1500"/>
          </a:xfrm>
          <a:prstGeom prst="straightConnector1">
            <a:avLst/>
          </a:prstGeom>
          <a:noFill/>
          <a:ln w="9525" cap="flat" cmpd="sng">
            <a:solidFill>
              <a:srgbClr val="4A7DBA"/>
            </a:solidFill>
            <a:prstDash val="solid"/>
            <a:round/>
            <a:headEnd type="none" w="sm" len="sm"/>
            <a:tailEnd type="none" w="sm" len="sm"/>
          </a:ln>
        </p:spPr>
      </p:cxnSp>
      <p:cxnSp>
        <p:nvCxnSpPr>
          <p:cNvPr id="1478" name="Google Shape;1478;p175"/>
          <p:cNvCxnSpPr>
            <a:stCxn id="1469" idx="4"/>
            <a:endCxn id="1470" idx="0"/>
          </p:cNvCxnSpPr>
          <p:nvPr/>
        </p:nvCxnSpPr>
        <p:spPr>
          <a:xfrm flipH="1">
            <a:off x="5555974" y="2136914"/>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479" name="Google Shape;1479;p175"/>
          <p:cNvCxnSpPr>
            <a:stCxn id="1473" idx="4"/>
            <a:endCxn id="1474" idx="0"/>
          </p:cNvCxnSpPr>
          <p:nvPr/>
        </p:nvCxnSpPr>
        <p:spPr>
          <a:xfrm flipH="1">
            <a:off x="7537174" y="2060714"/>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480" name="Google Shape;1480;p175"/>
          <p:cNvCxnSpPr>
            <a:stCxn id="1470" idx="2"/>
            <a:endCxn id="1471" idx="0"/>
          </p:cNvCxnSpPr>
          <p:nvPr/>
        </p:nvCxnSpPr>
        <p:spPr>
          <a:xfrm flipH="1">
            <a:off x="5136874" y="3051314"/>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481" name="Google Shape;1481;p175"/>
          <p:cNvCxnSpPr>
            <a:stCxn id="1470" idx="2"/>
            <a:endCxn id="1472" idx="0"/>
          </p:cNvCxnSpPr>
          <p:nvPr/>
        </p:nvCxnSpPr>
        <p:spPr>
          <a:xfrm>
            <a:off x="5555974" y="3051314"/>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1482" name="Google Shape;1482;p175"/>
          <p:cNvCxnSpPr>
            <a:stCxn id="1474" idx="2"/>
            <a:endCxn id="1475" idx="0"/>
          </p:cNvCxnSpPr>
          <p:nvPr/>
        </p:nvCxnSpPr>
        <p:spPr>
          <a:xfrm flipH="1">
            <a:off x="7118074" y="2975114"/>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483" name="Google Shape;1483;p175"/>
          <p:cNvCxnSpPr>
            <a:stCxn id="1474" idx="2"/>
            <a:endCxn id="1476" idx="0"/>
          </p:cNvCxnSpPr>
          <p:nvPr/>
        </p:nvCxnSpPr>
        <p:spPr>
          <a:xfrm>
            <a:off x="7537174" y="2975114"/>
            <a:ext cx="723900" cy="68580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20;p160"/>
          <p:cNvSpPr txBox="1">
            <a:spLocks/>
          </p:cNvSpPr>
          <p:nvPr/>
        </p:nvSpPr>
        <p:spPr>
          <a:xfrm>
            <a:off x="375315" y="110863"/>
            <a:ext cx="8229600" cy="612466"/>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dirty="0" smtClean="0"/>
              <a:t>DHCP Snooping</a:t>
            </a:r>
            <a:endParaRPr lang="en-US" dirty="0"/>
          </a:p>
        </p:txBody>
      </p:sp>
      <p:sp>
        <p:nvSpPr>
          <p:cNvPr id="25" name="Title 1"/>
          <p:cNvSpPr txBox="1">
            <a:spLocks/>
          </p:cNvSpPr>
          <p:nvPr/>
        </p:nvSpPr>
        <p:spPr>
          <a:xfrm>
            <a:off x="245660" y="996285"/>
            <a:ext cx="8734567" cy="5813949"/>
          </a:xfrm>
          <a:prstGeom prst="rect">
            <a:avLst/>
          </a:prstGeom>
          <a:noFill/>
          <a:ln>
            <a:noFill/>
          </a:ln>
        </p:spPr>
        <p:txBody>
          <a:bodyPr spcFirstLastPara="1" wrap="square" lIns="91425" tIns="45700" rIns="91425" bIns="45700" anchor="ctr" anchorCtr="0">
            <a:normAutofit fontScale="925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457200" indent="-457200" algn="l">
              <a:buFont typeface="Wingdings" panose="05000000000000000000" pitchFamily="2" charset="2"/>
              <a:buChar char="q"/>
            </a:pPr>
            <a:r>
              <a:rPr lang="en-US" sz="2800" b="1" dirty="0"/>
              <a:t>DHCP Snooping</a:t>
            </a:r>
            <a:r>
              <a:rPr lang="en-US" sz="2800" dirty="0"/>
              <a:t> is a </a:t>
            </a:r>
            <a:r>
              <a:rPr lang="en-US" sz="2800" b="1" dirty="0"/>
              <a:t>security feature</a:t>
            </a:r>
            <a:r>
              <a:rPr lang="en-US" sz="2800" dirty="0"/>
              <a:t> used mainly on </a:t>
            </a:r>
            <a:r>
              <a:rPr lang="en-US" sz="2800" b="1" dirty="0"/>
              <a:t>network switches</a:t>
            </a:r>
            <a:r>
              <a:rPr lang="en-US" sz="2800" dirty="0"/>
              <a:t> to protect against malicious or rogue </a:t>
            </a:r>
            <a:r>
              <a:rPr lang="en-US" sz="2800" b="1" dirty="0"/>
              <a:t>DHCP servers</a:t>
            </a:r>
            <a:r>
              <a:rPr lang="en-US" sz="2800" dirty="0"/>
              <a:t> on a LAN (Local Area Network</a:t>
            </a:r>
            <a:r>
              <a:rPr lang="en-US" sz="2800" dirty="0" smtClean="0"/>
              <a:t>).</a:t>
            </a:r>
          </a:p>
          <a:p>
            <a:pPr marL="457200" indent="-457200" algn="l">
              <a:buFont typeface="Wingdings" panose="05000000000000000000" pitchFamily="2" charset="2"/>
              <a:buChar char="q"/>
            </a:pPr>
            <a:r>
              <a:rPr lang="en-US" sz="2800" b="1" dirty="0"/>
              <a:t>DHCP Snooping</a:t>
            </a:r>
            <a:r>
              <a:rPr lang="en-US" sz="2800" dirty="0"/>
              <a:t> acts as a </a:t>
            </a:r>
            <a:r>
              <a:rPr lang="en-US" sz="2800" b="1" dirty="0"/>
              <a:t>“firewall” for DHCP traffic</a:t>
            </a:r>
            <a:r>
              <a:rPr lang="en-US" sz="2800" dirty="0"/>
              <a:t> — it </a:t>
            </a:r>
            <a:r>
              <a:rPr lang="en-US" sz="2800" b="1" dirty="0"/>
              <a:t>filters and monitors DHCP messages</a:t>
            </a:r>
            <a:r>
              <a:rPr lang="en-US" sz="2800" dirty="0"/>
              <a:t> exchanged between clients and servers</a:t>
            </a:r>
            <a:r>
              <a:rPr lang="en-US" sz="2800" dirty="0" smtClean="0"/>
              <a:t>.</a:t>
            </a:r>
          </a:p>
          <a:p>
            <a:pPr marL="457200" indent="-457200" algn="l">
              <a:buFont typeface="Wingdings" panose="05000000000000000000" pitchFamily="2" charset="2"/>
              <a:buChar char="q"/>
            </a:pPr>
            <a:r>
              <a:rPr lang="en-US" sz="2800" dirty="0"/>
              <a:t>It allows DHCP responses </a:t>
            </a:r>
            <a:r>
              <a:rPr lang="en-US" sz="2800" b="1" dirty="0"/>
              <a:t>only from trusted DHCP servers</a:t>
            </a:r>
            <a:r>
              <a:rPr lang="en-US" sz="2800" dirty="0"/>
              <a:t/>
            </a:r>
            <a:br>
              <a:rPr lang="en-US" sz="2800" dirty="0"/>
            </a:br>
            <a:r>
              <a:rPr lang="en-US" sz="2800" dirty="0" smtClean="0"/>
              <a:t>Blocks </a:t>
            </a:r>
            <a:r>
              <a:rPr lang="en-US" sz="2800" dirty="0"/>
              <a:t>fake servers trying to hand out wrong IPs (called </a:t>
            </a:r>
            <a:r>
              <a:rPr lang="en-US" sz="2800" i="1" dirty="0"/>
              <a:t>Rogue DHCP </a:t>
            </a:r>
            <a:r>
              <a:rPr lang="en-US" sz="2800" i="1" dirty="0" smtClean="0"/>
              <a:t>servers</a:t>
            </a:r>
            <a:r>
              <a:rPr lang="en-US" sz="2800" dirty="0" smtClean="0"/>
              <a:t>) </a:t>
            </a:r>
          </a:p>
          <a:p>
            <a:pPr marL="457200" indent="-457200" algn="l">
              <a:buFont typeface="Wingdings" panose="05000000000000000000" pitchFamily="2" charset="2"/>
              <a:buChar char="q"/>
            </a:pPr>
            <a:r>
              <a:rPr lang="en-US" sz="2800" dirty="0" smtClean="0"/>
              <a:t>Without </a:t>
            </a:r>
            <a:r>
              <a:rPr lang="en-US" sz="2800" dirty="0"/>
              <a:t>DHCP Snooping, anyone could connect a laptop or router to a LAN port, start a DHCP service, and issue </a:t>
            </a:r>
            <a:r>
              <a:rPr lang="en-US" sz="2800" b="1" dirty="0"/>
              <a:t>fake IP addresses</a:t>
            </a:r>
            <a:r>
              <a:rPr lang="en-US" sz="2800" dirty="0"/>
              <a:t> — leading to:</a:t>
            </a:r>
          </a:p>
          <a:p>
            <a:pPr marL="457200" indent="-457200" algn="l">
              <a:buFont typeface="Wingdings" panose="05000000000000000000" pitchFamily="2" charset="2"/>
              <a:buChar char="§"/>
            </a:pPr>
            <a:r>
              <a:rPr lang="en-US" sz="2800" b="1" dirty="0"/>
              <a:t>Man-in-the-middle attacks</a:t>
            </a:r>
            <a:endParaRPr lang="en-US" sz="2800" dirty="0"/>
          </a:p>
          <a:p>
            <a:pPr marL="457200" indent="-457200" algn="l">
              <a:buFont typeface="Wingdings" panose="05000000000000000000" pitchFamily="2" charset="2"/>
              <a:buChar char="§"/>
            </a:pPr>
            <a:r>
              <a:rPr lang="en-US" sz="2800" b="1" dirty="0"/>
              <a:t>IP address conflicts</a:t>
            </a:r>
            <a:endParaRPr lang="en-US" sz="2800" dirty="0"/>
          </a:p>
          <a:p>
            <a:pPr marL="457200" indent="-457200" algn="l">
              <a:buFont typeface="Wingdings" panose="05000000000000000000" pitchFamily="2" charset="2"/>
              <a:buChar char="§"/>
            </a:pPr>
            <a:r>
              <a:rPr lang="en-US" sz="2800" b="1" dirty="0"/>
              <a:t>Network downtime</a:t>
            </a:r>
            <a:endParaRPr lang="en-US" sz="2800" dirty="0"/>
          </a:p>
          <a:p>
            <a:pPr marL="457200" indent="-457200" algn="l">
              <a:buFont typeface="Wingdings" panose="05000000000000000000" pitchFamily="2" charset="2"/>
              <a:buChar char="§"/>
            </a:pPr>
            <a:r>
              <a:rPr lang="en-US" sz="2800" b="1" dirty="0"/>
              <a:t>Traffic redirection or sniffing</a:t>
            </a:r>
            <a:endParaRPr lang="en-US" sz="2800" dirty="0"/>
          </a:p>
          <a:p>
            <a:pPr algn="l"/>
            <a:endParaRPr lang="en-US" sz="2800" dirty="0"/>
          </a:p>
        </p:txBody>
      </p:sp>
    </p:spTree>
    <p:extLst>
      <p:ext uri="{BB962C8B-B14F-4D97-AF65-F5344CB8AC3E}">
        <p14:creationId xmlns:p14="http://schemas.microsoft.com/office/powerpoint/2010/main" val="4200511601"/>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p:cNvSpPr txBox="1">
            <a:spLocks/>
          </p:cNvSpPr>
          <p:nvPr/>
        </p:nvSpPr>
        <p:spPr>
          <a:xfrm>
            <a:off x="245659" y="204714"/>
            <a:ext cx="8734567" cy="2613254"/>
          </a:xfrm>
          <a:prstGeom prst="rect">
            <a:avLst/>
          </a:prstGeom>
          <a:noFill/>
          <a:ln>
            <a:noFill/>
          </a:ln>
        </p:spPr>
        <p:txBody>
          <a:bodyPr spcFirstLastPara="1" wrap="square" lIns="91425" tIns="45700" rIns="91425" bIns="45700" anchor="ctr" anchorCtr="0">
            <a:normAutofit fontScale="925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2800" b="1" dirty="0"/>
              <a:t>DHCP Snooping Database / Binding Table</a:t>
            </a:r>
          </a:p>
          <a:p>
            <a:pPr marL="457200" indent="-457200" algn="l">
              <a:buFont typeface="Wingdings" panose="05000000000000000000" pitchFamily="2" charset="2"/>
              <a:buChar char="§"/>
            </a:pPr>
            <a:r>
              <a:rPr lang="en-US" sz="2800" dirty="0"/>
              <a:t>The switch keeps a record of:</a:t>
            </a:r>
          </a:p>
          <a:p>
            <a:pPr marL="457200" indent="-457200" algn="l">
              <a:buFont typeface="Wingdings" panose="05000000000000000000" pitchFamily="2" charset="2"/>
              <a:buChar char="§"/>
            </a:pPr>
            <a:r>
              <a:rPr lang="en-US" sz="2800" dirty="0"/>
              <a:t>MAC address</a:t>
            </a:r>
          </a:p>
          <a:p>
            <a:pPr marL="457200" indent="-457200" algn="l">
              <a:buFont typeface="Wingdings" panose="05000000000000000000" pitchFamily="2" charset="2"/>
              <a:buChar char="§"/>
            </a:pPr>
            <a:r>
              <a:rPr lang="en-US" sz="2800" dirty="0"/>
              <a:t>Assigned IP address</a:t>
            </a:r>
          </a:p>
          <a:p>
            <a:pPr marL="457200" indent="-457200" algn="l">
              <a:buFont typeface="Wingdings" panose="05000000000000000000" pitchFamily="2" charset="2"/>
              <a:buChar char="§"/>
            </a:pPr>
            <a:r>
              <a:rPr lang="en-US" sz="2800" dirty="0"/>
              <a:t>VLAN number</a:t>
            </a:r>
          </a:p>
          <a:p>
            <a:pPr marL="457200" indent="-457200" algn="l">
              <a:buFont typeface="Wingdings" panose="05000000000000000000" pitchFamily="2" charset="2"/>
              <a:buChar char="§"/>
            </a:pPr>
            <a:r>
              <a:rPr lang="en-US" sz="2800" dirty="0"/>
              <a:t>Lease time</a:t>
            </a:r>
          </a:p>
          <a:p>
            <a:pPr marL="457200" indent="-457200" algn="l">
              <a:buFont typeface="Wingdings" panose="05000000000000000000" pitchFamily="2" charset="2"/>
              <a:buChar char="§"/>
            </a:pPr>
            <a:r>
              <a:rPr lang="en-US" sz="2800" dirty="0"/>
              <a:t>Interface (port</a:t>
            </a:r>
            <a:r>
              <a:rPr lang="en-US" sz="2800" dirty="0" smtClean="0"/>
              <a: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8074" y="2817968"/>
            <a:ext cx="6310899" cy="4040032"/>
          </a:xfrm>
          <a:prstGeom prst="rect">
            <a:avLst/>
          </a:prstGeom>
        </p:spPr>
      </p:pic>
    </p:spTree>
    <p:extLst>
      <p:ext uri="{BB962C8B-B14F-4D97-AF65-F5344CB8AC3E}">
        <p14:creationId xmlns:p14="http://schemas.microsoft.com/office/powerpoint/2010/main" val="2032267962"/>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20;p160"/>
          <p:cNvSpPr txBox="1">
            <a:spLocks/>
          </p:cNvSpPr>
          <p:nvPr/>
        </p:nvSpPr>
        <p:spPr>
          <a:xfrm>
            <a:off x="375315" y="110863"/>
            <a:ext cx="8229600" cy="612466"/>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400"/>
            </a:pPr>
            <a:r>
              <a:rPr lang="en-US" dirty="0" smtClean="0"/>
              <a:t>DHCP Snooping</a:t>
            </a:r>
            <a:endParaRPr lang="en-US" dirty="0"/>
          </a:p>
        </p:txBody>
      </p:sp>
      <p:sp>
        <p:nvSpPr>
          <p:cNvPr id="25" name="Title 1"/>
          <p:cNvSpPr txBox="1">
            <a:spLocks/>
          </p:cNvSpPr>
          <p:nvPr/>
        </p:nvSpPr>
        <p:spPr>
          <a:xfrm>
            <a:off x="245660" y="996285"/>
            <a:ext cx="8734567" cy="5813949"/>
          </a:xfrm>
          <a:prstGeom prst="rect">
            <a:avLst/>
          </a:prstGeom>
          <a:noFill/>
          <a:ln>
            <a:noFill/>
          </a:ln>
        </p:spPr>
        <p:txBody>
          <a:bodyPr spcFirstLastPara="1" wrap="square" lIns="91425" tIns="45700" rIns="91425" bIns="45700" anchor="ctr" anchorCtr="0">
            <a:normAutofit fontScale="92500" lnSpcReduction="1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2800" b="1" dirty="0" smtClean="0"/>
              <a:t>Assign IP to Servers 192.168.1.50 &amp; 192.168.2.50</a:t>
            </a:r>
          </a:p>
          <a:p>
            <a:pPr algn="l"/>
            <a:r>
              <a:rPr lang="en-US" sz="2800" b="1" dirty="0" smtClean="0"/>
              <a:t>Create 1 DHCP pool in each server</a:t>
            </a:r>
          </a:p>
          <a:p>
            <a:pPr algn="l"/>
            <a:r>
              <a:rPr lang="en-US" sz="2800" b="1" dirty="0" smtClean="0"/>
              <a:t>Check DHCP in PC’s</a:t>
            </a:r>
          </a:p>
          <a:p>
            <a:pPr algn="l"/>
            <a:r>
              <a:rPr lang="en-US" sz="2800" b="1" dirty="0" smtClean="0"/>
              <a:t>( PC’s reflect both sever DHCP in every Power on) </a:t>
            </a:r>
          </a:p>
          <a:p>
            <a:pPr algn="l"/>
            <a:r>
              <a:rPr lang="en-US" sz="2800" b="1" dirty="0" smtClean="0"/>
              <a:t>Write Program in Switch</a:t>
            </a:r>
          </a:p>
          <a:p>
            <a:pPr algn="l"/>
            <a:r>
              <a:rPr lang="en-US" sz="2800" b="1" dirty="0"/>
              <a:t>Check DHCP in PC’s</a:t>
            </a:r>
          </a:p>
          <a:p>
            <a:pPr algn="l"/>
            <a:endParaRPr lang="en-US" sz="2800" b="1" dirty="0" smtClean="0"/>
          </a:p>
          <a:p>
            <a:pPr algn="l"/>
            <a:r>
              <a:rPr lang="en-US" sz="2800" b="1" dirty="0" smtClean="0"/>
              <a:t>Switch</a:t>
            </a:r>
            <a:endParaRPr lang="en-US" sz="2800" b="1" dirty="0"/>
          </a:p>
          <a:p>
            <a:pPr algn="l"/>
            <a:r>
              <a:rPr lang="en-US" sz="2800" dirty="0"/>
              <a:t>#</a:t>
            </a:r>
            <a:r>
              <a:rPr lang="en-US" sz="2800" dirty="0" err="1"/>
              <a:t>en</a:t>
            </a:r>
            <a:endParaRPr lang="en-US" sz="2800" dirty="0"/>
          </a:p>
          <a:p>
            <a:pPr algn="l"/>
            <a:r>
              <a:rPr lang="en-US" sz="2800" dirty="0"/>
              <a:t>#</a:t>
            </a:r>
            <a:r>
              <a:rPr lang="en-US" sz="2800" dirty="0" err="1"/>
              <a:t>config</a:t>
            </a:r>
            <a:r>
              <a:rPr lang="en-US" sz="2800" dirty="0"/>
              <a:t> t</a:t>
            </a:r>
          </a:p>
          <a:p>
            <a:pPr algn="l"/>
            <a:r>
              <a:rPr lang="en-US" sz="2800" dirty="0"/>
              <a:t>#</a:t>
            </a:r>
            <a:r>
              <a:rPr lang="en-US" sz="2800" dirty="0" err="1"/>
              <a:t>ip</a:t>
            </a:r>
            <a:r>
              <a:rPr lang="en-US" sz="2800" dirty="0"/>
              <a:t> </a:t>
            </a:r>
            <a:r>
              <a:rPr lang="en-US" sz="2800" dirty="0" err="1"/>
              <a:t>dhcp</a:t>
            </a:r>
            <a:r>
              <a:rPr lang="en-US" sz="2800" dirty="0"/>
              <a:t> snooping</a:t>
            </a:r>
          </a:p>
          <a:p>
            <a:pPr algn="l"/>
            <a:r>
              <a:rPr lang="en-US" sz="2800" dirty="0"/>
              <a:t>#</a:t>
            </a:r>
            <a:r>
              <a:rPr lang="en-US" sz="2800" dirty="0" err="1"/>
              <a:t>ip</a:t>
            </a:r>
            <a:r>
              <a:rPr lang="en-US" sz="2800" dirty="0"/>
              <a:t> </a:t>
            </a:r>
            <a:r>
              <a:rPr lang="en-US" sz="2800" dirty="0" err="1"/>
              <a:t>dhcp</a:t>
            </a:r>
            <a:r>
              <a:rPr lang="en-US" sz="2800" dirty="0"/>
              <a:t> snooping </a:t>
            </a:r>
            <a:r>
              <a:rPr lang="en-US" sz="2800" dirty="0" err="1"/>
              <a:t>vlan</a:t>
            </a:r>
            <a:r>
              <a:rPr lang="en-US" sz="2800" dirty="0"/>
              <a:t> </a:t>
            </a:r>
            <a:r>
              <a:rPr lang="en-US" sz="2800" dirty="0" smtClean="0"/>
              <a:t>10</a:t>
            </a:r>
            <a:endParaRPr lang="en-US" sz="2800" dirty="0"/>
          </a:p>
          <a:p>
            <a:pPr algn="l"/>
            <a:r>
              <a:rPr lang="en-US" sz="2800" dirty="0"/>
              <a:t>#</a:t>
            </a:r>
            <a:r>
              <a:rPr lang="en-US" sz="2800" dirty="0" err="1"/>
              <a:t>int</a:t>
            </a:r>
            <a:r>
              <a:rPr lang="en-US" sz="2800" dirty="0"/>
              <a:t> </a:t>
            </a:r>
            <a:r>
              <a:rPr lang="en-US" sz="2800" dirty="0" smtClean="0"/>
              <a:t>fa0/2 </a:t>
            </a:r>
            <a:r>
              <a:rPr lang="en-US" sz="2800" b="1" dirty="0" smtClean="0">
                <a:solidFill>
                  <a:schemeClr val="accent6">
                    <a:lumMod val="60000"/>
                    <a:lumOff val="40000"/>
                  </a:schemeClr>
                </a:solidFill>
              </a:rPr>
              <a:t>(Trusted server port)</a:t>
            </a:r>
            <a:endParaRPr lang="en-US" sz="2800" b="1" dirty="0">
              <a:solidFill>
                <a:schemeClr val="accent6">
                  <a:lumMod val="60000"/>
                  <a:lumOff val="40000"/>
                </a:schemeClr>
              </a:solidFill>
            </a:endParaRPr>
          </a:p>
          <a:p>
            <a:pPr algn="l"/>
            <a:r>
              <a:rPr lang="en-US" sz="2800" dirty="0"/>
              <a:t>#</a:t>
            </a:r>
            <a:r>
              <a:rPr lang="en-US" sz="2800" dirty="0" err="1"/>
              <a:t>ip</a:t>
            </a:r>
            <a:r>
              <a:rPr lang="en-US" sz="2800" dirty="0"/>
              <a:t> </a:t>
            </a:r>
            <a:r>
              <a:rPr lang="en-US" sz="2800" dirty="0" err="1"/>
              <a:t>dhcp</a:t>
            </a:r>
            <a:r>
              <a:rPr lang="en-US" sz="2800" dirty="0"/>
              <a:t> snooping trust</a:t>
            </a:r>
          </a:p>
          <a:p>
            <a:pPr algn="l"/>
            <a:r>
              <a:rPr lang="en-US" sz="2800" dirty="0"/>
              <a:t>#do </a:t>
            </a:r>
            <a:r>
              <a:rPr lang="en-US" sz="2800" dirty="0" err="1"/>
              <a:t>wr</a:t>
            </a:r>
            <a:endParaRPr lang="en-US" sz="2800" dirty="0"/>
          </a:p>
        </p:txBody>
      </p:sp>
    </p:spTree>
    <p:extLst>
      <p:ext uri="{BB962C8B-B14F-4D97-AF65-F5344CB8AC3E}">
        <p14:creationId xmlns:p14="http://schemas.microsoft.com/office/powerpoint/2010/main" val="3124425402"/>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1487"/>
        <p:cNvGrpSpPr/>
        <p:nvPr/>
      </p:nvGrpSpPr>
      <p:grpSpPr>
        <a:xfrm>
          <a:off x="0" y="0"/>
          <a:ext cx="0" cy="0"/>
          <a:chOff x="0" y="0"/>
          <a:chExt cx="0" cy="0"/>
        </a:xfrm>
      </p:grpSpPr>
      <p:sp>
        <p:nvSpPr>
          <p:cNvPr id="1488" name="Google Shape;1488;p176"/>
          <p:cNvSpPr txBox="1">
            <a:spLocks noGrp="1"/>
          </p:cNvSpPr>
          <p:nvPr>
            <p:ph type="title"/>
          </p:nvPr>
        </p:nvSpPr>
        <p:spPr>
          <a:xfrm>
            <a:off x="562970" y="110865"/>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AAA-TACACS</a:t>
            </a:r>
            <a:endParaRPr dirty="0"/>
          </a:p>
        </p:txBody>
      </p:sp>
      <p:sp>
        <p:nvSpPr>
          <p:cNvPr id="1489" name="Google Shape;1489;p176"/>
          <p:cNvSpPr txBox="1">
            <a:spLocks noGrp="1"/>
          </p:cNvSpPr>
          <p:nvPr>
            <p:ph type="body" idx="1"/>
          </p:nvPr>
        </p:nvSpPr>
        <p:spPr>
          <a:xfrm>
            <a:off x="457200" y="1037230"/>
            <a:ext cx="8441140" cy="5663821"/>
          </a:xfrm>
          <a:prstGeom prst="rect">
            <a:avLst/>
          </a:prstGeom>
          <a:noFill/>
          <a:ln>
            <a:noFill/>
          </a:ln>
        </p:spPr>
        <p:txBody>
          <a:bodyPr spcFirstLastPara="1" wrap="square" lIns="91425" tIns="45700" rIns="91425" bIns="45700" anchor="t" anchorCtr="0">
            <a:normAutofit fontScale="85000" lnSpcReduction="10000"/>
          </a:bodyPr>
          <a:lstStyle/>
          <a:p>
            <a:pPr>
              <a:lnSpc>
                <a:spcPct val="170000"/>
              </a:lnSpc>
              <a:buFont typeface="Wingdings" panose="05000000000000000000" pitchFamily="2" charset="2"/>
              <a:buChar char="q"/>
            </a:pPr>
            <a:r>
              <a:rPr lang="en-US" b="1" dirty="0"/>
              <a:t>TACACS</a:t>
            </a:r>
            <a:r>
              <a:rPr lang="en-US" dirty="0"/>
              <a:t> stands for </a:t>
            </a:r>
            <a:r>
              <a:rPr lang="en-US" b="1" dirty="0"/>
              <a:t>Terminal Access Controller Access-Control System</a:t>
            </a:r>
            <a:r>
              <a:rPr lang="en-US" dirty="0"/>
              <a:t>.</a:t>
            </a:r>
            <a:br>
              <a:rPr lang="en-US" dirty="0"/>
            </a:br>
            <a:r>
              <a:rPr lang="en-US" dirty="0"/>
              <a:t>It’s a </a:t>
            </a:r>
            <a:r>
              <a:rPr lang="en-US" b="1" dirty="0"/>
              <a:t>network authentication and access control protocol</a:t>
            </a:r>
            <a:r>
              <a:rPr lang="en-US" dirty="0"/>
              <a:t> developed by Cisco (modern version: </a:t>
            </a:r>
            <a:r>
              <a:rPr lang="en-US" b="1" dirty="0"/>
              <a:t>TACACS+</a:t>
            </a:r>
            <a:r>
              <a:rPr lang="en-US" dirty="0"/>
              <a:t>).</a:t>
            </a:r>
          </a:p>
          <a:p>
            <a:pPr>
              <a:lnSpc>
                <a:spcPct val="170000"/>
              </a:lnSpc>
              <a:buFont typeface="Wingdings" panose="05000000000000000000" pitchFamily="2" charset="2"/>
              <a:buChar char="q"/>
            </a:pPr>
            <a:r>
              <a:rPr lang="en-US" dirty="0"/>
              <a:t>It’s mainly used to </a:t>
            </a:r>
            <a:r>
              <a:rPr lang="en-US" b="1" dirty="0"/>
              <a:t>centralize user authentication, authorization, and accounting (AAA)</a:t>
            </a:r>
            <a:r>
              <a:rPr lang="en-US" dirty="0"/>
              <a:t> for network devices like routers, switches, and firewalls.</a:t>
            </a:r>
          </a:p>
          <a:p>
            <a:pPr marL="342900" lvl="0" indent="-139700" algn="l" rtl="0">
              <a:lnSpc>
                <a:spcPct val="170000"/>
              </a:lnSpc>
              <a:spcBef>
                <a:spcPts val="0"/>
              </a:spcBef>
              <a:spcAft>
                <a:spcPts val="0"/>
              </a:spcAft>
              <a:buClr>
                <a:schemeClr val="dk1"/>
              </a:buClr>
              <a:buSzPts val="3200"/>
              <a:buNone/>
            </a:pPr>
            <a:endParaRPr dirty="0"/>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1487"/>
        <p:cNvGrpSpPr/>
        <p:nvPr/>
      </p:nvGrpSpPr>
      <p:grpSpPr>
        <a:xfrm>
          <a:off x="0" y="0"/>
          <a:ext cx="0" cy="0"/>
          <a:chOff x="0" y="0"/>
          <a:chExt cx="0" cy="0"/>
        </a:xfrm>
      </p:grpSpPr>
      <p:sp>
        <p:nvSpPr>
          <p:cNvPr id="12" name="Text Placeholder 11"/>
          <p:cNvSpPr>
            <a:spLocks noGrp="1"/>
          </p:cNvSpPr>
          <p:nvPr>
            <p:ph type="body" idx="1"/>
          </p:nvPr>
        </p:nvSpPr>
        <p:spPr>
          <a:xfrm>
            <a:off x="281354" y="358726"/>
            <a:ext cx="8510954" cy="6084277"/>
          </a:xfrm>
        </p:spPr>
        <p:txBody>
          <a:bodyPr>
            <a:noAutofit/>
          </a:bodyPr>
          <a:lstStyle/>
          <a:p>
            <a:pPr marL="114300" indent="0">
              <a:buNone/>
            </a:pPr>
            <a:r>
              <a:rPr lang="en-US" sz="2800" b="1" dirty="0"/>
              <a:t>1. Centralized User Management</a:t>
            </a:r>
          </a:p>
          <a:p>
            <a:pPr>
              <a:buFont typeface="Wingdings" panose="05000000000000000000" pitchFamily="2" charset="2"/>
              <a:buChar char="q"/>
            </a:pPr>
            <a:r>
              <a:rPr lang="en-US" sz="2400" dirty="0"/>
              <a:t>Instead of configuring user accounts and passwords on every router or switch individually, TACACS allows </a:t>
            </a:r>
            <a:r>
              <a:rPr lang="en-US" sz="2400" b="1" dirty="0"/>
              <a:t>central management</a:t>
            </a:r>
            <a:r>
              <a:rPr lang="en-US" sz="2400" dirty="0"/>
              <a:t> via a single </a:t>
            </a:r>
            <a:r>
              <a:rPr lang="en-US" sz="2400" b="1" dirty="0"/>
              <a:t>TACACS server</a:t>
            </a:r>
            <a:r>
              <a:rPr lang="en-US" sz="2400" dirty="0"/>
              <a:t> (like Cisco ISE or </a:t>
            </a:r>
            <a:r>
              <a:rPr lang="en-US" sz="2400" dirty="0" smtClean="0"/>
              <a:t>Free RADIUS</a:t>
            </a:r>
            <a:r>
              <a:rPr lang="en-US" sz="2400" dirty="0"/>
              <a:t>).</a:t>
            </a:r>
          </a:p>
          <a:p>
            <a:pPr>
              <a:buFont typeface="Wingdings" panose="05000000000000000000" pitchFamily="2" charset="2"/>
              <a:buChar char="q"/>
            </a:pPr>
            <a:r>
              <a:rPr lang="en-US" sz="2400" b="1" dirty="0" smtClean="0"/>
              <a:t>Benefit</a:t>
            </a:r>
            <a:r>
              <a:rPr lang="en-US" sz="2400" b="1" dirty="0"/>
              <a:t>:</a:t>
            </a:r>
            <a:r>
              <a:rPr lang="en-US" sz="2400" dirty="0"/>
              <a:t> Easier administration and consistent access policies across all devices.</a:t>
            </a:r>
          </a:p>
          <a:p>
            <a:pPr marL="114300" indent="0">
              <a:buNone/>
            </a:pPr>
            <a:r>
              <a:rPr lang="en-US" sz="2800" b="1" dirty="0"/>
              <a:t>2. Enhanced Security</a:t>
            </a:r>
          </a:p>
          <a:p>
            <a:pPr>
              <a:buFont typeface="Wingdings" panose="05000000000000000000" pitchFamily="2" charset="2"/>
              <a:buChar char="q"/>
            </a:pPr>
            <a:r>
              <a:rPr lang="en-US" sz="2400" dirty="0"/>
              <a:t>All communication between the </a:t>
            </a:r>
            <a:r>
              <a:rPr lang="en-US" sz="2400" b="1" dirty="0"/>
              <a:t>network device (client)</a:t>
            </a:r>
            <a:r>
              <a:rPr lang="en-US" sz="2400" dirty="0"/>
              <a:t> and </a:t>
            </a:r>
            <a:r>
              <a:rPr lang="en-US" sz="2400" b="1" dirty="0"/>
              <a:t>TACACS server</a:t>
            </a:r>
            <a:r>
              <a:rPr lang="en-US" sz="2400" dirty="0"/>
              <a:t> is </a:t>
            </a:r>
            <a:r>
              <a:rPr lang="en-US" sz="2400" b="1" dirty="0"/>
              <a:t>encrypted</a:t>
            </a:r>
            <a:r>
              <a:rPr lang="en-US" sz="2400" dirty="0"/>
              <a:t>.</a:t>
            </a:r>
          </a:p>
          <a:p>
            <a:pPr>
              <a:buFont typeface="Wingdings" panose="05000000000000000000" pitchFamily="2" charset="2"/>
              <a:buChar char="q"/>
            </a:pPr>
            <a:r>
              <a:rPr lang="en-US" sz="2400" dirty="0"/>
              <a:t>Even the </a:t>
            </a:r>
            <a:r>
              <a:rPr lang="en-US" sz="2400" b="1" dirty="0"/>
              <a:t>command authorization data</a:t>
            </a:r>
            <a:r>
              <a:rPr lang="en-US" sz="2400" dirty="0"/>
              <a:t> is encrypted — unlike RADIUS (which only encrypts passwords).</a:t>
            </a:r>
          </a:p>
          <a:p>
            <a:pPr>
              <a:buFont typeface="Wingdings" panose="05000000000000000000" pitchFamily="2" charset="2"/>
              <a:buChar char="q"/>
            </a:pPr>
            <a:r>
              <a:rPr lang="en-US" sz="2400" b="1" dirty="0" smtClean="0"/>
              <a:t>Benefit</a:t>
            </a:r>
            <a:r>
              <a:rPr lang="en-US" sz="2400" b="1" dirty="0"/>
              <a:t>:</a:t>
            </a:r>
            <a:r>
              <a:rPr lang="en-US" sz="2400" dirty="0"/>
              <a:t> Prevents credential leaks and protects access control data from sniffing</a:t>
            </a:r>
            <a:r>
              <a:rPr lang="en-US" sz="2400" dirty="0" smtClean="0"/>
              <a:t>.</a:t>
            </a:r>
            <a:endParaRPr lang="en-US" sz="2400" dirty="0"/>
          </a:p>
        </p:txBody>
      </p:sp>
    </p:spTree>
    <p:extLst>
      <p:ext uri="{BB962C8B-B14F-4D97-AF65-F5344CB8AC3E}">
        <p14:creationId xmlns:p14="http://schemas.microsoft.com/office/powerpoint/2010/main" val="4186190694"/>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1487"/>
        <p:cNvGrpSpPr/>
        <p:nvPr/>
      </p:nvGrpSpPr>
      <p:grpSpPr>
        <a:xfrm>
          <a:off x="0" y="0"/>
          <a:ext cx="0" cy="0"/>
          <a:chOff x="0" y="0"/>
          <a:chExt cx="0" cy="0"/>
        </a:xfrm>
      </p:grpSpPr>
      <p:sp>
        <p:nvSpPr>
          <p:cNvPr id="3" name="Text Placeholder 2"/>
          <p:cNvSpPr>
            <a:spLocks noGrp="1" noChangeArrowheads="1"/>
          </p:cNvSpPr>
          <p:nvPr>
            <p:ph type="body" idx="1"/>
          </p:nvPr>
        </p:nvSpPr>
        <p:spPr bwMode="auto">
          <a:xfrm>
            <a:off x="541242" y="572044"/>
            <a:ext cx="7374459"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a:t>
            </a:r>
            <a:r>
              <a:rPr kumimoji="0" lang="en-US" altLang="en-US" sz="2400" b="1" i="0" u="none" strike="noStrike" cap="none" normalizeH="0" baseline="0" dirty="0" smtClean="0">
                <a:ln>
                  <a:noFill/>
                </a:ln>
                <a:solidFill>
                  <a:schemeClr val="tx1"/>
                </a:solidFill>
                <a:effectLst/>
                <a:latin typeface="Arial" panose="020B0604020202020204" pitchFamily="34" charset="0"/>
              </a:rPr>
              <a:t>network device</a:t>
            </a:r>
            <a:r>
              <a:rPr kumimoji="0" lang="en-US" altLang="en-US" sz="2400" b="0" i="0" u="none" strike="noStrike" cap="none" normalizeH="0" baseline="0" dirty="0" smtClean="0">
                <a:ln>
                  <a:noFill/>
                </a:ln>
                <a:solidFill>
                  <a:schemeClr val="tx1"/>
                </a:solidFill>
                <a:effectLst/>
                <a:latin typeface="Arial" panose="020B0604020202020204" pitchFamily="34" charset="0"/>
              </a:rPr>
              <a:t> acts as a </a:t>
            </a:r>
            <a:r>
              <a:rPr kumimoji="0" lang="en-US" altLang="en-US" sz="2400" b="1" i="0" u="none" strike="noStrike" cap="none" normalizeH="0" baseline="0" dirty="0" smtClean="0">
                <a:ln>
                  <a:noFill/>
                </a:ln>
                <a:solidFill>
                  <a:schemeClr val="tx1"/>
                </a:solidFill>
                <a:effectLst/>
                <a:latin typeface="Arial" panose="020B0604020202020204" pitchFamily="34" charset="0"/>
              </a:rPr>
              <a:t>TACACS client</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a:t>
            </a:r>
            <a:r>
              <a:rPr kumimoji="0" lang="en-US" altLang="en-US" sz="2400" b="1" i="0" u="none" strike="noStrike" cap="none" normalizeH="0" baseline="0" dirty="0" smtClean="0">
                <a:ln>
                  <a:noFill/>
                </a:ln>
                <a:solidFill>
                  <a:schemeClr val="tx1"/>
                </a:solidFill>
                <a:effectLst/>
                <a:latin typeface="Arial" panose="020B0604020202020204" pitchFamily="34" charset="0"/>
              </a:rPr>
              <a:t>TACACS server</a:t>
            </a:r>
            <a:r>
              <a:rPr kumimoji="0" lang="en-US" altLang="en-US" sz="2400" b="0" i="0" u="none" strike="noStrike" cap="none" normalizeH="0" baseline="0" dirty="0" smtClean="0">
                <a:ln>
                  <a:noFill/>
                </a:ln>
                <a:solidFill>
                  <a:schemeClr val="tx1"/>
                </a:solidFill>
                <a:effectLst/>
                <a:latin typeface="Arial" panose="020B0604020202020204" pitchFamily="34" charset="0"/>
              </a:rPr>
              <a:t> validates the credentials.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0" i="0" u="none" strike="noStrike" cap="none" normalizeH="0" baseline="0" dirty="0" smtClean="0">
                <a:ln>
                  <a:noFill/>
                </a:ln>
                <a:solidFill>
                  <a:schemeClr val="tx1"/>
                </a:solidFill>
                <a:effectLst/>
                <a:latin typeface="Arial" panose="020B0604020202020204" pitchFamily="34" charset="0"/>
              </a:rPr>
              <a:t>Access is granted or denied based on policies defined on the server.</a:t>
            </a:r>
          </a:p>
          <a:p>
            <a:pPr marL="285750" lvl="0" indent="-285750" eaLnBrk="0" fontAlgn="base" hangingPunct="0">
              <a:lnSpc>
                <a:spcPct val="150000"/>
              </a:lnSpc>
              <a:spcBef>
                <a:spcPct val="0"/>
              </a:spcBef>
              <a:spcAft>
                <a:spcPct val="0"/>
              </a:spcAft>
              <a:buClrTx/>
              <a:buSzTx/>
              <a:buFont typeface="Wingdings" panose="05000000000000000000" pitchFamily="2" charset="2"/>
              <a:buChar char="q"/>
            </a:pPr>
            <a:r>
              <a:rPr lang="en-US" altLang="en-US" sz="2400" dirty="0">
                <a:solidFill>
                  <a:schemeClr val="tx1"/>
                </a:solidFill>
                <a:latin typeface="Arial" panose="020B0604020202020204" pitchFamily="34" charset="0"/>
              </a:rPr>
              <a:t>Enables AAA</a:t>
            </a:r>
            <a:r>
              <a:rPr lang="en-US" altLang="en-US" sz="2400" dirty="0" smtClean="0">
                <a:solidFill>
                  <a:schemeClr val="tx1"/>
                </a:solidFill>
                <a:latin typeface="Arial" panose="020B0604020202020204" pitchFamily="34" charset="0"/>
              </a:rPr>
              <a:t>.</a:t>
            </a:r>
          </a:p>
          <a:p>
            <a:pPr marL="285750" lvl="0" indent="-285750" eaLnBrk="0" fontAlgn="base" hangingPunct="0">
              <a:lnSpc>
                <a:spcPct val="150000"/>
              </a:lnSpc>
              <a:spcBef>
                <a:spcPct val="0"/>
              </a:spcBef>
              <a:spcAft>
                <a:spcPct val="0"/>
              </a:spcAft>
              <a:buClrTx/>
              <a:buSzTx/>
              <a:buFont typeface="Wingdings" panose="05000000000000000000" pitchFamily="2" charset="2"/>
              <a:buChar char="q"/>
            </a:pPr>
            <a:r>
              <a:rPr lang="en-US" altLang="en-US" sz="2400" dirty="0" smtClean="0">
                <a:solidFill>
                  <a:schemeClr val="tx1"/>
                </a:solidFill>
                <a:latin typeface="Arial" panose="020B0604020202020204" pitchFamily="34" charset="0"/>
              </a:rPr>
              <a:t>Uses </a:t>
            </a:r>
            <a:r>
              <a:rPr lang="en-US" altLang="en-US" sz="2400" dirty="0">
                <a:solidFill>
                  <a:schemeClr val="tx1"/>
                </a:solidFill>
                <a:latin typeface="Arial" panose="020B0604020202020204" pitchFamily="34" charset="0"/>
              </a:rPr>
              <a:t>TACACS+ server at IP </a:t>
            </a:r>
            <a:r>
              <a:rPr lang="en-US" altLang="en-US" sz="2400" dirty="0" smtClean="0">
                <a:solidFill>
                  <a:schemeClr val="tx1"/>
                </a:solidFill>
                <a:latin typeface="Arial" panose="020B0604020202020204" pitchFamily="34" charset="0"/>
              </a:rPr>
              <a:t>192.168.1.1 </a:t>
            </a:r>
            <a:r>
              <a:rPr lang="en-US" altLang="en-US" sz="2400" dirty="0">
                <a:solidFill>
                  <a:schemeClr val="tx1"/>
                </a:solidFill>
                <a:latin typeface="Arial" panose="020B0604020202020204" pitchFamily="34" charset="0"/>
              </a:rPr>
              <a:t>for login </a:t>
            </a:r>
            <a:r>
              <a:rPr lang="en-US" altLang="en-US" sz="2400" dirty="0" smtClean="0">
                <a:solidFill>
                  <a:schemeClr val="tx1"/>
                </a:solidFill>
                <a:latin typeface="Arial" panose="020B0604020202020204" pitchFamily="34" charset="0"/>
              </a:rPr>
              <a:t>authentication.</a:t>
            </a:r>
          </a:p>
          <a:p>
            <a:pPr marL="285750" lvl="0" indent="-285750" eaLnBrk="0" fontAlgn="base" hangingPunct="0">
              <a:lnSpc>
                <a:spcPct val="150000"/>
              </a:lnSpc>
              <a:spcBef>
                <a:spcPct val="0"/>
              </a:spcBef>
              <a:spcAft>
                <a:spcPct val="0"/>
              </a:spcAft>
              <a:buClrTx/>
              <a:buSzTx/>
              <a:buFont typeface="Wingdings" panose="05000000000000000000" pitchFamily="2" charset="2"/>
              <a:buChar char="q"/>
            </a:pPr>
            <a:r>
              <a:rPr lang="en-US" altLang="en-US" sz="2400" dirty="0" smtClean="0">
                <a:solidFill>
                  <a:schemeClr val="tx1"/>
                </a:solidFill>
                <a:latin typeface="Arial" panose="020B0604020202020204" pitchFamily="34" charset="0"/>
              </a:rPr>
              <a:t>Falls </a:t>
            </a:r>
            <a:r>
              <a:rPr lang="en-US" altLang="en-US" sz="2400" dirty="0">
                <a:solidFill>
                  <a:schemeClr val="tx1"/>
                </a:solidFill>
                <a:latin typeface="Arial" panose="020B0604020202020204" pitchFamily="34" charset="0"/>
              </a:rPr>
              <a:t>back to local login if TACACS server is unreachable.</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956721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80030" y="532263"/>
            <a:ext cx="8290446" cy="6185848"/>
          </a:xfrm>
        </p:spPr>
        <p:txBody>
          <a:bodyPr>
            <a:normAutofit fontScale="85000" lnSpcReduction="20000"/>
          </a:bodyPr>
          <a:lstStyle/>
          <a:p>
            <a:pPr algn="l"/>
            <a:r>
              <a:rPr lang="en-IN" b="1" dirty="0">
                <a:solidFill>
                  <a:schemeClr val="tx1"/>
                </a:solidFill>
              </a:rPr>
              <a:t>Router</a:t>
            </a:r>
          </a:p>
          <a:p>
            <a:pPr algn="l"/>
            <a:r>
              <a:rPr lang="en-IN" dirty="0">
                <a:solidFill>
                  <a:schemeClr val="tx1"/>
                </a:solidFill>
              </a:rPr>
              <a:t>#</a:t>
            </a:r>
            <a:r>
              <a:rPr lang="en-IN" dirty="0" err="1">
                <a:solidFill>
                  <a:schemeClr val="tx1"/>
                </a:solidFill>
              </a:rPr>
              <a:t>En</a:t>
            </a:r>
            <a:endParaRPr lang="en-IN" dirty="0">
              <a:solidFill>
                <a:schemeClr val="tx1"/>
              </a:solidFill>
            </a:endParaRPr>
          </a:p>
          <a:p>
            <a:pPr algn="l"/>
            <a:r>
              <a:rPr lang="en-IN" dirty="0">
                <a:solidFill>
                  <a:schemeClr val="tx1"/>
                </a:solidFill>
              </a:rPr>
              <a:t>#</a:t>
            </a:r>
            <a:r>
              <a:rPr lang="en-IN" dirty="0" err="1">
                <a:solidFill>
                  <a:schemeClr val="tx1"/>
                </a:solidFill>
              </a:rPr>
              <a:t>config</a:t>
            </a:r>
            <a:r>
              <a:rPr lang="en-IN" dirty="0">
                <a:solidFill>
                  <a:schemeClr val="tx1"/>
                </a:solidFill>
              </a:rPr>
              <a:t> t</a:t>
            </a:r>
          </a:p>
          <a:p>
            <a:pPr algn="l"/>
            <a:r>
              <a:rPr lang="en-IN" dirty="0">
                <a:solidFill>
                  <a:schemeClr val="tx1"/>
                </a:solidFill>
              </a:rPr>
              <a:t>#</a:t>
            </a:r>
            <a:r>
              <a:rPr lang="en-IN" dirty="0" err="1">
                <a:solidFill>
                  <a:schemeClr val="tx1"/>
                </a:solidFill>
              </a:rPr>
              <a:t>int</a:t>
            </a:r>
            <a:r>
              <a:rPr lang="en-IN" dirty="0">
                <a:solidFill>
                  <a:schemeClr val="tx1"/>
                </a:solidFill>
              </a:rPr>
              <a:t> gig0/0/0</a:t>
            </a:r>
          </a:p>
          <a:p>
            <a:pPr algn="l"/>
            <a:r>
              <a:rPr lang="en-IN" dirty="0">
                <a:solidFill>
                  <a:schemeClr val="tx1"/>
                </a:solidFill>
              </a:rPr>
              <a:t>#</a:t>
            </a:r>
            <a:r>
              <a:rPr lang="en-IN" dirty="0" err="1">
                <a:solidFill>
                  <a:schemeClr val="tx1"/>
                </a:solidFill>
              </a:rPr>
              <a:t>ip</a:t>
            </a:r>
            <a:r>
              <a:rPr lang="en-IN" dirty="0">
                <a:solidFill>
                  <a:schemeClr val="tx1"/>
                </a:solidFill>
              </a:rPr>
              <a:t> add 192.168.1.1 255.255.255.0</a:t>
            </a:r>
          </a:p>
          <a:p>
            <a:pPr algn="l"/>
            <a:r>
              <a:rPr lang="en-IN" dirty="0">
                <a:solidFill>
                  <a:schemeClr val="tx1"/>
                </a:solidFill>
              </a:rPr>
              <a:t>#no shut</a:t>
            </a:r>
          </a:p>
          <a:p>
            <a:pPr algn="l"/>
            <a:endParaRPr lang="en-IN" dirty="0">
              <a:solidFill>
                <a:schemeClr val="tx1"/>
              </a:solidFill>
            </a:endParaRPr>
          </a:p>
          <a:p>
            <a:pPr algn="l"/>
            <a:r>
              <a:rPr lang="en-IN" b="1" dirty="0">
                <a:solidFill>
                  <a:schemeClr val="tx1"/>
                </a:solidFill>
              </a:rPr>
              <a:t>server-&gt;Desktop</a:t>
            </a:r>
          </a:p>
          <a:p>
            <a:pPr algn="l"/>
            <a:r>
              <a:rPr lang="en-IN" dirty="0">
                <a:solidFill>
                  <a:schemeClr val="tx1"/>
                </a:solidFill>
              </a:rPr>
              <a:t>IP-192.168.1.2</a:t>
            </a:r>
          </a:p>
          <a:p>
            <a:pPr algn="l"/>
            <a:r>
              <a:rPr lang="en-IN" dirty="0">
                <a:solidFill>
                  <a:schemeClr val="tx1"/>
                </a:solidFill>
              </a:rPr>
              <a:t>SM-255.255.255.255.0</a:t>
            </a:r>
          </a:p>
          <a:p>
            <a:pPr algn="l"/>
            <a:r>
              <a:rPr lang="en-IN" dirty="0" smtClean="0">
                <a:solidFill>
                  <a:schemeClr val="tx1"/>
                </a:solidFill>
              </a:rPr>
              <a:t>Gate-192.168.1.1</a:t>
            </a:r>
          </a:p>
          <a:p>
            <a:pPr algn="l"/>
            <a:r>
              <a:rPr lang="en-US" dirty="0">
                <a:solidFill>
                  <a:schemeClr val="tx1"/>
                </a:solidFill>
              </a:rPr>
              <a:t>server-&gt;</a:t>
            </a:r>
            <a:r>
              <a:rPr lang="en-US" dirty="0" smtClean="0">
                <a:solidFill>
                  <a:schemeClr val="tx1"/>
                </a:solidFill>
              </a:rPr>
              <a:t>service </a:t>
            </a:r>
            <a:r>
              <a:rPr lang="en-US" dirty="0">
                <a:solidFill>
                  <a:schemeClr val="tx1"/>
                </a:solidFill>
              </a:rPr>
              <a:t>-&gt;DHCP-&gt;</a:t>
            </a:r>
          </a:p>
          <a:p>
            <a:pPr algn="l"/>
            <a:r>
              <a:rPr lang="en-US" dirty="0">
                <a:solidFill>
                  <a:schemeClr val="tx1"/>
                </a:solidFill>
              </a:rPr>
              <a:t>Pool Create - 192.168.1.1</a:t>
            </a:r>
          </a:p>
          <a:p>
            <a:pPr algn="l"/>
            <a:endParaRPr lang="en-US" dirty="0">
              <a:solidFill>
                <a:schemeClr val="tx1"/>
              </a:solidFill>
            </a:endParaRPr>
          </a:p>
          <a:p>
            <a:pPr algn="l"/>
            <a:r>
              <a:rPr lang="en-US" b="1" dirty="0">
                <a:solidFill>
                  <a:schemeClr val="tx1"/>
                </a:solidFill>
              </a:rPr>
              <a:t>All PC's-&gt;DHCP-&gt;On</a:t>
            </a:r>
            <a:endParaRPr lang="en-IN" b="1" dirty="0" smtClean="0">
              <a:solidFill>
                <a:schemeClr val="tx1"/>
              </a:solidFill>
            </a:endParaRPr>
          </a:p>
          <a:p>
            <a:pPr algn="l"/>
            <a:endParaRPr lang="en-US" dirty="0"/>
          </a:p>
          <a:p>
            <a:pPr algn="l"/>
            <a:endParaRPr lang="en-IN" dirty="0"/>
          </a:p>
        </p:txBody>
      </p:sp>
      <p:sp>
        <p:nvSpPr>
          <p:cNvPr id="4" name="Google Shape;1392;p168"/>
          <p:cNvSpPr/>
          <p:nvPr/>
        </p:nvSpPr>
        <p:spPr>
          <a:xfrm>
            <a:off x="5869675" y="2701121"/>
            <a:ext cx="762000" cy="6858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R1</a:t>
            </a:r>
            <a:endParaRPr sz="1800" dirty="0">
              <a:solidFill>
                <a:schemeClr val="lt1"/>
              </a:solidFill>
              <a:latin typeface="Calibri"/>
              <a:ea typeface="Calibri"/>
              <a:cs typeface="Calibri"/>
              <a:sym typeface="Calibri"/>
            </a:endParaRPr>
          </a:p>
        </p:txBody>
      </p:sp>
      <p:sp>
        <p:nvSpPr>
          <p:cNvPr id="5" name="Google Shape;1393;p168"/>
          <p:cNvSpPr/>
          <p:nvPr/>
        </p:nvSpPr>
        <p:spPr>
          <a:xfrm>
            <a:off x="5641075" y="4072721"/>
            <a:ext cx="11430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Switch</a:t>
            </a:r>
            <a:endParaRPr sz="1800" dirty="0">
              <a:solidFill>
                <a:schemeClr val="lt1"/>
              </a:solidFill>
              <a:latin typeface="Calibri"/>
              <a:ea typeface="Calibri"/>
              <a:cs typeface="Calibri"/>
              <a:sym typeface="Calibri"/>
            </a:endParaRPr>
          </a:p>
        </p:txBody>
      </p:sp>
      <p:sp>
        <p:nvSpPr>
          <p:cNvPr id="6" name="Google Shape;1394;p168"/>
          <p:cNvSpPr/>
          <p:nvPr/>
        </p:nvSpPr>
        <p:spPr>
          <a:xfrm>
            <a:off x="6784075" y="5139521"/>
            <a:ext cx="6858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395;p168"/>
          <p:cNvSpPr/>
          <p:nvPr/>
        </p:nvSpPr>
        <p:spPr>
          <a:xfrm>
            <a:off x="4879075" y="5063321"/>
            <a:ext cx="762000" cy="4572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 name="Google Shape;1396;p168"/>
          <p:cNvSpPr/>
          <p:nvPr/>
        </p:nvSpPr>
        <p:spPr>
          <a:xfrm>
            <a:off x="8279925" y="3729820"/>
            <a:ext cx="332949" cy="1633749"/>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smtClean="0">
                <a:solidFill>
                  <a:schemeClr val="lt1"/>
                </a:solidFill>
                <a:latin typeface="Calibri"/>
                <a:ea typeface="Calibri"/>
                <a:cs typeface="Calibri"/>
                <a:sym typeface="Calibri"/>
              </a:rPr>
              <a:t>SERVER</a:t>
            </a:r>
            <a:endParaRPr sz="1800" dirty="0">
              <a:solidFill>
                <a:schemeClr val="lt1"/>
              </a:solidFill>
              <a:latin typeface="Calibri"/>
              <a:ea typeface="Calibri"/>
              <a:cs typeface="Calibri"/>
              <a:sym typeface="Calibri"/>
            </a:endParaRPr>
          </a:p>
        </p:txBody>
      </p:sp>
      <p:cxnSp>
        <p:nvCxnSpPr>
          <p:cNvPr id="9" name="Google Shape;1397;p168"/>
          <p:cNvCxnSpPr>
            <a:stCxn id="5" idx="3"/>
          </p:cNvCxnSpPr>
          <p:nvPr/>
        </p:nvCxnSpPr>
        <p:spPr>
          <a:xfrm>
            <a:off x="6784075" y="4301321"/>
            <a:ext cx="1495851" cy="0"/>
          </a:xfrm>
          <a:prstGeom prst="straightConnector1">
            <a:avLst/>
          </a:prstGeom>
          <a:noFill/>
          <a:ln w="9525" cap="flat" cmpd="sng">
            <a:solidFill>
              <a:srgbClr val="4A7DBA"/>
            </a:solidFill>
            <a:prstDash val="solid"/>
            <a:round/>
            <a:headEnd type="none" w="sm" len="sm"/>
            <a:tailEnd type="stealth" w="med" len="med"/>
          </a:ln>
        </p:spPr>
      </p:cxnSp>
      <p:cxnSp>
        <p:nvCxnSpPr>
          <p:cNvPr id="10" name="Google Shape;1398;p168"/>
          <p:cNvCxnSpPr>
            <a:stCxn id="5" idx="0"/>
            <a:endCxn id="4" idx="4"/>
          </p:cNvCxnSpPr>
          <p:nvPr/>
        </p:nvCxnSpPr>
        <p:spPr>
          <a:xfrm flipV="1">
            <a:off x="6212575" y="3386921"/>
            <a:ext cx="38100" cy="685800"/>
          </a:xfrm>
          <a:prstGeom prst="straightConnector1">
            <a:avLst/>
          </a:prstGeom>
          <a:noFill/>
          <a:ln w="9525" cap="flat" cmpd="sng">
            <a:solidFill>
              <a:srgbClr val="4A7DBA"/>
            </a:solidFill>
            <a:prstDash val="solid"/>
            <a:round/>
            <a:headEnd type="none" w="sm" len="sm"/>
            <a:tailEnd type="stealth" w="med" len="med"/>
          </a:ln>
        </p:spPr>
      </p:cxnSp>
      <p:cxnSp>
        <p:nvCxnSpPr>
          <p:cNvPr id="11" name="Google Shape;1399;p168"/>
          <p:cNvCxnSpPr>
            <a:stCxn id="5" idx="2"/>
            <a:endCxn id="6" idx="0"/>
          </p:cNvCxnSpPr>
          <p:nvPr/>
        </p:nvCxnSpPr>
        <p:spPr>
          <a:xfrm>
            <a:off x="6212575" y="4529921"/>
            <a:ext cx="914400" cy="609600"/>
          </a:xfrm>
          <a:prstGeom prst="straightConnector1">
            <a:avLst/>
          </a:prstGeom>
          <a:noFill/>
          <a:ln w="9525" cap="flat" cmpd="sng">
            <a:solidFill>
              <a:srgbClr val="4A7DBA"/>
            </a:solidFill>
            <a:prstDash val="solid"/>
            <a:round/>
            <a:headEnd type="none" w="sm" len="sm"/>
            <a:tailEnd type="stealth" w="med" len="med"/>
          </a:ln>
        </p:spPr>
      </p:cxnSp>
      <p:cxnSp>
        <p:nvCxnSpPr>
          <p:cNvPr id="12" name="Google Shape;1400;p168"/>
          <p:cNvCxnSpPr>
            <a:stCxn id="7" idx="0"/>
            <a:endCxn id="5" idx="2"/>
          </p:cNvCxnSpPr>
          <p:nvPr/>
        </p:nvCxnSpPr>
        <p:spPr>
          <a:xfrm rot="10800000" flipH="1">
            <a:off x="5260075" y="4529921"/>
            <a:ext cx="952500" cy="533400"/>
          </a:xfrm>
          <a:prstGeom prst="straightConnector1">
            <a:avLst/>
          </a:prstGeom>
          <a:noFill/>
          <a:ln w="9525" cap="flat" cmpd="sng">
            <a:solidFill>
              <a:srgbClr val="4A7DBA"/>
            </a:solidFill>
            <a:prstDash val="solid"/>
            <a:round/>
            <a:headEnd type="none" w="sm" len="sm"/>
            <a:tailEnd type="stealth" w="med" len="med"/>
          </a:ln>
        </p:spPr>
      </p:cxnSp>
      <p:sp>
        <p:nvSpPr>
          <p:cNvPr id="19" name="TextBox 18"/>
          <p:cNvSpPr txBox="1"/>
          <p:nvPr/>
        </p:nvSpPr>
        <p:spPr>
          <a:xfrm>
            <a:off x="4893239" y="3575932"/>
            <a:ext cx="1128835" cy="307777"/>
          </a:xfrm>
          <a:prstGeom prst="rect">
            <a:avLst/>
          </a:prstGeom>
          <a:noFill/>
        </p:spPr>
        <p:txBody>
          <a:bodyPr wrap="none" rtlCol="0">
            <a:spAutoFit/>
          </a:bodyPr>
          <a:lstStyle/>
          <a:p>
            <a:r>
              <a:rPr lang="en-US" dirty="0" smtClean="0"/>
              <a:t>192.168.1.1</a:t>
            </a:r>
            <a:endParaRPr lang="en-IN" dirty="0"/>
          </a:p>
        </p:txBody>
      </p:sp>
      <p:sp>
        <p:nvSpPr>
          <p:cNvPr id="20" name="TextBox 19"/>
          <p:cNvSpPr txBox="1"/>
          <p:nvPr/>
        </p:nvSpPr>
        <p:spPr>
          <a:xfrm>
            <a:off x="7741641" y="3370780"/>
            <a:ext cx="1128835" cy="307777"/>
          </a:xfrm>
          <a:prstGeom prst="rect">
            <a:avLst/>
          </a:prstGeom>
          <a:noFill/>
        </p:spPr>
        <p:txBody>
          <a:bodyPr wrap="none" rtlCol="0">
            <a:spAutoFit/>
          </a:bodyPr>
          <a:lstStyle/>
          <a:p>
            <a:r>
              <a:rPr lang="en-US" dirty="0" smtClean="0"/>
              <a:t>192.168.1.2</a:t>
            </a:r>
            <a:endParaRPr lang="en-IN" dirty="0"/>
          </a:p>
        </p:txBody>
      </p:sp>
      <p:sp>
        <p:nvSpPr>
          <p:cNvPr id="22" name="TextBox 21"/>
          <p:cNvSpPr txBox="1"/>
          <p:nvPr/>
        </p:nvSpPr>
        <p:spPr>
          <a:xfrm>
            <a:off x="3365003" y="109183"/>
            <a:ext cx="1895071" cy="584775"/>
          </a:xfrm>
          <a:prstGeom prst="rect">
            <a:avLst/>
          </a:prstGeom>
          <a:noFill/>
        </p:spPr>
        <p:txBody>
          <a:bodyPr wrap="none" rtlCol="0">
            <a:spAutoFit/>
          </a:bodyPr>
          <a:lstStyle/>
          <a:p>
            <a:r>
              <a:rPr lang="en-US" sz="3200" b="1" dirty="0" smtClean="0"/>
              <a:t>TACACS</a:t>
            </a:r>
            <a:endParaRPr lang="en-IN" sz="3200" b="1" dirty="0"/>
          </a:p>
        </p:txBody>
      </p:sp>
    </p:spTree>
    <p:extLst>
      <p:ext uri="{BB962C8B-B14F-4D97-AF65-F5344CB8AC3E}">
        <p14:creationId xmlns:p14="http://schemas.microsoft.com/office/powerpoint/2010/main" val="1959608715"/>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a:bodyPr>
          <a:lstStyle/>
          <a:p>
            <a:pPr algn="l"/>
            <a:r>
              <a:rPr lang="en-US" b="1" dirty="0">
                <a:solidFill>
                  <a:schemeClr val="tx1"/>
                </a:solidFill>
              </a:rPr>
              <a:t>Server-&gt;Service-&gt;AAA-&gt;On Service</a:t>
            </a:r>
          </a:p>
          <a:p>
            <a:pPr algn="l"/>
            <a:r>
              <a:rPr lang="en-US" dirty="0">
                <a:solidFill>
                  <a:schemeClr val="tx1"/>
                </a:solidFill>
              </a:rPr>
              <a:t>Client Name : V1</a:t>
            </a:r>
          </a:p>
          <a:p>
            <a:pPr algn="l"/>
            <a:r>
              <a:rPr lang="en-US" dirty="0">
                <a:solidFill>
                  <a:schemeClr val="tx1"/>
                </a:solidFill>
              </a:rPr>
              <a:t>Client IP : 192.168.1.1</a:t>
            </a:r>
          </a:p>
          <a:p>
            <a:pPr algn="l"/>
            <a:r>
              <a:rPr lang="en-US" dirty="0">
                <a:solidFill>
                  <a:schemeClr val="tx1"/>
                </a:solidFill>
              </a:rPr>
              <a:t>Secret : 12345</a:t>
            </a:r>
          </a:p>
          <a:p>
            <a:pPr algn="l"/>
            <a:r>
              <a:rPr lang="en-US" dirty="0">
                <a:solidFill>
                  <a:schemeClr val="tx1"/>
                </a:solidFill>
              </a:rPr>
              <a:t>Server Type </a:t>
            </a:r>
            <a:r>
              <a:rPr lang="en-US" dirty="0" err="1">
                <a:solidFill>
                  <a:schemeClr val="tx1"/>
                </a:solidFill>
              </a:rPr>
              <a:t>Tacacs</a:t>
            </a:r>
            <a:r>
              <a:rPr lang="en-US" dirty="0">
                <a:solidFill>
                  <a:schemeClr val="tx1"/>
                </a:solidFill>
              </a:rPr>
              <a:t>+ ---&gt; ADD</a:t>
            </a:r>
          </a:p>
          <a:p>
            <a:pPr algn="l"/>
            <a:endParaRPr lang="en-US" dirty="0">
              <a:solidFill>
                <a:schemeClr val="tx1"/>
              </a:solidFill>
            </a:endParaRPr>
          </a:p>
          <a:p>
            <a:pPr algn="l"/>
            <a:r>
              <a:rPr lang="en-US" dirty="0">
                <a:solidFill>
                  <a:schemeClr val="tx1"/>
                </a:solidFill>
              </a:rPr>
              <a:t>User Name : admin</a:t>
            </a:r>
          </a:p>
          <a:p>
            <a:pPr algn="l"/>
            <a:r>
              <a:rPr lang="en-US" dirty="0">
                <a:solidFill>
                  <a:schemeClr val="tx1"/>
                </a:solidFill>
              </a:rPr>
              <a:t>PWD </a:t>
            </a:r>
            <a:r>
              <a:rPr lang="en-US">
                <a:solidFill>
                  <a:schemeClr val="tx1"/>
                </a:solidFill>
              </a:rPr>
              <a:t>: </a:t>
            </a:r>
            <a:r>
              <a:rPr lang="en-US" smtClean="0">
                <a:solidFill>
                  <a:schemeClr val="tx1"/>
                </a:solidFill>
              </a:rPr>
              <a:t>admin123  </a:t>
            </a:r>
            <a:r>
              <a:rPr lang="en-US" dirty="0">
                <a:solidFill>
                  <a:schemeClr val="tx1"/>
                </a:solidFill>
              </a:rPr>
              <a:t>---&gt; ADD</a:t>
            </a:r>
          </a:p>
          <a:p>
            <a:pPr algn="l"/>
            <a:endParaRPr lang="en-IN" dirty="0">
              <a:solidFill>
                <a:schemeClr val="tx1"/>
              </a:solidFill>
            </a:endParaRPr>
          </a:p>
        </p:txBody>
      </p:sp>
    </p:spTree>
    <p:extLst>
      <p:ext uri="{BB962C8B-B14F-4D97-AF65-F5344CB8AC3E}">
        <p14:creationId xmlns:p14="http://schemas.microsoft.com/office/powerpoint/2010/main" val="341229193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lnSpcReduction="10000"/>
          </a:bodyPr>
          <a:lstStyle/>
          <a:p>
            <a:pPr algn="l"/>
            <a:r>
              <a:rPr lang="en-IN" b="1" dirty="0">
                <a:solidFill>
                  <a:schemeClr val="tx1"/>
                </a:solidFill>
              </a:rPr>
              <a:t>Router-&gt;CLI</a:t>
            </a:r>
          </a:p>
          <a:p>
            <a:pPr algn="l"/>
            <a:r>
              <a:rPr lang="en-IN" dirty="0">
                <a:solidFill>
                  <a:schemeClr val="tx1"/>
                </a:solidFill>
              </a:rPr>
              <a:t>#</a:t>
            </a:r>
            <a:r>
              <a:rPr lang="en-IN" dirty="0" err="1">
                <a:solidFill>
                  <a:schemeClr val="tx1"/>
                </a:solidFill>
              </a:rPr>
              <a:t>En</a:t>
            </a:r>
            <a:endParaRPr lang="en-IN" dirty="0">
              <a:solidFill>
                <a:schemeClr val="tx1"/>
              </a:solidFill>
            </a:endParaRPr>
          </a:p>
          <a:p>
            <a:pPr algn="l"/>
            <a:r>
              <a:rPr lang="en-IN" dirty="0">
                <a:solidFill>
                  <a:schemeClr val="tx1"/>
                </a:solidFill>
              </a:rPr>
              <a:t>#</a:t>
            </a:r>
            <a:r>
              <a:rPr lang="en-IN" dirty="0" err="1">
                <a:solidFill>
                  <a:schemeClr val="tx1"/>
                </a:solidFill>
              </a:rPr>
              <a:t>config</a:t>
            </a:r>
            <a:r>
              <a:rPr lang="en-IN" dirty="0">
                <a:solidFill>
                  <a:schemeClr val="tx1"/>
                </a:solidFill>
              </a:rPr>
              <a:t> t</a:t>
            </a:r>
          </a:p>
          <a:p>
            <a:pPr algn="l"/>
            <a:r>
              <a:rPr lang="en-IN" dirty="0">
                <a:solidFill>
                  <a:schemeClr val="tx1"/>
                </a:solidFill>
              </a:rPr>
              <a:t>#</a:t>
            </a:r>
            <a:r>
              <a:rPr lang="en-IN" dirty="0" err="1">
                <a:solidFill>
                  <a:schemeClr val="tx1"/>
                </a:solidFill>
              </a:rPr>
              <a:t>tacacs</a:t>
            </a:r>
            <a:r>
              <a:rPr lang="en-IN" dirty="0">
                <a:solidFill>
                  <a:schemeClr val="tx1"/>
                </a:solidFill>
              </a:rPr>
              <a:t>-server host 192.168.1.2</a:t>
            </a:r>
          </a:p>
          <a:p>
            <a:pPr algn="l"/>
            <a:r>
              <a:rPr lang="en-IN" dirty="0">
                <a:solidFill>
                  <a:schemeClr val="tx1"/>
                </a:solidFill>
              </a:rPr>
              <a:t>#</a:t>
            </a:r>
            <a:r>
              <a:rPr lang="en-IN" dirty="0" err="1">
                <a:solidFill>
                  <a:schemeClr val="tx1"/>
                </a:solidFill>
              </a:rPr>
              <a:t>tacacs</a:t>
            </a:r>
            <a:r>
              <a:rPr lang="en-IN" dirty="0">
                <a:solidFill>
                  <a:schemeClr val="tx1"/>
                </a:solidFill>
              </a:rPr>
              <a:t>-server key 12345</a:t>
            </a:r>
          </a:p>
          <a:p>
            <a:pPr algn="l"/>
            <a:r>
              <a:rPr lang="en-IN" dirty="0">
                <a:solidFill>
                  <a:schemeClr val="tx1"/>
                </a:solidFill>
              </a:rPr>
              <a:t>#</a:t>
            </a:r>
            <a:r>
              <a:rPr lang="en-IN" dirty="0" err="1">
                <a:solidFill>
                  <a:schemeClr val="tx1"/>
                </a:solidFill>
              </a:rPr>
              <a:t>aaa</a:t>
            </a:r>
            <a:r>
              <a:rPr lang="en-IN" dirty="0">
                <a:solidFill>
                  <a:schemeClr val="tx1"/>
                </a:solidFill>
              </a:rPr>
              <a:t> new-model</a:t>
            </a:r>
          </a:p>
          <a:p>
            <a:pPr algn="l"/>
            <a:r>
              <a:rPr lang="en-IN" dirty="0">
                <a:solidFill>
                  <a:schemeClr val="tx1"/>
                </a:solidFill>
              </a:rPr>
              <a:t>#</a:t>
            </a:r>
            <a:r>
              <a:rPr lang="en-IN" dirty="0" err="1">
                <a:solidFill>
                  <a:schemeClr val="tx1"/>
                </a:solidFill>
              </a:rPr>
              <a:t>aaa</a:t>
            </a:r>
            <a:r>
              <a:rPr lang="en-IN" dirty="0">
                <a:solidFill>
                  <a:schemeClr val="tx1"/>
                </a:solidFill>
              </a:rPr>
              <a:t> authentication login default group </a:t>
            </a:r>
            <a:r>
              <a:rPr lang="en-IN" dirty="0" err="1">
                <a:solidFill>
                  <a:schemeClr val="tx1"/>
                </a:solidFill>
              </a:rPr>
              <a:t>tacacs</a:t>
            </a:r>
            <a:r>
              <a:rPr lang="en-IN" dirty="0">
                <a:solidFill>
                  <a:schemeClr val="tx1"/>
                </a:solidFill>
              </a:rPr>
              <a:t> local</a:t>
            </a:r>
          </a:p>
          <a:p>
            <a:pPr algn="l"/>
            <a:r>
              <a:rPr lang="en-IN" dirty="0">
                <a:solidFill>
                  <a:schemeClr val="tx1"/>
                </a:solidFill>
              </a:rPr>
              <a:t>#line </a:t>
            </a:r>
            <a:r>
              <a:rPr lang="en-IN" dirty="0" err="1">
                <a:solidFill>
                  <a:schemeClr val="tx1"/>
                </a:solidFill>
              </a:rPr>
              <a:t>vty</a:t>
            </a:r>
            <a:r>
              <a:rPr lang="en-IN" dirty="0">
                <a:solidFill>
                  <a:schemeClr val="tx1"/>
                </a:solidFill>
              </a:rPr>
              <a:t> 0 3</a:t>
            </a:r>
          </a:p>
          <a:p>
            <a:pPr algn="l"/>
            <a:r>
              <a:rPr lang="en-IN" dirty="0">
                <a:solidFill>
                  <a:schemeClr val="tx1"/>
                </a:solidFill>
              </a:rPr>
              <a:t>#login authentication </a:t>
            </a:r>
            <a:r>
              <a:rPr lang="en-IN" dirty="0" smtClean="0">
                <a:solidFill>
                  <a:schemeClr val="tx1"/>
                </a:solidFill>
              </a:rPr>
              <a:t>default</a:t>
            </a:r>
          </a:p>
          <a:p>
            <a:pPr algn="l"/>
            <a:r>
              <a:rPr lang="en-US" b="1" dirty="0" smtClean="0">
                <a:solidFill>
                  <a:schemeClr val="tx1"/>
                </a:solidFill>
              </a:rPr>
              <a:t>PC-&gt;CMD-&gt;telnet 192.168.1.1</a:t>
            </a:r>
            <a:endParaRPr lang="en-IN" b="1" dirty="0">
              <a:solidFill>
                <a:schemeClr val="tx1"/>
              </a:solidFill>
            </a:endParaRPr>
          </a:p>
        </p:txBody>
      </p:sp>
    </p:spTree>
    <p:extLst>
      <p:ext uri="{BB962C8B-B14F-4D97-AF65-F5344CB8AC3E}">
        <p14:creationId xmlns:p14="http://schemas.microsoft.com/office/powerpoint/2010/main" val="3839670157"/>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fontScale="92500"/>
          </a:bodyPr>
          <a:lstStyle/>
          <a:p>
            <a:pPr algn="l"/>
            <a:r>
              <a:rPr lang="en-US" b="1" dirty="0">
                <a:solidFill>
                  <a:schemeClr val="tx1"/>
                </a:solidFill>
              </a:rPr>
              <a:t>RADIUS</a:t>
            </a:r>
            <a:r>
              <a:rPr lang="en-US" dirty="0">
                <a:solidFill>
                  <a:schemeClr val="tx1"/>
                </a:solidFill>
              </a:rPr>
              <a:t> stands for </a:t>
            </a:r>
            <a:r>
              <a:rPr lang="en-US" b="1" dirty="0">
                <a:solidFill>
                  <a:schemeClr val="tx1"/>
                </a:solidFill>
              </a:rPr>
              <a:t>Remote Authentication </a:t>
            </a:r>
            <a:r>
              <a:rPr lang="en-US" b="1" dirty="0" smtClean="0">
                <a:solidFill>
                  <a:schemeClr val="tx1"/>
                </a:solidFill>
              </a:rPr>
              <a:t>Dial-In</a:t>
            </a:r>
          </a:p>
          <a:p>
            <a:pPr marL="25400" indent="0" algn="l"/>
            <a:r>
              <a:rPr lang="en-US" b="1" dirty="0" smtClean="0">
                <a:solidFill>
                  <a:schemeClr val="tx1"/>
                </a:solidFill>
              </a:rPr>
              <a:t>User </a:t>
            </a:r>
            <a:r>
              <a:rPr lang="en-US" b="1" dirty="0">
                <a:solidFill>
                  <a:schemeClr val="tx1"/>
                </a:solidFill>
              </a:rPr>
              <a:t>Service</a:t>
            </a:r>
            <a:r>
              <a:rPr lang="en-US" dirty="0">
                <a:solidFill>
                  <a:schemeClr val="tx1"/>
                </a:solidFill>
              </a:rPr>
              <a:t>.</a:t>
            </a:r>
            <a:br>
              <a:rPr lang="en-US" dirty="0">
                <a:solidFill>
                  <a:schemeClr val="tx1"/>
                </a:solidFill>
              </a:rPr>
            </a:br>
            <a:r>
              <a:rPr lang="en-US" dirty="0">
                <a:solidFill>
                  <a:schemeClr val="tx1"/>
                </a:solidFill>
              </a:rPr>
              <a:t>It is a </a:t>
            </a:r>
            <a:r>
              <a:rPr lang="en-US" b="1" dirty="0">
                <a:solidFill>
                  <a:schemeClr val="tx1"/>
                </a:solidFill>
              </a:rPr>
              <a:t>client–server protocol</a:t>
            </a:r>
            <a:r>
              <a:rPr lang="en-US" dirty="0">
                <a:solidFill>
                  <a:schemeClr val="tx1"/>
                </a:solidFill>
              </a:rPr>
              <a:t> used to </a:t>
            </a:r>
            <a:r>
              <a:rPr lang="en-US" b="1" dirty="0">
                <a:solidFill>
                  <a:schemeClr val="tx1"/>
                </a:solidFill>
              </a:rPr>
              <a:t>authenticate, authorize, and account</a:t>
            </a:r>
            <a:r>
              <a:rPr lang="en-US" dirty="0">
                <a:solidFill>
                  <a:schemeClr val="tx1"/>
                </a:solidFill>
              </a:rPr>
              <a:t> for users who connect to and use a network service.</a:t>
            </a:r>
          </a:p>
          <a:p>
            <a:pPr marL="482600" indent="-457200" algn="l">
              <a:buFont typeface="Wingdings" panose="05000000000000000000" pitchFamily="2" charset="2"/>
              <a:buChar char="q"/>
            </a:pPr>
            <a:r>
              <a:rPr lang="en-US" dirty="0">
                <a:solidFill>
                  <a:schemeClr val="tx1"/>
                </a:solidFill>
              </a:rPr>
              <a:t>Originally designed for dial-up networks, RADIUS is now widely used for:</a:t>
            </a:r>
          </a:p>
          <a:p>
            <a:pPr marL="482600" indent="-457200" algn="l">
              <a:buFont typeface="Wingdings" panose="05000000000000000000" pitchFamily="2" charset="2"/>
              <a:buChar char="§"/>
            </a:pPr>
            <a:r>
              <a:rPr lang="en-US" dirty="0">
                <a:solidFill>
                  <a:schemeClr val="tx1"/>
                </a:solidFill>
              </a:rPr>
              <a:t>Wi-Fi authentication</a:t>
            </a:r>
          </a:p>
          <a:p>
            <a:pPr marL="482600" indent="-457200" algn="l">
              <a:buFont typeface="Wingdings" panose="05000000000000000000" pitchFamily="2" charset="2"/>
              <a:buChar char="§"/>
            </a:pPr>
            <a:r>
              <a:rPr lang="en-US" dirty="0">
                <a:solidFill>
                  <a:schemeClr val="tx1"/>
                </a:solidFill>
              </a:rPr>
              <a:t>VPN access</a:t>
            </a:r>
          </a:p>
          <a:p>
            <a:pPr marL="482600" indent="-457200" algn="l">
              <a:buFont typeface="Wingdings" panose="05000000000000000000" pitchFamily="2" charset="2"/>
              <a:buChar char="§"/>
            </a:pPr>
            <a:r>
              <a:rPr lang="en-US" dirty="0">
                <a:solidFill>
                  <a:schemeClr val="tx1"/>
                </a:solidFill>
              </a:rPr>
              <a:t>Network device logins (routers, switches, firewalls)</a:t>
            </a:r>
          </a:p>
          <a:p>
            <a:pPr marL="482600" indent="-457200" algn="l">
              <a:buFont typeface="Wingdings" panose="05000000000000000000" pitchFamily="2" charset="2"/>
              <a:buChar char="§"/>
            </a:pPr>
            <a:r>
              <a:rPr lang="en-US" dirty="0">
                <a:solidFill>
                  <a:schemeClr val="tx1"/>
                </a:solidFill>
              </a:rPr>
              <a:t>Enterprise 802.1X authentication</a:t>
            </a:r>
          </a:p>
          <a:p>
            <a:pPr algn="l"/>
            <a:endParaRPr lang="en-IN" dirty="0">
              <a:solidFill>
                <a:schemeClr val="tx1"/>
              </a:solidFill>
            </a:endParaRPr>
          </a:p>
        </p:txBody>
      </p:sp>
    </p:spTree>
    <p:extLst>
      <p:ext uri="{BB962C8B-B14F-4D97-AF65-F5344CB8AC3E}">
        <p14:creationId xmlns:p14="http://schemas.microsoft.com/office/powerpoint/2010/main" val="114811193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a:bodyPr>
          <a:lstStyle/>
          <a:p>
            <a:pPr algn="l"/>
            <a:r>
              <a:rPr lang="en-US" sz="3000" b="1" dirty="0">
                <a:solidFill>
                  <a:schemeClr val="tx1"/>
                </a:solidFill>
              </a:rPr>
              <a:t>1. Centralized Authentication</a:t>
            </a:r>
          </a:p>
          <a:p>
            <a:pPr algn="l"/>
            <a:r>
              <a:rPr lang="en-US" sz="3000" dirty="0">
                <a:solidFill>
                  <a:schemeClr val="tx1"/>
                </a:solidFill>
              </a:rPr>
              <a:t>Instead of storing user credentials locally on each access point or switch, all devices use a </a:t>
            </a:r>
            <a:r>
              <a:rPr lang="en-US" sz="3000" b="1" dirty="0">
                <a:solidFill>
                  <a:schemeClr val="tx1"/>
                </a:solidFill>
              </a:rPr>
              <a:t>central RADIUS server</a:t>
            </a:r>
            <a:r>
              <a:rPr lang="en-US" sz="3000" dirty="0">
                <a:solidFill>
                  <a:schemeClr val="tx1"/>
                </a:solidFill>
              </a:rPr>
              <a:t> (like Microsoft NPS, Cisco ISE, or </a:t>
            </a:r>
            <a:r>
              <a:rPr lang="en-US" sz="3000" dirty="0" err="1">
                <a:solidFill>
                  <a:schemeClr val="tx1"/>
                </a:solidFill>
              </a:rPr>
              <a:t>FreeRADIUS</a:t>
            </a:r>
            <a:r>
              <a:rPr lang="en-US" sz="3000" dirty="0">
                <a:solidFill>
                  <a:schemeClr val="tx1"/>
                </a:solidFill>
              </a:rPr>
              <a:t>).</a:t>
            </a:r>
          </a:p>
          <a:p>
            <a:pPr algn="l"/>
            <a:r>
              <a:rPr lang="en-US" sz="3000" b="1" dirty="0">
                <a:solidFill>
                  <a:schemeClr val="tx1"/>
                </a:solidFill>
              </a:rPr>
              <a:t>2. Secure Network Access (802.1X)</a:t>
            </a:r>
          </a:p>
          <a:p>
            <a:pPr algn="l"/>
            <a:r>
              <a:rPr lang="en-US" sz="3000" dirty="0" smtClean="0">
                <a:solidFill>
                  <a:schemeClr val="tx1"/>
                </a:solidFill>
              </a:rPr>
              <a:t>     RADIUS </a:t>
            </a:r>
            <a:r>
              <a:rPr lang="en-US" sz="3000" dirty="0">
                <a:solidFill>
                  <a:schemeClr val="tx1"/>
                </a:solidFill>
              </a:rPr>
              <a:t>is commonly used in </a:t>
            </a:r>
            <a:r>
              <a:rPr lang="en-US" sz="3000" b="1" dirty="0">
                <a:solidFill>
                  <a:schemeClr val="tx1"/>
                </a:solidFill>
              </a:rPr>
              <a:t>enterprise </a:t>
            </a:r>
            <a:r>
              <a:rPr lang="en-US" sz="3000" b="1" dirty="0" smtClean="0">
                <a:solidFill>
                  <a:schemeClr val="tx1"/>
                </a:solidFill>
              </a:rPr>
              <a:t>Wi-Fi</a:t>
            </a:r>
            <a:r>
              <a:rPr lang="en-US" sz="3000" dirty="0" smtClean="0">
                <a:solidFill>
                  <a:schemeClr val="tx1"/>
                </a:solidFill>
              </a:rPr>
              <a:t> and </a:t>
            </a:r>
            <a:r>
              <a:rPr lang="en-US" sz="3000" b="1" dirty="0">
                <a:solidFill>
                  <a:schemeClr val="tx1"/>
                </a:solidFill>
              </a:rPr>
              <a:t>wired networks</a:t>
            </a:r>
            <a:r>
              <a:rPr lang="en-US" sz="3000" dirty="0">
                <a:solidFill>
                  <a:schemeClr val="tx1"/>
                </a:solidFill>
              </a:rPr>
              <a:t> with </a:t>
            </a:r>
            <a:r>
              <a:rPr lang="en-US" sz="3000" b="1" dirty="0">
                <a:solidFill>
                  <a:schemeClr val="tx1"/>
                </a:solidFill>
              </a:rPr>
              <a:t>802.1X authentication</a:t>
            </a:r>
            <a:r>
              <a:rPr lang="en-US" sz="3000" dirty="0">
                <a:solidFill>
                  <a:schemeClr val="tx1"/>
                </a:solidFill>
              </a:rPr>
              <a:t>.</a:t>
            </a:r>
          </a:p>
          <a:p>
            <a:pPr algn="l"/>
            <a:r>
              <a:rPr lang="en-US" sz="3000" b="1" dirty="0" smtClean="0">
                <a:solidFill>
                  <a:schemeClr val="tx1"/>
                </a:solidFill>
              </a:rPr>
              <a:t>Benefit</a:t>
            </a:r>
            <a:r>
              <a:rPr lang="en-US" sz="3000" b="1" dirty="0">
                <a:solidFill>
                  <a:schemeClr val="tx1"/>
                </a:solidFill>
              </a:rPr>
              <a:t>:</a:t>
            </a:r>
            <a:r>
              <a:rPr lang="en-US" sz="3000" dirty="0">
                <a:solidFill>
                  <a:schemeClr val="tx1"/>
                </a:solidFill>
              </a:rPr>
              <a:t> Ensures only authorized users and </a:t>
            </a:r>
            <a:r>
              <a:rPr lang="en-US" sz="3000" dirty="0" smtClean="0">
                <a:solidFill>
                  <a:schemeClr val="tx1"/>
                </a:solidFill>
              </a:rPr>
              <a:t>  devices </a:t>
            </a:r>
            <a:r>
              <a:rPr lang="en-US" sz="3000" dirty="0">
                <a:solidFill>
                  <a:schemeClr val="tx1"/>
                </a:solidFill>
              </a:rPr>
              <a:t>can connect to your network (using certificates or credentials).</a:t>
            </a:r>
          </a:p>
          <a:p>
            <a:pPr algn="l"/>
            <a:endParaRPr lang="en-IN" dirty="0">
              <a:solidFill>
                <a:schemeClr val="tx1"/>
              </a:solidFill>
            </a:endParaRPr>
          </a:p>
        </p:txBody>
      </p:sp>
    </p:spTree>
    <p:extLst>
      <p:ext uri="{BB962C8B-B14F-4D97-AF65-F5344CB8AC3E}">
        <p14:creationId xmlns:p14="http://schemas.microsoft.com/office/powerpoint/2010/main" val="284637550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a:bodyPr>
          <a:lstStyle/>
          <a:p>
            <a:pPr algn="l"/>
            <a:r>
              <a:rPr lang="en-US" sz="3000" b="1" dirty="0">
                <a:solidFill>
                  <a:schemeClr val="tx1"/>
                </a:solidFill>
              </a:rPr>
              <a:t>1. Centralized Authentication</a:t>
            </a:r>
          </a:p>
          <a:p>
            <a:pPr algn="l"/>
            <a:r>
              <a:rPr lang="en-US" sz="3000" dirty="0">
                <a:solidFill>
                  <a:schemeClr val="tx1"/>
                </a:solidFill>
              </a:rPr>
              <a:t>Instead of storing user credentials locally on each access point or switch, all devices use a </a:t>
            </a:r>
            <a:r>
              <a:rPr lang="en-US" sz="3000" b="1" dirty="0">
                <a:solidFill>
                  <a:schemeClr val="tx1"/>
                </a:solidFill>
              </a:rPr>
              <a:t>central RADIUS server</a:t>
            </a:r>
            <a:r>
              <a:rPr lang="en-US" sz="3000" dirty="0">
                <a:solidFill>
                  <a:schemeClr val="tx1"/>
                </a:solidFill>
              </a:rPr>
              <a:t> (like Microsoft NPS, Cisco ISE, or </a:t>
            </a:r>
            <a:r>
              <a:rPr lang="en-US" sz="3000" dirty="0" err="1">
                <a:solidFill>
                  <a:schemeClr val="tx1"/>
                </a:solidFill>
              </a:rPr>
              <a:t>FreeRADIUS</a:t>
            </a:r>
            <a:r>
              <a:rPr lang="en-US" sz="3000" dirty="0">
                <a:solidFill>
                  <a:schemeClr val="tx1"/>
                </a:solidFill>
              </a:rPr>
              <a:t>).</a:t>
            </a:r>
          </a:p>
          <a:p>
            <a:pPr algn="l"/>
            <a:r>
              <a:rPr lang="en-US" sz="3000" b="1" dirty="0">
                <a:solidFill>
                  <a:schemeClr val="tx1"/>
                </a:solidFill>
              </a:rPr>
              <a:t>2. Secure Network Access (802.1X)</a:t>
            </a:r>
          </a:p>
          <a:p>
            <a:pPr algn="l"/>
            <a:r>
              <a:rPr lang="en-US" sz="3000" dirty="0" smtClean="0">
                <a:solidFill>
                  <a:schemeClr val="tx1"/>
                </a:solidFill>
              </a:rPr>
              <a:t>     RADIUS </a:t>
            </a:r>
            <a:r>
              <a:rPr lang="en-US" sz="3000" dirty="0">
                <a:solidFill>
                  <a:schemeClr val="tx1"/>
                </a:solidFill>
              </a:rPr>
              <a:t>is commonly used in </a:t>
            </a:r>
            <a:r>
              <a:rPr lang="en-US" sz="3000" b="1" dirty="0">
                <a:solidFill>
                  <a:schemeClr val="tx1"/>
                </a:solidFill>
              </a:rPr>
              <a:t>enterprise </a:t>
            </a:r>
            <a:r>
              <a:rPr lang="en-US" sz="3000" b="1" dirty="0" smtClean="0">
                <a:solidFill>
                  <a:schemeClr val="tx1"/>
                </a:solidFill>
              </a:rPr>
              <a:t>Wi-Fi</a:t>
            </a:r>
            <a:r>
              <a:rPr lang="en-US" sz="3000" dirty="0" smtClean="0">
                <a:solidFill>
                  <a:schemeClr val="tx1"/>
                </a:solidFill>
              </a:rPr>
              <a:t> and </a:t>
            </a:r>
            <a:r>
              <a:rPr lang="en-US" sz="3000" b="1" dirty="0">
                <a:solidFill>
                  <a:schemeClr val="tx1"/>
                </a:solidFill>
              </a:rPr>
              <a:t>wired networks</a:t>
            </a:r>
            <a:r>
              <a:rPr lang="en-US" sz="3000" dirty="0">
                <a:solidFill>
                  <a:schemeClr val="tx1"/>
                </a:solidFill>
              </a:rPr>
              <a:t> with </a:t>
            </a:r>
            <a:r>
              <a:rPr lang="en-US" sz="3000" b="1" dirty="0">
                <a:solidFill>
                  <a:schemeClr val="tx1"/>
                </a:solidFill>
              </a:rPr>
              <a:t>802.1X authentication</a:t>
            </a:r>
            <a:r>
              <a:rPr lang="en-US" sz="3000" dirty="0">
                <a:solidFill>
                  <a:schemeClr val="tx1"/>
                </a:solidFill>
              </a:rPr>
              <a:t>.</a:t>
            </a:r>
          </a:p>
          <a:p>
            <a:pPr algn="l"/>
            <a:r>
              <a:rPr lang="en-US" sz="3000" b="1" dirty="0" smtClean="0">
                <a:solidFill>
                  <a:schemeClr val="tx1"/>
                </a:solidFill>
              </a:rPr>
              <a:t>Benefit</a:t>
            </a:r>
            <a:r>
              <a:rPr lang="en-US" sz="3000" b="1" dirty="0">
                <a:solidFill>
                  <a:schemeClr val="tx1"/>
                </a:solidFill>
              </a:rPr>
              <a:t>:</a:t>
            </a:r>
            <a:r>
              <a:rPr lang="en-US" sz="3000" dirty="0">
                <a:solidFill>
                  <a:schemeClr val="tx1"/>
                </a:solidFill>
              </a:rPr>
              <a:t> Ensures only authorized users and </a:t>
            </a:r>
            <a:r>
              <a:rPr lang="en-US" sz="3000" dirty="0" smtClean="0">
                <a:solidFill>
                  <a:schemeClr val="tx1"/>
                </a:solidFill>
              </a:rPr>
              <a:t>  devices </a:t>
            </a:r>
            <a:r>
              <a:rPr lang="en-US" sz="3000" dirty="0">
                <a:solidFill>
                  <a:schemeClr val="tx1"/>
                </a:solidFill>
              </a:rPr>
              <a:t>can connect to your network (using certificates or credentials).</a:t>
            </a:r>
          </a:p>
          <a:p>
            <a:pPr algn="l"/>
            <a:endParaRPr lang="en-IN" dirty="0">
              <a:solidFill>
                <a:schemeClr val="tx1"/>
              </a:solidFill>
            </a:endParaRPr>
          </a:p>
        </p:txBody>
      </p:sp>
    </p:spTree>
    <p:extLst>
      <p:ext uri="{BB962C8B-B14F-4D97-AF65-F5344CB8AC3E}">
        <p14:creationId xmlns:p14="http://schemas.microsoft.com/office/powerpoint/2010/main" val="161680255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a:bodyPr>
          <a:lstStyle/>
          <a:p>
            <a:pPr algn="l"/>
            <a:r>
              <a:rPr lang="en-US" sz="3600" b="1" dirty="0" smtClean="0">
                <a:solidFill>
                  <a:schemeClr val="tx1"/>
                </a:solidFill>
              </a:rPr>
              <a:t>4</a:t>
            </a:r>
            <a:r>
              <a:rPr lang="en-US" sz="3600" b="1" dirty="0">
                <a:solidFill>
                  <a:schemeClr val="tx1"/>
                </a:solidFill>
              </a:rPr>
              <a:t>. Accounting and Auditing</a:t>
            </a:r>
          </a:p>
          <a:p>
            <a:pPr algn="l"/>
            <a:r>
              <a:rPr lang="en-US" dirty="0">
                <a:solidFill>
                  <a:schemeClr val="tx1"/>
                </a:solidFill>
              </a:rPr>
              <a:t>RADIUS tracks:</a:t>
            </a:r>
          </a:p>
          <a:p>
            <a:pPr algn="l"/>
            <a:r>
              <a:rPr lang="en-US" dirty="0">
                <a:solidFill>
                  <a:schemeClr val="tx1"/>
                </a:solidFill>
              </a:rPr>
              <a:t>Who connected</a:t>
            </a:r>
          </a:p>
          <a:p>
            <a:pPr algn="l"/>
            <a:r>
              <a:rPr lang="en-US" dirty="0">
                <a:solidFill>
                  <a:schemeClr val="tx1"/>
                </a:solidFill>
              </a:rPr>
              <a:t>When they connected</a:t>
            </a:r>
          </a:p>
          <a:p>
            <a:pPr algn="l"/>
            <a:r>
              <a:rPr lang="en-US" dirty="0">
                <a:solidFill>
                  <a:schemeClr val="tx1"/>
                </a:solidFill>
              </a:rPr>
              <a:t>How long they stayed</a:t>
            </a:r>
          </a:p>
          <a:p>
            <a:pPr algn="l"/>
            <a:r>
              <a:rPr lang="en-US" dirty="0">
                <a:solidFill>
                  <a:schemeClr val="tx1"/>
                </a:solidFill>
              </a:rPr>
              <a:t>How much data they used</a:t>
            </a:r>
          </a:p>
          <a:p>
            <a:pPr algn="l"/>
            <a:r>
              <a:rPr lang="en-US" b="1" dirty="0" smtClean="0">
                <a:solidFill>
                  <a:schemeClr val="tx1"/>
                </a:solidFill>
              </a:rPr>
              <a:t>Benefit</a:t>
            </a:r>
            <a:r>
              <a:rPr lang="en-US" b="1" dirty="0">
                <a:solidFill>
                  <a:schemeClr val="tx1"/>
                </a:solidFill>
              </a:rPr>
              <a:t>:</a:t>
            </a:r>
            <a:r>
              <a:rPr lang="en-US" dirty="0">
                <a:solidFill>
                  <a:schemeClr val="tx1"/>
                </a:solidFill>
              </a:rPr>
              <a:t> Great for </a:t>
            </a:r>
            <a:r>
              <a:rPr lang="en-US" b="1" dirty="0">
                <a:solidFill>
                  <a:schemeClr val="tx1"/>
                </a:solidFill>
              </a:rPr>
              <a:t>usage tracking, billing (ISPs), and auditing</a:t>
            </a:r>
            <a:r>
              <a:rPr lang="en-US" dirty="0" smtClean="0">
                <a:solidFill>
                  <a:schemeClr val="tx1"/>
                </a:solidFill>
              </a:rPr>
              <a:t>.</a:t>
            </a:r>
          </a:p>
          <a:p>
            <a:pPr algn="l"/>
            <a:endParaRPr lang="en-IN" dirty="0">
              <a:solidFill>
                <a:schemeClr val="tx1"/>
              </a:solidFill>
            </a:endParaRPr>
          </a:p>
        </p:txBody>
      </p:sp>
    </p:spTree>
    <p:extLst>
      <p:ext uri="{BB962C8B-B14F-4D97-AF65-F5344CB8AC3E}">
        <p14:creationId xmlns:p14="http://schemas.microsoft.com/office/powerpoint/2010/main" val="2304063971"/>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41195" y="122830"/>
            <a:ext cx="8707271" cy="6639636"/>
          </a:xfrm>
        </p:spPr>
        <p:txBody>
          <a:bodyPr>
            <a:noAutofit/>
          </a:bodyPr>
          <a:lstStyle/>
          <a:p>
            <a:pPr algn="l"/>
            <a:r>
              <a:rPr lang="en-IN" sz="1800" b="1" dirty="0" smtClean="0">
                <a:solidFill>
                  <a:schemeClr val="tx1"/>
                </a:solidFill>
              </a:rPr>
              <a:t>Router</a:t>
            </a:r>
            <a:endParaRPr lang="en-IN" sz="1800" b="1" dirty="0">
              <a:solidFill>
                <a:schemeClr val="tx1"/>
              </a:solidFill>
            </a:endParaRPr>
          </a:p>
          <a:p>
            <a:pPr algn="l"/>
            <a:r>
              <a:rPr lang="en-IN" sz="1800" dirty="0">
                <a:solidFill>
                  <a:schemeClr val="tx1"/>
                </a:solidFill>
              </a:rPr>
              <a:t>#</a:t>
            </a:r>
            <a:r>
              <a:rPr lang="en-IN" sz="1800" dirty="0" err="1">
                <a:solidFill>
                  <a:schemeClr val="tx1"/>
                </a:solidFill>
              </a:rPr>
              <a:t>En</a:t>
            </a:r>
            <a:endParaRPr lang="en-IN" sz="1800" dirty="0">
              <a:solidFill>
                <a:schemeClr val="tx1"/>
              </a:solidFill>
            </a:endParaRPr>
          </a:p>
          <a:p>
            <a:pPr algn="l"/>
            <a:r>
              <a:rPr lang="en-IN" sz="1800" dirty="0">
                <a:solidFill>
                  <a:schemeClr val="tx1"/>
                </a:solidFill>
              </a:rPr>
              <a:t>#</a:t>
            </a:r>
            <a:r>
              <a:rPr lang="en-IN" sz="1800" dirty="0" err="1">
                <a:solidFill>
                  <a:schemeClr val="tx1"/>
                </a:solidFill>
              </a:rPr>
              <a:t>config</a:t>
            </a:r>
            <a:r>
              <a:rPr lang="en-IN" sz="1800" dirty="0">
                <a:solidFill>
                  <a:schemeClr val="tx1"/>
                </a:solidFill>
              </a:rPr>
              <a:t> t</a:t>
            </a:r>
          </a:p>
          <a:p>
            <a:pPr algn="l"/>
            <a:r>
              <a:rPr lang="en-IN" sz="1800" dirty="0">
                <a:solidFill>
                  <a:schemeClr val="tx1"/>
                </a:solidFill>
              </a:rPr>
              <a:t>#</a:t>
            </a:r>
            <a:r>
              <a:rPr lang="en-IN" sz="1800" dirty="0" err="1">
                <a:solidFill>
                  <a:schemeClr val="tx1"/>
                </a:solidFill>
              </a:rPr>
              <a:t>int</a:t>
            </a:r>
            <a:r>
              <a:rPr lang="en-IN" sz="1800" dirty="0">
                <a:solidFill>
                  <a:schemeClr val="tx1"/>
                </a:solidFill>
              </a:rPr>
              <a:t> gig0/0/0</a:t>
            </a:r>
          </a:p>
          <a:p>
            <a:pPr algn="l"/>
            <a:r>
              <a:rPr lang="en-IN" sz="1800" dirty="0">
                <a:solidFill>
                  <a:schemeClr val="tx1"/>
                </a:solidFill>
              </a:rPr>
              <a:t>#</a:t>
            </a:r>
            <a:r>
              <a:rPr lang="en-IN" sz="1800" dirty="0" err="1">
                <a:solidFill>
                  <a:schemeClr val="tx1"/>
                </a:solidFill>
              </a:rPr>
              <a:t>ip</a:t>
            </a:r>
            <a:r>
              <a:rPr lang="en-IN" sz="1800" dirty="0">
                <a:solidFill>
                  <a:schemeClr val="tx1"/>
                </a:solidFill>
              </a:rPr>
              <a:t> add 192.168.1.1 255.255.255.0</a:t>
            </a:r>
          </a:p>
          <a:p>
            <a:pPr algn="l"/>
            <a:r>
              <a:rPr lang="en-IN" sz="1800" dirty="0">
                <a:solidFill>
                  <a:schemeClr val="tx1"/>
                </a:solidFill>
              </a:rPr>
              <a:t>#no shut</a:t>
            </a:r>
          </a:p>
          <a:p>
            <a:pPr algn="l"/>
            <a:endParaRPr lang="en-IN" sz="1800" dirty="0">
              <a:solidFill>
                <a:schemeClr val="tx1"/>
              </a:solidFill>
            </a:endParaRPr>
          </a:p>
          <a:p>
            <a:pPr algn="l"/>
            <a:r>
              <a:rPr lang="en-IN" sz="2000" b="1" dirty="0">
                <a:solidFill>
                  <a:schemeClr val="tx1"/>
                </a:solidFill>
              </a:rPr>
              <a:t>server-&gt;Desktop</a:t>
            </a:r>
          </a:p>
          <a:p>
            <a:pPr algn="l"/>
            <a:r>
              <a:rPr lang="en-IN" sz="1800" dirty="0">
                <a:solidFill>
                  <a:schemeClr val="tx1"/>
                </a:solidFill>
              </a:rPr>
              <a:t>IP-192.168.1.2</a:t>
            </a:r>
          </a:p>
          <a:p>
            <a:pPr algn="l"/>
            <a:r>
              <a:rPr lang="en-IN" sz="1800" dirty="0">
                <a:solidFill>
                  <a:schemeClr val="tx1"/>
                </a:solidFill>
              </a:rPr>
              <a:t>SM-255.255.255.255.0</a:t>
            </a:r>
          </a:p>
          <a:p>
            <a:pPr algn="l"/>
            <a:r>
              <a:rPr lang="en-IN" sz="1800" dirty="0">
                <a:solidFill>
                  <a:schemeClr val="tx1"/>
                </a:solidFill>
              </a:rPr>
              <a:t>Gate-192.168.1.1</a:t>
            </a:r>
          </a:p>
          <a:p>
            <a:pPr algn="l"/>
            <a:endParaRPr lang="en-IN" sz="1800" dirty="0">
              <a:solidFill>
                <a:schemeClr val="tx1"/>
              </a:solidFill>
            </a:endParaRPr>
          </a:p>
          <a:p>
            <a:pPr algn="l"/>
            <a:r>
              <a:rPr lang="en-IN" sz="2000" b="1" dirty="0">
                <a:solidFill>
                  <a:schemeClr val="tx1"/>
                </a:solidFill>
              </a:rPr>
              <a:t>All PC's-&gt;IP Manual </a:t>
            </a:r>
            <a:r>
              <a:rPr lang="en-IN" sz="2000" b="1" dirty="0" smtClean="0">
                <a:solidFill>
                  <a:schemeClr val="tx1"/>
                </a:solidFill>
              </a:rPr>
              <a:t>Set</a:t>
            </a:r>
          </a:p>
          <a:p>
            <a:pPr algn="l"/>
            <a:r>
              <a:rPr lang="en-IN" sz="2000" b="1" dirty="0" smtClean="0">
                <a:solidFill>
                  <a:schemeClr val="tx1"/>
                </a:solidFill>
              </a:rPr>
              <a:t>Server-</a:t>
            </a:r>
            <a:r>
              <a:rPr lang="en-IN" sz="2000" b="1" dirty="0">
                <a:solidFill>
                  <a:schemeClr val="tx1"/>
                </a:solidFill>
              </a:rPr>
              <a:t>&gt;Service-&gt;AAA-&gt;On Service</a:t>
            </a:r>
          </a:p>
          <a:p>
            <a:pPr algn="l"/>
            <a:r>
              <a:rPr lang="en-IN" sz="1800" dirty="0">
                <a:solidFill>
                  <a:schemeClr val="tx1"/>
                </a:solidFill>
              </a:rPr>
              <a:t>Client Name : V1</a:t>
            </a:r>
          </a:p>
          <a:p>
            <a:pPr algn="l"/>
            <a:r>
              <a:rPr lang="en-IN" sz="1800" dirty="0">
                <a:solidFill>
                  <a:schemeClr val="tx1"/>
                </a:solidFill>
              </a:rPr>
              <a:t>Client IP : 192.168.1.1</a:t>
            </a:r>
          </a:p>
          <a:p>
            <a:pPr algn="l"/>
            <a:r>
              <a:rPr lang="en-IN" sz="1800" dirty="0">
                <a:solidFill>
                  <a:schemeClr val="tx1"/>
                </a:solidFill>
              </a:rPr>
              <a:t>Secret : 12345</a:t>
            </a:r>
          </a:p>
          <a:p>
            <a:pPr algn="l"/>
            <a:r>
              <a:rPr lang="en-IN" sz="1800" dirty="0">
                <a:solidFill>
                  <a:schemeClr val="tx1"/>
                </a:solidFill>
              </a:rPr>
              <a:t>Server Type : radius ---&gt; </a:t>
            </a:r>
            <a:r>
              <a:rPr lang="en-IN" sz="1800" dirty="0" smtClean="0">
                <a:solidFill>
                  <a:schemeClr val="tx1"/>
                </a:solidFill>
              </a:rPr>
              <a:t>ADD</a:t>
            </a:r>
            <a:endParaRPr lang="en-IN" sz="1800" dirty="0">
              <a:solidFill>
                <a:schemeClr val="tx1"/>
              </a:solidFill>
            </a:endParaRPr>
          </a:p>
        </p:txBody>
      </p:sp>
    </p:spTree>
    <p:extLst>
      <p:ext uri="{BB962C8B-B14F-4D97-AF65-F5344CB8AC3E}">
        <p14:creationId xmlns:p14="http://schemas.microsoft.com/office/powerpoint/2010/main" val="4193880936"/>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8364" y="150124"/>
            <a:ext cx="8830102" cy="6707875"/>
          </a:xfrm>
        </p:spPr>
        <p:txBody>
          <a:bodyPr>
            <a:normAutofit fontScale="62500" lnSpcReduction="20000"/>
          </a:bodyPr>
          <a:lstStyle/>
          <a:p>
            <a:pPr algn="l"/>
            <a:r>
              <a:rPr lang="en-IN" dirty="0">
                <a:solidFill>
                  <a:schemeClr val="tx1"/>
                </a:solidFill>
              </a:rPr>
              <a:t>User Name : admin</a:t>
            </a:r>
          </a:p>
          <a:p>
            <a:pPr algn="l"/>
            <a:r>
              <a:rPr lang="en-IN" dirty="0">
                <a:solidFill>
                  <a:schemeClr val="tx1"/>
                </a:solidFill>
              </a:rPr>
              <a:t>PWD : admin 123  ---&gt; ADD</a:t>
            </a:r>
          </a:p>
          <a:p>
            <a:pPr algn="l"/>
            <a:endParaRPr lang="en-IN" dirty="0">
              <a:solidFill>
                <a:schemeClr val="tx1"/>
              </a:solidFill>
            </a:endParaRPr>
          </a:p>
          <a:p>
            <a:pPr algn="l"/>
            <a:r>
              <a:rPr lang="en-IN" sz="3600" b="1" dirty="0">
                <a:solidFill>
                  <a:schemeClr val="tx1"/>
                </a:solidFill>
              </a:rPr>
              <a:t>Router-&gt;CLI</a:t>
            </a:r>
          </a:p>
          <a:p>
            <a:pPr algn="l"/>
            <a:r>
              <a:rPr lang="en-IN" dirty="0">
                <a:solidFill>
                  <a:schemeClr val="tx1"/>
                </a:solidFill>
              </a:rPr>
              <a:t>#</a:t>
            </a:r>
            <a:r>
              <a:rPr lang="en-IN" dirty="0" err="1">
                <a:solidFill>
                  <a:schemeClr val="tx1"/>
                </a:solidFill>
              </a:rPr>
              <a:t>En</a:t>
            </a:r>
            <a:endParaRPr lang="en-IN" dirty="0">
              <a:solidFill>
                <a:schemeClr val="tx1"/>
              </a:solidFill>
            </a:endParaRPr>
          </a:p>
          <a:p>
            <a:pPr algn="l"/>
            <a:r>
              <a:rPr lang="en-IN" dirty="0">
                <a:solidFill>
                  <a:schemeClr val="tx1"/>
                </a:solidFill>
              </a:rPr>
              <a:t>#</a:t>
            </a:r>
            <a:r>
              <a:rPr lang="en-IN" dirty="0" err="1">
                <a:solidFill>
                  <a:schemeClr val="tx1"/>
                </a:solidFill>
              </a:rPr>
              <a:t>config</a:t>
            </a:r>
            <a:r>
              <a:rPr lang="en-IN" dirty="0">
                <a:solidFill>
                  <a:schemeClr val="tx1"/>
                </a:solidFill>
              </a:rPr>
              <a:t> t</a:t>
            </a:r>
          </a:p>
          <a:p>
            <a:pPr algn="l"/>
            <a:r>
              <a:rPr lang="en-IN" dirty="0">
                <a:solidFill>
                  <a:schemeClr val="tx1"/>
                </a:solidFill>
              </a:rPr>
              <a:t>#</a:t>
            </a:r>
            <a:r>
              <a:rPr lang="en-IN" dirty="0" err="1">
                <a:solidFill>
                  <a:schemeClr val="tx1"/>
                </a:solidFill>
              </a:rPr>
              <a:t>aaa</a:t>
            </a:r>
            <a:r>
              <a:rPr lang="en-IN" dirty="0">
                <a:solidFill>
                  <a:schemeClr val="tx1"/>
                </a:solidFill>
              </a:rPr>
              <a:t> new-model</a:t>
            </a:r>
          </a:p>
          <a:p>
            <a:pPr algn="l"/>
            <a:r>
              <a:rPr lang="en-IN" dirty="0">
                <a:solidFill>
                  <a:schemeClr val="tx1"/>
                </a:solidFill>
              </a:rPr>
              <a:t>#radius server r1_radius</a:t>
            </a:r>
          </a:p>
          <a:p>
            <a:pPr algn="l"/>
            <a:r>
              <a:rPr lang="en-IN" dirty="0">
                <a:solidFill>
                  <a:schemeClr val="tx1"/>
                </a:solidFill>
              </a:rPr>
              <a:t>#address ipv4 </a:t>
            </a:r>
            <a:r>
              <a:rPr lang="en-IN" dirty="0" smtClean="0">
                <a:solidFill>
                  <a:schemeClr val="tx1"/>
                </a:solidFill>
              </a:rPr>
              <a:t>192.168.1.2 </a:t>
            </a:r>
            <a:r>
              <a:rPr lang="en-IN" dirty="0" err="1" smtClean="0">
                <a:solidFill>
                  <a:schemeClr val="tx1"/>
                </a:solidFill>
              </a:rPr>
              <a:t>auth</a:t>
            </a:r>
            <a:r>
              <a:rPr lang="en-IN" dirty="0" smtClean="0">
                <a:solidFill>
                  <a:schemeClr val="tx1"/>
                </a:solidFill>
              </a:rPr>
              <a:t>-port 1645</a:t>
            </a:r>
            <a:endParaRPr lang="en-IN" dirty="0">
              <a:solidFill>
                <a:schemeClr val="tx1"/>
              </a:solidFill>
            </a:endParaRPr>
          </a:p>
          <a:p>
            <a:pPr algn="l"/>
            <a:r>
              <a:rPr lang="en-IN" dirty="0" smtClean="0">
                <a:solidFill>
                  <a:schemeClr val="tx1"/>
                </a:solidFill>
              </a:rPr>
              <a:t>#</a:t>
            </a:r>
            <a:r>
              <a:rPr lang="en-IN" dirty="0">
                <a:solidFill>
                  <a:schemeClr val="tx1"/>
                </a:solidFill>
              </a:rPr>
              <a:t>Key </a:t>
            </a:r>
            <a:r>
              <a:rPr lang="en-IN" dirty="0" smtClean="0">
                <a:solidFill>
                  <a:schemeClr val="tx1"/>
                </a:solidFill>
              </a:rPr>
              <a:t>12345</a:t>
            </a:r>
          </a:p>
          <a:p>
            <a:pPr algn="l"/>
            <a:r>
              <a:rPr lang="en-US" dirty="0" smtClean="0">
                <a:solidFill>
                  <a:schemeClr val="tx1"/>
                </a:solidFill>
              </a:rPr>
              <a:t>#ex</a:t>
            </a:r>
            <a:endParaRPr lang="en-IN" dirty="0">
              <a:solidFill>
                <a:schemeClr val="tx1"/>
              </a:solidFill>
            </a:endParaRPr>
          </a:p>
          <a:p>
            <a:pPr algn="l"/>
            <a:r>
              <a:rPr lang="en-IN" dirty="0" smtClean="0">
                <a:solidFill>
                  <a:schemeClr val="tx1"/>
                </a:solidFill>
              </a:rPr>
              <a:t>#</a:t>
            </a:r>
            <a:r>
              <a:rPr lang="en-IN" dirty="0" err="1">
                <a:solidFill>
                  <a:schemeClr val="tx1"/>
                </a:solidFill>
              </a:rPr>
              <a:t>aaa</a:t>
            </a:r>
            <a:r>
              <a:rPr lang="en-IN" dirty="0">
                <a:solidFill>
                  <a:schemeClr val="tx1"/>
                </a:solidFill>
              </a:rPr>
              <a:t> authentication </a:t>
            </a:r>
            <a:r>
              <a:rPr lang="en-IN" dirty="0" smtClean="0">
                <a:solidFill>
                  <a:schemeClr val="tx1"/>
                </a:solidFill>
              </a:rPr>
              <a:t>login default </a:t>
            </a:r>
            <a:r>
              <a:rPr lang="en-IN" dirty="0">
                <a:solidFill>
                  <a:schemeClr val="tx1"/>
                </a:solidFill>
              </a:rPr>
              <a:t>group radius local</a:t>
            </a:r>
          </a:p>
          <a:p>
            <a:pPr algn="l"/>
            <a:r>
              <a:rPr lang="en-IN" dirty="0">
                <a:solidFill>
                  <a:schemeClr val="tx1"/>
                </a:solidFill>
              </a:rPr>
              <a:t>#line console 0</a:t>
            </a:r>
          </a:p>
          <a:p>
            <a:pPr algn="l"/>
            <a:r>
              <a:rPr lang="en-IN" dirty="0">
                <a:solidFill>
                  <a:schemeClr val="tx1"/>
                </a:solidFill>
              </a:rPr>
              <a:t>#login authentication default</a:t>
            </a:r>
          </a:p>
          <a:p>
            <a:pPr algn="l"/>
            <a:r>
              <a:rPr lang="en-IN" dirty="0">
                <a:solidFill>
                  <a:schemeClr val="tx1"/>
                </a:solidFill>
              </a:rPr>
              <a:t>#ex</a:t>
            </a:r>
          </a:p>
          <a:p>
            <a:pPr algn="l"/>
            <a:r>
              <a:rPr lang="en-IN" dirty="0">
                <a:solidFill>
                  <a:schemeClr val="tx1"/>
                </a:solidFill>
              </a:rPr>
              <a:t>#line </a:t>
            </a:r>
            <a:r>
              <a:rPr lang="en-IN" dirty="0" err="1">
                <a:solidFill>
                  <a:schemeClr val="tx1"/>
                </a:solidFill>
              </a:rPr>
              <a:t>vty</a:t>
            </a:r>
            <a:r>
              <a:rPr lang="en-IN" dirty="0">
                <a:solidFill>
                  <a:schemeClr val="tx1"/>
                </a:solidFill>
              </a:rPr>
              <a:t> </a:t>
            </a:r>
            <a:r>
              <a:rPr lang="en-IN" dirty="0" smtClean="0">
                <a:solidFill>
                  <a:schemeClr val="tx1"/>
                </a:solidFill>
              </a:rPr>
              <a:t>0 4</a:t>
            </a:r>
            <a:endParaRPr lang="en-IN" dirty="0">
              <a:solidFill>
                <a:schemeClr val="tx1"/>
              </a:solidFill>
            </a:endParaRPr>
          </a:p>
          <a:p>
            <a:pPr algn="l"/>
            <a:r>
              <a:rPr lang="en-IN" dirty="0">
                <a:solidFill>
                  <a:schemeClr val="tx1"/>
                </a:solidFill>
              </a:rPr>
              <a:t>#login authentication default</a:t>
            </a:r>
          </a:p>
          <a:p>
            <a:pPr algn="l"/>
            <a:r>
              <a:rPr lang="en-IN" dirty="0">
                <a:solidFill>
                  <a:schemeClr val="tx1"/>
                </a:solidFill>
              </a:rPr>
              <a:t>#do </a:t>
            </a:r>
            <a:r>
              <a:rPr lang="en-IN" dirty="0" err="1">
                <a:solidFill>
                  <a:schemeClr val="tx1"/>
                </a:solidFill>
              </a:rPr>
              <a:t>wr</a:t>
            </a:r>
            <a:endParaRPr lang="en-IN" dirty="0">
              <a:solidFill>
                <a:schemeClr val="tx1"/>
              </a:solidFill>
            </a:endParaRPr>
          </a:p>
          <a:p>
            <a:pPr algn="l"/>
            <a:r>
              <a:rPr lang="en-IN" dirty="0">
                <a:solidFill>
                  <a:schemeClr val="tx1"/>
                </a:solidFill>
              </a:rPr>
              <a:t>#enable password 123</a:t>
            </a:r>
          </a:p>
          <a:p>
            <a:pPr algn="l"/>
            <a:r>
              <a:rPr lang="en-IN" dirty="0">
                <a:solidFill>
                  <a:schemeClr val="tx1"/>
                </a:solidFill>
              </a:rPr>
              <a:t>#</a:t>
            </a:r>
            <a:r>
              <a:rPr lang="en-IN" dirty="0" smtClean="0">
                <a:solidFill>
                  <a:schemeClr val="tx1"/>
                </a:solidFill>
              </a:rPr>
              <a:t>Ex</a:t>
            </a:r>
            <a:endParaRPr lang="en-IN" dirty="0">
              <a:solidFill>
                <a:schemeClr val="tx1"/>
              </a:solidFill>
            </a:endParaRPr>
          </a:p>
        </p:txBody>
      </p:sp>
    </p:spTree>
    <p:extLst>
      <p:ext uri="{BB962C8B-B14F-4D97-AF65-F5344CB8AC3E}">
        <p14:creationId xmlns:p14="http://schemas.microsoft.com/office/powerpoint/2010/main" val="209010497"/>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a:bodyPr>
          <a:lstStyle/>
          <a:p>
            <a:r>
              <a:rPr lang="en-US" sz="3600" b="1" dirty="0" smtClean="0">
                <a:solidFill>
                  <a:schemeClr val="tx1"/>
                </a:solidFill>
              </a:rPr>
              <a:t>Firewall</a:t>
            </a:r>
          </a:p>
          <a:p>
            <a:pPr marL="482600" indent="-457200" algn="l">
              <a:buFont typeface="Wingdings" panose="05000000000000000000" pitchFamily="2" charset="2"/>
              <a:buChar char="q"/>
            </a:pPr>
            <a:r>
              <a:rPr lang="en-US" dirty="0" smtClean="0">
                <a:solidFill>
                  <a:schemeClr val="tx1"/>
                </a:solidFill>
              </a:rPr>
              <a:t>Loopback IP </a:t>
            </a:r>
            <a:r>
              <a:rPr lang="en-US" dirty="0">
                <a:solidFill>
                  <a:schemeClr val="tx1"/>
                </a:solidFill>
              </a:rPr>
              <a:t>(eg.1.1.1.1)is necessary for firewall</a:t>
            </a:r>
          </a:p>
          <a:p>
            <a:pPr marL="482600" indent="-457200" algn="l">
              <a:buFont typeface="Wingdings" panose="05000000000000000000" pitchFamily="2" charset="2"/>
              <a:buChar char="q"/>
            </a:pPr>
            <a:r>
              <a:rPr lang="en-US" dirty="0" err="1" smtClean="0">
                <a:solidFill>
                  <a:schemeClr val="tx1"/>
                </a:solidFill>
              </a:rPr>
              <a:t>Uname</a:t>
            </a:r>
            <a:r>
              <a:rPr lang="en-US" dirty="0" smtClean="0">
                <a:solidFill>
                  <a:schemeClr val="tx1"/>
                </a:solidFill>
              </a:rPr>
              <a:t> </a:t>
            </a:r>
            <a:r>
              <a:rPr lang="en-US" dirty="0">
                <a:solidFill>
                  <a:schemeClr val="tx1"/>
                </a:solidFill>
              </a:rPr>
              <a:t>and PWD must match</a:t>
            </a:r>
          </a:p>
          <a:p>
            <a:pPr marL="482600" indent="-457200" algn="l">
              <a:buFont typeface="Wingdings" panose="05000000000000000000" pitchFamily="2" charset="2"/>
              <a:buChar char="q"/>
            </a:pPr>
            <a:r>
              <a:rPr lang="en-US" dirty="0" smtClean="0">
                <a:solidFill>
                  <a:schemeClr val="tx1"/>
                </a:solidFill>
              </a:rPr>
              <a:t>No </a:t>
            </a:r>
            <a:r>
              <a:rPr lang="en-US" dirty="0">
                <a:solidFill>
                  <a:schemeClr val="tx1"/>
                </a:solidFill>
              </a:rPr>
              <a:t>auto-summery - Meant "</a:t>
            </a:r>
            <a:r>
              <a:rPr lang="en-US" dirty="0" err="1">
                <a:solidFill>
                  <a:schemeClr val="tx1"/>
                </a:solidFill>
              </a:rPr>
              <a:t>i</a:t>
            </a:r>
            <a:r>
              <a:rPr lang="en-US" dirty="0">
                <a:solidFill>
                  <a:schemeClr val="tx1"/>
                </a:solidFill>
              </a:rPr>
              <a:t> didn't call any network" and </a:t>
            </a:r>
            <a:r>
              <a:rPr lang="en-US" dirty="0" smtClean="0">
                <a:solidFill>
                  <a:schemeClr val="tx1"/>
                </a:solidFill>
              </a:rPr>
              <a:t>network </a:t>
            </a:r>
            <a:r>
              <a:rPr lang="en-US" dirty="0">
                <a:solidFill>
                  <a:schemeClr val="tx1"/>
                </a:solidFill>
              </a:rPr>
              <a:t>also 0.0.0.0 </a:t>
            </a:r>
          </a:p>
          <a:p>
            <a:pPr marL="482600" indent="-457200" algn="l">
              <a:buFont typeface="Wingdings" panose="05000000000000000000" pitchFamily="2" charset="2"/>
              <a:buChar char="q"/>
            </a:pPr>
            <a:r>
              <a:rPr lang="en-US" dirty="0" smtClean="0">
                <a:solidFill>
                  <a:schemeClr val="tx1"/>
                </a:solidFill>
              </a:rPr>
              <a:t>When </a:t>
            </a:r>
            <a:r>
              <a:rPr lang="en-US" dirty="0">
                <a:solidFill>
                  <a:schemeClr val="tx1"/>
                </a:solidFill>
              </a:rPr>
              <a:t>loopback IP calls </a:t>
            </a:r>
            <a:r>
              <a:rPr lang="en-US" dirty="0" smtClean="0">
                <a:solidFill>
                  <a:schemeClr val="tx1"/>
                </a:solidFill>
              </a:rPr>
              <a:t>credential should </a:t>
            </a:r>
            <a:r>
              <a:rPr lang="en-US" dirty="0">
                <a:solidFill>
                  <a:schemeClr val="tx1"/>
                </a:solidFill>
              </a:rPr>
              <a:t>be enabled</a:t>
            </a:r>
            <a:endParaRPr lang="en-US" dirty="0" smtClean="0">
              <a:solidFill>
                <a:schemeClr val="tx1"/>
              </a:solidFill>
            </a:endParaRPr>
          </a:p>
          <a:p>
            <a:pPr algn="l"/>
            <a:endParaRPr lang="en-IN" dirty="0">
              <a:solidFill>
                <a:schemeClr val="tx1"/>
              </a:solidFill>
            </a:endParaRPr>
          </a:p>
        </p:txBody>
      </p:sp>
    </p:spTree>
    <p:extLst>
      <p:ext uri="{BB962C8B-B14F-4D97-AF65-F5344CB8AC3E}">
        <p14:creationId xmlns:p14="http://schemas.microsoft.com/office/powerpoint/2010/main" val="3022593948"/>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17;p171"/>
          <p:cNvSpPr/>
          <p:nvPr/>
        </p:nvSpPr>
        <p:spPr>
          <a:xfrm>
            <a:off x="1135937" y="198005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1418;p171"/>
          <p:cNvSpPr/>
          <p:nvPr/>
        </p:nvSpPr>
        <p:spPr>
          <a:xfrm>
            <a:off x="983537" y="319925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 name="Google Shape;1419;p171"/>
          <p:cNvSpPr/>
          <p:nvPr/>
        </p:nvSpPr>
        <p:spPr>
          <a:xfrm>
            <a:off x="754937" y="4189850"/>
            <a:ext cx="533400" cy="318448"/>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 name="Google Shape;1420;p171"/>
          <p:cNvSpPr/>
          <p:nvPr/>
        </p:nvSpPr>
        <p:spPr>
          <a:xfrm>
            <a:off x="1897937" y="418985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 name="Google Shape;1421;p171"/>
          <p:cNvSpPr/>
          <p:nvPr/>
        </p:nvSpPr>
        <p:spPr>
          <a:xfrm>
            <a:off x="7227627" y="2132450"/>
            <a:ext cx="685800" cy="6096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 name="Google Shape;1422;p171"/>
          <p:cNvSpPr/>
          <p:nvPr/>
        </p:nvSpPr>
        <p:spPr>
          <a:xfrm>
            <a:off x="7075227" y="3351650"/>
            <a:ext cx="914400" cy="304800"/>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 name="Google Shape;1423;p171"/>
          <p:cNvSpPr/>
          <p:nvPr/>
        </p:nvSpPr>
        <p:spPr>
          <a:xfrm>
            <a:off x="6846627" y="434225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 name="Google Shape;1424;p171"/>
          <p:cNvSpPr/>
          <p:nvPr/>
        </p:nvSpPr>
        <p:spPr>
          <a:xfrm>
            <a:off x="7989627" y="4342250"/>
            <a:ext cx="533400" cy="3048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10" name="Google Shape;1425;p171"/>
          <p:cNvCxnSpPr>
            <a:stCxn id="2" idx="6"/>
          </p:cNvCxnSpPr>
          <p:nvPr/>
        </p:nvCxnSpPr>
        <p:spPr>
          <a:xfrm flipV="1">
            <a:off x="1821737" y="2233313"/>
            <a:ext cx="2634425" cy="51537"/>
          </a:xfrm>
          <a:prstGeom prst="straightConnector1">
            <a:avLst/>
          </a:prstGeom>
          <a:noFill/>
          <a:ln w="9525" cap="flat" cmpd="sng">
            <a:solidFill>
              <a:srgbClr val="4A7DBA"/>
            </a:solidFill>
            <a:prstDash val="solid"/>
            <a:round/>
            <a:headEnd type="none" w="sm" len="sm"/>
            <a:tailEnd type="none" w="sm" len="sm"/>
          </a:ln>
        </p:spPr>
      </p:cxnSp>
      <p:cxnSp>
        <p:nvCxnSpPr>
          <p:cNvPr id="11" name="Google Shape;1426;p171"/>
          <p:cNvCxnSpPr>
            <a:stCxn id="2" idx="4"/>
            <a:endCxn id="3" idx="0"/>
          </p:cNvCxnSpPr>
          <p:nvPr/>
        </p:nvCxnSpPr>
        <p:spPr>
          <a:xfrm flipH="1">
            <a:off x="1440737" y="258965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2" name="Google Shape;1427;p171"/>
          <p:cNvCxnSpPr>
            <a:stCxn id="6" idx="4"/>
            <a:endCxn id="7" idx="0"/>
          </p:cNvCxnSpPr>
          <p:nvPr/>
        </p:nvCxnSpPr>
        <p:spPr>
          <a:xfrm flipH="1">
            <a:off x="7532427" y="2742050"/>
            <a:ext cx="38100" cy="609600"/>
          </a:xfrm>
          <a:prstGeom prst="straightConnector1">
            <a:avLst/>
          </a:prstGeom>
          <a:noFill/>
          <a:ln w="9525" cap="flat" cmpd="sng">
            <a:solidFill>
              <a:srgbClr val="4A7DBA"/>
            </a:solidFill>
            <a:prstDash val="solid"/>
            <a:round/>
            <a:headEnd type="none" w="sm" len="sm"/>
            <a:tailEnd type="none" w="sm" len="sm"/>
          </a:ln>
        </p:spPr>
      </p:cxnSp>
      <p:cxnSp>
        <p:nvCxnSpPr>
          <p:cNvPr id="13" name="Google Shape;1428;p171"/>
          <p:cNvCxnSpPr>
            <a:stCxn id="3" idx="2"/>
            <a:endCxn id="4" idx="0"/>
          </p:cNvCxnSpPr>
          <p:nvPr/>
        </p:nvCxnSpPr>
        <p:spPr>
          <a:xfrm flipH="1">
            <a:off x="1021637" y="350405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4" name="Google Shape;1429;p171"/>
          <p:cNvCxnSpPr>
            <a:stCxn id="3" idx="2"/>
            <a:endCxn id="5" idx="0"/>
          </p:cNvCxnSpPr>
          <p:nvPr/>
        </p:nvCxnSpPr>
        <p:spPr>
          <a:xfrm>
            <a:off x="1440737" y="3504050"/>
            <a:ext cx="723900" cy="685800"/>
          </a:xfrm>
          <a:prstGeom prst="straightConnector1">
            <a:avLst/>
          </a:prstGeom>
          <a:noFill/>
          <a:ln w="9525" cap="flat" cmpd="sng">
            <a:solidFill>
              <a:srgbClr val="4A7DBA"/>
            </a:solidFill>
            <a:prstDash val="solid"/>
            <a:round/>
            <a:headEnd type="none" w="sm" len="sm"/>
            <a:tailEnd type="none" w="sm" len="sm"/>
          </a:ln>
        </p:spPr>
      </p:cxnSp>
      <p:cxnSp>
        <p:nvCxnSpPr>
          <p:cNvPr id="15" name="Google Shape;1430;p171"/>
          <p:cNvCxnSpPr>
            <a:stCxn id="7" idx="2"/>
            <a:endCxn id="8" idx="0"/>
          </p:cNvCxnSpPr>
          <p:nvPr/>
        </p:nvCxnSpPr>
        <p:spPr>
          <a:xfrm flipH="1">
            <a:off x="7113327" y="3656450"/>
            <a:ext cx="419100" cy="685800"/>
          </a:xfrm>
          <a:prstGeom prst="straightConnector1">
            <a:avLst/>
          </a:prstGeom>
          <a:noFill/>
          <a:ln w="9525" cap="flat" cmpd="sng">
            <a:solidFill>
              <a:srgbClr val="4A7DBA"/>
            </a:solidFill>
            <a:prstDash val="solid"/>
            <a:round/>
            <a:headEnd type="none" w="sm" len="sm"/>
            <a:tailEnd type="none" w="sm" len="sm"/>
          </a:ln>
        </p:spPr>
      </p:cxnSp>
      <p:cxnSp>
        <p:nvCxnSpPr>
          <p:cNvPr id="16" name="Google Shape;1431;p171"/>
          <p:cNvCxnSpPr>
            <a:stCxn id="7" idx="2"/>
            <a:endCxn id="9" idx="0"/>
          </p:cNvCxnSpPr>
          <p:nvPr/>
        </p:nvCxnSpPr>
        <p:spPr>
          <a:xfrm>
            <a:off x="7532427" y="3656450"/>
            <a:ext cx="723900" cy="685800"/>
          </a:xfrm>
          <a:prstGeom prst="straightConnector1">
            <a:avLst/>
          </a:prstGeom>
          <a:noFill/>
          <a:ln w="9525" cap="flat" cmpd="sng">
            <a:solidFill>
              <a:srgbClr val="4A7DBA"/>
            </a:solidFill>
            <a:prstDash val="solid"/>
            <a:round/>
            <a:headEnd type="none" w="sm" len="sm"/>
            <a:tailEnd type="none" w="sm" len="sm"/>
          </a:ln>
        </p:spPr>
      </p:cxnSp>
      <p:sp>
        <p:nvSpPr>
          <p:cNvPr id="17" name="TextBox 16"/>
          <p:cNvSpPr txBox="1"/>
          <p:nvPr/>
        </p:nvSpPr>
        <p:spPr>
          <a:xfrm>
            <a:off x="754937" y="2825074"/>
            <a:ext cx="1128835" cy="307777"/>
          </a:xfrm>
          <a:prstGeom prst="rect">
            <a:avLst/>
          </a:prstGeom>
          <a:noFill/>
        </p:spPr>
        <p:txBody>
          <a:bodyPr wrap="square" rtlCol="0">
            <a:spAutoFit/>
          </a:bodyPr>
          <a:lstStyle/>
          <a:p>
            <a:r>
              <a:rPr lang="en-US" dirty="0" smtClean="0"/>
              <a:t>192.168.1.1</a:t>
            </a:r>
            <a:endParaRPr lang="en-IN" dirty="0"/>
          </a:p>
        </p:txBody>
      </p:sp>
      <p:sp>
        <p:nvSpPr>
          <p:cNvPr id="18" name="TextBox 17"/>
          <p:cNvSpPr txBox="1"/>
          <p:nvPr/>
        </p:nvSpPr>
        <p:spPr>
          <a:xfrm>
            <a:off x="6860792" y="3005034"/>
            <a:ext cx="1128835" cy="307777"/>
          </a:xfrm>
          <a:prstGeom prst="rect">
            <a:avLst/>
          </a:prstGeom>
          <a:noFill/>
        </p:spPr>
        <p:txBody>
          <a:bodyPr wrap="none" rtlCol="0">
            <a:spAutoFit/>
          </a:bodyPr>
          <a:lstStyle/>
          <a:p>
            <a:r>
              <a:rPr lang="en-US" dirty="0" smtClean="0"/>
              <a:t>192.168.2.1</a:t>
            </a:r>
            <a:endParaRPr lang="en-IN" dirty="0"/>
          </a:p>
        </p:txBody>
      </p:sp>
      <p:sp>
        <p:nvSpPr>
          <p:cNvPr id="19" name="TextBox 18"/>
          <p:cNvSpPr txBox="1"/>
          <p:nvPr/>
        </p:nvSpPr>
        <p:spPr>
          <a:xfrm>
            <a:off x="983537" y="1672273"/>
            <a:ext cx="1327608" cy="307777"/>
          </a:xfrm>
          <a:prstGeom prst="rect">
            <a:avLst/>
          </a:prstGeom>
          <a:noFill/>
        </p:spPr>
        <p:txBody>
          <a:bodyPr wrap="none" rtlCol="0">
            <a:spAutoFit/>
          </a:bodyPr>
          <a:lstStyle/>
          <a:p>
            <a:r>
              <a:rPr lang="en-US" dirty="0" smtClean="0"/>
              <a:t>192.168.100.1</a:t>
            </a:r>
            <a:endParaRPr lang="en-IN" dirty="0"/>
          </a:p>
        </p:txBody>
      </p:sp>
      <p:sp>
        <p:nvSpPr>
          <p:cNvPr id="20" name="TextBox 19"/>
          <p:cNvSpPr txBox="1"/>
          <p:nvPr/>
        </p:nvSpPr>
        <p:spPr>
          <a:xfrm>
            <a:off x="5449203" y="1934156"/>
            <a:ext cx="1164101" cy="261610"/>
          </a:xfrm>
          <a:prstGeom prst="rect">
            <a:avLst/>
          </a:prstGeom>
          <a:noFill/>
        </p:spPr>
        <p:txBody>
          <a:bodyPr wrap="none" rtlCol="0">
            <a:spAutoFit/>
          </a:bodyPr>
          <a:lstStyle/>
          <a:p>
            <a:r>
              <a:rPr lang="en-US" sz="1050" dirty="0" smtClean="0"/>
              <a:t>100.100.100.10</a:t>
            </a:r>
            <a:endParaRPr lang="en-IN" sz="1050" dirty="0"/>
          </a:p>
        </p:txBody>
      </p:sp>
      <p:sp>
        <p:nvSpPr>
          <p:cNvPr id="21" name="TextBox 20"/>
          <p:cNvSpPr txBox="1"/>
          <p:nvPr/>
        </p:nvSpPr>
        <p:spPr>
          <a:xfrm>
            <a:off x="2573973" y="4518547"/>
            <a:ext cx="1128835" cy="307777"/>
          </a:xfrm>
          <a:prstGeom prst="rect">
            <a:avLst/>
          </a:prstGeom>
          <a:noFill/>
        </p:spPr>
        <p:txBody>
          <a:bodyPr wrap="none" rtlCol="0">
            <a:spAutoFit/>
          </a:bodyPr>
          <a:lstStyle/>
          <a:p>
            <a:r>
              <a:rPr lang="en-US" dirty="0" smtClean="0"/>
              <a:t>192.168.1.2</a:t>
            </a:r>
            <a:endParaRPr lang="en-IN" dirty="0"/>
          </a:p>
        </p:txBody>
      </p:sp>
      <p:sp>
        <p:nvSpPr>
          <p:cNvPr id="53" name="Bevel 52"/>
          <p:cNvSpPr/>
          <p:nvPr/>
        </p:nvSpPr>
        <p:spPr>
          <a:xfrm>
            <a:off x="4502299" y="1717420"/>
            <a:ext cx="1023582" cy="1083322"/>
          </a:xfrm>
          <a:prstGeom prst="beve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FIRE</a:t>
            </a:r>
          </a:p>
          <a:p>
            <a:pPr algn="ctr"/>
            <a:r>
              <a:rPr lang="en-US" dirty="0" smtClean="0"/>
              <a:t>WALL</a:t>
            </a:r>
            <a:endParaRPr lang="en-IN" dirty="0"/>
          </a:p>
        </p:txBody>
      </p:sp>
      <p:cxnSp>
        <p:nvCxnSpPr>
          <p:cNvPr id="55" name="Google Shape;1425;p171"/>
          <p:cNvCxnSpPr>
            <a:stCxn id="53" idx="1"/>
          </p:cNvCxnSpPr>
          <p:nvPr/>
        </p:nvCxnSpPr>
        <p:spPr>
          <a:xfrm>
            <a:off x="5397933" y="2259081"/>
            <a:ext cx="1829694" cy="101983"/>
          </a:xfrm>
          <a:prstGeom prst="straightConnector1">
            <a:avLst/>
          </a:prstGeom>
          <a:noFill/>
          <a:ln w="9525" cap="flat" cmpd="sng">
            <a:solidFill>
              <a:srgbClr val="4A7DBA"/>
            </a:solidFill>
            <a:prstDash val="solid"/>
            <a:round/>
            <a:headEnd type="none" w="sm" len="sm"/>
            <a:tailEnd type="none" w="sm" len="sm"/>
          </a:ln>
        </p:spPr>
      </p:cxnSp>
      <p:sp>
        <p:nvSpPr>
          <p:cNvPr id="56" name="TextBox 55"/>
          <p:cNvSpPr txBox="1"/>
          <p:nvPr/>
        </p:nvSpPr>
        <p:spPr>
          <a:xfrm>
            <a:off x="4760584" y="2978962"/>
            <a:ext cx="731290" cy="523220"/>
          </a:xfrm>
          <a:prstGeom prst="rect">
            <a:avLst/>
          </a:prstGeom>
          <a:noFill/>
        </p:spPr>
        <p:txBody>
          <a:bodyPr wrap="none" rtlCol="0">
            <a:spAutoFit/>
          </a:bodyPr>
          <a:lstStyle/>
          <a:p>
            <a:r>
              <a:rPr lang="en-US" dirty="0" smtClean="0"/>
              <a:t>5506-x</a:t>
            </a:r>
          </a:p>
          <a:p>
            <a:r>
              <a:rPr lang="en-US" dirty="0" smtClean="0"/>
              <a:t>ASA0</a:t>
            </a:r>
            <a:endParaRPr lang="en-IN" dirty="0"/>
          </a:p>
        </p:txBody>
      </p:sp>
      <p:sp>
        <p:nvSpPr>
          <p:cNvPr id="67" name="TextBox 66"/>
          <p:cNvSpPr txBox="1"/>
          <p:nvPr/>
        </p:nvSpPr>
        <p:spPr>
          <a:xfrm>
            <a:off x="3029168" y="1677973"/>
            <a:ext cx="1426994" cy="307777"/>
          </a:xfrm>
          <a:prstGeom prst="rect">
            <a:avLst/>
          </a:prstGeom>
          <a:noFill/>
        </p:spPr>
        <p:txBody>
          <a:bodyPr wrap="none" rtlCol="0">
            <a:spAutoFit/>
          </a:bodyPr>
          <a:lstStyle/>
          <a:p>
            <a:r>
              <a:rPr lang="en-US" dirty="0" smtClean="0"/>
              <a:t>192.168.100.10</a:t>
            </a:r>
            <a:endParaRPr lang="en-IN" dirty="0"/>
          </a:p>
        </p:txBody>
      </p:sp>
      <p:sp>
        <p:nvSpPr>
          <p:cNvPr id="72" name="TextBox 71"/>
          <p:cNvSpPr txBox="1"/>
          <p:nvPr/>
        </p:nvSpPr>
        <p:spPr>
          <a:xfrm>
            <a:off x="6554673" y="1895317"/>
            <a:ext cx="1124026" cy="253916"/>
          </a:xfrm>
          <a:prstGeom prst="rect">
            <a:avLst/>
          </a:prstGeom>
          <a:noFill/>
        </p:spPr>
        <p:txBody>
          <a:bodyPr wrap="none" rtlCol="0">
            <a:spAutoFit/>
          </a:bodyPr>
          <a:lstStyle/>
          <a:p>
            <a:r>
              <a:rPr lang="en-US" sz="1050" dirty="0" smtClean="0"/>
              <a:t>100.100.100.20</a:t>
            </a:r>
            <a:endParaRPr lang="en-IN" sz="1050" dirty="0"/>
          </a:p>
        </p:txBody>
      </p:sp>
    </p:spTree>
    <p:extLst>
      <p:ext uri="{BB962C8B-B14F-4D97-AF65-F5344CB8AC3E}">
        <p14:creationId xmlns:p14="http://schemas.microsoft.com/office/powerpoint/2010/main" val="2369337704"/>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fontScale="92500" lnSpcReduction="10000"/>
          </a:bodyPr>
          <a:lstStyle/>
          <a:p>
            <a:r>
              <a:rPr lang="en-US" sz="3600" b="1" u="sng" dirty="0">
                <a:solidFill>
                  <a:schemeClr val="tx1"/>
                </a:solidFill>
              </a:rPr>
              <a:t>R1</a:t>
            </a:r>
          </a:p>
          <a:p>
            <a:pPr algn="l"/>
            <a:r>
              <a:rPr lang="en-US" sz="3600" b="1" dirty="0">
                <a:solidFill>
                  <a:schemeClr val="tx1"/>
                </a:solidFill>
              </a:rPr>
              <a:t>Line Up Router1</a:t>
            </a:r>
          </a:p>
          <a:p>
            <a:pPr algn="l"/>
            <a:r>
              <a:rPr lang="en-US" sz="3600" dirty="0">
                <a:solidFill>
                  <a:schemeClr val="tx1"/>
                </a:solidFill>
              </a:rPr>
              <a:t>#hostname </a:t>
            </a:r>
            <a:r>
              <a:rPr lang="en-US" sz="3600" dirty="0" err="1">
                <a:solidFill>
                  <a:schemeClr val="tx1"/>
                </a:solidFill>
              </a:rPr>
              <a:t>chennai</a:t>
            </a:r>
            <a:endParaRPr lang="en-US" sz="3600" dirty="0">
              <a:solidFill>
                <a:schemeClr val="tx1"/>
              </a:solidFill>
            </a:endParaRPr>
          </a:p>
          <a:p>
            <a:pPr algn="l"/>
            <a:r>
              <a:rPr lang="en-US" sz="3600" dirty="0">
                <a:solidFill>
                  <a:schemeClr val="tx1"/>
                </a:solidFill>
              </a:rPr>
              <a:t>#router </a:t>
            </a:r>
            <a:r>
              <a:rPr lang="en-US" sz="3600" dirty="0" err="1">
                <a:solidFill>
                  <a:schemeClr val="tx1"/>
                </a:solidFill>
              </a:rPr>
              <a:t>eigrp</a:t>
            </a:r>
            <a:r>
              <a:rPr lang="en-US" sz="3600" dirty="0">
                <a:solidFill>
                  <a:schemeClr val="tx1"/>
                </a:solidFill>
              </a:rPr>
              <a:t> 1 </a:t>
            </a:r>
            <a:r>
              <a:rPr lang="en-US" sz="3600" dirty="0">
                <a:solidFill>
                  <a:schemeClr val="accent6">
                    <a:lumMod val="75000"/>
                  </a:schemeClr>
                </a:solidFill>
              </a:rPr>
              <a:t>(Call any routing Concept)</a:t>
            </a:r>
          </a:p>
          <a:p>
            <a:pPr algn="l"/>
            <a:r>
              <a:rPr lang="en-US" sz="3600" dirty="0">
                <a:solidFill>
                  <a:schemeClr val="tx1"/>
                </a:solidFill>
              </a:rPr>
              <a:t>#no auto-summary </a:t>
            </a:r>
            <a:r>
              <a:rPr lang="en-US" sz="3600" dirty="0">
                <a:solidFill>
                  <a:schemeClr val="accent6">
                    <a:lumMod val="75000"/>
                  </a:schemeClr>
                </a:solidFill>
              </a:rPr>
              <a:t>(allow </a:t>
            </a:r>
            <a:r>
              <a:rPr lang="en-US" sz="3600" dirty="0" smtClean="0">
                <a:solidFill>
                  <a:schemeClr val="accent6">
                    <a:lumMod val="75000"/>
                  </a:schemeClr>
                </a:solidFill>
              </a:rPr>
              <a:t>unknown </a:t>
            </a:r>
            <a:r>
              <a:rPr lang="en-US" sz="3600" dirty="0">
                <a:solidFill>
                  <a:schemeClr val="accent6">
                    <a:lumMod val="75000"/>
                  </a:schemeClr>
                </a:solidFill>
              </a:rPr>
              <a:t>network)</a:t>
            </a:r>
          </a:p>
          <a:p>
            <a:pPr algn="l"/>
            <a:r>
              <a:rPr lang="en-US" sz="3600" dirty="0">
                <a:solidFill>
                  <a:schemeClr val="tx1"/>
                </a:solidFill>
              </a:rPr>
              <a:t>#network 0.0.0.0</a:t>
            </a:r>
          </a:p>
          <a:p>
            <a:pPr algn="l"/>
            <a:r>
              <a:rPr lang="en-US" sz="3600" dirty="0">
                <a:solidFill>
                  <a:schemeClr val="tx1"/>
                </a:solidFill>
              </a:rPr>
              <a:t>#</a:t>
            </a:r>
            <a:r>
              <a:rPr lang="en-US" sz="3600" dirty="0" smtClean="0">
                <a:solidFill>
                  <a:schemeClr val="tx1"/>
                </a:solidFill>
              </a:rPr>
              <a:t>ex</a:t>
            </a:r>
          </a:p>
          <a:p>
            <a:pPr algn="l"/>
            <a:endParaRPr lang="en-US" sz="3600" dirty="0">
              <a:solidFill>
                <a:schemeClr val="tx1"/>
              </a:solidFill>
            </a:endParaRPr>
          </a:p>
          <a:p>
            <a:pPr algn="l"/>
            <a:r>
              <a:rPr lang="en-US" sz="3600" dirty="0">
                <a:solidFill>
                  <a:schemeClr val="tx1"/>
                </a:solidFill>
              </a:rPr>
              <a:t>#gig0/0/1</a:t>
            </a:r>
          </a:p>
          <a:p>
            <a:pPr algn="l"/>
            <a:r>
              <a:rPr lang="en-US" sz="3600" dirty="0">
                <a:solidFill>
                  <a:schemeClr val="tx1"/>
                </a:solidFill>
              </a:rPr>
              <a:t>#</a:t>
            </a:r>
            <a:r>
              <a:rPr lang="en-US" sz="3600" dirty="0" err="1">
                <a:solidFill>
                  <a:schemeClr val="tx1"/>
                </a:solidFill>
              </a:rPr>
              <a:t>ip</a:t>
            </a:r>
            <a:r>
              <a:rPr lang="en-US" sz="3600" dirty="0">
                <a:solidFill>
                  <a:schemeClr val="tx1"/>
                </a:solidFill>
              </a:rPr>
              <a:t> add 192.168.100.1 255.255.255.0</a:t>
            </a:r>
          </a:p>
          <a:p>
            <a:pPr algn="l"/>
            <a:r>
              <a:rPr lang="en-US" sz="3600" dirty="0">
                <a:solidFill>
                  <a:schemeClr val="tx1"/>
                </a:solidFill>
              </a:rPr>
              <a:t>#no shut</a:t>
            </a:r>
            <a:endParaRPr lang="en-IN" dirty="0">
              <a:solidFill>
                <a:schemeClr val="tx1"/>
              </a:solidFill>
            </a:endParaRPr>
          </a:p>
        </p:txBody>
      </p:sp>
    </p:spTree>
    <p:extLst>
      <p:ext uri="{BB962C8B-B14F-4D97-AF65-F5344CB8AC3E}">
        <p14:creationId xmlns:p14="http://schemas.microsoft.com/office/powerpoint/2010/main" val="2543344086"/>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6479" y="109182"/>
            <a:ext cx="8857396" cy="6605517"/>
          </a:xfrm>
        </p:spPr>
        <p:txBody>
          <a:bodyPr>
            <a:normAutofit fontScale="85000" lnSpcReduction="20000"/>
          </a:bodyPr>
          <a:lstStyle/>
          <a:p>
            <a:r>
              <a:rPr lang="en-US" sz="3600" b="1" u="sng" dirty="0">
                <a:solidFill>
                  <a:schemeClr val="tx1"/>
                </a:solidFill>
              </a:rPr>
              <a:t>ASA0-Firewall</a:t>
            </a:r>
          </a:p>
          <a:p>
            <a:pPr algn="l"/>
            <a:r>
              <a:rPr lang="en-US" sz="3600" dirty="0">
                <a:solidFill>
                  <a:schemeClr val="tx1"/>
                </a:solidFill>
              </a:rPr>
              <a:t>#</a:t>
            </a:r>
            <a:r>
              <a:rPr lang="en-US" sz="3600" dirty="0" err="1">
                <a:solidFill>
                  <a:schemeClr val="tx1"/>
                </a:solidFill>
              </a:rPr>
              <a:t>en</a:t>
            </a:r>
            <a:endParaRPr lang="en-US" sz="3600" dirty="0">
              <a:solidFill>
                <a:schemeClr val="tx1"/>
              </a:solidFill>
            </a:endParaRPr>
          </a:p>
          <a:p>
            <a:pPr algn="l"/>
            <a:r>
              <a:rPr lang="en-US" sz="3600" dirty="0">
                <a:solidFill>
                  <a:schemeClr val="tx1"/>
                </a:solidFill>
              </a:rPr>
              <a:t>#password</a:t>
            </a:r>
            <a:r>
              <a:rPr lang="en-US" sz="2400" dirty="0">
                <a:solidFill>
                  <a:schemeClr val="accent6">
                    <a:lumMod val="75000"/>
                  </a:schemeClr>
                </a:solidFill>
              </a:rPr>
              <a:t>:(no)</a:t>
            </a:r>
          </a:p>
          <a:p>
            <a:pPr algn="l"/>
            <a:r>
              <a:rPr lang="en-US" sz="3600" dirty="0">
                <a:solidFill>
                  <a:schemeClr val="tx1"/>
                </a:solidFill>
              </a:rPr>
              <a:t>#</a:t>
            </a:r>
            <a:r>
              <a:rPr lang="en-US" sz="3600" dirty="0" err="1">
                <a:solidFill>
                  <a:schemeClr val="tx1"/>
                </a:solidFill>
              </a:rPr>
              <a:t>config</a:t>
            </a:r>
            <a:r>
              <a:rPr lang="en-US" sz="3600" dirty="0">
                <a:solidFill>
                  <a:schemeClr val="tx1"/>
                </a:solidFill>
              </a:rPr>
              <a:t> t</a:t>
            </a:r>
          </a:p>
          <a:p>
            <a:pPr algn="l"/>
            <a:r>
              <a:rPr lang="en-US" sz="3600" dirty="0">
                <a:solidFill>
                  <a:schemeClr val="tx1"/>
                </a:solidFill>
              </a:rPr>
              <a:t>#</a:t>
            </a:r>
            <a:r>
              <a:rPr lang="en-US" sz="3600" dirty="0" err="1">
                <a:solidFill>
                  <a:schemeClr val="tx1"/>
                </a:solidFill>
              </a:rPr>
              <a:t>int</a:t>
            </a:r>
            <a:r>
              <a:rPr lang="en-US" sz="3600" dirty="0">
                <a:solidFill>
                  <a:schemeClr val="tx1"/>
                </a:solidFill>
              </a:rPr>
              <a:t> gig1/1</a:t>
            </a:r>
          </a:p>
          <a:p>
            <a:pPr algn="l"/>
            <a:r>
              <a:rPr lang="en-US" sz="3600" dirty="0">
                <a:solidFill>
                  <a:schemeClr val="tx1"/>
                </a:solidFill>
              </a:rPr>
              <a:t>#</a:t>
            </a:r>
            <a:r>
              <a:rPr lang="en-US" sz="3600" dirty="0" err="1">
                <a:solidFill>
                  <a:schemeClr val="tx1"/>
                </a:solidFill>
              </a:rPr>
              <a:t>ip</a:t>
            </a:r>
            <a:r>
              <a:rPr lang="en-US" sz="3600" dirty="0">
                <a:solidFill>
                  <a:schemeClr val="tx1"/>
                </a:solidFill>
              </a:rPr>
              <a:t> add 192.168.100.10 255.255.255.0</a:t>
            </a:r>
          </a:p>
          <a:p>
            <a:pPr algn="l"/>
            <a:r>
              <a:rPr lang="en-US" sz="3600" dirty="0">
                <a:solidFill>
                  <a:schemeClr val="tx1"/>
                </a:solidFill>
              </a:rPr>
              <a:t>#no shut</a:t>
            </a:r>
          </a:p>
          <a:p>
            <a:pPr algn="l"/>
            <a:r>
              <a:rPr lang="en-US" sz="3600" dirty="0">
                <a:solidFill>
                  <a:schemeClr val="tx1"/>
                </a:solidFill>
              </a:rPr>
              <a:t>#</a:t>
            </a:r>
            <a:r>
              <a:rPr lang="en-US" sz="3600" dirty="0" err="1">
                <a:solidFill>
                  <a:schemeClr val="tx1"/>
                </a:solidFill>
              </a:rPr>
              <a:t>nameif</a:t>
            </a:r>
            <a:r>
              <a:rPr lang="en-US" sz="3600" dirty="0">
                <a:solidFill>
                  <a:schemeClr val="tx1"/>
                </a:solidFill>
              </a:rPr>
              <a:t> inside</a:t>
            </a:r>
          </a:p>
          <a:p>
            <a:pPr algn="l"/>
            <a:r>
              <a:rPr lang="en-US" sz="3600" dirty="0">
                <a:solidFill>
                  <a:schemeClr val="tx1"/>
                </a:solidFill>
              </a:rPr>
              <a:t>#security-level 100 </a:t>
            </a:r>
            <a:r>
              <a:rPr lang="en-US" sz="2400" dirty="0">
                <a:solidFill>
                  <a:schemeClr val="accent6">
                    <a:lumMod val="75000"/>
                  </a:schemeClr>
                </a:solidFill>
              </a:rPr>
              <a:t>( Security Level has to give for packet </a:t>
            </a:r>
            <a:r>
              <a:rPr lang="en-US" sz="2400" dirty="0" smtClean="0">
                <a:solidFill>
                  <a:schemeClr val="accent6">
                    <a:lumMod val="75000"/>
                  </a:schemeClr>
                </a:solidFill>
              </a:rPr>
              <a:t>return back</a:t>
            </a:r>
            <a:r>
              <a:rPr lang="en-US" sz="2400" dirty="0">
                <a:solidFill>
                  <a:schemeClr val="accent6">
                    <a:lumMod val="75000"/>
                  </a:schemeClr>
                </a:solidFill>
              </a:rPr>
              <a:t>)</a:t>
            </a:r>
          </a:p>
          <a:p>
            <a:pPr algn="l"/>
            <a:r>
              <a:rPr lang="en-US" sz="3600" dirty="0">
                <a:solidFill>
                  <a:schemeClr val="tx1"/>
                </a:solidFill>
              </a:rPr>
              <a:t>#exit</a:t>
            </a:r>
          </a:p>
          <a:p>
            <a:pPr algn="l"/>
            <a:r>
              <a:rPr lang="en-US" sz="3600" dirty="0">
                <a:solidFill>
                  <a:schemeClr val="tx1"/>
                </a:solidFill>
              </a:rPr>
              <a:t>#</a:t>
            </a:r>
            <a:r>
              <a:rPr lang="en-US" sz="3600" dirty="0" err="1">
                <a:solidFill>
                  <a:schemeClr val="tx1"/>
                </a:solidFill>
              </a:rPr>
              <a:t>int</a:t>
            </a:r>
            <a:r>
              <a:rPr lang="en-US" sz="3600" dirty="0">
                <a:solidFill>
                  <a:schemeClr val="tx1"/>
                </a:solidFill>
              </a:rPr>
              <a:t> gig1/2</a:t>
            </a:r>
          </a:p>
          <a:p>
            <a:pPr algn="l"/>
            <a:r>
              <a:rPr lang="en-US" sz="3600" dirty="0">
                <a:solidFill>
                  <a:schemeClr val="tx1"/>
                </a:solidFill>
              </a:rPr>
              <a:t>#</a:t>
            </a:r>
            <a:r>
              <a:rPr lang="en-US" sz="3600" dirty="0" err="1">
                <a:solidFill>
                  <a:schemeClr val="tx1"/>
                </a:solidFill>
              </a:rPr>
              <a:t>ip</a:t>
            </a:r>
            <a:r>
              <a:rPr lang="en-US" sz="3600" dirty="0">
                <a:solidFill>
                  <a:schemeClr val="tx1"/>
                </a:solidFill>
              </a:rPr>
              <a:t> add 100.100.100.10 255.0.0.0</a:t>
            </a:r>
          </a:p>
          <a:p>
            <a:pPr algn="l"/>
            <a:r>
              <a:rPr lang="en-US" sz="3600" dirty="0">
                <a:solidFill>
                  <a:schemeClr val="tx1"/>
                </a:solidFill>
              </a:rPr>
              <a:t>#no </a:t>
            </a:r>
            <a:r>
              <a:rPr lang="en-US" sz="3600" dirty="0" smtClean="0">
                <a:solidFill>
                  <a:schemeClr val="tx1"/>
                </a:solidFill>
              </a:rPr>
              <a:t>shut</a:t>
            </a:r>
            <a:endParaRPr lang="en-US" sz="3600" dirty="0">
              <a:solidFill>
                <a:schemeClr val="tx1"/>
              </a:solidFill>
            </a:endParaRPr>
          </a:p>
        </p:txBody>
      </p:sp>
    </p:spTree>
    <p:extLst>
      <p:ext uri="{BB962C8B-B14F-4D97-AF65-F5344CB8AC3E}">
        <p14:creationId xmlns:p14="http://schemas.microsoft.com/office/powerpoint/2010/main" val="3546553699"/>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086" y="296839"/>
            <a:ext cx="8140890" cy="6185848"/>
          </a:xfrm>
        </p:spPr>
        <p:txBody>
          <a:bodyPr>
            <a:normAutofit fontScale="92500" lnSpcReduction="10000"/>
          </a:bodyPr>
          <a:lstStyle/>
          <a:p>
            <a:pPr algn="l"/>
            <a:r>
              <a:rPr lang="en-US" sz="3600" dirty="0">
                <a:solidFill>
                  <a:schemeClr val="tx1"/>
                </a:solidFill>
              </a:rPr>
              <a:t>#</a:t>
            </a:r>
            <a:r>
              <a:rPr lang="en-US" sz="3600" dirty="0" err="1">
                <a:solidFill>
                  <a:schemeClr val="tx1"/>
                </a:solidFill>
              </a:rPr>
              <a:t>nameif</a:t>
            </a:r>
            <a:r>
              <a:rPr lang="en-US" sz="3600" dirty="0">
                <a:solidFill>
                  <a:schemeClr val="tx1"/>
                </a:solidFill>
              </a:rPr>
              <a:t> outside</a:t>
            </a:r>
          </a:p>
          <a:p>
            <a:pPr algn="l"/>
            <a:r>
              <a:rPr lang="en-US" sz="3600" dirty="0">
                <a:solidFill>
                  <a:schemeClr val="tx1"/>
                </a:solidFill>
              </a:rPr>
              <a:t>#security-level 100</a:t>
            </a:r>
          </a:p>
          <a:p>
            <a:pPr algn="l"/>
            <a:r>
              <a:rPr lang="en-US" sz="3600" dirty="0">
                <a:solidFill>
                  <a:schemeClr val="tx1"/>
                </a:solidFill>
              </a:rPr>
              <a:t>#end</a:t>
            </a:r>
          </a:p>
          <a:p>
            <a:pPr algn="l"/>
            <a:endParaRPr lang="en-US" sz="3600" dirty="0">
              <a:solidFill>
                <a:schemeClr val="tx1"/>
              </a:solidFill>
            </a:endParaRPr>
          </a:p>
          <a:p>
            <a:pPr algn="l"/>
            <a:r>
              <a:rPr lang="en-US" sz="3600" dirty="0">
                <a:solidFill>
                  <a:schemeClr val="tx1"/>
                </a:solidFill>
              </a:rPr>
              <a:t>#show </a:t>
            </a:r>
            <a:r>
              <a:rPr lang="en-US" sz="3600" dirty="0" err="1">
                <a:solidFill>
                  <a:schemeClr val="tx1"/>
                </a:solidFill>
              </a:rPr>
              <a:t>int</a:t>
            </a:r>
            <a:r>
              <a:rPr lang="en-US" sz="3600" dirty="0">
                <a:solidFill>
                  <a:schemeClr val="tx1"/>
                </a:solidFill>
              </a:rPr>
              <a:t> </a:t>
            </a:r>
            <a:r>
              <a:rPr lang="en-US" sz="3600" dirty="0" smtClean="0">
                <a:solidFill>
                  <a:schemeClr val="accent6">
                    <a:lumMod val="75000"/>
                  </a:schemeClr>
                </a:solidFill>
              </a:rPr>
              <a:t>(show </a:t>
            </a:r>
            <a:r>
              <a:rPr lang="en-US" sz="3600" dirty="0" err="1">
                <a:solidFill>
                  <a:schemeClr val="accent6">
                    <a:lumMod val="75000"/>
                  </a:schemeClr>
                </a:solidFill>
              </a:rPr>
              <a:t>firwall</a:t>
            </a:r>
            <a:r>
              <a:rPr lang="en-US" sz="3600" dirty="0">
                <a:solidFill>
                  <a:schemeClr val="accent6">
                    <a:lumMod val="75000"/>
                  </a:schemeClr>
                </a:solidFill>
              </a:rPr>
              <a:t> details)</a:t>
            </a:r>
          </a:p>
          <a:p>
            <a:pPr algn="l"/>
            <a:r>
              <a:rPr lang="en-US" sz="3600" dirty="0">
                <a:solidFill>
                  <a:schemeClr val="tx1"/>
                </a:solidFill>
              </a:rPr>
              <a:t>#show </a:t>
            </a:r>
            <a:r>
              <a:rPr lang="en-US" sz="3600" dirty="0" err="1">
                <a:solidFill>
                  <a:schemeClr val="tx1"/>
                </a:solidFill>
              </a:rPr>
              <a:t>int</a:t>
            </a:r>
            <a:r>
              <a:rPr lang="en-US" sz="3600" dirty="0">
                <a:solidFill>
                  <a:schemeClr val="tx1"/>
                </a:solidFill>
              </a:rPr>
              <a:t> </a:t>
            </a:r>
            <a:r>
              <a:rPr lang="en-US" sz="3600" dirty="0" err="1">
                <a:solidFill>
                  <a:schemeClr val="tx1"/>
                </a:solidFill>
              </a:rPr>
              <a:t>ip</a:t>
            </a:r>
            <a:r>
              <a:rPr lang="en-US" sz="3600" dirty="0">
                <a:solidFill>
                  <a:schemeClr val="tx1"/>
                </a:solidFill>
              </a:rPr>
              <a:t> brief </a:t>
            </a:r>
            <a:r>
              <a:rPr lang="en-US" sz="3600" dirty="0" smtClean="0">
                <a:solidFill>
                  <a:schemeClr val="accent6">
                    <a:lumMod val="75000"/>
                  </a:schemeClr>
                </a:solidFill>
              </a:rPr>
              <a:t>(configuration </a:t>
            </a:r>
            <a:r>
              <a:rPr lang="en-US" sz="3600" dirty="0">
                <a:solidFill>
                  <a:schemeClr val="accent6">
                    <a:lumMod val="75000"/>
                  </a:schemeClr>
                </a:solidFill>
              </a:rPr>
              <a:t>made by us)</a:t>
            </a:r>
          </a:p>
          <a:p>
            <a:pPr algn="l"/>
            <a:endParaRPr lang="en-US" sz="3600" dirty="0">
              <a:solidFill>
                <a:schemeClr val="tx1"/>
              </a:solidFill>
            </a:endParaRPr>
          </a:p>
          <a:p>
            <a:pPr algn="l"/>
            <a:r>
              <a:rPr lang="en-US" sz="3600" dirty="0">
                <a:solidFill>
                  <a:schemeClr val="tx1"/>
                </a:solidFill>
              </a:rPr>
              <a:t>#</a:t>
            </a:r>
            <a:r>
              <a:rPr lang="en-US" sz="3600" dirty="0" err="1">
                <a:solidFill>
                  <a:schemeClr val="tx1"/>
                </a:solidFill>
              </a:rPr>
              <a:t>config</a:t>
            </a:r>
            <a:r>
              <a:rPr lang="en-US" sz="3600" dirty="0">
                <a:solidFill>
                  <a:schemeClr val="tx1"/>
                </a:solidFill>
              </a:rPr>
              <a:t> t</a:t>
            </a:r>
          </a:p>
          <a:p>
            <a:pPr algn="l"/>
            <a:r>
              <a:rPr lang="en-US" sz="3600" dirty="0">
                <a:solidFill>
                  <a:schemeClr val="tx1"/>
                </a:solidFill>
              </a:rPr>
              <a:t>#router </a:t>
            </a:r>
            <a:r>
              <a:rPr lang="en-US" sz="3600" dirty="0" err="1">
                <a:solidFill>
                  <a:schemeClr val="tx1"/>
                </a:solidFill>
              </a:rPr>
              <a:t>eigrp</a:t>
            </a:r>
            <a:r>
              <a:rPr lang="en-US" sz="3600" dirty="0">
                <a:solidFill>
                  <a:schemeClr val="tx1"/>
                </a:solidFill>
              </a:rPr>
              <a:t> 1</a:t>
            </a:r>
          </a:p>
          <a:p>
            <a:pPr algn="l"/>
            <a:r>
              <a:rPr lang="en-US" sz="3600" dirty="0">
                <a:solidFill>
                  <a:schemeClr val="tx1"/>
                </a:solidFill>
              </a:rPr>
              <a:t>#no auto-summary</a:t>
            </a:r>
          </a:p>
          <a:p>
            <a:pPr algn="l"/>
            <a:r>
              <a:rPr lang="en-US" sz="3600" dirty="0">
                <a:solidFill>
                  <a:schemeClr val="tx1"/>
                </a:solidFill>
              </a:rPr>
              <a:t>#network 0.0.0.0</a:t>
            </a:r>
            <a:endParaRPr lang="en-IN" dirty="0">
              <a:solidFill>
                <a:schemeClr val="tx1"/>
              </a:solidFill>
            </a:endParaRPr>
          </a:p>
        </p:txBody>
      </p:sp>
    </p:spTree>
    <p:extLst>
      <p:ext uri="{BB962C8B-B14F-4D97-AF65-F5344CB8AC3E}">
        <p14:creationId xmlns:p14="http://schemas.microsoft.com/office/powerpoint/2010/main" val="1327168495"/>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1069" y="122830"/>
            <a:ext cx="8611737" cy="6550925"/>
          </a:xfrm>
        </p:spPr>
        <p:txBody>
          <a:bodyPr>
            <a:noAutofit/>
          </a:bodyPr>
          <a:lstStyle/>
          <a:p>
            <a:r>
              <a:rPr lang="en-US" sz="1800" b="1" u="sng" dirty="0">
                <a:solidFill>
                  <a:schemeClr val="tx1"/>
                </a:solidFill>
              </a:rPr>
              <a:t>R2</a:t>
            </a:r>
          </a:p>
          <a:p>
            <a:pPr algn="l"/>
            <a:r>
              <a:rPr lang="en-US" sz="1800" dirty="0">
                <a:solidFill>
                  <a:schemeClr val="tx1"/>
                </a:solidFill>
              </a:rPr>
              <a:t>#</a:t>
            </a:r>
            <a:r>
              <a:rPr lang="en-US" sz="1800" dirty="0" err="1">
                <a:solidFill>
                  <a:schemeClr val="tx1"/>
                </a:solidFill>
              </a:rPr>
              <a:t>en</a:t>
            </a:r>
            <a:endParaRPr lang="en-US" sz="1800" dirty="0">
              <a:solidFill>
                <a:schemeClr val="tx1"/>
              </a:solidFill>
            </a:endParaRPr>
          </a:p>
          <a:p>
            <a:pPr algn="l"/>
            <a:r>
              <a:rPr lang="en-US" sz="1800" dirty="0">
                <a:solidFill>
                  <a:schemeClr val="tx1"/>
                </a:solidFill>
              </a:rPr>
              <a:t>#</a:t>
            </a:r>
            <a:r>
              <a:rPr lang="en-US" sz="1800" dirty="0" err="1">
                <a:solidFill>
                  <a:schemeClr val="tx1"/>
                </a:solidFill>
              </a:rPr>
              <a:t>config</a:t>
            </a:r>
            <a:r>
              <a:rPr lang="en-US" sz="1800" dirty="0">
                <a:solidFill>
                  <a:schemeClr val="tx1"/>
                </a:solidFill>
              </a:rPr>
              <a:t> t</a:t>
            </a:r>
          </a:p>
          <a:p>
            <a:pPr algn="l"/>
            <a:r>
              <a:rPr lang="en-US" sz="1800" dirty="0">
                <a:solidFill>
                  <a:schemeClr val="tx1"/>
                </a:solidFill>
              </a:rPr>
              <a:t>#</a:t>
            </a:r>
            <a:r>
              <a:rPr lang="en-US" sz="1800" dirty="0" err="1">
                <a:solidFill>
                  <a:schemeClr val="tx1"/>
                </a:solidFill>
              </a:rPr>
              <a:t>int</a:t>
            </a:r>
            <a:r>
              <a:rPr lang="en-US" sz="1800" dirty="0">
                <a:solidFill>
                  <a:schemeClr val="tx1"/>
                </a:solidFill>
              </a:rPr>
              <a:t> gig0/0/0</a:t>
            </a:r>
          </a:p>
          <a:p>
            <a:pPr algn="l"/>
            <a:r>
              <a:rPr lang="en-US" sz="1800" dirty="0">
                <a:solidFill>
                  <a:schemeClr val="tx1"/>
                </a:solidFill>
              </a:rPr>
              <a:t>#</a:t>
            </a:r>
            <a:r>
              <a:rPr lang="en-US" sz="1800" dirty="0" err="1">
                <a:solidFill>
                  <a:schemeClr val="tx1"/>
                </a:solidFill>
              </a:rPr>
              <a:t>ip</a:t>
            </a:r>
            <a:r>
              <a:rPr lang="en-US" sz="1800" dirty="0">
                <a:solidFill>
                  <a:schemeClr val="tx1"/>
                </a:solidFill>
              </a:rPr>
              <a:t> add </a:t>
            </a:r>
            <a:r>
              <a:rPr lang="en-US" sz="1800" smtClean="0">
                <a:solidFill>
                  <a:schemeClr val="tx1"/>
                </a:solidFill>
              </a:rPr>
              <a:t>192.168.2.1 255.255.255.0</a:t>
            </a:r>
            <a:endParaRPr lang="en-US" sz="1800" dirty="0">
              <a:solidFill>
                <a:schemeClr val="tx1"/>
              </a:solidFill>
            </a:endParaRPr>
          </a:p>
          <a:p>
            <a:pPr algn="l"/>
            <a:r>
              <a:rPr lang="en-US" sz="1800" dirty="0">
                <a:solidFill>
                  <a:schemeClr val="tx1"/>
                </a:solidFill>
              </a:rPr>
              <a:t>#no shut</a:t>
            </a:r>
          </a:p>
          <a:p>
            <a:pPr algn="l"/>
            <a:r>
              <a:rPr lang="en-US" sz="1800" dirty="0">
                <a:solidFill>
                  <a:schemeClr val="tx1"/>
                </a:solidFill>
              </a:rPr>
              <a:t>#ex</a:t>
            </a:r>
          </a:p>
          <a:p>
            <a:pPr algn="l"/>
            <a:r>
              <a:rPr lang="en-US" sz="1800" dirty="0">
                <a:solidFill>
                  <a:schemeClr val="tx1"/>
                </a:solidFill>
              </a:rPr>
              <a:t>#</a:t>
            </a:r>
            <a:r>
              <a:rPr lang="en-US" sz="1800" dirty="0" err="1">
                <a:solidFill>
                  <a:schemeClr val="tx1"/>
                </a:solidFill>
              </a:rPr>
              <a:t>int</a:t>
            </a:r>
            <a:r>
              <a:rPr lang="en-US" sz="1800" dirty="0">
                <a:solidFill>
                  <a:schemeClr val="tx1"/>
                </a:solidFill>
              </a:rPr>
              <a:t> loopback 0</a:t>
            </a:r>
          </a:p>
          <a:p>
            <a:pPr algn="l"/>
            <a:r>
              <a:rPr lang="en-US" sz="1800" dirty="0">
                <a:solidFill>
                  <a:schemeClr val="tx1"/>
                </a:solidFill>
              </a:rPr>
              <a:t>#</a:t>
            </a:r>
            <a:r>
              <a:rPr lang="en-US" sz="1800" dirty="0" err="1">
                <a:solidFill>
                  <a:schemeClr val="tx1"/>
                </a:solidFill>
              </a:rPr>
              <a:t>ip</a:t>
            </a:r>
            <a:r>
              <a:rPr lang="en-US" sz="1800" dirty="0">
                <a:solidFill>
                  <a:schemeClr val="tx1"/>
                </a:solidFill>
              </a:rPr>
              <a:t> add 8.8.8.8 255.255.255.255</a:t>
            </a:r>
          </a:p>
          <a:p>
            <a:pPr algn="l"/>
            <a:r>
              <a:rPr lang="en-US" sz="1800" dirty="0">
                <a:solidFill>
                  <a:schemeClr val="tx1"/>
                </a:solidFill>
              </a:rPr>
              <a:t>#ex</a:t>
            </a:r>
          </a:p>
          <a:p>
            <a:pPr algn="l"/>
            <a:endParaRPr lang="en-US" sz="1800" dirty="0">
              <a:solidFill>
                <a:schemeClr val="tx1"/>
              </a:solidFill>
            </a:endParaRPr>
          </a:p>
          <a:p>
            <a:pPr algn="l"/>
            <a:r>
              <a:rPr lang="en-US" sz="1800" dirty="0">
                <a:solidFill>
                  <a:schemeClr val="tx1"/>
                </a:solidFill>
              </a:rPr>
              <a:t>#router </a:t>
            </a:r>
            <a:r>
              <a:rPr lang="en-US" sz="1800" dirty="0" err="1">
                <a:solidFill>
                  <a:schemeClr val="tx1"/>
                </a:solidFill>
              </a:rPr>
              <a:t>eigrp</a:t>
            </a:r>
            <a:r>
              <a:rPr lang="en-US" sz="1800" dirty="0">
                <a:solidFill>
                  <a:schemeClr val="tx1"/>
                </a:solidFill>
              </a:rPr>
              <a:t> 1</a:t>
            </a:r>
          </a:p>
          <a:p>
            <a:pPr algn="l"/>
            <a:r>
              <a:rPr lang="en-US" sz="1800" dirty="0">
                <a:solidFill>
                  <a:schemeClr val="tx1"/>
                </a:solidFill>
              </a:rPr>
              <a:t>#no auto-summary</a:t>
            </a:r>
          </a:p>
          <a:p>
            <a:pPr algn="l"/>
            <a:r>
              <a:rPr lang="en-US" sz="1800" dirty="0">
                <a:solidFill>
                  <a:schemeClr val="tx1"/>
                </a:solidFill>
              </a:rPr>
              <a:t>#network 0.0.0.0</a:t>
            </a:r>
          </a:p>
          <a:p>
            <a:pPr algn="l"/>
            <a:r>
              <a:rPr lang="en-US" sz="1800" dirty="0">
                <a:solidFill>
                  <a:schemeClr val="tx1"/>
                </a:solidFill>
              </a:rPr>
              <a:t>#username admin </a:t>
            </a:r>
            <a:r>
              <a:rPr lang="en-US" sz="1800" dirty="0" err="1">
                <a:solidFill>
                  <a:schemeClr val="tx1"/>
                </a:solidFill>
              </a:rPr>
              <a:t>privilage</a:t>
            </a:r>
            <a:r>
              <a:rPr lang="en-US" sz="1800" dirty="0">
                <a:solidFill>
                  <a:schemeClr val="tx1"/>
                </a:solidFill>
              </a:rPr>
              <a:t> 15 password </a:t>
            </a:r>
            <a:r>
              <a:rPr lang="en-US" sz="1800" dirty="0" smtClean="0">
                <a:solidFill>
                  <a:schemeClr val="tx1"/>
                </a:solidFill>
              </a:rPr>
              <a:t>admin123 </a:t>
            </a:r>
            <a:r>
              <a:rPr lang="en-US" sz="1800" dirty="0" smtClean="0">
                <a:solidFill>
                  <a:schemeClr val="accent6">
                    <a:lumMod val="75000"/>
                  </a:schemeClr>
                </a:solidFill>
              </a:rPr>
              <a:t>(</a:t>
            </a:r>
            <a:r>
              <a:rPr lang="en-US" sz="1800" dirty="0">
                <a:solidFill>
                  <a:schemeClr val="accent6">
                    <a:lumMod val="75000"/>
                  </a:schemeClr>
                </a:solidFill>
              </a:rPr>
              <a:t>firewall </a:t>
            </a:r>
            <a:r>
              <a:rPr lang="en-US" sz="1800" dirty="0" err="1">
                <a:solidFill>
                  <a:schemeClr val="accent6">
                    <a:lumMod val="75000"/>
                  </a:schemeClr>
                </a:solidFill>
              </a:rPr>
              <a:t>securtity</a:t>
            </a:r>
            <a:r>
              <a:rPr lang="en-US" sz="1800" dirty="0">
                <a:solidFill>
                  <a:schemeClr val="accent6">
                    <a:lumMod val="75000"/>
                  </a:schemeClr>
                </a:solidFill>
              </a:rPr>
              <a:t> command)</a:t>
            </a:r>
          </a:p>
          <a:p>
            <a:pPr algn="l"/>
            <a:r>
              <a:rPr lang="en-US" sz="1800" dirty="0">
                <a:solidFill>
                  <a:schemeClr val="tx1"/>
                </a:solidFill>
              </a:rPr>
              <a:t>#line </a:t>
            </a:r>
            <a:r>
              <a:rPr lang="en-US" sz="1800" dirty="0" err="1">
                <a:solidFill>
                  <a:schemeClr val="tx1"/>
                </a:solidFill>
              </a:rPr>
              <a:t>vty</a:t>
            </a:r>
            <a:r>
              <a:rPr lang="en-US" sz="1800" dirty="0">
                <a:solidFill>
                  <a:schemeClr val="tx1"/>
                </a:solidFill>
              </a:rPr>
              <a:t> 0 4</a:t>
            </a:r>
          </a:p>
          <a:p>
            <a:pPr algn="l"/>
            <a:r>
              <a:rPr lang="en-US" sz="1800" dirty="0">
                <a:solidFill>
                  <a:schemeClr val="tx1"/>
                </a:solidFill>
              </a:rPr>
              <a:t>#login local</a:t>
            </a:r>
          </a:p>
          <a:p>
            <a:pPr algn="l"/>
            <a:r>
              <a:rPr lang="en-US" sz="1800" dirty="0">
                <a:solidFill>
                  <a:schemeClr val="tx1"/>
                </a:solidFill>
              </a:rPr>
              <a:t>#transport input all</a:t>
            </a:r>
          </a:p>
          <a:p>
            <a:pPr algn="l"/>
            <a:r>
              <a:rPr lang="en-US" sz="1800" dirty="0">
                <a:solidFill>
                  <a:schemeClr val="tx1"/>
                </a:solidFill>
              </a:rPr>
              <a:t>#exit</a:t>
            </a:r>
            <a:endParaRPr lang="en-IN" sz="1600" dirty="0">
              <a:solidFill>
                <a:schemeClr val="tx1"/>
              </a:solidFill>
            </a:endParaRPr>
          </a:p>
        </p:txBody>
      </p:sp>
    </p:spTree>
    <p:extLst>
      <p:ext uri="{BB962C8B-B14F-4D97-AF65-F5344CB8AC3E}">
        <p14:creationId xmlns:p14="http://schemas.microsoft.com/office/powerpoint/2010/main" val="2305403568"/>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6478" y="136478"/>
            <a:ext cx="8911988" cy="6578221"/>
          </a:xfrm>
        </p:spPr>
        <p:txBody>
          <a:bodyPr>
            <a:normAutofit fontScale="62500" lnSpcReduction="20000"/>
          </a:bodyPr>
          <a:lstStyle/>
          <a:p>
            <a:pPr algn="l"/>
            <a:r>
              <a:rPr lang="en-US" sz="3600" dirty="0" smtClean="0">
                <a:solidFill>
                  <a:schemeClr val="tx1"/>
                </a:solidFill>
              </a:rPr>
              <a:t>#</a:t>
            </a:r>
            <a:r>
              <a:rPr lang="en-US" sz="3600" dirty="0" err="1">
                <a:solidFill>
                  <a:schemeClr val="tx1"/>
                </a:solidFill>
              </a:rPr>
              <a:t>int</a:t>
            </a:r>
            <a:r>
              <a:rPr lang="en-US" sz="3600" dirty="0">
                <a:solidFill>
                  <a:schemeClr val="tx1"/>
                </a:solidFill>
              </a:rPr>
              <a:t> gig0/0/1</a:t>
            </a:r>
          </a:p>
          <a:p>
            <a:pPr algn="l"/>
            <a:r>
              <a:rPr lang="en-US" sz="3600" dirty="0">
                <a:solidFill>
                  <a:schemeClr val="tx1"/>
                </a:solidFill>
              </a:rPr>
              <a:t>#</a:t>
            </a:r>
            <a:r>
              <a:rPr lang="en-US" sz="3600" dirty="0" err="1">
                <a:solidFill>
                  <a:schemeClr val="tx1"/>
                </a:solidFill>
              </a:rPr>
              <a:t>ip</a:t>
            </a:r>
            <a:r>
              <a:rPr lang="en-US" sz="3600" dirty="0">
                <a:solidFill>
                  <a:schemeClr val="tx1"/>
                </a:solidFill>
              </a:rPr>
              <a:t> add 100.100.100.20 255.255.255.0</a:t>
            </a:r>
          </a:p>
          <a:p>
            <a:pPr algn="l"/>
            <a:r>
              <a:rPr lang="en-US" sz="3600" dirty="0">
                <a:solidFill>
                  <a:schemeClr val="tx1"/>
                </a:solidFill>
              </a:rPr>
              <a:t>#no shut</a:t>
            </a:r>
          </a:p>
          <a:p>
            <a:pPr algn="l"/>
            <a:endParaRPr lang="en-US" sz="3600" dirty="0">
              <a:solidFill>
                <a:schemeClr val="tx1"/>
              </a:solidFill>
            </a:endParaRPr>
          </a:p>
          <a:p>
            <a:pPr algn="l"/>
            <a:r>
              <a:rPr lang="en-US" sz="3600" b="1" dirty="0">
                <a:solidFill>
                  <a:schemeClr val="tx1"/>
                </a:solidFill>
              </a:rPr>
              <a:t>set IP to all PC's</a:t>
            </a:r>
          </a:p>
          <a:p>
            <a:pPr algn="l"/>
            <a:r>
              <a:rPr lang="en-US" sz="3600" dirty="0">
                <a:solidFill>
                  <a:schemeClr val="tx1"/>
                </a:solidFill>
              </a:rPr>
              <a:t>PC0-</a:t>
            </a:r>
            <a:r>
              <a:rPr lang="en-US" sz="3600" dirty="0" smtClean="0">
                <a:solidFill>
                  <a:schemeClr val="tx1"/>
                </a:solidFill>
              </a:rPr>
              <a:t>&gt; </a:t>
            </a:r>
            <a:r>
              <a:rPr lang="en-US" sz="3600" dirty="0" err="1" smtClean="0">
                <a:solidFill>
                  <a:schemeClr val="tx1"/>
                </a:solidFill>
              </a:rPr>
              <a:t>cmd</a:t>
            </a:r>
            <a:r>
              <a:rPr lang="en-US" sz="3600" dirty="0" smtClean="0">
                <a:solidFill>
                  <a:schemeClr val="tx1"/>
                </a:solidFill>
              </a:rPr>
              <a:t> --&gt; ping </a:t>
            </a:r>
            <a:r>
              <a:rPr lang="en-US" sz="3600" dirty="0">
                <a:solidFill>
                  <a:schemeClr val="tx1"/>
                </a:solidFill>
              </a:rPr>
              <a:t>8.8.8.8 </a:t>
            </a:r>
            <a:r>
              <a:rPr lang="en-US" sz="3600" dirty="0">
                <a:solidFill>
                  <a:schemeClr val="accent6">
                    <a:lumMod val="75000"/>
                  </a:schemeClr>
                </a:solidFill>
              </a:rPr>
              <a:t>(R2 </a:t>
            </a:r>
            <a:r>
              <a:rPr lang="en-US" sz="3600" dirty="0" smtClean="0">
                <a:solidFill>
                  <a:schemeClr val="accent6">
                    <a:lumMod val="75000"/>
                  </a:schemeClr>
                </a:solidFill>
              </a:rPr>
              <a:t>loopback IP is </a:t>
            </a:r>
            <a:r>
              <a:rPr lang="en-US" sz="3600" dirty="0">
                <a:solidFill>
                  <a:schemeClr val="accent6">
                    <a:lumMod val="75000"/>
                  </a:schemeClr>
                </a:solidFill>
              </a:rPr>
              <a:t>reflect in R1) </a:t>
            </a:r>
          </a:p>
          <a:p>
            <a:pPr algn="l"/>
            <a:r>
              <a:rPr lang="en-US" sz="3600" dirty="0">
                <a:solidFill>
                  <a:schemeClr val="tx1"/>
                </a:solidFill>
              </a:rPr>
              <a:t>PC0-&gt;Telnet/SSH--&gt;</a:t>
            </a:r>
          </a:p>
          <a:p>
            <a:pPr algn="l"/>
            <a:r>
              <a:rPr lang="en-US" sz="3600" dirty="0">
                <a:solidFill>
                  <a:schemeClr val="tx1"/>
                </a:solidFill>
              </a:rPr>
              <a:t>connection Type - Telnet</a:t>
            </a:r>
          </a:p>
          <a:p>
            <a:pPr algn="l"/>
            <a:r>
              <a:rPr lang="en-US" sz="3600" dirty="0">
                <a:solidFill>
                  <a:schemeClr val="tx1"/>
                </a:solidFill>
              </a:rPr>
              <a:t>IP - 8.8.8.8  ---&gt; connect</a:t>
            </a:r>
          </a:p>
          <a:p>
            <a:pPr algn="l"/>
            <a:endParaRPr lang="en-US" sz="3600" dirty="0">
              <a:solidFill>
                <a:schemeClr val="tx1"/>
              </a:solidFill>
            </a:endParaRPr>
          </a:p>
          <a:p>
            <a:pPr algn="l"/>
            <a:r>
              <a:rPr lang="en-US" sz="3600" b="1" dirty="0" smtClean="0">
                <a:solidFill>
                  <a:schemeClr val="tx1"/>
                </a:solidFill>
              </a:rPr>
              <a:t>It </a:t>
            </a:r>
            <a:r>
              <a:rPr lang="en-US" sz="3600" b="1" dirty="0">
                <a:solidFill>
                  <a:schemeClr val="tx1"/>
                </a:solidFill>
              </a:rPr>
              <a:t>will ask user credential</a:t>
            </a:r>
          </a:p>
          <a:p>
            <a:pPr algn="l"/>
            <a:r>
              <a:rPr lang="en-US" sz="3600" dirty="0">
                <a:solidFill>
                  <a:schemeClr val="tx1"/>
                </a:solidFill>
              </a:rPr>
              <a:t>&gt;admin</a:t>
            </a:r>
          </a:p>
          <a:p>
            <a:pPr algn="l"/>
            <a:r>
              <a:rPr lang="en-US" sz="3600" dirty="0">
                <a:solidFill>
                  <a:schemeClr val="tx1"/>
                </a:solidFill>
              </a:rPr>
              <a:t>&gt;admin123</a:t>
            </a:r>
          </a:p>
          <a:p>
            <a:pPr algn="l"/>
            <a:endParaRPr lang="en-US" sz="3600" dirty="0">
              <a:solidFill>
                <a:schemeClr val="tx1"/>
              </a:solidFill>
            </a:endParaRPr>
          </a:p>
          <a:p>
            <a:pPr algn="l"/>
            <a:r>
              <a:rPr lang="en-US" sz="3600" dirty="0">
                <a:solidFill>
                  <a:schemeClr val="tx1"/>
                </a:solidFill>
              </a:rPr>
              <a:t>&gt;</a:t>
            </a:r>
            <a:r>
              <a:rPr lang="en-US" sz="3600" dirty="0" err="1">
                <a:solidFill>
                  <a:schemeClr val="tx1"/>
                </a:solidFill>
              </a:rPr>
              <a:t>config</a:t>
            </a:r>
            <a:r>
              <a:rPr lang="en-US" sz="3600" dirty="0">
                <a:solidFill>
                  <a:schemeClr val="tx1"/>
                </a:solidFill>
              </a:rPr>
              <a:t> t</a:t>
            </a:r>
          </a:p>
          <a:p>
            <a:pPr algn="l"/>
            <a:r>
              <a:rPr lang="en-US" sz="3600" dirty="0">
                <a:solidFill>
                  <a:schemeClr val="tx1"/>
                </a:solidFill>
              </a:rPr>
              <a:t>&gt;ex</a:t>
            </a:r>
          </a:p>
          <a:p>
            <a:pPr algn="l"/>
            <a:endParaRPr lang="en-US" sz="3600" dirty="0">
              <a:solidFill>
                <a:schemeClr val="tx1"/>
              </a:solidFill>
            </a:endParaRPr>
          </a:p>
          <a:p>
            <a:pPr algn="l"/>
            <a:r>
              <a:rPr lang="en-US" sz="3600" dirty="0">
                <a:solidFill>
                  <a:schemeClr val="tx1"/>
                </a:solidFill>
              </a:rPr>
              <a:t>&gt;</a:t>
            </a:r>
            <a:r>
              <a:rPr lang="en-US" sz="3600" b="1" dirty="0">
                <a:solidFill>
                  <a:schemeClr val="tx1"/>
                </a:solidFill>
              </a:rPr>
              <a:t>ping 8.8.8.8</a:t>
            </a:r>
            <a:endParaRPr lang="en-IN" b="1" dirty="0">
              <a:solidFill>
                <a:schemeClr val="tx1"/>
              </a:solidFill>
            </a:endParaRPr>
          </a:p>
        </p:txBody>
      </p:sp>
    </p:spTree>
    <p:extLst>
      <p:ext uri="{BB962C8B-B14F-4D97-AF65-F5344CB8AC3E}">
        <p14:creationId xmlns:p14="http://schemas.microsoft.com/office/powerpoint/2010/main" val="3707767081"/>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6478" y="136478"/>
            <a:ext cx="8911988" cy="6578221"/>
          </a:xfrm>
        </p:spPr>
        <p:txBody>
          <a:bodyPr>
            <a:normAutofit fontScale="92500" lnSpcReduction="10000"/>
          </a:bodyPr>
          <a:lstStyle/>
          <a:p>
            <a:r>
              <a:rPr lang="en-IN" b="1" dirty="0" smtClean="0">
                <a:solidFill>
                  <a:schemeClr val="tx1"/>
                </a:solidFill>
              </a:rPr>
              <a:t>VPN - GRE Tunnel</a:t>
            </a:r>
          </a:p>
          <a:p>
            <a:pPr marL="482600" indent="-457200" algn="l">
              <a:lnSpc>
                <a:spcPct val="150000"/>
              </a:lnSpc>
              <a:buFont typeface="Wingdings" panose="05000000000000000000" pitchFamily="2" charset="2"/>
              <a:buChar char="q"/>
            </a:pPr>
            <a:r>
              <a:rPr lang="en-US" sz="2800" dirty="0" smtClean="0">
                <a:solidFill>
                  <a:schemeClr val="tx1"/>
                </a:solidFill>
              </a:rPr>
              <a:t>A </a:t>
            </a:r>
            <a:r>
              <a:rPr lang="en-US" sz="2800" b="1" dirty="0">
                <a:solidFill>
                  <a:schemeClr val="tx1"/>
                </a:solidFill>
              </a:rPr>
              <a:t>VPN (Virtual Private Network)</a:t>
            </a:r>
            <a:r>
              <a:rPr lang="en-US" sz="2800" dirty="0">
                <a:solidFill>
                  <a:schemeClr val="tx1"/>
                </a:solidFill>
              </a:rPr>
              <a:t> is a technology that creates a </a:t>
            </a:r>
            <a:r>
              <a:rPr lang="en-US" sz="2800" b="1" dirty="0">
                <a:solidFill>
                  <a:schemeClr val="tx1"/>
                </a:solidFill>
              </a:rPr>
              <a:t>secure, encrypted connection</a:t>
            </a:r>
            <a:r>
              <a:rPr lang="en-US" sz="2800" dirty="0">
                <a:solidFill>
                  <a:schemeClr val="tx1"/>
                </a:solidFill>
              </a:rPr>
              <a:t> between your device and another network over the internet.</a:t>
            </a:r>
          </a:p>
          <a:p>
            <a:pPr marL="482600" indent="-457200" algn="l">
              <a:lnSpc>
                <a:spcPct val="150000"/>
              </a:lnSpc>
              <a:buFont typeface="Wingdings" panose="05000000000000000000" pitchFamily="2" charset="2"/>
              <a:buChar char="q"/>
            </a:pPr>
            <a:r>
              <a:rPr lang="en-US" sz="2800" dirty="0" smtClean="0">
                <a:solidFill>
                  <a:schemeClr val="tx1"/>
                </a:solidFill>
              </a:rPr>
              <a:t>In </a:t>
            </a:r>
            <a:r>
              <a:rPr lang="en-US" sz="2800" dirty="0">
                <a:solidFill>
                  <a:schemeClr val="tx1"/>
                </a:solidFill>
              </a:rPr>
              <a:t>real-world networking, organizations often need to connect remote branch networks securely over a public or intermediate network. GRE tunneling is a technique that creates a </a:t>
            </a:r>
            <a:r>
              <a:rPr lang="en-US" sz="2800" b="1" dirty="0">
                <a:solidFill>
                  <a:schemeClr val="tx1"/>
                </a:solidFill>
              </a:rPr>
              <a:t>virtual point-to-point link</a:t>
            </a:r>
            <a:r>
              <a:rPr lang="en-US" sz="2800" dirty="0">
                <a:solidFill>
                  <a:schemeClr val="tx1"/>
                </a:solidFill>
              </a:rPr>
              <a:t> between routers, allowing different networks to communicate as if they were directly connected</a:t>
            </a:r>
            <a:r>
              <a:rPr lang="en-US" sz="2800" dirty="0" smtClean="0">
                <a:solidFill>
                  <a:schemeClr val="tx1"/>
                </a:solidFill>
              </a:rPr>
              <a:t>.</a:t>
            </a:r>
          </a:p>
          <a:p>
            <a:pPr marL="482600" indent="-457200" algn="l">
              <a:lnSpc>
                <a:spcPct val="150000"/>
              </a:lnSpc>
              <a:buFont typeface="Wingdings" panose="05000000000000000000" pitchFamily="2" charset="2"/>
              <a:buChar char="q"/>
            </a:pPr>
            <a:r>
              <a:rPr lang="en-US" sz="2800" dirty="0">
                <a:solidFill>
                  <a:schemeClr val="tx1"/>
                </a:solidFill>
              </a:rPr>
              <a:t>Route LAN </a:t>
            </a:r>
            <a:r>
              <a:rPr lang="en-US" sz="2800" dirty="0" smtClean="0">
                <a:solidFill>
                  <a:schemeClr val="tx1"/>
                </a:solidFill>
              </a:rPr>
              <a:t>traffic </a:t>
            </a:r>
            <a:r>
              <a:rPr lang="en-US" sz="2800" dirty="0">
                <a:solidFill>
                  <a:schemeClr val="tx1"/>
                </a:solidFill>
              </a:rPr>
              <a:t>through the GRE </a:t>
            </a:r>
            <a:r>
              <a:rPr lang="en-US" sz="2800" dirty="0" smtClean="0">
                <a:solidFill>
                  <a:schemeClr val="tx1"/>
                </a:solidFill>
              </a:rPr>
              <a:t>tunnel.</a:t>
            </a:r>
          </a:p>
          <a:p>
            <a:pPr marL="482600" indent="-457200" algn="l">
              <a:buFont typeface="Wingdings" panose="05000000000000000000" pitchFamily="2" charset="2"/>
              <a:buChar char="q"/>
            </a:pPr>
            <a:endParaRPr lang="en-IN" b="1" dirty="0">
              <a:solidFill>
                <a:schemeClr val="tx1"/>
              </a:solidFill>
            </a:endParaRPr>
          </a:p>
        </p:txBody>
      </p:sp>
    </p:spTree>
    <p:extLst>
      <p:ext uri="{BB962C8B-B14F-4D97-AF65-F5344CB8AC3E}">
        <p14:creationId xmlns:p14="http://schemas.microsoft.com/office/powerpoint/2010/main" val="1002920894"/>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6478" y="136478"/>
            <a:ext cx="8911988" cy="6578221"/>
          </a:xfrm>
        </p:spPr>
        <p:txBody>
          <a:bodyPr>
            <a:normAutofit fontScale="70000" lnSpcReduction="20000"/>
          </a:bodyPr>
          <a:lstStyle/>
          <a:p>
            <a:pPr marL="482600" indent="-457200" algn="l">
              <a:lnSpc>
                <a:spcPct val="160000"/>
              </a:lnSpc>
              <a:buFont typeface="Wingdings" panose="05000000000000000000" pitchFamily="2" charset="2"/>
              <a:buChar char="q"/>
            </a:pPr>
            <a:r>
              <a:rPr lang="en-US" dirty="0" smtClean="0">
                <a:solidFill>
                  <a:schemeClr val="tx1"/>
                </a:solidFill>
              </a:rPr>
              <a:t>A </a:t>
            </a:r>
            <a:r>
              <a:rPr lang="en-US" b="1" dirty="0">
                <a:solidFill>
                  <a:schemeClr val="tx1"/>
                </a:solidFill>
              </a:rPr>
              <a:t>VPN is a secure tunnel</a:t>
            </a:r>
            <a:r>
              <a:rPr lang="en-US" dirty="0">
                <a:solidFill>
                  <a:schemeClr val="tx1"/>
                </a:solidFill>
              </a:rPr>
              <a:t> that protects your data and hides your online identity while connecting to another network</a:t>
            </a:r>
            <a:r>
              <a:rPr lang="en-US" dirty="0" smtClean="0">
                <a:solidFill>
                  <a:schemeClr val="tx1"/>
                </a:solidFill>
              </a:rPr>
              <a:t>.</a:t>
            </a:r>
          </a:p>
          <a:p>
            <a:pPr>
              <a:lnSpc>
                <a:spcPct val="160000"/>
              </a:lnSpc>
            </a:pPr>
            <a:r>
              <a:rPr lang="en-US" b="1" u="sng" dirty="0">
                <a:solidFill>
                  <a:schemeClr val="tx1"/>
                </a:solidFill>
              </a:rPr>
              <a:t>A VPN provides three main </a:t>
            </a:r>
            <a:r>
              <a:rPr lang="en-US" b="1" u="sng" dirty="0" smtClean="0">
                <a:solidFill>
                  <a:schemeClr val="tx1"/>
                </a:solidFill>
              </a:rPr>
              <a:t>functions</a:t>
            </a:r>
            <a:endParaRPr lang="en-US" u="sng" dirty="0">
              <a:solidFill>
                <a:schemeClr val="tx1"/>
              </a:solidFill>
            </a:endParaRPr>
          </a:p>
          <a:p>
            <a:pPr algn="l">
              <a:lnSpc>
                <a:spcPct val="160000"/>
              </a:lnSpc>
            </a:pPr>
            <a:r>
              <a:rPr lang="en-US" b="1" dirty="0">
                <a:solidFill>
                  <a:schemeClr val="tx1"/>
                </a:solidFill>
              </a:rPr>
              <a:t>1. Encryption</a:t>
            </a:r>
          </a:p>
          <a:p>
            <a:pPr algn="l">
              <a:lnSpc>
                <a:spcPct val="160000"/>
              </a:lnSpc>
            </a:pPr>
            <a:r>
              <a:rPr lang="en-US" dirty="0">
                <a:solidFill>
                  <a:schemeClr val="tx1"/>
                </a:solidFill>
              </a:rPr>
              <a:t>It encrypts your data so no one can read it (hackers, </a:t>
            </a:r>
            <a:r>
              <a:rPr lang="en-US" dirty="0" smtClean="0">
                <a:solidFill>
                  <a:schemeClr val="tx1"/>
                </a:solidFill>
              </a:rPr>
              <a:t>ISP, public </a:t>
            </a:r>
            <a:r>
              <a:rPr lang="en-US" dirty="0">
                <a:solidFill>
                  <a:schemeClr val="tx1"/>
                </a:solidFill>
              </a:rPr>
              <a:t>Wi-Fi attackers).</a:t>
            </a:r>
          </a:p>
          <a:p>
            <a:pPr algn="l">
              <a:lnSpc>
                <a:spcPct val="160000"/>
              </a:lnSpc>
            </a:pPr>
            <a:r>
              <a:rPr lang="en-US" b="1" dirty="0">
                <a:solidFill>
                  <a:schemeClr val="tx1"/>
                </a:solidFill>
              </a:rPr>
              <a:t>2. Privacy / Anonymity</a:t>
            </a:r>
          </a:p>
          <a:p>
            <a:pPr algn="l">
              <a:lnSpc>
                <a:spcPct val="160000"/>
              </a:lnSpc>
            </a:pPr>
            <a:r>
              <a:rPr lang="en-US" dirty="0">
                <a:solidFill>
                  <a:schemeClr val="tx1"/>
                </a:solidFill>
              </a:rPr>
              <a:t>It hides your original IP address and shows the VPN server's IP instead.</a:t>
            </a:r>
          </a:p>
          <a:p>
            <a:pPr algn="l">
              <a:lnSpc>
                <a:spcPct val="160000"/>
              </a:lnSpc>
            </a:pPr>
            <a:r>
              <a:rPr lang="en-US" b="1" dirty="0">
                <a:solidFill>
                  <a:schemeClr val="tx1"/>
                </a:solidFill>
              </a:rPr>
              <a:t>3. Secure Remote Access</a:t>
            </a:r>
          </a:p>
          <a:p>
            <a:pPr algn="l">
              <a:lnSpc>
                <a:spcPct val="160000"/>
              </a:lnSpc>
            </a:pPr>
            <a:r>
              <a:rPr lang="en-US" dirty="0">
                <a:solidFill>
                  <a:schemeClr val="tx1"/>
                </a:solidFill>
              </a:rPr>
              <a:t>It allows employees or users to securely access private networks from remote locations</a:t>
            </a:r>
            <a:r>
              <a:rPr lang="en-US" dirty="0" smtClean="0">
                <a:solidFill>
                  <a:schemeClr val="tx1"/>
                </a:solidFill>
              </a:rPr>
              <a:t>.</a:t>
            </a:r>
            <a:endParaRPr lang="en-US" dirty="0">
              <a:solidFill>
                <a:schemeClr val="tx1"/>
              </a:solidFill>
            </a:endParaRPr>
          </a:p>
        </p:txBody>
      </p:sp>
    </p:spTree>
    <p:extLst>
      <p:ext uri="{BB962C8B-B14F-4D97-AF65-F5344CB8AC3E}">
        <p14:creationId xmlns:p14="http://schemas.microsoft.com/office/powerpoint/2010/main" val="2071748143"/>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45910"/>
            <a:ext cx="9144000" cy="4380931"/>
          </a:xfrm>
          <a:prstGeom prst="rect">
            <a:avLst/>
          </a:prstGeom>
        </p:spPr>
      </p:pic>
    </p:spTree>
    <p:extLst>
      <p:ext uri="{BB962C8B-B14F-4D97-AF65-F5344CB8AC3E}">
        <p14:creationId xmlns:p14="http://schemas.microsoft.com/office/powerpoint/2010/main" val="1839212331"/>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6478" y="136478"/>
            <a:ext cx="8911988" cy="6578221"/>
          </a:xfrm>
        </p:spPr>
        <p:txBody>
          <a:bodyPr>
            <a:normAutofit fontScale="85000" lnSpcReduction="20000"/>
          </a:bodyPr>
          <a:lstStyle/>
          <a:p>
            <a:pPr algn="l"/>
            <a:r>
              <a:rPr lang="en-IN" b="1" dirty="0">
                <a:solidFill>
                  <a:schemeClr val="tx1"/>
                </a:solidFill>
              </a:rPr>
              <a:t>R1 </a:t>
            </a:r>
          </a:p>
          <a:p>
            <a:pPr algn="l"/>
            <a:r>
              <a:rPr lang="en-IN" dirty="0" err="1">
                <a:solidFill>
                  <a:schemeClr val="tx1"/>
                </a:solidFill>
              </a:rPr>
              <a:t>ip</a:t>
            </a:r>
            <a:r>
              <a:rPr lang="en-IN" dirty="0">
                <a:solidFill>
                  <a:schemeClr val="tx1"/>
                </a:solidFill>
              </a:rPr>
              <a:t> route 0.0.0.0 0.0.0.0 </a:t>
            </a:r>
            <a:r>
              <a:rPr lang="en-IN" dirty="0" smtClean="0">
                <a:solidFill>
                  <a:schemeClr val="tx1"/>
                </a:solidFill>
              </a:rPr>
              <a:t>10.0.0.2</a:t>
            </a:r>
            <a:r>
              <a:rPr lang="en-IN" dirty="0">
                <a:solidFill>
                  <a:schemeClr val="tx1"/>
                </a:solidFill>
              </a:rPr>
              <a:t/>
            </a:r>
            <a:br>
              <a:rPr lang="en-IN" dirty="0">
                <a:solidFill>
                  <a:schemeClr val="tx1"/>
                </a:solidFill>
              </a:rPr>
            </a:br>
            <a:endParaRPr lang="en-IN" dirty="0">
              <a:solidFill>
                <a:schemeClr val="tx1"/>
              </a:solidFill>
            </a:endParaRPr>
          </a:p>
          <a:p>
            <a:pPr algn="l"/>
            <a:r>
              <a:rPr lang="en-IN" b="1" dirty="0">
                <a:solidFill>
                  <a:schemeClr val="tx1"/>
                </a:solidFill>
              </a:rPr>
              <a:t>R2</a:t>
            </a:r>
          </a:p>
          <a:p>
            <a:pPr algn="l"/>
            <a:r>
              <a:rPr lang="en-IN" dirty="0" err="1" smtClean="0">
                <a:solidFill>
                  <a:schemeClr val="tx1"/>
                </a:solidFill>
              </a:rPr>
              <a:t>ip</a:t>
            </a:r>
            <a:r>
              <a:rPr lang="en-IN" dirty="0" smtClean="0">
                <a:solidFill>
                  <a:schemeClr val="tx1"/>
                </a:solidFill>
              </a:rPr>
              <a:t> </a:t>
            </a:r>
            <a:r>
              <a:rPr lang="en-IN" dirty="0">
                <a:solidFill>
                  <a:schemeClr val="tx1"/>
                </a:solidFill>
              </a:rPr>
              <a:t>route 0.0.0.0 0.0.0.0 </a:t>
            </a:r>
            <a:r>
              <a:rPr lang="en-IN" dirty="0" smtClean="0">
                <a:solidFill>
                  <a:schemeClr val="tx1"/>
                </a:solidFill>
              </a:rPr>
              <a:t>20.0.0.1</a:t>
            </a:r>
            <a:endParaRPr lang="en-IN" dirty="0">
              <a:solidFill>
                <a:schemeClr val="tx1"/>
              </a:solidFill>
            </a:endParaRPr>
          </a:p>
          <a:p>
            <a:pPr algn="l"/>
            <a:endParaRPr lang="en-IN" dirty="0">
              <a:solidFill>
                <a:schemeClr val="tx1"/>
              </a:solidFill>
            </a:endParaRPr>
          </a:p>
          <a:p>
            <a:pPr algn="l"/>
            <a:r>
              <a:rPr lang="en-IN" b="1" dirty="0">
                <a:solidFill>
                  <a:schemeClr val="tx1"/>
                </a:solidFill>
              </a:rPr>
              <a:t>R1 </a:t>
            </a:r>
          </a:p>
          <a:p>
            <a:pPr algn="l"/>
            <a:r>
              <a:rPr lang="en-IN" b="1" dirty="0" err="1">
                <a:solidFill>
                  <a:schemeClr val="tx1"/>
                </a:solidFill>
              </a:rPr>
              <a:t>privalege</a:t>
            </a:r>
            <a:r>
              <a:rPr lang="en-IN" b="1" dirty="0">
                <a:solidFill>
                  <a:schemeClr val="tx1"/>
                </a:solidFill>
              </a:rPr>
              <a:t> mode </a:t>
            </a:r>
          </a:p>
          <a:p>
            <a:pPr algn="l"/>
            <a:endParaRPr lang="en-IN" dirty="0">
              <a:solidFill>
                <a:schemeClr val="tx1"/>
              </a:solidFill>
            </a:endParaRPr>
          </a:p>
          <a:p>
            <a:pPr algn="l"/>
            <a:r>
              <a:rPr lang="en-IN" dirty="0">
                <a:solidFill>
                  <a:schemeClr val="tx1"/>
                </a:solidFill>
              </a:rPr>
              <a:t>ping </a:t>
            </a:r>
            <a:r>
              <a:rPr lang="en-IN" dirty="0" smtClean="0">
                <a:solidFill>
                  <a:schemeClr val="tx1"/>
                </a:solidFill>
              </a:rPr>
              <a:t>20.0.0.1</a:t>
            </a:r>
            <a:endParaRPr lang="en-IN" dirty="0">
              <a:solidFill>
                <a:schemeClr val="tx1"/>
              </a:solidFill>
            </a:endParaRPr>
          </a:p>
          <a:p>
            <a:pPr algn="l"/>
            <a:r>
              <a:rPr lang="en-IN" dirty="0" err="1">
                <a:solidFill>
                  <a:schemeClr val="tx1"/>
                </a:solidFill>
              </a:rPr>
              <a:t>config</a:t>
            </a:r>
            <a:r>
              <a:rPr lang="en-IN" dirty="0">
                <a:solidFill>
                  <a:schemeClr val="tx1"/>
                </a:solidFill>
              </a:rPr>
              <a:t> t</a:t>
            </a:r>
          </a:p>
          <a:p>
            <a:pPr algn="l"/>
            <a:r>
              <a:rPr lang="en-IN" dirty="0" err="1">
                <a:solidFill>
                  <a:schemeClr val="tx1"/>
                </a:solidFill>
              </a:rPr>
              <a:t>int</a:t>
            </a:r>
            <a:r>
              <a:rPr lang="en-IN" dirty="0">
                <a:solidFill>
                  <a:schemeClr val="tx1"/>
                </a:solidFill>
              </a:rPr>
              <a:t> tunnel 1</a:t>
            </a:r>
          </a:p>
          <a:p>
            <a:pPr algn="l"/>
            <a:r>
              <a:rPr lang="en-IN" dirty="0" err="1">
                <a:solidFill>
                  <a:schemeClr val="tx1"/>
                </a:solidFill>
              </a:rPr>
              <a:t>ip</a:t>
            </a:r>
            <a:r>
              <a:rPr lang="en-IN" dirty="0">
                <a:solidFill>
                  <a:schemeClr val="tx1"/>
                </a:solidFill>
              </a:rPr>
              <a:t> </a:t>
            </a:r>
            <a:r>
              <a:rPr lang="en-IN" dirty="0" smtClean="0">
                <a:solidFill>
                  <a:schemeClr val="tx1"/>
                </a:solidFill>
              </a:rPr>
              <a:t>address 200.100.100.1 </a:t>
            </a:r>
            <a:r>
              <a:rPr lang="en-IN" dirty="0">
                <a:solidFill>
                  <a:schemeClr val="tx1"/>
                </a:solidFill>
              </a:rPr>
              <a:t>255.255.0.0</a:t>
            </a:r>
          </a:p>
          <a:p>
            <a:pPr algn="l"/>
            <a:r>
              <a:rPr lang="en-IN" dirty="0">
                <a:solidFill>
                  <a:schemeClr val="tx1"/>
                </a:solidFill>
              </a:rPr>
              <a:t>tunnel source </a:t>
            </a:r>
            <a:r>
              <a:rPr lang="en-IN" dirty="0" smtClean="0">
                <a:solidFill>
                  <a:schemeClr val="tx1"/>
                </a:solidFill>
              </a:rPr>
              <a:t>se0/1/0</a:t>
            </a:r>
            <a:endParaRPr lang="en-IN" dirty="0">
              <a:solidFill>
                <a:schemeClr val="tx1"/>
              </a:solidFill>
            </a:endParaRPr>
          </a:p>
          <a:p>
            <a:pPr algn="l"/>
            <a:r>
              <a:rPr lang="en-IN" dirty="0">
                <a:solidFill>
                  <a:schemeClr val="tx1"/>
                </a:solidFill>
              </a:rPr>
              <a:t>tunnel destination </a:t>
            </a:r>
            <a:r>
              <a:rPr lang="en-IN" dirty="0" smtClean="0">
                <a:solidFill>
                  <a:schemeClr val="tx1"/>
                </a:solidFill>
              </a:rPr>
              <a:t>20.0.0.2</a:t>
            </a:r>
            <a:endParaRPr lang="en-IN" dirty="0">
              <a:solidFill>
                <a:schemeClr val="tx1"/>
              </a:solidFill>
            </a:endParaRPr>
          </a:p>
          <a:p>
            <a:pPr algn="l"/>
            <a:r>
              <a:rPr lang="en-IN" dirty="0">
                <a:solidFill>
                  <a:schemeClr val="tx1"/>
                </a:solidFill>
              </a:rPr>
              <a:t>no </a:t>
            </a:r>
            <a:r>
              <a:rPr lang="en-IN" dirty="0" err="1">
                <a:solidFill>
                  <a:schemeClr val="tx1"/>
                </a:solidFill>
              </a:rPr>
              <a:t>sh</a:t>
            </a:r>
            <a:endParaRPr lang="en-US" dirty="0">
              <a:solidFill>
                <a:schemeClr val="tx1"/>
              </a:solidFill>
            </a:endParaRPr>
          </a:p>
        </p:txBody>
      </p:sp>
    </p:spTree>
    <p:extLst>
      <p:ext uri="{BB962C8B-B14F-4D97-AF65-F5344CB8AC3E}">
        <p14:creationId xmlns:p14="http://schemas.microsoft.com/office/powerpoint/2010/main" val="2636137660"/>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6478" y="136478"/>
            <a:ext cx="8911988" cy="6578221"/>
          </a:xfrm>
        </p:spPr>
        <p:txBody>
          <a:bodyPr>
            <a:normAutofit fontScale="62500" lnSpcReduction="20000"/>
          </a:bodyPr>
          <a:lstStyle/>
          <a:p>
            <a:pPr algn="l"/>
            <a:r>
              <a:rPr lang="en-IN" sz="3800" b="1" dirty="0">
                <a:solidFill>
                  <a:schemeClr val="tx1"/>
                </a:solidFill>
              </a:rPr>
              <a:t>R3</a:t>
            </a:r>
          </a:p>
          <a:p>
            <a:pPr algn="l"/>
            <a:r>
              <a:rPr lang="en-IN" dirty="0" err="1" smtClean="0">
                <a:solidFill>
                  <a:schemeClr val="tx1"/>
                </a:solidFill>
              </a:rPr>
              <a:t>int</a:t>
            </a:r>
            <a:r>
              <a:rPr lang="en-IN" dirty="0" smtClean="0">
                <a:solidFill>
                  <a:schemeClr val="tx1"/>
                </a:solidFill>
              </a:rPr>
              <a:t> </a:t>
            </a:r>
            <a:r>
              <a:rPr lang="en-IN" dirty="0">
                <a:solidFill>
                  <a:schemeClr val="tx1"/>
                </a:solidFill>
              </a:rPr>
              <a:t>tunnel 2</a:t>
            </a:r>
          </a:p>
          <a:p>
            <a:pPr algn="l"/>
            <a:r>
              <a:rPr lang="en-IN" dirty="0" err="1">
                <a:solidFill>
                  <a:schemeClr val="tx1"/>
                </a:solidFill>
              </a:rPr>
              <a:t>ip</a:t>
            </a:r>
            <a:r>
              <a:rPr lang="en-IN" dirty="0">
                <a:solidFill>
                  <a:schemeClr val="tx1"/>
                </a:solidFill>
              </a:rPr>
              <a:t> address </a:t>
            </a:r>
            <a:r>
              <a:rPr lang="en-IN" dirty="0" smtClean="0">
                <a:solidFill>
                  <a:schemeClr val="tx1"/>
                </a:solidFill>
              </a:rPr>
              <a:t>200.100.100.2 </a:t>
            </a:r>
            <a:r>
              <a:rPr lang="en-IN" dirty="0">
                <a:solidFill>
                  <a:schemeClr val="tx1"/>
                </a:solidFill>
              </a:rPr>
              <a:t>255.255.0.0</a:t>
            </a:r>
          </a:p>
          <a:p>
            <a:pPr algn="l"/>
            <a:r>
              <a:rPr lang="en-IN" dirty="0">
                <a:solidFill>
                  <a:schemeClr val="tx1"/>
                </a:solidFill>
              </a:rPr>
              <a:t>tunnel source </a:t>
            </a:r>
            <a:r>
              <a:rPr lang="en-IN" dirty="0" smtClean="0">
                <a:solidFill>
                  <a:schemeClr val="tx1"/>
                </a:solidFill>
              </a:rPr>
              <a:t>se0/1/0</a:t>
            </a:r>
            <a:endParaRPr lang="en-IN" dirty="0">
              <a:solidFill>
                <a:schemeClr val="tx1"/>
              </a:solidFill>
            </a:endParaRPr>
          </a:p>
          <a:p>
            <a:pPr algn="l"/>
            <a:r>
              <a:rPr lang="en-IN" dirty="0">
                <a:solidFill>
                  <a:schemeClr val="tx1"/>
                </a:solidFill>
              </a:rPr>
              <a:t>tunnel destination </a:t>
            </a:r>
            <a:r>
              <a:rPr lang="en-IN" dirty="0" smtClean="0">
                <a:solidFill>
                  <a:schemeClr val="tx1"/>
                </a:solidFill>
              </a:rPr>
              <a:t>10.0.0.1</a:t>
            </a:r>
            <a:endParaRPr lang="en-IN" dirty="0">
              <a:solidFill>
                <a:schemeClr val="tx1"/>
              </a:solidFill>
            </a:endParaRPr>
          </a:p>
          <a:p>
            <a:pPr algn="l"/>
            <a:r>
              <a:rPr lang="en-IN" dirty="0">
                <a:solidFill>
                  <a:schemeClr val="tx1"/>
                </a:solidFill>
              </a:rPr>
              <a:t>no </a:t>
            </a:r>
            <a:r>
              <a:rPr lang="en-IN" dirty="0" err="1">
                <a:solidFill>
                  <a:schemeClr val="tx1"/>
                </a:solidFill>
              </a:rPr>
              <a:t>sh</a:t>
            </a:r>
            <a:endParaRPr lang="en-IN" dirty="0">
              <a:solidFill>
                <a:schemeClr val="tx1"/>
              </a:solidFill>
            </a:endParaRPr>
          </a:p>
          <a:p>
            <a:pPr algn="l"/>
            <a:endParaRPr lang="en-IN" dirty="0">
              <a:solidFill>
                <a:schemeClr val="tx1"/>
              </a:solidFill>
            </a:endParaRPr>
          </a:p>
          <a:p>
            <a:pPr algn="l"/>
            <a:r>
              <a:rPr lang="en-IN" sz="3800" b="1" dirty="0">
                <a:solidFill>
                  <a:schemeClr val="tx1"/>
                </a:solidFill>
              </a:rPr>
              <a:t>R1 </a:t>
            </a:r>
          </a:p>
          <a:p>
            <a:pPr algn="l"/>
            <a:r>
              <a:rPr lang="en-IN" dirty="0" err="1">
                <a:solidFill>
                  <a:schemeClr val="tx1"/>
                </a:solidFill>
              </a:rPr>
              <a:t>ip</a:t>
            </a:r>
            <a:r>
              <a:rPr lang="en-IN" dirty="0">
                <a:solidFill>
                  <a:schemeClr val="tx1"/>
                </a:solidFill>
              </a:rPr>
              <a:t> route 192.168.2.0 255.255.255.0 </a:t>
            </a:r>
            <a:r>
              <a:rPr lang="en-IN" dirty="0" smtClean="0">
                <a:solidFill>
                  <a:schemeClr val="tx1"/>
                </a:solidFill>
              </a:rPr>
              <a:t>200.100.100.2</a:t>
            </a:r>
            <a:endParaRPr lang="en-IN" dirty="0">
              <a:solidFill>
                <a:schemeClr val="tx1"/>
              </a:solidFill>
            </a:endParaRPr>
          </a:p>
          <a:p>
            <a:pPr algn="l"/>
            <a:endParaRPr lang="en-IN" dirty="0">
              <a:solidFill>
                <a:schemeClr val="tx1"/>
              </a:solidFill>
            </a:endParaRPr>
          </a:p>
          <a:p>
            <a:pPr algn="l"/>
            <a:r>
              <a:rPr lang="en-IN" sz="3800" b="1" dirty="0" smtClean="0">
                <a:solidFill>
                  <a:schemeClr val="tx1"/>
                </a:solidFill>
              </a:rPr>
              <a:t>R3</a:t>
            </a:r>
            <a:endParaRPr lang="en-IN" sz="3800" b="1" dirty="0">
              <a:solidFill>
                <a:schemeClr val="tx1"/>
              </a:solidFill>
            </a:endParaRPr>
          </a:p>
          <a:p>
            <a:pPr algn="l"/>
            <a:r>
              <a:rPr lang="en-IN" dirty="0" err="1" smtClean="0">
                <a:solidFill>
                  <a:schemeClr val="tx1"/>
                </a:solidFill>
              </a:rPr>
              <a:t>ip</a:t>
            </a:r>
            <a:r>
              <a:rPr lang="en-IN" dirty="0" smtClean="0">
                <a:solidFill>
                  <a:schemeClr val="tx1"/>
                </a:solidFill>
              </a:rPr>
              <a:t> </a:t>
            </a:r>
            <a:r>
              <a:rPr lang="en-IN" dirty="0">
                <a:solidFill>
                  <a:schemeClr val="tx1"/>
                </a:solidFill>
              </a:rPr>
              <a:t>route 192.168.1.0 255.255.255.0 </a:t>
            </a:r>
            <a:r>
              <a:rPr lang="en-IN" dirty="0" smtClean="0">
                <a:solidFill>
                  <a:schemeClr val="tx1"/>
                </a:solidFill>
              </a:rPr>
              <a:t>200.100.100.1</a:t>
            </a:r>
            <a:endParaRPr lang="en-IN" dirty="0">
              <a:solidFill>
                <a:schemeClr val="tx1"/>
              </a:solidFill>
            </a:endParaRPr>
          </a:p>
          <a:p>
            <a:pPr algn="l"/>
            <a:r>
              <a:rPr lang="en-IN" b="1" dirty="0" smtClean="0">
                <a:solidFill>
                  <a:schemeClr val="tx1"/>
                </a:solidFill>
              </a:rPr>
              <a:t>PC0</a:t>
            </a:r>
            <a:endParaRPr lang="en-IN" b="1" dirty="0">
              <a:solidFill>
                <a:schemeClr val="tx1"/>
              </a:solidFill>
            </a:endParaRPr>
          </a:p>
          <a:p>
            <a:pPr algn="l"/>
            <a:r>
              <a:rPr lang="en-IN" dirty="0">
                <a:solidFill>
                  <a:schemeClr val="tx1"/>
                </a:solidFill>
              </a:rPr>
              <a:t>ping </a:t>
            </a:r>
            <a:r>
              <a:rPr lang="en-IN" dirty="0" smtClean="0">
                <a:solidFill>
                  <a:schemeClr val="tx1"/>
                </a:solidFill>
              </a:rPr>
              <a:t>192.168.2.2</a:t>
            </a:r>
          </a:p>
          <a:p>
            <a:pPr algn="l"/>
            <a:r>
              <a:rPr lang="en-US" b="1" dirty="0" smtClean="0">
                <a:solidFill>
                  <a:schemeClr val="tx1"/>
                </a:solidFill>
              </a:rPr>
              <a:t>Transfer Packet</a:t>
            </a:r>
            <a:endParaRPr lang="en-IN" b="1" dirty="0">
              <a:solidFill>
                <a:schemeClr val="tx1"/>
              </a:solidFill>
            </a:endParaRPr>
          </a:p>
          <a:p>
            <a:pPr algn="l"/>
            <a:r>
              <a:rPr lang="en-IN" dirty="0" err="1">
                <a:solidFill>
                  <a:schemeClr val="tx1"/>
                </a:solidFill>
              </a:rPr>
              <a:t>tracert</a:t>
            </a:r>
            <a:r>
              <a:rPr lang="en-IN" dirty="0">
                <a:solidFill>
                  <a:schemeClr val="tx1"/>
                </a:solidFill>
              </a:rPr>
              <a:t> 192.168.2.2</a:t>
            </a:r>
          </a:p>
          <a:p>
            <a:pPr algn="l"/>
            <a:endParaRPr lang="en-IN" dirty="0">
              <a:solidFill>
                <a:schemeClr val="tx1"/>
              </a:solidFill>
            </a:endParaRPr>
          </a:p>
          <a:p>
            <a:pPr algn="l"/>
            <a:r>
              <a:rPr lang="en-IN" b="1" dirty="0">
                <a:solidFill>
                  <a:schemeClr val="tx1"/>
                </a:solidFill>
              </a:rPr>
              <a:t>PC1 </a:t>
            </a:r>
          </a:p>
          <a:p>
            <a:pPr algn="l"/>
            <a:r>
              <a:rPr lang="en-IN" dirty="0" err="1">
                <a:solidFill>
                  <a:schemeClr val="tx1"/>
                </a:solidFill>
              </a:rPr>
              <a:t>tracert</a:t>
            </a:r>
            <a:r>
              <a:rPr lang="en-IN" dirty="0">
                <a:solidFill>
                  <a:schemeClr val="tx1"/>
                </a:solidFill>
              </a:rPr>
              <a:t> </a:t>
            </a:r>
            <a:r>
              <a:rPr lang="en-IN" dirty="0" smtClean="0">
                <a:solidFill>
                  <a:schemeClr val="tx1"/>
                </a:solidFill>
              </a:rPr>
              <a:t>192.168.1.2</a:t>
            </a:r>
            <a:endParaRPr lang="en-IN" dirty="0">
              <a:solidFill>
                <a:schemeClr val="tx1"/>
              </a:solidFill>
            </a:endParaRPr>
          </a:p>
        </p:txBody>
      </p:sp>
    </p:spTree>
    <p:extLst>
      <p:ext uri="{BB962C8B-B14F-4D97-AF65-F5344CB8AC3E}">
        <p14:creationId xmlns:p14="http://schemas.microsoft.com/office/powerpoint/2010/main" val="2793596315"/>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897223584"/>
              </p:ext>
            </p:extLst>
          </p:nvPr>
        </p:nvGraphicFramePr>
        <p:xfrm>
          <a:off x="450374" y="327545"/>
          <a:ext cx="8502556" cy="6284173"/>
        </p:xfrm>
        <a:graphic>
          <a:graphicData uri="http://schemas.openxmlformats.org/drawingml/2006/table">
            <a:tbl>
              <a:tblPr>
                <a:tableStyleId>{A332DE6A-0728-4951-BA95-FBE1D94F13F9}</a:tableStyleId>
              </a:tblPr>
              <a:tblGrid>
                <a:gridCol w="1774211"/>
                <a:gridCol w="2265528"/>
                <a:gridCol w="2337178"/>
                <a:gridCol w="2125639"/>
              </a:tblGrid>
              <a:tr h="1054391">
                <a:tc>
                  <a:txBody>
                    <a:bodyPr/>
                    <a:lstStyle/>
                    <a:p>
                      <a:r>
                        <a:rPr lang="en-IN" sz="1800" b="1" dirty="0"/>
                        <a:t>Feature</a:t>
                      </a:r>
                    </a:p>
                  </a:txBody>
                  <a:tcPr anchor="ctr"/>
                </a:tc>
                <a:tc>
                  <a:txBody>
                    <a:bodyPr/>
                    <a:lstStyle/>
                    <a:p>
                      <a:r>
                        <a:rPr lang="en-IN" sz="1800" b="1" dirty="0"/>
                        <a:t>WEP (Wired Equivalent Privacy)</a:t>
                      </a:r>
                    </a:p>
                  </a:txBody>
                  <a:tcPr anchor="ctr"/>
                </a:tc>
                <a:tc>
                  <a:txBody>
                    <a:bodyPr/>
                    <a:lstStyle/>
                    <a:p>
                      <a:r>
                        <a:rPr lang="en-IN" sz="1800" b="1" dirty="0"/>
                        <a:t>WPA-PSK (Wi-Fi Protected Access)</a:t>
                      </a:r>
                    </a:p>
                  </a:txBody>
                  <a:tcPr anchor="ctr"/>
                </a:tc>
                <a:tc>
                  <a:txBody>
                    <a:bodyPr/>
                    <a:lstStyle/>
                    <a:p>
                      <a:r>
                        <a:rPr lang="en-US" sz="1800" b="1" dirty="0"/>
                        <a:t>WPA2-PSK (Wi-Fi Protected Access II)</a:t>
                      </a:r>
                    </a:p>
                  </a:txBody>
                  <a:tcPr anchor="ctr"/>
                </a:tc>
              </a:tr>
              <a:tr h="1054391">
                <a:tc>
                  <a:txBody>
                    <a:bodyPr/>
                    <a:lstStyle/>
                    <a:p>
                      <a:r>
                        <a:rPr lang="en-IN" sz="1800" b="1" dirty="0"/>
                        <a:t>Introduced</a:t>
                      </a:r>
                    </a:p>
                  </a:txBody>
                  <a:tcPr anchor="ctr"/>
                </a:tc>
                <a:tc>
                  <a:txBody>
                    <a:bodyPr/>
                    <a:lstStyle/>
                    <a:p>
                      <a:r>
                        <a:rPr lang="en-IN" sz="1800" dirty="0"/>
                        <a:t>1997</a:t>
                      </a:r>
                    </a:p>
                  </a:txBody>
                  <a:tcPr anchor="ctr"/>
                </a:tc>
                <a:tc>
                  <a:txBody>
                    <a:bodyPr/>
                    <a:lstStyle/>
                    <a:p>
                      <a:r>
                        <a:rPr lang="en-IN" sz="1800" dirty="0"/>
                        <a:t>2003</a:t>
                      </a:r>
                    </a:p>
                  </a:txBody>
                  <a:tcPr anchor="ctr"/>
                </a:tc>
                <a:tc>
                  <a:txBody>
                    <a:bodyPr/>
                    <a:lstStyle/>
                    <a:p>
                      <a:r>
                        <a:rPr lang="en-IN" sz="1800" dirty="0"/>
                        <a:t>2004 (mandatory in 2006)</a:t>
                      </a:r>
                    </a:p>
                  </a:txBody>
                  <a:tcPr anchor="ctr"/>
                </a:tc>
              </a:tr>
              <a:tr h="620230">
                <a:tc>
                  <a:txBody>
                    <a:bodyPr/>
                    <a:lstStyle/>
                    <a:p>
                      <a:r>
                        <a:rPr lang="en-IN" sz="1800" b="1" dirty="0"/>
                        <a:t>Encryption</a:t>
                      </a:r>
                    </a:p>
                  </a:txBody>
                  <a:tcPr anchor="ctr"/>
                </a:tc>
                <a:tc>
                  <a:txBody>
                    <a:bodyPr/>
                    <a:lstStyle/>
                    <a:p>
                      <a:r>
                        <a:rPr lang="en-IN" sz="1800"/>
                        <a:t>RC4</a:t>
                      </a:r>
                    </a:p>
                  </a:txBody>
                  <a:tcPr anchor="ctr"/>
                </a:tc>
                <a:tc>
                  <a:txBody>
                    <a:bodyPr/>
                    <a:lstStyle/>
                    <a:p>
                      <a:r>
                        <a:rPr lang="en-IN" sz="1800"/>
                        <a:t>TKIP</a:t>
                      </a:r>
                    </a:p>
                  </a:txBody>
                  <a:tcPr anchor="ctr"/>
                </a:tc>
                <a:tc>
                  <a:txBody>
                    <a:bodyPr/>
                    <a:lstStyle/>
                    <a:p>
                      <a:r>
                        <a:rPr lang="en-IN" sz="1800" dirty="0"/>
                        <a:t>AES (CCMP)</a:t>
                      </a:r>
                    </a:p>
                  </a:txBody>
                  <a:tcPr anchor="ctr"/>
                </a:tc>
              </a:tr>
              <a:tr h="620230">
                <a:tc>
                  <a:txBody>
                    <a:bodyPr/>
                    <a:lstStyle/>
                    <a:p>
                      <a:r>
                        <a:rPr lang="en-IN" sz="1800" b="1"/>
                        <a:t>Key Length</a:t>
                      </a:r>
                    </a:p>
                  </a:txBody>
                  <a:tcPr anchor="ctr"/>
                </a:tc>
                <a:tc>
                  <a:txBody>
                    <a:bodyPr/>
                    <a:lstStyle/>
                    <a:p>
                      <a:r>
                        <a:rPr lang="en-IN" sz="1800"/>
                        <a:t>64-bit / 128-bit</a:t>
                      </a:r>
                    </a:p>
                  </a:txBody>
                  <a:tcPr anchor="ctr"/>
                </a:tc>
                <a:tc>
                  <a:txBody>
                    <a:bodyPr/>
                    <a:lstStyle/>
                    <a:p>
                      <a:r>
                        <a:rPr lang="en-IN" sz="1800"/>
                        <a:t>256-bit (via TKIP)</a:t>
                      </a:r>
                    </a:p>
                  </a:txBody>
                  <a:tcPr anchor="ctr"/>
                </a:tc>
                <a:tc>
                  <a:txBody>
                    <a:bodyPr/>
                    <a:lstStyle/>
                    <a:p>
                      <a:r>
                        <a:rPr lang="en-IN" sz="1800" dirty="0"/>
                        <a:t>128-bit (AES key)</a:t>
                      </a:r>
                    </a:p>
                  </a:txBody>
                  <a:tcPr anchor="ctr"/>
                </a:tc>
              </a:tr>
              <a:tr h="620230">
                <a:tc>
                  <a:txBody>
                    <a:bodyPr/>
                    <a:lstStyle/>
                    <a:p>
                      <a:r>
                        <a:rPr lang="en-IN" sz="1800" b="1"/>
                        <a:t>Authentication</a:t>
                      </a:r>
                    </a:p>
                  </a:txBody>
                  <a:tcPr anchor="ctr"/>
                </a:tc>
                <a:tc>
                  <a:txBody>
                    <a:bodyPr/>
                    <a:lstStyle/>
                    <a:p>
                      <a:r>
                        <a:rPr lang="en-IN" sz="1800"/>
                        <a:t>Open or Shared Key</a:t>
                      </a:r>
                    </a:p>
                  </a:txBody>
                  <a:tcPr anchor="ctr"/>
                </a:tc>
                <a:tc>
                  <a:txBody>
                    <a:bodyPr/>
                    <a:lstStyle/>
                    <a:p>
                      <a:r>
                        <a:rPr lang="en-IN" sz="1800"/>
                        <a:t>Pre-Shared Key (PSK)</a:t>
                      </a:r>
                    </a:p>
                  </a:txBody>
                  <a:tcPr anchor="ctr"/>
                </a:tc>
                <a:tc>
                  <a:txBody>
                    <a:bodyPr/>
                    <a:lstStyle/>
                    <a:p>
                      <a:r>
                        <a:rPr lang="en-IN" sz="1800" dirty="0"/>
                        <a:t>Pre-Shared Key (PSK)</a:t>
                      </a:r>
                    </a:p>
                  </a:txBody>
                  <a:tcPr anchor="ctr"/>
                </a:tc>
              </a:tr>
              <a:tr h="620230">
                <a:tc>
                  <a:txBody>
                    <a:bodyPr/>
                    <a:lstStyle/>
                    <a:p>
                      <a:r>
                        <a:rPr lang="en-IN" sz="1800" b="1"/>
                        <a:t>Security Level</a:t>
                      </a:r>
                    </a:p>
                  </a:txBody>
                  <a:tcPr anchor="ctr"/>
                </a:tc>
                <a:tc>
                  <a:txBody>
                    <a:bodyPr/>
                    <a:lstStyle/>
                    <a:p>
                      <a:r>
                        <a:rPr lang="en-IN" sz="1800"/>
                        <a:t>Very Weak</a:t>
                      </a:r>
                    </a:p>
                  </a:txBody>
                  <a:tcPr anchor="ctr"/>
                </a:tc>
                <a:tc>
                  <a:txBody>
                    <a:bodyPr/>
                    <a:lstStyle/>
                    <a:p>
                      <a:r>
                        <a:rPr lang="en-IN" sz="1800" dirty="0"/>
                        <a:t>Moderate</a:t>
                      </a:r>
                    </a:p>
                  </a:txBody>
                  <a:tcPr anchor="ctr"/>
                </a:tc>
                <a:tc>
                  <a:txBody>
                    <a:bodyPr/>
                    <a:lstStyle/>
                    <a:p>
                      <a:r>
                        <a:rPr lang="en-IN" sz="1800" dirty="0"/>
                        <a:t>Strong</a:t>
                      </a:r>
                    </a:p>
                  </a:txBody>
                  <a:tcPr anchor="ctr"/>
                </a:tc>
              </a:tr>
              <a:tr h="1054391">
                <a:tc>
                  <a:txBody>
                    <a:bodyPr/>
                    <a:lstStyle/>
                    <a:p>
                      <a:r>
                        <a:rPr lang="en-IN" sz="1800" b="1" dirty="0"/>
                        <a:t>Vulnerabilities</a:t>
                      </a:r>
                    </a:p>
                  </a:txBody>
                  <a:tcPr anchor="ctr"/>
                </a:tc>
                <a:tc>
                  <a:txBody>
                    <a:bodyPr/>
                    <a:lstStyle/>
                    <a:p>
                      <a:r>
                        <a:rPr lang="en-IN" sz="1800"/>
                        <a:t>Key cracking, replay attacks</a:t>
                      </a:r>
                    </a:p>
                  </a:txBody>
                  <a:tcPr anchor="ctr"/>
                </a:tc>
                <a:tc>
                  <a:txBody>
                    <a:bodyPr/>
                    <a:lstStyle/>
                    <a:p>
                      <a:r>
                        <a:rPr lang="en-IN" sz="1800"/>
                        <a:t>Dictionary attacks</a:t>
                      </a:r>
                    </a:p>
                  </a:txBody>
                  <a:tcPr anchor="ctr"/>
                </a:tc>
                <a:tc>
                  <a:txBody>
                    <a:bodyPr/>
                    <a:lstStyle/>
                    <a:p>
                      <a:r>
                        <a:rPr lang="en-IN" sz="1800" dirty="0"/>
                        <a:t>Weak passwords, WPS attacks</a:t>
                      </a:r>
                    </a:p>
                  </a:txBody>
                  <a:tcPr anchor="ctr"/>
                </a:tc>
              </a:tr>
              <a:tr h="620230">
                <a:tc>
                  <a:txBody>
                    <a:bodyPr/>
                    <a:lstStyle/>
                    <a:p>
                      <a:r>
                        <a:rPr lang="en-IN" sz="1800" b="1" dirty="0"/>
                        <a:t>Recommended?</a:t>
                      </a:r>
                    </a:p>
                  </a:txBody>
                  <a:tcPr anchor="ctr"/>
                </a:tc>
                <a:tc>
                  <a:txBody>
                    <a:bodyPr/>
                    <a:lstStyle/>
                    <a:p>
                      <a:r>
                        <a:rPr lang="en-IN" sz="1800"/>
                        <a:t>❌ No</a:t>
                      </a:r>
                    </a:p>
                  </a:txBody>
                  <a:tcPr anchor="ctr"/>
                </a:tc>
                <a:tc>
                  <a:txBody>
                    <a:bodyPr/>
                    <a:lstStyle/>
                    <a:p>
                      <a:r>
                        <a:rPr lang="en-IN" sz="1800"/>
                        <a:t>⚠️ Limited use</a:t>
                      </a:r>
                    </a:p>
                  </a:txBody>
                  <a:tcPr anchor="ctr"/>
                </a:tc>
                <a:tc>
                  <a:txBody>
                    <a:bodyPr/>
                    <a:lstStyle/>
                    <a:p>
                      <a:r>
                        <a:rPr lang="en-IN" sz="1800" dirty="0"/>
                        <a:t>✅ Yes</a:t>
                      </a:r>
                    </a:p>
                  </a:txBody>
                  <a:tcPr anchor="ctr"/>
                </a:tc>
              </a:tr>
            </a:tbl>
          </a:graphicData>
        </a:graphic>
      </p:graphicFrame>
    </p:spTree>
    <p:extLst>
      <p:ext uri="{BB962C8B-B14F-4D97-AF65-F5344CB8AC3E}">
        <p14:creationId xmlns:p14="http://schemas.microsoft.com/office/powerpoint/2010/main" val="48066687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7074" y="228599"/>
            <a:ext cx="8495732" cy="1791269"/>
          </a:xfrm>
        </p:spPr>
        <p:txBody>
          <a:bodyPr/>
          <a:lstStyle/>
          <a:p>
            <a:pPr algn="l"/>
            <a:r>
              <a:rPr lang="en-US" b="1" dirty="0"/>
              <a:t>WPS exploits</a:t>
            </a:r>
            <a:r>
              <a:rPr lang="en-US" dirty="0"/>
              <a:t> refer to </a:t>
            </a:r>
            <a:r>
              <a:rPr lang="en-US" b="1" dirty="0" smtClean="0"/>
              <a:t>security weaknesses</a:t>
            </a:r>
          </a:p>
          <a:p>
            <a:pPr algn="l"/>
            <a:r>
              <a:rPr lang="en-US" b="1" dirty="0" smtClean="0"/>
              <a:t>in </a:t>
            </a:r>
            <a:r>
              <a:rPr lang="en-US" b="1" dirty="0"/>
              <a:t>Wi-Fi Protected Setup (</a:t>
            </a:r>
            <a:r>
              <a:rPr lang="en-US" b="1" dirty="0" smtClean="0"/>
              <a:t>WPS)</a:t>
            </a:r>
          </a:p>
          <a:p>
            <a:pPr algn="l"/>
            <a:endParaRPr lang="en-US" b="1" dirty="0"/>
          </a:p>
          <a:p>
            <a:pPr algn="l"/>
            <a:endParaRPr lang="en-US" b="1" dirty="0" smtClean="0"/>
          </a:p>
          <a:p>
            <a:pPr algn="l"/>
            <a:endParaRPr lang="en-US" b="1" dirty="0"/>
          </a:p>
          <a:p>
            <a:pPr algn="l"/>
            <a:endParaRPr lang="en-US" b="1" dirty="0" smtClean="0"/>
          </a:p>
          <a:p>
            <a:pPr algn="l"/>
            <a:endParaRPr lang="en-US" b="1" dirty="0"/>
          </a:p>
          <a:p>
            <a:pPr algn="l"/>
            <a:endParaRPr lang="en-IN" dirty="0"/>
          </a:p>
        </p:txBody>
      </p:sp>
    </p:spTree>
    <p:extLst>
      <p:ext uri="{BB962C8B-B14F-4D97-AF65-F5344CB8AC3E}">
        <p14:creationId xmlns:p14="http://schemas.microsoft.com/office/powerpoint/2010/main" val="4019676540"/>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153"/>
          <p:cNvSpPr txBox="1">
            <a:spLocks noGrp="1"/>
          </p:cNvSpPr>
          <p:nvPr>
            <p:ph type="body" idx="1"/>
          </p:nvPr>
        </p:nvSpPr>
        <p:spPr>
          <a:xfrm>
            <a:off x="457200" y="0"/>
            <a:ext cx="8229600" cy="5668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00000"/>
              <a:buNone/>
            </a:pPr>
            <a:r>
              <a:rPr lang="en-US" b="1" dirty="0" smtClean="0"/>
              <a:t>WLAN – WLC &amp; LWAP</a:t>
            </a:r>
            <a:endParaRPr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6603" y="757451"/>
            <a:ext cx="8570794" cy="5950423"/>
          </a:xfrm>
          <a:prstGeom prst="rect">
            <a:avLst/>
          </a:prstGeom>
        </p:spPr>
      </p:pic>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155"/>
          <p:cNvSpPr txBox="1">
            <a:spLocks noGrp="1"/>
          </p:cNvSpPr>
          <p:nvPr>
            <p:ph type="body" idx="1"/>
          </p:nvPr>
        </p:nvSpPr>
        <p:spPr>
          <a:xfrm>
            <a:off x="457200" y="533400"/>
            <a:ext cx="8823278" cy="6324600"/>
          </a:xfrm>
          <a:prstGeom prst="rect">
            <a:avLst/>
          </a:prstGeom>
          <a:noFill/>
          <a:ln>
            <a:noFill/>
          </a:ln>
        </p:spPr>
        <p:txBody>
          <a:bodyPr spcFirstLastPara="1" wrap="square" lIns="91425" tIns="45700" rIns="91425" bIns="45700" anchor="t" anchorCtr="0">
            <a:normAutofit fontScale="77500" lnSpcReduction="20000"/>
          </a:bodyPr>
          <a:lstStyle/>
          <a:p>
            <a:pPr marL="342900" lvl="0" indent="-342900" algn="l" rtl="0">
              <a:spcBef>
                <a:spcPts val="0"/>
              </a:spcBef>
              <a:spcAft>
                <a:spcPts val="0"/>
              </a:spcAft>
              <a:buClr>
                <a:schemeClr val="dk1"/>
              </a:buClr>
              <a:buSzPct val="100000"/>
              <a:buNone/>
            </a:pPr>
            <a:r>
              <a:rPr lang="en-US" b="1" dirty="0" smtClean="0"/>
              <a:t>R1</a:t>
            </a:r>
          </a:p>
          <a:p>
            <a:pPr marL="342900" lvl="0" indent="-342900" algn="l" rtl="0">
              <a:spcBef>
                <a:spcPts val="0"/>
              </a:spcBef>
              <a:spcAft>
                <a:spcPts val="0"/>
              </a:spcAft>
              <a:buClr>
                <a:schemeClr val="dk1"/>
              </a:buClr>
              <a:buSzPct val="100000"/>
              <a:buNone/>
            </a:pPr>
            <a:r>
              <a:rPr lang="en-US" b="1" dirty="0" smtClean="0"/>
              <a:t>Line Up – 192.168.1.1</a:t>
            </a:r>
          </a:p>
          <a:p>
            <a:pPr marL="342900" lvl="0" indent="-342900" algn="l" rtl="0">
              <a:spcBef>
                <a:spcPts val="0"/>
              </a:spcBef>
              <a:spcAft>
                <a:spcPts val="0"/>
              </a:spcAft>
              <a:buClr>
                <a:schemeClr val="dk1"/>
              </a:buClr>
              <a:buSzPct val="100000"/>
              <a:buNone/>
            </a:pPr>
            <a:endParaRPr lang="en-US" b="1" dirty="0" smtClean="0"/>
          </a:p>
          <a:p>
            <a:pPr marL="342900" lvl="0" indent="-342900" algn="l" rtl="0">
              <a:spcBef>
                <a:spcPts val="0"/>
              </a:spcBef>
              <a:spcAft>
                <a:spcPts val="0"/>
              </a:spcAft>
              <a:buClr>
                <a:schemeClr val="dk1"/>
              </a:buClr>
              <a:buSzPct val="100000"/>
              <a:buNone/>
            </a:pPr>
            <a:r>
              <a:rPr lang="en-US" b="1" dirty="0" err="1" smtClean="0"/>
              <a:t>MultiLayer</a:t>
            </a:r>
            <a:r>
              <a:rPr lang="en-US" b="1" dirty="0" smtClean="0"/>
              <a:t> Switch -&gt; Power Replace</a:t>
            </a:r>
          </a:p>
          <a:p>
            <a:pPr marL="342900">
              <a:spcBef>
                <a:spcPts val="0"/>
              </a:spcBef>
              <a:buSzPct val="100000"/>
              <a:buNone/>
            </a:pPr>
            <a:r>
              <a:rPr lang="en-US" b="1" dirty="0"/>
              <a:t>Laptop -&gt; Power Off -&gt;Remove LAN -&gt; Insert </a:t>
            </a:r>
            <a:r>
              <a:rPr lang="en-US" b="1" dirty="0" err="1"/>
              <a:t>WiFi</a:t>
            </a:r>
            <a:endParaRPr lang="en-US" b="1" dirty="0"/>
          </a:p>
          <a:p>
            <a:pPr marL="342900" lvl="0" indent="-342900" algn="l" rtl="0">
              <a:spcBef>
                <a:spcPts val="0"/>
              </a:spcBef>
              <a:spcAft>
                <a:spcPts val="0"/>
              </a:spcAft>
              <a:buClr>
                <a:schemeClr val="dk1"/>
              </a:buClr>
              <a:buSzPct val="100000"/>
              <a:buNone/>
            </a:pPr>
            <a:endParaRPr lang="en-US" b="1" dirty="0" smtClean="0"/>
          </a:p>
          <a:p>
            <a:pPr marL="342900" lvl="0" indent="-342900" algn="l" rtl="0">
              <a:spcBef>
                <a:spcPts val="0"/>
              </a:spcBef>
              <a:spcAft>
                <a:spcPts val="0"/>
              </a:spcAft>
              <a:buClr>
                <a:schemeClr val="dk1"/>
              </a:buClr>
              <a:buSzPct val="100000"/>
              <a:buNone/>
            </a:pPr>
            <a:r>
              <a:rPr lang="en-US" b="1" dirty="0" smtClean="0"/>
              <a:t>WLC-3504</a:t>
            </a:r>
            <a:endParaRPr b="1" dirty="0"/>
          </a:p>
          <a:p>
            <a:pPr marL="342900" lvl="0" indent="-342900" algn="l" rtl="0">
              <a:spcBef>
                <a:spcPts val="592"/>
              </a:spcBef>
              <a:spcAft>
                <a:spcPts val="0"/>
              </a:spcAft>
              <a:buClr>
                <a:schemeClr val="dk1"/>
              </a:buClr>
              <a:buSzPct val="100000"/>
              <a:buNone/>
            </a:pPr>
            <a:r>
              <a:rPr lang="en-US" dirty="0" err="1" smtClean="0"/>
              <a:t>Config</a:t>
            </a:r>
            <a:r>
              <a:rPr lang="en-US" dirty="0" smtClean="0"/>
              <a:t> </a:t>
            </a:r>
            <a:r>
              <a:rPr lang="en-US" dirty="0" smtClean="0">
                <a:sym typeface="Wingdings" panose="05000000000000000000" pitchFamily="2" charset="2"/>
              </a:rPr>
              <a:t> </a:t>
            </a:r>
            <a:r>
              <a:rPr lang="en-US" dirty="0" smtClean="0"/>
              <a:t>Management </a:t>
            </a:r>
          </a:p>
          <a:p>
            <a:pPr marL="342900" lvl="0" indent="-342900" algn="l" rtl="0">
              <a:spcBef>
                <a:spcPts val="592"/>
              </a:spcBef>
              <a:spcAft>
                <a:spcPts val="0"/>
              </a:spcAft>
              <a:buClr>
                <a:schemeClr val="dk1"/>
              </a:buClr>
              <a:buSzPct val="100000"/>
              <a:buNone/>
            </a:pPr>
            <a:r>
              <a:rPr lang="en-US" dirty="0"/>
              <a:t> </a:t>
            </a:r>
            <a:r>
              <a:rPr lang="en-US" dirty="0" smtClean="0"/>
              <a:t>                          192.168.1.2</a:t>
            </a:r>
            <a:endParaRPr dirty="0"/>
          </a:p>
          <a:p>
            <a:pPr marL="342900" lvl="0" indent="-342900" algn="l" rtl="0">
              <a:spcBef>
                <a:spcPts val="592"/>
              </a:spcBef>
              <a:spcAft>
                <a:spcPts val="0"/>
              </a:spcAft>
              <a:buClr>
                <a:schemeClr val="dk1"/>
              </a:buClr>
              <a:buSzPct val="100000"/>
              <a:buNone/>
            </a:pPr>
            <a:r>
              <a:rPr lang="en-US" dirty="0"/>
              <a:t>                           </a:t>
            </a:r>
            <a:r>
              <a:rPr lang="en-US" dirty="0" smtClean="0"/>
              <a:t>255.255.255.0</a:t>
            </a:r>
            <a:endParaRPr dirty="0"/>
          </a:p>
          <a:p>
            <a:pPr marL="342900" lvl="0" indent="-342900" algn="l" rtl="0">
              <a:spcBef>
                <a:spcPts val="592"/>
              </a:spcBef>
              <a:spcAft>
                <a:spcPts val="0"/>
              </a:spcAft>
              <a:buClr>
                <a:schemeClr val="dk1"/>
              </a:buClr>
              <a:buSzPct val="100000"/>
              <a:buNone/>
            </a:pPr>
            <a:r>
              <a:rPr lang="en-US" dirty="0"/>
              <a:t>                           192.168.1.1</a:t>
            </a:r>
            <a:endParaRPr dirty="0"/>
          </a:p>
          <a:p>
            <a:pPr marL="342900" lvl="0" indent="-342900" algn="l" rtl="0">
              <a:spcBef>
                <a:spcPts val="592"/>
              </a:spcBef>
              <a:spcAft>
                <a:spcPts val="0"/>
              </a:spcAft>
              <a:buClr>
                <a:schemeClr val="dk1"/>
              </a:buClr>
              <a:buSzPct val="100000"/>
              <a:buNone/>
            </a:pPr>
            <a:r>
              <a:rPr lang="en-US" dirty="0"/>
              <a:t>                           192.168.1.1</a:t>
            </a:r>
            <a:endParaRPr dirty="0"/>
          </a:p>
          <a:p>
            <a:pPr marL="342900" lvl="0" indent="-342900" algn="l" rtl="0">
              <a:spcBef>
                <a:spcPts val="592"/>
              </a:spcBef>
              <a:spcAft>
                <a:spcPts val="0"/>
              </a:spcAft>
              <a:buClr>
                <a:schemeClr val="dk1"/>
              </a:buClr>
              <a:buSzPct val="100000"/>
              <a:buNone/>
            </a:pPr>
            <a:r>
              <a:rPr lang="en-US" dirty="0" smtClean="0"/>
              <a:t>Server </a:t>
            </a:r>
            <a:r>
              <a:rPr lang="en-US" dirty="0" smtClean="0">
                <a:sym typeface="Wingdings" panose="05000000000000000000" pitchFamily="2" charset="2"/>
              </a:rPr>
              <a:t></a:t>
            </a:r>
            <a:r>
              <a:rPr lang="en-US" dirty="0" err="1" smtClean="0"/>
              <a:t>Ip</a:t>
            </a:r>
            <a:r>
              <a:rPr lang="en-US" dirty="0" smtClean="0"/>
              <a:t> </a:t>
            </a:r>
            <a:r>
              <a:rPr lang="en-US" dirty="0"/>
              <a:t>set:</a:t>
            </a:r>
            <a:endParaRPr dirty="0"/>
          </a:p>
          <a:p>
            <a:pPr marL="342900" lvl="0" indent="-342900" algn="l" rtl="0">
              <a:spcBef>
                <a:spcPts val="592"/>
              </a:spcBef>
              <a:spcAft>
                <a:spcPts val="0"/>
              </a:spcAft>
              <a:buClr>
                <a:schemeClr val="dk1"/>
              </a:buClr>
              <a:buSzPct val="100000"/>
              <a:buNone/>
            </a:pPr>
            <a:r>
              <a:rPr lang="en-US" dirty="0"/>
              <a:t>192.168.1.3</a:t>
            </a:r>
            <a:endParaRPr dirty="0"/>
          </a:p>
          <a:p>
            <a:pPr marL="342900" lvl="0" indent="-342900" algn="l" rtl="0">
              <a:spcBef>
                <a:spcPts val="592"/>
              </a:spcBef>
              <a:spcAft>
                <a:spcPts val="0"/>
              </a:spcAft>
              <a:buClr>
                <a:schemeClr val="dk1"/>
              </a:buClr>
              <a:buSzPct val="100000"/>
              <a:buNone/>
            </a:pPr>
            <a:r>
              <a:rPr lang="en-US" dirty="0"/>
              <a:t>255.255.255.0</a:t>
            </a:r>
            <a:endParaRPr dirty="0"/>
          </a:p>
          <a:p>
            <a:pPr marL="342900" lvl="0" indent="-342900" algn="l" rtl="0">
              <a:spcBef>
                <a:spcPts val="592"/>
              </a:spcBef>
              <a:spcAft>
                <a:spcPts val="0"/>
              </a:spcAft>
              <a:buClr>
                <a:schemeClr val="dk1"/>
              </a:buClr>
              <a:buSzPct val="100000"/>
              <a:buNone/>
            </a:pPr>
            <a:r>
              <a:rPr lang="en-US" dirty="0"/>
              <a:t>192.168.1.1</a:t>
            </a:r>
            <a:endParaRPr dirty="0"/>
          </a:p>
          <a:p>
            <a:pPr marL="342900" lvl="0" indent="-342900" algn="l" rtl="0">
              <a:spcBef>
                <a:spcPts val="592"/>
              </a:spcBef>
              <a:spcAft>
                <a:spcPts val="0"/>
              </a:spcAft>
              <a:buClr>
                <a:schemeClr val="dk1"/>
              </a:buClr>
              <a:buSzPct val="100000"/>
              <a:buNone/>
            </a:pPr>
            <a:r>
              <a:rPr lang="en-US" dirty="0" smtClean="0"/>
              <a:t>192.168.1.1</a:t>
            </a:r>
            <a:endParaRPr dirty="0"/>
          </a:p>
        </p:txBody>
      </p:sp>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1299"/>
        <p:cNvGrpSpPr/>
        <p:nvPr/>
      </p:nvGrpSpPr>
      <p:grpSpPr>
        <a:xfrm>
          <a:off x="0" y="0"/>
          <a:ext cx="0" cy="0"/>
          <a:chOff x="0" y="0"/>
          <a:chExt cx="0" cy="0"/>
        </a:xfrm>
      </p:grpSpPr>
      <p:sp>
        <p:nvSpPr>
          <p:cNvPr id="1300" name="Google Shape;1300;p156"/>
          <p:cNvSpPr txBox="1">
            <a:spLocks noGrp="1"/>
          </p:cNvSpPr>
          <p:nvPr>
            <p:ph type="body" idx="1"/>
          </p:nvPr>
        </p:nvSpPr>
        <p:spPr>
          <a:xfrm>
            <a:off x="457200" y="381000"/>
            <a:ext cx="8229600" cy="57451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00000"/>
              <a:buNone/>
            </a:pPr>
            <a:r>
              <a:rPr lang="en-US" dirty="0" smtClean="0"/>
              <a:t>Server </a:t>
            </a:r>
            <a:r>
              <a:rPr lang="en-US" dirty="0" smtClean="0">
                <a:sym typeface="Wingdings" panose="05000000000000000000" pitchFamily="2" charset="2"/>
              </a:rPr>
              <a:t> </a:t>
            </a:r>
            <a:r>
              <a:rPr lang="en-US" dirty="0" smtClean="0"/>
              <a:t>DHCP </a:t>
            </a:r>
            <a:r>
              <a:rPr lang="en-US" dirty="0"/>
              <a:t>pool create:</a:t>
            </a:r>
            <a:endParaRPr dirty="0"/>
          </a:p>
          <a:p>
            <a:pPr marL="342900" lvl="0" indent="-342900" algn="l" rtl="0">
              <a:spcBef>
                <a:spcPts val="592"/>
              </a:spcBef>
              <a:spcAft>
                <a:spcPts val="0"/>
              </a:spcAft>
              <a:buClr>
                <a:schemeClr val="dk1"/>
              </a:buClr>
              <a:buSzPct val="100000"/>
              <a:buNone/>
            </a:pPr>
            <a:r>
              <a:rPr lang="en-US" dirty="0" smtClean="0"/>
              <a:t>Name: NT1</a:t>
            </a:r>
            <a:endParaRPr dirty="0"/>
          </a:p>
          <a:p>
            <a:pPr marL="342900" lvl="0" indent="-342900" algn="l" rtl="0">
              <a:spcBef>
                <a:spcPts val="592"/>
              </a:spcBef>
              <a:spcAft>
                <a:spcPts val="0"/>
              </a:spcAft>
              <a:buClr>
                <a:schemeClr val="dk1"/>
              </a:buClr>
              <a:buSzPct val="100000"/>
              <a:buNone/>
            </a:pPr>
            <a:r>
              <a:rPr lang="en-US" dirty="0"/>
              <a:t>Gateway:192.168.1.1</a:t>
            </a:r>
            <a:endParaRPr dirty="0"/>
          </a:p>
          <a:p>
            <a:pPr marL="342900" lvl="0" indent="-342900" algn="l" rtl="0">
              <a:spcBef>
                <a:spcPts val="592"/>
              </a:spcBef>
              <a:spcAft>
                <a:spcPts val="0"/>
              </a:spcAft>
              <a:buClr>
                <a:schemeClr val="dk1"/>
              </a:buClr>
              <a:buSzPct val="100000"/>
              <a:buNone/>
            </a:pPr>
            <a:r>
              <a:rPr lang="en-US" dirty="0"/>
              <a:t>DNS Server:192.168.1.1</a:t>
            </a:r>
            <a:endParaRPr dirty="0"/>
          </a:p>
          <a:p>
            <a:pPr marL="342900" lvl="0" indent="-342900" algn="l" rtl="0">
              <a:spcBef>
                <a:spcPts val="592"/>
              </a:spcBef>
              <a:spcAft>
                <a:spcPts val="0"/>
              </a:spcAft>
              <a:buClr>
                <a:schemeClr val="dk1"/>
              </a:buClr>
              <a:buSzPct val="100000"/>
              <a:buNone/>
            </a:pPr>
            <a:r>
              <a:rPr lang="en-US" dirty="0"/>
              <a:t>Start ip:192.168.1.5</a:t>
            </a:r>
            <a:endParaRPr dirty="0"/>
          </a:p>
          <a:p>
            <a:pPr marL="342900" lvl="0" indent="-342900" algn="l" rtl="0">
              <a:spcBef>
                <a:spcPts val="592"/>
              </a:spcBef>
              <a:spcAft>
                <a:spcPts val="0"/>
              </a:spcAft>
              <a:buClr>
                <a:schemeClr val="dk1"/>
              </a:buClr>
              <a:buSzPct val="100000"/>
              <a:buNone/>
            </a:pPr>
            <a:r>
              <a:rPr lang="en-US" dirty="0"/>
              <a:t>Maximum Number of user:200</a:t>
            </a:r>
            <a:endParaRPr dirty="0"/>
          </a:p>
          <a:p>
            <a:pPr marL="342900" lvl="0" indent="-342900" algn="l" rtl="0">
              <a:spcBef>
                <a:spcPts val="592"/>
              </a:spcBef>
              <a:spcAft>
                <a:spcPts val="0"/>
              </a:spcAft>
              <a:buClr>
                <a:schemeClr val="dk1"/>
              </a:buClr>
              <a:buSzPct val="100000"/>
              <a:buNone/>
            </a:pPr>
            <a:r>
              <a:rPr lang="en-US" dirty="0"/>
              <a:t>Pc </a:t>
            </a:r>
            <a:r>
              <a:rPr lang="en-US" dirty="0" smtClean="0"/>
              <a:t>IP -&gt; DHCP – On</a:t>
            </a:r>
            <a:endParaRPr dirty="0"/>
          </a:p>
          <a:p>
            <a:pPr marL="342900" lvl="0" indent="-342900" algn="l" rtl="0">
              <a:spcBef>
                <a:spcPts val="592"/>
              </a:spcBef>
              <a:spcAft>
                <a:spcPts val="0"/>
              </a:spcAft>
              <a:buClr>
                <a:schemeClr val="dk1"/>
              </a:buClr>
              <a:buSzPct val="100000"/>
              <a:buNone/>
            </a:pPr>
            <a:endParaRPr dirty="0"/>
          </a:p>
          <a:p>
            <a:pPr marL="342900" lvl="0" indent="-342900" algn="l" rtl="0">
              <a:spcBef>
                <a:spcPts val="592"/>
              </a:spcBef>
              <a:spcAft>
                <a:spcPts val="0"/>
              </a:spcAft>
              <a:buClr>
                <a:schemeClr val="dk1"/>
              </a:buClr>
              <a:buSzPct val="100000"/>
              <a:buNone/>
            </a:pPr>
            <a:r>
              <a:rPr lang="en-US" dirty="0"/>
              <a:t>Pc Web browser:</a:t>
            </a:r>
            <a:endParaRPr dirty="0"/>
          </a:p>
          <a:p>
            <a:pPr marL="342900" lvl="0" indent="-342900" algn="l" rtl="0">
              <a:spcBef>
                <a:spcPts val="592"/>
              </a:spcBef>
              <a:spcAft>
                <a:spcPts val="0"/>
              </a:spcAft>
              <a:buClr>
                <a:schemeClr val="dk1"/>
              </a:buClr>
              <a:buSzPct val="100000"/>
              <a:buNone/>
            </a:pPr>
            <a:r>
              <a:rPr lang="en-US" dirty="0"/>
              <a:t>192.168.1.2  -&gt;go</a:t>
            </a:r>
            <a:endParaRPr dirty="0"/>
          </a:p>
          <a:p>
            <a:pPr marL="342900" lvl="0" indent="-342900" algn="l" rtl="0">
              <a:spcBef>
                <a:spcPts val="592"/>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157"/>
          <p:cNvSpPr txBox="1">
            <a:spLocks noGrp="1"/>
          </p:cNvSpPr>
          <p:nvPr>
            <p:ph type="body" idx="1"/>
          </p:nvPr>
        </p:nvSpPr>
        <p:spPr>
          <a:xfrm>
            <a:off x="457200" y="457200"/>
            <a:ext cx="8229600" cy="5668963"/>
          </a:xfrm>
          <a:prstGeom prst="rect">
            <a:avLst/>
          </a:prstGeom>
          <a:noFill/>
          <a:ln>
            <a:noFill/>
          </a:ln>
        </p:spPr>
        <p:txBody>
          <a:bodyPr spcFirstLastPara="1" wrap="square" lIns="91425" tIns="45700" rIns="91425" bIns="45700" anchor="t" anchorCtr="0">
            <a:normAutofit fontScale="85000" lnSpcReduction="20000"/>
          </a:bodyPr>
          <a:lstStyle/>
          <a:p>
            <a:pPr marL="342900" lvl="0" indent="-342900" algn="l" rtl="0">
              <a:spcBef>
                <a:spcPts val="0"/>
              </a:spcBef>
              <a:spcAft>
                <a:spcPts val="0"/>
              </a:spcAft>
              <a:buClr>
                <a:schemeClr val="dk1"/>
              </a:buClr>
              <a:buSzPct val="100000"/>
              <a:buNone/>
            </a:pPr>
            <a:r>
              <a:rPr lang="en-US" dirty="0" err="1"/>
              <a:t>User:admin</a:t>
            </a:r>
            <a:endParaRPr dirty="0"/>
          </a:p>
          <a:p>
            <a:pPr marL="342900" lvl="0" indent="-342900" algn="l" rtl="0">
              <a:spcBef>
                <a:spcPts val="496"/>
              </a:spcBef>
              <a:spcAft>
                <a:spcPts val="0"/>
              </a:spcAft>
              <a:buClr>
                <a:schemeClr val="dk1"/>
              </a:buClr>
              <a:buSzPct val="100000"/>
              <a:buNone/>
            </a:pPr>
            <a:r>
              <a:rPr lang="en-US" dirty="0" smtClean="0"/>
              <a:t>Password: admin</a:t>
            </a:r>
            <a:endParaRPr dirty="0"/>
          </a:p>
          <a:p>
            <a:pPr marL="342900" lvl="0" indent="-342900" algn="l" rtl="0">
              <a:spcBef>
                <a:spcPts val="496"/>
              </a:spcBef>
              <a:spcAft>
                <a:spcPts val="0"/>
              </a:spcAft>
              <a:buClr>
                <a:schemeClr val="dk1"/>
              </a:buClr>
              <a:buSzPct val="100000"/>
              <a:buNone/>
            </a:pPr>
            <a:r>
              <a:rPr lang="en-US" dirty="0" err="1" smtClean="0"/>
              <a:t>Con.password</a:t>
            </a:r>
            <a:r>
              <a:rPr lang="en-US" dirty="0" smtClean="0"/>
              <a:t>: Admin@123   </a:t>
            </a:r>
            <a:r>
              <a:rPr lang="en-US" dirty="0"/>
              <a:t>-&gt;start</a:t>
            </a:r>
            <a:endParaRPr dirty="0"/>
          </a:p>
          <a:p>
            <a:pPr marL="342900" lvl="0" indent="-342900" algn="l" rtl="0">
              <a:spcBef>
                <a:spcPts val="496"/>
              </a:spcBef>
              <a:spcAft>
                <a:spcPts val="0"/>
              </a:spcAft>
              <a:buClr>
                <a:schemeClr val="dk1"/>
              </a:buClr>
              <a:buSzPct val="100000"/>
              <a:buNone/>
            </a:pPr>
            <a:r>
              <a:rPr lang="en-US" dirty="0"/>
              <a:t>1.set:</a:t>
            </a:r>
            <a:endParaRPr dirty="0"/>
          </a:p>
          <a:p>
            <a:pPr marL="342900" lvl="0" indent="-342900" algn="l" rtl="0">
              <a:spcBef>
                <a:spcPts val="496"/>
              </a:spcBef>
              <a:spcAft>
                <a:spcPts val="0"/>
              </a:spcAft>
              <a:buClr>
                <a:schemeClr val="dk1"/>
              </a:buClr>
              <a:buSzPct val="100000"/>
              <a:buNone/>
            </a:pPr>
            <a:r>
              <a:rPr lang="en-US" dirty="0"/>
              <a:t> </a:t>
            </a:r>
            <a:r>
              <a:rPr lang="en-US" dirty="0" smtClean="0"/>
              <a:t>Name- CCNA1</a:t>
            </a:r>
            <a:endParaRPr dirty="0"/>
          </a:p>
          <a:p>
            <a:pPr marL="342900" lvl="0" indent="-342900" algn="l" rtl="0">
              <a:spcBef>
                <a:spcPts val="496"/>
              </a:spcBef>
              <a:spcAft>
                <a:spcPts val="0"/>
              </a:spcAft>
              <a:buClr>
                <a:schemeClr val="dk1"/>
              </a:buClr>
              <a:buSzPct val="100000"/>
              <a:buNone/>
            </a:pPr>
            <a:r>
              <a:rPr lang="en-US" dirty="0"/>
              <a:t>192.168.1.2</a:t>
            </a:r>
            <a:endParaRPr dirty="0"/>
          </a:p>
          <a:p>
            <a:pPr marL="342900" lvl="0" indent="-342900" algn="l" rtl="0">
              <a:spcBef>
                <a:spcPts val="496"/>
              </a:spcBef>
              <a:spcAft>
                <a:spcPts val="0"/>
              </a:spcAft>
              <a:buClr>
                <a:schemeClr val="dk1"/>
              </a:buClr>
              <a:buSzPct val="100000"/>
              <a:buNone/>
            </a:pPr>
            <a:r>
              <a:rPr lang="en-US" dirty="0"/>
              <a:t>255.255.255.0</a:t>
            </a:r>
            <a:endParaRPr dirty="0"/>
          </a:p>
          <a:p>
            <a:pPr marL="342900" lvl="0" indent="-342900" algn="l" rtl="0">
              <a:spcBef>
                <a:spcPts val="496"/>
              </a:spcBef>
              <a:spcAft>
                <a:spcPts val="0"/>
              </a:spcAft>
              <a:buClr>
                <a:schemeClr val="dk1"/>
              </a:buClr>
              <a:buSzPct val="100000"/>
              <a:buNone/>
            </a:pPr>
            <a:r>
              <a:rPr lang="en-US" dirty="0"/>
              <a:t>192.168.1.1   -&gt;next</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r>
              <a:rPr lang="en-US" dirty="0"/>
              <a:t>2, Create your wireless N/W</a:t>
            </a:r>
            <a:endParaRPr dirty="0"/>
          </a:p>
          <a:p>
            <a:pPr marL="342900" lvl="0" indent="-342900" algn="l" rtl="0">
              <a:spcBef>
                <a:spcPts val="496"/>
              </a:spcBef>
              <a:spcAft>
                <a:spcPts val="0"/>
              </a:spcAft>
              <a:buClr>
                <a:schemeClr val="dk1"/>
              </a:buClr>
              <a:buSzPct val="100000"/>
              <a:buNone/>
            </a:pPr>
            <a:r>
              <a:rPr lang="en-US" dirty="0"/>
              <a:t>Network name-  </a:t>
            </a:r>
            <a:r>
              <a:rPr lang="en-US" dirty="0" smtClean="0"/>
              <a:t>WIFI1</a:t>
            </a:r>
            <a:endParaRPr dirty="0"/>
          </a:p>
          <a:p>
            <a:pPr marL="342900" lvl="0" indent="-342900" algn="l" rtl="0">
              <a:spcBef>
                <a:spcPts val="496"/>
              </a:spcBef>
              <a:spcAft>
                <a:spcPts val="0"/>
              </a:spcAft>
              <a:buClr>
                <a:schemeClr val="dk1"/>
              </a:buClr>
              <a:buSzPct val="100000"/>
              <a:buNone/>
            </a:pPr>
            <a:r>
              <a:rPr lang="en-US" dirty="0"/>
              <a:t>Security – WPA2 personal</a:t>
            </a:r>
            <a:endParaRPr dirty="0"/>
          </a:p>
          <a:p>
            <a:pPr marL="342900" lvl="0" indent="-342900" algn="l" rtl="0">
              <a:spcBef>
                <a:spcPts val="496"/>
              </a:spcBef>
              <a:spcAft>
                <a:spcPts val="0"/>
              </a:spcAft>
              <a:buClr>
                <a:schemeClr val="dk1"/>
              </a:buClr>
              <a:buSzPct val="100000"/>
              <a:buNone/>
            </a:pPr>
            <a:r>
              <a:rPr lang="en-US" dirty="0"/>
              <a:t>Passphrase – </a:t>
            </a:r>
            <a:r>
              <a:rPr lang="en-US" dirty="0" smtClean="0"/>
              <a:t>Admin@456</a:t>
            </a:r>
            <a:endParaRPr dirty="0"/>
          </a:p>
          <a:p>
            <a:pPr marL="342900" lvl="0" indent="-342900" algn="l" rtl="0">
              <a:spcBef>
                <a:spcPts val="496"/>
              </a:spcBef>
              <a:spcAft>
                <a:spcPts val="0"/>
              </a:spcAft>
              <a:buClr>
                <a:schemeClr val="dk1"/>
              </a:buClr>
              <a:buSzPct val="100000"/>
              <a:buNone/>
            </a:pPr>
            <a:r>
              <a:rPr lang="en-US" dirty="0" err="1" smtClean="0"/>
              <a:t>Con.password</a:t>
            </a:r>
            <a:r>
              <a:rPr lang="en-US" dirty="0" smtClean="0"/>
              <a:t>- Admin@456  </a:t>
            </a:r>
            <a:r>
              <a:rPr lang="en-US" dirty="0"/>
              <a:t>-&gt;next</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Shape 1309"/>
        <p:cNvGrpSpPr/>
        <p:nvPr/>
      </p:nvGrpSpPr>
      <p:grpSpPr>
        <a:xfrm>
          <a:off x="0" y="0"/>
          <a:ext cx="0" cy="0"/>
          <a:chOff x="0" y="0"/>
          <a:chExt cx="0" cy="0"/>
        </a:xfrm>
      </p:grpSpPr>
      <p:sp>
        <p:nvSpPr>
          <p:cNvPr id="1310" name="Google Shape;1310;p158"/>
          <p:cNvSpPr txBox="1">
            <a:spLocks noGrp="1"/>
          </p:cNvSpPr>
          <p:nvPr>
            <p:ph type="body" idx="1"/>
          </p:nvPr>
        </p:nvSpPr>
        <p:spPr>
          <a:xfrm>
            <a:off x="204716" y="457200"/>
            <a:ext cx="8939284" cy="6400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None/>
            </a:pPr>
            <a:r>
              <a:rPr lang="en-US" dirty="0"/>
              <a:t>3, advanced setting:    -&gt; Next</a:t>
            </a:r>
            <a:endParaRPr dirty="0"/>
          </a:p>
          <a:p>
            <a:pPr marL="342900" lvl="0" indent="-342900" algn="l" rtl="0">
              <a:spcBef>
                <a:spcPts val="496"/>
              </a:spcBef>
              <a:spcAft>
                <a:spcPts val="0"/>
              </a:spcAft>
              <a:buClr>
                <a:schemeClr val="dk1"/>
              </a:buClr>
              <a:buSzPct val="100000"/>
              <a:buNone/>
            </a:pPr>
            <a:r>
              <a:rPr lang="en-US" dirty="0"/>
              <a:t>4.Apply  -&gt;ok</a:t>
            </a:r>
            <a:endParaRPr dirty="0"/>
          </a:p>
          <a:p>
            <a:pPr marL="342900" lvl="0" indent="-342900" algn="l" rtl="0">
              <a:spcBef>
                <a:spcPts val="496"/>
              </a:spcBef>
              <a:spcAft>
                <a:spcPts val="0"/>
              </a:spcAft>
              <a:buClr>
                <a:schemeClr val="dk1"/>
              </a:buClr>
              <a:buSzPct val="100000"/>
              <a:buNone/>
            </a:pPr>
            <a:endParaRPr lang="en-US" dirty="0" smtClean="0"/>
          </a:p>
          <a:p>
            <a:pPr marL="342900" lvl="0" indent="-342900" algn="l" rtl="0">
              <a:spcBef>
                <a:spcPts val="496"/>
              </a:spcBef>
              <a:spcAft>
                <a:spcPts val="0"/>
              </a:spcAft>
              <a:buClr>
                <a:schemeClr val="dk1"/>
              </a:buClr>
              <a:buSzPct val="100000"/>
              <a:buNone/>
            </a:pPr>
            <a:r>
              <a:rPr lang="en-US" dirty="0" smtClean="0"/>
              <a:t>PC</a:t>
            </a:r>
            <a:r>
              <a:rPr lang="en-US" dirty="0" smtClean="0">
                <a:sym typeface="Wingdings" panose="05000000000000000000" pitchFamily="2" charset="2"/>
              </a:rPr>
              <a:t>Browser</a:t>
            </a:r>
            <a:r>
              <a:rPr lang="en-US" dirty="0" smtClean="0"/>
              <a:t>https:192.168.1.2</a:t>
            </a:r>
            <a:endParaRPr dirty="0"/>
          </a:p>
          <a:p>
            <a:pPr marL="342900" lvl="0" indent="-342900" algn="l" rtl="0">
              <a:spcBef>
                <a:spcPts val="496"/>
              </a:spcBef>
              <a:spcAft>
                <a:spcPts val="0"/>
              </a:spcAft>
              <a:buClr>
                <a:schemeClr val="dk1"/>
              </a:buClr>
              <a:buSzPct val="100000"/>
              <a:buNone/>
            </a:pPr>
            <a:endParaRPr dirty="0"/>
          </a:p>
          <a:p>
            <a:pPr marL="342900" lvl="0" indent="-342900" algn="l" rtl="0">
              <a:spcBef>
                <a:spcPts val="496"/>
              </a:spcBef>
              <a:spcAft>
                <a:spcPts val="0"/>
              </a:spcAft>
              <a:buClr>
                <a:schemeClr val="dk1"/>
              </a:buClr>
              <a:buSzPct val="100000"/>
              <a:buNone/>
            </a:pPr>
            <a:r>
              <a:rPr lang="en-US" dirty="0"/>
              <a:t>Login</a:t>
            </a:r>
            <a:endParaRPr dirty="0"/>
          </a:p>
          <a:p>
            <a:pPr marL="342900" lvl="0" indent="-342900" algn="l" rtl="0">
              <a:spcBef>
                <a:spcPts val="496"/>
              </a:spcBef>
              <a:spcAft>
                <a:spcPts val="0"/>
              </a:spcAft>
              <a:buClr>
                <a:schemeClr val="dk1"/>
              </a:buClr>
              <a:buSzPct val="100000"/>
              <a:buNone/>
            </a:pPr>
            <a:r>
              <a:rPr lang="en-US" dirty="0" err="1"/>
              <a:t>User:admin</a:t>
            </a:r>
            <a:endParaRPr dirty="0"/>
          </a:p>
          <a:p>
            <a:pPr marL="342900" lvl="0" indent="-342900" algn="l" rtl="0">
              <a:spcBef>
                <a:spcPts val="496"/>
              </a:spcBef>
              <a:spcAft>
                <a:spcPts val="0"/>
              </a:spcAft>
              <a:buClr>
                <a:schemeClr val="dk1"/>
              </a:buClr>
              <a:buSzPct val="100000"/>
              <a:buNone/>
            </a:pPr>
            <a:r>
              <a:rPr lang="en-US" dirty="0" smtClean="0"/>
              <a:t>Password: Admin@456</a:t>
            </a:r>
            <a:endParaRPr dirty="0"/>
          </a:p>
          <a:p>
            <a:pPr marL="342900" lvl="0" indent="-342900" algn="l" rtl="0">
              <a:spcBef>
                <a:spcPts val="496"/>
              </a:spcBef>
              <a:spcAft>
                <a:spcPts val="0"/>
              </a:spcAft>
              <a:buClr>
                <a:schemeClr val="dk1"/>
              </a:buClr>
              <a:buSzPct val="100000"/>
              <a:buNone/>
            </a:pPr>
            <a:r>
              <a:rPr lang="en-US" dirty="0" smtClean="0"/>
              <a:t>Laptop-&gt;</a:t>
            </a:r>
            <a:r>
              <a:rPr lang="en-US" dirty="0" err="1" smtClean="0"/>
              <a:t>config</a:t>
            </a:r>
            <a:r>
              <a:rPr lang="en-US" dirty="0" smtClean="0"/>
              <a:t>-&gt;wireless0-&gt;SSID-&gt;WPA2  </a:t>
            </a:r>
          </a:p>
          <a:p>
            <a:pPr marL="342900" lvl="0" indent="-342900" algn="l" rtl="0">
              <a:spcBef>
                <a:spcPts val="496"/>
              </a:spcBef>
              <a:spcAft>
                <a:spcPts val="0"/>
              </a:spcAft>
              <a:buClr>
                <a:schemeClr val="dk1"/>
              </a:buClr>
              <a:buSzPct val="100000"/>
              <a:buNone/>
            </a:pPr>
            <a:r>
              <a:rPr lang="en-US" dirty="0"/>
              <a:t> </a:t>
            </a:r>
            <a:r>
              <a:rPr lang="en-US" dirty="0" smtClean="0"/>
              <a:t>                                                PWD(Admin@456)-&gt;on</a:t>
            </a:r>
          </a:p>
          <a:p>
            <a:pPr marL="342900">
              <a:spcBef>
                <a:spcPts val="496"/>
              </a:spcBef>
              <a:buSzPct val="100000"/>
              <a:buNone/>
            </a:pPr>
            <a:r>
              <a:rPr lang="en-US" dirty="0"/>
              <a:t>Mobile -&gt; </a:t>
            </a:r>
            <a:r>
              <a:rPr lang="en-US" dirty="0" err="1"/>
              <a:t>config</a:t>
            </a:r>
            <a:r>
              <a:rPr lang="en-US" dirty="0"/>
              <a:t>-&gt;wireless0-&gt;SSID-&gt;WPA2 PWD(Admin@456)-&gt;on</a:t>
            </a:r>
          </a:p>
          <a:p>
            <a:pPr marL="342900" lvl="0" indent="-342900" algn="l" rtl="0">
              <a:spcBef>
                <a:spcPts val="496"/>
              </a:spcBef>
              <a:spcAft>
                <a:spcPts val="0"/>
              </a:spcAft>
              <a:buClr>
                <a:schemeClr val="dk1"/>
              </a:buClr>
              <a:buSzPct val="100000"/>
              <a:buNone/>
            </a:pPr>
            <a:endParaRPr lang="en-US" dirty="0"/>
          </a:p>
          <a:p>
            <a:pPr marL="342900" lvl="0" indent="-342900" algn="l" rtl="0">
              <a:spcBef>
                <a:spcPts val="496"/>
              </a:spcBef>
              <a:spcAft>
                <a:spcPts val="0"/>
              </a:spcAft>
              <a:buClr>
                <a:schemeClr val="dk1"/>
              </a:buClr>
              <a:buSzPct val="100000"/>
              <a:buNone/>
            </a:pPr>
            <a:endParaRPr dirty="0"/>
          </a:p>
        </p:txBody>
      </p:sp>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4264" y="736979"/>
            <a:ext cx="8644465" cy="5404513"/>
          </a:xfrm>
          <a:prstGeom prst="rect">
            <a:avLst/>
          </a:prstGeom>
        </p:spPr>
      </p:pic>
    </p:spTree>
    <p:extLst>
      <p:ext uri="{BB962C8B-B14F-4D97-AF65-F5344CB8AC3E}">
        <p14:creationId xmlns:p14="http://schemas.microsoft.com/office/powerpoint/2010/main" val="243261873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
            <a:ext cx="7772400" cy="791570"/>
          </a:xfrm>
        </p:spPr>
        <p:txBody>
          <a:bodyPr/>
          <a:lstStyle/>
          <a:p>
            <a:r>
              <a:rPr lang="en-US" b="1" dirty="0" smtClean="0"/>
              <a:t>IOT – Internet of Things</a:t>
            </a:r>
            <a:endParaRPr lang="en-IN" b="1" dirty="0"/>
          </a:p>
        </p:txBody>
      </p:sp>
      <p:sp>
        <p:nvSpPr>
          <p:cNvPr id="3" name="Subtitle 2"/>
          <p:cNvSpPr>
            <a:spLocks noGrp="1"/>
          </p:cNvSpPr>
          <p:nvPr>
            <p:ph type="subTitle" idx="1"/>
          </p:nvPr>
        </p:nvSpPr>
        <p:spPr>
          <a:xfrm>
            <a:off x="354842" y="791571"/>
            <a:ext cx="8789158" cy="1446662"/>
          </a:xfrm>
        </p:spPr>
        <p:txBody>
          <a:bodyPr>
            <a:noAutofit/>
          </a:bodyPr>
          <a:lstStyle/>
          <a:p>
            <a:pPr algn="l"/>
            <a:r>
              <a:rPr lang="en-US" sz="2400" dirty="0" err="1">
                <a:solidFill>
                  <a:schemeClr val="tx1"/>
                </a:solidFill>
              </a:rPr>
              <a:t>IoT</a:t>
            </a:r>
            <a:r>
              <a:rPr lang="en-US" sz="2400" dirty="0">
                <a:solidFill>
                  <a:schemeClr val="tx1"/>
                </a:solidFill>
              </a:rPr>
              <a:t>,  </a:t>
            </a:r>
            <a:r>
              <a:rPr lang="en-US" sz="2400" dirty="0">
                <a:solidFill>
                  <a:schemeClr val="tx1"/>
                </a:solidFill>
                <a:hlinkClick r:id="rId2"/>
              </a:rPr>
              <a:t>Internet of Things</a:t>
            </a:r>
            <a:r>
              <a:rPr lang="en-US" sz="2400" dirty="0">
                <a:solidFill>
                  <a:schemeClr val="tx1"/>
                </a:solidFill>
              </a:rPr>
              <a:t>, is a network of </a:t>
            </a:r>
            <a:r>
              <a:rPr lang="en-US" sz="2400" dirty="0" smtClean="0">
                <a:solidFill>
                  <a:schemeClr val="tx1"/>
                </a:solidFill>
              </a:rPr>
              <a:t>physical objects </a:t>
            </a:r>
            <a:r>
              <a:rPr lang="en-US" sz="2400" dirty="0">
                <a:solidFill>
                  <a:schemeClr val="tx1"/>
                </a:solidFill>
              </a:rPr>
              <a:t>that are embedded with sensors, software, and other technologies to connect and exchange data over the internet. </a:t>
            </a:r>
            <a:endParaRPr lang="en-IN" sz="2400" dirty="0">
              <a:solidFill>
                <a:schemeClr val="tx1"/>
              </a:solidFill>
            </a:endParaRPr>
          </a:p>
        </p:txBody>
      </p:sp>
      <p:sp>
        <p:nvSpPr>
          <p:cNvPr id="4" name="Subtitle 2"/>
          <p:cNvSpPr txBox="1">
            <a:spLocks/>
          </p:cNvSpPr>
          <p:nvPr/>
        </p:nvSpPr>
        <p:spPr>
          <a:xfrm>
            <a:off x="559558" y="2238233"/>
            <a:ext cx="8789158" cy="46197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algn="l"/>
            <a:r>
              <a:rPr lang="en-US" sz="2400" b="1" dirty="0" smtClean="0">
                <a:solidFill>
                  <a:schemeClr val="tx1"/>
                </a:solidFill>
              </a:rPr>
              <a:t>APPT</a:t>
            </a:r>
            <a:r>
              <a:rPr lang="en-US" sz="2400" b="1" dirty="0" smtClean="0">
                <a:solidFill>
                  <a:schemeClr val="tx1"/>
                </a:solidFill>
                <a:sym typeface="Wingdings" panose="05000000000000000000" pitchFamily="2" charset="2"/>
              </a:rPr>
              <a:t></a:t>
            </a:r>
            <a:r>
              <a:rPr lang="en-US" sz="2400" b="1" dirty="0" smtClean="0">
                <a:solidFill>
                  <a:schemeClr val="tx1"/>
                </a:solidFill>
              </a:rPr>
              <a:t>Port1</a:t>
            </a:r>
          </a:p>
          <a:p>
            <a:pPr algn="l"/>
            <a:r>
              <a:rPr lang="en-US" sz="2400" dirty="0" smtClean="0">
                <a:solidFill>
                  <a:schemeClr val="tx1"/>
                </a:solidFill>
              </a:rPr>
              <a:t>SSID – VV</a:t>
            </a:r>
          </a:p>
          <a:p>
            <a:pPr algn="l"/>
            <a:r>
              <a:rPr lang="en-US" sz="2400" dirty="0" smtClean="0">
                <a:solidFill>
                  <a:schemeClr val="tx1"/>
                </a:solidFill>
              </a:rPr>
              <a:t>WPA -&gt; 11223344</a:t>
            </a:r>
          </a:p>
          <a:p>
            <a:pPr algn="l"/>
            <a:r>
              <a:rPr lang="en-US" sz="2400" b="1" dirty="0" smtClean="0">
                <a:solidFill>
                  <a:schemeClr val="tx1"/>
                </a:solidFill>
              </a:rPr>
              <a:t>Server -&gt;  </a:t>
            </a:r>
          </a:p>
          <a:p>
            <a:pPr algn="l"/>
            <a:r>
              <a:rPr lang="en-US" sz="2400" dirty="0" smtClean="0">
                <a:solidFill>
                  <a:schemeClr val="tx1"/>
                </a:solidFill>
              </a:rPr>
              <a:t>IP-192.168.1.1</a:t>
            </a:r>
          </a:p>
          <a:p>
            <a:pPr algn="l"/>
            <a:r>
              <a:rPr lang="en-US" sz="2400" dirty="0" smtClean="0">
                <a:solidFill>
                  <a:schemeClr val="tx1"/>
                </a:solidFill>
              </a:rPr>
              <a:t>SM-255.255.255.0</a:t>
            </a:r>
          </a:p>
          <a:p>
            <a:pPr algn="l"/>
            <a:r>
              <a:rPr lang="en-US" sz="2400" dirty="0" smtClean="0">
                <a:solidFill>
                  <a:schemeClr val="tx1"/>
                </a:solidFill>
              </a:rPr>
              <a:t>GW-No Need</a:t>
            </a:r>
          </a:p>
          <a:p>
            <a:pPr algn="l"/>
            <a:r>
              <a:rPr lang="en-US" sz="2400" b="1" dirty="0" smtClean="0">
                <a:solidFill>
                  <a:schemeClr val="tx1"/>
                </a:solidFill>
              </a:rPr>
              <a:t>Services-&gt;DHCP-&gt;Pool-&gt;</a:t>
            </a:r>
            <a:r>
              <a:rPr lang="en-US" sz="2400" dirty="0" smtClean="0">
                <a:solidFill>
                  <a:schemeClr val="tx1"/>
                </a:solidFill>
              </a:rPr>
              <a:t>192.168.1.1</a:t>
            </a:r>
          </a:p>
          <a:p>
            <a:pPr algn="l"/>
            <a:r>
              <a:rPr lang="en-US" sz="2400" dirty="0" smtClean="0">
                <a:solidFill>
                  <a:schemeClr val="tx1"/>
                </a:solidFill>
              </a:rPr>
              <a:t>PC-&gt; DHCP-&gt;on</a:t>
            </a:r>
          </a:p>
          <a:p>
            <a:pPr algn="l"/>
            <a:r>
              <a:rPr lang="en-US" sz="2400" b="1" dirty="0" smtClean="0">
                <a:solidFill>
                  <a:schemeClr val="tx1"/>
                </a:solidFill>
              </a:rPr>
              <a:t>Sever-&gt;IOT Monitor-&gt;Signup -&gt; </a:t>
            </a:r>
            <a:r>
              <a:rPr lang="en-US" sz="2400" dirty="0" smtClean="0">
                <a:solidFill>
                  <a:schemeClr val="tx1"/>
                </a:solidFill>
              </a:rPr>
              <a:t>admin &amp; admin@123</a:t>
            </a:r>
            <a:endParaRPr lang="en-IN" sz="2400" dirty="0">
              <a:solidFill>
                <a:schemeClr val="tx1"/>
              </a:solidFill>
            </a:endParaRPr>
          </a:p>
        </p:txBody>
      </p:sp>
    </p:spTree>
    <p:extLst>
      <p:ext uri="{BB962C8B-B14F-4D97-AF65-F5344CB8AC3E}">
        <p14:creationId xmlns:p14="http://schemas.microsoft.com/office/powerpoint/2010/main" val="194147760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54842" y="491319"/>
            <a:ext cx="8789158" cy="461976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algn="l"/>
            <a:r>
              <a:rPr lang="en-US" sz="2800" b="1" dirty="0" smtClean="0">
                <a:solidFill>
                  <a:schemeClr val="tx1"/>
                </a:solidFill>
              </a:rPr>
              <a:t>FAN, BULB, GATE</a:t>
            </a:r>
          </a:p>
          <a:p>
            <a:pPr algn="l"/>
            <a:r>
              <a:rPr lang="en-US" sz="2400" b="1" dirty="0" smtClean="0">
                <a:solidFill>
                  <a:schemeClr val="tx1"/>
                </a:solidFill>
              </a:rPr>
              <a:t>Config</a:t>
            </a:r>
            <a:r>
              <a:rPr lang="en-US" sz="2400" b="1" dirty="0" smtClean="0">
                <a:solidFill>
                  <a:schemeClr val="tx1"/>
                </a:solidFill>
                <a:sym typeface="Wingdings" panose="05000000000000000000" pitchFamily="2" charset="2"/>
              </a:rPr>
              <a:t></a:t>
            </a:r>
            <a:r>
              <a:rPr lang="en-US" sz="2400" b="1" dirty="0" smtClean="0">
                <a:solidFill>
                  <a:schemeClr val="tx1"/>
                </a:solidFill>
              </a:rPr>
              <a:t>wireless0</a:t>
            </a:r>
          </a:p>
          <a:p>
            <a:pPr algn="l"/>
            <a:r>
              <a:rPr lang="en-US" sz="2400" dirty="0" smtClean="0">
                <a:solidFill>
                  <a:schemeClr val="tx1"/>
                </a:solidFill>
              </a:rPr>
              <a:t>SSID – VV</a:t>
            </a:r>
          </a:p>
          <a:p>
            <a:pPr algn="l"/>
            <a:r>
              <a:rPr lang="en-US" sz="2400" dirty="0" smtClean="0">
                <a:solidFill>
                  <a:schemeClr val="tx1"/>
                </a:solidFill>
              </a:rPr>
              <a:t>WPA -&gt; 11223344</a:t>
            </a:r>
          </a:p>
          <a:p>
            <a:pPr algn="l"/>
            <a:r>
              <a:rPr lang="en-US" sz="2400" b="1" dirty="0" smtClean="0">
                <a:solidFill>
                  <a:schemeClr val="tx1"/>
                </a:solidFill>
              </a:rPr>
              <a:t>Settings</a:t>
            </a:r>
            <a:r>
              <a:rPr lang="en-US" sz="2400" b="1" dirty="0" smtClean="0">
                <a:solidFill>
                  <a:schemeClr val="tx1"/>
                </a:solidFill>
                <a:sym typeface="Wingdings" panose="05000000000000000000" pitchFamily="2" charset="2"/>
              </a:rPr>
              <a:t> IOT Server Remote Server</a:t>
            </a:r>
            <a:r>
              <a:rPr lang="en-US" sz="2400" dirty="0" smtClean="0">
                <a:solidFill>
                  <a:schemeClr val="tx1"/>
                </a:solidFill>
                <a:sym typeface="Wingdings" panose="05000000000000000000" pitchFamily="2" charset="2"/>
              </a:rPr>
              <a:t>	</a:t>
            </a:r>
            <a:endParaRPr lang="en-US" sz="2400" dirty="0" smtClean="0">
              <a:solidFill>
                <a:schemeClr val="tx1"/>
              </a:solidFill>
            </a:endParaRPr>
          </a:p>
          <a:p>
            <a:pPr algn="l"/>
            <a:r>
              <a:rPr lang="en-US" sz="2400" dirty="0" smtClean="0">
                <a:solidFill>
                  <a:schemeClr val="tx1"/>
                </a:solidFill>
              </a:rPr>
              <a:t>Sever Adddress-192.168.1.1</a:t>
            </a:r>
          </a:p>
          <a:p>
            <a:pPr algn="l"/>
            <a:r>
              <a:rPr lang="en-US" sz="2400" dirty="0" err="1" smtClean="0">
                <a:solidFill>
                  <a:schemeClr val="tx1"/>
                </a:solidFill>
              </a:rPr>
              <a:t>Uname</a:t>
            </a:r>
            <a:r>
              <a:rPr lang="en-US" sz="2400" dirty="0" smtClean="0">
                <a:solidFill>
                  <a:schemeClr val="tx1"/>
                </a:solidFill>
              </a:rPr>
              <a:t>-admin</a:t>
            </a:r>
          </a:p>
          <a:p>
            <a:pPr algn="l"/>
            <a:r>
              <a:rPr lang="en-US" sz="2400" dirty="0" smtClean="0">
                <a:solidFill>
                  <a:schemeClr val="tx1"/>
                </a:solidFill>
              </a:rPr>
              <a:t>Pwd-admin@123</a:t>
            </a:r>
            <a:endParaRPr lang="en-IN" sz="2400" dirty="0">
              <a:solidFill>
                <a:schemeClr val="tx1"/>
              </a:solidFill>
            </a:endParaRPr>
          </a:p>
        </p:txBody>
      </p:sp>
    </p:spTree>
    <p:extLst>
      <p:ext uri="{BB962C8B-B14F-4D97-AF65-F5344CB8AC3E}">
        <p14:creationId xmlns:p14="http://schemas.microsoft.com/office/powerpoint/2010/main" val="216737298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7561" y="137852"/>
            <a:ext cx="7772400" cy="626423"/>
          </a:xfrm>
        </p:spPr>
        <p:txBody>
          <a:bodyPr>
            <a:normAutofit fontScale="90000"/>
          </a:bodyPr>
          <a:lstStyle/>
          <a:p>
            <a:r>
              <a:rPr lang="en-US" b="1" dirty="0" smtClean="0"/>
              <a:t>Mail Server</a:t>
            </a:r>
            <a:endParaRPr lang="en-IN"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117" y="1119117"/>
            <a:ext cx="7983288" cy="4531056"/>
          </a:xfrm>
          <a:prstGeom prst="rect">
            <a:avLst/>
          </a:prstGeom>
        </p:spPr>
      </p:pic>
    </p:spTree>
    <p:extLst>
      <p:ext uri="{BB962C8B-B14F-4D97-AF65-F5344CB8AC3E}">
        <p14:creationId xmlns:p14="http://schemas.microsoft.com/office/powerpoint/2010/main" val="1364010663"/>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81334" y="0"/>
            <a:ext cx="7772400" cy="600501"/>
          </a:xfrm>
        </p:spPr>
        <p:txBody>
          <a:bodyPr>
            <a:noAutofit/>
          </a:bodyPr>
          <a:lstStyle/>
          <a:p>
            <a:pPr algn="l"/>
            <a:r>
              <a:rPr lang="en-US" sz="3200" dirty="0" smtClean="0"/>
              <a:t>Line up</a:t>
            </a:r>
            <a:endParaRPr lang="en-IN" sz="3200" dirty="0"/>
          </a:p>
        </p:txBody>
      </p:sp>
      <p:sp>
        <p:nvSpPr>
          <p:cNvPr id="4" name="Subtitle 2"/>
          <p:cNvSpPr txBox="1">
            <a:spLocks/>
          </p:cNvSpPr>
          <p:nvPr/>
        </p:nvSpPr>
        <p:spPr>
          <a:xfrm>
            <a:off x="354842" y="3580135"/>
            <a:ext cx="8789158" cy="24258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algn="l"/>
            <a:r>
              <a:rPr lang="en-IN" sz="2400" b="1" dirty="0" smtClean="0">
                <a:solidFill>
                  <a:schemeClr val="tx1"/>
                </a:solidFill>
              </a:rPr>
              <a:t>Server </a:t>
            </a:r>
            <a:r>
              <a:rPr lang="en-IN" sz="2400" b="1" dirty="0">
                <a:solidFill>
                  <a:schemeClr val="tx1"/>
                </a:solidFill>
              </a:rPr>
              <a:t>Configuration (Mail Server)</a:t>
            </a:r>
            <a:endParaRPr lang="en-IN" sz="2400" dirty="0">
              <a:solidFill>
                <a:schemeClr val="tx1"/>
              </a:solidFill>
            </a:endParaRPr>
          </a:p>
          <a:p>
            <a:pPr algn="l"/>
            <a:r>
              <a:rPr lang="en-IN" sz="2400" b="1" dirty="0" smtClean="0">
                <a:solidFill>
                  <a:schemeClr val="tx1"/>
                </a:solidFill>
              </a:rPr>
              <a:t>Server </a:t>
            </a:r>
            <a:r>
              <a:rPr lang="en-IN" sz="2400" b="1" dirty="0">
                <a:solidFill>
                  <a:schemeClr val="tx1"/>
                </a:solidFill>
              </a:rPr>
              <a:t>→ </a:t>
            </a:r>
            <a:r>
              <a:rPr lang="en-IN" sz="2400" b="1" dirty="0" err="1">
                <a:solidFill>
                  <a:schemeClr val="tx1"/>
                </a:solidFill>
              </a:rPr>
              <a:t>Config</a:t>
            </a:r>
            <a:r>
              <a:rPr lang="en-IN" sz="2400" b="1" dirty="0">
                <a:solidFill>
                  <a:schemeClr val="tx1"/>
                </a:solidFill>
              </a:rPr>
              <a:t> → Settings</a:t>
            </a:r>
            <a:endParaRPr lang="en-IN" sz="2400" dirty="0">
              <a:solidFill>
                <a:schemeClr val="tx1"/>
              </a:solidFill>
            </a:endParaRPr>
          </a:p>
          <a:p>
            <a:pPr lvl="0" algn="l"/>
            <a:r>
              <a:rPr lang="en-IN" sz="2400" dirty="0">
                <a:solidFill>
                  <a:schemeClr val="tx1"/>
                </a:solidFill>
              </a:rPr>
              <a:t>Display Name: </a:t>
            </a:r>
            <a:r>
              <a:rPr lang="en-IN" sz="2400" dirty="0" err="1">
                <a:solidFill>
                  <a:schemeClr val="tx1"/>
                </a:solidFill>
              </a:rPr>
              <a:t>MailServer</a:t>
            </a:r>
            <a:endParaRPr lang="en-IN" sz="2400" dirty="0">
              <a:solidFill>
                <a:schemeClr val="tx1"/>
              </a:solidFill>
            </a:endParaRPr>
          </a:p>
          <a:p>
            <a:pPr lvl="0" algn="l"/>
            <a:r>
              <a:rPr lang="en-IN" sz="2400" dirty="0" smtClean="0">
                <a:solidFill>
                  <a:schemeClr val="tx1"/>
                </a:solidFill>
              </a:rPr>
              <a:t>IP</a:t>
            </a:r>
            <a:r>
              <a:rPr lang="en-IN" sz="2400" dirty="0">
                <a:solidFill>
                  <a:schemeClr val="tx1"/>
                </a:solidFill>
              </a:rPr>
              <a:t>: </a:t>
            </a:r>
            <a:r>
              <a:rPr lang="en-IN" sz="2400" b="1" dirty="0" smtClean="0">
                <a:solidFill>
                  <a:schemeClr val="tx1"/>
                </a:solidFill>
              </a:rPr>
              <a:t>192.168.1.2</a:t>
            </a:r>
            <a:endParaRPr lang="en-IN" sz="2400" dirty="0">
              <a:solidFill>
                <a:schemeClr val="tx1"/>
              </a:solidFill>
            </a:endParaRPr>
          </a:p>
          <a:p>
            <a:pPr lvl="0" algn="l"/>
            <a:r>
              <a:rPr lang="en-IN" sz="2400" dirty="0">
                <a:solidFill>
                  <a:schemeClr val="tx1"/>
                </a:solidFill>
              </a:rPr>
              <a:t>Gateway: </a:t>
            </a:r>
            <a:r>
              <a:rPr lang="en-IN" sz="2400" b="1" dirty="0" smtClean="0">
                <a:solidFill>
                  <a:schemeClr val="tx1"/>
                </a:solidFill>
              </a:rPr>
              <a:t>192.168.1.1</a:t>
            </a:r>
            <a:endParaRPr lang="en-IN" sz="2400" dirty="0">
              <a:solidFill>
                <a:schemeClr val="tx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652267121"/>
              </p:ext>
            </p:extLst>
          </p:nvPr>
        </p:nvGraphicFramePr>
        <p:xfrm>
          <a:off x="325839" y="709685"/>
          <a:ext cx="8683390" cy="2643973"/>
        </p:xfrm>
        <a:graphic>
          <a:graphicData uri="http://schemas.openxmlformats.org/drawingml/2006/table">
            <a:tbl>
              <a:tblPr firstRow="1" firstCol="1" bandRow="1">
                <a:tableStyleId>{07945435-0B42-4836-8C0C-70F372444576}</a:tableStyleId>
              </a:tblPr>
              <a:tblGrid>
                <a:gridCol w="1736678"/>
                <a:gridCol w="1736678"/>
                <a:gridCol w="1736678"/>
                <a:gridCol w="1736678"/>
                <a:gridCol w="1736678"/>
              </a:tblGrid>
              <a:tr h="480401">
                <a:tc>
                  <a:txBody>
                    <a:bodyPr/>
                    <a:lstStyle/>
                    <a:p>
                      <a:pPr algn="ctr">
                        <a:lnSpc>
                          <a:spcPct val="107000"/>
                        </a:lnSpc>
                        <a:spcAft>
                          <a:spcPts val="0"/>
                        </a:spcAft>
                      </a:pPr>
                      <a:r>
                        <a:rPr lang="en-IN" sz="1800" dirty="0">
                          <a:effectLst/>
                        </a:rPr>
                        <a:t>Device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1800" dirty="0">
                          <a:effectLst/>
                        </a:rPr>
                        <a:t>IP Address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1800">
                          <a:effectLst/>
                        </a:rPr>
                        <a:t>Subnet Mask</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IN" sz="1800" dirty="0">
                          <a:effectLst/>
                        </a:rPr>
                        <a:t>Default Gateway</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0"/>
                        </a:spcAft>
                      </a:pPr>
                      <a:r>
                        <a:rPr lang="en-US" sz="1600" dirty="0" smtClean="0">
                          <a:effectLst/>
                          <a:latin typeface="Calibri" panose="020F0502020204030204" pitchFamily="34" charset="0"/>
                          <a:ea typeface="Calibri" panose="020F0502020204030204" pitchFamily="34" charset="0"/>
                          <a:cs typeface="Times New Roman" panose="02020603050405020304" pitchFamily="18" charset="0"/>
                        </a:rPr>
                        <a:t>DNS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80401">
                <a:tc>
                  <a:txBody>
                    <a:bodyPr/>
                    <a:lstStyle/>
                    <a:p>
                      <a:pPr>
                        <a:lnSpc>
                          <a:spcPct val="107000"/>
                        </a:lnSpc>
                        <a:spcAft>
                          <a:spcPts val="0"/>
                        </a:spcAft>
                      </a:pPr>
                      <a:r>
                        <a:rPr lang="en-IN" sz="1800">
                          <a:effectLst/>
                        </a:rPr>
                        <a:t>Router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smtClean="0">
                          <a:effectLst/>
                        </a:rPr>
                        <a:t>192.168.1.1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a:effectLst/>
                        </a:rPr>
                        <a:t>255.255.255.0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a:effectLst/>
                        </a:rPr>
                        <a:t>—</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IN" sz="1600" dirty="0" smtClean="0">
                          <a:effectLst/>
                        </a:rPr>
                        <a:t>192.168.1.2</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80401">
                <a:tc>
                  <a:txBody>
                    <a:bodyPr/>
                    <a:lstStyle/>
                    <a:p>
                      <a:pPr>
                        <a:lnSpc>
                          <a:spcPct val="107000"/>
                        </a:lnSpc>
                        <a:spcAft>
                          <a:spcPts val="0"/>
                        </a:spcAft>
                      </a:pPr>
                      <a:r>
                        <a:rPr lang="en-IN" sz="1800">
                          <a:effectLst/>
                        </a:rPr>
                        <a:t>Server</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smtClean="0">
                          <a:effectLst/>
                        </a:rPr>
                        <a:t>192.168.1.2</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a:effectLst/>
                        </a:rPr>
                        <a:t>255.255.255.0</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smtClean="0">
                          <a:effectLst/>
                        </a:rPr>
                        <a:t>192.168.1.1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IN" sz="1600" dirty="0" smtClean="0">
                          <a:effectLst/>
                        </a:rPr>
                        <a:t>192.168.1.2</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80401">
                <a:tc>
                  <a:txBody>
                    <a:bodyPr/>
                    <a:lstStyle/>
                    <a:p>
                      <a:pPr>
                        <a:lnSpc>
                          <a:spcPct val="107000"/>
                        </a:lnSpc>
                        <a:spcAft>
                          <a:spcPts val="0"/>
                        </a:spcAft>
                      </a:pPr>
                      <a:r>
                        <a:rPr lang="en-IN" sz="1800">
                          <a:effectLst/>
                        </a:rPr>
                        <a:t>PC1</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smtClean="0">
                          <a:effectLst/>
                        </a:rPr>
                        <a:t>192.168.1.3</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a:effectLst/>
                        </a:rPr>
                        <a:t>255.255.255.0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smtClean="0">
                          <a:effectLst/>
                        </a:rPr>
                        <a:t>192.168.1.1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IN" sz="1600" dirty="0" smtClean="0">
                          <a:effectLst/>
                        </a:rPr>
                        <a:t>192.168.1.2</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80401">
                <a:tc>
                  <a:txBody>
                    <a:bodyPr/>
                    <a:lstStyle/>
                    <a:p>
                      <a:pPr>
                        <a:lnSpc>
                          <a:spcPct val="107000"/>
                        </a:lnSpc>
                        <a:spcAft>
                          <a:spcPts val="0"/>
                        </a:spcAft>
                      </a:pPr>
                      <a:r>
                        <a:rPr lang="en-IN" sz="1800">
                          <a:effectLst/>
                        </a:rPr>
                        <a:t>PC2</a:t>
                      </a:r>
                      <a:endParaRPr lang="en-IN" sz="16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smtClean="0">
                          <a:effectLst/>
                        </a:rPr>
                        <a:t>192.168.1.4</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a:effectLst/>
                        </a:rPr>
                        <a:t>255.255.255.0</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0"/>
                        </a:spcAft>
                      </a:pPr>
                      <a:r>
                        <a:rPr lang="en-IN" sz="1800" dirty="0" smtClean="0">
                          <a:effectLst/>
                        </a:rPr>
                        <a:t>192.168.1.1</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IN" sz="1600" dirty="0" smtClean="0">
                          <a:effectLst/>
                        </a:rPr>
                        <a:t>192.168.1.2</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extLst>
      <p:ext uri="{BB962C8B-B14F-4D97-AF65-F5344CB8AC3E}">
        <p14:creationId xmlns:p14="http://schemas.microsoft.com/office/powerpoint/2010/main" val="3527462952"/>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59308" y="222786"/>
            <a:ext cx="8789158" cy="24258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algn="l"/>
            <a:r>
              <a:rPr lang="en-IN" sz="2400" b="1" dirty="0">
                <a:solidFill>
                  <a:schemeClr val="tx1"/>
                </a:solidFill>
              </a:rPr>
              <a:t>Server → Services → EMAIL</a:t>
            </a:r>
            <a:endParaRPr lang="en-IN" sz="2400" dirty="0">
              <a:solidFill>
                <a:schemeClr val="tx1"/>
              </a:solidFill>
            </a:endParaRPr>
          </a:p>
          <a:p>
            <a:pPr algn="l"/>
            <a:r>
              <a:rPr lang="en-IN" sz="2400" dirty="0">
                <a:solidFill>
                  <a:schemeClr val="tx1"/>
                </a:solidFill>
              </a:rPr>
              <a:t>Enable:</a:t>
            </a:r>
          </a:p>
          <a:p>
            <a:pPr lvl="0" algn="l"/>
            <a:r>
              <a:rPr lang="en-IN" sz="2400" b="1" dirty="0">
                <a:solidFill>
                  <a:schemeClr val="tx1"/>
                </a:solidFill>
              </a:rPr>
              <a:t>SMTP</a:t>
            </a:r>
            <a:r>
              <a:rPr lang="en-IN" sz="2400" dirty="0">
                <a:solidFill>
                  <a:schemeClr val="tx1"/>
                </a:solidFill>
              </a:rPr>
              <a:t> (ON)</a:t>
            </a:r>
          </a:p>
          <a:p>
            <a:pPr lvl="0" algn="l"/>
            <a:r>
              <a:rPr lang="en-IN" sz="2400" b="1" dirty="0">
                <a:solidFill>
                  <a:schemeClr val="tx1"/>
                </a:solidFill>
              </a:rPr>
              <a:t>POP3</a:t>
            </a:r>
            <a:r>
              <a:rPr lang="en-IN" sz="2400" dirty="0">
                <a:solidFill>
                  <a:schemeClr val="tx1"/>
                </a:solidFill>
              </a:rPr>
              <a:t> (ON</a:t>
            </a:r>
            <a:r>
              <a:rPr lang="en-IN" sz="2400" dirty="0" smtClean="0">
                <a:solidFill>
                  <a:schemeClr val="tx1"/>
                </a:solidFill>
              </a:rPr>
              <a:t>)</a:t>
            </a:r>
          </a:p>
          <a:p>
            <a:pPr lvl="0" algn="l"/>
            <a:r>
              <a:rPr lang="en-US" sz="2400" b="1" dirty="0" smtClean="0">
                <a:solidFill>
                  <a:schemeClr val="tx1"/>
                </a:solidFill>
              </a:rPr>
              <a:t>Domain Name : </a:t>
            </a:r>
            <a:r>
              <a:rPr lang="en-US" sz="2400" dirty="0" smtClean="0">
                <a:solidFill>
                  <a:schemeClr val="tx1"/>
                </a:solidFill>
              </a:rPr>
              <a:t>mailserver.com   </a:t>
            </a:r>
            <a:r>
              <a:rPr lang="en-US" sz="2400" dirty="0" smtClean="0">
                <a:solidFill>
                  <a:schemeClr val="tx1"/>
                </a:solidFill>
                <a:sym typeface="Wingdings" panose="05000000000000000000" pitchFamily="2" charset="2"/>
              </a:rPr>
              <a:t> set</a:t>
            </a:r>
            <a:endParaRPr lang="en-IN" sz="2400" dirty="0">
              <a:solidFill>
                <a:schemeClr val="tx1"/>
              </a:solidFill>
            </a:endParaRPr>
          </a:p>
          <a:p>
            <a:pPr algn="l"/>
            <a:r>
              <a:rPr lang="en-IN" sz="2400" dirty="0">
                <a:solidFill>
                  <a:schemeClr val="tx1"/>
                </a:solidFill>
              </a:rPr>
              <a:t>Add 2 user accounts:</a:t>
            </a:r>
          </a:p>
          <a:p>
            <a:pPr algn="l"/>
            <a:r>
              <a:rPr lang="en-IN" sz="2400" b="1" dirty="0">
                <a:solidFill>
                  <a:schemeClr val="tx1"/>
                </a:solidFill>
              </a:rPr>
              <a:t>Username: user1      Password: </a:t>
            </a:r>
            <a:r>
              <a:rPr lang="en-IN" sz="2400" b="1" dirty="0" smtClean="0">
                <a:solidFill>
                  <a:schemeClr val="tx1"/>
                </a:solidFill>
              </a:rPr>
              <a:t>user123    </a:t>
            </a:r>
            <a:r>
              <a:rPr lang="en-IN" sz="2400" b="1" dirty="0" smtClean="0">
                <a:solidFill>
                  <a:schemeClr val="tx1"/>
                </a:solidFill>
                <a:sym typeface="Wingdings" panose="05000000000000000000" pitchFamily="2" charset="2"/>
              </a:rPr>
              <a:t> Add</a:t>
            </a:r>
            <a:endParaRPr lang="en-IN" sz="2400" b="1" dirty="0">
              <a:solidFill>
                <a:schemeClr val="tx1"/>
              </a:solidFill>
            </a:endParaRPr>
          </a:p>
          <a:p>
            <a:pPr algn="l"/>
            <a:r>
              <a:rPr lang="en-IN" sz="2400" b="1" dirty="0">
                <a:solidFill>
                  <a:schemeClr val="tx1"/>
                </a:solidFill>
              </a:rPr>
              <a:t>Username: user2      Password: </a:t>
            </a:r>
            <a:r>
              <a:rPr lang="en-IN" sz="2400" b="1" dirty="0" smtClean="0">
                <a:solidFill>
                  <a:schemeClr val="tx1"/>
                </a:solidFill>
              </a:rPr>
              <a:t>user123    </a:t>
            </a:r>
            <a:r>
              <a:rPr lang="en-IN" sz="2400" b="1" dirty="0" smtClean="0">
                <a:solidFill>
                  <a:schemeClr val="tx1"/>
                </a:solidFill>
                <a:sym typeface="Wingdings" panose="05000000000000000000" pitchFamily="2" charset="2"/>
              </a:rPr>
              <a:t> Add</a:t>
            </a:r>
          </a:p>
          <a:p>
            <a:pPr algn="l"/>
            <a:r>
              <a:rPr lang="en-IN" sz="2400" b="1" dirty="0">
                <a:solidFill>
                  <a:schemeClr val="tx1"/>
                </a:solidFill>
              </a:rPr>
              <a:t>On PC1:</a:t>
            </a:r>
            <a:endParaRPr lang="en-IN" sz="2400" dirty="0">
              <a:solidFill>
                <a:schemeClr val="tx1"/>
              </a:solidFill>
            </a:endParaRPr>
          </a:p>
          <a:p>
            <a:pPr algn="l"/>
            <a:r>
              <a:rPr lang="en-IN" sz="2400" dirty="0">
                <a:solidFill>
                  <a:schemeClr val="tx1"/>
                </a:solidFill>
              </a:rPr>
              <a:t>Go to → </a:t>
            </a:r>
            <a:r>
              <a:rPr lang="en-IN" sz="2400" b="1" dirty="0">
                <a:solidFill>
                  <a:schemeClr val="tx1"/>
                </a:solidFill>
              </a:rPr>
              <a:t>Desktop → Email</a:t>
            </a:r>
            <a:endParaRPr lang="en-IN" sz="2400" dirty="0">
              <a:solidFill>
                <a:schemeClr val="tx1"/>
              </a:solidFill>
            </a:endParaRPr>
          </a:p>
          <a:p>
            <a:pPr lvl="0" algn="l"/>
            <a:r>
              <a:rPr lang="en-IN" sz="2400" b="1" dirty="0">
                <a:solidFill>
                  <a:schemeClr val="tx1"/>
                </a:solidFill>
              </a:rPr>
              <a:t>Email Address:</a:t>
            </a:r>
            <a:r>
              <a:rPr lang="en-IN" sz="2400" dirty="0">
                <a:solidFill>
                  <a:schemeClr val="tx1"/>
                </a:solidFill>
              </a:rPr>
              <a:t> </a:t>
            </a:r>
            <a:r>
              <a:rPr lang="en-IN" sz="2400" u="sng" dirty="0">
                <a:solidFill>
                  <a:schemeClr val="tx1"/>
                </a:solidFill>
                <a:hlinkClick r:id="rId2"/>
              </a:rPr>
              <a:t>user1@mailserver.com</a:t>
            </a:r>
            <a:endParaRPr lang="en-IN" sz="2400" dirty="0">
              <a:solidFill>
                <a:schemeClr val="tx1"/>
              </a:solidFill>
            </a:endParaRPr>
          </a:p>
          <a:p>
            <a:pPr lvl="0" algn="l"/>
            <a:r>
              <a:rPr lang="en-IN" sz="2400" b="1" dirty="0">
                <a:solidFill>
                  <a:schemeClr val="tx1"/>
                </a:solidFill>
              </a:rPr>
              <a:t>Incoming Mail Server (POP3):</a:t>
            </a:r>
            <a:r>
              <a:rPr lang="en-IN" sz="2400" dirty="0">
                <a:solidFill>
                  <a:schemeClr val="tx1"/>
                </a:solidFill>
              </a:rPr>
              <a:t> </a:t>
            </a:r>
            <a:r>
              <a:rPr lang="en-IN" sz="2400" dirty="0" smtClean="0">
                <a:solidFill>
                  <a:schemeClr val="tx1"/>
                </a:solidFill>
              </a:rPr>
              <a:t>192.168.1.2</a:t>
            </a:r>
            <a:endParaRPr lang="en-IN" sz="2400" dirty="0">
              <a:solidFill>
                <a:schemeClr val="tx1"/>
              </a:solidFill>
            </a:endParaRPr>
          </a:p>
          <a:p>
            <a:pPr lvl="0" algn="l"/>
            <a:r>
              <a:rPr lang="en-IN" sz="2400" b="1" dirty="0">
                <a:solidFill>
                  <a:schemeClr val="tx1"/>
                </a:solidFill>
              </a:rPr>
              <a:t>Outgoing Mail Server (SMTP):</a:t>
            </a:r>
            <a:r>
              <a:rPr lang="en-IN" sz="2400" dirty="0">
                <a:solidFill>
                  <a:schemeClr val="tx1"/>
                </a:solidFill>
              </a:rPr>
              <a:t> </a:t>
            </a:r>
            <a:r>
              <a:rPr lang="en-IN" sz="2400" dirty="0" smtClean="0">
                <a:solidFill>
                  <a:schemeClr val="tx1"/>
                </a:solidFill>
              </a:rPr>
              <a:t>192.168.1.2</a:t>
            </a:r>
            <a:endParaRPr lang="en-IN" sz="2400" dirty="0">
              <a:solidFill>
                <a:schemeClr val="tx1"/>
              </a:solidFill>
            </a:endParaRPr>
          </a:p>
          <a:p>
            <a:pPr lvl="0" algn="l"/>
            <a:r>
              <a:rPr lang="en-IN" sz="2400" dirty="0">
                <a:solidFill>
                  <a:schemeClr val="tx1"/>
                </a:solidFill>
              </a:rPr>
              <a:t>Username: user1</a:t>
            </a:r>
          </a:p>
          <a:p>
            <a:pPr lvl="0" algn="l"/>
            <a:r>
              <a:rPr lang="en-IN" sz="2400" dirty="0">
                <a:solidFill>
                  <a:schemeClr val="tx1"/>
                </a:solidFill>
              </a:rPr>
              <a:t>Password: </a:t>
            </a:r>
            <a:r>
              <a:rPr lang="en-IN" sz="2400" dirty="0" smtClean="0">
                <a:solidFill>
                  <a:schemeClr val="tx1"/>
                </a:solidFill>
              </a:rPr>
              <a:t>user123</a:t>
            </a:r>
            <a:endParaRPr lang="en-IN" sz="2400" dirty="0">
              <a:solidFill>
                <a:schemeClr val="tx1"/>
              </a:solidFill>
            </a:endParaRPr>
          </a:p>
          <a:p>
            <a:pPr algn="l"/>
            <a:endParaRPr lang="en-IN" sz="2400" b="1" dirty="0">
              <a:solidFill>
                <a:schemeClr val="tx1"/>
              </a:solidFill>
            </a:endParaRPr>
          </a:p>
        </p:txBody>
      </p:sp>
    </p:spTree>
    <p:extLst>
      <p:ext uri="{BB962C8B-B14F-4D97-AF65-F5344CB8AC3E}">
        <p14:creationId xmlns:p14="http://schemas.microsoft.com/office/powerpoint/2010/main" val="320638947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259308" y="222786"/>
            <a:ext cx="8789158" cy="24258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algn="l"/>
            <a:r>
              <a:rPr lang="en-IN" sz="2400" b="1" dirty="0">
                <a:solidFill>
                  <a:schemeClr val="tx1"/>
                </a:solidFill>
              </a:rPr>
              <a:t>On PC2:</a:t>
            </a:r>
            <a:endParaRPr lang="en-IN" sz="2400" dirty="0">
              <a:solidFill>
                <a:schemeClr val="tx1"/>
              </a:solidFill>
            </a:endParaRPr>
          </a:p>
          <a:p>
            <a:pPr lvl="0" algn="l"/>
            <a:r>
              <a:rPr lang="en-IN" sz="2400" b="1" dirty="0">
                <a:solidFill>
                  <a:schemeClr val="tx1"/>
                </a:solidFill>
              </a:rPr>
              <a:t>Email Address:</a:t>
            </a:r>
            <a:r>
              <a:rPr lang="en-IN" sz="2400" dirty="0">
                <a:solidFill>
                  <a:schemeClr val="tx1"/>
                </a:solidFill>
              </a:rPr>
              <a:t> </a:t>
            </a:r>
            <a:r>
              <a:rPr lang="en-IN" sz="2400" u="sng" dirty="0">
                <a:solidFill>
                  <a:schemeClr val="tx1"/>
                </a:solidFill>
                <a:hlinkClick r:id="rId2"/>
              </a:rPr>
              <a:t>user2@mailserver.com</a:t>
            </a:r>
            <a:endParaRPr lang="en-IN" sz="2400" dirty="0">
              <a:solidFill>
                <a:schemeClr val="tx1"/>
              </a:solidFill>
            </a:endParaRPr>
          </a:p>
          <a:p>
            <a:pPr lvl="0" algn="l"/>
            <a:r>
              <a:rPr lang="en-IN" sz="2400" dirty="0">
                <a:solidFill>
                  <a:schemeClr val="tx1"/>
                </a:solidFill>
              </a:rPr>
              <a:t>Incoming: </a:t>
            </a:r>
            <a:r>
              <a:rPr lang="en-IN" sz="2400" b="1" dirty="0">
                <a:solidFill>
                  <a:schemeClr val="tx1"/>
                </a:solidFill>
              </a:rPr>
              <a:t>192.168.10.2</a:t>
            </a:r>
            <a:endParaRPr lang="en-IN" sz="2400" dirty="0">
              <a:solidFill>
                <a:schemeClr val="tx1"/>
              </a:solidFill>
            </a:endParaRPr>
          </a:p>
          <a:p>
            <a:pPr lvl="0" algn="l"/>
            <a:r>
              <a:rPr lang="en-IN" sz="2400" dirty="0">
                <a:solidFill>
                  <a:schemeClr val="tx1"/>
                </a:solidFill>
              </a:rPr>
              <a:t>Outgoing: </a:t>
            </a:r>
            <a:r>
              <a:rPr lang="en-IN" sz="2400" b="1" dirty="0">
                <a:solidFill>
                  <a:schemeClr val="tx1"/>
                </a:solidFill>
              </a:rPr>
              <a:t>192.168.10.2</a:t>
            </a:r>
            <a:endParaRPr lang="en-IN" sz="2400" dirty="0">
              <a:solidFill>
                <a:schemeClr val="tx1"/>
              </a:solidFill>
            </a:endParaRPr>
          </a:p>
          <a:p>
            <a:pPr lvl="0" algn="l"/>
            <a:r>
              <a:rPr lang="en-IN" sz="2400" dirty="0">
                <a:solidFill>
                  <a:schemeClr val="tx1"/>
                </a:solidFill>
              </a:rPr>
              <a:t>Username: user2</a:t>
            </a:r>
          </a:p>
          <a:p>
            <a:pPr lvl="0" algn="l"/>
            <a:r>
              <a:rPr lang="en-IN" sz="2400" dirty="0">
                <a:solidFill>
                  <a:schemeClr val="tx1"/>
                </a:solidFill>
              </a:rPr>
              <a:t>Password: </a:t>
            </a:r>
            <a:r>
              <a:rPr lang="en-IN" sz="2400" dirty="0" smtClean="0">
                <a:solidFill>
                  <a:schemeClr val="tx1"/>
                </a:solidFill>
              </a:rPr>
              <a:t>user123</a:t>
            </a:r>
          </a:p>
          <a:p>
            <a:pPr lvl="0" algn="l"/>
            <a:endParaRPr lang="en-US" sz="2400" dirty="0">
              <a:solidFill>
                <a:schemeClr val="tx1"/>
              </a:solidFill>
            </a:endParaRPr>
          </a:p>
          <a:p>
            <a:pPr algn="l"/>
            <a:r>
              <a:rPr lang="en-IN" sz="2400" b="1" dirty="0">
                <a:solidFill>
                  <a:schemeClr val="tx1"/>
                </a:solidFill>
              </a:rPr>
              <a:t>From PC1 → Send Email to PC2</a:t>
            </a:r>
            <a:endParaRPr lang="en-IN" sz="2400" dirty="0">
              <a:solidFill>
                <a:schemeClr val="tx1"/>
              </a:solidFill>
            </a:endParaRPr>
          </a:p>
          <a:p>
            <a:pPr lvl="0" algn="l"/>
            <a:r>
              <a:rPr lang="en-IN" sz="2400" dirty="0">
                <a:solidFill>
                  <a:schemeClr val="tx1"/>
                </a:solidFill>
              </a:rPr>
              <a:t>Subject: Test</a:t>
            </a:r>
          </a:p>
          <a:p>
            <a:pPr lvl="0" algn="l"/>
            <a:r>
              <a:rPr lang="en-IN" sz="2400" dirty="0">
                <a:solidFill>
                  <a:schemeClr val="tx1"/>
                </a:solidFill>
              </a:rPr>
              <a:t>Body: Hello</a:t>
            </a:r>
          </a:p>
          <a:p>
            <a:pPr algn="l"/>
            <a:r>
              <a:rPr lang="en-IN" sz="2400" dirty="0">
                <a:solidFill>
                  <a:schemeClr val="tx1"/>
                </a:solidFill>
              </a:rPr>
              <a:t>Then check </a:t>
            </a:r>
            <a:r>
              <a:rPr lang="en-IN" sz="2400" b="1" dirty="0">
                <a:solidFill>
                  <a:schemeClr val="tx1"/>
                </a:solidFill>
              </a:rPr>
              <a:t>PC2 → Email → Receive</a:t>
            </a:r>
            <a:r>
              <a:rPr lang="en-IN" sz="2400" dirty="0"/>
              <a:t/>
            </a:r>
            <a:br>
              <a:rPr lang="en-IN" sz="2400" dirty="0"/>
            </a:br>
            <a:endParaRPr lang="en-IN" sz="2400" dirty="0">
              <a:solidFill>
                <a:schemeClr val="tx1"/>
              </a:solidFill>
            </a:endParaRPr>
          </a:p>
          <a:p>
            <a:pPr algn="l"/>
            <a:endParaRPr lang="en-IN" sz="2400" b="1" dirty="0">
              <a:solidFill>
                <a:schemeClr val="tx1"/>
              </a:solidFill>
            </a:endParaRPr>
          </a:p>
        </p:txBody>
      </p:sp>
    </p:spTree>
    <p:extLst>
      <p:ext uri="{BB962C8B-B14F-4D97-AF65-F5344CB8AC3E}">
        <p14:creationId xmlns:p14="http://schemas.microsoft.com/office/powerpoint/2010/main" val="397453950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77145481"/>
              </p:ext>
            </p:extLst>
          </p:nvPr>
        </p:nvGraphicFramePr>
        <p:xfrm>
          <a:off x="423080" y="81881"/>
          <a:ext cx="8598089" cy="6537282"/>
        </p:xfrm>
        <a:graphic>
          <a:graphicData uri="http://schemas.openxmlformats.org/drawingml/2006/table">
            <a:tbl>
              <a:tblPr>
                <a:tableStyleId>{A332DE6A-0728-4951-BA95-FBE1D94F13F9}</a:tableStyleId>
              </a:tblPr>
              <a:tblGrid>
                <a:gridCol w="2576671"/>
                <a:gridCol w="3155388"/>
                <a:gridCol w="2866030"/>
              </a:tblGrid>
              <a:tr h="753130">
                <a:tc>
                  <a:txBody>
                    <a:bodyPr/>
                    <a:lstStyle/>
                    <a:p>
                      <a:r>
                        <a:rPr lang="en-IN" sz="2000" b="1" dirty="0"/>
                        <a:t>Feature</a:t>
                      </a:r>
                    </a:p>
                  </a:txBody>
                  <a:tcPr marL="66558" marR="66558" marT="33279" marB="33279" anchor="ctr"/>
                </a:tc>
                <a:tc>
                  <a:txBody>
                    <a:bodyPr/>
                    <a:lstStyle/>
                    <a:p>
                      <a:r>
                        <a:rPr lang="en-IN" sz="1800" b="1" dirty="0"/>
                        <a:t>LAP (Lightweight Access Point)</a:t>
                      </a:r>
                    </a:p>
                  </a:txBody>
                  <a:tcPr marL="66558" marR="66558" marT="33279" marB="33279" anchor="ctr"/>
                </a:tc>
                <a:tc>
                  <a:txBody>
                    <a:bodyPr/>
                    <a:lstStyle/>
                    <a:p>
                      <a:r>
                        <a:rPr lang="en-IN" sz="1800" b="1" dirty="0"/>
                        <a:t>AP (Autonomous Access Point)</a:t>
                      </a:r>
                    </a:p>
                  </a:txBody>
                  <a:tcPr marL="66558" marR="66558" marT="33279" marB="33279" anchor="ctr"/>
                </a:tc>
              </a:tr>
              <a:tr h="417305">
                <a:tc>
                  <a:txBody>
                    <a:bodyPr/>
                    <a:lstStyle/>
                    <a:p>
                      <a:r>
                        <a:rPr lang="en-IN" sz="1800" b="1" dirty="0"/>
                        <a:t>Full Form</a:t>
                      </a:r>
                    </a:p>
                  </a:txBody>
                  <a:tcPr marL="66558" marR="66558" marT="33279" marB="33279" anchor="ctr"/>
                </a:tc>
                <a:tc>
                  <a:txBody>
                    <a:bodyPr/>
                    <a:lstStyle/>
                    <a:p>
                      <a:r>
                        <a:rPr lang="en-IN" sz="1600" dirty="0"/>
                        <a:t>Lightweight Access Point</a:t>
                      </a:r>
                    </a:p>
                  </a:txBody>
                  <a:tcPr marL="66558" marR="66558" marT="33279" marB="33279" anchor="ctr"/>
                </a:tc>
                <a:tc>
                  <a:txBody>
                    <a:bodyPr/>
                    <a:lstStyle/>
                    <a:p>
                      <a:r>
                        <a:rPr lang="en-IN" sz="1600"/>
                        <a:t>Autonomous Access Point</a:t>
                      </a:r>
                    </a:p>
                  </a:txBody>
                  <a:tcPr marL="66558" marR="66558" marT="33279" marB="33279" anchor="ctr"/>
                </a:tc>
              </a:tr>
              <a:tr h="921869">
                <a:tc>
                  <a:txBody>
                    <a:bodyPr/>
                    <a:lstStyle/>
                    <a:p>
                      <a:r>
                        <a:rPr lang="en-IN" sz="1800" b="1" dirty="0"/>
                        <a:t>Management</a:t>
                      </a:r>
                    </a:p>
                  </a:txBody>
                  <a:tcPr marL="66558" marR="66558" marT="33279" marB="33279" anchor="ctr"/>
                </a:tc>
                <a:tc>
                  <a:txBody>
                    <a:bodyPr/>
                    <a:lstStyle/>
                    <a:p>
                      <a:r>
                        <a:rPr lang="en-US" sz="1600" dirty="0"/>
                        <a:t>Controlled and managed by a Wireless LAN Controller (WLC)</a:t>
                      </a:r>
                    </a:p>
                  </a:txBody>
                  <a:tcPr marL="66558" marR="66558" marT="33279" marB="33279" anchor="ctr"/>
                </a:tc>
                <a:tc>
                  <a:txBody>
                    <a:bodyPr/>
                    <a:lstStyle/>
                    <a:p>
                      <a:r>
                        <a:rPr lang="en-IN" sz="1600"/>
                        <a:t>Self-managed (configured individually)</a:t>
                      </a:r>
                    </a:p>
                  </a:txBody>
                  <a:tcPr marL="66558" marR="66558" marT="33279" marB="33279" anchor="ctr"/>
                </a:tc>
              </a:tr>
              <a:tr h="652993">
                <a:tc>
                  <a:txBody>
                    <a:bodyPr/>
                    <a:lstStyle/>
                    <a:p>
                      <a:r>
                        <a:rPr lang="en-IN" sz="1800" b="1"/>
                        <a:t>Control Type</a:t>
                      </a:r>
                    </a:p>
                  </a:txBody>
                  <a:tcPr marL="66558" marR="66558" marT="33279" marB="33279" anchor="ctr"/>
                </a:tc>
                <a:tc>
                  <a:txBody>
                    <a:bodyPr/>
                    <a:lstStyle/>
                    <a:p>
                      <a:r>
                        <a:rPr lang="en-IN" sz="1600" dirty="0"/>
                        <a:t>Centralized management via WLC</a:t>
                      </a:r>
                    </a:p>
                  </a:txBody>
                  <a:tcPr marL="66558" marR="66558" marT="33279" marB="33279" anchor="ctr"/>
                </a:tc>
                <a:tc>
                  <a:txBody>
                    <a:bodyPr/>
                    <a:lstStyle/>
                    <a:p>
                      <a:r>
                        <a:rPr lang="en-IN" sz="1600"/>
                        <a:t>Standalone operation</a:t>
                      </a:r>
                    </a:p>
                  </a:txBody>
                  <a:tcPr marL="66558" marR="66558" marT="33279" marB="33279" anchor="ctr"/>
                </a:tc>
              </a:tr>
              <a:tr h="678502">
                <a:tc>
                  <a:txBody>
                    <a:bodyPr/>
                    <a:lstStyle/>
                    <a:p>
                      <a:r>
                        <a:rPr lang="en-IN" sz="1800" b="1" dirty="0"/>
                        <a:t>Configuration</a:t>
                      </a:r>
                    </a:p>
                  </a:txBody>
                  <a:tcPr marL="66558" marR="66558" marT="33279" marB="33279" anchor="ctr"/>
                </a:tc>
                <a:tc>
                  <a:txBody>
                    <a:bodyPr/>
                    <a:lstStyle/>
                    <a:p>
                      <a:r>
                        <a:rPr lang="en-US" sz="1600" dirty="0"/>
                        <a:t>Configuration pushed by WLC (SSID, security, channels, etc.)</a:t>
                      </a:r>
                    </a:p>
                  </a:txBody>
                  <a:tcPr marL="66558" marR="66558" marT="33279" marB="33279" anchor="ctr"/>
                </a:tc>
                <a:tc>
                  <a:txBody>
                    <a:bodyPr/>
                    <a:lstStyle/>
                    <a:p>
                      <a:r>
                        <a:rPr lang="en-US" sz="1600"/>
                        <a:t>Configured locally through CLI or GUI</a:t>
                      </a:r>
                    </a:p>
                  </a:txBody>
                  <a:tcPr marL="66558" marR="66558" marT="33279" marB="33279" anchor="ctr"/>
                </a:tc>
              </a:tr>
              <a:tr h="417305">
                <a:tc>
                  <a:txBody>
                    <a:bodyPr/>
                    <a:lstStyle/>
                    <a:p>
                      <a:r>
                        <a:rPr lang="en-IN" sz="1800" b="1" dirty="0" smtClean="0"/>
                        <a:t>Firmware / S/w </a:t>
                      </a:r>
                      <a:r>
                        <a:rPr lang="en-IN" sz="1800" b="1" dirty="0"/>
                        <a:t>Updates</a:t>
                      </a:r>
                    </a:p>
                  </a:txBody>
                  <a:tcPr marL="66558" marR="66558" marT="33279" marB="33279" anchor="ctr"/>
                </a:tc>
                <a:tc>
                  <a:txBody>
                    <a:bodyPr/>
                    <a:lstStyle/>
                    <a:p>
                      <a:r>
                        <a:rPr lang="en-IN" sz="1600" dirty="0"/>
                        <a:t>Handled automatically by WLC</a:t>
                      </a:r>
                    </a:p>
                  </a:txBody>
                  <a:tcPr marL="66558" marR="66558" marT="33279" marB="33279" anchor="ctr"/>
                </a:tc>
                <a:tc>
                  <a:txBody>
                    <a:bodyPr/>
                    <a:lstStyle/>
                    <a:p>
                      <a:r>
                        <a:rPr lang="en-US" sz="1600"/>
                        <a:t>Manually updated on each AP</a:t>
                      </a:r>
                    </a:p>
                  </a:txBody>
                  <a:tcPr marL="66558" marR="66558" marT="33279" marB="33279" anchor="ctr"/>
                </a:tc>
              </a:tr>
              <a:tr h="921869">
                <a:tc>
                  <a:txBody>
                    <a:bodyPr/>
                    <a:lstStyle/>
                    <a:p>
                      <a:r>
                        <a:rPr lang="en-IN" sz="1800" b="1" dirty="0"/>
                        <a:t>Deployment Scale</a:t>
                      </a:r>
                    </a:p>
                  </a:txBody>
                  <a:tcPr marL="66558" marR="66558" marT="33279" marB="33279" anchor="ctr"/>
                </a:tc>
                <a:tc>
                  <a:txBody>
                    <a:bodyPr/>
                    <a:lstStyle/>
                    <a:p>
                      <a:r>
                        <a:rPr lang="en-US" sz="1600"/>
                        <a:t>Ideal for medium to large enterprise networks with many APs</a:t>
                      </a:r>
                    </a:p>
                  </a:txBody>
                  <a:tcPr marL="66558" marR="66558" marT="33279" marB="33279" anchor="ctr"/>
                </a:tc>
                <a:tc>
                  <a:txBody>
                    <a:bodyPr/>
                    <a:lstStyle/>
                    <a:p>
                      <a:r>
                        <a:rPr lang="en-US" sz="1600" dirty="0"/>
                        <a:t>Best suited for small or home networks</a:t>
                      </a:r>
                    </a:p>
                  </a:txBody>
                  <a:tcPr marL="66558" marR="66558" marT="33279" marB="33279" anchor="ctr"/>
                </a:tc>
              </a:tr>
              <a:tr h="678502">
                <a:tc>
                  <a:txBody>
                    <a:bodyPr/>
                    <a:lstStyle/>
                    <a:p>
                      <a:r>
                        <a:rPr lang="en-IN" sz="1800" b="1" dirty="0"/>
                        <a:t>Flexibility</a:t>
                      </a:r>
                    </a:p>
                  </a:txBody>
                  <a:tcPr marL="66558" marR="66558" marT="33279" marB="33279" anchor="ctr"/>
                </a:tc>
                <a:tc>
                  <a:txBody>
                    <a:bodyPr/>
                    <a:lstStyle/>
                    <a:p>
                      <a:r>
                        <a:rPr lang="en-IN" sz="1600" dirty="0"/>
                        <a:t>Dependent on WLC availability</a:t>
                      </a:r>
                    </a:p>
                  </a:txBody>
                  <a:tcPr marL="66558" marR="66558" marT="33279" marB="33279" anchor="ctr"/>
                </a:tc>
                <a:tc>
                  <a:txBody>
                    <a:bodyPr/>
                    <a:lstStyle/>
                    <a:p>
                      <a:r>
                        <a:rPr lang="en-US" sz="1600" dirty="0"/>
                        <a:t>Works independently, even without WLC</a:t>
                      </a:r>
                    </a:p>
                  </a:txBody>
                  <a:tcPr marL="66558" marR="66558" marT="33279" marB="33279" anchor="ctr"/>
                </a:tc>
              </a:tr>
              <a:tr h="678502">
                <a:tc>
                  <a:txBody>
                    <a:bodyPr/>
                    <a:lstStyle/>
                    <a:p>
                      <a:r>
                        <a:rPr lang="en-IN" sz="1800" b="1"/>
                        <a:t>Traffic Handling</a:t>
                      </a:r>
                    </a:p>
                  </a:txBody>
                  <a:tcPr marL="66558" marR="66558" marT="33279" marB="33279" anchor="ctr"/>
                </a:tc>
                <a:tc>
                  <a:txBody>
                    <a:bodyPr/>
                    <a:lstStyle/>
                    <a:p>
                      <a:r>
                        <a:rPr lang="en-US" sz="1600" dirty="0"/>
                        <a:t>User data is often tunneled to WLC for processing</a:t>
                      </a:r>
                    </a:p>
                  </a:txBody>
                  <a:tcPr marL="66558" marR="66558" marT="33279" marB="33279" anchor="ctr"/>
                </a:tc>
                <a:tc>
                  <a:txBody>
                    <a:bodyPr/>
                    <a:lstStyle/>
                    <a:p>
                      <a:r>
                        <a:rPr lang="en-US" sz="1600" dirty="0"/>
                        <a:t>User data handled locally on the AP</a:t>
                      </a:r>
                    </a:p>
                  </a:txBody>
                  <a:tcPr marL="66558" marR="66558" marT="33279" marB="33279" anchor="ctr"/>
                </a:tc>
              </a:tr>
              <a:tr h="417305">
                <a:tc>
                  <a:txBody>
                    <a:bodyPr/>
                    <a:lstStyle/>
                    <a:p>
                      <a:r>
                        <a:rPr lang="en-IN" sz="1800" b="1"/>
                        <a:t>Cost</a:t>
                      </a:r>
                    </a:p>
                  </a:txBody>
                  <a:tcPr marL="66558" marR="66558" marT="33279" marB="33279" anchor="ctr"/>
                </a:tc>
                <a:tc>
                  <a:txBody>
                    <a:bodyPr/>
                    <a:lstStyle/>
                    <a:p>
                      <a:r>
                        <a:rPr lang="en-IN" sz="1600" dirty="0"/>
                        <a:t>Higher (requires WLC)</a:t>
                      </a:r>
                    </a:p>
                  </a:txBody>
                  <a:tcPr marL="66558" marR="66558" marT="33279" marB="33279" anchor="ctr"/>
                </a:tc>
                <a:tc>
                  <a:txBody>
                    <a:bodyPr/>
                    <a:lstStyle/>
                    <a:p>
                      <a:r>
                        <a:rPr lang="en-IN" sz="1600" dirty="0"/>
                        <a:t>Lower (no controller needed)</a:t>
                      </a:r>
                    </a:p>
                  </a:txBody>
                  <a:tcPr marL="66558" marR="66558" marT="33279" marB="33279" anchor="ctr"/>
                </a:tc>
              </a:tr>
            </a:tbl>
          </a:graphicData>
        </a:graphic>
      </p:graphicFrame>
    </p:spTree>
    <p:extLst>
      <p:ext uri="{BB962C8B-B14F-4D97-AF65-F5344CB8AC3E}">
        <p14:creationId xmlns:p14="http://schemas.microsoft.com/office/powerpoint/2010/main" val="1555437996"/>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063274390"/>
              </p:ext>
            </p:extLst>
          </p:nvPr>
        </p:nvGraphicFramePr>
        <p:xfrm>
          <a:off x="368492" y="133791"/>
          <a:ext cx="8488905" cy="6659124"/>
        </p:xfrm>
        <a:graphic>
          <a:graphicData uri="http://schemas.openxmlformats.org/drawingml/2006/table">
            <a:tbl>
              <a:tblPr>
                <a:tableStyleId>{A332DE6A-0728-4951-BA95-FBE1D94F13F9}</a:tableStyleId>
              </a:tblPr>
              <a:tblGrid>
                <a:gridCol w="2829635"/>
                <a:gridCol w="2829635"/>
                <a:gridCol w="2829635"/>
              </a:tblGrid>
              <a:tr h="179021">
                <a:tc>
                  <a:txBody>
                    <a:bodyPr/>
                    <a:lstStyle/>
                    <a:p>
                      <a:r>
                        <a:rPr lang="en-IN" sz="1600" b="1" dirty="0"/>
                        <a:t>Router OS Type</a:t>
                      </a:r>
                    </a:p>
                  </a:txBody>
                  <a:tcPr marL="43380" marR="43380" marT="21690" marB="21690" anchor="ctr"/>
                </a:tc>
                <a:tc>
                  <a:txBody>
                    <a:bodyPr/>
                    <a:lstStyle/>
                    <a:p>
                      <a:r>
                        <a:rPr lang="en-IN" sz="1600" b="1" dirty="0"/>
                        <a:t>Developer / Brand</a:t>
                      </a:r>
                    </a:p>
                  </a:txBody>
                  <a:tcPr marL="43380" marR="43380" marT="21690" marB="21690" anchor="ctr"/>
                </a:tc>
                <a:tc>
                  <a:txBody>
                    <a:bodyPr/>
                    <a:lstStyle/>
                    <a:p>
                      <a:r>
                        <a:rPr lang="en-IN" sz="1600" b="1" dirty="0"/>
                        <a:t>Description</a:t>
                      </a:r>
                    </a:p>
                  </a:txBody>
                  <a:tcPr marL="43380" marR="43380" marT="21690" marB="21690" anchor="ctr"/>
                </a:tc>
              </a:tr>
              <a:tr h="688098">
                <a:tc>
                  <a:txBody>
                    <a:bodyPr/>
                    <a:lstStyle/>
                    <a:p>
                      <a:r>
                        <a:rPr lang="en-IN" sz="1400" b="1" dirty="0" err="1"/>
                        <a:t>MikroTik</a:t>
                      </a:r>
                      <a:r>
                        <a:rPr lang="en-IN" sz="1400" b="1" dirty="0"/>
                        <a:t> </a:t>
                      </a:r>
                      <a:r>
                        <a:rPr lang="en-IN" sz="1400" b="1" dirty="0" err="1"/>
                        <a:t>RouterOS</a:t>
                      </a:r>
                      <a:endParaRPr lang="en-IN" sz="1400" b="1" dirty="0"/>
                    </a:p>
                  </a:txBody>
                  <a:tcPr marL="43380" marR="43380" marT="21690" marB="21690" anchor="ctr"/>
                </a:tc>
                <a:tc>
                  <a:txBody>
                    <a:bodyPr/>
                    <a:lstStyle/>
                    <a:p>
                      <a:r>
                        <a:rPr lang="en-IN" sz="1400" b="1" dirty="0" err="1"/>
                        <a:t>MikroTik</a:t>
                      </a:r>
                      <a:r>
                        <a:rPr lang="en-IN" sz="1400" b="1" dirty="0"/>
                        <a:t> (Latvia)</a:t>
                      </a:r>
                    </a:p>
                  </a:txBody>
                  <a:tcPr marL="43380" marR="43380" marT="21690" marB="21690" anchor="ctr"/>
                </a:tc>
                <a:tc>
                  <a:txBody>
                    <a:bodyPr/>
                    <a:lstStyle/>
                    <a:p>
                      <a:r>
                        <a:rPr lang="en-US" sz="1100"/>
                        <a:t>Linux-based OS with advanced routing, firewall, VPN, and wireless features. Used in MikroTik RouterBOARDs or PCs.</a:t>
                      </a:r>
                    </a:p>
                  </a:txBody>
                  <a:tcPr marL="43380" marR="43380" marT="21690" marB="21690" anchor="ctr"/>
                </a:tc>
              </a:tr>
              <a:tr h="815367">
                <a:tc>
                  <a:txBody>
                    <a:bodyPr/>
                    <a:lstStyle/>
                    <a:p>
                      <a:r>
                        <a:rPr lang="en-IN" sz="1400" b="1" dirty="0"/>
                        <a:t>Cisco IOS (Internetwork Operating System)</a:t>
                      </a:r>
                    </a:p>
                  </a:txBody>
                  <a:tcPr marL="43380" marR="43380" marT="21690" marB="21690" anchor="ctr"/>
                </a:tc>
                <a:tc>
                  <a:txBody>
                    <a:bodyPr/>
                    <a:lstStyle/>
                    <a:p>
                      <a:r>
                        <a:rPr lang="en-IN" sz="1400" b="1" dirty="0"/>
                        <a:t>Cisco Systems</a:t>
                      </a:r>
                    </a:p>
                  </a:txBody>
                  <a:tcPr marL="43380" marR="43380" marT="21690" marB="21690" anchor="ctr"/>
                </a:tc>
                <a:tc>
                  <a:txBody>
                    <a:bodyPr/>
                    <a:lstStyle/>
                    <a:p>
                      <a:r>
                        <a:rPr lang="en-US" sz="1100"/>
                        <a:t>Industry-standard CLI-based router OS used in Cisco routers and switches. Supports advanced routing protocols and enterprise features.</a:t>
                      </a:r>
                    </a:p>
                  </a:txBody>
                  <a:tcPr marL="43380" marR="43380" marT="21690" marB="21690" anchor="ctr"/>
                </a:tc>
              </a:tr>
              <a:tr h="560829">
                <a:tc>
                  <a:txBody>
                    <a:bodyPr/>
                    <a:lstStyle/>
                    <a:p>
                      <a:r>
                        <a:rPr lang="pt-BR" sz="1400" b="1" dirty="0"/>
                        <a:t>Cisco IOS XE / XR / NX-OS</a:t>
                      </a:r>
                    </a:p>
                  </a:txBody>
                  <a:tcPr marL="43380" marR="43380" marT="21690" marB="21690" anchor="ctr"/>
                </a:tc>
                <a:tc>
                  <a:txBody>
                    <a:bodyPr/>
                    <a:lstStyle/>
                    <a:p>
                      <a:r>
                        <a:rPr lang="en-IN" sz="1400" b="1" dirty="0"/>
                        <a:t>Cisco Systems</a:t>
                      </a:r>
                    </a:p>
                  </a:txBody>
                  <a:tcPr marL="43380" marR="43380" marT="21690" marB="21690" anchor="ctr"/>
                </a:tc>
                <a:tc>
                  <a:txBody>
                    <a:bodyPr/>
                    <a:lstStyle/>
                    <a:p>
                      <a:r>
                        <a:rPr lang="en-US" sz="1100"/>
                        <a:t>Modern versions of Cisco OS for high-end routers, carrier-grade and data center devices.</a:t>
                      </a:r>
                    </a:p>
                  </a:txBody>
                  <a:tcPr marL="43380" marR="43380" marT="21690" marB="21690" anchor="ctr"/>
                </a:tc>
              </a:tr>
              <a:tr h="560829">
                <a:tc>
                  <a:txBody>
                    <a:bodyPr/>
                    <a:lstStyle/>
                    <a:p>
                      <a:r>
                        <a:rPr lang="en-IN" sz="1400" b="1" dirty="0" err="1"/>
                        <a:t>JunOS</a:t>
                      </a:r>
                      <a:endParaRPr lang="en-IN" sz="1400" b="1" dirty="0"/>
                    </a:p>
                  </a:txBody>
                  <a:tcPr marL="43380" marR="43380" marT="21690" marB="21690" anchor="ctr"/>
                </a:tc>
                <a:tc>
                  <a:txBody>
                    <a:bodyPr/>
                    <a:lstStyle/>
                    <a:p>
                      <a:r>
                        <a:rPr lang="en-IN" sz="1400" b="1" dirty="0"/>
                        <a:t>Juniper Networks</a:t>
                      </a:r>
                    </a:p>
                  </a:txBody>
                  <a:tcPr marL="43380" marR="43380" marT="21690" marB="21690" anchor="ctr"/>
                </a:tc>
                <a:tc>
                  <a:txBody>
                    <a:bodyPr/>
                    <a:lstStyle/>
                    <a:p>
                      <a:r>
                        <a:rPr lang="en-US" sz="1100" dirty="0"/>
                        <a:t>BSD-based router OS known for reliability and scalability in large enterprise and ISP networks.</a:t>
                      </a:r>
                    </a:p>
                  </a:txBody>
                  <a:tcPr marL="43380" marR="43380" marT="21690" marB="21690" anchor="ctr"/>
                </a:tc>
              </a:tr>
              <a:tr h="688098">
                <a:tc>
                  <a:txBody>
                    <a:bodyPr/>
                    <a:lstStyle/>
                    <a:p>
                      <a:r>
                        <a:rPr lang="en-IN" sz="1400" b="1"/>
                        <a:t>VyOS</a:t>
                      </a:r>
                    </a:p>
                  </a:txBody>
                  <a:tcPr marL="43380" marR="43380" marT="21690" marB="21690" anchor="ctr"/>
                </a:tc>
                <a:tc>
                  <a:txBody>
                    <a:bodyPr/>
                    <a:lstStyle/>
                    <a:p>
                      <a:r>
                        <a:rPr lang="en-IN" sz="1400" b="1" dirty="0"/>
                        <a:t>Community-based (Open Source)</a:t>
                      </a:r>
                    </a:p>
                  </a:txBody>
                  <a:tcPr marL="43380" marR="43380" marT="21690" marB="21690" anchor="ctr"/>
                </a:tc>
                <a:tc>
                  <a:txBody>
                    <a:bodyPr/>
                    <a:lstStyle/>
                    <a:p>
                      <a:r>
                        <a:rPr lang="en-US" sz="1100"/>
                        <a:t>Linux-based open-source router OS supporting routing, VPN, and firewall features; great for labs or custom network setups.</a:t>
                      </a:r>
                    </a:p>
                  </a:txBody>
                  <a:tcPr marL="43380" marR="43380" marT="21690" marB="21690" anchor="ctr"/>
                </a:tc>
              </a:tr>
              <a:tr h="560829">
                <a:tc>
                  <a:txBody>
                    <a:bodyPr/>
                    <a:lstStyle/>
                    <a:p>
                      <a:r>
                        <a:rPr lang="en-IN" sz="1400" b="1"/>
                        <a:t>pfSense</a:t>
                      </a:r>
                    </a:p>
                  </a:txBody>
                  <a:tcPr marL="43380" marR="43380" marT="21690" marB="21690" anchor="ctr"/>
                </a:tc>
                <a:tc>
                  <a:txBody>
                    <a:bodyPr/>
                    <a:lstStyle/>
                    <a:p>
                      <a:r>
                        <a:rPr lang="en-IN" sz="1400" b="1" dirty="0" err="1"/>
                        <a:t>Netgate</a:t>
                      </a:r>
                      <a:r>
                        <a:rPr lang="en-IN" sz="1400" b="1" dirty="0"/>
                        <a:t> / Open Source</a:t>
                      </a:r>
                    </a:p>
                  </a:txBody>
                  <a:tcPr marL="43380" marR="43380" marT="21690" marB="21690" anchor="ctr"/>
                </a:tc>
                <a:tc>
                  <a:txBody>
                    <a:bodyPr/>
                    <a:lstStyle/>
                    <a:p>
                      <a:r>
                        <a:rPr lang="en-US" sz="1100"/>
                        <a:t>FreeBSD-based firewall and router OS popular for security, VPN, and home/SMB networking.</a:t>
                      </a:r>
                    </a:p>
                  </a:txBody>
                  <a:tcPr marL="43380" marR="43380" marT="21690" marB="21690" anchor="ctr"/>
                </a:tc>
              </a:tr>
              <a:tr h="688098">
                <a:tc>
                  <a:txBody>
                    <a:bodyPr/>
                    <a:lstStyle/>
                    <a:p>
                      <a:r>
                        <a:rPr lang="en-IN" sz="1400" b="1"/>
                        <a:t>OpenWrt / DD-WRT</a:t>
                      </a:r>
                    </a:p>
                  </a:txBody>
                  <a:tcPr marL="43380" marR="43380" marT="21690" marB="21690" anchor="ctr"/>
                </a:tc>
                <a:tc>
                  <a:txBody>
                    <a:bodyPr/>
                    <a:lstStyle/>
                    <a:p>
                      <a:r>
                        <a:rPr lang="en-IN" sz="1400" b="1" dirty="0"/>
                        <a:t>Open Source</a:t>
                      </a:r>
                    </a:p>
                  </a:txBody>
                  <a:tcPr marL="43380" marR="43380" marT="21690" marB="21690" anchor="ctr"/>
                </a:tc>
                <a:tc>
                  <a:txBody>
                    <a:bodyPr/>
                    <a:lstStyle/>
                    <a:p>
                      <a:r>
                        <a:rPr lang="en-US" sz="1100"/>
                        <a:t>Linux-based firmware for consumer routers. Allows custom configurations, firewalls, and VPNs on home routers.</a:t>
                      </a:r>
                    </a:p>
                  </a:txBody>
                  <a:tcPr marL="43380" marR="43380" marT="21690" marB="21690" anchor="ctr"/>
                </a:tc>
              </a:tr>
              <a:tr h="688098">
                <a:tc>
                  <a:txBody>
                    <a:bodyPr/>
                    <a:lstStyle/>
                    <a:p>
                      <a:r>
                        <a:rPr lang="en-IN" sz="1400" b="1"/>
                        <a:t>EdgeOS</a:t>
                      </a:r>
                    </a:p>
                  </a:txBody>
                  <a:tcPr marL="43380" marR="43380" marT="21690" marB="21690" anchor="ctr"/>
                </a:tc>
                <a:tc>
                  <a:txBody>
                    <a:bodyPr/>
                    <a:lstStyle/>
                    <a:p>
                      <a:r>
                        <a:rPr lang="en-IN" sz="1400" b="1" dirty="0"/>
                        <a:t>Ubiquiti Networks</a:t>
                      </a:r>
                    </a:p>
                  </a:txBody>
                  <a:tcPr marL="43380" marR="43380" marT="21690" marB="21690" anchor="ctr"/>
                </a:tc>
                <a:tc>
                  <a:txBody>
                    <a:bodyPr/>
                    <a:lstStyle/>
                    <a:p>
                      <a:r>
                        <a:rPr lang="en-US" sz="1100"/>
                        <a:t>Debian-based OS for EdgeRouter devices. Combines CLI and web GUI for advanced routing and firewalling.</a:t>
                      </a:r>
                    </a:p>
                  </a:txBody>
                  <a:tcPr marL="43380" marR="43380" marT="21690" marB="21690" anchor="ctr"/>
                </a:tc>
              </a:tr>
              <a:tr h="560829">
                <a:tc>
                  <a:txBody>
                    <a:bodyPr/>
                    <a:lstStyle/>
                    <a:p>
                      <a:r>
                        <a:rPr lang="en-IN" sz="1400" b="1"/>
                        <a:t>FortiOS</a:t>
                      </a:r>
                    </a:p>
                  </a:txBody>
                  <a:tcPr marL="43380" marR="43380" marT="21690" marB="21690" anchor="ctr"/>
                </a:tc>
                <a:tc>
                  <a:txBody>
                    <a:bodyPr/>
                    <a:lstStyle/>
                    <a:p>
                      <a:r>
                        <a:rPr lang="en-IN" sz="1400" b="1" dirty="0"/>
                        <a:t>Fortinet</a:t>
                      </a:r>
                    </a:p>
                  </a:txBody>
                  <a:tcPr marL="43380" marR="43380" marT="21690" marB="21690" anchor="ctr"/>
                </a:tc>
                <a:tc>
                  <a:txBody>
                    <a:bodyPr/>
                    <a:lstStyle/>
                    <a:p>
                      <a:r>
                        <a:rPr lang="en-US" sz="1100"/>
                        <a:t>Secure router/firewall OS for FortiGate appliances, focusing on UTM (Unified Threat Management).</a:t>
                      </a:r>
                    </a:p>
                  </a:txBody>
                  <a:tcPr marL="43380" marR="43380" marT="21690" marB="21690" anchor="ctr"/>
                </a:tc>
              </a:tr>
              <a:tr h="560829">
                <a:tc>
                  <a:txBody>
                    <a:bodyPr/>
                    <a:lstStyle/>
                    <a:p>
                      <a:r>
                        <a:rPr lang="en-US" sz="1400" b="1"/>
                        <a:t>RouterOS CHR (Cloud Hosted Router)</a:t>
                      </a:r>
                    </a:p>
                  </a:txBody>
                  <a:tcPr marL="43380" marR="43380" marT="21690" marB="21690" anchor="ctr"/>
                </a:tc>
                <a:tc>
                  <a:txBody>
                    <a:bodyPr/>
                    <a:lstStyle/>
                    <a:p>
                      <a:r>
                        <a:rPr lang="en-IN" sz="1400" b="1" dirty="0" err="1"/>
                        <a:t>MikroTik</a:t>
                      </a:r>
                      <a:endParaRPr lang="en-IN" sz="1400" b="1" dirty="0"/>
                    </a:p>
                  </a:txBody>
                  <a:tcPr marL="43380" marR="43380" marT="21690" marB="21690" anchor="ctr"/>
                </a:tc>
                <a:tc>
                  <a:txBody>
                    <a:bodyPr/>
                    <a:lstStyle/>
                    <a:p>
                      <a:r>
                        <a:rPr lang="en-US" sz="1100" dirty="0"/>
                        <a:t>Virtualized version of </a:t>
                      </a:r>
                      <a:r>
                        <a:rPr lang="en-US" sz="1100" dirty="0" err="1"/>
                        <a:t>RouterOS</a:t>
                      </a:r>
                      <a:r>
                        <a:rPr lang="en-US" sz="1100" dirty="0"/>
                        <a:t> for cloud environments (VMware, KVM, AWS, etc.).</a:t>
                      </a:r>
                    </a:p>
                  </a:txBody>
                  <a:tcPr marL="43380" marR="43380" marT="21690" marB="21690" anchor="ctr"/>
                </a:tc>
              </a:tr>
            </a:tbl>
          </a:graphicData>
        </a:graphic>
      </p:graphicFrame>
    </p:spTree>
    <p:extLst>
      <p:ext uri="{BB962C8B-B14F-4D97-AF65-F5344CB8AC3E}">
        <p14:creationId xmlns:p14="http://schemas.microsoft.com/office/powerpoint/2010/main" val="3142392860"/>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ext uri="{D42A27DB-BD31-4B8C-83A1-F6EECF244321}">
                <p14:modId xmlns:p14="http://schemas.microsoft.com/office/powerpoint/2010/main" val="1774684485"/>
              </p:ext>
            </p:extLst>
          </p:nvPr>
        </p:nvGraphicFramePr>
        <p:xfrm>
          <a:off x="791569" y="245656"/>
          <a:ext cx="7574510" cy="6237030"/>
        </p:xfrm>
        <a:graphic>
          <a:graphicData uri="http://schemas.openxmlformats.org/drawingml/2006/table">
            <a:tbl>
              <a:tblPr>
                <a:tableStyleId>{A332DE6A-0728-4951-BA95-FBE1D94F13F9}</a:tableStyleId>
              </a:tblPr>
              <a:tblGrid>
                <a:gridCol w="3787255"/>
                <a:gridCol w="3787255"/>
              </a:tblGrid>
              <a:tr h="1039505">
                <a:tc>
                  <a:txBody>
                    <a:bodyPr/>
                    <a:lstStyle/>
                    <a:p>
                      <a:r>
                        <a:rPr lang="en-IN" sz="2000" b="1" dirty="0" smtClean="0"/>
                        <a:t>Multi-Layer</a:t>
                      </a:r>
                      <a:r>
                        <a:rPr lang="en-IN" sz="2000" b="1" baseline="0" dirty="0" smtClean="0"/>
                        <a:t> Switch </a:t>
                      </a:r>
                      <a:r>
                        <a:rPr lang="en-IN" sz="2000" b="1" dirty="0" smtClean="0"/>
                        <a:t>Brand</a:t>
                      </a:r>
                      <a:endParaRPr lang="en-IN" sz="2000" b="1" dirty="0"/>
                    </a:p>
                  </a:txBody>
                  <a:tcPr anchor="ctr"/>
                </a:tc>
                <a:tc>
                  <a:txBody>
                    <a:bodyPr/>
                    <a:lstStyle/>
                    <a:p>
                      <a:r>
                        <a:rPr lang="en-IN" sz="2000" b="1" dirty="0"/>
                        <a:t>Operating System / Firmware Name</a:t>
                      </a:r>
                    </a:p>
                  </a:txBody>
                  <a:tcPr anchor="ctr"/>
                </a:tc>
              </a:tr>
              <a:tr h="1039505">
                <a:tc>
                  <a:txBody>
                    <a:bodyPr/>
                    <a:lstStyle/>
                    <a:p>
                      <a:r>
                        <a:rPr lang="en-IN" sz="1800" dirty="0"/>
                        <a:t>HP / Aruba</a:t>
                      </a:r>
                    </a:p>
                  </a:txBody>
                  <a:tcPr anchor="ctr"/>
                </a:tc>
                <a:tc>
                  <a:txBody>
                    <a:bodyPr/>
                    <a:lstStyle/>
                    <a:p>
                      <a:r>
                        <a:rPr lang="en-IN" sz="1800"/>
                        <a:t>ArubaOS / ProVision</a:t>
                      </a:r>
                    </a:p>
                  </a:txBody>
                  <a:tcPr anchor="ctr"/>
                </a:tc>
              </a:tr>
              <a:tr h="1039505">
                <a:tc>
                  <a:txBody>
                    <a:bodyPr/>
                    <a:lstStyle/>
                    <a:p>
                      <a:r>
                        <a:rPr lang="en-IN" sz="1800" dirty="0"/>
                        <a:t>Ubiquiti</a:t>
                      </a:r>
                    </a:p>
                  </a:txBody>
                  <a:tcPr anchor="ctr"/>
                </a:tc>
                <a:tc>
                  <a:txBody>
                    <a:bodyPr/>
                    <a:lstStyle/>
                    <a:p>
                      <a:r>
                        <a:rPr lang="en-IN" sz="1800" dirty="0" err="1"/>
                        <a:t>EdgeOS</a:t>
                      </a:r>
                      <a:r>
                        <a:rPr lang="en-IN" sz="1800" dirty="0"/>
                        <a:t> / </a:t>
                      </a:r>
                      <a:r>
                        <a:rPr lang="en-IN" sz="1800" dirty="0" err="1"/>
                        <a:t>UniFi</a:t>
                      </a:r>
                      <a:r>
                        <a:rPr lang="en-IN" sz="1800" dirty="0"/>
                        <a:t> Network Firmware</a:t>
                      </a:r>
                    </a:p>
                  </a:txBody>
                  <a:tcPr anchor="ctr"/>
                </a:tc>
              </a:tr>
              <a:tr h="1039505">
                <a:tc>
                  <a:txBody>
                    <a:bodyPr/>
                    <a:lstStyle/>
                    <a:p>
                      <a:r>
                        <a:rPr lang="en-IN" sz="1800" dirty="0"/>
                        <a:t>TP-Link</a:t>
                      </a:r>
                    </a:p>
                  </a:txBody>
                  <a:tcPr anchor="ctr"/>
                </a:tc>
                <a:tc>
                  <a:txBody>
                    <a:bodyPr/>
                    <a:lstStyle/>
                    <a:p>
                      <a:r>
                        <a:rPr lang="en-IN" sz="1800" dirty="0" err="1"/>
                        <a:t>JetStream</a:t>
                      </a:r>
                      <a:r>
                        <a:rPr lang="en-IN" sz="1800" dirty="0"/>
                        <a:t> OS</a:t>
                      </a:r>
                    </a:p>
                  </a:txBody>
                  <a:tcPr anchor="ctr"/>
                </a:tc>
              </a:tr>
              <a:tr h="1039505">
                <a:tc>
                  <a:txBody>
                    <a:bodyPr/>
                    <a:lstStyle/>
                    <a:p>
                      <a:r>
                        <a:rPr lang="en-IN" sz="1800" dirty="0"/>
                        <a:t>D-Link</a:t>
                      </a:r>
                    </a:p>
                  </a:txBody>
                  <a:tcPr anchor="ctr"/>
                </a:tc>
                <a:tc>
                  <a:txBody>
                    <a:bodyPr/>
                    <a:lstStyle/>
                    <a:p>
                      <a:r>
                        <a:rPr lang="en-IN" sz="1800" dirty="0"/>
                        <a:t>DGS Smart Firmware</a:t>
                      </a:r>
                    </a:p>
                  </a:txBody>
                  <a:tcPr anchor="ctr"/>
                </a:tc>
              </a:tr>
              <a:tr h="1039505">
                <a:tc>
                  <a:txBody>
                    <a:bodyPr/>
                    <a:lstStyle/>
                    <a:p>
                      <a:r>
                        <a:rPr lang="en-IN" sz="1800"/>
                        <a:t>Dell / Extreme</a:t>
                      </a:r>
                    </a:p>
                  </a:txBody>
                  <a:tcPr anchor="ctr"/>
                </a:tc>
                <a:tc>
                  <a:txBody>
                    <a:bodyPr/>
                    <a:lstStyle/>
                    <a:p>
                      <a:r>
                        <a:rPr lang="en-IN" sz="1800" dirty="0"/>
                        <a:t>OS9 / EXOS / </a:t>
                      </a:r>
                      <a:r>
                        <a:rPr lang="en-IN" sz="1800" dirty="0" err="1"/>
                        <a:t>SmartFabric</a:t>
                      </a:r>
                      <a:r>
                        <a:rPr lang="en-IN" sz="1800" dirty="0"/>
                        <a:t> OS</a:t>
                      </a:r>
                    </a:p>
                  </a:txBody>
                  <a:tcPr anchor="ctr"/>
                </a:tc>
              </a:tr>
            </a:tbl>
          </a:graphicData>
        </a:graphic>
      </p:graphicFrame>
    </p:spTree>
    <p:extLst>
      <p:ext uri="{BB962C8B-B14F-4D97-AF65-F5344CB8AC3E}">
        <p14:creationId xmlns:p14="http://schemas.microsoft.com/office/powerpoint/2010/main" val="6096540"/>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8365" y="327545"/>
            <a:ext cx="8789158" cy="6114197"/>
          </a:xfrm>
        </p:spPr>
        <p:txBody>
          <a:bodyPr>
            <a:normAutofit fontScale="92500" lnSpcReduction="10000"/>
          </a:bodyPr>
          <a:lstStyle/>
          <a:p>
            <a:pPr algn="l"/>
            <a:r>
              <a:rPr lang="en-US" b="1" dirty="0" smtClean="0">
                <a:solidFill>
                  <a:schemeClr val="tx1"/>
                </a:solidFill>
              </a:rPr>
              <a:t>Flash </a:t>
            </a:r>
            <a:r>
              <a:rPr lang="en-US" b="1" dirty="0">
                <a:solidFill>
                  <a:schemeClr val="tx1"/>
                </a:solidFill>
              </a:rPr>
              <a:t>Memory (Main Storage)</a:t>
            </a:r>
          </a:p>
          <a:p>
            <a:pPr marL="482600" indent="-457200" algn="l">
              <a:buFont typeface="Wingdings" panose="05000000000000000000" pitchFamily="2" charset="2"/>
              <a:buChar char="q"/>
            </a:pPr>
            <a:r>
              <a:rPr lang="en-US" dirty="0">
                <a:solidFill>
                  <a:schemeClr val="tx1"/>
                </a:solidFill>
              </a:rPr>
              <a:t>The router’s operating system (</a:t>
            </a:r>
            <a:r>
              <a:rPr lang="en-US" dirty="0" err="1">
                <a:solidFill>
                  <a:schemeClr val="tx1"/>
                </a:solidFill>
              </a:rPr>
              <a:t>RouterOS</a:t>
            </a:r>
            <a:r>
              <a:rPr lang="en-US" dirty="0">
                <a:solidFill>
                  <a:schemeClr val="tx1"/>
                </a:solidFill>
              </a:rPr>
              <a:t>, Cisco IOS, </a:t>
            </a:r>
            <a:r>
              <a:rPr lang="en-US" dirty="0" err="1">
                <a:solidFill>
                  <a:schemeClr val="tx1"/>
                </a:solidFill>
              </a:rPr>
              <a:t>JunOS</a:t>
            </a:r>
            <a:r>
              <a:rPr lang="en-US" dirty="0">
                <a:solidFill>
                  <a:schemeClr val="tx1"/>
                </a:solidFill>
              </a:rPr>
              <a:t>, etc.) </a:t>
            </a:r>
            <a:r>
              <a:rPr lang="en-US" dirty="0" smtClean="0">
                <a:solidFill>
                  <a:schemeClr val="tx1"/>
                </a:solidFill>
              </a:rPr>
              <a:t>is stored </a:t>
            </a:r>
            <a:r>
              <a:rPr lang="en-US" dirty="0">
                <a:solidFill>
                  <a:schemeClr val="tx1"/>
                </a:solidFill>
              </a:rPr>
              <a:t>in flash memory.</a:t>
            </a:r>
          </a:p>
          <a:p>
            <a:pPr marL="482600" indent="-457200" algn="l">
              <a:buFont typeface="Wingdings" panose="05000000000000000000" pitchFamily="2" charset="2"/>
              <a:buChar char="q"/>
            </a:pPr>
            <a:r>
              <a:rPr lang="en-US" dirty="0">
                <a:solidFill>
                  <a:schemeClr val="tx1"/>
                </a:solidFill>
              </a:rPr>
              <a:t>Flash is similar to a USB drive — it keeps data even when power is lost.</a:t>
            </a:r>
          </a:p>
          <a:p>
            <a:pPr marL="482600" indent="-457200" algn="l">
              <a:buFont typeface="Wingdings" panose="05000000000000000000" pitchFamily="2" charset="2"/>
              <a:buChar char="q"/>
            </a:pPr>
            <a:r>
              <a:rPr lang="en-US" dirty="0">
                <a:solidFill>
                  <a:schemeClr val="tx1"/>
                </a:solidFill>
              </a:rPr>
              <a:t>When the router boots up, it loads the OS from flash memory into RAM to run it.</a:t>
            </a:r>
          </a:p>
          <a:p>
            <a:pPr algn="l"/>
            <a:r>
              <a:rPr lang="en-US" dirty="0">
                <a:solidFill>
                  <a:schemeClr val="tx1"/>
                </a:solidFill>
              </a:rPr>
              <a:t>💡 </a:t>
            </a:r>
            <a:r>
              <a:rPr lang="en-US" b="1" dirty="0">
                <a:solidFill>
                  <a:schemeClr val="tx1"/>
                </a:solidFill>
              </a:rPr>
              <a:t>In </a:t>
            </a:r>
            <a:r>
              <a:rPr lang="en-US" b="1" dirty="0" err="1">
                <a:solidFill>
                  <a:schemeClr val="tx1"/>
                </a:solidFill>
              </a:rPr>
              <a:t>MikroTik</a:t>
            </a:r>
            <a:r>
              <a:rPr lang="en-US" b="1" dirty="0">
                <a:solidFill>
                  <a:schemeClr val="tx1"/>
                </a:solidFill>
              </a:rPr>
              <a:t> </a:t>
            </a:r>
            <a:r>
              <a:rPr lang="en-US" b="1" dirty="0" err="1">
                <a:solidFill>
                  <a:schemeClr val="tx1"/>
                </a:solidFill>
              </a:rPr>
              <a:t>RouterOS</a:t>
            </a:r>
            <a:r>
              <a:rPr lang="en-US" b="1" dirty="0">
                <a:solidFill>
                  <a:schemeClr val="tx1"/>
                </a:solidFill>
              </a:rPr>
              <a:t>:</a:t>
            </a:r>
            <a:endParaRPr lang="en-US" dirty="0">
              <a:solidFill>
                <a:schemeClr val="tx1"/>
              </a:solidFill>
            </a:endParaRPr>
          </a:p>
          <a:p>
            <a:pPr marL="482600" indent="-457200" algn="l">
              <a:buFont typeface="Wingdings" panose="05000000000000000000" pitchFamily="2" charset="2"/>
              <a:buChar char="q"/>
            </a:pPr>
            <a:r>
              <a:rPr lang="en-US" dirty="0">
                <a:solidFill>
                  <a:schemeClr val="tx1"/>
                </a:solidFill>
              </a:rPr>
              <a:t>The </a:t>
            </a:r>
            <a:r>
              <a:rPr lang="en-US" dirty="0" err="1">
                <a:solidFill>
                  <a:schemeClr val="tx1"/>
                </a:solidFill>
              </a:rPr>
              <a:t>RouterOS</a:t>
            </a:r>
            <a:r>
              <a:rPr lang="en-US" dirty="0">
                <a:solidFill>
                  <a:schemeClr val="tx1"/>
                </a:solidFill>
              </a:rPr>
              <a:t> firmware image is stored in the device’s internal NAND flash or CompactFlash (depending on the model).</a:t>
            </a:r>
          </a:p>
          <a:p>
            <a:pPr marL="482600" indent="-457200" algn="l">
              <a:buFont typeface="Wingdings" panose="05000000000000000000" pitchFamily="2" charset="2"/>
              <a:buChar char="q"/>
            </a:pPr>
            <a:r>
              <a:rPr lang="en-US" dirty="0">
                <a:solidFill>
                  <a:schemeClr val="tx1"/>
                </a:solidFill>
              </a:rPr>
              <a:t>On PC installations or CHR (cloud), it’s stored on the system drive (HDD/SSD or virtual disk).</a:t>
            </a:r>
          </a:p>
          <a:p>
            <a:endParaRPr lang="en-IN" dirty="0"/>
          </a:p>
        </p:txBody>
      </p:sp>
    </p:spTree>
    <p:extLst>
      <p:ext uri="{BB962C8B-B14F-4D97-AF65-F5344CB8AC3E}">
        <p14:creationId xmlns:p14="http://schemas.microsoft.com/office/powerpoint/2010/main" val="3521504389"/>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8364" y="232012"/>
            <a:ext cx="8679975" cy="6332561"/>
          </a:xfrm>
        </p:spPr>
        <p:txBody>
          <a:bodyPr>
            <a:normAutofit/>
          </a:bodyPr>
          <a:lstStyle/>
          <a:p>
            <a:pPr algn="l"/>
            <a:r>
              <a:rPr lang="en-US" b="1" dirty="0">
                <a:solidFill>
                  <a:schemeClr val="tx1"/>
                </a:solidFill>
              </a:rPr>
              <a:t>🔸 2. RAM (Working Memory)</a:t>
            </a:r>
          </a:p>
          <a:p>
            <a:pPr marL="482600" indent="-457200" algn="l">
              <a:buFont typeface="Wingdings" panose="05000000000000000000" pitchFamily="2" charset="2"/>
              <a:buChar char="q"/>
            </a:pPr>
            <a:r>
              <a:rPr lang="en-US" dirty="0">
                <a:solidFill>
                  <a:schemeClr val="tx1"/>
                </a:solidFill>
              </a:rPr>
              <a:t>After booting, </a:t>
            </a:r>
            <a:r>
              <a:rPr lang="en-US" dirty="0" err="1">
                <a:solidFill>
                  <a:schemeClr val="tx1"/>
                </a:solidFill>
              </a:rPr>
              <a:t>RouterOS</a:t>
            </a:r>
            <a:r>
              <a:rPr lang="en-US" dirty="0">
                <a:solidFill>
                  <a:schemeClr val="tx1"/>
                </a:solidFill>
              </a:rPr>
              <a:t> runs </a:t>
            </a:r>
            <a:r>
              <a:rPr lang="en-US" b="1" dirty="0">
                <a:solidFill>
                  <a:schemeClr val="tx1"/>
                </a:solidFill>
              </a:rPr>
              <a:t>entirely in RAM</a:t>
            </a:r>
            <a:r>
              <a:rPr lang="en-US" dirty="0">
                <a:solidFill>
                  <a:schemeClr val="tx1"/>
                </a:solidFill>
              </a:rPr>
              <a:t>.</a:t>
            </a:r>
          </a:p>
          <a:p>
            <a:pPr marL="482600" indent="-457200" algn="l">
              <a:buFont typeface="Wingdings" panose="05000000000000000000" pitchFamily="2" charset="2"/>
              <a:buChar char="q"/>
            </a:pPr>
            <a:r>
              <a:rPr lang="en-US" dirty="0">
                <a:solidFill>
                  <a:schemeClr val="tx1"/>
                </a:solidFill>
              </a:rPr>
              <a:t>All configurations and routing tables are processed here.</a:t>
            </a:r>
          </a:p>
          <a:p>
            <a:pPr marL="482600" indent="-457200" algn="l">
              <a:buFont typeface="Wingdings" panose="05000000000000000000" pitchFamily="2" charset="2"/>
              <a:buChar char="q"/>
            </a:pPr>
            <a:r>
              <a:rPr lang="en-US" dirty="0">
                <a:solidFill>
                  <a:schemeClr val="tx1"/>
                </a:solidFill>
              </a:rPr>
              <a:t>When the router is turned off, anything in RAM is lost — unless it’s saved to flash.</a:t>
            </a:r>
          </a:p>
          <a:p>
            <a:pPr algn="l"/>
            <a:endParaRPr lang="en-US" b="1" dirty="0" smtClean="0">
              <a:solidFill>
                <a:schemeClr val="tx1"/>
              </a:solidFill>
            </a:endParaRPr>
          </a:p>
          <a:p>
            <a:pPr algn="l"/>
            <a:r>
              <a:rPr lang="en-US" b="1" dirty="0" smtClean="0">
                <a:solidFill>
                  <a:schemeClr val="tx1"/>
                </a:solidFill>
              </a:rPr>
              <a:t>Flash</a:t>
            </a:r>
            <a:r>
              <a:rPr lang="en-US" dirty="0" smtClean="0">
                <a:solidFill>
                  <a:schemeClr val="tx1"/>
                </a:solidFill>
              </a:rPr>
              <a:t> </a:t>
            </a:r>
            <a:r>
              <a:rPr lang="en-US" dirty="0">
                <a:solidFill>
                  <a:schemeClr val="tx1"/>
                </a:solidFill>
              </a:rPr>
              <a:t>= permanent storage (like a hard drive)</a:t>
            </a:r>
          </a:p>
          <a:p>
            <a:pPr algn="l"/>
            <a:r>
              <a:rPr lang="en-US" b="1" dirty="0">
                <a:solidFill>
                  <a:schemeClr val="tx1"/>
                </a:solidFill>
              </a:rPr>
              <a:t>RAM</a:t>
            </a:r>
            <a:r>
              <a:rPr lang="en-US" dirty="0">
                <a:solidFill>
                  <a:schemeClr val="tx1"/>
                </a:solidFill>
              </a:rPr>
              <a:t> = temporary working space (like your computer’s mem</a:t>
            </a:r>
          </a:p>
          <a:p>
            <a:endParaRPr lang="en-IN" dirty="0"/>
          </a:p>
        </p:txBody>
      </p:sp>
    </p:spTree>
    <p:extLst>
      <p:ext uri="{BB962C8B-B14F-4D97-AF65-F5344CB8AC3E}">
        <p14:creationId xmlns:p14="http://schemas.microsoft.com/office/powerpoint/2010/main" val="174213279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13899" y="109183"/>
            <a:ext cx="8570793" cy="6605516"/>
          </a:xfrm>
        </p:spPr>
        <p:txBody>
          <a:bodyPr>
            <a:normAutofit/>
          </a:bodyPr>
          <a:lstStyle/>
          <a:p>
            <a:pPr algn="l"/>
            <a:r>
              <a:rPr lang="en-US" b="1" dirty="0" smtClean="0">
                <a:solidFill>
                  <a:schemeClr val="tx1"/>
                </a:solidFill>
              </a:rPr>
              <a:t>ROM </a:t>
            </a:r>
            <a:r>
              <a:rPr lang="en-US" b="1" dirty="0">
                <a:solidFill>
                  <a:schemeClr val="tx1"/>
                </a:solidFill>
              </a:rPr>
              <a:t>(Read-Only Memory)</a:t>
            </a:r>
          </a:p>
          <a:p>
            <a:pPr algn="l"/>
            <a:r>
              <a:rPr lang="en-US" dirty="0">
                <a:solidFill>
                  <a:schemeClr val="tx1"/>
                </a:solidFill>
              </a:rPr>
              <a:t>Contains the bootloader or firmware (for example, </a:t>
            </a:r>
            <a:r>
              <a:rPr lang="en-US" dirty="0" err="1">
                <a:solidFill>
                  <a:schemeClr val="tx1"/>
                </a:solidFill>
              </a:rPr>
              <a:t>MikroTik’s</a:t>
            </a:r>
            <a:r>
              <a:rPr lang="en-US" dirty="0">
                <a:solidFill>
                  <a:schemeClr val="tx1"/>
                </a:solidFill>
              </a:rPr>
              <a:t> </a:t>
            </a:r>
            <a:r>
              <a:rPr lang="en-US" dirty="0" err="1">
                <a:solidFill>
                  <a:schemeClr val="tx1"/>
                </a:solidFill>
              </a:rPr>
              <a:t>RouterBOOT</a:t>
            </a:r>
            <a:r>
              <a:rPr lang="en-US" dirty="0">
                <a:solidFill>
                  <a:schemeClr val="tx1"/>
                </a:solidFill>
              </a:rPr>
              <a:t>).</a:t>
            </a:r>
          </a:p>
          <a:p>
            <a:pPr algn="l"/>
            <a:r>
              <a:rPr lang="en-US" dirty="0">
                <a:solidFill>
                  <a:schemeClr val="tx1"/>
                </a:solidFill>
              </a:rPr>
              <a:t>The bootloader’s job is to:</a:t>
            </a:r>
          </a:p>
          <a:p>
            <a:pPr marL="965200" lvl="1" indent="-457200" algn="l">
              <a:buFont typeface="Wingdings" panose="05000000000000000000" pitchFamily="2" charset="2"/>
              <a:buChar char="q"/>
            </a:pPr>
            <a:r>
              <a:rPr lang="en-US" dirty="0">
                <a:solidFill>
                  <a:schemeClr val="tx1"/>
                </a:solidFill>
              </a:rPr>
              <a:t>Initialize hardware.</a:t>
            </a:r>
          </a:p>
          <a:p>
            <a:pPr marL="965200" lvl="1" indent="-457200" algn="l">
              <a:buFont typeface="Wingdings" panose="05000000000000000000" pitchFamily="2" charset="2"/>
              <a:buChar char="q"/>
            </a:pPr>
            <a:r>
              <a:rPr lang="en-US" dirty="0">
                <a:solidFill>
                  <a:schemeClr val="tx1"/>
                </a:solidFill>
              </a:rPr>
              <a:t>Load the </a:t>
            </a:r>
            <a:r>
              <a:rPr lang="en-US" dirty="0" err="1">
                <a:solidFill>
                  <a:schemeClr val="tx1"/>
                </a:solidFill>
              </a:rPr>
              <a:t>RouterOS</a:t>
            </a:r>
            <a:r>
              <a:rPr lang="en-US" dirty="0">
                <a:solidFill>
                  <a:schemeClr val="tx1"/>
                </a:solidFill>
              </a:rPr>
              <a:t> image from flash memory into RAM.</a:t>
            </a:r>
          </a:p>
          <a:p>
            <a:pPr marL="965200" lvl="1" indent="-457200" algn="l">
              <a:buFont typeface="Wingdings" panose="05000000000000000000" pitchFamily="2" charset="2"/>
              <a:buChar char="q"/>
            </a:pPr>
            <a:r>
              <a:rPr lang="en-US" dirty="0">
                <a:solidFill>
                  <a:schemeClr val="tx1"/>
                </a:solidFill>
              </a:rPr>
              <a:t>Start the operating system.</a:t>
            </a:r>
          </a:p>
          <a:p>
            <a:endParaRPr lang="en-IN" dirty="0"/>
          </a:p>
        </p:txBody>
      </p:sp>
    </p:spTree>
    <p:extLst>
      <p:ext uri="{BB962C8B-B14F-4D97-AF65-F5344CB8AC3E}">
        <p14:creationId xmlns:p14="http://schemas.microsoft.com/office/powerpoint/2010/main" val="359292882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2137" y="272955"/>
            <a:ext cx="8393373" cy="5991367"/>
          </a:xfrm>
        </p:spPr>
        <p:txBody>
          <a:bodyPr>
            <a:normAutofit/>
          </a:bodyPr>
          <a:lstStyle/>
          <a:p>
            <a:pPr algn="l"/>
            <a:r>
              <a:rPr lang="en-IN" b="1" dirty="0" smtClean="0">
                <a:solidFill>
                  <a:schemeClr val="tx1"/>
                </a:solidFill>
              </a:rPr>
              <a:t>NVRAM </a:t>
            </a:r>
            <a:r>
              <a:rPr lang="en-IN" b="1" dirty="0">
                <a:solidFill>
                  <a:schemeClr val="tx1"/>
                </a:solidFill>
              </a:rPr>
              <a:t>(Non-Volatile RAM)</a:t>
            </a:r>
          </a:p>
          <a:p>
            <a:pPr marL="482600" indent="-457200" algn="l">
              <a:buFont typeface="Wingdings" panose="05000000000000000000" pitchFamily="2" charset="2"/>
              <a:buChar char="q"/>
            </a:pPr>
            <a:r>
              <a:rPr lang="en-IN" dirty="0">
                <a:solidFill>
                  <a:schemeClr val="tx1"/>
                </a:solidFill>
              </a:rPr>
              <a:t>Some routers (like Cisco) use NVRAM to store </a:t>
            </a:r>
            <a:r>
              <a:rPr lang="en-IN" dirty="0" err="1">
                <a:solidFill>
                  <a:schemeClr val="tx1"/>
                </a:solidFill>
              </a:rPr>
              <a:t>startup</a:t>
            </a:r>
            <a:r>
              <a:rPr lang="en-IN" dirty="0">
                <a:solidFill>
                  <a:schemeClr val="tx1"/>
                </a:solidFill>
              </a:rPr>
              <a:t> configuration files.</a:t>
            </a:r>
          </a:p>
          <a:p>
            <a:pPr marL="482600" indent="-457200" algn="l">
              <a:buFont typeface="Wingdings" panose="05000000000000000000" pitchFamily="2" charset="2"/>
              <a:buChar char="q"/>
            </a:pPr>
            <a:r>
              <a:rPr lang="en-IN" dirty="0" err="1">
                <a:solidFill>
                  <a:schemeClr val="tx1"/>
                </a:solidFill>
              </a:rPr>
              <a:t>MikroTik</a:t>
            </a:r>
            <a:r>
              <a:rPr lang="en-IN" dirty="0">
                <a:solidFill>
                  <a:schemeClr val="tx1"/>
                </a:solidFill>
              </a:rPr>
              <a:t> stores configuration data within the </a:t>
            </a:r>
            <a:r>
              <a:rPr lang="en-IN" dirty="0" err="1">
                <a:solidFill>
                  <a:schemeClr val="tx1"/>
                </a:solidFill>
              </a:rPr>
              <a:t>RouterOS</a:t>
            </a:r>
            <a:r>
              <a:rPr lang="en-IN" dirty="0">
                <a:solidFill>
                  <a:schemeClr val="tx1"/>
                </a:solidFill>
              </a:rPr>
              <a:t> filesystem (on flash).</a:t>
            </a:r>
          </a:p>
          <a:p>
            <a:endParaRPr lang="en-IN" dirty="0"/>
          </a:p>
        </p:txBody>
      </p:sp>
    </p:spTree>
    <p:extLst>
      <p:ext uri="{BB962C8B-B14F-4D97-AF65-F5344CB8AC3E}">
        <p14:creationId xmlns:p14="http://schemas.microsoft.com/office/powerpoint/2010/main" val="47140951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10207</TotalTime>
  <Words>10993</Words>
  <Application>Microsoft Office PowerPoint</Application>
  <PresentationFormat>On-screen Show (4:3)</PresentationFormat>
  <Paragraphs>2318</Paragraphs>
  <Slides>247</Slides>
  <Notes>177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247</vt:i4>
      </vt:variant>
    </vt:vector>
  </HeadingPairs>
  <TitlesOfParts>
    <vt:vector size="254" baseType="lpstr">
      <vt:lpstr>Arial</vt:lpstr>
      <vt:lpstr>Noto Sans Symbols</vt:lpstr>
      <vt:lpstr>Arial Unicode MS</vt:lpstr>
      <vt:lpstr>Wingdings</vt:lpstr>
      <vt:lpstr>Calibri</vt:lpstr>
      <vt:lpstr>Times New Roman</vt:lpstr>
      <vt:lpstr>Office Theme</vt:lpstr>
      <vt:lpstr>PowerPoint Presentation</vt:lpstr>
      <vt:lpstr>INTRODUCTION (Cisco Certified Network Associate)</vt:lpstr>
      <vt:lpstr>PowerPoint Presentation</vt:lpstr>
      <vt:lpstr>What is Network?</vt:lpstr>
      <vt:lpstr>PROTOCOL</vt:lpstr>
      <vt:lpstr>PERSONAL AREA NETWORK</vt:lpstr>
      <vt:lpstr>LOCAL AREA NETWORK</vt:lpstr>
      <vt:lpstr>METROPOLITAN AREA NETWORK</vt:lpstr>
      <vt:lpstr>WIDE AREA NETWORK</vt:lpstr>
      <vt:lpstr>Network components or devices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   </vt:lpstr>
      <vt:lpstr>IP Addressing</vt:lpstr>
      <vt:lpstr>IPV4 Addressing</vt:lpstr>
      <vt:lpstr>IP address</vt:lpstr>
      <vt:lpstr>PowerPoint Presentation</vt:lpstr>
      <vt:lpstr>PowerPoint Presentation</vt:lpstr>
      <vt:lpstr>PowerPoint Presentation</vt:lpstr>
      <vt:lpstr>SPECIAL IP IN IPV4</vt:lpstr>
      <vt:lpstr>CIDR CALCULATION</vt:lpstr>
      <vt:lpstr>Decimal to Binary</vt:lpstr>
      <vt:lpstr>Binary to Decimal</vt:lpstr>
      <vt:lpstr>PowerPoint Presentation</vt:lpstr>
      <vt:lpstr>PowerPoint Presentation</vt:lpstr>
      <vt:lpstr>PowerPoint Presentation</vt:lpstr>
      <vt:lpstr>Subnetting</vt:lpstr>
      <vt:lpstr>Calculation</vt:lpstr>
      <vt:lpstr>PowerPoint Presentation</vt:lpstr>
      <vt:lpstr>PowerPoint Presentation</vt:lpstr>
      <vt:lpstr>Network Architeture and Topology:     Computer Network architecture is define as the physical and logical design  of the software and harware, protocols and media of the transmission of data. Simply we can say that how computer are organsized and how tasks are allocated to the computer     A network topology is the physical and logical arragement of nodes and connection in  a network.</vt:lpstr>
      <vt:lpstr>PowerPoint Presentation</vt:lpstr>
      <vt:lpstr>PowerPoint Presentation</vt:lpstr>
      <vt:lpstr>BUS TOPOLOGY</vt:lpstr>
      <vt:lpstr>BUS</vt:lpstr>
      <vt:lpstr>MESH TOPOLOGY</vt:lpstr>
      <vt:lpstr>MESH</vt:lpstr>
      <vt:lpstr>RING TOPOLOGY</vt:lpstr>
      <vt:lpstr>RING</vt:lpstr>
      <vt:lpstr>STAR TOPOLOGY</vt:lpstr>
      <vt:lpstr>STAR</vt:lpstr>
      <vt:lpstr> DIFFERENT BETWEEN 4 NETWORKS</vt:lpstr>
      <vt:lpstr>TREE TOPOLOGY</vt:lpstr>
      <vt:lpstr>TREE</vt:lpstr>
      <vt:lpstr>ADVANTAGES AND DISADVANTAGES</vt:lpstr>
      <vt:lpstr>HYBRID TOPOLOGY</vt:lpstr>
      <vt:lpstr>HYBRID</vt:lpstr>
      <vt:lpstr>Advantage / Disadvantage</vt:lpstr>
      <vt:lpstr>Uses of Flash Port in a Router</vt:lpstr>
      <vt:lpstr>PowerPoint Presentation</vt:lpstr>
      <vt:lpstr>PowerPoint Presentation</vt:lpstr>
      <vt:lpstr>PowerPoint Presentation</vt:lpstr>
      <vt:lpstr>Line up Router command</vt:lpstr>
      <vt:lpstr>ROUTING</vt:lpstr>
      <vt:lpstr>STATIC ROUTING</vt:lpstr>
      <vt:lpstr>PowerPoint Presentation</vt:lpstr>
      <vt:lpstr>DYNAMIC ROUTING</vt:lpstr>
      <vt:lpstr>PowerPoint Presentation</vt:lpstr>
      <vt:lpstr>PowerPoint Presentation</vt:lpstr>
      <vt:lpstr>DHCP SERVER MODE</vt:lpstr>
      <vt:lpstr>PowerPoint Presentation</vt:lpstr>
      <vt:lpstr>PowerPoint Presentation</vt:lpstr>
      <vt:lpstr>IPV6</vt:lpstr>
      <vt:lpstr>PowerPoint Presentation</vt:lpstr>
      <vt:lpstr>Methods</vt:lpstr>
      <vt:lpstr>IPV6 CIDR</vt:lpstr>
      <vt:lpstr>TYPE OF COMMUNICATION</vt:lpstr>
      <vt:lpstr>PowerPoint Presentation</vt:lpstr>
      <vt:lpstr>CABLING IN NETWORK</vt:lpstr>
      <vt:lpstr>COAXIAL CABLING</vt:lpstr>
      <vt:lpstr>TYPE OF COAXIAL</vt:lpstr>
      <vt:lpstr>TWISTED PAIR</vt:lpstr>
      <vt:lpstr>CLASSIFICATION OF TWISTED PAIR</vt:lpstr>
      <vt:lpstr>FIBER OPTIC CABLING</vt:lpstr>
      <vt:lpstr>Classification of Fiber </vt:lpstr>
      <vt:lpstr>Connection Type</vt:lpstr>
      <vt:lpstr>PowerPoint Presentation</vt:lpstr>
      <vt:lpstr>PowerPoint Presentation</vt:lpstr>
      <vt:lpstr>THREE LAYERS IN NETWORKING</vt:lpstr>
      <vt:lpstr>PowerPoint Presentation</vt:lpstr>
      <vt:lpstr>PowerPoint Presentation</vt:lpstr>
      <vt:lpstr>TYPE OF PORT</vt:lpstr>
      <vt:lpstr>PowerPoint Presentation</vt:lpstr>
      <vt:lpstr>PowerPoint Presentation</vt:lpstr>
      <vt:lpstr>PowerPoint Presentation</vt:lpstr>
      <vt:lpstr>ROUTING CONCEPT</vt:lpstr>
      <vt:lpstr>PowerPoint Presentation</vt:lpstr>
      <vt:lpstr>PowerPoint Presentation</vt:lpstr>
      <vt:lpstr>PowerPoint Presentation</vt:lpstr>
      <vt:lpstr>PROGRAM</vt:lpstr>
      <vt:lpstr>PowerPoint Presentation</vt:lpstr>
      <vt:lpstr>PROGRAM</vt:lpstr>
      <vt:lpstr>PowerPoint Presentation</vt:lpstr>
      <vt:lpstr>PowerPoint Presentation</vt:lpstr>
      <vt:lpstr>PowerPoint Presentation</vt:lpstr>
      <vt:lpstr>PowerPoint Presentation</vt:lpstr>
      <vt:lpstr>PowerPoint Presentation</vt:lpstr>
      <vt:lpstr>OSPF PROGRAM</vt:lpstr>
      <vt:lpstr>PROGRAM OSPF</vt:lpstr>
      <vt:lpstr>OSPF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BGP Program</vt:lpstr>
      <vt:lpstr>PowerPoint Presentation</vt:lpstr>
      <vt:lpstr>PowerPoint Presentation</vt:lpstr>
      <vt:lpstr>PowerPoint Presentation</vt:lpstr>
      <vt:lpstr>PowerPoint Presentation</vt:lpstr>
      <vt:lpstr>PowerPoint Presentation</vt:lpstr>
      <vt:lpstr>SECURITY </vt:lpstr>
      <vt:lpstr>Security Fundamentals</vt:lpstr>
      <vt:lpstr>Router command</vt:lpstr>
      <vt:lpstr>PowerPoint Presentation</vt:lpstr>
      <vt:lpstr>Without User</vt:lpstr>
      <vt:lpstr>PowerPoint Presentation</vt:lpstr>
      <vt:lpstr>With User</vt:lpstr>
      <vt:lpstr>PowerPoint Presentation</vt:lpstr>
      <vt:lpstr>SSH - Secure Shell</vt:lpstr>
      <vt:lpstr>PowerPoint Presentation</vt:lpstr>
      <vt:lpstr>PowerPoint Presentation</vt:lpstr>
      <vt:lpstr>PowerPoint Presentation</vt:lpstr>
      <vt:lpstr>PowerPoint Presentation</vt:lpstr>
      <vt:lpstr>SSH</vt:lpstr>
      <vt:lpstr>PowerPoint Presentation</vt:lpstr>
      <vt:lpstr>PowerPoint Presentation</vt:lpstr>
      <vt:lpstr>PowerPoint Presentation</vt:lpstr>
      <vt:lpstr>PowerPoint Presentation</vt:lpstr>
      <vt:lpstr>Standard ACL</vt:lpstr>
      <vt:lpstr>PowerPoint Presentation</vt:lpstr>
      <vt:lpstr>PowerPoint Presentation</vt:lpstr>
      <vt:lpstr>SWITCHES</vt:lpstr>
      <vt:lpstr>PowerPoint Presentation</vt:lpstr>
      <vt:lpstr>Types of switches</vt:lpstr>
      <vt:lpstr>PowerPoint Presentation</vt:lpstr>
      <vt:lpstr>Switch Port Security</vt:lpstr>
      <vt:lpstr>PowerPoint Presentation</vt:lpstr>
      <vt:lpstr>VLAN</vt:lpstr>
      <vt:lpstr>PowerPoint Presentation</vt:lpstr>
      <vt:lpstr>Trunk port</vt:lpstr>
      <vt:lpstr>Inter VLAN</vt:lpstr>
      <vt:lpstr>PowerPoint Presentation</vt:lpstr>
      <vt:lpstr>PowerPoint Presentation</vt:lpstr>
      <vt:lpstr>FTP LAB</vt:lpstr>
      <vt:lpstr>PowerPoint Presentation</vt:lpstr>
      <vt:lpstr>PowerPoint Presentation</vt:lpstr>
      <vt:lpstr>PowerPoint Presentation</vt:lpstr>
      <vt:lpstr>PowerPoint Presentation</vt:lpstr>
      <vt:lpstr>TFTP LAB</vt:lpstr>
      <vt:lpstr>PowerPoint Presentation</vt:lpstr>
      <vt:lpstr>PowerPoint Presentation</vt:lpstr>
      <vt:lpstr>STP – Spanning Tree Protocol</vt:lpstr>
      <vt:lpstr>RSTP - Rapid Spanning Tree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NTP</vt:lpstr>
      <vt:lpstr>PowerPoint Presentation</vt:lpstr>
      <vt:lpstr>PowerPoint Presentation</vt:lpstr>
      <vt:lpstr>NAT</vt:lpstr>
      <vt:lpstr>PowerPoint Presentation</vt:lpstr>
      <vt:lpstr>Static NAT</vt:lpstr>
      <vt:lpstr>PowerPoint Presentation</vt:lpstr>
      <vt:lpstr>PowerPoint Presentation</vt:lpstr>
      <vt:lpstr>Dynamic Nat</vt:lpstr>
      <vt:lpstr>PowerPoint Presentation</vt:lpstr>
      <vt:lpstr>PowerPoint Presentation</vt:lpstr>
      <vt:lpstr>PAT(Nat overload)</vt:lpstr>
      <vt:lpstr>PowerPoint Presentation</vt:lpstr>
      <vt:lpstr>PowerPoint Presentation</vt:lpstr>
      <vt:lpstr>PowerPoint Presentation</vt:lpstr>
      <vt:lpstr>AAA-TACACS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IOT – Internet of Things</vt:lpstr>
      <vt:lpstr>PowerPoint Presentation</vt:lpstr>
      <vt:lpstr>Mail Server</vt:lpstr>
      <vt:lpstr>Line 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Deepa D</cp:lastModifiedBy>
  <cp:revision>334</cp:revision>
  <dcterms:created xsi:type="dcterms:W3CDTF">2023-06-26T10:09:00Z</dcterms:created>
  <dcterms:modified xsi:type="dcterms:W3CDTF">2026-02-04T10:28:30Z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B4AB075C18F446B585A1363AA5ACA622</vt:lpwstr>
  </property>
  <property fmtid="{D5CDD505-2E9C-101B-9397-08002B2CF9AE}" pid="3" name="KSOProductBuildVer">
    <vt:lpwstr>1033-12.2.0.13110</vt:lpwstr>
  </property>
</Properties>
</file>